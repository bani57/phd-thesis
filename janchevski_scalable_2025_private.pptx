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40"/>
  </p:notesMasterIdLst>
  <p:handoutMasterIdLst>
    <p:handoutMasterId r:id="rId41"/>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79" r:id="rId38"/>
    <p:sldId id="274" r:id="rId39"/>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944" autoAdjust="0"/>
    <p:restoredTop sz="74771" autoAdjust="0"/>
  </p:normalViewPr>
  <p:slideViewPr>
    <p:cSldViewPr snapToGrid="0" snapToObjects="1" showGuides="1">
      <p:cViewPr varScale="1">
        <p:scale>
          <a:sx n="109" d="100"/>
          <a:sy n="109" d="100"/>
        </p:scale>
        <p:origin x="2232"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04.10.2025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04/10/2025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a:p>
                <a:endParaRPr lang="en-CH" dirty="0">
                  <a:latin typeface="+mj-lt"/>
                </a:endParaRPr>
              </a:p>
              <a:p>
                <a:pPr lvl="1"/>
                <a:endParaRPr lang="en-CH" dirty="0">
                  <a:latin typeface="+mj-lt"/>
                </a:endParaRPr>
              </a:p>
              <a:p>
                <a:pPr lvl="1"/>
                <a:endParaRPr lang="en-CH" dirty="0">
                  <a:latin typeface="+mj-lt"/>
                </a:endParaRPr>
              </a:p>
              <a:p>
                <a:pPr lvl="1"/>
                <a:endParaRPr lang="en-CH" dirty="0">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t="-2326"/>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Problem &amp; Challenges</a:t>
            </a:r>
            <a:br>
              <a:rPr lang="en-US" dirty="0"/>
            </a:br>
            <a:r>
              <a:rPr lang="en-US" sz="2400" b="0" i="1" dirty="0"/>
              <a:t>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Problem &amp; Challenges</a:t>
            </a:r>
            <a:br>
              <a:rPr lang="en-US"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lstStyle/>
          <a:p>
            <a:r>
              <a:rPr lang="en-US" dirty="0"/>
              <a:t>3.1	Background</a:t>
            </a:r>
            <a:br>
              <a:rPr lang="en-US" dirty="0"/>
            </a:br>
            <a:r>
              <a:rPr lang="en-US" sz="2400" b="0" i="1" dirty="0"/>
              <a:t>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lstStyle/>
          <a:p>
            <a:r>
              <a:rPr lang="en-US" dirty="0"/>
              <a:t>3.1	Contributions</a:t>
            </a:r>
            <a:br>
              <a:rPr lang="en-US" dirty="0"/>
            </a:br>
            <a:r>
              <a:rPr lang="en-US" sz="2400" b="0" i="1" dirty="0"/>
              <a:t>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lstStyle/>
          <a:p>
            <a:r>
              <a:rPr lang="en-US" dirty="0"/>
              <a:t>3.1	Methodology</a:t>
            </a:r>
            <a:br>
              <a:rPr lang="en-US" dirty="0"/>
            </a:br>
            <a:r>
              <a:rPr lang="en-US" sz="2400" b="0" i="1" dirty="0"/>
              <a:t>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p:txBody>
          <a:bodyPr/>
          <a:lstStyle/>
          <a:p>
            <a:r>
              <a:rPr lang="en-US" dirty="0"/>
              <a:t>3.1	Methodology</a:t>
            </a:r>
            <a:br>
              <a:rPr lang="en-US" dirty="0"/>
            </a:br>
            <a:r>
              <a:rPr lang="en-US" sz="2400" b="0" i="1" dirty="0"/>
              <a:t>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p:txBody>
          <a:bodyPr/>
          <a:lstStyle/>
          <a:p>
            <a:r>
              <a:rPr lang="en-US" dirty="0"/>
              <a:t>3.1	Methodology</a:t>
            </a:r>
            <a:br>
              <a:rPr lang="en-US" dirty="0"/>
            </a:br>
            <a:r>
              <a:rPr lang="en-US" sz="2400" b="0" i="1" dirty="0"/>
              <a:t>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p:txBody>
          <a:bodyPr/>
          <a:lstStyle/>
          <a:p>
            <a:r>
              <a:rPr lang="en-US" dirty="0"/>
              <a:t>3.1	Results</a:t>
            </a:r>
            <a:br>
              <a:rPr lang="en-US" dirty="0"/>
            </a:br>
            <a:r>
              <a:rPr lang="en-US" sz="2400" b="0" i="1" dirty="0"/>
              <a:t>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p:txBody>
          <a:bodyPr/>
          <a:lstStyle/>
          <a:p>
            <a:r>
              <a:rPr lang="en-US" dirty="0"/>
              <a:t>3.1	Results</a:t>
            </a:r>
            <a:br>
              <a:rPr lang="en-US" dirty="0"/>
            </a:br>
            <a:r>
              <a:rPr lang="en-US" sz="2400" b="0" i="1" dirty="0"/>
              <a:t>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Results</a:t>
            </a:r>
            <a:br>
              <a:rPr lang="en-US" dirty="0"/>
            </a:br>
            <a:r>
              <a:rPr lang="en-US" sz="2400" b="0" i="1" dirty="0"/>
              <a:t>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Summary</a:t>
            </a:r>
            <a:br>
              <a:rPr lang="en-US" dirty="0"/>
            </a:b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Distributed extension</a:t>
            </a:r>
            <a:br>
              <a:rPr lang="en-US" dirty="0"/>
            </a:br>
            <a:r>
              <a:rPr lang="en-US" sz="2400" b="0" i="1" dirty="0"/>
              <a:t>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a:p>
                <a:pPr lvl="1"/>
                <a:endParaRPr lang="en-US" dirty="0">
                  <a:latin typeface="+mj-lt"/>
                </a:endParaRPr>
              </a:p>
              <a:p>
                <a:pPr marL="342900" lvl="1" indent="0">
                  <a:buNone/>
                </a:pPr>
                <a:endParaRPr lang="en-US" dirty="0">
                  <a:latin typeface="+mj-lt"/>
                </a:endParaRPr>
              </a:p>
            </p:txBody>
          </p:sp>
        </mc:Choice>
        <mc:Fallback>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pPr marL="342900" lvl="1" indent="0">
              <a:buNone/>
            </a:pPr>
            <a:endParaRPr lang="en-US" dirty="0">
              <a:latin typeface="+mj-lt"/>
            </a:endParaRPr>
          </a:p>
          <a:p>
            <a:pPr marL="342900" lvl="1" indent="0">
              <a:buNone/>
            </a:pPr>
            <a:endParaRPr lang="en-US" dirty="0">
              <a:latin typeface="+mj-lt"/>
            </a:endParaRP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a:p>
            <a:pPr lvl="1"/>
            <a:endParaRPr lang="en-US" dirty="0">
              <a:latin typeface="+mj-lt"/>
            </a:endParaRPr>
          </a:p>
          <a:p>
            <a:pPr lvl="1"/>
            <a:endParaRPr lang="en-US" dirty="0">
              <a:latin typeface="+mj-lt"/>
            </a:endParaRPr>
          </a:p>
          <a:p>
            <a:pPr lvl="1"/>
            <a:endParaRPr lang="en-US" dirty="0">
              <a:latin typeface="+mj-lt"/>
            </a:endParaRPr>
          </a:p>
          <a:p>
            <a:pPr lvl="1"/>
            <a:endParaRPr lang="en-GB" dirty="0">
              <a:latin typeface="+mj-lt"/>
            </a:endParaRP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a:bodyPr>
          <a:lstStyle/>
          <a:p>
            <a:r>
              <a:rPr lang="en-US" dirty="0"/>
              <a:t>3.2	Motivation</a:t>
            </a:r>
            <a:br>
              <a:rPr lang="en-US" dirty="0"/>
            </a:br>
            <a:r>
              <a:rPr lang="en-US" sz="2400" b="0" i="1" dirty="0"/>
              <a:t>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18" dur="500"/>
                                        <p:tgtEl>
                                          <p:spTgt spid="2">
                                            <p:txEl>
                                              <p:pRg st="5" end="5"/>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1" dur="500"/>
                                        <p:tgtEl>
                                          <p:spTgt spid="2">
                                            <p:txEl>
                                              <p:pRg st="6" end="6"/>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24"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a:p>
            <a:pPr lvl="1"/>
            <a:endParaRPr lang="en-GB" dirty="0">
              <a:latin typeface="+mj-lt"/>
            </a:endParaRP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a:bodyPr>
          <a:lstStyle/>
          <a:p>
            <a:r>
              <a:rPr lang="en-US" dirty="0"/>
              <a:t>3.2	Methodology</a:t>
            </a:r>
            <a:br>
              <a:rPr lang="en-US" dirty="0"/>
            </a:br>
            <a:r>
              <a:rPr lang="en-US" sz="2400" b="0" i="1" dirty="0"/>
              <a:t>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p:txBody>
          <a:bodyPr>
            <a:normAutofit/>
          </a:bodyPr>
          <a:lstStyle/>
          <a:p>
            <a:r>
              <a:rPr lang="en-US" dirty="0"/>
              <a:t>3.2	Methodology</a:t>
            </a:r>
            <a:br>
              <a:rPr lang="en-US" dirty="0"/>
            </a:br>
            <a:r>
              <a:rPr lang="en-US" sz="2400" b="0" i="1" dirty="0"/>
              <a:t>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p:txBody>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a:p>
            <a:endParaRPr lang="en-GB" dirty="0">
              <a:latin typeface="+mj-lt"/>
            </a:endParaRP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p:txBody>
          <a:bodyPr>
            <a:normAutofit/>
          </a:bodyPr>
          <a:lstStyle/>
          <a:p>
            <a:r>
              <a:rPr lang="en-US" dirty="0"/>
              <a:t>3.2	Results</a:t>
            </a:r>
            <a:br>
              <a:rPr lang="en-US" dirty="0"/>
            </a:br>
            <a:r>
              <a:rPr lang="en-US" sz="2400" b="0" i="1" dirty="0"/>
              <a:t>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pic>
        <p:nvPicPr>
          <p:cNvPr id="3"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Grp="1" noChangeAspect="1"/>
          </p:cNvPicPr>
          <p:nvPr>
            <p:ph idx="1"/>
          </p:nvPr>
        </p:nvPicPr>
        <p:blipFill>
          <a:blip r:embed="rId3"/>
          <a:stretch>
            <a:fillRect/>
          </a:stretch>
        </p:blipFill>
        <p:spPr>
          <a:xfrm>
            <a:off x="904875" y="1973544"/>
            <a:ext cx="7726363" cy="2566425"/>
          </a:xfrm>
        </p:spPr>
      </p:pic>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a:bodyPr>
          <a:lstStyle/>
          <a:p>
            <a:r>
              <a:rPr lang="en-US" dirty="0"/>
              <a:t>3.2	Results</a:t>
            </a:r>
            <a:br>
              <a:rPr lang="en-US" dirty="0"/>
            </a:br>
            <a:r>
              <a:rPr lang="en-US" sz="2400" b="0" i="1" dirty="0"/>
              <a:t>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34</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35</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266205E9-12FC-4D6C-B0C7-1E9025EEB15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Thème Office</Template>
  <TotalTime>3752</TotalTime>
  <Words>3776</Words>
  <Application>Microsoft Office PowerPoint</Application>
  <PresentationFormat>On-screen Show (16:9)</PresentationFormat>
  <Paragraphs>491</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Problem &amp; Challenges Setting</vt:lpstr>
      <vt:lpstr>3.1  Problem &amp; Challenges Related work</vt:lpstr>
      <vt:lpstr>3.1 Background Graph theory of Knowledge Graph Reasoning</vt:lpstr>
      <vt:lpstr>3.1 Background Optimization problems of Knowledge Graph Reasoning</vt:lpstr>
      <vt:lpstr>3.1 Background Representation theory of Knowledge Graph Reasoning</vt:lpstr>
      <vt:lpstr>3.1 Contributions Idea</vt:lpstr>
      <vt:lpstr>3.1 Contributions Theory</vt:lpstr>
      <vt:lpstr>3.1 Methodology The COINs architecture</vt:lpstr>
      <vt:lpstr>3.1 Methodology The COINs KG representation process</vt:lpstr>
      <vt:lpstr>3.1 Methodology Algorithm and  properties</vt:lpstr>
      <vt:lpstr>3.1 Methodology Experiments</vt:lpstr>
      <vt:lpstr>3.1 Results Community quality</vt:lpstr>
      <vt:lpstr>3.1 Results Query answering MRR</vt:lpstr>
      <vt:lpstr>3.1 Results Comparison to related work on KG scalability</vt:lpstr>
      <vt:lpstr>3.1 Results Feasibility</vt:lpstr>
      <vt:lpstr>3.1 Summary </vt:lpstr>
      <vt:lpstr>*3.1   Distributed extension Idea</vt:lpstr>
      <vt:lpstr>*3.1   Distributed extension Outcomes</vt:lpstr>
      <vt:lpstr>3.2 Motivation Knowledge Graph Reasoning in Industry</vt:lpstr>
      <vt:lpstr>3.2 Motivation COINs origins</vt:lpstr>
      <vt:lpstr>3.2 Methodology Feature extraction</vt:lpstr>
      <vt:lpstr>3.2 Methodology Statistical comparison</vt:lpstr>
      <vt:lpstr>3.2 Results Swisscom vs. the world</vt:lpstr>
      <vt:lpstr>3.2 Results Re-evaluation on Monty after ablation</vt:lpstr>
      <vt:lpstr>Scalable  Graph Generation</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274</cp:revision>
  <dcterms:created xsi:type="dcterms:W3CDTF">2019-04-02T06:24:35Z</dcterms:created>
  <dcterms:modified xsi:type="dcterms:W3CDTF">2025-10-04T21:25:57Z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