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29"/>
  </p:notesMasterIdLst>
  <p:handoutMasterIdLst>
    <p:handoutMasterId r:id="rId30"/>
  </p:handoutMasterIdLst>
  <p:sldIdLst>
    <p:sldId id="256" r:id="rId5"/>
    <p:sldId id="257" r:id="rId6"/>
    <p:sldId id="275" r:id="rId7"/>
    <p:sldId id="276" r:id="rId8"/>
    <p:sldId id="277" r:id="rId9"/>
    <p:sldId id="258" r:id="rId10"/>
    <p:sldId id="259" r:id="rId11"/>
    <p:sldId id="261" r:id="rId12"/>
    <p:sldId id="260" r:id="rId13"/>
    <p:sldId id="262" r:id="rId14"/>
    <p:sldId id="263" r:id="rId15"/>
    <p:sldId id="264" r:id="rId16"/>
    <p:sldId id="265" r:id="rId17"/>
    <p:sldId id="267" r:id="rId18"/>
    <p:sldId id="266" r:id="rId19"/>
    <p:sldId id="268" r:id="rId20"/>
    <p:sldId id="269" r:id="rId21"/>
    <p:sldId id="270" r:id="rId22"/>
    <p:sldId id="271" r:id="rId23"/>
    <p:sldId id="272" r:id="rId24"/>
    <p:sldId id="273" r:id="rId25"/>
    <p:sldId id="278" r:id="rId26"/>
    <p:sldId id="279" r:id="rId27"/>
    <p:sldId id="274" r:id="rId28"/>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239" autoAdjust="0"/>
    <p:restoredTop sz="74818" autoAdjust="0"/>
  </p:normalViewPr>
  <p:slideViewPr>
    <p:cSldViewPr snapToGrid="0" snapToObjects="1" showGuides="1">
      <p:cViewPr varScale="1">
        <p:scale>
          <a:sx n="109" d="100"/>
          <a:sy n="109" d="100"/>
        </p:scale>
        <p:origin x="2214" y="102"/>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03.10.2025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03/10/2025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a:p>
            <a:endParaRPr lang="en-US" dirty="0"/>
          </a:p>
          <a:p>
            <a:r>
              <a:rPr lang="en-US" dirty="0"/>
              <a:t>We also provide a public release of our implementation.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LIONS-EPFL/coins-ict-innovations-2025" TargetMode="External"/><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2200" dirty="0">
                <a:latin typeface="+mj-lt"/>
              </a:rPr>
              <a:t>Community-Informed Graph Embeddings</a:t>
            </a:r>
          </a:p>
          <a:p>
            <a:pPr marL="685800" lvl="1" indent="-342900">
              <a:buFont typeface="+mj-lt"/>
              <a:buAutoNum type="arabicPeriod"/>
            </a:pPr>
            <a:r>
              <a:rPr lang="en-US" sz="22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2200" dirty="0">
                <a:latin typeface="+mj-lt"/>
              </a:rPr>
              <a:t>Geometric Graph Generation with Chinese Restaurant Processes</a:t>
            </a:r>
          </a:p>
          <a:p>
            <a:pPr marL="685800" lvl="1" indent="-342900">
              <a:buFont typeface="+mj-lt"/>
              <a:buAutoNum type="arabicPeriod"/>
            </a:pPr>
            <a:r>
              <a:rPr lang="en-US" sz="2200" dirty="0">
                <a:latin typeface="+mj-lt"/>
              </a:rPr>
              <a:t>Hierarchical Generative Graph Diffusion</a:t>
            </a:r>
          </a:p>
          <a:p>
            <a:pPr marL="685800" lvl="1" indent="-342900">
              <a:buFont typeface="+mj-lt"/>
              <a:buAutoNum type="arabicPeriod"/>
            </a:pPr>
            <a:r>
              <a:rPr lang="en-US" sz="2200" dirty="0">
                <a:latin typeface="+mj-lt"/>
              </a:rPr>
              <a:t>Multi-measurement Methods for Graph Diffusion Acceleration</a:t>
            </a:r>
          </a:p>
          <a:p>
            <a:pPr marL="685800" lvl="1" indent="-342900">
              <a:buFont typeface="+mj-lt"/>
              <a:buAutoNum type="arabicPeriod"/>
            </a:pPr>
            <a:r>
              <a:rPr lang="en-US" sz="22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4</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Problem &amp; Challenges</a:t>
            </a:r>
            <a:br>
              <a:rPr lang="en-US" dirty="0"/>
            </a:br>
            <a:r>
              <a:rPr lang="en-US" sz="2400" b="0" i="1" dirty="0"/>
              <a:t>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Problem &amp; Challenges</a:t>
            </a:r>
            <a:br>
              <a:rPr lang="en-US"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8</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9</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a:p>
                <a:pPr lvl="1"/>
                <a:endParaRPr lang="en-US"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t="-1802" b="-7748"/>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ormAutofit fontScale="92500" lnSpcReduction="10000"/>
              </a:bodyPr>
              <a:lstStyle/>
              <a:p>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i="1"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11</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13</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a:p>
                <a:endParaRPr lang="en-GB"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p:txBody>
          <a:bodyPr/>
          <a:lstStyle/>
          <a:p>
            <a:r>
              <a:rPr lang="en-US" dirty="0"/>
              <a:t>3.1	Methodology</a:t>
            </a:r>
            <a:br>
              <a:rPr lang="en-US" dirty="0"/>
            </a:br>
            <a:r>
              <a:rPr lang="en-US" sz="2400" b="0" i="1" dirty="0"/>
              <a:t>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15</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p:txBody>
          <a:bodyPr/>
          <a:lstStyle/>
          <a:p>
            <a:r>
              <a:rPr lang="en-US" dirty="0"/>
              <a:t>3.1	Methodology</a:t>
            </a:r>
            <a:br>
              <a:rPr lang="en-US" dirty="0"/>
            </a:br>
            <a:r>
              <a:rPr lang="en-US" sz="2400" b="0" i="1" dirty="0"/>
              <a:t>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16</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p:txBody>
          <a:bodyPr/>
          <a:lstStyle/>
          <a:p>
            <a:r>
              <a:rPr lang="en-US" dirty="0"/>
              <a:t>3.1	Results</a:t>
            </a:r>
            <a:br>
              <a:rPr lang="en-US" dirty="0"/>
            </a:br>
            <a:r>
              <a:rPr lang="en-US" sz="2400" b="0" i="1" dirty="0"/>
              <a:t>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17</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p:txBody>
          <a:bodyPr/>
          <a:lstStyle/>
          <a:p>
            <a:r>
              <a:rPr lang="en-US" dirty="0"/>
              <a:t>3.1	Results</a:t>
            </a:r>
            <a:br>
              <a:rPr lang="en-US" dirty="0"/>
            </a:br>
            <a:r>
              <a:rPr lang="en-US" sz="2400" b="0" i="1" dirty="0"/>
              <a:t>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Summary</a:t>
            </a:r>
            <a:br>
              <a:rPr lang="en-US" dirty="0"/>
            </a:b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21</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a:p>
            <a:r>
              <a:rPr lang="en-US" dirty="0">
                <a:latin typeface="+mj-lt"/>
              </a:rPr>
              <a:t>Code is publicly available:</a:t>
            </a:r>
          </a:p>
          <a:p>
            <a:pPr lvl="1"/>
            <a:r>
              <a:rPr lang="en-US" dirty="0">
                <a:latin typeface="+mj-lt"/>
                <a:hlinkClick r:id="rId3"/>
              </a:rPr>
              <a:t>github.com/LIONS-EPFL/coins-ict-innovations-2025</a:t>
            </a:r>
            <a:endParaRPr lang="en-GB" dirty="0">
              <a:latin typeface="+mj-lt"/>
            </a:endParaRP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4" presetClass="entr" presetSubtype="10" fill="hold"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randombar(horizontal)">
                                      <p:cBhvr>
                                        <p:cTn id="43" dur="500"/>
                                        <p:tgtEl>
                                          <p:spTgt spid="3">
                                            <p:txEl>
                                              <p:pRg st="8" end="8"/>
                                            </p:txEl>
                                          </p:spTgt>
                                        </p:tgtEl>
                                      </p:cBhvr>
                                    </p:animEffect>
                                  </p:childTnLst>
                                </p:cTn>
                              </p:par>
                              <p:par>
                                <p:cTn id="44" presetID="14" presetClass="entr" presetSubtype="10" fill="hold" nodeType="with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randombar(horizontal)">
                                      <p:cBhvr>
                                        <p:cTn id="46"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22</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23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24</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2.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3.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2968</TotalTime>
  <Words>2859</Words>
  <Application>Microsoft Office PowerPoint</Application>
  <PresentationFormat>On-screen Show (16:9)</PresentationFormat>
  <Paragraphs>333</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Background</vt:lpstr>
      <vt:lpstr>Scalable  Knowledge Graph Reasoning</vt:lpstr>
      <vt:lpstr>3.1 Problem &amp; Challenges Setting</vt:lpstr>
      <vt:lpstr>3.1  Problem &amp; Challenges Related work</vt:lpstr>
      <vt:lpstr>3.1 Background Graph theory of Knowledge Graph Reasoning</vt:lpstr>
      <vt:lpstr>3.1 Background Optimization problems of Knowledge Graph Reasoning</vt:lpstr>
      <vt:lpstr>3.1 Background Representation theory of Knowledge Graph Reasoning</vt:lpstr>
      <vt:lpstr>3.1 Contributions Idea</vt:lpstr>
      <vt:lpstr>3.1 Contributions Theory</vt:lpstr>
      <vt:lpstr>3.1 Methodology The COINs architecture</vt:lpstr>
      <vt:lpstr>3.1 Methodology The COINs KG representation process</vt:lpstr>
      <vt:lpstr>3.1 Methodology Algorithm and  properties</vt:lpstr>
      <vt:lpstr>3.1 Methodology Experiments</vt:lpstr>
      <vt:lpstr>3.1 Results Community quality</vt:lpstr>
      <vt:lpstr>3.1 Results Query answering MRR</vt:lpstr>
      <vt:lpstr>3.1 Results Comparison to related work on KG scalability</vt:lpstr>
      <vt:lpstr>3.1 Results Feasibility</vt:lpstr>
      <vt:lpstr>3.1 Summary </vt:lpstr>
      <vt:lpstr>Scalable  Graph Generation</vt:lpstr>
      <vt:lpstr>Conclusion</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238</cp:revision>
  <dcterms:created xsi:type="dcterms:W3CDTF">2019-04-02T06:24:35Z</dcterms:created>
  <dcterms:modified xsi:type="dcterms:W3CDTF">2025-10-02T23:32:33Z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