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88"/>
  </p:notesMasterIdLst>
  <p:handoutMasterIdLst>
    <p:handoutMasterId r:id="rId89"/>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279" r:id="rId81"/>
    <p:sldId id="335" r:id="rId82"/>
    <p:sldId id="336" r:id="rId83"/>
    <p:sldId id="338" r:id="rId84"/>
    <p:sldId id="337" r:id="rId85"/>
    <p:sldId id="339" r:id="rId86"/>
    <p:sldId id="274" r:id="rId87"/>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636" autoAdjust="0"/>
    <p:restoredTop sz="74795" autoAdjust="0"/>
  </p:normalViewPr>
  <p:slideViewPr>
    <p:cSldViewPr snapToGrid="0" snapToObjects="1" showGuides="1">
      <p:cViewPr varScale="1">
        <p:scale>
          <a:sx n="124" d="100"/>
          <a:sy n="124" d="100"/>
        </p:scale>
        <p:origin x="1312" y="184"/>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handoutMaster" Target="handoutMasters/handoutMaster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presProps" Target="presProps.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heme" Target="theme/theme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32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32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32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32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23.10.25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23/10/2025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sincerest gratitude again for agreeing to be part of my thesis committee. Today, I will present my PhD thesis work titled “Scalable Methods for Knowledge Graph Reasoning and Generation” as a summary of the research I did during my time at LIONS lab, under the supervision of Prof. Cevher.</a:t>
            </a:r>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talk follows the structure of my thesis.</a:t>
            </a:r>
          </a:p>
          <a:p>
            <a:r>
              <a:rPr lang="en-GB" dirty="0"/>
              <a:t>I will begin with an introduction to the overall motivation and research questions, then briefly recall some theoretical background.</a:t>
            </a:r>
          </a:p>
          <a:p>
            <a:r>
              <a:rPr lang="en-GB" dirty="0"/>
              <a:t>After that, I will present the first main contribution—*Scalable Knowledge Graph Reasoning*—and its concrete instantiation in the COINs framework.</a:t>
            </a:r>
          </a:p>
          <a:p>
            <a:r>
              <a:rPr lang="en-GB" dirty="0"/>
              <a:t>I will then show how this method was applied in practice within the Monty Knowledge Base developed at Swisscom.</a:t>
            </a:r>
          </a:p>
          <a:p>
            <a:r>
              <a:rPr lang="en-GB" dirty="0"/>
              <a:t>In the second part, I will move to *Scalable Graph Generation*, describing three generative frameworks—GGG-CRP, </a:t>
            </a:r>
            <a:r>
              <a:rPr lang="en-GB" dirty="0" err="1"/>
              <a:t>HiGenDiff</a:t>
            </a:r>
            <a:r>
              <a:rPr lang="en-GB" dirty="0"/>
              <a:t>, and </a:t>
            </a:r>
            <a:r>
              <a:rPr lang="en-GB" dirty="0" err="1"/>
              <a:t>MultiProx</a:t>
            </a:r>
            <a:r>
              <a:rPr lang="en-GB" dirty="0"/>
              <a:t>—and I will conclude with remarks on the broader implications and future perspectives.</a:t>
            </a:r>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r>
              <a:rPr lang="en-GB" dirty="0"/>
              <a:t>The overarching motivation of this thesis comes from a classical tension in computer science: the conflict between the **complexity of reality** and the **computational tractability** of its models.</a:t>
            </a:r>
          </a:p>
          <a:p>
            <a:r>
              <a:rPr lang="en-GB" dirty="0"/>
              <a:t>Graph-structured data are especially challenging because they capture not only entities but also the rich web of relations among them.</a:t>
            </a:r>
          </a:p>
          <a:p>
            <a:r>
              <a:rPr lang="en-GB" dirty="0"/>
              <a:t>In many scientific and industrial problems, the number of nodes and edges grows rapidly, and this growth directly translates into prohibitive costs for learning and inference.</a:t>
            </a:r>
          </a:p>
          <a:p>
            <a:r>
              <a:rPr lang="en-GB" dirty="0"/>
              <a:t>When we deal with knowledge graphs or generative graph models, we face what I like to call *a Rubik’s-cube-like complexity*: we can view the system holistically, manipulating its global patterns, or </a:t>
            </a:r>
            <a:r>
              <a:rPr lang="en-GB" dirty="0" err="1"/>
              <a:t>reductionistically</a:t>
            </a:r>
            <a:r>
              <a:rPr lang="en-GB" dirty="0"/>
              <a:t>, decomposing it into local components.</a:t>
            </a:r>
          </a:p>
          <a:p>
            <a:r>
              <a:rPr lang="en-GB" dirty="0"/>
              <a:t>The two camps—holism and reductionism—mirror how we can attack scalability: by discarding noisy local details or by decomposing the model into tractable sub-structures.</a:t>
            </a:r>
          </a:p>
          <a:p>
            <a:r>
              <a:rPr lang="en-GB" dirty="0"/>
              <a:t>Throughout this thesis, I argue that the most effective path is a synthesis of both.</a:t>
            </a:r>
          </a:p>
          <a:p>
            <a:r>
              <a:rPr lang="en-GB" dirty="0"/>
              <a:t>The central idea is to retain the expressive power of holistic graph reasoning while applying reductionist principles such as community detection and graph coarsening to make the process computationally sustainable.</a:t>
            </a:r>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r>
              <a:rPr lang="en-GB" dirty="0"/>
              <a:t>Before moving to the proposed methods, let me briefly recall the conceptual tools.</a:t>
            </a:r>
          </a:p>
          <a:p>
            <a:r>
              <a:rPr lang="en-GB" dirty="0"/>
              <a:t>Graph theory provides the mathematical language for representing entities and their relations; network science extends this with statistical and structural measures such as degree distributions, clustering coefficients, and community modularity.</a:t>
            </a:r>
          </a:p>
          <a:p>
            <a:r>
              <a:rPr lang="en-GB" dirty="0"/>
              <a:t>These quantities not only describe networks but also influence how learning algorithms behave on them.</a:t>
            </a:r>
          </a:p>
          <a:p>
            <a:r>
              <a:rPr lang="en-GB" dirty="0"/>
              <a:t>In our context, communities and hierarchical structures become the anchor points for scalable computation: by leveraging them, we can approximate global reasoning with localized operations.</a:t>
            </a:r>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r>
              <a:rPr lang="en-GB" dirty="0"/>
              <a:t>Graph Machine Learning links these theoretical notions to data-driven models.</a:t>
            </a:r>
          </a:p>
          <a:p>
            <a:r>
              <a:rPr lang="en-GB" dirty="0"/>
              <a:t>A model is defined by parameters and a loss function; optimization algorithms such as gradient descent or Adam update those parameters to minimize prediction error.</a:t>
            </a:r>
          </a:p>
          <a:p>
            <a:r>
              <a:rPr lang="en-GB" dirty="0"/>
              <a:t>Neural architectures—particularly Graph Neural Networks—extend this principle to relational data by propagating information along edges.</a:t>
            </a:r>
          </a:p>
          <a:p>
            <a:r>
              <a:rPr lang="en-GB" dirty="0"/>
              <a:t>Within these architectures, elements such as embedding layers, attention mechanisms, dropout, and normalization play specific roles in balancing expressivity and stability.</a:t>
            </a:r>
          </a:p>
          <a:p>
            <a:r>
              <a:rPr lang="en-GB" dirty="0"/>
              <a:t>However, the more complex the network and the deeper the architecture, the higher the computational demand.</a:t>
            </a:r>
          </a:p>
          <a:p>
            <a:r>
              <a:rPr lang="en-GB" dirty="0"/>
              <a:t>This tension between expressivity and scalability underlies all of the contributions that follow.</a:t>
            </a:r>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r>
              <a:rPr lang="en-US" dirty="0"/>
              <a:t>A further extension explores how COINs can be distributed across compute nodes without centralized memory.</a:t>
            </a:r>
          </a:p>
          <a:p>
            <a:r>
              <a:rPr lang="en-US" dirty="0"/>
              <a:t>Here, communities naturally map to partitions that can be processed independently.</a:t>
            </a:r>
          </a:p>
          <a:p>
            <a:r>
              <a:rPr lang="en-US" dirty="0"/>
              <a:t>This design enables horizontal scalability while maintaining the integrity of community-based reasoning.</a:t>
            </a:r>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r>
              <a:rPr lang="en-US" dirty="0"/>
              <a:t>Preliminary experiments showed that distributed COINs maintains stable convergence and yields near-linear scaling in throughput when increasing the number of workers.</a:t>
            </a:r>
          </a:p>
          <a:p>
            <a:r>
              <a:rPr lang="en-US" dirty="0"/>
              <a:t>This indicates that the approach remains viable not only on a single machine but also in distributed industrial environments.</a:t>
            </a:r>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r>
              <a:rPr lang="en-US" dirty="0"/>
              <a:t>The next section connects theory to practice through collaboration with Swisscom.</a:t>
            </a:r>
          </a:p>
          <a:p>
            <a:r>
              <a:rPr lang="en-US" dirty="0"/>
              <a:t>In industrial settings such as telecommunications, large volumes of heterogeneous data—network infrastructure, customer reports, device logs—can be organized as a knowledge graph.</a:t>
            </a:r>
          </a:p>
          <a:p>
            <a:r>
              <a:rPr lang="en-US" dirty="0"/>
              <a:t>The goal is to analyze infrastructure, predict and diagnose defects, and support decision-making.</a:t>
            </a:r>
          </a:p>
          <a:p>
            <a:r>
              <a:rPr lang="en-US" dirty="0"/>
              <a:t>This use case led to the development of **Monty**, Swisscom’s internal knowledge base, which became an ideal testbed for COINs.</a:t>
            </a:r>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r>
              <a:rPr lang="en-US" dirty="0"/>
              <a:t>The first prototype of COINs was actually built for Monty.</a:t>
            </a:r>
          </a:p>
          <a:p>
            <a:r>
              <a:rPr lang="en-US" dirty="0"/>
              <a:t>It performed remarkably well on that dataset but generalized poorly to public benchmarks.</a:t>
            </a:r>
          </a:p>
          <a:p>
            <a:r>
              <a:rPr lang="en-US" dirty="0"/>
              <a:t>This raised a key research question: *why* did COINs excel on Monty but not elsewhere?</a:t>
            </a:r>
          </a:p>
          <a:p>
            <a:r>
              <a:rPr lang="en-US" dirty="0"/>
              <a:t>To answer it, we conducted a detailed comparative analysis between Monty and a broad range of other knowledge graphs, including Freebase, WordNet, and NELL.</a:t>
            </a:r>
          </a:p>
          <a:p>
            <a:r>
              <a:rPr lang="en-US" dirty="0"/>
              <a:t>The investigation involved model ablations, dataset feature extraction, and re-evaluation experiments, which I will now outline.</a:t>
            </a:r>
          </a:p>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r>
              <a:rPr lang="en-US" dirty="0"/>
              <a:t>We began by extracting graph-structural features from Monty and the comparison datasets.</a:t>
            </a:r>
          </a:p>
          <a:p>
            <a:r>
              <a:rPr lang="en-US" dirty="0"/>
              <a:t>The features included label frequency distributions, </a:t>
            </a:r>
            <a:r>
              <a:rPr lang="en-US" dirty="0" err="1"/>
              <a:t>assortativity</a:t>
            </a:r>
            <a:r>
              <a:rPr lang="en-US" dirty="0"/>
              <a:t> coefficients, connectivity metrics, sparsity, clustering, and component sizes.</a:t>
            </a:r>
          </a:p>
          <a:p>
            <a:r>
              <a:rPr lang="en-US" dirty="0"/>
              <a:t>We also examined community structures, motifs, and association rules to understand how information is distributed.</a:t>
            </a:r>
          </a:p>
          <a:p>
            <a:r>
              <a:rPr lang="en-US" dirty="0"/>
              <a:t>These analyses revealed that Monty has very distinct characteristics: high modularity, low clustering, and clearly defined hubs and authorities.</a:t>
            </a:r>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r>
              <a:rPr lang="en-US" dirty="0"/>
              <a:t>To formalize these observations, we applied statistical tests.</a:t>
            </a:r>
          </a:p>
          <a:p>
            <a:r>
              <a:rPr lang="en-US" dirty="0"/>
              <a:t>We gathered public datasets across several domains—Freebase, WordNet, NELL, biological and transport networks, and citation graphs.</a:t>
            </a:r>
          </a:p>
          <a:p>
            <a:r>
              <a:rPr lang="en-US" dirty="0"/>
              <a:t>For each structural metric, we conducted one-sample hypothesis tests to determine distribution types and uniformity, and compared them across datasets using t-tests and Maximum Mean Discrepancy tests.</a:t>
            </a:r>
          </a:p>
          <a:p>
            <a:r>
              <a:rPr lang="en-US" dirty="0"/>
              <a:t>This allowed us to quantify how close or distant Monty’s topology is from the others.</a:t>
            </a:r>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r>
              <a:rPr lang="en-US" dirty="0"/>
              <a:t>The findings were striking.</a:t>
            </a:r>
          </a:p>
          <a:p>
            <a:r>
              <a:rPr lang="en-US" dirty="0"/>
              <a:t>Monty exhibits almost no label </a:t>
            </a:r>
            <a:r>
              <a:rPr lang="en-US" dirty="0" err="1"/>
              <a:t>assortativity</a:t>
            </a:r>
            <a:r>
              <a:rPr lang="en-US" dirty="0"/>
              <a:t>; it is the sparsest of all compared graphs, only weakly connected, and characterized by short paths and small diameter.</a:t>
            </a:r>
          </a:p>
          <a:p>
            <a:r>
              <a:rPr lang="en-US" dirty="0"/>
              <a:t>Its clustering is minimal, yet its modularity exceeds 99 percent, indicating extremely clear community boundaries.</a:t>
            </a:r>
          </a:p>
          <a:p>
            <a:r>
              <a:rPr lang="en-US" dirty="0"/>
              <a:t>Metric distributions are heavy-tailed but consistent across subgraphs, making Monty highly uniform structurally.</a:t>
            </a:r>
          </a:p>
          <a:p>
            <a:r>
              <a:rPr lang="en-US" dirty="0"/>
              <a:t>Among all datasets, Monty most closely resembles WordNet and transport networks, which explains why COINs—designed for community-based reasoning—performs exceptionally well on it.</a:t>
            </a:r>
          </a:p>
          <a:p>
            <a:r>
              <a:rPr lang="en-US" dirty="0"/>
              <a:t>In short, Monty is structurally *the easiest* dataset for COINs.</a:t>
            </a:r>
          </a:p>
          <a:p>
            <a:r>
              <a:rPr lang="en-US" dirty="0"/>
              <a:t>Recognizing this helped us design ablation studies to improve generalization.</a:t>
            </a:r>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r>
              <a:rPr lang="en-US" dirty="0"/>
              <a:t>After refining the model to reduce dependence on strong community structure, we re-evaluated it on Monty.</a:t>
            </a:r>
          </a:p>
          <a:p>
            <a:r>
              <a:rPr lang="en-US" dirty="0"/>
              <a:t>The new version maintained comparable accuracy while achieving dramatic efficiency gains—up to 728-fold acceleration in evaluation and more than 200-fold reduction in memory during training.</a:t>
            </a:r>
          </a:p>
          <a:p>
            <a:r>
              <a:rPr lang="en-US" dirty="0"/>
              <a:t>All experiments fit comfortably within 64 GB of RAM and 16 GB of GPU VRAM, demonstrating that practical industrial reasoning at scale is possible on standard hardware.</a:t>
            </a:r>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r>
              <a:rPr lang="en-GB" dirty="0"/>
              <a:t>*Hydration break*</a:t>
            </a:r>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r>
              <a:rPr lang="en-GB" dirty="0"/>
              <a:t>We now move from reasoning over graphs to *generating* them.</a:t>
            </a:r>
          </a:p>
          <a:p>
            <a:r>
              <a:rPr lang="en-GB" dirty="0"/>
              <a:t>If the previous chapters asked how we can infer new knowledge efficiently from existing relational data, this part asks how we can efficiently *create* new graph-structured data that resemble complex real-world systems.</a:t>
            </a:r>
          </a:p>
          <a:p>
            <a:r>
              <a:rPr lang="en-GB" dirty="0"/>
              <a:t>Graph generation is an inherently difficult problem, combining combinatorial explosion with the need for statistical fidelity.</a:t>
            </a:r>
          </a:p>
          <a:p>
            <a:r>
              <a:rPr lang="en-GB" dirty="0"/>
              <a:t>Here, scalability becomes even more pressing, as models must learn distributions over entire sets of graphs rather than single edges.</a:t>
            </a:r>
          </a:p>
          <a:p>
            <a:r>
              <a:rPr lang="en-GB" dirty="0"/>
              <a:t>Graph generation goes beyond simple edge classification.</a:t>
            </a:r>
          </a:p>
          <a:p>
            <a:r>
              <a:rPr lang="en-GB" dirty="0"/>
              <a:t>It aims to learn a discrete probability distribution over all possible graphs that follow the structural regularities of the training set.</a:t>
            </a:r>
          </a:p>
          <a:p>
            <a:r>
              <a:rPr lang="en-GB" dirty="0"/>
              <a:t>Such models have broad applications: from *drug discovery* and *materials design* to *social and financial network simulation*.</a:t>
            </a:r>
          </a:p>
          <a:p>
            <a:r>
              <a:rPr lang="en-GB" dirty="0"/>
              <a:t>However, existing generative models often fail to scale: they are expressive but computationally heavy, and their performance degrades quickly as graph size increases.</a:t>
            </a:r>
          </a:p>
          <a:p>
            <a:r>
              <a:rPr lang="en-GB" dirty="0"/>
              <a:t>Ideally, a scalable model should combine expressive power, efficiency, and isomorphism consistency—meaning it should treat isomorphic graphs identically.</a:t>
            </a:r>
          </a:p>
          <a:p>
            <a:r>
              <a:rPr lang="en-GB" dirty="0"/>
              <a:t>The motivating question was whether we could build such a model that remains tractable at large scale.</a:t>
            </a:r>
          </a:p>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r>
              <a:rPr lang="en-GB" dirty="0"/>
              <a:t>Let us briefly recall the landscape of generative methods for graphs.</a:t>
            </a:r>
          </a:p>
          <a:p>
            <a:r>
              <a:rPr lang="en-GB" dirty="0"/>
              <a:t>Generative Adversarial Networks (GANs) and Variational Autoencoders (VAEs) have been extended to graph domains, producing models such as </a:t>
            </a:r>
            <a:r>
              <a:rPr lang="en-GB" dirty="0" err="1"/>
              <a:t>GraphVAE</a:t>
            </a:r>
            <a:r>
              <a:rPr lang="en-GB" dirty="0"/>
              <a:t>, </a:t>
            </a:r>
            <a:r>
              <a:rPr lang="en-GB" dirty="0" err="1"/>
              <a:t>GraphRNN</a:t>
            </a:r>
            <a:r>
              <a:rPr lang="en-GB" dirty="0"/>
              <a:t>, and </a:t>
            </a:r>
            <a:r>
              <a:rPr lang="en-GB" dirty="0" err="1"/>
              <a:t>GraphGAN</a:t>
            </a:r>
            <a:r>
              <a:rPr lang="en-GB" dirty="0"/>
              <a:t>.</a:t>
            </a:r>
          </a:p>
          <a:p>
            <a:r>
              <a:rPr lang="en-GB" dirty="0"/>
              <a:t>These approaches capture global distributions but are usually limited to small molecules or ego-networks with fewer than a few hundred nodes.</a:t>
            </a:r>
          </a:p>
          <a:p>
            <a:r>
              <a:rPr lang="en-GB" dirty="0"/>
              <a:t>Scaling them up requires additional structural priors—something to constrain the search space without sacrificing novelty.</a:t>
            </a:r>
          </a:p>
          <a:p>
            <a:r>
              <a:rPr lang="en-GB" dirty="0"/>
              <a:t>This motivated our exploration of hierarchical and geometric approaches.</a:t>
            </a:r>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r>
              <a:rPr lang="en-GB" dirty="0"/>
              <a:t>Among these models, GG-GAN—or Geometric Graph GAN—was a particularly relevant starting point.</a:t>
            </a:r>
          </a:p>
          <a:p>
            <a:r>
              <a:rPr lang="en-GB" dirty="0"/>
              <a:t>It learns to map random latent vectors to geometric graph embeddings, then generates edges through a learned distance function in that space.</a:t>
            </a:r>
          </a:p>
          <a:p>
            <a:r>
              <a:rPr lang="en-GB" dirty="0"/>
              <a:t>While elegant, GG-GAN remains limited in scalability because every potential edge must be evaluated individually.</a:t>
            </a:r>
          </a:p>
          <a:p>
            <a:r>
              <a:rPr lang="en-GB" dirty="0"/>
              <a:t>This inspired us to introduce community-level decomposition, allowing graph generation to proceed in smaller, manageable subspaces.</a:t>
            </a:r>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r>
              <a:rPr lang="en-GB" dirty="0"/>
              <a:t>The **Chinese Restaurant Process** offers a stochastic prior for partitioning nodes into communities.</a:t>
            </a:r>
          </a:p>
          <a:p>
            <a:r>
              <a:rPr lang="en-GB" dirty="0"/>
              <a:t>It models how elements—here, nodes—are assigned to groups with probabilities proportional to group size, naturally yielding a power-law distribution of community sizes.</a:t>
            </a:r>
          </a:p>
          <a:p>
            <a:r>
              <a:rPr lang="en-GB" dirty="0"/>
              <a:t>In our setting, CRPs are used to sample node-to-community assignments that guide generation.</a:t>
            </a:r>
          </a:p>
          <a:p>
            <a:r>
              <a:rPr lang="en-GB" dirty="0"/>
              <a:t>This allows us to generate graphs one community at a time while still capturing inter-community overlaps.</a:t>
            </a:r>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r>
              <a:rPr lang="en-GB" dirty="0"/>
              <a:t>This brings us to **GGG-CRP**, or *Geometric Graph Generation with Chinese Restaurant Processes*.</a:t>
            </a:r>
          </a:p>
          <a:p>
            <a:r>
              <a:rPr lang="en-GB" dirty="0"/>
              <a:t>The model samples a node-community assignment using a CRP prior, then generates each community sequentially with a modified GG-GAN.</a:t>
            </a:r>
          </a:p>
          <a:p>
            <a:r>
              <a:rPr lang="en-GB" dirty="0"/>
              <a:t>Communities may overlap, and the overlapping regions are refined multiple times to maintain global coherence.</a:t>
            </a:r>
          </a:p>
          <a:p>
            <a:r>
              <a:rPr lang="en-GB" dirty="0"/>
              <a:t>This hierarchical decomposition drastically reduces complexity: rather than sampling from the combinatorial space of all graphs, we sample from a set of smaller community-conditioned distributions.</a:t>
            </a:r>
          </a:p>
          <a:p>
            <a:r>
              <a:rPr lang="en-GB" dirty="0"/>
              <a:t>At the same time, the probabilistic partitioning introduces a natural variability that enhances expressivity.</a:t>
            </a:r>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r>
              <a:rPr lang="en-GB" dirty="0"/>
              <a:t>To realize this process computationally, we treat the node-community assignment matrix as a bipartite graph.</a:t>
            </a:r>
          </a:p>
          <a:p>
            <a:r>
              <a:rPr lang="en-GB" dirty="0"/>
              <a:t>We estimate degree distributions on both sides—nodes and communities—and sample assignments using the configuration model or the Havel–Hakimi algorithm.</a:t>
            </a:r>
          </a:p>
          <a:p>
            <a:r>
              <a:rPr lang="en-GB" dirty="0"/>
              <a:t>Weighted integer partition sampling, following </a:t>
            </a:r>
            <a:r>
              <a:rPr lang="en-GB" dirty="0" err="1"/>
              <a:t>Fristedt’s</a:t>
            </a:r>
            <a:r>
              <a:rPr lang="en-GB" dirty="0"/>
              <a:t> method with rejection, ensures that community sizes conform to realistic empirical distributions.</a:t>
            </a:r>
          </a:p>
          <a:p>
            <a:r>
              <a:rPr lang="en-GB" dirty="0"/>
              <a:t>This statistical rigor guarantees that generated partitions resemble those observed in real data.</a:t>
            </a:r>
          </a:p>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r>
              <a:rPr lang="en-GB" dirty="0"/>
              <a:t>Once communities are sampled, graph generation proceeds autoregressively.</a:t>
            </a:r>
          </a:p>
          <a:p>
            <a:r>
              <a:rPr lang="en-GB" dirty="0"/>
              <a:t>For each community, latent features are sampled and edges are drawn conditioned on the discriminator’s output from the previous state.</a:t>
            </a:r>
          </a:p>
          <a:p>
            <a:r>
              <a:rPr lang="en-GB" dirty="0"/>
              <a:t>This hierarchical process makes the model scalable: each community root can be processed independently with lower memory complexity.</a:t>
            </a:r>
          </a:p>
          <a:p>
            <a:r>
              <a:rPr lang="en-GB" dirty="0"/>
              <a:t>Moreover, multi-level regularization encourages consistency between fine-grained and coarsened graphs by maximizing the discriminator’s likelihood for both.</a:t>
            </a:r>
          </a:p>
          <a:p>
            <a:r>
              <a:rPr lang="en-GB" dirty="0"/>
              <a:t>The result is a model that can handle large, heterogeneous graphs without collapsing.</a:t>
            </a:r>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r>
              <a:rPr lang="en-GB" dirty="0"/>
              <a:t>In terms of expressivity, GGG-CRP matches or exceeds existing state-of-the-art generative models on standard benchmarks, while training and sampling much faster.</a:t>
            </a:r>
          </a:p>
          <a:p>
            <a:r>
              <a:rPr lang="en-GB" dirty="0"/>
              <a:t>It successfully captures both local motifs and global degree distributions, producing realistic and diverse graphs.</a:t>
            </a:r>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r>
              <a:rPr lang="en-GB" dirty="0"/>
              <a:t>Visualization of generated samples shows that community overlaps are semantically meaningful rather than random noise.</a:t>
            </a:r>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r>
              <a:rPr lang="en-GB" dirty="0"/>
              <a:t>Regarding novelty, GGG-CRP achieves a balanced trade-off: it generates graphs that are sufficiently distinct from the training data yet preserve key statistical properties.</a:t>
            </a:r>
          </a:p>
          <a:p>
            <a:r>
              <a:rPr lang="en-GB" dirty="0"/>
              <a:t>This is crucial in applications like drug design, where novelty indicates discovery potential.</a:t>
            </a:r>
          </a:p>
          <a:p>
            <a:r>
              <a:rPr lang="en-GB" dirty="0"/>
              <a:t>Our evaluation confirmed that community-level sampling introduces structural diversity while maintaining coherence at the whole-graph scale.</a:t>
            </a:r>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r>
              <a:rPr lang="en-GB" dirty="0"/>
              <a:t>To summarize this first generative model:</a:t>
            </a:r>
          </a:p>
          <a:p>
            <a:r>
              <a:rPr lang="en-GB" dirty="0"/>
              <a:t>GGG-CRP scales generative graph </a:t>
            </a:r>
            <a:r>
              <a:rPr lang="en-GB" dirty="0" err="1"/>
              <a:t>modeling</a:t>
            </a:r>
            <a:r>
              <a:rPr lang="en-GB" dirty="0"/>
              <a:t> to large domains by coupling community-based decomposition with autoregressive learning.</a:t>
            </a:r>
          </a:p>
          <a:p>
            <a:r>
              <a:rPr lang="en-GB" dirty="0"/>
              <a:t>It leverages overlapping communities to preserve realism and uses probabilistic partitioning to ensure diversity.</a:t>
            </a:r>
          </a:p>
          <a:p>
            <a:r>
              <a:rPr lang="en-GB" dirty="0"/>
              <a:t>This work demonstrates that hierarchical stochastic priors, like CRPs, can make expressive models computationally viable at scale.</a:t>
            </a:r>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r>
              <a:rPr lang="en-GB" dirty="0"/>
              <a:t>While GGG-CRP achieves scalability through community decomposition, it still relies on GAN training, which can be unstable.</a:t>
            </a:r>
          </a:p>
          <a:p>
            <a:r>
              <a:rPr lang="en-GB" dirty="0"/>
              <a:t>Diffusion models, on the other hand, offer more stable likelihood-based training and have recently shown impressive results in continuous domains.</a:t>
            </a:r>
          </a:p>
          <a:p>
            <a:r>
              <a:rPr lang="en-GB" dirty="0"/>
              <a:t>Our motivation was to extend diffusion </a:t>
            </a:r>
            <a:r>
              <a:rPr lang="en-GB" dirty="0" err="1"/>
              <a:t>modeling</a:t>
            </a:r>
            <a:r>
              <a:rPr lang="en-GB" dirty="0"/>
              <a:t> to *discrete graphs* and further introduce hierarchical structure to handle multi-scale heterogeneity.</a:t>
            </a:r>
          </a:p>
          <a:p>
            <a:r>
              <a:rPr lang="en-GB" dirty="0"/>
              <a:t>The model we developed is called **</a:t>
            </a:r>
            <a:r>
              <a:rPr lang="en-GB" dirty="0" err="1"/>
              <a:t>HiGenDiff</a:t>
            </a:r>
            <a:r>
              <a:rPr lang="en-GB" dirty="0"/>
              <a:t>**, or *Hierarchical Generative Diffusion*.</a:t>
            </a:r>
          </a:p>
          <a:p>
            <a:r>
              <a:rPr lang="en-GB" dirty="0"/>
              <a:t>It mirrors the logic of COINs but operates in the generative direction: building complex graphs from simpler, coarser representations.</a:t>
            </a:r>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r>
              <a:rPr lang="en-GB" dirty="0"/>
              <a:t>Diffusion models learn to generate data by reversing a gradual noise process.</a:t>
            </a:r>
          </a:p>
          <a:p>
            <a:r>
              <a:rPr lang="en-GB" dirty="0"/>
              <a:t>They start from random noise and iteratively denoise to produce realistic samples.</a:t>
            </a:r>
          </a:p>
          <a:p>
            <a:r>
              <a:rPr lang="en-GB" dirty="0"/>
              <a:t>This formulation allows for flexible likelihood estimation and excellent sample quality, but naïvely applied to graphs it is computationally expensive.</a:t>
            </a:r>
          </a:p>
          <a:p>
            <a:r>
              <a:rPr lang="en-GB" dirty="0"/>
              <a:t>Therefore, hierarchical organization becomes essential: we diffuse and denoise not over individual nodes and edges directly, but over communities and their coarse representations first.</a:t>
            </a:r>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r>
              <a:rPr lang="en-GB" dirty="0"/>
              <a:t>Our approach builds on previous hierarchical graph diffusion frameworks, notably </a:t>
            </a:r>
            <a:r>
              <a:rPr lang="en-GB" dirty="0" err="1"/>
              <a:t>MRGrad</a:t>
            </a:r>
            <a:r>
              <a:rPr lang="en-GB" dirty="0"/>
              <a:t>, which introduced multi-resolution graph diffusion.</a:t>
            </a:r>
          </a:p>
          <a:p>
            <a:r>
              <a:rPr lang="en-GB" dirty="0" err="1"/>
              <a:t>MRGrad</a:t>
            </a:r>
            <a:r>
              <a:rPr lang="en-GB" dirty="0"/>
              <a:t> captures structure at different granularities through nested diffusion chains.</a:t>
            </a:r>
          </a:p>
          <a:p>
            <a:r>
              <a:rPr lang="en-GB" dirty="0"/>
              <a:t>We extend this idea by explicitly learning mappings between coarse and fine levels, allowing information to flow bidirectionally.</a:t>
            </a:r>
          </a:p>
          <a:p>
            <a:r>
              <a:rPr lang="en-GB" dirty="0"/>
              <a:t>This produces more coherent and scalable generation across diverse graph sizes.</a:t>
            </a:r>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r>
              <a:rPr lang="en-GB" dirty="0" err="1"/>
              <a:t>HiGenDiff</a:t>
            </a:r>
            <a:r>
              <a:rPr lang="en-GB" dirty="0"/>
              <a:t> introduces two key design innovations.</a:t>
            </a:r>
          </a:p>
          <a:p>
            <a:r>
              <a:rPr lang="en-GB" dirty="0"/>
              <a:t>First, a *coarse-to-fine conditional denoising network*, which generates a high-level community structure first and then progressively refines it into detailed node and edge configurations.</a:t>
            </a:r>
          </a:p>
          <a:p>
            <a:r>
              <a:rPr lang="en-GB" dirty="0"/>
              <a:t>Second, a *hierarchical noise scheduler* that adjusts diffusion rates across levels, enabling the model to adapt to varying graph densities.</a:t>
            </a:r>
          </a:p>
          <a:p>
            <a:r>
              <a:rPr lang="en-GB" dirty="0"/>
              <a:t>Together, these components yield a flexible and efficient generative process that mirrors the hierarchical nature of many real-world networks.</a:t>
            </a:r>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r>
              <a:rPr lang="en-GB" dirty="0"/>
              <a:t>From a theoretical perspective, we show that hierarchical diffusion introduces an inductive bias akin to fractal consistency:</a:t>
            </a:r>
          </a:p>
          <a:p>
            <a:r>
              <a:rPr lang="en-GB" dirty="0"/>
              <a:t>each level of the model preserves the statistical self-similarity of real-world graphs.</a:t>
            </a:r>
          </a:p>
          <a:p>
            <a:r>
              <a:rPr lang="en-GB" dirty="0"/>
              <a:t>This property ensures that learned distributions remain stable as graph size increases—a crucial aspect for scalability.</a:t>
            </a:r>
          </a:p>
          <a:p>
            <a:r>
              <a:rPr lang="en-GB" dirty="0"/>
              <a:t>We also </a:t>
            </a:r>
            <a:r>
              <a:rPr lang="en-GB" dirty="0" err="1"/>
              <a:t>analyze</a:t>
            </a:r>
            <a:r>
              <a:rPr lang="en-GB" dirty="0"/>
              <a:t> convergence and demonstrate that, under mild assumptions, the denoising process converges to a stationary distribution with bounded error.</a:t>
            </a:r>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r>
              <a:rPr lang="en-GB" dirty="0"/>
              <a:t>To evaluate </a:t>
            </a:r>
            <a:r>
              <a:rPr lang="en-GB" dirty="0" err="1"/>
              <a:t>HiGenDiff</a:t>
            </a:r>
            <a:r>
              <a:rPr lang="en-GB" dirty="0"/>
              <a:t>, we first verified its ability to recover community structure from generated graphs.</a:t>
            </a:r>
          </a:p>
          <a:p>
            <a:r>
              <a:rPr lang="en-GB" dirty="0"/>
              <a:t>The model consistently reproduced modularity patterns close to those of the training data, confirming that it captures realistic meso-scale organization.</a:t>
            </a:r>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r>
              <a:rPr lang="en-GB" dirty="0"/>
              <a:t>In terms of expressivity, </a:t>
            </a:r>
            <a:r>
              <a:rPr lang="en-GB" dirty="0" err="1"/>
              <a:t>HiGenDiff</a:t>
            </a:r>
            <a:r>
              <a:rPr lang="en-GB" dirty="0"/>
              <a:t> generated graphs spanning multiple domains—biological, social, and technological—that matched the statistical features of their originals.</a:t>
            </a:r>
          </a:p>
          <a:p>
            <a:r>
              <a:rPr lang="en-GB" dirty="0"/>
              <a:t>It maintained realistic degree and motif distributions while producing novel configurations unseen during training.</a:t>
            </a:r>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r>
              <a:rPr lang="en-GB" dirty="0"/>
              <a:t>A key question in generative </a:t>
            </a:r>
            <a:r>
              <a:rPr lang="en-GB" dirty="0" err="1"/>
              <a:t>modeling</a:t>
            </a:r>
            <a:r>
              <a:rPr lang="en-GB" dirty="0"/>
              <a:t> is how distinguishable the generated data are from real ones.</a:t>
            </a:r>
          </a:p>
          <a:p>
            <a:r>
              <a:rPr lang="en-GB" dirty="0"/>
              <a:t>Using standard discriminators and external classifiers, we found that </a:t>
            </a:r>
            <a:r>
              <a:rPr lang="en-GB" dirty="0" err="1"/>
              <a:t>HiGenDiff</a:t>
            </a:r>
            <a:r>
              <a:rPr lang="en-GB" dirty="0"/>
              <a:t> achieves near-perfect overlap between real and generated graph distributions, outperforming baselines such as </a:t>
            </a:r>
            <a:r>
              <a:rPr lang="en-GB" dirty="0" err="1"/>
              <a:t>GraphVAE</a:t>
            </a:r>
            <a:r>
              <a:rPr lang="en-GB" dirty="0"/>
              <a:t> and GRAN.</a:t>
            </a:r>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r>
              <a:rPr lang="en-GB" dirty="0"/>
              <a:t>Ablation studies confirmed the importance of hierarchical conditioning: removing coarse-level priors caused noticeable drops in both expressivity and structural fidelity.</a:t>
            </a:r>
          </a:p>
          <a:p>
            <a:r>
              <a:rPr lang="en-GB" dirty="0"/>
              <a:t>This supports our theoretical claim that multi-level organization acts as a stabilizing inductive bias.</a:t>
            </a:r>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r>
              <a:rPr lang="en-GB" dirty="0"/>
              <a:t>Performance comparisons show that </a:t>
            </a:r>
            <a:r>
              <a:rPr lang="en-GB" dirty="0" err="1"/>
              <a:t>HiGenDiff</a:t>
            </a:r>
            <a:r>
              <a:rPr lang="en-GB" dirty="0"/>
              <a:t> scales more gracefully with graph size than existing generative models.</a:t>
            </a:r>
          </a:p>
          <a:p>
            <a:r>
              <a:rPr lang="en-GB" dirty="0"/>
              <a:t>Training time and memory consumption grow </a:t>
            </a:r>
            <a:r>
              <a:rPr lang="en-GB" dirty="0" err="1"/>
              <a:t>sublinearly</a:t>
            </a:r>
            <a:r>
              <a:rPr lang="en-GB" dirty="0"/>
              <a:t>, while quality metrics such as validity, uniqueness, and novelty remain high.</a:t>
            </a:r>
          </a:p>
          <a:p>
            <a:r>
              <a:rPr lang="en-GB" dirty="0"/>
              <a:t>This demonstrates that diffusion-based models can indeed achieve both expressivity and scalability in the discrete graph domain.</a:t>
            </a:r>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r>
              <a:rPr lang="en-GB" dirty="0"/>
              <a:t>In summary, </a:t>
            </a:r>
            <a:r>
              <a:rPr lang="en-GB" dirty="0" err="1"/>
              <a:t>HiGenDiff</a:t>
            </a:r>
            <a:r>
              <a:rPr lang="en-GB" dirty="0"/>
              <a:t> leverages the inherent modularity of real-world graphs to model and sample from complex distributions efficiently.</a:t>
            </a:r>
          </a:p>
          <a:p>
            <a:r>
              <a:rPr lang="en-GB" dirty="0"/>
              <a:t>Conceptually, it serves as the *mirror image* of COINs: whereas COINs reasons downward from the global to the local, </a:t>
            </a:r>
            <a:r>
              <a:rPr lang="en-GB" dirty="0" err="1"/>
              <a:t>HiGenDiff</a:t>
            </a:r>
            <a:r>
              <a:rPr lang="en-GB" dirty="0"/>
              <a:t> generates upward from coarse to fine.</a:t>
            </a:r>
          </a:p>
          <a:p>
            <a:r>
              <a:rPr lang="en-GB" dirty="0"/>
              <a:t>Together, they form two complementary directions of scalable graph intelligence—one for reasoning, one for creation.</a:t>
            </a:r>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r>
              <a:rPr lang="en-GB" dirty="0"/>
              <a:t>The final methodological contribution deals with *multi-measurement approaches* for accelerating graph diffusion.</a:t>
            </a:r>
          </a:p>
          <a:p>
            <a:r>
              <a:rPr lang="en-GB" dirty="0"/>
              <a:t>While hierarchical models improve scalability conceptually, further gains are achieved through optimized measurement schedules—deciding how often and at what resolution to update intermediate representations.</a:t>
            </a:r>
          </a:p>
          <a:p>
            <a:r>
              <a:rPr lang="en-GB" dirty="0"/>
              <a:t>This section introduces strategies that allow faster training without compromising sample quality.</a:t>
            </a:r>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47581359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80</a:t>
            </a:fld>
            <a:endParaRPr lang="fr-FR" dirty="0"/>
          </a:p>
        </p:txBody>
      </p:sp>
    </p:spTree>
    <p:extLst>
      <p:ext uri="{BB962C8B-B14F-4D97-AF65-F5344CB8AC3E}">
        <p14:creationId xmlns:p14="http://schemas.microsoft.com/office/powerpoint/2010/main" val="10465574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81</a:t>
            </a:fld>
            <a:endParaRPr lang="fr-FR" dirty="0"/>
          </a:p>
        </p:txBody>
      </p:sp>
    </p:spTree>
    <p:extLst>
      <p:ext uri="{BB962C8B-B14F-4D97-AF65-F5344CB8AC3E}">
        <p14:creationId xmlns:p14="http://schemas.microsoft.com/office/powerpoint/2010/main" val="318330545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82</a:t>
            </a:fld>
            <a:endParaRPr lang="fr-FR" dirty="0"/>
          </a:p>
        </p:txBody>
      </p:sp>
    </p:spTree>
    <p:extLst>
      <p:ext uri="{BB962C8B-B14F-4D97-AF65-F5344CB8AC3E}">
        <p14:creationId xmlns:p14="http://schemas.microsoft.com/office/powerpoint/2010/main" val="41968542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83</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8.png"/><Relationship Id="rId4"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6.xml"/><Relationship Id="rId1" Type="http://schemas.openxmlformats.org/officeDocument/2006/relationships/slideLayout" Target="../slideLayouts/slideLayout10.xml"/><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0.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4.xml"/><Relationship Id="rId1" Type="http://schemas.openxmlformats.org/officeDocument/2006/relationships/slideLayout" Target="../slideLayouts/slideLayout10.xml"/><Relationship Id="rId4" Type="http://schemas.openxmlformats.org/officeDocument/2006/relationships/image" Target="../media/image82.png"/></Relationships>
</file>

<file path=ppt/slides/_rels/slide7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5.xml"/><Relationship Id="rId1" Type="http://schemas.openxmlformats.org/officeDocument/2006/relationships/slideLayout" Target="../slideLayouts/slideLayout10.xml"/><Relationship Id="rId4" Type="http://schemas.openxmlformats.org/officeDocument/2006/relationships/image" Target="../media/image84.pn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6.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8" Type="http://schemas.openxmlformats.org/officeDocument/2006/relationships/hyperlink" Target="https://proceedings.mlr.press/v70/arjovsky17a.html" TargetMode="External"/><Relationship Id="rId3" Type="http://schemas.openxmlformats.org/officeDocument/2006/relationships/hyperlink" Target="https://doi.org/10.1137/0111010" TargetMode="External"/><Relationship Id="rId7" Type="http://schemas.openxmlformats.org/officeDocument/2006/relationships/hyperlink" Target="https://proceedings.mlr.press/v37/sohl-dickstein15.html" TargetMode="External"/><Relationship Id="rId2" Type="http://schemas.openxmlformats.org/officeDocument/2006/relationships/notesSlide" Target="../notesSlides/notesSlide79.xml"/><Relationship Id="rId1" Type="http://schemas.openxmlformats.org/officeDocument/2006/relationships/slideLayout" Target="../slideLayouts/slideLayout5.xml"/><Relationship Id="rId6" Type="http://schemas.openxmlformats.org/officeDocument/2006/relationships/hyperlink" Target="https://research.utwente.nl/en/publications/graph-abstraction-and-abstract-graph-transformation" TargetMode="External"/><Relationship Id="rId5" Type="http://schemas.openxmlformats.org/officeDocument/2006/relationships/hyperlink" Target="https://doi.org/10.1090/S0002-9947-1993-1094553-1" TargetMode="External"/><Relationship Id="rId4" Type="http://schemas.openxmlformats.org/officeDocument/2006/relationships/hyperlink" Target="https://doi.org/10.1007/BFb0099421" TargetMode="External"/><Relationship Id="rId9" Type="http://schemas.openxmlformats.org/officeDocument/2006/relationships/hyperlink" Target="http://arxiv.org/abs/1806.01261"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openreview.net/forum?id=qiAxL3Xqx1o" TargetMode="External"/><Relationship Id="rId3" Type="http://schemas.openxmlformats.org/officeDocument/2006/relationships/hyperlink" Target="https://proceedings.mlsys.org/paper/2019/hash/e2c420d928d4bf8ce0ff2ec19b371514-Abstract.html" TargetMode="External"/><Relationship Id="rId7" Type="http://schemas.openxmlformats.org/officeDocument/2006/relationships/hyperlink" Target="https://doi.org/10.1145/3397271.3401172" TargetMode="External"/><Relationship Id="rId2" Type="http://schemas.openxmlformats.org/officeDocument/2006/relationships/notesSlide" Target="../notesSlides/notesSlide80.xml"/><Relationship Id="rId1" Type="http://schemas.openxmlformats.org/officeDocument/2006/relationships/slideLayout" Target="../slideLayouts/slideLayout5.xml"/><Relationship Id="rId6" Type="http://schemas.openxmlformats.org/officeDocument/2006/relationships/hyperlink" Target="https://doi.org/10.48550/arXiv.2006.05976" TargetMode="External"/><Relationship Id="rId5" Type="http://schemas.openxmlformats.org/officeDocument/2006/relationships/hyperlink" Target="https://openreview.net/forum?id=BJgr4kSFDS" TargetMode="External"/><Relationship Id="rId4" Type="http://schemas.openxmlformats.org/officeDocument/2006/relationships/hyperlink" Target="https://doi.org/10.18653/v1/P19-1466" TargetMode="External"/><Relationship Id="rId9" Type="http://schemas.openxmlformats.org/officeDocument/2006/relationships/hyperlink" Target="https://doi.org/10.1145/3447772"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doi.org/10.1145/3580305.3599268" TargetMode="External"/><Relationship Id="rId3" Type="http://schemas.openxmlformats.org/officeDocument/2006/relationships/hyperlink" Target="https://infoscience.epfl.ch/handle/20.500.14299/253964" TargetMode="External"/><Relationship Id="rId7" Type="http://schemas.openxmlformats.org/officeDocument/2006/relationships/hyperlink" Target="https://doi.org/10.1609/aaai.v37i4.25535" TargetMode="External"/><Relationship Id="rId2" Type="http://schemas.openxmlformats.org/officeDocument/2006/relationships/notesSlide" Target="../notesSlides/notesSlide81.xml"/><Relationship Id="rId1" Type="http://schemas.openxmlformats.org/officeDocument/2006/relationships/slideLayout" Target="../slideLayouts/slideLayout5.xml"/><Relationship Id="rId6" Type="http://schemas.openxmlformats.org/officeDocument/2006/relationships/hyperlink" Target="https://openreview.net/forum?id=UaAD-Nu86WX" TargetMode="External"/><Relationship Id="rId5" Type="http://schemas.openxmlformats.org/officeDocument/2006/relationships/hyperlink" Target="https://openreview.net/forum?id=xMJWUKJnFSw" TargetMode="External"/><Relationship Id="rId10" Type="http://schemas.openxmlformats.org/officeDocument/2006/relationships/hyperlink" Target="https://openreview.net/forum?id=KNvubydSB5" TargetMode="External"/><Relationship Id="rId4" Type="http://schemas.openxmlformats.org/officeDocument/2006/relationships/hyperlink" Target="https://doi.org/10.48550/arXiv.2110.14890" TargetMode="External"/><Relationship Id="rId9" Type="http://schemas.openxmlformats.org/officeDocument/2006/relationships/hyperlink" Target="https://doi.org/10.48550/arXiv.2307.06698"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aclanthology.org/2025.genaik-1.9/" TargetMode="External"/><Relationship Id="rId3" Type="http://schemas.openxmlformats.org/officeDocument/2006/relationships/hyperlink" Target="https://openreview.net/forum?id=0rZiMEOzh0" TargetMode="External"/><Relationship Id="rId7" Type="http://schemas.openxmlformats.org/officeDocument/2006/relationships/hyperlink" Target="https://openreview.net/forum?id=xkiI5tou6J" TargetMode="External"/><Relationship Id="rId2" Type="http://schemas.openxmlformats.org/officeDocument/2006/relationships/notesSlide" Target="../notesSlides/notesSlide82.xml"/><Relationship Id="rId1" Type="http://schemas.openxmlformats.org/officeDocument/2006/relationships/slideLayout" Target="../slideLayouts/slideLayout5.xml"/><Relationship Id="rId6" Type="http://schemas.openxmlformats.org/officeDocument/2006/relationships/hyperlink" Target="https://doi.org/10.48550/arXiv.2408.04053" TargetMode="External"/><Relationship Id="rId5" Type="http://schemas.openxmlformats.org/officeDocument/2006/relationships/hyperlink" Target="https://openreview.net/forum?id=yiMB2DOjsR" TargetMode="External"/><Relationship Id="rId4" Type="http://schemas.openxmlformats.org/officeDocument/2006/relationships/hyperlink" Target="https://doi.org/10.5075/epfl-thesis-9020"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r>
                  <a:rPr lang="en-US" dirty="0">
                    <a:latin typeface="+mj-lt"/>
                  </a:rPr>
                  <a:t> </a:t>
                </a:r>
                <a:r>
                  <a:rPr lang="en-US" dirty="0">
                    <a:solidFill>
                      <a:schemeClr val="accent1"/>
                    </a:solidFill>
                    <a:latin typeface="+mj-lt"/>
                  </a:rPr>
                  <a:t>[4]</a:t>
                </a:r>
                <a:endParaRPr lang="en-CH" dirty="0">
                  <a:solidFill>
                    <a:schemeClr val="accent1"/>
                  </a:solidFill>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r>
              <a:rPr lang="en-US" dirty="0">
                <a:solidFill>
                  <a:schemeClr val="accent1"/>
                </a:solidFill>
                <a:latin typeface="+mj-lt"/>
              </a:rPr>
              <a:t>[7]</a:t>
            </a:r>
            <a:endParaRPr lang="en-CH" dirty="0">
              <a:solidFill>
                <a:schemeClr val="accent1"/>
              </a:solidFill>
              <a:latin typeface="+mj-lt"/>
            </a:endParaRP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 </a:t>
            </a:r>
            <a:r>
              <a:rPr lang="en-US" sz="1600" dirty="0">
                <a:solidFill>
                  <a:schemeClr val="accent1"/>
                </a:solidFill>
                <a:latin typeface="Franklin Gothic Demi Cond" panose="020B0706030402020204" pitchFamily="34" charset="0"/>
              </a:rPr>
              <a:t>[14]</a:t>
            </a:r>
            <a:endParaRPr lang="en-US" sz="1600" i="1" dirty="0">
              <a:solidFill>
                <a:schemeClr val="accent1"/>
              </a:solidFill>
              <a:latin typeface="Franklin Gothic Demi Cond" panose="020B0706030402020204" pitchFamily="34" charset="0"/>
            </a:endParaRP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 </a:t>
                </a:r>
                <a:r>
                  <a:rPr lang="en-US" dirty="0">
                    <a:solidFill>
                      <a:schemeClr val="accent1"/>
                    </a:solidFill>
                    <a:latin typeface="+mj-lt"/>
                  </a:rPr>
                  <a:t>[8, 12]</a:t>
                </a:r>
              </a:p>
              <a:p>
                <a:r>
                  <a:rPr lang="en-US" dirty="0">
                    <a:latin typeface="+mj-lt"/>
                  </a:rPr>
                  <a:t>Cache intermediate results reused across multiple evaluation samples </a:t>
                </a:r>
                <a:r>
                  <a:rPr lang="en-US" dirty="0">
                    <a:solidFill>
                      <a:schemeClr val="accent1"/>
                    </a:solidFill>
                    <a:latin typeface="+mj-lt"/>
                  </a:rPr>
                  <a:t>[16, 20]</a:t>
                </a:r>
              </a:p>
              <a:p>
                <a:r>
                  <a:rPr lang="en-US" dirty="0">
                    <a:latin typeface="+mj-lt"/>
                  </a:rPr>
                  <a:t>Faster algorithms for sampling training data </a:t>
                </a:r>
                <a:r>
                  <a:rPr lang="en-US" dirty="0">
                    <a:solidFill>
                      <a:schemeClr val="accent1"/>
                    </a:solidFill>
                    <a:latin typeface="+mj-lt"/>
                  </a:rPr>
                  <a:t>[16, 20]</a:t>
                </a:r>
              </a:p>
              <a:p>
                <a:r>
                  <a:rPr lang="en-US" dirty="0">
                    <a:latin typeface="+mj-lt"/>
                  </a:rPr>
                  <a:t>Reduce memory complexity and the cost of slower run-time </a:t>
                </a:r>
                <a:r>
                  <a:rPr lang="en-US" dirty="0">
                    <a:solidFill>
                      <a:schemeClr val="accent1"/>
                    </a:solidFill>
                    <a:latin typeface="+mj-lt"/>
                  </a:rPr>
                  <a:t>[17, 19]</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r="-55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 </a:t>
                </a:r>
                <a:r>
                  <a:rPr lang="en-US" dirty="0">
                    <a:solidFill>
                      <a:schemeClr val="accent1"/>
                    </a:solidFill>
                    <a:latin typeface="+mj-lt"/>
                  </a:rPr>
                  <a:t>[28]</a:t>
                </a:r>
                <a:endParaRPr lang="en-US" i="1" dirty="0">
                  <a:solidFill>
                    <a:schemeClr val="accent1"/>
                  </a:solidFill>
                  <a:latin typeface="+mj-lt"/>
                </a:endParaRP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 </a:t>
            </a:r>
            <a:r>
              <a:rPr lang="en-US" dirty="0">
                <a:solidFill>
                  <a:schemeClr val="accent1"/>
                </a:solidFill>
                <a:latin typeface="+mj-lt"/>
              </a:rPr>
              <a:t>[9]</a:t>
            </a:r>
          </a:p>
          <a:p>
            <a:pPr lvl="1"/>
            <a:r>
              <a:rPr lang="en-US" dirty="0">
                <a:latin typeface="+mj-lt"/>
              </a:rPr>
              <a:t>Query2Box </a:t>
            </a:r>
            <a:r>
              <a:rPr lang="en-US" dirty="0">
                <a:solidFill>
                  <a:schemeClr val="accent1"/>
                </a:solidFill>
                <a:latin typeface="+mj-lt"/>
              </a:rPr>
              <a:t>[10]</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 </a:t>
            </a:r>
            <a:r>
              <a:rPr lang="en-US" dirty="0">
                <a:solidFill>
                  <a:schemeClr val="accent1"/>
                </a:solidFill>
                <a:latin typeface="+mj-lt"/>
              </a:rPr>
              <a:t>[15]</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chor="ct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 </a:t>
                </a:r>
                <a:r>
                  <a:rPr lang="en-US" dirty="0">
                    <a:solidFill>
                      <a:schemeClr val="accent1"/>
                    </a:solidFill>
                    <a:latin typeface="+mj-lt"/>
                  </a:rPr>
                  <a:t>[6]</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 </a:t>
            </a:r>
            <a:r>
              <a:rPr lang="en-US" sz="2400" b="0" i="1" dirty="0">
                <a:solidFill>
                  <a:schemeClr val="accent1"/>
                </a:solidFill>
              </a:rPr>
              <a:t>[13]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chor="ct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a:t>
            </a:r>
            <a:r>
              <a:rPr lang="en-US" sz="2400" b="0" dirty="0"/>
              <a:t> </a:t>
            </a:r>
            <a:r>
              <a:rPr lang="en-US" sz="2400" b="0" i="1" dirty="0">
                <a:solidFill>
                  <a:schemeClr val="accent1"/>
                </a:solidFill>
              </a:rPr>
              <a:t>[2]</a:t>
            </a:r>
            <a:r>
              <a:rPr lang="en-US" sz="2400" b="0" i="1" dirty="0"/>
              <a:t>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a:xfrm>
            <a:off x="904875" y="1563688"/>
            <a:ext cx="3763840" cy="3263504"/>
          </a:xfrm>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 </a:t>
            </a:r>
            <a:r>
              <a:rPr lang="en-US" dirty="0">
                <a:solidFill>
                  <a:schemeClr val="accent1"/>
                </a:solidFill>
                <a:latin typeface="+mj-lt"/>
              </a:rPr>
              <a:t>[1]</a:t>
            </a:r>
          </a:p>
          <a:p>
            <a:r>
              <a:rPr lang="en-US" dirty="0">
                <a:latin typeface="+mj-lt"/>
              </a:rPr>
              <a:t>Weighted integer partition sampling</a:t>
            </a:r>
          </a:p>
          <a:p>
            <a:pPr lvl="1"/>
            <a:r>
              <a:rPr lang="en-US" dirty="0" err="1">
                <a:latin typeface="+mj-lt"/>
              </a:rPr>
              <a:t>Fristedt’s</a:t>
            </a:r>
            <a:r>
              <a:rPr lang="en-US" dirty="0">
                <a:latin typeface="+mj-lt"/>
              </a:rPr>
              <a:t> method </a:t>
            </a:r>
            <a:r>
              <a:rPr lang="en-US" dirty="0">
                <a:solidFill>
                  <a:schemeClr val="accent1"/>
                </a:solidFill>
                <a:latin typeface="+mj-lt"/>
              </a:rPr>
              <a:t>[3]</a:t>
            </a:r>
            <a:r>
              <a:rPr lang="en-US" dirty="0">
                <a:latin typeface="+mj-lt"/>
              </a:rPr>
              <a:t>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a:t>
            </a:r>
            <a:r>
              <a:rPr lang="en-US" dirty="0">
                <a:solidFill>
                  <a:schemeClr val="accent1"/>
                </a:solidFill>
                <a:latin typeface="+mj-lt"/>
              </a:rPr>
              <a:t>[22, 23, 24]</a:t>
            </a:r>
            <a:r>
              <a:rPr lang="en-US" dirty="0">
                <a:latin typeface="+mj-lt"/>
              </a:rPr>
              <a:t> with new model designs, theoretical analyses and improved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 </a:t>
            </a:r>
            <a:r>
              <a:rPr lang="en-US" sz="2400" b="0" i="1" dirty="0">
                <a:solidFill>
                  <a:schemeClr val="accent1"/>
                </a:solidFill>
              </a:rPr>
              <a:t>[5]</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62500" lnSpcReduction="20000"/>
              </a:bodyPr>
              <a:lstStyle/>
              <a:p>
                <a:r>
                  <a:rPr lang="en-US" sz="2100" dirty="0">
                    <a:latin typeface="+mj-lt"/>
                  </a:rPr>
                  <a:t>Discrete diffusion process of </a:t>
                </a:r>
                <a:r>
                  <a:rPr lang="en-US" sz="2100" dirty="0" err="1">
                    <a:latin typeface="+mj-lt"/>
                  </a:rPr>
                  <a:t>DiGress</a:t>
                </a:r>
                <a:r>
                  <a:rPr lang="en-US" sz="2100" dirty="0">
                    <a:latin typeface="+mj-lt"/>
                  </a:rPr>
                  <a:t> </a:t>
                </a:r>
                <a:r>
                  <a:rPr lang="en-US" sz="2100" dirty="0">
                    <a:solidFill>
                      <a:schemeClr val="accent1"/>
                    </a:solidFill>
                    <a:latin typeface="+mj-lt"/>
                  </a:rPr>
                  <a:t>[18]</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a:p>
                <a:r>
                  <a:rPr lang="en-US" sz="2100"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𝐺</m:t>
                          </m:r>
                        </m:e>
                      </m:d>
                      <m:r>
                        <a:rPr lang="en-US" sz="2100" b="0" i="1" smtClean="0">
                          <a:latin typeface="Cambria Math" panose="02040503050406030204" pitchFamily="18" charset="0"/>
                        </a:rPr>
                        <m:t>=</m:t>
                      </m:r>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𝐿</m:t>
                                  </m:r>
                                </m:e>
                              </m:d>
                            </m:sup>
                          </m:sSup>
                        </m:e>
                      </m:d>
                      <m:nary>
                        <m:naryPr>
                          <m:chr m:val="∏"/>
                          <m:ctrlPr>
                            <a:rPr lang="en-US" sz="2100" b="0" i="1" smtClean="0">
                              <a:latin typeface="Cambria Math" panose="02040503050406030204" pitchFamily="18" charset="0"/>
                            </a:rPr>
                          </m:ctrlPr>
                        </m:naryPr>
                        <m:sub>
                          <m:r>
                            <a:rPr lang="en-US" sz="2100" b="0" i="1" smtClean="0">
                              <a:latin typeface="Cambria Math" panose="02040503050406030204" pitchFamily="18" charset="0"/>
                            </a:rPr>
                            <m:t>𝑙</m:t>
                          </m:r>
                          <m:r>
                            <a:rPr lang="en-US" sz="2100" b="0" i="1" smtClean="0">
                              <a:latin typeface="Cambria Math" panose="02040503050406030204" pitchFamily="18" charset="0"/>
                            </a:rPr>
                            <m:t>=1</m:t>
                          </m:r>
                        </m:sub>
                        <m:sup>
                          <m:r>
                            <a:rPr lang="en-US" sz="2100" b="0" i="1" smtClean="0">
                              <a:latin typeface="Cambria Math" panose="02040503050406030204" pitchFamily="18" charset="0"/>
                            </a:rPr>
                            <m:t>𝐿</m:t>
                          </m:r>
                          <m:r>
                            <a:rPr lang="en-US" sz="2100" b="0" i="1" smtClean="0">
                              <a:latin typeface="Cambria Math" panose="02040503050406030204" pitchFamily="18" charset="0"/>
                            </a:rPr>
                            <m:t>−1</m:t>
                          </m:r>
                        </m:sup>
                        <m:e>
                          <m:r>
                            <a:rPr lang="en-US" sz="2100" b="0" i="1" smtClean="0">
                              <a:latin typeface="Cambria Math" panose="02040503050406030204" pitchFamily="18" charset="0"/>
                            </a:rPr>
                            <m:t>ℙ</m:t>
                          </m:r>
                          <m:d>
                            <m:dPr>
                              <m:sepChr m:val="∣"/>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e>
                                  </m:d>
                                </m:sup>
                              </m:sSup>
                            </m:e>
                            <m:e>
                              <m:sSup>
                                <m:sSupPr>
                                  <m:ctrlPr>
                                    <a:rPr lang="en-US" sz="2100" b="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b="0" i="1" smtClean="0">
                                          <a:latin typeface="Cambria Math" panose="02040503050406030204" pitchFamily="18" charset="0"/>
                                        </a:rPr>
                                        <m:t>+1</m:t>
                                      </m:r>
                                    </m:e>
                                  </m:d>
                                </m:sup>
                              </m:sSup>
                            </m:e>
                          </m:d>
                        </m:e>
                      </m:nary>
                      <m:r>
                        <a:rPr lang="en-US" sz="2100" b="0" i="1" smtClean="0">
                          <a:latin typeface="Cambria Math" panose="02040503050406030204" pitchFamily="18" charset="0"/>
                        </a:rPr>
                        <m:t>=</m:t>
                      </m:r>
                      <m:r>
                        <a:rPr lang="en-US" sz="2100" i="1">
                          <a:latin typeface="Cambria Math" panose="02040503050406030204" pitchFamily="18" charset="0"/>
                        </a:rPr>
                        <m:t>ℙ</m:t>
                      </m:r>
                      <m:d>
                        <m:dPr>
                          <m:ctrlPr>
                            <a:rPr lang="en-US" sz="2100" i="1">
                              <a:latin typeface="Cambria Math" panose="02040503050406030204" pitchFamily="18" charset="0"/>
                            </a:rPr>
                          </m:ctrlPr>
                        </m:d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𝐺</m:t>
                              </m:r>
                            </m:e>
                            <m:sub>
                              <m:r>
                                <a:rPr lang="en-US" sz="2100" b="0" i="1" smtClean="0">
                                  <a:latin typeface="Cambria Math" panose="02040503050406030204" pitchFamily="18" charset="0"/>
                                </a:rPr>
                                <m:t>𝑅</m:t>
                              </m:r>
                            </m:sub>
                          </m:sSub>
                        </m:e>
                      </m:d>
                      <m:nary>
                        <m:naryPr>
                          <m:chr m:val="∏"/>
                          <m:ctrlPr>
                            <a:rPr lang="en-US" sz="2100" i="1">
                              <a:latin typeface="Cambria Math" panose="02040503050406030204" pitchFamily="18" charset="0"/>
                            </a:rPr>
                          </m:ctrlPr>
                        </m:naryPr>
                        <m:sub>
                          <m:r>
                            <a:rPr lang="en-US" sz="2100" i="1">
                              <a:latin typeface="Cambria Math" panose="02040503050406030204" pitchFamily="18" charset="0"/>
                            </a:rPr>
                            <m:t>𝑙</m:t>
                          </m:r>
                          <m:r>
                            <a:rPr lang="en-US" sz="2100" i="1">
                              <a:latin typeface="Cambria Math" panose="02040503050406030204" pitchFamily="18" charset="0"/>
                            </a:rPr>
                            <m:t>=1</m:t>
                          </m:r>
                        </m:sub>
                        <m:sup>
                          <m:r>
                            <a:rPr lang="en-US" sz="2100" i="1">
                              <a:latin typeface="Cambria Math" panose="02040503050406030204" pitchFamily="18" charset="0"/>
                            </a:rPr>
                            <m:t>𝐿</m:t>
                          </m:r>
                          <m:r>
                            <a:rPr lang="en-US" sz="2100" i="1">
                              <a:latin typeface="Cambria Math" panose="02040503050406030204" pitchFamily="18" charset="0"/>
                            </a:rPr>
                            <m:t>−1</m:t>
                          </m:r>
                        </m:sup>
                        <m:e>
                          <m:nary>
                            <m:naryPr>
                              <m:chr m:val="∏"/>
                              <m:ctrlPr>
                                <a:rPr lang="en-US" sz="2100" i="1">
                                  <a:latin typeface="Cambria Math" panose="02040503050406030204" pitchFamily="18" charset="0"/>
                                </a:rPr>
                              </m:ctrlPr>
                            </m:naryPr>
                            <m:sub>
                              <m:r>
                                <a:rPr lang="en-US" sz="2100" b="0" i="1" smtClean="0">
                                  <a:latin typeface="Cambria Math" panose="02040503050406030204" pitchFamily="18" charset="0"/>
                                </a:rPr>
                                <m:t>𝑘</m:t>
                              </m:r>
                              <m:r>
                                <a:rPr lang="en-US" sz="2100" i="1">
                                  <a:latin typeface="Cambria Math" panose="02040503050406030204" pitchFamily="18" charset="0"/>
                                </a:rPr>
                                <m:t>=1</m:t>
                              </m:r>
                            </m:sub>
                            <m:sup>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𝑛</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r>
                                        <a:rPr lang="en-US" sz="2100" b="0" i="1" smtClean="0">
                                          <a:latin typeface="Cambria Math" panose="02040503050406030204" pitchFamily="18" charset="0"/>
                                        </a:rPr>
                                        <m:t>+1</m:t>
                                      </m:r>
                                    </m:e>
                                  </m:d>
                                </m:sup>
                              </m:sSup>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𝐶</m:t>
                                          </m:r>
                                        </m:e>
                                        <m:sub>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e>
                      </m:nary>
                      <m:nary>
                        <m:naryPr>
                          <m:chr m:val="∏"/>
                          <m:supHide m:val="on"/>
                          <m:ctrlPr>
                            <a:rPr lang="en-US" sz="2100" i="1">
                              <a:latin typeface="Cambria Math" panose="02040503050406030204" pitchFamily="18" charset="0"/>
                            </a:rPr>
                          </m:ctrlPr>
                        </m:naryPr>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𝐵</m:t>
                                      </m:r>
                                    </m:e>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oMath>
                  </m:oMathPara>
                </a14:m>
                <a:endParaRPr lang="en-US" dirty="0">
                  <a:latin typeface="+mj-lt"/>
                </a:endParaRPr>
              </a:p>
              <a:p>
                <a:endParaRPr lang="en-US" i="1" dirty="0">
                  <a:latin typeface="+mj-lt"/>
                </a:endParaRPr>
              </a:p>
            </p:txBody>
          </p:sp>
        </mc:Choice>
        <mc:Fallback xmlns="">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i="1"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xmlns="">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sz="half" idx="1"/>
          </p:nvPr>
        </p:nvSpPr>
        <p:spPr>
          <a:xfrm>
            <a:off x="904875" y="1563688"/>
            <a:ext cx="4221040" cy="3263504"/>
          </a:xfrm>
        </p:spPr>
        <p:txBody>
          <a:bodyPr anchor="ctr">
            <a:normAutofit fontScale="92500" lnSpcReduction="10000"/>
          </a:bodyPr>
          <a:lstStyle/>
          <a:p>
            <a:r>
              <a:rPr lang="en-US" b="0" dirty="0">
                <a:latin typeface="+mj-lt"/>
              </a:rPr>
              <a:t>Related work - multi-measurements + proximal sampling</a:t>
            </a:r>
          </a:p>
          <a:p>
            <a:r>
              <a:rPr lang="en-US" dirty="0">
                <a:latin typeface="+mj-lt"/>
              </a:rPr>
              <a:t>Multi-measurements of Saremi et al. </a:t>
            </a:r>
            <a:r>
              <a:rPr lang="en-US" dirty="0">
                <a:solidFill>
                  <a:schemeClr val="accent1"/>
                </a:solidFill>
                <a:latin typeface="+mj-lt"/>
              </a:rPr>
              <a:t>[25]</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 </a:t>
            </a:r>
            <a:r>
              <a:rPr lang="en-US" dirty="0">
                <a:solidFill>
                  <a:schemeClr val="accent1"/>
                </a:solidFill>
                <a:latin typeface="+mj-lt"/>
              </a:rPr>
              <a:t>[11]</a:t>
            </a:r>
          </a:p>
          <a:p>
            <a:pPr lvl="1"/>
            <a:r>
              <a:rPr lang="en-US" dirty="0">
                <a:latin typeface="+mj-lt"/>
              </a:rPr>
              <a:t>Reducing the difficulty of sampling at high noise levels</a:t>
            </a:r>
          </a:p>
          <a:p>
            <a:pPr lvl="1"/>
            <a:r>
              <a:rPr lang="en-US" b="0" i="1" dirty="0">
                <a:latin typeface="+mj-lt"/>
              </a:rPr>
              <a:t>Heuristics</a:t>
            </a:r>
          </a:p>
          <a:p>
            <a:r>
              <a:rPr lang="en-US" dirty="0">
                <a:latin typeface="+mj-lt"/>
              </a:rPr>
              <a:t>The </a:t>
            </a:r>
            <a:r>
              <a:rPr lang="en-US" dirty="0" err="1">
                <a:latin typeface="+mj-lt"/>
              </a:rPr>
              <a:t>MultiProx</a:t>
            </a:r>
            <a:r>
              <a:rPr lang="en-US" dirty="0">
                <a:latin typeface="+mj-lt"/>
              </a:rPr>
              <a:t> sampler </a:t>
            </a:r>
            <a:r>
              <a:rPr lang="en-US" dirty="0">
                <a:solidFill>
                  <a:schemeClr val="accent1"/>
                </a:solidFill>
                <a:latin typeface="+mj-lt"/>
              </a:rPr>
              <a:t>[27]</a:t>
            </a:r>
          </a:p>
          <a:p>
            <a:pPr lvl="1"/>
            <a:r>
              <a:rPr lang="en-US" dirty="0">
                <a:latin typeface="+mj-lt"/>
              </a:rPr>
              <a:t>Theoretically fully log-concave</a:t>
            </a:r>
          </a:p>
          <a:p>
            <a:pPr lvl="1"/>
            <a:r>
              <a:rPr lang="en-US" i="1" dirty="0">
                <a:latin typeface="+mj-lt"/>
              </a:rPr>
              <a:t>Gibbs sampling</a:t>
            </a:r>
          </a:p>
        </p:txBody>
      </p:sp>
      <p:pic>
        <p:nvPicPr>
          <p:cNvPr id="10" name="Content Placeholder 9" descr="A screenshot of a computer program&#10;&#10;AI-generated content may be incorrect.">
            <a:extLst>
              <a:ext uri="{FF2B5EF4-FFF2-40B4-BE49-F238E27FC236}">
                <a16:creationId xmlns:a16="http://schemas.microsoft.com/office/drawing/2014/main" id="{6FF9799D-27E1-D18B-86D5-F263E4873CE3}"/>
              </a:ext>
            </a:extLst>
          </p:cNvPr>
          <p:cNvPicPr>
            <a:picLocks noGrp="1" noChangeAspect="1"/>
          </p:cNvPicPr>
          <p:nvPr>
            <p:ph sz="half" idx="2"/>
          </p:nvPr>
        </p:nvPicPr>
        <p:blipFill>
          <a:blip r:embed="rId3"/>
          <a:stretch>
            <a:fillRect/>
          </a:stretch>
        </p:blipFill>
        <p:spPr>
          <a:xfrm>
            <a:off x="4959350" y="2222894"/>
            <a:ext cx="3671888" cy="1945487"/>
          </a:xfrm>
        </p:spPr>
      </p:pic>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4" dur="500"/>
                                        <p:tgtEl>
                                          <p:spTgt spid="3">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7" dur="500"/>
                                        <p:tgtEl>
                                          <p:spTgt spid="3">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0" dur="500"/>
                                        <p:tgtEl>
                                          <p:spTgt spid="3">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randombar(horizontal)">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sp>
        <p:nvSpPr>
          <p:cNvPr id="3" name="Content Placeholder 2">
            <a:extLst>
              <a:ext uri="{FF2B5EF4-FFF2-40B4-BE49-F238E27FC236}">
                <a16:creationId xmlns:a16="http://schemas.microsoft.com/office/drawing/2014/main" id="{36B70827-C777-361B-FC5C-279A21FA0CE6}"/>
              </a:ext>
            </a:extLst>
          </p:cNvPr>
          <p:cNvSpPr>
            <a:spLocks noGrp="1"/>
          </p:cNvSpPr>
          <p:nvPr>
            <p:ph idx="1"/>
          </p:nvPr>
        </p:nvSpPr>
        <p:spPr>
          <a:xfrm>
            <a:off x="904875" y="3068514"/>
            <a:ext cx="7726363" cy="1881945"/>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pic>
        <p:nvPicPr>
          <p:cNvPr id="18" name="Picture 17" descr="A group of small black and red symbols&#10;&#10;AI-generated content may be incorrect.">
            <a:extLst>
              <a:ext uri="{FF2B5EF4-FFF2-40B4-BE49-F238E27FC236}">
                <a16:creationId xmlns:a16="http://schemas.microsoft.com/office/drawing/2014/main" id="{36FC7E3C-715E-4733-D618-C74D022A1C61}"/>
              </a:ext>
            </a:extLst>
          </p:cNvPr>
          <p:cNvPicPr>
            <a:picLocks noChangeAspect="1"/>
          </p:cNvPicPr>
          <p:nvPr/>
        </p:nvPicPr>
        <p:blipFill>
          <a:blip r:embed="rId3"/>
          <a:stretch>
            <a:fillRect/>
          </a:stretch>
        </p:blipFill>
        <p:spPr>
          <a:xfrm>
            <a:off x="1339056" y="1107450"/>
            <a:ext cx="6858000" cy="2057400"/>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2" dur="500"/>
                                        <p:tgtEl>
                                          <p:spTgt spid="3">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5" dur="500"/>
                                        <p:tgtEl>
                                          <p:spTgt spid="3">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8" dur="500"/>
                                        <p:tgtEl>
                                          <p:spTgt spid="3">
                                            <p:txEl>
                                              <p:pRg st="2" end="2"/>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64</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66</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xmlns="">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t="-541" b="-126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7" dur="500"/>
                                        <p:tgtEl>
                                          <p:spTgt spid="4">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4">
                                            <p:txEl>
                                              <p:pRg st="9" end="9"/>
                                            </p:txEl>
                                          </p:spTgt>
                                        </p:tgtEl>
                                        <p:attrNameLst>
                                          <p:attrName>style.visibility</p:attrName>
                                        </p:attrNameLst>
                                      </p:cBhvr>
                                      <p:to>
                                        <p:strVal val="visible"/>
                                      </p:to>
                                    </p:set>
                                    <p:animEffect transition="in" filter="randombar(horizontal)">
                                      <p:cBhvr>
                                        <p:cTn id="40" dur="500"/>
                                        <p:tgtEl>
                                          <p:spTgt spid="4">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animEffect transition="in" filter="randombar(horizontal)">
                                      <p:cBhvr>
                                        <p:cTn id="43"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 </a:t>
            </a:r>
            <a:r>
              <a:rPr lang="en-US" dirty="0">
                <a:solidFill>
                  <a:schemeClr val="accent1"/>
                </a:solidFill>
                <a:latin typeface="+mj-lt"/>
              </a:rPr>
              <a:t>[21]</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 </a:t>
            </a:r>
            <a:r>
              <a:rPr lang="en-US" dirty="0">
                <a:solidFill>
                  <a:schemeClr val="accent1"/>
                </a:solidFill>
                <a:latin typeface="+mj-lt"/>
              </a:rPr>
              <a:t>[26]</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 </a:t>
            </a:r>
            <a:r>
              <a:rPr lang="en-US" dirty="0">
                <a:solidFill>
                  <a:schemeClr val="accent1"/>
                </a:solidFill>
                <a:latin typeface="+mj-lt"/>
              </a:rPr>
              <a:t>[29]</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xmlns="">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5" y="1563688"/>
                <a:ext cx="4493602"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𝒗</m:t>
                        </m:r>
                      </m:e>
                    </m:d>
                  </m:oMath>
                </a14:m>
                <a:endParaRPr lang="en-GB" dirty="0">
                  <a:latin typeface="+mj-lt"/>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min</m:t>
                            </m:r>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𝐴</m:t>
                                    </m:r>
                                  </m:sub>
                                </m:sSub>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 </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r>
                  <a:rPr lang="en-GB" dirty="0">
                    <a:solidFill>
                      <a:schemeClr val="accent1"/>
                    </a:solidFill>
                    <a:latin typeface="+mj-lt"/>
                  </a:rPr>
                  <a:t>[18]</a:t>
                </a:r>
                <a:r>
                  <a:rPr lang="en-GB" dirty="0">
                    <a:latin typeface="+mj-lt"/>
                  </a:rPr>
                  <a:t> ♥</a:t>
                </a:r>
              </a:p>
            </p:txBody>
          </p:sp>
        </mc:Choice>
        <mc:Fallback xmlns="">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5" y="1563688"/>
                <a:ext cx="4493602"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5"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73</a:t>
            </a:fld>
            <a:endParaRPr lang="fr-FR" dirty="0"/>
          </a:p>
        </p:txBody>
      </p:sp>
      <p:pic>
        <p:nvPicPr>
          <p:cNvPr id="10" name="Content Placeholder 9">
            <a:extLst>
              <a:ext uri="{FF2B5EF4-FFF2-40B4-BE49-F238E27FC236}">
                <a16:creationId xmlns:a16="http://schemas.microsoft.com/office/drawing/2014/main" id="{5022E84B-A5F9-AFE7-A5D6-8C590678351F}"/>
              </a:ext>
            </a:extLst>
          </p:cNvPr>
          <p:cNvPicPr>
            <a:picLocks noGrp="1" noChangeAspect="1"/>
          </p:cNvPicPr>
          <p:nvPr>
            <p:ph idx="1"/>
          </p:nvPr>
        </p:nvPicPr>
        <p:blipFill>
          <a:blip r:embed="rId3"/>
          <a:stretch>
            <a:fillRect/>
          </a:stretch>
        </p:blipFill>
        <p:spPr>
          <a:xfrm>
            <a:off x="1178397" y="1563688"/>
            <a:ext cx="7179318" cy="3386137"/>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76</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598907529"/>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77</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78</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a:pPr>
            <a:r>
              <a:rPr lang="en-GB" dirty="0">
                <a:latin typeface="+mj-lt"/>
              </a:rPr>
              <a:t>S. L. Hakimi, “On Realizability of a Set of Integers as Degrees of the Vertices of a Linear Graph II. Uniqueness,” </a:t>
            </a:r>
            <a:r>
              <a:rPr lang="en-GB" i="1" dirty="0">
                <a:latin typeface="+mj-lt"/>
              </a:rPr>
              <a:t>Journal of the Society for Industrial and Applied Mathematics</a:t>
            </a:r>
            <a:r>
              <a:rPr lang="en-GB" dirty="0">
                <a:latin typeface="+mj-lt"/>
              </a:rPr>
              <a:t>, vol. 11, no. 1, pp. 135–147, Mar. 1963, </a:t>
            </a:r>
            <a:r>
              <a:rPr lang="en-GB" dirty="0" err="1">
                <a:latin typeface="+mj-lt"/>
              </a:rPr>
              <a:t>doi</a:t>
            </a:r>
            <a:r>
              <a:rPr lang="en-GB" dirty="0">
                <a:latin typeface="+mj-lt"/>
              </a:rPr>
              <a:t>: </a:t>
            </a:r>
            <a:r>
              <a:rPr lang="en-GB" dirty="0">
                <a:latin typeface="+mj-lt"/>
                <a:hlinkClick r:id="rId3"/>
              </a:rPr>
              <a:t>10.1137/0111010</a:t>
            </a:r>
            <a:r>
              <a:rPr lang="en-GB" dirty="0">
                <a:latin typeface="+mj-lt"/>
              </a:rPr>
              <a:t>.</a:t>
            </a:r>
          </a:p>
          <a:p>
            <a:pPr marL="342900" indent="-342900">
              <a:buFont typeface="+mj-lt"/>
              <a:buAutoNum type="arabicPeriod"/>
            </a:pPr>
            <a:r>
              <a:rPr lang="en-GB" dirty="0">
                <a:latin typeface="+mj-lt"/>
              </a:rPr>
              <a:t>D. J. Aldous, “Exchangeability and related topics,” in </a:t>
            </a:r>
            <a:r>
              <a:rPr lang="en-GB" i="1" dirty="0">
                <a:latin typeface="+mj-lt"/>
              </a:rPr>
              <a:t>École </a:t>
            </a:r>
            <a:r>
              <a:rPr lang="en-GB" i="1" dirty="0" err="1">
                <a:latin typeface="+mj-lt"/>
              </a:rPr>
              <a:t>d’Été</a:t>
            </a:r>
            <a:r>
              <a:rPr lang="en-GB" i="1" dirty="0">
                <a:latin typeface="+mj-lt"/>
              </a:rPr>
              <a:t> de </a:t>
            </a:r>
            <a:r>
              <a:rPr lang="en-GB" i="1" dirty="0" err="1">
                <a:latin typeface="+mj-lt"/>
              </a:rPr>
              <a:t>Probabilités</a:t>
            </a:r>
            <a:r>
              <a:rPr lang="en-GB" i="1" dirty="0">
                <a:latin typeface="+mj-lt"/>
              </a:rPr>
              <a:t> de Saint-Flour XIII — 1983</a:t>
            </a:r>
            <a:r>
              <a:rPr lang="en-GB" dirty="0">
                <a:latin typeface="+mj-lt"/>
              </a:rPr>
              <a:t>, D. J. Aldous, I. A. Ibragimov, J. </a:t>
            </a:r>
            <a:r>
              <a:rPr lang="en-GB" dirty="0" err="1">
                <a:latin typeface="+mj-lt"/>
              </a:rPr>
              <a:t>Jacod</a:t>
            </a:r>
            <a:r>
              <a:rPr lang="en-GB" dirty="0">
                <a:latin typeface="+mj-lt"/>
              </a:rPr>
              <a:t>, and P. L. </a:t>
            </a:r>
            <a:r>
              <a:rPr lang="en-GB" dirty="0" err="1">
                <a:latin typeface="+mj-lt"/>
              </a:rPr>
              <a:t>Hennequin</a:t>
            </a:r>
            <a:r>
              <a:rPr lang="en-GB" dirty="0">
                <a:latin typeface="+mj-lt"/>
              </a:rPr>
              <a:t>, Eds., in Lecture Notes in Mathematics. Berlin, Heidelberg: Springer, 1985, pp. 1–198. </a:t>
            </a:r>
            <a:r>
              <a:rPr lang="en-GB" dirty="0" err="1">
                <a:latin typeface="+mj-lt"/>
              </a:rPr>
              <a:t>doi</a:t>
            </a:r>
            <a:r>
              <a:rPr lang="en-GB" dirty="0">
                <a:latin typeface="+mj-lt"/>
              </a:rPr>
              <a:t>: </a:t>
            </a:r>
            <a:r>
              <a:rPr lang="en-GB" dirty="0">
                <a:latin typeface="+mj-lt"/>
                <a:hlinkClick r:id="rId4"/>
              </a:rPr>
              <a:t>10.1007/BFb0099421</a:t>
            </a:r>
            <a:r>
              <a:rPr lang="en-GB" dirty="0">
                <a:latin typeface="+mj-lt"/>
              </a:rPr>
              <a:t>.</a:t>
            </a:r>
          </a:p>
          <a:p>
            <a:pPr marL="342900" indent="-342900">
              <a:buFont typeface="+mj-lt"/>
              <a:buAutoNum type="arabicPeriod"/>
            </a:pPr>
            <a:r>
              <a:rPr lang="en-GB" dirty="0">
                <a:latin typeface="+mj-lt"/>
              </a:rPr>
              <a:t>B. </a:t>
            </a:r>
            <a:r>
              <a:rPr lang="en-GB" dirty="0" err="1">
                <a:latin typeface="+mj-lt"/>
              </a:rPr>
              <a:t>Fristedt</a:t>
            </a:r>
            <a:r>
              <a:rPr lang="en-GB" dirty="0">
                <a:latin typeface="+mj-lt"/>
              </a:rPr>
              <a:t>, “The structure of random partitions of large integers,” </a:t>
            </a:r>
            <a:r>
              <a:rPr lang="en-GB" i="1" dirty="0">
                <a:latin typeface="+mj-lt"/>
              </a:rPr>
              <a:t>Transactions of the American Mathematical Society</a:t>
            </a:r>
            <a:r>
              <a:rPr lang="en-GB" dirty="0">
                <a:latin typeface="+mj-lt"/>
              </a:rPr>
              <a:t>, vol. 337, no. 2, pp. 703–735, 1993, </a:t>
            </a:r>
            <a:r>
              <a:rPr lang="en-GB" dirty="0" err="1">
                <a:latin typeface="+mj-lt"/>
              </a:rPr>
              <a:t>doi</a:t>
            </a:r>
            <a:r>
              <a:rPr lang="en-GB" dirty="0">
                <a:latin typeface="+mj-lt"/>
              </a:rPr>
              <a:t>: </a:t>
            </a:r>
            <a:r>
              <a:rPr lang="en-GB" dirty="0">
                <a:latin typeface="+mj-lt"/>
                <a:hlinkClick r:id="rId5"/>
              </a:rPr>
              <a:t>10.1090/S0002-9947-1993-1094553-1</a:t>
            </a:r>
            <a:r>
              <a:rPr lang="en-GB" dirty="0">
                <a:latin typeface="+mj-lt"/>
              </a:rPr>
              <a:t>.</a:t>
            </a:r>
          </a:p>
          <a:p>
            <a:pPr marL="342900" indent="-342900">
              <a:buFont typeface="+mj-lt"/>
              <a:buAutoNum type="arabicPeriod"/>
            </a:pPr>
            <a:r>
              <a:rPr lang="en-GB" dirty="0">
                <a:latin typeface="+mj-lt"/>
              </a:rPr>
              <a:t>I. B. Boneva, A. Rensink, M. E. Kurban, and J. Bauer, “Graph Abstraction and Abstract Graph Transformation,” July 2007, Accessed: Aug. 20, 2025. [Online]. Available: </a:t>
            </a:r>
            <a:r>
              <a:rPr lang="en-GB" dirty="0">
                <a:latin typeface="+mj-lt"/>
                <a:hlinkClick r:id="rId6"/>
              </a:rPr>
              <a:t>https://research.utwente.nl/en/publications/graph-abstraction-and-abstract-graph-transformation</a:t>
            </a:r>
            <a:endParaRPr lang="en-GB" dirty="0">
              <a:latin typeface="+mj-lt"/>
            </a:endParaRPr>
          </a:p>
          <a:p>
            <a:pPr marL="342900" indent="-342900">
              <a:buFont typeface="+mj-lt"/>
              <a:buAutoNum type="arabicPeriod"/>
            </a:pPr>
            <a:r>
              <a:rPr lang="en-GB" dirty="0">
                <a:latin typeface="+mj-lt"/>
              </a:rPr>
              <a:t>J. Sohl-Dickstein, E. Weiss, N. </a:t>
            </a:r>
            <a:r>
              <a:rPr lang="en-GB" dirty="0" err="1">
                <a:latin typeface="+mj-lt"/>
              </a:rPr>
              <a:t>Maheswaranathan</a:t>
            </a:r>
            <a:r>
              <a:rPr lang="en-GB" dirty="0">
                <a:latin typeface="+mj-lt"/>
              </a:rPr>
              <a:t>, and S. Ganguli, “Deep Unsupervised Learning using Nonequilibrium Thermodynamics,” in </a:t>
            </a:r>
            <a:r>
              <a:rPr lang="en-GB" i="1" dirty="0">
                <a:latin typeface="+mj-lt"/>
              </a:rPr>
              <a:t>Proceedings of the 32nd International Conference on Machine Learning</a:t>
            </a:r>
            <a:r>
              <a:rPr lang="en-GB" dirty="0">
                <a:latin typeface="+mj-lt"/>
              </a:rPr>
              <a:t>, PMLR, June 2015, pp. 2256–2265. Accessed: Aug. 28, 2025. [Online]. Available: </a:t>
            </a:r>
            <a:r>
              <a:rPr lang="en-GB" dirty="0">
                <a:latin typeface="+mj-lt"/>
                <a:hlinkClick r:id="rId7"/>
              </a:rPr>
              <a:t>https://proceedings.mlr.press/v37/sohl-dickstein15.html</a:t>
            </a:r>
            <a:endParaRPr lang="en-GB" dirty="0">
              <a:latin typeface="+mj-lt"/>
            </a:endParaRPr>
          </a:p>
          <a:p>
            <a:pPr marL="342900" indent="-342900">
              <a:buFont typeface="+mj-lt"/>
              <a:buAutoNum type="arabicPeriod"/>
            </a:pPr>
            <a:r>
              <a:rPr lang="en-GB" dirty="0">
                <a:latin typeface="+mj-lt"/>
              </a:rPr>
              <a:t>M. </a:t>
            </a:r>
            <a:r>
              <a:rPr lang="en-GB" dirty="0" err="1">
                <a:latin typeface="+mj-lt"/>
              </a:rPr>
              <a:t>Arjovsky</a:t>
            </a:r>
            <a:r>
              <a:rPr lang="en-GB" dirty="0">
                <a:latin typeface="+mj-lt"/>
              </a:rPr>
              <a:t>, S. Chintala, and L. </a:t>
            </a:r>
            <a:r>
              <a:rPr lang="en-GB" dirty="0" err="1">
                <a:latin typeface="+mj-lt"/>
              </a:rPr>
              <a:t>Bottou</a:t>
            </a:r>
            <a:r>
              <a:rPr lang="en-GB" dirty="0">
                <a:latin typeface="+mj-lt"/>
              </a:rPr>
              <a:t>, “Wasserstein Generative Adversarial Networks,” in </a:t>
            </a:r>
            <a:r>
              <a:rPr lang="en-GB" i="1" dirty="0">
                <a:latin typeface="+mj-lt"/>
              </a:rPr>
              <a:t>Proceedings of the 34th International Conference on Machine Learning</a:t>
            </a:r>
            <a:r>
              <a:rPr lang="en-GB" dirty="0">
                <a:latin typeface="+mj-lt"/>
              </a:rPr>
              <a:t>, PMLR, July 2017, pp. 214–223. Accessed: Aug. 27, 2025. [Online]. Available: </a:t>
            </a:r>
            <a:r>
              <a:rPr lang="en-GB" dirty="0">
                <a:latin typeface="+mj-lt"/>
                <a:hlinkClick r:id="rId8"/>
              </a:rPr>
              <a:t>https://proceedings.mlr.press/v70/arjovsky17a.html</a:t>
            </a:r>
            <a:endParaRPr lang="en-GB" dirty="0">
              <a:latin typeface="+mj-lt"/>
            </a:endParaRPr>
          </a:p>
          <a:p>
            <a:pPr marL="342900" indent="-342900">
              <a:buFont typeface="+mj-lt"/>
              <a:buAutoNum type="arabicPeriod"/>
            </a:pPr>
            <a:r>
              <a:rPr lang="en-GB" dirty="0">
                <a:latin typeface="+mj-lt"/>
              </a:rPr>
              <a:t>P. W. Battaglia </a:t>
            </a:r>
            <a:r>
              <a:rPr lang="en-GB" i="1" dirty="0">
                <a:latin typeface="+mj-lt"/>
              </a:rPr>
              <a:t>et al.</a:t>
            </a:r>
            <a:r>
              <a:rPr lang="en-GB" dirty="0">
                <a:latin typeface="+mj-lt"/>
              </a:rPr>
              <a:t>, “Relational inductive biases, deep learning, and graph networks,” </a:t>
            </a:r>
            <a:r>
              <a:rPr lang="en-GB" i="1" dirty="0">
                <a:latin typeface="+mj-lt"/>
              </a:rPr>
              <a:t>arXiv:1806.01261 [cs, stat]</a:t>
            </a:r>
            <a:r>
              <a:rPr lang="en-GB" dirty="0">
                <a:latin typeface="+mj-lt"/>
              </a:rPr>
              <a:t>, Oct. 2018, Accessed: Oct. 08, 2021. [Online]. Available: </a:t>
            </a:r>
            <a:r>
              <a:rPr lang="en-GB" dirty="0">
                <a:latin typeface="+mj-lt"/>
                <a:hlinkClick r:id="rId9"/>
              </a:rPr>
              <a:t>http://arxiv.org/abs/1806.01261</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79</a:t>
            </a:fld>
            <a:endParaRPr lang="fr-FR" dirty="0"/>
          </a:p>
        </p:txBody>
      </p:sp>
    </p:spTree>
    <p:extLst>
      <p:ext uri="{BB962C8B-B14F-4D97-AF65-F5344CB8AC3E}">
        <p14:creationId xmlns:p14="http://schemas.microsoft.com/office/powerpoint/2010/main" val="346579459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8"/>
            </a:pPr>
            <a:r>
              <a:rPr lang="en-GB" dirty="0">
                <a:latin typeface="+mj-lt"/>
              </a:rPr>
              <a:t>A. Lerer </a:t>
            </a:r>
            <a:r>
              <a:rPr lang="en-GB" i="1" dirty="0">
                <a:latin typeface="+mj-lt"/>
              </a:rPr>
              <a:t>et al.</a:t>
            </a:r>
            <a:r>
              <a:rPr lang="en-GB" dirty="0">
                <a:latin typeface="+mj-lt"/>
              </a:rPr>
              <a:t>, “</a:t>
            </a:r>
            <a:r>
              <a:rPr lang="en-GB" dirty="0" err="1">
                <a:latin typeface="+mj-lt"/>
              </a:rPr>
              <a:t>Pytorch-BigGraph</a:t>
            </a:r>
            <a:r>
              <a:rPr lang="en-GB" dirty="0">
                <a:latin typeface="+mj-lt"/>
              </a:rPr>
              <a:t>: A Large Scale Graph Embedding System,” </a:t>
            </a:r>
            <a:r>
              <a:rPr lang="en-GB" i="1" dirty="0">
                <a:latin typeface="+mj-lt"/>
              </a:rPr>
              <a:t>Proceedings of Machine Learning and Systems</a:t>
            </a:r>
            <a:r>
              <a:rPr lang="en-GB" dirty="0">
                <a:latin typeface="+mj-lt"/>
              </a:rPr>
              <a:t>, vol. 1, pp. 120–131, Apr. 2019, Accessed: Sept. 20, 2022. [Online]. Available: </a:t>
            </a:r>
            <a:r>
              <a:rPr lang="en-GB" dirty="0">
                <a:latin typeface="+mj-lt"/>
                <a:hlinkClick r:id="rId3"/>
              </a:rPr>
              <a:t>https://proceedings.mlsys.org/paper/2019/hash/e2c420d928d4bf8ce0ff2ec19b371514-Abstract.html</a:t>
            </a:r>
            <a:endParaRPr lang="en-GB" dirty="0">
              <a:latin typeface="+mj-lt"/>
            </a:endParaRPr>
          </a:p>
          <a:p>
            <a:pPr marL="342900" indent="-342900">
              <a:buFont typeface="+mj-lt"/>
              <a:buAutoNum type="arabicPeriod" startAt="8"/>
            </a:pPr>
            <a:r>
              <a:rPr lang="en-GB" dirty="0">
                <a:latin typeface="+mj-lt"/>
              </a:rPr>
              <a:t>D. Nathani, J. Chauhan, C. Sharma, and M. Kaul, “Learning Attention-based Embeddings for Relation Prediction in Knowledge Graphs,” in </a:t>
            </a:r>
            <a:r>
              <a:rPr lang="en-GB" i="1" dirty="0">
                <a:latin typeface="+mj-lt"/>
              </a:rPr>
              <a:t>Proceedings of the 57th Annual Meeting of the Association for Computational Linguistics</a:t>
            </a:r>
            <a:r>
              <a:rPr lang="en-GB" dirty="0">
                <a:latin typeface="+mj-lt"/>
              </a:rPr>
              <a:t>, Florence, Italy: Association for Computational Linguistics, July 2019, pp. 4710–4723. </a:t>
            </a:r>
            <a:r>
              <a:rPr lang="en-GB" dirty="0" err="1">
                <a:latin typeface="+mj-lt"/>
              </a:rPr>
              <a:t>doi</a:t>
            </a:r>
            <a:r>
              <a:rPr lang="en-GB" dirty="0">
                <a:latin typeface="+mj-lt"/>
              </a:rPr>
              <a:t>: </a:t>
            </a:r>
            <a:r>
              <a:rPr lang="en-GB" dirty="0">
                <a:latin typeface="+mj-lt"/>
                <a:hlinkClick r:id="rId4"/>
              </a:rPr>
              <a:t>10.18653/v1/P19-1466</a:t>
            </a:r>
            <a:r>
              <a:rPr lang="en-GB" dirty="0">
                <a:latin typeface="+mj-lt"/>
              </a:rPr>
              <a:t>.</a:t>
            </a:r>
          </a:p>
          <a:p>
            <a:pPr marL="342900" indent="-342900">
              <a:buFont typeface="+mj-lt"/>
              <a:buAutoNum type="arabicPeriod" startAt="8"/>
            </a:pPr>
            <a:r>
              <a:rPr lang="en-GB" dirty="0">
                <a:latin typeface="+mj-lt"/>
              </a:rPr>
              <a:t>H. Ren, W. Hu, and J. Leskovec, “Query2box: Reasoning over Knowledge Graphs in Vector Space Using Box Embeddings,” in </a:t>
            </a:r>
            <a:r>
              <a:rPr lang="en-GB" i="1" dirty="0">
                <a:latin typeface="+mj-lt"/>
              </a:rPr>
              <a:t>8th International Conference on Learning Representations, ICLR 2020, Addis Ababa, Ethiopia, April 26-30, 2020</a:t>
            </a:r>
            <a:r>
              <a:rPr lang="en-GB" dirty="0">
                <a:latin typeface="+mj-lt"/>
              </a:rPr>
              <a:t>, OpenReview.net, 2020. [Online]. Available: </a:t>
            </a:r>
            <a:r>
              <a:rPr lang="en-GB" dirty="0">
                <a:latin typeface="+mj-lt"/>
                <a:hlinkClick r:id="rId5"/>
              </a:rPr>
              <a:t>https://openreview.net/forum?id=BJgr4kSFDS</a:t>
            </a:r>
            <a:endParaRPr lang="en-GB" dirty="0">
              <a:latin typeface="+mj-lt"/>
            </a:endParaRPr>
          </a:p>
          <a:p>
            <a:pPr marL="342900" indent="-342900">
              <a:buFont typeface="+mj-lt"/>
              <a:buAutoNum type="arabicPeriod" startAt="8"/>
            </a:pPr>
            <a:r>
              <a:rPr lang="en-GB" dirty="0">
                <a:latin typeface="+mj-lt"/>
              </a:rPr>
              <a:t>R. Shen, K. Tian, and Y. Tat Lee, “Composite </a:t>
            </a:r>
            <a:r>
              <a:rPr lang="en-GB" dirty="0" err="1">
                <a:latin typeface="+mj-lt"/>
              </a:rPr>
              <a:t>Logconcave</a:t>
            </a:r>
            <a:r>
              <a:rPr lang="en-GB" dirty="0">
                <a:latin typeface="+mj-lt"/>
              </a:rPr>
              <a:t> Sampling with a Restricted Gaussian Oracle,” June 01, 2020, </a:t>
            </a:r>
            <a:r>
              <a:rPr lang="en-GB" i="1" dirty="0" err="1">
                <a:latin typeface="+mj-lt"/>
              </a:rPr>
              <a:t>arXiv</a:t>
            </a:r>
            <a:r>
              <a:rPr lang="en-GB" dirty="0">
                <a:latin typeface="+mj-lt"/>
              </a:rPr>
              <a:t>. </a:t>
            </a:r>
            <a:r>
              <a:rPr lang="en-GB" dirty="0" err="1">
                <a:latin typeface="+mj-lt"/>
              </a:rPr>
              <a:t>doi</a:t>
            </a:r>
            <a:r>
              <a:rPr lang="en-GB" dirty="0">
                <a:latin typeface="+mj-lt"/>
              </a:rPr>
              <a:t>: </a:t>
            </a:r>
            <a:r>
              <a:rPr lang="en-GB" dirty="0">
                <a:latin typeface="+mj-lt"/>
                <a:hlinkClick r:id="rId6"/>
              </a:rPr>
              <a:t>10.48550/arXiv.2006.05976</a:t>
            </a:r>
            <a:r>
              <a:rPr lang="en-GB" dirty="0">
                <a:latin typeface="+mj-lt"/>
              </a:rPr>
              <a:t>.</a:t>
            </a:r>
          </a:p>
          <a:p>
            <a:pPr marL="342900" indent="-342900">
              <a:buFont typeface="+mj-lt"/>
              <a:buAutoNum type="arabicPeriod" startAt="8"/>
            </a:pPr>
            <a:r>
              <a:rPr lang="en-GB" dirty="0">
                <a:latin typeface="+mj-lt"/>
              </a:rPr>
              <a:t>D. Zheng </a:t>
            </a:r>
            <a:r>
              <a:rPr lang="en-GB" i="1" dirty="0">
                <a:latin typeface="+mj-lt"/>
              </a:rPr>
              <a:t>et al.</a:t>
            </a:r>
            <a:r>
              <a:rPr lang="en-GB" dirty="0">
                <a:latin typeface="+mj-lt"/>
              </a:rPr>
              <a:t>, “DGL-KE: Training Knowledge Graph Embeddings at Scale,” in </a:t>
            </a:r>
            <a:r>
              <a:rPr lang="en-GB" i="1" dirty="0">
                <a:latin typeface="+mj-lt"/>
              </a:rPr>
              <a:t>Proceedings of the 43rd International ACM SIGIR Conference on Research and Development in Information Retrieval</a:t>
            </a:r>
            <a:r>
              <a:rPr lang="en-GB" dirty="0">
                <a:latin typeface="+mj-lt"/>
              </a:rPr>
              <a:t>, in SIGIR ’20. New York, NY, USA: Association for Computing Machinery, July 2020, pp. 739–748. </a:t>
            </a:r>
            <a:r>
              <a:rPr lang="en-GB" dirty="0" err="1">
                <a:latin typeface="+mj-lt"/>
              </a:rPr>
              <a:t>doi</a:t>
            </a:r>
            <a:r>
              <a:rPr lang="en-GB" dirty="0">
                <a:latin typeface="+mj-lt"/>
              </a:rPr>
              <a:t>: </a:t>
            </a:r>
            <a:r>
              <a:rPr lang="en-GB" dirty="0">
                <a:latin typeface="+mj-lt"/>
                <a:hlinkClick r:id="rId7"/>
              </a:rPr>
              <a:t>10.1145/3397271.3401172</a:t>
            </a:r>
            <a:r>
              <a:rPr lang="en-GB" dirty="0">
                <a:latin typeface="+mj-lt"/>
              </a:rPr>
              <a:t>.</a:t>
            </a:r>
          </a:p>
          <a:p>
            <a:pPr marL="342900" indent="-342900">
              <a:buFont typeface="+mj-lt"/>
              <a:buAutoNum type="arabicPeriod" startAt="8"/>
            </a:pPr>
            <a:r>
              <a:rPr lang="en-GB" dirty="0">
                <a:latin typeface="+mj-lt"/>
              </a:rPr>
              <a:t>I. Krawczuk, P. Abranches, A. Loukas, and V. Cevher, “GG-GAN: A Geometric Graph Generative Adversarial Network,” Sept. 2020, Accessed: Sept. 12, 2021. [Online]. Available: </a:t>
            </a:r>
            <a:r>
              <a:rPr lang="en-GB" dirty="0">
                <a:latin typeface="+mj-lt"/>
                <a:hlinkClick r:id="rId8"/>
              </a:rPr>
              <a:t>https://openreview.net/forum?id=qiAxL3Xqx1o</a:t>
            </a:r>
            <a:endParaRPr lang="en-GB" dirty="0">
              <a:latin typeface="+mj-lt"/>
            </a:endParaRPr>
          </a:p>
          <a:p>
            <a:pPr marL="342900" indent="-342900">
              <a:buFont typeface="+mj-lt"/>
              <a:buAutoNum type="arabicPeriod" startAt="8"/>
            </a:pPr>
            <a:r>
              <a:rPr lang="en-GB" dirty="0">
                <a:latin typeface="+mj-lt"/>
              </a:rPr>
              <a:t>A. Hogan </a:t>
            </a:r>
            <a:r>
              <a:rPr lang="en-GB" i="1" dirty="0">
                <a:latin typeface="+mj-lt"/>
              </a:rPr>
              <a:t>et al.</a:t>
            </a:r>
            <a:r>
              <a:rPr lang="en-GB" dirty="0">
                <a:latin typeface="+mj-lt"/>
              </a:rPr>
              <a:t>, “Knowledge Graphs,” </a:t>
            </a:r>
            <a:r>
              <a:rPr lang="en-GB" i="1" dirty="0">
                <a:latin typeface="+mj-lt"/>
              </a:rPr>
              <a:t>ACM Comput. </a:t>
            </a:r>
            <a:r>
              <a:rPr lang="en-GB" i="1" dirty="0" err="1">
                <a:latin typeface="+mj-lt"/>
              </a:rPr>
              <a:t>Surv</a:t>
            </a:r>
            <a:r>
              <a:rPr lang="en-GB" i="1" dirty="0">
                <a:latin typeface="+mj-lt"/>
              </a:rPr>
              <a:t>.</a:t>
            </a:r>
            <a:r>
              <a:rPr lang="en-GB" dirty="0">
                <a:latin typeface="+mj-lt"/>
              </a:rPr>
              <a:t>, vol. 54, no. 4, p. 71:1-71:37, July 2021, </a:t>
            </a:r>
            <a:r>
              <a:rPr lang="en-GB" dirty="0" err="1">
                <a:latin typeface="+mj-lt"/>
              </a:rPr>
              <a:t>doi</a:t>
            </a:r>
            <a:r>
              <a:rPr lang="en-GB" dirty="0">
                <a:latin typeface="+mj-lt"/>
              </a:rPr>
              <a:t>: </a:t>
            </a:r>
            <a:r>
              <a:rPr lang="en-GB" dirty="0">
                <a:latin typeface="+mj-lt"/>
                <a:hlinkClick r:id="rId9"/>
              </a:rPr>
              <a:t>10.1145/3447772</a:t>
            </a:r>
            <a:r>
              <a:rPr lang="en-GB" dirty="0">
                <a:latin typeface="+mj-lt"/>
              </a:rPr>
              <a:t>.</a:t>
            </a: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80</a:t>
            </a:fld>
            <a:endParaRPr lang="fr-FR" dirty="0"/>
          </a:p>
        </p:txBody>
      </p:sp>
    </p:spTree>
    <p:extLst>
      <p:ext uri="{BB962C8B-B14F-4D97-AF65-F5344CB8AC3E}">
        <p14:creationId xmlns:p14="http://schemas.microsoft.com/office/powerpoint/2010/main" val="2989178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15"/>
            </a:pPr>
            <a:r>
              <a:rPr lang="en-GB" dirty="0">
                <a:latin typeface="+mj-lt"/>
              </a:rPr>
              <a:t>A. Janchevski, “Graph Embedding Methods for Graph Completion,” Master’s Thesis, EPFL, Lausanne, 2021. [Online]. Available: </a:t>
            </a:r>
            <a:r>
              <a:rPr lang="en-GB" dirty="0">
                <a:latin typeface="+mj-lt"/>
                <a:hlinkClick r:id="rId3"/>
              </a:rPr>
              <a:t>https://infoscience.epfl.ch/handle/20.500.14299/253964</a:t>
            </a:r>
            <a:endParaRPr lang="en-GB" dirty="0">
              <a:latin typeface="+mj-lt"/>
            </a:endParaRPr>
          </a:p>
          <a:p>
            <a:pPr marL="342900" indent="-342900">
              <a:buFont typeface="+mj-lt"/>
              <a:buAutoNum type="arabicPeriod" startAt="15"/>
            </a:pPr>
            <a:r>
              <a:rPr lang="en-GB" dirty="0">
                <a:latin typeface="+mj-lt"/>
              </a:rPr>
              <a:t>H. Ren </a:t>
            </a:r>
            <a:r>
              <a:rPr lang="en-GB" i="1" dirty="0">
                <a:latin typeface="+mj-lt"/>
              </a:rPr>
              <a:t>et al.</a:t>
            </a:r>
            <a:r>
              <a:rPr lang="en-GB" dirty="0">
                <a:latin typeface="+mj-lt"/>
              </a:rPr>
              <a:t>, “SMORE: Knowledge Graph Completion and Multi-hop Reasoning in Massive Knowledge Graphs,” Nov. 01, 2021, </a:t>
            </a:r>
            <a:r>
              <a:rPr lang="en-GB" i="1" dirty="0" err="1">
                <a:latin typeface="+mj-lt"/>
              </a:rPr>
              <a:t>arXiv</a:t>
            </a:r>
            <a:r>
              <a:rPr lang="en-GB" dirty="0">
                <a:latin typeface="+mj-lt"/>
              </a:rPr>
              <a:t>: arXiv:2110.14890. </a:t>
            </a:r>
            <a:r>
              <a:rPr lang="en-GB" dirty="0" err="1">
                <a:latin typeface="+mj-lt"/>
              </a:rPr>
              <a:t>doi</a:t>
            </a:r>
            <a:r>
              <a:rPr lang="en-GB" dirty="0">
                <a:latin typeface="+mj-lt"/>
              </a:rPr>
              <a:t>: </a:t>
            </a:r>
            <a:r>
              <a:rPr lang="en-GB" dirty="0">
                <a:latin typeface="+mj-lt"/>
                <a:hlinkClick r:id="rId4"/>
              </a:rPr>
              <a:t>10.48550/arXiv.2110.14890</a:t>
            </a:r>
            <a:r>
              <a:rPr lang="en-GB" dirty="0">
                <a:latin typeface="+mj-lt"/>
              </a:rPr>
              <a:t>.</a:t>
            </a:r>
          </a:p>
          <a:p>
            <a:pPr marL="342900" indent="-342900">
              <a:buFont typeface="+mj-lt"/>
              <a:buAutoNum type="arabicPeriod" startAt="15"/>
            </a:pPr>
            <a:r>
              <a:rPr lang="en-GB" dirty="0">
                <a:latin typeface="+mj-lt"/>
              </a:rPr>
              <a:t>M. Galkin, E. G. Denis, J. Wu, and W. L. Hamilton, “</a:t>
            </a:r>
            <a:r>
              <a:rPr lang="en-GB" dirty="0" err="1">
                <a:latin typeface="+mj-lt"/>
              </a:rPr>
              <a:t>NodePiece</a:t>
            </a:r>
            <a:r>
              <a:rPr lang="en-GB" dirty="0">
                <a:latin typeface="+mj-lt"/>
              </a:rPr>
              <a:t>: Compositional and Parameter-Efficient Representations of Large Knowledge Graphs,” in </a:t>
            </a:r>
            <a:r>
              <a:rPr lang="en-GB" i="1" dirty="0">
                <a:latin typeface="+mj-lt"/>
              </a:rPr>
              <a:t>The Tenth International Conference on Learning Representations, ICLR 2022, Virtual Event, April 25-29, 2022</a:t>
            </a:r>
            <a:r>
              <a:rPr lang="en-GB" dirty="0">
                <a:latin typeface="+mj-lt"/>
              </a:rPr>
              <a:t>, OpenReview.net, 2022. [Online]. Available: </a:t>
            </a:r>
            <a:r>
              <a:rPr lang="en-GB" dirty="0">
                <a:latin typeface="+mj-lt"/>
                <a:hlinkClick r:id="rId5"/>
              </a:rPr>
              <a:t>https://openreview.net/forum?id=xMJWUKJnFSw</a:t>
            </a:r>
            <a:endParaRPr lang="en-GB" dirty="0">
              <a:latin typeface="+mj-lt"/>
            </a:endParaRPr>
          </a:p>
          <a:p>
            <a:pPr marL="342900" indent="-342900">
              <a:buFont typeface="+mj-lt"/>
              <a:buAutoNum type="arabicPeriod" startAt="15"/>
            </a:pPr>
            <a:r>
              <a:rPr lang="en-GB" dirty="0">
                <a:latin typeface="+mj-lt"/>
              </a:rPr>
              <a:t>C. </a:t>
            </a:r>
            <a:r>
              <a:rPr lang="en-GB" dirty="0" err="1">
                <a:latin typeface="+mj-lt"/>
              </a:rPr>
              <a:t>Vignac</a:t>
            </a:r>
            <a:r>
              <a:rPr lang="en-GB" dirty="0">
                <a:latin typeface="+mj-lt"/>
              </a:rPr>
              <a:t>, I. Krawczuk, A. </a:t>
            </a:r>
            <a:r>
              <a:rPr lang="en-GB" dirty="0" err="1">
                <a:latin typeface="+mj-lt"/>
              </a:rPr>
              <a:t>Siraudin</a:t>
            </a:r>
            <a:r>
              <a:rPr lang="en-GB" dirty="0">
                <a:latin typeface="+mj-lt"/>
              </a:rPr>
              <a:t>, B. Wang, V. Cevher, and P. Frossard, “</a:t>
            </a:r>
            <a:r>
              <a:rPr lang="en-GB" dirty="0" err="1">
                <a:latin typeface="+mj-lt"/>
              </a:rPr>
              <a:t>DiGress</a:t>
            </a:r>
            <a:r>
              <a:rPr lang="en-GB" dirty="0">
                <a:latin typeface="+mj-lt"/>
              </a:rPr>
              <a:t>: Discrete Denoising diffusion for graph generation,” presented at the </a:t>
            </a:r>
            <a:r>
              <a:rPr lang="en-GB" dirty="0" err="1">
                <a:latin typeface="+mj-lt"/>
              </a:rPr>
              <a:t>The</a:t>
            </a:r>
            <a:r>
              <a:rPr lang="en-GB" dirty="0">
                <a:latin typeface="+mj-lt"/>
              </a:rPr>
              <a:t> Eleventh International Conference on Learning Representations, Sept. 2022. Accessed: Jan. 30, 2025. [Online]. Available: </a:t>
            </a:r>
            <a:r>
              <a:rPr lang="en-GB" dirty="0">
                <a:latin typeface="+mj-lt"/>
                <a:hlinkClick r:id="rId6"/>
              </a:rPr>
              <a:t>https://openreview.net/forum?id=UaAD-Nu86WX</a:t>
            </a:r>
            <a:endParaRPr lang="en-GB" dirty="0">
              <a:latin typeface="+mj-lt"/>
            </a:endParaRPr>
          </a:p>
          <a:p>
            <a:pPr marL="342900" indent="-342900">
              <a:buFont typeface="+mj-lt"/>
              <a:buAutoNum type="arabicPeriod" startAt="15"/>
            </a:pPr>
            <a:r>
              <a:rPr lang="en-GB" dirty="0">
                <a:latin typeface="+mj-lt"/>
              </a:rPr>
              <a:t>M. Chen </a:t>
            </a:r>
            <a:r>
              <a:rPr lang="en-GB" i="1" dirty="0">
                <a:latin typeface="+mj-lt"/>
              </a:rPr>
              <a:t>et al.</a:t>
            </a:r>
            <a:r>
              <a:rPr lang="en-GB" dirty="0">
                <a:latin typeface="+mj-lt"/>
              </a:rPr>
              <a:t>, “Entity-Agnostic Representation Learning for Parameter-Efficient Knowledge Graph Embedding,” </a:t>
            </a:r>
            <a:r>
              <a:rPr lang="en-GB" i="1" dirty="0">
                <a:latin typeface="+mj-lt"/>
              </a:rPr>
              <a:t>Proceedings of the AAAI Conference on Artificial Intelligence</a:t>
            </a:r>
            <a:r>
              <a:rPr lang="en-GB" dirty="0">
                <a:latin typeface="+mj-lt"/>
              </a:rPr>
              <a:t>, vol. 37, no. 4, Art. no. 4, June 2023, </a:t>
            </a:r>
            <a:r>
              <a:rPr lang="en-GB" dirty="0" err="1">
                <a:latin typeface="+mj-lt"/>
              </a:rPr>
              <a:t>doi</a:t>
            </a:r>
            <a:r>
              <a:rPr lang="en-GB" dirty="0">
                <a:latin typeface="+mj-lt"/>
              </a:rPr>
              <a:t>: </a:t>
            </a:r>
            <a:r>
              <a:rPr lang="en-GB" dirty="0">
                <a:latin typeface="+mj-lt"/>
                <a:hlinkClick r:id="rId7"/>
              </a:rPr>
              <a:t>10.1609/aaai.v37i4.25535</a:t>
            </a:r>
            <a:r>
              <a:rPr lang="en-GB" dirty="0">
                <a:latin typeface="+mj-lt"/>
              </a:rPr>
              <a:t>.</a:t>
            </a:r>
          </a:p>
          <a:p>
            <a:pPr marL="342900" indent="-342900">
              <a:buFont typeface="+mj-lt"/>
              <a:buAutoNum type="arabicPeriod" startAt="15"/>
            </a:pPr>
            <a:r>
              <a:rPr lang="en-GB" dirty="0">
                <a:latin typeface="+mj-lt"/>
              </a:rPr>
              <a:t>W. Shiao, U. S. Saini, Y. Liu, T. Zhao, N. Shah, and E. E. </a:t>
            </a:r>
            <a:r>
              <a:rPr lang="en-GB" dirty="0" err="1">
                <a:latin typeface="+mj-lt"/>
              </a:rPr>
              <a:t>Papalexakis</a:t>
            </a:r>
            <a:r>
              <a:rPr lang="en-GB" dirty="0">
                <a:latin typeface="+mj-lt"/>
              </a:rPr>
              <a:t>, “CARL-G: Clustering-Accelerated Representation Learning on Graphs,” in </a:t>
            </a:r>
            <a:r>
              <a:rPr lang="en-GB" i="1" dirty="0">
                <a:latin typeface="+mj-lt"/>
              </a:rPr>
              <a:t>Proceedings of the 29th ACM SIGKDD Conference on Knowledge Discovery and Data Mining</a:t>
            </a:r>
            <a:r>
              <a:rPr lang="en-GB" dirty="0">
                <a:latin typeface="+mj-lt"/>
              </a:rPr>
              <a:t>, Aug. 2023, pp. 2036–2048. </a:t>
            </a:r>
            <a:r>
              <a:rPr lang="en-GB" dirty="0" err="1">
                <a:latin typeface="+mj-lt"/>
              </a:rPr>
              <a:t>doi</a:t>
            </a:r>
            <a:r>
              <a:rPr lang="en-GB" dirty="0">
                <a:latin typeface="+mj-lt"/>
              </a:rPr>
              <a:t>: </a:t>
            </a:r>
            <a:r>
              <a:rPr lang="en-GB" dirty="0">
                <a:latin typeface="+mj-lt"/>
                <a:hlinkClick r:id="rId8"/>
              </a:rPr>
              <a:t>10.1145/3580305.3599268</a:t>
            </a:r>
            <a:r>
              <a:rPr lang="en-GB" dirty="0">
                <a:latin typeface="+mj-lt"/>
              </a:rPr>
              <a:t>.</a:t>
            </a:r>
          </a:p>
          <a:p>
            <a:pPr marL="342900" indent="-342900">
              <a:buFont typeface="+mj-lt"/>
              <a:buAutoNum type="arabicPeriod" startAt="15"/>
            </a:pPr>
            <a:r>
              <a:rPr lang="en-GB" dirty="0">
                <a:latin typeface="+mj-lt"/>
              </a:rPr>
              <a:t>T. </a:t>
            </a:r>
            <a:r>
              <a:rPr lang="en-GB" dirty="0" err="1">
                <a:latin typeface="+mj-lt"/>
              </a:rPr>
              <a:t>Thanapalasingam</a:t>
            </a:r>
            <a:r>
              <a:rPr lang="en-GB" dirty="0">
                <a:latin typeface="+mj-lt"/>
              </a:rPr>
              <a:t>, E. van Krieken, P. Bloem, and P. </a:t>
            </a:r>
            <a:r>
              <a:rPr lang="en-GB" dirty="0" err="1">
                <a:latin typeface="+mj-lt"/>
              </a:rPr>
              <a:t>Groth</a:t>
            </a:r>
            <a:r>
              <a:rPr lang="en-GB" dirty="0">
                <a:latin typeface="+mj-lt"/>
              </a:rPr>
              <a:t>, “</a:t>
            </a:r>
            <a:r>
              <a:rPr lang="en-GB" dirty="0" err="1">
                <a:latin typeface="+mj-lt"/>
              </a:rPr>
              <a:t>IntelliGraphs</a:t>
            </a:r>
            <a:r>
              <a:rPr lang="en-GB" dirty="0">
                <a:latin typeface="+mj-lt"/>
              </a:rPr>
              <a:t>: Datasets for Benchmarking Knowledge Graph Generation,” Aug. 25, 2023, </a:t>
            </a:r>
            <a:r>
              <a:rPr lang="en-GB" i="1" dirty="0" err="1">
                <a:latin typeface="+mj-lt"/>
              </a:rPr>
              <a:t>arXiv</a:t>
            </a:r>
            <a:r>
              <a:rPr lang="en-GB" dirty="0">
                <a:latin typeface="+mj-lt"/>
              </a:rPr>
              <a:t>: arXiv:2307.06698. </a:t>
            </a:r>
            <a:r>
              <a:rPr lang="en-GB" dirty="0" err="1">
                <a:latin typeface="+mj-lt"/>
              </a:rPr>
              <a:t>doi</a:t>
            </a:r>
            <a:r>
              <a:rPr lang="en-GB" dirty="0">
                <a:latin typeface="+mj-lt"/>
              </a:rPr>
              <a:t>: </a:t>
            </a:r>
            <a:r>
              <a:rPr lang="en-GB" dirty="0">
                <a:latin typeface="+mj-lt"/>
                <a:hlinkClick r:id="rId9"/>
              </a:rPr>
              <a:t>10.48550/arXiv.2307.06698</a:t>
            </a:r>
            <a:r>
              <a:rPr lang="en-GB" dirty="0">
                <a:latin typeface="+mj-lt"/>
              </a:rPr>
              <a:t>.</a:t>
            </a:r>
          </a:p>
          <a:p>
            <a:pPr marL="342900" indent="-342900">
              <a:buFont typeface="+mj-lt"/>
              <a:buAutoNum type="arabicPeriod" startAt="15"/>
            </a:pPr>
            <a:r>
              <a:rPr lang="en-GB" dirty="0">
                <a:latin typeface="+mj-lt"/>
              </a:rPr>
              <a:t>M. Karami, “</a:t>
            </a:r>
            <a:r>
              <a:rPr lang="en-GB" dirty="0" err="1">
                <a:latin typeface="+mj-lt"/>
              </a:rPr>
              <a:t>HiGen</a:t>
            </a:r>
            <a:r>
              <a:rPr lang="en-GB" dirty="0">
                <a:latin typeface="+mj-lt"/>
              </a:rPr>
              <a:t>: Hierarchical Graph Generative Networks,” in </a:t>
            </a:r>
            <a:r>
              <a:rPr lang="en-GB" i="1" dirty="0">
                <a:latin typeface="+mj-lt"/>
              </a:rPr>
              <a:t>The Twelfth International Conference on Learning Representations</a:t>
            </a:r>
            <a:r>
              <a:rPr lang="en-GB" dirty="0">
                <a:latin typeface="+mj-lt"/>
              </a:rPr>
              <a:t>, 2024. [Online]. Available: </a:t>
            </a:r>
            <a:r>
              <a:rPr lang="en-GB" dirty="0">
                <a:latin typeface="+mj-lt"/>
                <a:hlinkClick r:id="rId10"/>
              </a:rPr>
              <a:t>https://openreview.net/forum?id=KNvubydSB5</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81</a:t>
            </a:fld>
            <a:endParaRPr lang="fr-FR" dirty="0"/>
          </a:p>
        </p:txBody>
      </p:sp>
    </p:spTree>
    <p:extLst>
      <p:ext uri="{BB962C8B-B14F-4D97-AF65-F5344CB8AC3E}">
        <p14:creationId xmlns:p14="http://schemas.microsoft.com/office/powerpoint/2010/main" val="14247917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22"/>
            </a:pPr>
            <a:r>
              <a:rPr lang="en-GB" dirty="0">
                <a:latin typeface="+mj-lt"/>
              </a:rPr>
              <a:t>M. Karami, I. Krawczuk, and V. Cevher, “Multi-Resolution Graph Diffusion,” in </a:t>
            </a:r>
            <a:r>
              <a:rPr lang="en-GB" i="1" dirty="0">
                <a:latin typeface="+mj-lt"/>
              </a:rPr>
              <a:t>ICLR 2024 Workshop on Machine Learning for Genomics Explorations</a:t>
            </a:r>
            <a:r>
              <a:rPr lang="en-GB" dirty="0">
                <a:latin typeface="+mj-lt"/>
              </a:rPr>
              <a:t>, 2024. [Online]. Available: </a:t>
            </a:r>
            <a:r>
              <a:rPr lang="en-GB" dirty="0">
                <a:latin typeface="+mj-lt"/>
                <a:hlinkClick r:id="rId3"/>
              </a:rPr>
              <a:t>https://openreview.net/forum?id=0rZiMEOzh0</a:t>
            </a:r>
            <a:endParaRPr lang="en-GB" dirty="0">
              <a:latin typeface="+mj-lt"/>
            </a:endParaRPr>
          </a:p>
          <a:p>
            <a:pPr marL="342900" indent="-342900">
              <a:buFont typeface="+mj-lt"/>
              <a:buAutoNum type="arabicPeriod" startAt="22"/>
            </a:pPr>
            <a:r>
              <a:rPr lang="en-GB" dirty="0">
                <a:latin typeface="+mj-lt"/>
              </a:rPr>
              <a:t>I. Krawczuk, “Graph generative deep learning models with an application to circuit topologies,” PhD Thesis, EPFL, Lausanne, 2024. </a:t>
            </a:r>
            <a:r>
              <a:rPr lang="en-GB" dirty="0" err="1">
                <a:latin typeface="+mj-lt"/>
              </a:rPr>
              <a:t>doi</a:t>
            </a:r>
            <a:r>
              <a:rPr lang="en-GB" dirty="0">
                <a:latin typeface="+mj-lt"/>
              </a:rPr>
              <a:t>: </a:t>
            </a:r>
            <a:r>
              <a:rPr lang="en-GB" dirty="0">
                <a:latin typeface="+mj-lt"/>
                <a:hlinkClick r:id="rId4"/>
              </a:rPr>
              <a:t>10.5075/epfl-thesis-9020</a:t>
            </a:r>
            <a:r>
              <a:rPr lang="en-GB" dirty="0">
                <a:latin typeface="+mj-lt"/>
              </a:rPr>
              <a:t>.</a:t>
            </a:r>
          </a:p>
          <a:p>
            <a:pPr marL="342900" indent="-342900">
              <a:buFont typeface="+mj-lt"/>
              <a:buAutoNum type="arabicPeriod" startAt="22"/>
            </a:pPr>
            <a:r>
              <a:rPr lang="en-GB" dirty="0">
                <a:latin typeface="+mj-lt"/>
              </a:rPr>
              <a:t>S. Saremi, J. W. Park, and F. Bach, “Chain of Log-Concave Markov Chains,” in </a:t>
            </a:r>
            <a:r>
              <a:rPr lang="en-GB" i="1" dirty="0">
                <a:latin typeface="+mj-lt"/>
              </a:rPr>
              <a:t>The Twelfth International Conference on Learning Representations</a:t>
            </a:r>
            <a:r>
              <a:rPr lang="en-GB" dirty="0">
                <a:latin typeface="+mj-lt"/>
              </a:rPr>
              <a:t>, 2024. [Online]. Available: </a:t>
            </a:r>
            <a:r>
              <a:rPr lang="en-GB" dirty="0">
                <a:latin typeface="+mj-lt"/>
                <a:hlinkClick r:id="rId5"/>
              </a:rPr>
              <a:t>https://openreview.net/forum?id=yiMB2DOjsR</a:t>
            </a:r>
            <a:endParaRPr lang="en-GB" dirty="0">
              <a:latin typeface="+mj-lt"/>
            </a:endParaRPr>
          </a:p>
          <a:p>
            <a:pPr marL="342900" indent="-342900">
              <a:buFont typeface="+mj-lt"/>
              <a:buAutoNum type="arabicPeriod" startAt="22"/>
            </a:pPr>
            <a:r>
              <a:rPr lang="en-GB" dirty="0">
                <a:latin typeface="+mj-lt"/>
              </a:rPr>
              <a:t>E. </a:t>
            </a:r>
            <a:r>
              <a:rPr lang="en-GB" dirty="0" err="1">
                <a:latin typeface="+mj-lt"/>
              </a:rPr>
              <a:t>Mahmoudzadeh</a:t>
            </a:r>
            <a:r>
              <a:rPr lang="en-GB" dirty="0">
                <a:latin typeface="+mj-lt"/>
              </a:rPr>
              <a:t>, P. Naddaf, K. </a:t>
            </a:r>
            <a:r>
              <a:rPr lang="en-GB" dirty="0" err="1">
                <a:latin typeface="+mj-lt"/>
              </a:rPr>
              <a:t>Zahirnia</a:t>
            </a:r>
            <a:r>
              <a:rPr lang="en-GB" dirty="0">
                <a:latin typeface="+mj-lt"/>
              </a:rPr>
              <a:t>, and O. Schulte, “Deep Generative Models for Subgraph Prediction,” Aug. 07, 2024, </a:t>
            </a:r>
            <a:r>
              <a:rPr lang="en-GB" i="1" dirty="0" err="1">
                <a:latin typeface="+mj-lt"/>
              </a:rPr>
              <a:t>arXiv</a:t>
            </a:r>
            <a:r>
              <a:rPr lang="en-GB" dirty="0">
                <a:latin typeface="+mj-lt"/>
              </a:rPr>
              <a:t>: arXiv:2408.04053. </a:t>
            </a:r>
            <a:r>
              <a:rPr lang="en-GB" dirty="0" err="1">
                <a:latin typeface="+mj-lt"/>
              </a:rPr>
              <a:t>doi</a:t>
            </a:r>
            <a:r>
              <a:rPr lang="en-GB" dirty="0">
                <a:latin typeface="+mj-lt"/>
              </a:rPr>
              <a:t>: </a:t>
            </a:r>
            <a:r>
              <a:rPr lang="en-GB" dirty="0">
                <a:latin typeface="+mj-lt"/>
                <a:hlinkClick r:id="rId6"/>
              </a:rPr>
              <a:t>10.48550/arXiv.2408.04053</a:t>
            </a:r>
            <a:r>
              <a:rPr lang="en-GB" dirty="0">
                <a:latin typeface="+mj-lt"/>
              </a:rPr>
              <a:t>.</a:t>
            </a:r>
          </a:p>
          <a:p>
            <a:pPr marL="342900" indent="-342900">
              <a:buFont typeface="+mj-lt"/>
              <a:buAutoNum type="arabicPeriod" startAt="22"/>
            </a:pPr>
            <a:r>
              <a:rPr lang="en-GB" dirty="0">
                <a:latin typeface="+mj-lt"/>
              </a:rPr>
              <a:t>L. T. Dadi, A. Janchevski, and V. Cevher, “Improving Single Noise Level Denoising Samplers with Restricted Gaussian Oracles,” in </a:t>
            </a:r>
            <a:r>
              <a:rPr lang="en-GB" i="1" dirty="0">
                <a:latin typeface="+mj-lt"/>
              </a:rPr>
              <a:t>ICLR 2025 Workshop on Deep Generative Model in Machine Learning: Theory, Principle and Efficacy</a:t>
            </a:r>
            <a:r>
              <a:rPr lang="en-GB" dirty="0">
                <a:latin typeface="+mj-lt"/>
              </a:rPr>
              <a:t>, 2025. [Online]. Available: </a:t>
            </a:r>
            <a:r>
              <a:rPr lang="en-GB" dirty="0">
                <a:latin typeface="+mj-lt"/>
                <a:hlinkClick r:id="rId7"/>
              </a:rPr>
              <a:t>https://openreview.net/forum?id=xkiI5tou6J</a:t>
            </a:r>
            <a:endParaRPr lang="en-GB" dirty="0">
              <a:latin typeface="+mj-lt"/>
            </a:endParaRPr>
          </a:p>
          <a:p>
            <a:pPr marL="342900" indent="-342900">
              <a:buFont typeface="+mj-lt"/>
              <a:buAutoNum type="arabicPeriod" startAt="22"/>
            </a:pPr>
            <a:r>
              <a:rPr lang="en-GB" dirty="0">
                <a:latin typeface="+mj-lt"/>
              </a:rPr>
              <a:t>A. Janchevski, V. </a:t>
            </a:r>
            <a:r>
              <a:rPr lang="en-GB" dirty="0" err="1">
                <a:latin typeface="+mj-lt"/>
              </a:rPr>
              <a:t>Coriou</a:t>
            </a:r>
            <a:r>
              <a:rPr lang="en-GB" dirty="0">
                <a:latin typeface="+mj-lt"/>
              </a:rPr>
              <a:t>, and V. Cevher, “COINs: Knowledge Graph Inference with Model-based Acceleration,” in </a:t>
            </a:r>
            <a:r>
              <a:rPr lang="en-GB" i="1" dirty="0">
                <a:latin typeface="+mj-lt"/>
              </a:rPr>
              <a:t>ICT Innovations 2025. AI and the Digital Frontier: Reshaping Modern Society Through Technology and Computer Science</a:t>
            </a:r>
            <a:r>
              <a:rPr lang="en-GB" dirty="0">
                <a:latin typeface="+mj-lt"/>
              </a:rPr>
              <a:t>, I. </a:t>
            </a:r>
            <a:r>
              <a:rPr lang="en-GB" dirty="0" err="1">
                <a:latin typeface="+mj-lt"/>
              </a:rPr>
              <a:t>Chorbev</a:t>
            </a:r>
            <a:r>
              <a:rPr lang="en-GB" dirty="0">
                <a:latin typeface="+mj-lt"/>
              </a:rPr>
              <a:t>, D. Spasov, and B. R. </a:t>
            </a:r>
            <a:r>
              <a:rPr lang="en-GB" dirty="0" err="1">
                <a:latin typeface="+mj-lt"/>
              </a:rPr>
              <a:t>Stojkovska</a:t>
            </a:r>
            <a:r>
              <a:rPr lang="en-GB" dirty="0">
                <a:latin typeface="+mj-lt"/>
              </a:rPr>
              <a:t>, Eds., in Communications in Computer and Information Science. Cham: Springer International Publishing, 2025.</a:t>
            </a:r>
          </a:p>
          <a:p>
            <a:pPr marL="342900" indent="-342900">
              <a:buFont typeface="+mj-lt"/>
              <a:buAutoNum type="arabicPeriod" startAt="22"/>
            </a:pPr>
            <a:r>
              <a:rPr lang="en-GB" dirty="0">
                <a:latin typeface="+mj-lt"/>
              </a:rPr>
              <a:t>N. Dong, N. </a:t>
            </a:r>
            <a:r>
              <a:rPr lang="en-GB" dirty="0" err="1">
                <a:latin typeface="+mj-lt"/>
              </a:rPr>
              <a:t>Kertkeidkachorn</a:t>
            </a:r>
            <a:r>
              <a:rPr lang="en-GB" dirty="0">
                <a:latin typeface="+mj-lt"/>
              </a:rPr>
              <a:t>, X. Liu, and K. Shirai, “Refining Noisy Knowledge Graph with Large Language Models,” in </a:t>
            </a:r>
            <a:r>
              <a:rPr lang="en-GB" i="1" dirty="0">
                <a:latin typeface="+mj-lt"/>
              </a:rPr>
              <a:t>Proceedings of the Workshop on Generative AI and Knowledge Graphs (</a:t>
            </a:r>
            <a:r>
              <a:rPr lang="en-GB" i="1" dirty="0" err="1">
                <a:latin typeface="+mj-lt"/>
              </a:rPr>
              <a:t>GenAIK</a:t>
            </a:r>
            <a:r>
              <a:rPr lang="en-GB" i="1" dirty="0">
                <a:latin typeface="+mj-lt"/>
              </a:rPr>
              <a:t>)</a:t>
            </a:r>
            <a:r>
              <a:rPr lang="en-GB" dirty="0">
                <a:latin typeface="+mj-lt"/>
              </a:rPr>
              <a:t>, G. A. </a:t>
            </a:r>
            <a:r>
              <a:rPr lang="en-GB" dirty="0" err="1">
                <a:latin typeface="+mj-lt"/>
              </a:rPr>
              <a:t>Gesese</a:t>
            </a:r>
            <a:r>
              <a:rPr lang="en-GB" dirty="0">
                <a:latin typeface="+mj-lt"/>
              </a:rPr>
              <a:t>, H. Sack, H. Paulheim, A. </a:t>
            </a:r>
            <a:r>
              <a:rPr lang="en-GB" dirty="0" err="1">
                <a:latin typeface="+mj-lt"/>
              </a:rPr>
              <a:t>Merono</a:t>
            </a:r>
            <a:r>
              <a:rPr lang="en-GB" dirty="0">
                <a:latin typeface="+mj-lt"/>
              </a:rPr>
              <a:t>-Penuela, and L. Chen, Eds., Abu Dhabi, UAE: International Committee on Computational Linguistics, Jan. 2025, pp. 78–86. [Online]. Available: </a:t>
            </a:r>
            <a:r>
              <a:rPr lang="en-GB" dirty="0">
                <a:latin typeface="+mj-lt"/>
                <a:hlinkClick r:id="rId8"/>
              </a:rPr>
              <a:t>https://aclanthology.org/2025.genaik-1.9/</a:t>
            </a:r>
            <a:endParaRPr lang="en-GB" dirty="0">
              <a:latin typeface="+mj-lt"/>
            </a:endParaRPr>
          </a:p>
          <a:p>
            <a:pPr marL="342900" indent="-342900">
              <a:buFont typeface="+mj-lt"/>
              <a:buAutoNum type="arabicPeriod" startAt="22"/>
            </a:pPr>
            <a:endParaRPr lang="en-US"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82</a:t>
            </a:fld>
            <a:endParaRPr lang="fr-FR" dirty="0"/>
          </a:p>
        </p:txBody>
      </p:sp>
    </p:spTree>
    <p:extLst>
      <p:ext uri="{BB962C8B-B14F-4D97-AF65-F5344CB8AC3E}">
        <p14:creationId xmlns:p14="http://schemas.microsoft.com/office/powerpoint/2010/main" val="96651131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83</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2.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3.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8006</TotalTime>
  <Words>11914</Words>
  <Application>Microsoft Macintosh PowerPoint</Application>
  <PresentationFormat>On-screen Show (16:9)</PresentationFormat>
  <Paragraphs>1102</Paragraphs>
  <Slides>83</Slides>
  <Notes>83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83</vt:i4>
      </vt:variant>
    </vt:vector>
  </HeadingPairs>
  <TitlesOfParts>
    <vt:vector size="88"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 [13]</vt:lpstr>
      <vt:lpstr>4.1 Geometric Graph Generation with CRPs Background - The Chinese Restaurant Process (CRP) [2]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 [5]</vt:lpstr>
      <vt:lpstr>4.2 Hierarchical Generative Graph Diffusion Background - Hierarchical Graph Diffusion of MRGrad [23]</vt:lpstr>
      <vt:lpstr>4.2 Hierarchical Generative Graph Diffusion Background - Hierarchical Graph Diffusion of MRGrad [23]</vt:lpstr>
      <vt:lpstr>4.2 Hierarchical Generative Graph Diffusion Contributions - Model designs</vt:lpstr>
      <vt:lpstr>4.2 Hierarchical Generative Graph Diffusion Contributions - Theory</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[18] and MultiProx</vt:lpstr>
      <vt:lpstr>4.3 Multi-measurement Diffusion Methods *The MultiProxAn sampler </vt:lpstr>
      <vt:lpstr>4.3 Multi-measurement Diffusion Methods Results - QM9 graphs with Gaussian DiGress [18] and MultiProxAn</vt:lpstr>
      <vt:lpstr>4.3 Multi-measurement Diffusion Methods Results - QM9 graphs with Gaussian DiGress [18] and MultiProxAn</vt:lpstr>
      <vt:lpstr>4.4 Generative KG Anomaly Correction Motivation - Anomalous knowledge</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References</vt:lpstr>
      <vt:lpstr>References</vt:lpstr>
      <vt:lpstr>References</vt:lpstr>
      <vt:lpstr>References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390</cp:revision>
  <dcterms:created xsi:type="dcterms:W3CDTF">2019-04-02T06:24:35Z</dcterms:created>
  <dcterms:modified xsi:type="dcterms:W3CDTF">2025-10-23T15:11:02Z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