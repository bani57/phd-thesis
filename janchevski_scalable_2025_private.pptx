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60" r:id="rId4"/>
  </p:sldMasterIdLst>
  <p:notesMasterIdLst>
    <p:notesMasterId r:id="rId88"/>
  </p:notesMasterIdLst>
  <p:handoutMasterIdLst>
    <p:handoutMasterId r:id="rId89"/>
  </p:handoutMasterIdLst>
  <p:sldIdLst>
    <p:sldId id="256" r:id="rId5"/>
    <p:sldId id="257" r:id="rId6"/>
    <p:sldId id="275" r:id="rId7"/>
    <p:sldId id="280" r:id="rId8"/>
    <p:sldId id="276" r:id="rId9"/>
    <p:sldId id="281" r:id="rId10"/>
    <p:sldId id="282" r:id="rId11"/>
    <p:sldId id="277" r:id="rId12"/>
    <p:sldId id="258" r:id="rId13"/>
    <p:sldId id="259" r:id="rId14"/>
    <p:sldId id="261" r:id="rId15"/>
    <p:sldId id="260" r:id="rId16"/>
    <p:sldId id="262" r:id="rId17"/>
    <p:sldId id="263" r:id="rId18"/>
    <p:sldId id="264" r:id="rId19"/>
    <p:sldId id="265" r:id="rId20"/>
    <p:sldId id="267" r:id="rId21"/>
    <p:sldId id="266" r:id="rId22"/>
    <p:sldId id="268" r:id="rId23"/>
    <p:sldId id="269" r:id="rId24"/>
    <p:sldId id="270" r:id="rId25"/>
    <p:sldId id="271" r:id="rId26"/>
    <p:sldId id="272" r:id="rId27"/>
    <p:sldId id="273" r:id="rId28"/>
    <p:sldId id="283" r:id="rId29"/>
    <p:sldId id="286" r:id="rId30"/>
    <p:sldId id="284" r:id="rId31"/>
    <p:sldId id="285" r:id="rId32"/>
    <p:sldId id="287" r:id="rId33"/>
    <p:sldId id="288" r:id="rId34"/>
    <p:sldId id="289" r:id="rId35"/>
    <p:sldId id="290" r:id="rId36"/>
    <p:sldId id="278" r:id="rId37"/>
    <p:sldId id="291" r:id="rId38"/>
    <p:sldId id="293" r:id="rId39"/>
    <p:sldId id="292" r:id="rId40"/>
    <p:sldId id="294" r:id="rId41"/>
    <p:sldId id="295" r:id="rId42"/>
    <p:sldId id="296" r:id="rId43"/>
    <p:sldId id="297" r:id="rId44"/>
    <p:sldId id="298" r:id="rId45"/>
    <p:sldId id="299" r:id="rId46"/>
    <p:sldId id="300" r:id="rId47"/>
    <p:sldId id="301" r:id="rId48"/>
    <p:sldId id="302" r:id="rId49"/>
    <p:sldId id="303" r:id="rId50"/>
    <p:sldId id="304" r:id="rId51"/>
    <p:sldId id="305" r:id="rId52"/>
    <p:sldId id="306" r:id="rId53"/>
    <p:sldId id="307" r:id="rId54"/>
    <p:sldId id="313" r:id="rId55"/>
    <p:sldId id="308" r:id="rId56"/>
    <p:sldId id="310" r:id="rId57"/>
    <p:sldId id="311" r:id="rId58"/>
    <p:sldId id="309" r:id="rId59"/>
    <p:sldId id="312" r:id="rId60"/>
    <p:sldId id="314"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279" r:id="rId81"/>
    <p:sldId id="335" r:id="rId82"/>
    <p:sldId id="336" r:id="rId83"/>
    <p:sldId id="338" r:id="rId84"/>
    <p:sldId id="337" r:id="rId85"/>
    <p:sldId id="339" r:id="rId86"/>
    <p:sldId id="274" r:id="rId87"/>
  </p:sldIdLst>
  <p:sldSz cx="9144000" cy="5143500" type="screen16x9"/>
  <p:notesSz cx="6858000" cy="9144000"/>
  <p:defaultTextStyle>
    <a:defPPr>
      <a:defRPr lang="fr-FR"/>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0000"/>
    <a:srgbClr val="0000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3634" autoAdjust="0"/>
    <p:restoredTop sz="74771" autoAdjust="0"/>
  </p:normalViewPr>
  <p:slideViewPr>
    <p:cSldViewPr snapToGrid="0" snapToObjects="1" showGuides="1">
      <p:cViewPr varScale="1">
        <p:scale>
          <a:sx n="109" d="100"/>
          <a:sy n="109" d="100"/>
        </p:scale>
        <p:origin x="1272" y="102"/>
      </p:cViewPr>
      <p:guideLst>
        <p:guide orient="horz" pos="1620"/>
        <p:guide pos="2880"/>
      </p:guideLst>
    </p:cSldViewPr>
  </p:slideViewPr>
  <p:outlineViewPr>
    <p:cViewPr>
      <p:scale>
        <a:sx n="33" d="100"/>
        <a:sy n="33" d="100"/>
      </p:scale>
      <p:origin x="0" y="0"/>
    </p:cViewPr>
  </p:outlineViewPr>
  <p:notesTextViewPr>
    <p:cViewPr>
      <p:scale>
        <a:sx n="1" d="1"/>
        <a:sy n="1" d="1"/>
      </p:scale>
      <p:origin x="0" y="0"/>
    </p:cViewPr>
  </p:notesTextViewPr>
  <p:sorterViewPr>
    <p:cViewPr>
      <p:scale>
        <a:sx n="66" d="100"/>
        <a:sy n="66" d="100"/>
      </p:scale>
      <p:origin x="0" y="0"/>
    </p:cViewPr>
  </p:sorterViewPr>
  <p:notesViewPr>
    <p:cSldViewPr snapToGrid="0" snapToObjects="1" showGuides="1">
      <p:cViewPr varScale="1">
        <p:scale>
          <a:sx n="150" d="100"/>
          <a:sy n="150" d="100"/>
        </p:scale>
        <p:origin x="6080" y="176"/>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slide" Target="slides/slide43.xml"/><Relationship Id="rId50" Type="http://schemas.openxmlformats.org/officeDocument/2006/relationships/slide" Target="slides/slide46.xml"/><Relationship Id="rId55" Type="http://schemas.openxmlformats.org/officeDocument/2006/relationships/slide" Target="slides/slide51.xml"/><Relationship Id="rId63" Type="http://schemas.openxmlformats.org/officeDocument/2006/relationships/slide" Target="slides/slide59.xml"/><Relationship Id="rId68" Type="http://schemas.openxmlformats.org/officeDocument/2006/relationships/slide" Target="slides/slide64.xml"/><Relationship Id="rId76" Type="http://schemas.openxmlformats.org/officeDocument/2006/relationships/slide" Target="slides/slide72.xml"/><Relationship Id="rId84" Type="http://schemas.openxmlformats.org/officeDocument/2006/relationships/slide" Target="slides/slide80.xml"/><Relationship Id="rId89" Type="http://schemas.openxmlformats.org/officeDocument/2006/relationships/handoutMaster" Target="handoutMasters/handoutMaster1.xml"/><Relationship Id="rId7" Type="http://schemas.openxmlformats.org/officeDocument/2006/relationships/slide" Target="slides/slide3.xml"/><Relationship Id="rId71" Type="http://schemas.openxmlformats.org/officeDocument/2006/relationships/slide" Target="slides/slide67.xml"/><Relationship Id="rId92"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slide" Target="slides/slide49.xml"/><Relationship Id="rId58" Type="http://schemas.openxmlformats.org/officeDocument/2006/relationships/slide" Target="slides/slide54.xml"/><Relationship Id="rId66" Type="http://schemas.openxmlformats.org/officeDocument/2006/relationships/slide" Target="slides/slide62.xml"/><Relationship Id="rId74" Type="http://schemas.openxmlformats.org/officeDocument/2006/relationships/slide" Target="slides/slide70.xml"/><Relationship Id="rId79" Type="http://schemas.openxmlformats.org/officeDocument/2006/relationships/slide" Target="slides/slide75.xml"/><Relationship Id="rId87" Type="http://schemas.openxmlformats.org/officeDocument/2006/relationships/slide" Target="slides/slide83.xml"/><Relationship Id="rId5" Type="http://schemas.openxmlformats.org/officeDocument/2006/relationships/slide" Target="slides/slide1.xml"/><Relationship Id="rId61" Type="http://schemas.openxmlformats.org/officeDocument/2006/relationships/slide" Target="slides/slide57.xml"/><Relationship Id="rId82" Type="http://schemas.openxmlformats.org/officeDocument/2006/relationships/slide" Target="slides/slide78.xml"/><Relationship Id="rId90" Type="http://schemas.openxmlformats.org/officeDocument/2006/relationships/presProps" Target="presProps.xml"/><Relationship Id="rId19" Type="http://schemas.openxmlformats.org/officeDocument/2006/relationships/slide" Target="slides/slide1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slide" Target="slides/slide52.xml"/><Relationship Id="rId64" Type="http://schemas.openxmlformats.org/officeDocument/2006/relationships/slide" Target="slides/slide60.xml"/><Relationship Id="rId69" Type="http://schemas.openxmlformats.org/officeDocument/2006/relationships/slide" Target="slides/slide65.xml"/><Relationship Id="rId77" Type="http://schemas.openxmlformats.org/officeDocument/2006/relationships/slide" Target="slides/slide73.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slide" Target="slides/slide68.xml"/><Relationship Id="rId80" Type="http://schemas.openxmlformats.org/officeDocument/2006/relationships/slide" Target="slides/slide76.xml"/><Relationship Id="rId85" Type="http://schemas.openxmlformats.org/officeDocument/2006/relationships/slide" Target="slides/slide81.xml"/><Relationship Id="rId93" Type="http://schemas.openxmlformats.org/officeDocument/2006/relationships/tableStyles" Target="tableStyles.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slide" Target="slides/slide55.xml"/><Relationship Id="rId67" Type="http://schemas.openxmlformats.org/officeDocument/2006/relationships/slide" Target="slides/slide63.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slide" Target="slides/slide58.xml"/><Relationship Id="rId70" Type="http://schemas.openxmlformats.org/officeDocument/2006/relationships/slide" Target="slides/slide66.xml"/><Relationship Id="rId75" Type="http://schemas.openxmlformats.org/officeDocument/2006/relationships/slide" Target="slides/slide71.xml"/><Relationship Id="rId83" Type="http://schemas.openxmlformats.org/officeDocument/2006/relationships/slide" Target="slides/slide79.xml"/><Relationship Id="rId88" Type="http://schemas.openxmlformats.org/officeDocument/2006/relationships/notesMaster" Target="notesMasters/notesMaster1.xml"/><Relationship Id="rId91"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slide" Target="slides/slide61.xml"/><Relationship Id="rId73" Type="http://schemas.openxmlformats.org/officeDocument/2006/relationships/slide" Target="slides/slide69.xml"/><Relationship Id="rId78" Type="http://schemas.openxmlformats.org/officeDocument/2006/relationships/slide" Target="slides/slide74.xml"/><Relationship Id="rId81" Type="http://schemas.openxmlformats.org/officeDocument/2006/relationships/slide" Target="slides/slide77.xml"/><Relationship Id="rId86" Type="http://schemas.openxmlformats.org/officeDocument/2006/relationships/slide" Target="slides/slide82.xml"/><Relationship Id="rId4" Type="http://schemas.openxmlformats.org/officeDocument/2006/relationships/slideMaster" Target="slideMasters/slideMaster1.xml"/><Relationship Id="rId9" Type="http://schemas.openxmlformats.org/officeDocument/2006/relationships/slide" Target="slides/slide5.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5CBAB726-D7AB-43A2-9B2E-8E3FF5C3C672}" type="doc">
      <dgm:prSet loTypeId="urn:microsoft.com/office/officeart/2005/8/layout/venn1" loCatId="relationship" qsTypeId="urn:microsoft.com/office/officeart/2005/8/quickstyle/simple1" qsCatId="simple" csTypeId="urn:microsoft.com/office/officeart/2005/8/colors/accent1_2" csCatId="accent1" phldr="1"/>
      <dgm:spPr/>
      <dgm:t>
        <a:bodyPr/>
        <a:lstStyle/>
        <a:p>
          <a:endParaRPr lang="en-GB"/>
        </a:p>
      </dgm:t>
    </dgm:pt>
    <dgm:pt modelId="{21B7A1D8-CFF0-41E9-80CC-2CB133876011}">
      <dgm:prSet phldrT="[Text]" phldr="0" custT="1"/>
      <dgm:spPr/>
      <dgm:t>
        <a:bodyPr/>
        <a:lstStyle/>
        <a:p>
          <a:pPr algn="ctr"/>
          <a:r>
            <a:rPr lang="en-US" sz="3200" dirty="0">
              <a:latin typeface="+mj-lt"/>
            </a:rPr>
            <a:t>Reasoning</a:t>
          </a:r>
        </a:p>
        <a:p>
          <a:pPr algn="ctr"/>
          <a:endParaRPr lang="en-US" sz="3200" dirty="0">
            <a:latin typeface="+mj-lt"/>
          </a:endParaRPr>
        </a:p>
        <a:p>
          <a:pPr algn="l"/>
          <a:r>
            <a:rPr lang="en-GB" sz="1800" dirty="0">
              <a:latin typeface="+mj-lt"/>
            </a:rPr>
            <a:t>Logic </a:t>
          </a:r>
          <a:r>
            <a:rPr lang="en-GB" sz="1800" dirty="0" err="1">
              <a:latin typeface="+mj-lt"/>
            </a:rPr>
            <a:t>modeling</a:t>
          </a:r>
          <a:endParaRPr lang="en-GB" sz="1800" dirty="0">
            <a:latin typeface="+mj-lt"/>
          </a:endParaRPr>
        </a:p>
        <a:p>
          <a:pPr algn="l"/>
          <a:r>
            <a:rPr lang="en-GB" sz="1800" dirty="0">
              <a:latin typeface="+mj-lt"/>
            </a:rPr>
            <a:t>Ranking</a:t>
          </a:r>
        </a:p>
        <a:p>
          <a:pPr algn="l"/>
          <a:r>
            <a:rPr lang="en-GB" sz="1800" dirty="0">
              <a:latin typeface="+mj-lt"/>
            </a:rPr>
            <a:t>Veracity classification</a:t>
          </a:r>
        </a:p>
      </dgm:t>
    </dgm:pt>
    <dgm:pt modelId="{A56D25A7-D7C3-4D13-A091-6FDFB84AF3B3}" type="parTrans" cxnId="{281ACBDF-121D-4621-B6A3-995E9FCF0DFF}">
      <dgm:prSet/>
      <dgm:spPr/>
      <dgm:t>
        <a:bodyPr/>
        <a:lstStyle/>
        <a:p>
          <a:endParaRPr lang="en-GB"/>
        </a:p>
      </dgm:t>
    </dgm:pt>
    <dgm:pt modelId="{4085088C-46EF-4BC9-A592-F386A2CC5270}" type="sibTrans" cxnId="{281ACBDF-121D-4621-B6A3-995E9FCF0DFF}">
      <dgm:prSet/>
      <dgm:spPr/>
      <dgm:t>
        <a:bodyPr/>
        <a:lstStyle/>
        <a:p>
          <a:endParaRPr lang="en-GB"/>
        </a:p>
      </dgm:t>
    </dgm:pt>
    <dgm:pt modelId="{AD9D03CC-A6DE-4160-ACA7-963A65D50AD3}">
      <dgm:prSet phldrT="[Text]" phldr="0" custT="1"/>
      <dgm:spPr/>
      <dgm:t>
        <a:bodyPr/>
        <a:lstStyle/>
        <a:p>
          <a:pPr algn="ctr"/>
          <a:r>
            <a:rPr lang="en-US" sz="3200" dirty="0">
              <a:latin typeface="+mj-lt"/>
            </a:rPr>
            <a:t>Generation</a:t>
          </a:r>
        </a:p>
        <a:p>
          <a:pPr algn="ctr"/>
          <a:endParaRPr lang="en-US" sz="3200" dirty="0">
            <a:latin typeface="+mj-lt"/>
          </a:endParaRPr>
        </a:p>
        <a:p>
          <a:pPr algn="r"/>
          <a:r>
            <a:rPr lang="en-GB" sz="1800" dirty="0">
              <a:latin typeface="+mj-lt"/>
            </a:rPr>
            <a:t>Graph-level </a:t>
          </a:r>
          <a:r>
            <a:rPr lang="en-GB" sz="1800" dirty="0" err="1">
              <a:latin typeface="+mj-lt"/>
            </a:rPr>
            <a:t>modeling</a:t>
          </a:r>
          <a:endParaRPr lang="en-GB" sz="1800" dirty="0">
            <a:latin typeface="+mj-lt"/>
          </a:endParaRPr>
        </a:p>
        <a:p>
          <a:pPr algn="r"/>
          <a:r>
            <a:rPr lang="en-GB" sz="1800" dirty="0">
              <a:latin typeface="+mj-lt"/>
            </a:rPr>
            <a:t>Noise estimation</a:t>
          </a:r>
        </a:p>
        <a:p>
          <a:pPr algn="r"/>
          <a:r>
            <a:rPr lang="en-GB" sz="1800" dirty="0">
              <a:latin typeface="+mj-lt"/>
            </a:rPr>
            <a:t>Sample chaining</a:t>
          </a:r>
        </a:p>
      </dgm:t>
    </dgm:pt>
    <dgm:pt modelId="{C56DD3AB-D9E5-4463-8816-E33F074797F3}" type="parTrans" cxnId="{426DF2AE-64EB-4CA7-921E-8CE866DB297A}">
      <dgm:prSet/>
      <dgm:spPr/>
      <dgm:t>
        <a:bodyPr/>
        <a:lstStyle/>
        <a:p>
          <a:endParaRPr lang="en-GB"/>
        </a:p>
      </dgm:t>
    </dgm:pt>
    <dgm:pt modelId="{8EFF6ADA-886C-4558-B208-8FA2F406DCD8}" type="sibTrans" cxnId="{426DF2AE-64EB-4CA7-921E-8CE866DB297A}">
      <dgm:prSet/>
      <dgm:spPr/>
      <dgm:t>
        <a:bodyPr/>
        <a:lstStyle/>
        <a:p>
          <a:endParaRPr lang="en-GB"/>
        </a:p>
      </dgm:t>
    </dgm:pt>
    <dgm:pt modelId="{3F3DB19F-2E7C-439C-8830-8CA3138E136C}" type="pres">
      <dgm:prSet presAssocID="{5CBAB726-D7AB-43A2-9B2E-8E3FF5C3C672}" presName="compositeShape" presStyleCnt="0">
        <dgm:presLayoutVars>
          <dgm:chMax val="7"/>
          <dgm:dir/>
          <dgm:resizeHandles val="exact"/>
        </dgm:presLayoutVars>
      </dgm:prSet>
      <dgm:spPr/>
    </dgm:pt>
    <dgm:pt modelId="{B98EC832-C09D-4678-842C-CD67F3A241DC}" type="pres">
      <dgm:prSet presAssocID="{21B7A1D8-CFF0-41E9-80CC-2CB133876011}" presName="circ1" presStyleLbl="vennNode1" presStyleIdx="0" presStyleCnt="2"/>
      <dgm:spPr/>
    </dgm:pt>
    <dgm:pt modelId="{0912B371-8AD8-4D0A-8136-AACF7FF06BE3}" type="pres">
      <dgm:prSet presAssocID="{21B7A1D8-CFF0-41E9-80CC-2CB133876011}" presName="circ1Tx" presStyleLbl="revTx" presStyleIdx="0" presStyleCnt="0">
        <dgm:presLayoutVars>
          <dgm:chMax val="0"/>
          <dgm:chPref val="0"/>
          <dgm:bulletEnabled val="1"/>
        </dgm:presLayoutVars>
      </dgm:prSet>
      <dgm:spPr/>
    </dgm:pt>
    <dgm:pt modelId="{61E46B28-4725-49B2-A851-3A70A13246FC}" type="pres">
      <dgm:prSet presAssocID="{AD9D03CC-A6DE-4160-ACA7-963A65D50AD3}" presName="circ2" presStyleLbl="vennNode1" presStyleIdx="1" presStyleCnt="2" custLinFactNeighborX="-523" custLinFactNeighborY="274"/>
      <dgm:spPr/>
    </dgm:pt>
    <dgm:pt modelId="{D25B38E4-60CD-40B5-A747-237F60FE8A9F}" type="pres">
      <dgm:prSet presAssocID="{AD9D03CC-A6DE-4160-ACA7-963A65D50AD3}" presName="circ2Tx" presStyleLbl="revTx" presStyleIdx="0" presStyleCnt="0">
        <dgm:presLayoutVars>
          <dgm:chMax val="0"/>
          <dgm:chPref val="0"/>
          <dgm:bulletEnabled val="1"/>
        </dgm:presLayoutVars>
      </dgm:prSet>
      <dgm:spPr/>
    </dgm:pt>
  </dgm:ptLst>
  <dgm:cxnLst>
    <dgm:cxn modelId="{9EE72509-CFF4-4B0A-B79E-18722DC2749A}" type="presOf" srcId="{5CBAB726-D7AB-43A2-9B2E-8E3FF5C3C672}" destId="{3F3DB19F-2E7C-439C-8830-8CA3138E136C}" srcOrd="0" destOrd="0" presId="urn:microsoft.com/office/officeart/2005/8/layout/venn1"/>
    <dgm:cxn modelId="{CB2BE86E-5951-4D6E-8B6B-1758DBE651A4}" type="presOf" srcId="{AD9D03CC-A6DE-4160-ACA7-963A65D50AD3}" destId="{D25B38E4-60CD-40B5-A747-237F60FE8A9F}" srcOrd="1" destOrd="0" presId="urn:microsoft.com/office/officeart/2005/8/layout/venn1"/>
    <dgm:cxn modelId="{426DF2AE-64EB-4CA7-921E-8CE866DB297A}" srcId="{5CBAB726-D7AB-43A2-9B2E-8E3FF5C3C672}" destId="{AD9D03CC-A6DE-4160-ACA7-963A65D50AD3}" srcOrd="1" destOrd="0" parTransId="{C56DD3AB-D9E5-4463-8816-E33F074797F3}" sibTransId="{8EFF6ADA-886C-4558-B208-8FA2F406DCD8}"/>
    <dgm:cxn modelId="{04B1C6C8-8F3D-47E7-93D0-C34C1F53A920}" type="presOf" srcId="{21B7A1D8-CFF0-41E9-80CC-2CB133876011}" destId="{B98EC832-C09D-4678-842C-CD67F3A241DC}" srcOrd="0" destOrd="0" presId="urn:microsoft.com/office/officeart/2005/8/layout/venn1"/>
    <dgm:cxn modelId="{A4F479CB-77A9-4818-AA63-3D6C04EA91A2}" type="presOf" srcId="{21B7A1D8-CFF0-41E9-80CC-2CB133876011}" destId="{0912B371-8AD8-4D0A-8136-AACF7FF06BE3}" srcOrd="1" destOrd="0" presId="urn:microsoft.com/office/officeart/2005/8/layout/venn1"/>
    <dgm:cxn modelId="{281ACBDF-121D-4621-B6A3-995E9FCF0DFF}" srcId="{5CBAB726-D7AB-43A2-9B2E-8E3FF5C3C672}" destId="{21B7A1D8-CFF0-41E9-80CC-2CB133876011}" srcOrd="0" destOrd="0" parTransId="{A56D25A7-D7C3-4D13-A091-6FDFB84AF3B3}" sibTransId="{4085088C-46EF-4BC9-A592-F386A2CC5270}"/>
    <dgm:cxn modelId="{ABA4F9F4-2A5E-4248-8CDC-F5A8BFC139E0}" type="presOf" srcId="{AD9D03CC-A6DE-4160-ACA7-963A65D50AD3}" destId="{61E46B28-4725-49B2-A851-3A70A13246FC}" srcOrd="0" destOrd="0" presId="urn:microsoft.com/office/officeart/2005/8/layout/venn1"/>
    <dgm:cxn modelId="{0E48777F-E730-4220-AA44-3D0D59B8BE47}" type="presParOf" srcId="{3F3DB19F-2E7C-439C-8830-8CA3138E136C}" destId="{B98EC832-C09D-4678-842C-CD67F3A241DC}" srcOrd="0" destOrd="0" presId="urn:microsoft.com/office/officeart/2005/8/layout/venn1"/>
    <dgm:cxn modelId="{9095BFA0-4184-47AB-90B3-C48552AF39E6}" type="presParOf" srcId="{3F3DB19F-2E7C-439C-8830-8CA3138E136C}" destId="{0912B371-8AD8-4D0A-8136-AACF7FF06BE3}" srcOrd="1" destOrd="0" presId="urn:microsoft.com/office/officeart/2005/8/layout/venn1"/>
    <dgm:cxn modelId="{D3203CB3-307E-4800-804F-0E610DC743AE}" type="presParOf" srcId="{3F3DB19F-2E7C-439C-8830-8CA3138E136C}" destId="{61E46B28-4725-49B2-A851-3A70A13246FC}" srcOrd="2" destOrd="0" presId="urn:microsoft.com/office/officeart/2005/8/layout/venn1"/>
    <dgm:cxn modelId="{A4691858-6F3C-4D1B-B259-0E1A0A1075FE}" type="presParOf" srcId="{3F3DB19F-2E7C-439C-8830-8CA3138E136C}" destId="{D25B38E4-60CD-40B5-A747-237F60FE8A9F}" srcOrd="3" destOrd="0" presId="urn:microsoft.com/office/officeart/2005/8/layout/venn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98EC832-C09D-4678-842C-CD67F3A241DC}">
      <dsp:nvSpPr>
        <dsp:cNvPr id="0" name=""/>
        <dsp:cNvSpPr/>
      </dsp:nvSpPr>
      <dsp:spPr>
        <a:xfrm>
          <a:off x="965731" y="9210"/>
          <a:ext cx="3367716" cy="3367716"/>
        </a:xfrm>
        <a:prstGeom prst="ellipse">
          <a:avLst/>
        </a:prstGeom>
        <a:solidFill>
          <a:schemeClr val="accent1">
            <a:alpha val="5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0" tIns="0" rIns="0" bIns="0" numCol="1" spcCol="1270" anchor="ctr" anchorCtr="0">
          <a:noAutofit/>
        </a:bodyPr>
        <a:lstStyle/>
        <a:p>
          <a:pPr marL="0" lvl="0" indent="0" algn="ctr" defTabSz="1422400">
            <a:lnSpc>
              <a:spcPct val="90000"/>
            </a:lnSpc>
            <a:spcBef>
              <a:spcPct val="0"/>
            </a:spcBef>
            <a:spcAft>
              <a:spcPct val="35000"/>
            </a:spcAft>
            <a:buNone/>
          </a:pPr>
          <a:r>
            <a:rPr lang="en-US" sz="3200" kern="1200" dirty="0">
              <a:latin typeface="+mj-lt"/>
            </a:rPr>
            <a:t>Reasoning</a:t>
          </a:r>
        </a:p>
        <a:p>
          <a:pPr marL="0" lvl="0" indent="0" algn="ctr" defTabSz="1422400">
            <a:lnSpc>
              <a:spcPct val="90000"/>
            </a:lnSpc>
            <a:spcBef>
              <a:spcPct val="0"/>
            </a:spcBef>
            <a:spcAft>
              <a:spcPct val="35000"/>
            </a:spcAft>
            <a:buNone/>
          </a:pPr>
          <a:endParaRPr lang="en-US" sz="3200" kern="1200" dirty="0">
            <a:latin typeface="+mj-lt"/>
          </a:endParaRPr>
        </a:p>
        <a:p>
          <a:pPr marL="0" lvl="0" indent="0" algn="l" defTabSz="1422400">
            <a:lnSpc>
              <a:spcPct val="90000"/>
            </a:lnSpc>
            <a:spcBef>
              <a:spcPct val="0"/>
            </a:spcBef>
            <a:spcAft>
              <a:spcPct val="35000"/>
            </a:spcAft>
            <a:buNone/>
          </a:pPr>
          <a:r>
            <a:rPr lang="en-GB" sz="1800" kern="1200" dirty="0">
              <a:latin typeface="+mj-lt"/>
            </a:rPr>
            <a:t>Logic </a:t>
          </a:r>
          <a:r>
            <a:rPr lang="en-GB" sz="1800" kern="1200" dirty="0" err="1">
              <a:latin typeface="+mj-lt"/>
            </a:rPr>
            <a:t>modeling</a:t>
          </a:r>
          <a:endParaRPr lang="en-GB" sz="1800" kern="1200" dirty="0">
            <a:latin typeface="+mj-lt"/>
          </a:endParaRPr>
        </a:p>
        <a:p>
          <a:pPr marL="0" lvl="0" indent="0" algn="l" defTabSz="1422400">
            <a:lnSpc>
              <a:spcPct val="90000"/>
            </a:lnSpc>
            <a:spcBef>
              <a:spcPct val="0"/>
            </a:spcBef>
            <a:spcAft>
              <a:spcPct val="35000"/>
            </a:spcAft>
            <a:buNone/>
          </a:pPr>
          <a:r>
            <a:rPr lang="en-GB" sz="1800" kern="1200" dirty="0">
              <a:latin typeface="+mj-lt"/>
            </a:rPr>
            <a:t>Ranking</a:t>
          </a:r>
        </a:p>
        <a:p>
          <a:pPr marL="0" lvl="0" indent="0" algn="l" defTabSz="1422400">
            <a:lnSpc>
              <a:spcPct val="90000"/>
            </a:lnSpc>
            <a:spcBef>
              <a:spcPct val="0"/>
            </a:spcBef>
            <a:spcAft>
              <a:spcPct val="35000"/>
            </a:spcAft>
            <a:buNone/>
          </a:pPr>
          <a:r>
            <a:rPr lang="en-GB" sz="1800" kern="1200" dirty="0">
              <a:latin typeface="+mj-lt"/>
            </a:rPr>
            <a:t>Veracity classification</a:t>
          </a:r>
        </a:p>
      </dsp:txBody>
      <dsp:txXfrm>
        <a:off x="1435998" y="406336"/>
        <a:ext cx="1941746" cy="2573464"/>
      </dsp:txXfrm>
    </dsp:sp>
    <dsp:sp modelId="{61E46B28-4725-49B2-A851-3A70A13246FC}">
      <dsp:nvSpPr>
        <dsp:cNvPr id="0" name=""/>
        <dsp:cNvSpPr/>
      </dsp:nvSpPr>
      <dsp:spPr>
        <a:xfrm>
          <a:off x="3375301" y="18420"/>
          <a:ext cx="3367716" cy="3367716"/>
        </a:xfrm>
        <a:prstGeom prst="ellipse">
          <a:avLst/>
        </a:prstGeom>
        <a:solidFill>
          <a:schemeClr val="accent1">
            <a:alpha val="5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0" tIns="0" rIns="0" bIns="0" numCol="1" spcCol="1270" anchor="ctr" anchorCtr="0">
          <a:noAutofit/>
        </a:bodyPr>
        <a:lstStyle/>
        <a:p>
          <a:pPr marL="0" lvl="0" indent="0" algn="ctr" defTabSz="1422400">
            <a:lnSpc>
              <a:spcPct val="90000"/>
            </a:lnSpc>
            <a:spcBef>
              <a:spcPct val="0"/>
            </a:spcBef>
            <a:spcAft>
              <a:spcPct val="35000"/>
            </a:spcAft>
            <a:buNone/>
          </a:pPr>
          <a:r>
            <a:rPr lang="en-US" sz="3200" kern="1200" dirty="0">
              <a:latin typeface="+mj-lt"/>
            </a:rPr>
            <a:t>Generation</a:t>
          </a:r>
        </a:p>
        <a:p>
          <a:pPr marL="0" lvl="0" indent="0" algn="ctr" defTabSz="1422400">
            <a:lnSpc>
              <a:spcPct val="90000"/>
            </a:lnSpc>
            <a:spcBef>
              <a:spcPct val="0"/>
            </a:spcBef>
            <a:spcAft>
              <a:spcPct val="35000"/>
            </a:spcAft>
            <a:buNone/>
          </a:pPr>
          <a:endParaRPr lang="en-US" sz="3200" kern="1200" dirty="0">
            <a:latin typeface="+mj-lt"/>
          </a:endParaRPr>
        </a:p>
        <a:p>
          <a:pPr marL="0" lvl="0" indent="0" algn="r" defTabSz="1422400">
            <a:lnSpc>
              <a:spcPct val="90000"/>
            </a:lnSpc>
            <a:spcBef>
              <a:spcPct val="0"/>
            </a:spcBef>
            <a:spcAft>
              <a:spcPct val="35000"/>
            </a:spcAft>
            <a:buNone/>
          </a:pPr>
          <a:r>
            <a:rPr lang="en-GB" sz="1800" kern="1200" dirty="0">
              <a:latin typeface="+mj-lt"/>
            </a:rPr>
            <a:t>Graph-level </a:t>
          </a:r>
          <a:r>
            <a:rPr lang="en-GB" sz="1800" kern="1200" dirty="0" err="1">
              <a:latin typeface="+mj-lt"/>
            </a:rPr>
            <a:t>modeling</a:t>
          </a:r>
          <a:endParaRPr lang="en-GB" sz="1800" kern="1200" dirty="0">
            <a:latin typeface="+mj-lt"/>
          </a:endParaRPr>
        </a:p>
        <a:p>
          <a:pPr marL="0" lvl="0" indent="0" algn="r" defTabSz="1422400">
            <a:lnSpc>
              <a:spcPct val="90000"/>
            </a:lnSpc>
            <a:spcBef>
              <a:spcPct val="0"/>
            </a:spcBef>
            <a:spcAft>
              <a:spcPct val="35000"/>
            </a:spcAft>
            <a:buNone/>
          </a:pPr>
          <a:r>
            <a:rPr lang="en-GB" sz="1800" kern="1200" dirty="0">
              <a:latin typeface="+mj-lt"/>
            </a:rPr>
            <a:t>Noise estimation</a:t>
          </a:r>
        </a:p>
        <a:p>
          <a:pPr marL="0" lvl="0" indent="0" algn="r" defTabSz="1422400">
            <a:lnSpc>
              <a:spcPct val="90000"/>
            </a:lnSpc>
            <a:spcBef>
              <a:spcPct val="0"/>
            </a:spcBef>
            <a:spcAft>
              <a:spcPct val="35000"/>
            </a:spcAft>
            <a:buNone/>
          </a:pPr>
          <a:r>
            <a:rPr lang="en-GB" sz="1800" kern="1200" dirty="0">
              <a:latin typeface="+mj-lt"/>
            </a:rPr>
            <a:t>Sample chaining</a:t>
          </a:r>
        </a:p>
      </dsp:txBody>
      <dsp:txXfrm>
        <a:off x="4331004" y="415546"/>
        <a:ext cx="1941746" cy="2573464"/>
      </dsp:txXfrm>
    </dsp:sp>
  </dsp:spTree>
</dsp:drawing>
</file>

<file path=ppt/diagrams/layout1.xml><?xml version="1.0" encoding="utf-8"?>
<dgm:layoutDef xmlns:dgm="http://schemas.openxmlformats.org/drawingml/2006/diagram" xmlns:a="http://schemas.openxmlformats.org/drawingml/2006/main" uniqueId="urn:microsoft.com/office/officeart/2005/8/layout/venn1">
  <dgm:title val=""/>
  <dgm:desc val=""/>
  <dgm:catLst>
    <dgm:cat type="relationship" pri="28000"/>
    <dgm:cat type="convert" pri="19000"/>
  </dgm:catLst>
  <dgm:sampData useDef="1">
    <dgm:dataModel>
      <dgm:ptLst/>
      <dgm:bg/>
      <dgm:whole/>
    </dgm:dataModel>
  </dgm:sampData>
  <dgm:styleData useDef="1">
    <dgm:dataModel>
      <dgm:ptLst/>
      <dgm:bg/>
      <dgm:whole/>
    </dgm:dataModel>
  </dgm:styleData>
  <dgm:clrData>
    <dgm:dataModel>
      <dgm:ptLst>
        <dgm:pt modelId="0" type="doc"/>
        <dgm:pt modelId="1"/>
        <dgm:pt modelId="2"/>
        <dgm:pt modelId="3"/>
        <dgm:pt modelId="4"/>
      </dgm:ptLst>
      <dgm:cxnLst>
        <dgm:cxn modelId="7" srcId="0" destId="1" srcOrd="0" destOrd="0"/>
        <dgm:cxn modelId="8" srcId="0" destId="2" srcOrd="1" destOrd="0"/>
        <dgm:cxn modelId="9" srcId="0" destId="3" srcOrd="2" destOrd="0"/>
        <dgm:cxn modelId="10" srcId="0" destId="4" srcOrd="3" destOrd="0"/>
      </dgm:cxnLst>
      <dgm:bg/>
      <dgm:whole/>
    </dgm:dataModel>
  </dgm:clrData>
  <dgm:layoutNode name="compositeShape">
    <dgm:varLst>
      <dgm:chMax val="7"/>
      <dgm:dir/>
      <dgm:resizeHandles val="exact"/>
    </dgm:varLst>
    <dgm:choose name="Name0">
      <dgm:if name="Name1" axis="ch" ptType="node" func="cnt" op="equ" val="1">
        <dgm:alg type="composite">
          <dgm:param type="ar" val="1"/>
        </dgm:alg>
      </dgm:if>
      <dgm:if name="Name2" axis="ch" ptType="node" func="cnt" op="equ" val="2">
        <dgm:alg type="composite">
          <dgm:param type="ar" val="1.792"/>
        </dgm:alg>
      </dgm:if>
      <dgm:if name="Name3" axis="ch" ptType="node" func="cnt" op="equ" val="3">
        <dgm:alg type="composite">
          <dgm:param type="ar" val="1"/>
        </dgm:alg>
      </dgm:if>
      <dgm:if name="Name4" axis="ch" ptType="node" func="cnt" op="equ" val="4">
        <dgm:alg type="composite">
          <dgm:param type="ar" val="1"/>
        </dgm:alg>
      </dgm:if>
      <dgm:if name="Name5" axis="ch" ptType="node" func="cnt" op="equ" val="5">
        <dgm:alg type="composite">
          <dgm:param type="ar" val="1.4"/>
        </dgm:alg>
      </dgm:if>
      <dgm:if name="Name6" axis="ch" ptType="node" func="cnt" op="equ" val="6">
        <dgm:alg type="composite">
          <dgm:param type="ar" val="1.285"/>
        </dgm:alg>
      </dgm:if>
      <dgm:if name="Name7" axis="ch" ptType="node" func="cnt" op="equ" val="7">
        <dgm:alg type="composite">
          <dgm:param type="ar" val="1.359"/>
        </dgm:alg>
      </dgm:if>
      <dgm:else name="Name8">
        <dgm:alg type="composite">
          <dgm:param type="ar" val="1.359"/>
        </dgm:alg>
      </dgm:else>
    </dgm:choose>
    <dgm:shape xmlns:r="http://schemas.openxmlformats.org/officeDocument/2006/relationships" r:blip="">
      <dgm:adjLst/>
    </dgm:shape>
    <dgm:presOf/>
    <dgm:choose name="Name9">
      <dgm:if name="Name10" axis="ch" ptType="node" func="cnt" op="equ" val="1">
        <dgm:constrLst>
          <dgm:constr type="ctrX" for="ch" forName="circ1TxSh" refType="w" fact="0.5"/>
          <dgm:constr type="ctrY" for="ch" forName="circ1TxSh" refType="h" fact="0.5"/>
          <dgm:constr type="w" for="ch" forName="circ1TxSh" refType="w"/>
          <dgm:constr type="h" for="ch" forName="circ1TxSh" refType="h"/>
          <dgm:constr type="primFontSz" for="ch" ptType="node" op="equ"/>
        </dgm:constrLst>
      </dgm:if>
      <dgm:if name="Name11" axis="ch" ptType="node" func="cnt" op="equ" val="2">
        <dgm:constrLst>
          <dgm:constr type="ctrX" for="ch" forName="circ1" refType="w" fact="0.3"/>
          <dgm:constr type="ctrY" for="ch" forName="circ1" refType="h" fact="0.5"/>
          <dgm:constr type="w" for="ch" forName="circ1" refType="w" fact="0.555"/>
          <dgm:constr type="h" for="ch" forName="circ1" refType="h" fact="0.99456"/>
          <dgm:constr type="l" for="ch" forName="circ1Tx" refType="w" fact="0.1"/>
          <dgm:constr type="t" for="ch" forName="circ1Tx" refType="h" fact="0.12"/>
          <dgm:constr type="w" for="ch" forName="circ1Tx" refType="w" fact="0.32"/>
          <dgm:constr type="h" for="ch" forName="circ1Tx" refType="h" fact="0.76"/>
          <dgm:constr type="ctrX" for="ch" forName="circ2" refType="w" fact="0.7"/>
          <dgm:constr type="ctrY" for="ch" forName="circ2" refType="h" fact="0.5"/>
          <dgm:constr type="w" for="ch" forName="circ2" refType="w" fact="0.555"/>
          <dgm:constr type="h" for="ch" forName="circ2" refType="h" fact="0.99456"/>
          <dgm:constr type="l" for="ch" forName="circ2Tx" refType="w" fact="0.58"/>
          <dgm:constr type="t" for="ch" forName="circ2Tx" refType="h" fact="0.12"/>
          <dgm:constr type="w" for="ch" forName="circ2Tx" refType="w" fact="0.32"/>
          <dgm:constr type="h" for="ch" forName="circ2Tx" refType="h" fact="0.76"/>
          <dgm:constr type="primFontSz" for="ch" ptType="node" op="equ"/>
        </dgm:constrLst>
      </dgm:if>
      <dgm:if name="Name12" axis="ch" ptType="node" func="cnt" op="equ" val="3">
        <dgm:constrLst>
          <dgm:constr type="ctrX" for="ch" forName="circ1" refType="w" fact="0.5"/>
          <dgm:constr type="ctrY" for="ch" forName="circ1" refType="w" fact="0.25"/>
          <dgm:constr type="w" for="ch" forName="circ1" refType="w" fact="0.6"/>
          <dgm:constr type="h" for="ch" forName="circ1" refType="h" fact="0.6"/>
          <dgm:constr type="l" for="ch" forName="circ1Tx" refType="w" fact="0.28"/>
          <dgm:constr type="t" for="ch" forName="circ1Tx" refType="h" fact="0.055"/>
          <dgm:constr type="w" for="ch" forName="circ1Tx" refType="w" fact="0.44"/>
          <dgm:constr type="h" for="ch" forName="circ1Tx" refType="h" fact="0.27"/>
          <dgm:constr type="ctrX" for="ch" forName="circ2" refType="w" fact="0.7165"/>
          <dgm:constr type="ctrY" for="ch" forName="circ2" refType="w" fact="0.625"/>
          <dgm:constr type="w" for="ch" forName="circ2" refType="w" fact="0.6"/>
          <dgm:constr type="h" for="ch" forName="circ2" refType="h" fact="0.6"/>
          <dgm:constr type="l" for="ch" forName="circ2Tx" refType="w" fact="0.6"/>
          <dgm:constr type="t" for="ch" forName="circ2Tx" refType="h" fact="0.48"/>
          <dgm:constr type="w" for="ch" forName="circ2Tx" refType="w" fact="0.36"/>
          <dgm:constr type="h" for="ch" forName="circ2Tx" refType="h" fact="0.33"/>
          <dgm:constr type="ctrX" for="ch" forName="circ3" refType="w" fact="0.2835"/>
          <dgm:constr type="ctrY" for="ch" forName="circ3" refType="w" fact="0.625"/>
          <dgm:constr type="w" for="ch" forName="circ3" refType="w" fact="0.6"/>
          <dgm:constr type="h" for="ch" forName="circ3" refType="h" fact="0.6"/>
          <dgm:constr type="l" for="ch" forName="circ3Tx" refType="w" fact="0.04"/>
          <dgm:constr type="t" for="ch" forName="circ3Tx" refType="h" fact="0.48"/>
          <dgm:constr type="w" for="ch" forName="circ3Tx" refType="w" fact="0.36"/>
          <dgm:constr type="h" for="ch" forName="circ3Tx" refType="h" fact="0.33"/>
          <dgm:constr type="primFontSz" for="ch" ptType="node" op="equ"/>
        </dgm:constrLst>
      </dgm:if>
      <dgm:if name="Name13" axis="ch" ptType="node" func="cnt" op="equ" val="4">
        <dgm:constrLst>
          <dgm:constr type="ctrX" for="ch" forName="circ1" refType="w" fact="0.5"/>
          <dgm:constr type="ctrY" for="ch" forName="circ1" refType="w" fact="0.27"/>
          <dgm:constr type="w" for="ch" forName="circ1" refType="w" fact="0.52"/>
          <dgm:constr type="h" for="ch" forName="circ1" refType="h" fact="0.52"/>
          <dgm:constr type="l" for="ch" forName="circ1Tx" refType="w" fact="0.3"/>
          <dgm:constr type="t" for="ch" forName="circ1Tx" refType="h" fact="0.08"/>
          <dgm:constr type="w" for="ch" forName="circ1Tx" refType="w" fact="0.4"/>
          <dgm:constr type="h" for="ch" forName="circ1Tx" refType="h" fact="0.165"/>
          <dgm:constr type="ctrX" for="ch" forName="circ2" refType="w" fact="0.73"/>
          <dgm:constr type="ctrY" for="ch" forName="circ2" refType="w" fact="0.5"/>
          <dgm:constr type="w" for="ch" forName="circ2" refType="w" fact="0.52"/>
          <dgm:constr type="h" for="ch" forName="circ2" refType="h" fact="0.52"/>
          <dgm:constr type="r" for="ch" forName="circ2Tx" refType="w" fact="0.95"/>
          <dgm:constr type="t" for="ch" forName="circ2Tx" refType="h" fact="0.3"/>
          <dgm:constr type="w" for="ch" forName="circ2Tx" refType="w" fact="0.2"/>
          <dgm:constr type="h" for="ch" forName="circ2Tx" refType="h" fact="0.4"/>
          <dgm:constr type="ctrX" for="ch" forName="circ3" refType="w" fact="0.5"/>
          <dgm:constr type="ctrY" for="ch" forName="circ3" refType="w" fact="0.73"/>
          <dgm:constr type="w" for="ch" forName="circ3" refType="w" fact="0.52"/>
          <dgm:constr type="h" for="ch" forName="circ3" refType="h" fact="0.52"/>
          <dgm:constr type="l" for="ch" forName="circ3Tx" refType="w" fact="0.3"/>
          <dgm:constr type="b" for="ch" forName="circ3Tx" refType="h" fact="0.92"/>
          <dgm:constr type="w" for="ch" forName="circ3Tx" refType="w" fact="0.4"/>
          <dgm:constr type="h" for="ch" forName="circ3Tx" refType="h" fact="0.165"/>
          <dgm:constr type="ctrX" for="ch" forName="circ4" refType="w" fact="0.27"/>
          <dgm:constr type="ctrY" for="ch" forName="circ4" refType="h" fact="0.5"/>
          <dgm:constr type="w" for="ch" forName="circ4" refType="w" fact="0.52"/>
          <dgm:constr type="h" for="ch" forName="circ4" refType="h" fact="0.52"/>
          <dgm:constr type="l" for="ch" forName="circ4Tx" refType="w" fact="0.05"/>
          <dgm:constr type="t" for="ch" forName="circ4Tx" refType="h" fact="0.3"/>
          <dgm:constr type="w" for="ch" forName="circ4Tx" refType="w" fact="0.2"/>
          <dgm:constr type="h" for="ch" forName="circ4Tx" refType="h" fact="0.4"/>
          <dgm:constr type="primFontSz" for="ch" ptType="node" op="equ"/>
        </dgm:constrLst>
      </dgm:if>
      <dgm:if name="Name14" axis="ch" ptType="node" func="cnt" op="equ" val="5">
        <dgm:constrLst>
          <dgm:constr type="ctrX" for="ch" forName="circ1" refType="w" fact="0.5"/>
          <dgm:constr type="ctrY" for="ch" forName="circ1" refType="h" fact="0.46"/>
          <dgm:constr type="w" for="ch" forName="circ1" refType="w" fact="0.25"/>
          <dgm:constr type="h" for="ch" forName="circ1" refType="h" fact="0.35"/>
          <dgm:constr type="l" for="ch" forName="circ1Tx" refType="w" fact="0.355"/>
          <dgm:constr type="t" for="ch" forName="circ1Tx"/>
          <dgm:constr type="w" for="ch" forName="circ1Tx" refType="w" fact="0.29"/>
          <dgm:constr type="h" for="ch" forName="circ1Tx" refType="h" fact="0.235"/>
          <dgm:constr type="ctrX" for="ch" forName="circ2" refType="w" fact="0.5951"/>
          <dgm:constr type="ctrY" for="ch" forName="circ2" refType="h" fact="0.5567"/>
          <dgm:constr type="w" for="ch" forName="circ2" refType="w" fact="0.25"/>
          <dgm:constr type="h" for="ch" forName="circ2" refType="h" fact="0.35"/>
          <dgm:constr type="l" for="ch" forName="circ2Tx" refType="w" fact="0.74"/>
          <dgm:constr type="t" for="ch" forName="circ2Tx" refType="h" fact="0.31"/>
          <dgm:constr type="w" for="ch" forName="circ2Tx" refType="w" fact="0.26"/>
          <dgm:constr type="h" for="ch" forName="circ2Tx" refType="h" fact="0.255"/>
          <dgm:constr type="ctrX" for="ch" forName="circ3" refType="w" fact="0.5588"/>
          <dgm:constr type="ctrY" for="ch" forName="circ3" refType="h" fact="0.7133"/>
          <dgm:constr type="w" for="ch" forName="circ3" refType="w" fact="0.25"/>
          <dgm:constr type="h" for="ch" forName="circ3" refType="h" fact="0.35"/>
          <dgm:constr type="l" for="ch" forName="circ3Tx" refType="w" fact="0.7"/>
          <dgm:constr type="t" for="ch" forName="circ3Tx" refType="h" fact="0.745"/>
          <dgm:constr type="w" for="ch" forName="circ3Tx" refType="w" fact="0.26"/>
          <dgm:constr type="h" for="ch" forName="circ3Tx" refType="h" fact="0.255"/>
          <dgm:constr type="ctrX" for="ch" forName="circ4" refType="w" fact="0.4412"/>
          <dgm:constr type="ctrY" for="ch" forName="circ4" refType="h" fact="0.7133"/>
          <dgm:constr type="w" for="ch" forName="circ4" refType="w" fact="0.25"/>
          <dgm:constr type="h" for="ch" forName="circ4" refType="h" fact="0.35"/>
          <dgm:constr type="l" for="ch" forName="circ4Tx" refType="w" fact="0.04"/>
          <dgm:constr type="t" for="ch" forName="circ4Tx" refType="h" fact="0.745"/>
          <dgm:constr type="w" for="ch" forName="circ4Tx" refType="w" fact="0.26"/>
          <dgm:constr type="h" for="ch" forName="circ4Tx" refType="h" fact="0.255"/>
          <dgm:constr type="ctrX" for="ch" forName="circ5" refType="w" fact="0.4049"/>
          <dgm:constr type="ctrY" for="ch" forName="circ5" refType="h" fact="0.5567"/>
          <dgm:constr type="w" for="ch" forName="circ5" refType="w" fact="0.25"/>
          <dgm:constr type="h" for="ch" forName="circ5" refType="h" fact="0.35"/>
          <dgm:constr type="l" for="ch" forName="circ5Tx"/>
          <dgm:constr type="t" for="ch" forName="circ5Tx" refType="h" fact="0.31"/>
          <dgm:constr type="w" for="ch" forName="circ5Tx" refType="w" fact="0.26"/>
          <dgm:constr type="h" for="ch" forName="circ5Tx" refType="h" fact="0.255"/>
          <dgm:constr type="primFontSz" for="ch" ptType="node" op="equ"/>
        </dgm:constrLst>
      </dgm:if>
      <dgm:if name="Name15" axis="ch" ptType="node" func="cnt" op="equ" val="6">
        <dgm:constrLst>
          <dgm:constr type="ctrX" for="ch" forName="circ1" refType="w" fact="0.5"/>
          <dgm:constr type="ctrY" for="ch" forName="circ1" refType="h" fact="0.3844"/>
          <dgm:constr type="w" for="ch" forName="circ1" refType="w" fact="0.24"/>
          <dgm:constr type="h" for="ch" forName="circ1" refType="h" fact="0.3084"/>
          <dgm:constr type="l" for="ch" forName="circ1Tx" refType="w" fact="0.35"/>
          <dgm:constr type="t" for="ch" forName="circ1Tx"/>
          <dgm:constr type="w" for="ch" forName="circ1Tx" refType="w" fact="0.3"/>
          <dgm:constr type="h" for="ch" forName="circ1Tx" refType="h" fact="0.21"/>
          <dgm:constr type="ctrX" for="ch" forName="circ2" refType="w" fact="0.5779"/>
          <dgm:constr type="ctrY" for="ch" forName="circ2" refType="h" fact="0.4422"/>
          <dgm:constr type="w" for="ch" forName="circ2" refType="w" fact="0.24"/>
          <dgm:constr type="h" for="ch" forName="circ2" refType="h" fact="0.3084"/>
          <dgm:constr type="l" for="ch" forName="circ2Tx" refType="w" fact="0.7157"/>
          <dgm:constr type="t" for="ch" forName="circ2Tx" refType="h" fact="0.2"/>
          <dgm:constr type="w" for="ch" forName="circ2Tx" refType="w" fact="0.2843"/>
          <dgm:constr type="h" for="ch" forName="circ2Tx" refType="h" fact="0.23"/>
          <dgm:constr type="ctrX" for="ch" forName="circ3" refType="w" fact="0.5779"/>
          <dgm:constr type="ctrY" for="ch" forName="circ3" refType="h" fact="0.5578"/>
          <dgm:constr type="w" for="ch" forName="circ3" refType="w" fact="0.24"/>
          <dgm:constr type="h" for="ch" forName="circ3" refType="h" fact="0.3084"/>
          <dgm:constr type="l" for="ch" forName="circ3Tx" refType="w" fact="0.7157"/>
          <dgm:constr type="t" for="ch" forName="circ3Tx" refType="h" fact="0.543"/>
          <dgm:constr type="w" for="ch" forName="circ3Tx" refType="w" fact="0.2843"/>
          <dgm:constr type="h" for="ch" forName="circ3Tx" refType="h" fact="0.257"/>
          <dgm:constr type="ctrX" for="ch" forName="circ4" refType="w" fact="0.5"/>
          <dgm:constr type="ctrY" for="ch" forName="circ4" refType="h" fact="0.6157"/>
          <dgm:constr type="w" for="ch" forName="circ4" refType="w" fact="0.24"/>
          <dgm:constr type="h" for="ch" forName="circ4" refType="h" fact="0.3084"/>
          <dgm:constr type="l" for="ch" forName="circ4Tx" refType="w" fact="0.35"/>
          <dgm:constr type="t" for="ch" forName="circ4Tx" refType="h" fact="0.79"/>
          <dgm:constr type="w" for="ch" forName="circ4Tx" refType="w" fact="0.3"/>
          <dgm:constr type="h" for="ch" forName="circ4Tx" refType="h" fact="0.21"/>
          <dgm:constr type="ctrX" for="ch" forName="circ5" refType="w" fact="0.4221"/>
          <dgm:constr type="ctrY" for="ch" forName="circ5" refType="h" fact="0.5578"/>
          <dgm:constr type="w" for="ch" forName="circ5" refType="w" fact="0.24"/>
          <dgm:constr type="h" for="ch" forName="circ5" refType="h" fact="0.3084"/>
          <dgm:constr type="l" for="ch" forName="circ5Tx" refType="w" fact="0"/>
          <dgm:constr type="t" for="ch" forName="circ5Tx" refType="h" fact="0.543"/>
          <dgm:constr type="w" for="ch" forName="circ5Tx" refType="w" fact="0.2843"/>
          <dgm:constr type="h" for="ch" forName="circ5Tx" refType="h" fact="0.257"/>
          <dgm:constr type="ctrX" for="ch" forName="circ6" refType="w" fact="0.4221"/>
          <dgm:constr type="ctrY" for="ch" forName="circ6" refType="h" fact="0.4422"/>
          <dgm:constr type="w" for="ch" forName="circ6" refType="w" fact="0.24"/>
          <dgm:constr type="h" for="ch" forName="circ6" refType="h" fact="0.3084"/>
          <dgm:constr type="l" for="ch" forName="circ6Tx" refType="w" fact="0"/>
          <dgm:constr type="t" for="ch" forName="circ6Tx" refType="h" fact="0.2"/>
          <dgm:constr type="w" for="ch" forName="circ6Tx" refType="w" fact="0.2843"/>
          <dgm:constr type="h" for="ch" forName="circ6Tx" refType="h" fact="0.257"/>
          <dgm:constr type="primFontSz" for="ch" ptType="node" op="equ"/>
        </dgm:constrLst>
      </dgm:if>
      <dgm:else name="Name16">
        <dgm:constrLst>
          <dgm:constr type="ctrX" for="ch" forName="circ1" refType="w" fact="0.5"/>
          <dgm:constr type="ctrY" for="ch" forName="circ1" refType="h" fact="0.4177"/>
          <dgm:constr type="w" for="ch" forName="circ1" refType="w" fact="0.24"/>
          <dgm:constr type="h" for="ch" forName="circ1" refType="h" fact="0.3262"/>
          <dgm:constr type="l" for="ch" forName="circ1Tx" refType="w" fact="0.3625"/>
          <dgm:constr type="t" for="ch" forName="circ1Tx"/>
          <dgm:constr type="w" for="ch" forName="circ1Tx" refType="w" fact="0.275"/>
          <dgm:constr type="h" for="ch" forName="circ1Tx" refType="h" fact="0.2"/>
          <dgm:constr type="ctrX" for="ch" forName="circ2" refType="w" fact="0.5704"/>
          <dgm:constr type="ctrY" for="ch" forName="circ2" refType="h" fact="0.4637"/>
          <dgm:constr type="w" for="ch" forName="circ2" refType="w" fact="0.24"/>
          <dgm:constr type="h" for="ch" forName="circ2" refType="h" fact="0.3262"/>
          <dgm:constr type="l" for="ch" forName="circ2Tx" refType="w" fact="0.72"/>
          <dgm:constr type="t" for="ch" forName="circ2Tx" refType="h" fact="0.19"/>
          <dgm:constr type="w" for="ch" forName="circ2Tx" refType="w" fact="0.26"/>
          <dgm:constr type="h" for="ch" forName="circ2Tx" refType="h" fact="0.22"/>
          <dgm:constr type="ctrX" for="ch" forName="circ3" refType="w" fact="0.5877"/>
          <dgm:constr type="ctrY" for="ch" forName="circ3" refType="h" fact="0.5672"/>
          <dgm:constr type="w" for="ch" forName="circ3" refType="w" fact="0.24"/>
          <dgm:constr type="h" for="ch" forName="circ3" refType="h" fact="0.3262"/>
          <dgm:constr type="l" for="ch" forName="circ3Tx" refType="w" fact="0.745"/>
          <dgm:constr type="t" for="ch" forName="circ3Tx" refType="h" fact="0.47"/>
          <dgm:constr type="w" for="ch" forName="circ3Tx" refType="w" fact="0.255"/>
          <dgm:constr type="h" for="ch" forName="circ3Tx" refType="h" fact="0.235"/>
          <dgm:constr type="ctrX" for="ch" forName="circ4" refType="w" fact="0.539"/>
          <dgm:constr type="ctrY" for="ch" forName="circ4" refType="h" fact="0.6502"/>
          <dgm:constr type="w" for="ch" forName="circ4" refType="w" fact="0.24"/>
          <dgm:constr type="h" for="ch" forName="circ4" refType="h" fact="0.3262"/>
          <dgm:constr type="l" for="ch" forName="circ4Tx" refType="w" fact="0.635"/>
          <dgm:constr type="t" for="ch" forName="circ4Tx" refType="h" fact="0.785"/>
          <dgm:constr type="w" for="ch" forName="circ4Tx" refType="w" fact="0.275"/>
          <dgm:constr type="h" for="ch" forName="circ4Tx" refType="h" fact="0.215"/>
          <dgm:constr type="ctrX" for="ch" forName="circ5" refType="w" fact="0.461"/>
          <dgm:constr type="ctrY" for="ch" forName="circ5" refType="h" fact="0.6502"/>
          <dgm:constr type="w" for="ch" forName="circ5" refType="w" fact="0.24"/>
          <dgm:constr type="h" for="ch" forName="circ5" refType="h" fact="0.3262"/>
          <dgm:constr type="l" for="ch" forName="circ5Tx" refType="w" fact="0.09"/>
          <dgm:constr type="t" for="ch" forName="circ5Tx" refType="h" fact="0.785"/>
          <dgm:constr type="w" for="ch" forName="circ5Tx" refType="w" fact="0.275"/>
          <dgm:constr type="h" for="ch" forName="circ5Tx" refType="h" fact="0.215"/>
          <dgm:constr type="ctrX" for="ch" forName="circ6" refType="w" fact="0.4123"/>
          <dgm:constr type="ctrY" for="ch" forName="circ6" refType="h" fact="0.5672"/>
          <dgm:constr type="w" for="ch" forName="circ6" refType="w" fact="0.24"/>
          <dgm:constr type="h" for="ch" forName="circ6" refType="h" fact="0.3262"/>
          <dgm:constr type="l" for="ch" forName="circ6Tx"/>
          <dgm:constr type="t" for="ch" forName="circ6Tx" refType="h" fact="0.47"/>
          <dgm:constr type="w" for="ch" forName="circ6Tx" refType="w" fact="0.255"/>
          <dgm:constr type="h" for="ch" forName="circ6Tx" refType="h" fact="0.235"/>
          <dgm:constr type="ctrX" for="ch" forName="circ7" refType="w" fact="0.4296"/>
          <dgm:constr type="ctrY" for="ch" forName="circ7" refType="h" fact="0.4637"/>
          <dgm:constr type="w" for="ch" forName="circ7" refType="w" fact="0.24"/>
          <dgm:constr type="h" for="ch" forName="circ7" refType="h" fact="0.3262"/>
          <dgm:constr type="l" for="ch" forName="circ7Tx" refType="w" fact="0.02"/>
          <dgm:constr type="t" for="ch" forName="circ7Tx" refType="h" fact="0.19"/>
          <dgm:constr type="w" for="ch" forName="circ7Tx" refType="w" fact="0.26"/>
          <dgm:constr type="h" for="ch" forName="circ7Tx" refType="h" fact="0.22"/>
          <dgm:constr type="primFontSz" for="ch" ptType="node" op="equ"/>
        </dgm:constrLst>
      </dgm:else>
    </dgm:choose>
    <dgm:ruleLst/>
    <dgm:forEach name="Name17" axis="ch" ptType="node" cnt="1">
      <dgm:choose name="Name18">
        <dgm:if name="Name19" axis="root ch" ptType="all node" func="cnt" op="equ" val="1">
          <dgm:layoutNode name="circ1TxSh" styleLbl="vennNode1">
            <dgm:alg type="tx">
              <dgm:param type="txAnchorHorzCh" val="ctr"/>
              <dgm:param type="txAnchorVertCh" val="mid"/>
            </dgm:alg>
            <dgm:shape xmlns:r="http://schemas.openxmlformats.org/officeDocument/2006/relationships" type="ellipse" r:blip="">
              <dgm:adjLst/>
            </dgm:shape>
            <dgm:choose name="Name20">
              <dgm:if name="Name21" func="var" arg="dir" op="equ" val="norm">
                <dgm:choose name="Name22">
                  <dgm:if name="Name23" axis="root ch" ptType="all node" func="cnt" op="lte" val="4">
                    <dgm:presOf axis="desOrSelf" ptType="node"/>
                  </dgm:if>
                  <dgm:else name="Name24">
                    <dgm:presOf/>
                  </dgm:else>
                </dgm:choose>
              </dgm:if>
              <dgm:else name="Name25">
                <dgm:choose name="Name26">
                  <dgm:if name="Name27" axis="root ch" ptType="all node" func="cnt" op="equ" val="2">
                    <dgm:presOf axis="root ch desOrSelf" ptType="all node node" st="1 2 1" cnt="1 1 0"/>
                  </dgm:if>
                  <dgm:else name="Name28">
                    <dgm:presOf axis="desOrSelf" ptType="node"/>
                  </dgm:else>
                </dgm:choose>
              </dgm:else>
            </dgm:choose>
            <dgm:constrLst>
              <dgm:constr type="tMarg"/>
              <dgm:constr type="bMarg"/>
              <dgm:constr type="lMarg"/>
              <dgm:constr type="rMarg"/>
              <dgm:constr type="primFontSz" val="65"/>
            </dgm:constrLst>
            <dgm:ruleLst>
              <dgm:rule type="primFontSz" val="5" fact="NaN" max="NaN"/>
            </dgm:ruleLst>
          </dgm:layoutNode>
        </dgm:if>
        <dgm:else name="Name29">
          <dgm:layoutNode name="circ1" styleLbl="vennNode1">
            <dgm:alg type="sp"/>
            <dgm:shape xmlns:r="http://schemas.openxmlformats.org/officeDocument/2006/relationships" type="ellipse" r:blip="">
              <dgm:adjLst/>
            </dgm:shape>
            <dgm:choose name="Name30">
              <dgm:if name="Name31" func="var" arg="dir" op="equ" val="norm">
                <dgm:choose name="Name32">
                  <dgm:if name="Name33" axis="root ch" ptType="all node" func="cnt" op="lte" val="4">
                    <dgm:presOf axis="desOrSelf" ptType="node"/>
                  </dgm:if>
                  <dgm:else name="Name34">
                    <dgm:presOf/>
                  </dgm:else>
                </dgm:choose>
              </dgm:if>
              <dgm:else name="Name35">
                <dgm:choose name="Name36">
                  <dgm:if name="Name37" axis="root ch" ptType="all node" func="cnt" op="equ" val="2">
                    <dgm:presOf axis="root ch desOrSelf" ptType="all node node" st="1 2 1" cnt="1 1 0"/>
                  </dgm:if>
                  <dgm:else name="Name38">
                    <dgm:choose name="Name39">
                      <dgm:if name="Name40" axis="root ch" ptType="all node" func="cnt" op="lte" val="4">
                        <dgm:presOf axis="desOrSelf" ptType="node"/>
                      </dgm:if>
                      <dgm:else name="Name41">
                        <dgm:presOf/>
                      </dgm:else>
                    </dgm:choose>
                  </dgm:else>
                </dgm:choose>
              </dgm:else>
            </dgm:choose>
            <dgm:constrLst/>
            <dgm:ruleLst/>
          </dgm:layoutNode>
          <dgm:layoutNode name="circ1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42">
              <dgm:if name="Name43" func="var" arg="dir" op="equ" val="norm">
                <dgm:presOf axis="desOrSelf" ptType="node"/>
              </dgm:if>
              <dgm:else name="Name44">
                <dgm:choose name="Name45">
                  <dgm:if name="Name46" axis="root ch" ptType="all node" func="cnt" op="equ" val="2">
                    <dgm:presOf axis="root ch desOrSelf" ptType="all node node" st="1 2 1" cnt="1 1 0"/>
                  </dgm:if>
                  <dgm:else name="Name47">
                    <dgm:presOf axis="desOrSelf" ptType="node"/>
                  </dgm:else>
                </dgm:choose>
              </dgm:else>
            </dgm:choose>
            <dgm:constrLst>
              <dgm:constr type="tMarg"/>
              <dgm:constr type="bMarg"/>
              <dgm:constr type="lMarg"/>
              <dgm:constr type="rMarg"/>
              <dgm:constr type="primFontSz" val="65"/>
            </dgm:constrLst>
            <dgm:ruleLst>
              <dgm:rule type="primFontSz" val="5" fact="NaN" max="NaN"/>
            </dgm:ruleLst>
          </dgm:layoutNode>
        </dgm:else>
      </dgm:choose>
    </dgm:forEach>
    <dgm:forEach name="Name48" axis="ch" ptType="node" st="2" cnt="1">
      <dgm:layoutNode name="circ2" styleLbl="vennNode1">
        <dgm:alg type="sp"/>
        <dgm:shape xmlns:r="http://schemas.openxmlformats.org/officeDocument/2006/relationships" type="ellipse" r:blip="">
          <dgm:adjLst/>
        </dgm:shape>
        <dgm:choose name="Name49">
          <dgm:if name="Name50" func="var" arg="dir" op="equ" val="norm">
            <dgm:choose name="Name51">
              <dgm:if name="Name52" axis="root ch" ptType="all node" func="cnt" op="lte" val="4">
                <dgm:presOf axis="desOrSelf" ptType="node"/>
              </dgm:if>
              <dgm:else name="Name53">
                <dgm:presOf/>
              </dgm:else>
            </dgm:choose>
          </dgm:if>
          <dgm:else name="Name54">
            <dgm:choose name="Name55">
              <dgm:if name="Name56" axis="root ch" ptType="all node" func="cnt" op="equ" val="2">
                <dgm:presOf axis="root ch desOrSelf" ptType="all node node" st="1 1 1" cnt="1 1 0"/>
              </dgm:if>
              <dgm:if name="Name57" axis="root ch" ptType="all node" func="cnt" op="equ" val="3">
                <dgm:presOf axis="root ch desOrSelf" ptType="all node node" st="1 3 1" cnt="1 1 0"/>
              </dgm:if>
              <dgm:if name="Name58" axis="root ch" ptType="all node" func="cnt" op="equ" val="4">
                <dgm:presOf axis="root ch desOrSelf" ptType="all node node" st="1 4 1" cnt="1 1 0"/>
              </dgm:if>
              <dgm:else name="Name59">
                <dgm:presOf/>
              </dgm:else>
            </dgm:choose>
          </dgm:else>
        </dgm:choose>
        <dgm:constrLst/>
        <dgm:ruleLst/>
      </dgm:layoutNode>
      <dgm:layoutNode name="circ2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60">
          <dgm:if name="Name61" func="var" arg="dir" op="equ" val="norm">
            <dgm:presOf axis="desOrSelf" ptType="node"/>
          </dgm:if>
          <dgm:else name="Name62">
            <dgm:choose name="Name63">
              <dgm:if name="Name64" axis="root ch" ptType="all node" func="cnt" op="equ" val="2">
                <dgm:presOf axis="root ch desOrSelf" ptType="all node node" st="1 1 1" cnt="1 1 0"/>
              </dgm:if>
              <dgm:if name="Name65" axis="root ch" ptType="all node" func="cnt" op="equ" val="3">
                <dgm:presOf axis="root ch desOrSelf" ptType="all node node" st="1 3 1" cnt="1 1 0"/>
              </dgm:if>
              <dgm:if name="Name66" axis="root ch" ptType="all node" func="cnt" op="equ" val="4">
                <dgm:presOf axis="root ch desOrSelf" ptType="all node node" st="1 4 1" cnt="1 1 0"/>
              </dgm:if>
              <dgm:if name="Name67" axis="root ch" ptType="all node" func="cnt" op="equ" val="5">
                <dgm:presOf axis="root ch desOrSelf" ptType="all node node" st="1 5 1" cnt="1 1 0"/>
              </dgm:if>
              <dgm:if name="Name68" axis="root ch" ptType="all node" func="cnt" op="equ" val="6">
                <dgm:presOf axis="root ch desOrSelf" ptType="all node node" st="1 6 1" cnt="1 1 0"/>
              </dgm:if>
              <dgm:else name="Name69">
                <dgm:presOf axis="root ch desOrSelf" ptType="all node node" st="1 7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70" axis="ch" ptType="node" st="3" cnt="1">
      <dgm:layoutNode name="circ3" styleLbl="vennNode1">
        <dgm:alg type="sp"/>
        <dgm:shape xmlns:r="http://schemas.openxmlformats.org/officeDocument/2006/relationships" type="ellipse" r:blip="">
          <dgm:adjLst/>
        </dgm:shape>
        <dgm:choose name="Name71">
          <dgm:if name="Name72" func="var" arg="dir" op="equ" val="norm">
            <dgm:choose name="Name73">
              <dgm:if name="Name74" axis="root ch" ptType="all node" func="cnt" op="lte" val="4">
                <dgm:presOf axis="desOrSelf" ptType="node"/>
              </dgm:if>
              <dgm:else name="Name75">
                <dgm:presOf/>
              </dgm:else>
            </dgm:choose>
          </dgm:if>
          <dgm:else name="Name76">
            <dgm:choose name="Name77">
              <dgm:if name="Name78" axis="root ch" ptType="all node" func="cnt" op="equ" val="3">
                <dgm:presOf axis="root ch desOrSelf" ptType="all node node" st="1 2 1" cnt="1 1 0"/>
              </dgm:if>
              <dgm:if name="Name79" axis="root ch" ptType="all node" func="cnt" op="equ" val="4">
                <dgm:presOf axis="root ch desOrSelf" ptType="all node node" st="1 3 1" cnt="1 1 0"/>
              </dgm:if>
              <dgm:else name="Name80">
                <dgm:presOf/>
              </dgm:else>
            </dgm:choose>
          </dgm:else>
        </dgm:choose>
        <dgm:constrLst/>
        <dgm:ruleLst/>
      </dgm:layoutNode>
      <dgm:layoutNode name="circ3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81">
          <dgm:if name="Name82" func="var" arg="dir" op="equ" val="norm">
            <dgm:presOf axis="desOrSelf" ptType="node"/>
          </dgm:if>
          <dgm:else name="Name83">
            <dgm:choose name="Name84">
              <dgm:if name="Name85" axis="root ch" ptType="all node" func="cnt" op="equ" val="3">
                <dgm:presOf axis="root ch desOrSelf" ptType="all node node" st="1 2 1" cnt="1 1 0"/>
              </dgm:if>
              <dgm:if name="Name86" axis="root ch" ptType="all node" func="cnt" op="equ" val="4">
                <dgm:presOf axis="root ch desOrSelf" ptType="all node node" st="1 3 1" cnt="1 1 0"/>
              </dgm:if>
              <dgm:if name="Name87" axis="root ch" ptType="all node" func="cnt" op="equ" val="5">
                <dgm:presOf axis="root ch desOrSelf" ptType="all node node" st="1 4 1" cnt="1 1 0"/>
              </dgm:if>
              <dgm:if name="Name88" axis="root ch" ptType="all node" func="cnt" op="equ" val="6">
                <dgm:presOf axis="root ch desOrSelf" ptType="all node node" st="1 5 1" cnt="1 1 0"/>
              </dgm:if>
              <dgm:else name="Name89">
                <dgm:presOf axis="root ch desOrSelf" ptType="all node node" st="1 6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90" axis="ch" ptType="node" st="4" cnt="1">
      <dgm:layoutNode name="circ4" styleLbl="vennNode1">
        <dgm:alg type="sp"/>
        <dgm:shape xmlns:r="http://schemas.openxmlformats.org/officeDocument/2006/relationships" type="ellipse" r:blip="">
          <dgm:adjLst/>
        </dgm:shape>
        <dgm:choose name="Name91">
          <dgm:if name="Name92" func="var" arg="dir" op="equ" val="norm">
            <dgm:choose name="Name93">
              <dgm:if name="Name94" axis="root ch" ptType="all node" func="cnt" op="lte" val="4">
                <dgm:presOf axis="desOrSelf" ptType="node"/>
              </dgm:if>
              <dgm:else name="Name95">
                <dgm:presOf/>
              </dgm:else>
            </dgm:choose>
          </dgm:if>
          <dgm:else name="Name96">
            <dgm:choose name="Name97">
              <dgm:if name="Name98" axis="root ch" ptType="all node" func="cnt" op="equ" val="4">
                <dgm:presOf axis="root ch desOrSelf" ptType="all node node" st="1 2 1" cnt="1 1 0"/>
              </dgm:if>
              <dgm:else name="Name99">
                <dgm:presOf/>
              </dgm:else>
            </dgm:choose>
          </dgm:else>
        </dgm:choose>
        <dgm:constrLst/>
        <dgm:ruleLst/>
      </dgm:layoutNode>
      <dgm:layoutNode name="circ4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00">
          <dgm:if name="Name101" func="var" arg="dir" op="equ" val="norm">
            <dgm:presOf axis="desOrSelf" ptType="node"/>
          </dgm:if>
          <dgm:else name="Name102">
            <dgm:choose name="Name103">
              <dgm:if name="Name104" axis="root ch" ptType="all node" func="cnt" op="equ" val="4">
                <dgm:presOf axis="root ch desOrSelf" ptType="all node node" st="1 2 1" cnt="1 1 0"/>
              </dgm:if>
              <dgm:if name="Name105" axis="root ch" ptType="all node" func="cnt" op="equ" val="5">
                <dgm:presOf axis="root ch desOrSelf" ptType="all node node" st="1 3 1" cnt="1 1 0"/>
              </dgm:if>
              <dgm:if name="Name106" axis="root ch" ptType="all node" func="cnt" op="equ" val="6">
                <dgm:presOf axis="root ch desOrSelf" ptType="all node node" st="1 4 1" cnt="1 1 0"/>
              </dgm:if>
              <dgm:else name="Name107">
                <dgm:presOf axis="root ch desOrSelf" ptType="all node node" st="1 5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08" axis="ch" ptType="node" st="5" cnt="1">
      <dgm:layoutNode name="circ5" styleLbl="vennNode1">
        <dgm:alg type="sp"/>
        <dgm:shape xmlns:r="http://schemas.openxmlformats.org/officeDocument/2006/relationships" type="ellipse" r:blip="">
          <dgm:adjLst/>
        </dgm:shape>
        <dgm:presOf/>
        <dgm:constrLst/>
        <dgm:ruleLst/>
      </dgm:layoutNode>
      <dgm:layoutNode name="circ5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09">
          <dgm:if name="Name110" func="var" arg="dir" op="equ" val="norm">
            <dgm:presOf axis="desOrSelf" ptType="node"/>
          </dgm:if>
          <dgm:else name="Name111">
            <dgm:choose name="Name112">
              <dgm:if name="Name113" axis="root ch" ptType="all node" func="cnt" op="equ" val="5">
                <dgm:presOf axis="root ch desOrSelf" ptType="all node node" st="1 2 1" cnt="1 1 0"/>
              </dgm:if>
              <dgm:if name="Name114" axis="root ch" ptType="all node" func="cnt" op="equ" val="6">
                <dgm:presOf axis="root ch desOrSelf" ptType="all node node" st="1 3 1" cnt="1 1 0"/>
              </dgm:if>
              <dgm:else name="Name115">
                <dgm:presOf axis="root ch desOrSelf" ptType="all node node" st="1 4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16" axis="ch" ptType="node" st="6" cnt="1">
      <dgm:layoutNode name="circ6" styleLbl="vennNode1">
        <dgm:alg type="sp"/>
        <dgm:shape xmlns:r="http://schemas.openxmlformats.org/officeDocument/2006/relationships" type="ellipse" r:blip="">
          <dgm:adjLst/>
        </dgm:shape>
        <dgm:presOf/>
        <dgm:constrLst/>
        <dgm:ruleLst/>
      </dgm:layoutNode>
      <dgm:layoutNode name="circ6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17">
          <dgm:if name="Name118" func="var" arg="dir" op="equ" val="norm">
            <dgm:presOf axis="desOrSelf" ptType="node"/>
          </dgm:if>
          <dgm:else name="Name119">
            <dgm:choose name="Name120">
              <dgm:if name="Name121" axis="root ch" ptType="all node" func="cnt" op="equ" val="6">
                <dgm:presOf axis="root ch desOrSelf" ptType="all node node" st="1 2 1" cnt="1 1 0"/>
              </dgm:if>
              <dgm:else name="Name122">
                <dgm:presOf axis="root ch desOrSelf" ptType="all node node" st="1 3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23" axis="ch" ptType="node" st="7" cnt="1">
      <dgm:layoutNode name="circ7" styleLbl="vennNode1">
        <dgm:alg type="sp"/>
        <dgm:shape xmlns:r="http://schemas.openxmlformats.org/officeDocument/2006/relationships" type="ellipse" r:blip="">
          <dgm:adjLst/>
        </dgm:shape>
        <dgm:presOf/>
        <dgm:constrLst/>
        <dgm:ruleLst/>
      </dgm:layoutNode>
      <dgm:layoutNode name="circ7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24">
          <dgm:if name="Name125" func="var" arg="dir" op="equ" val="norm">
            <dgm:presOf axis="desOrSelf" ptType="node"/>
          </dgm:if>
          <dgm:else name="Name126">
            <dgm:presOf axis="root ch desOrSelf" ptType="all node node" st="1 2 1" cnt="1 1 0"/>
          </dgm:else>
        </dgm:choose>
        <dgm:constrLst>
          <dgm:constr type="tMarg"/>
          <dgm:constr type="bMarg"/>
          <dgm:constr type="lMarg"/>
          <dgm:constr type="rMarg"/>
          <dgm:constr type="primFontSz" val="65"/>
        </dgm:constrLst>
        <dgm:ruleLst>
          <dgm:rule type="primFontSz" val="5" fact="NaN" max="NaN"/>
        </dgm:ruleLst>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CH" dirty="0">
              <a:latin typeface="Arial" panose="020B0604020202020204" pitchFamily="34" charset="0"/>
            </a:endParaRPr>
          </a:p>
        </p:txBody>
      </p:sp>
      <p:sp>
        <p:nvSpPr>
          <p:cNvPr id="3" name="Espace réservé de la date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45279B33-A94D-4C8C-88C2-619932967EF3}" type="datetimeFigureOut">
              <a:rPr lang="fr-CH" smtClean="0">
                <a:latin typeface="Arial" panose="020B0604020202020204" pitchFamily="34" charset="0"/>
              </a:rPr>
              <a:t>21.10.2025</a:t>
            </a:fld>
            <a:endParaRPr lang="fr-CH" dirty="0">
              <a:latin typeface="Arial" panose="020B0604020202020204" pitchFamily="34" charset="0"/>
            </a:endParaRPr>
          </a:p>
        </p:txBody>
      </p:sp>
      <p:sp>
        <p:nvSpPr>
          <p:cNvPr id="4" name="Espace réservé du pied de page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fr-CH" dirty="0">
              <a:latin typeface="Arial" panose="020B0604020202020204" pitchFamily="34" charset="0"/>
            </a:endParaRPr>
          </a:p>
        </p:txBody>
      </p:sp>
      <p:sp>
        <p:nvSpPr>
          <p:cNvPr id="5" name="Espace réservé du numéro de diapositive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7BF4AF0-8439-436D-BEF0-52070F19E1B6}" type="slidenum">
              <a:rPr lang="fr-CH" smtClean="0">
                <a:latin typeface="Arial" panose="020B0604020202020204" pitchFamily="34" charset="0"/>
              </a:rPr>
              <a:t>‹#›</a:t>
            </a:fld>
            <a:endParaRPr lang="fr-CH" dirty="0">
              <a:latin typeface="Arial" panose="020B0604020202020204" pitchFamily="34" charset="0"/>
            </a:endParaRPr>
          </a:p>
        </p:txBody>
      </p:sp>
    </p:spTree>
    <p:extLst>
      <p:ext uri="{BB962C8B-B14F-4D97-AF65-F5344CB8AC3E}">
        <p14:creationId xmlns:p14="http://schemas.microsoft.com/office/powerpoint/2010/main" val="132490568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Arial" panose="020B0604020202020204" pitchFamily="34" charset="0"/>
              </a:defRPr>
            </a:lvl1pPr>
          </a:lstStyle>
          <a:p>
            <a:endParaRPr lang="fr-FR" dirty="0"/>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atin typeface="Arial" panose="020B0604020202020204" pitchFamily="34" charset="0"/>
              </a:defRPr>
            </a:lvl1pPr>
          </a:lstStyle>
          <a:p>
            <a:fld id="{F8103E42-5239-1A40-AD33-3EE7E9DDF5FD}" type="datetimeFigureOut">
              <a:rPr lang="fr-FR" smtClean="0"/>
              <a:pPr/>
              <a:t>19/10/2025</a:t>
            </a:fld>
            <a:endParaRPr lang="fr-FR" dirty="0"/>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dirty="0"/>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r>
              <a:rPr lang="fr-FR"/>
              <a:t>Modifier les styles du texte du masque
Deuxième niveau
Troisième niveau
Quatrième niveau
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Arial" panose="020B0604020202020204" pitchFamily="34" charset="0"/>
              </a:defRPr>
            </a:lvl1pPr>
          </a:lstStyle>
          <a:p>
            <a:endParaRPr lang="fr-FR" dirty="0"/>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atin typeface="Arial" panose="020B0604020202020204" pitchFamily="34" charset="0"/>
              </a:defRPr>
            </a:lvl1pPr>
          </a:lstStyle>
          <a:p>
            <a:fld id="{4CF50783-AAED-1941-8BCC-9F6140F0A6B1}" type="slidenum">
              <a:rPr lang="fr-FR" smtClean="0"/>
              <a:pPr/>
              <a:t>‹#›</a:t>
            </a:fld>
            <a:endParaRPr lang="fr-FR" dirty="0"/>
          </a:p>
        </p:txBody>
      </p:sp>
    </p:spTree>
    <p:extLst>
      <p:ext uri="{BB962C8B-B14F-4D97-AF65-F5344CB8AC3E}">
        <p14:creationId xmlns:p14="http://schemas.microsoft.com/office/powerpoint/2010/main" val="7267427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panose="020B0604020202020204" pitchFamily="34" charset="0"/>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everyone. My sincerest gratitude again for agreeing to be part of my thesis committee. Today, I will present my PhD thesis work titled “Scalable Methods for Knowledge Graph Reasoning and Generation” as a summary of the research I did during my time at LIONS lab, under the supervision of Prof. Cevher.</a:t>
            </a:r>
          </a:p>
        </p:txBody>
      </p:sp>
      <p:sp>
        <p:nvSpPr>
          <p:cNvPr id="4" name="Slide Number Placeholder 3"/>
          <p:cNvSpPr>
            <a:spLocks noGrp="1"/>
          </p:cNvSpPr>
          <p:nvPr>
            <p:ph type="sldNum" sz="quarter" idx="5"/>
          </p:nvPr>
        </p:nvSpPr>
        <p:spPr/>
        <p:txBody>
          <a:bodyPr/>
          <a:lstStyle/>
          <a:p>
            <a:fld id="{4CF50783-AAED-1941-8BCC-9F6140F0A6B1}" type="slidenum">
              <a:rPr lang="fr-FR" smtClean="0"/>
              <a:pPr/>
              <a:t>1</a:t>
            </a:fld>
            <a:endParaRPr lang="fr-FR" dirty="0"/>
          </a:p>
        </p:txBody>
      </p:sp>
    </p:spTree>
    <p:extLst>
      <p:ext uri="{BB962C8B-B14F-4D97-AF65-F5344CB8AC3E}">
        <p14:creationId xmlns:p14="http://schemas.microsoft.com/office/powerpoint/2010/main" val="74911369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2</a:t>
            </a:fld>
            <a:endParaRPr lang="fr-FR" dirty="0"/>
          </a:p>
        </p:txBody>
      </p:sp>
    </p:spTree>
    <p:extLst>
      <p:ext uri="{BB962C8B-B14F-4D97-AF65-F5344CB8AC3E}">
        <p14:creationId xmlns:p14="http://schemas.microsoft.com/office/powerpoint/2010/main" val="384152012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3</a:t>
            </a:fld>
            <a:endParaRPr lang="fr-FR" dirty="0"/>
          </a:p>
        </p:txBody>
      </p:sp>
    </p:spTree>
    <p:extLst>
      <p:ext uri="{BB962C8B-B14F-4D97-AF65-F5344CB8AC3E}">
        <p14:creationId xmlns:p14="http://schemas.microsoft.com/office/powerpoint/2010/main" val="76658512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2926D4-A669-B2DF-3B02-B7A8375BFCC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CE37793-B06B-AA55-AABE-B04C76192B4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A818D13-4937-82E1-EA4E-3621374F0711}"/>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1CDF6A84-A247-3CD7-0D1F-D5B1E0CD660C}"/>
              </a:ext>
            </a:extLst>
          </p:cNvPr>
          <p:cNvSpPr>
            <a:spLocks noGrp="1"/>
          </p:cNvSpPr>
          <p:nvPr>
            <p:ph type="sldNum" sz="quarter" idx="5"/>
          </p:nvPr>
        </p:nvSpPr>
        <p:spPr/>
        <p:txBody>
          <a:bodyPr/>
          <a:lstStyle/>
          <a:p>
            <a:fld id="{4CF50783-AAED-1941-8BCC-9F6140F0A6B1}" type="slidenum">
              <a:rPr lang="fr-FR" smtClean="0"/>
              <a:pPr/>
              <a:t>4</a:t>
            </a:fld>
            <a:endParaRPr lang="fr-FR" dirty="0"/>
          </a:p>
        </p:txBody>
      </p:sp>
    </p:spTree>
    <p:extLst>
      <p:ext uri="{BB962C8B-B14F-4D97-AF65-F5344CB8AC3E}">
        <p14:creationId xmlns:p14="http://schemas.microsoft.com/office/powerpoint/2010/main" val="341644211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8C82DC-A84F-80DC-2F9E-A7EE482051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20EBEE7-F0ED-1FF5-EC75-F7210D1EDA2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1C5DA4B-A6F2-5E20-0317-BDAF8A34AAB5}"/>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D4A2893C-CFF8-2F1E-6D7C-E4ABF2FA9A52}"/>
              </a:ext>
            </a:extLst>
          </p:cNvPr>
          <p:cNvSpPr>
            <a:spLocks noGrp="1"/>
          </p:cNvSpPr>
          <p:nvPr>
            <p:ph type="sldNum" sz="quarter" idx="5"/>
          </p:nvPr>
        </p:nvSpPr>
        <p:spPr/>
        <p:txBody>
          <a:bodyPr/>
          <a:lstStyle/>
          <a:p>
            <a:fld id="{4CF50783-AAED-1941-8BCC-9F6140F0A6B1}" type="slidenum">
              <a:rPr lang="fr-FR" smtClean="0"/>
              <a:pPr/>
              <a:t>5</a:t>
            </a:fld>
            <a:endParaRPr lang="fr-FR" dirty="0"/>
          </a:p>
        </p:txBody>
      </p:sp>
    </p:spTree>
    <p:extLst>
      <p:ext uri="{BB962C8B-B14F-4D97-AF65-F5344CB8AC3E}">
        <p14:creationId xmlns:p14="http://schemas.microsoft.com/office/powerpoint/2010/main" val="408037353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60D5FE-2747-C4C0-C40E-C9D12D6D4C6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014E1E9-0DC4-D2F6-CE8F-2347D68E73F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C84BCBF-5CBE-247F-D280-2504969CFFD3}"/>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3B88E1F8-2697-03BB-6B5C-1299199572C1}"/>
              </a:ext>
            </a:extLst>
          </p:cNvPr>
          <p:cNvSpPr>
            <a:spLocks noGrp="1"/>
          </p:cNvSpPr>
          <p:nvPr>
            <p:ph type="sldNum" sz="quarter" idx="5"/>
          </p:nvPr>
        </p:nvSpPr>
        <p:spPr/>
        <p:txBody>
          <a:bodyPr/>
          <a:lstStyle/>
          <a:p>
            <a:fld id="{4CF50783-AAED-1941-8BCC-9F6140F0A6B1}" type="slidenum">
              <a:rPr lang="fr-FR" smtClean="0"/>
              <a:pPr/>
              <a:t>6</a:t>
            </a:fld>
            <a:endParaRPr lang="fr-FR" dirty="0"/>
          </a:p>
        </p:txBody>
      </p:sp>
    </p:spTree>
    <p:extLst>
      <p:ext uri="{BB962C8B-B14F-4D97-AF65-F5344CB8AC3E}">
        <p14:creationId xmlns:p14="http://schemas.microsoft.com/office/powerpoint/2010/main" val="21797280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2ADE9A-B349-E586-4747-82DF49FC686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79C3B7E-B878-87FA-5C7F-62E06FCE6E1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8BBE95C-AFB0-9AA6-A10F-4EC5582CC9DE}"/>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6C7920E2-5BE0-A551-A40B-AB1AB74177F2}"/>
              </a:ext>
            </a:extLst>
          </p:cNvPr>
          <p:cNvSpPr>
            <a:spLocks noGrp="1"/>
          </p:cNvSpPr>
          <p:nvPr>
            <p:ph type="sldNum" sz="quarter" idx="5"/>
          </p:nvPr>
        </p:nvSpPr>
        <p:spPr/>
        <p:txBody>
          <a:bodyPr/>
          <a:lstStyle/>
          <a:p>
            <a:fld id="{4CF50783-AAED-1941-8BCC-9F6140F0A6B1}" type="slidenum">
              <a:rPr lang="fr-FR" smtClean="0"/>
              <a:pPr/>
              <a:t>7</a:t>
            </a:fld>
            <a:endParaRPr lang="fr-FR" dirty="0"/>
          </a:p>
        </p:txBody>
      </p:sp>
    </p:spTree>
    <p:extLst>
      <p:ext uri="{BB962C8B-B14F-4D97-AF65-F5344CB8AC3E}">
        <p14:creationId xmlns:p14="http://schemas.microsoft.com/office/powerpoint/2010/main" val="101833452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6CE3A5-E8D8-0375-843A-AC9DAED099C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95E0B2-F5B9-7B11-EEAF-AF7768B08E1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03FEF17-D669-607E-F16C-BA545BDB4CDA}"/>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1DC367E2-7580-D2B9-EE18-04E250ED376A}"/>
              </a:ext>
            </a:extLst>
          </p:cNvPr>
          <p:cNvSpPr>
            <a:spLocks noGrp="1"/>
          </p:cNvSpPr>
          <p:nvPr>
            <p:ph type="sldNum" sz="quarter" idx="5"/>
          </p:nvPr>
        </p:nvSpPr>
        <p:spPr/>
        <p:txBody>
          <a:bodyPr/>
          <a:lstStyle/>
          <a:p>
            <a:fld id="{4CF50783-AAED-1941-8BCC-9F6140F0A6B1}" type="slidenum">
              <a:rPr lang="fr-FR" smtClean="0"/>
              <a:pPr/>
              <a:t>8</a:t>
            </a:fld>
            <a:endParaRPr lang="fr-FR" dirty="0"/>
          </a:p>
        </p:txBody>
      </p:sp>
    </p:spTree>
    <p:extLst>
      <p:ext uri="{BB962C8B-B14F-4D97-AF65-F5344CB8AC3E}">
        <p14:creationId xmlns:p14="http://schemas.microsoft.com/office/powerpoint/2010/main" val="123047609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graphs are networks of entities, their semantic types, properties, and relationships. They represent real-world data across different domains, with the goal of enabling reasoning and inferring novel knowledge. E.g., from the example on the right, we can infer that Andrej is a Person or a Building. KG data is fully human-interpretable like that.</a:t>
            </a:r>
          </a:p>
          <a:p>
            <a:endParaRPr lang="en-US" dirty="0"/>
          </a:p>
          <a:p>
            <a:r>
              <a:rPr lang="en-US" dirty="0"/>
              <a:t>The central graph ML tasks that enable the knowledge completion process are link prediction and query answering. </a:t>
            </a:r>
          </a:p>
          <a:p>
            <a:endParaRPr lang="en-US" dirty="0"/>
          </a:p>
          <a:p>
            <a:r>
              <a:rPr lang="en-US" dirty="0"/>
              <a:t>Unfortunately, the inference process faces scalability issues: as knowledge graphs grow, the computational resources required increase dramatically.</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9</a:t>
            </a:fld>
            <a:endParaRPr lang="fr-FR" dirty="0"/>
          </a:p>
        </p:txBody>
      </p:sp>
    </p:spTree>
    <p:extLst>
      <p:ext uri="{BB962C8B-B14F-4D97-AF65-F5344CB8AC3E}">
        <p14:creationId xmlns:p14="http://schemas.microsoft.com/office/powerpoint/2010/main" val="429099342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address scalability, much prior work splits graphs into subsets or parallelizes over hardware. Examples include </a:t>
            </a:r>
            <a:r>
              <a:rPr lang="en-US" dirty="0" err="1"/>
              <a:t>PyTorch-BigGraph</a:t>
            </a:r>
            <a:r>
              <a:rPr lang="en-US" dirty="0"/>
              <a:t> and DGL-KE, which rely on distributed training, and SMORE and CARL-G, which accelerate sampling. On the other hand, model-based approaches such as </a:t>
            </a:r>
            <a:r>
              <a:rPr lang="en-US" dirty="0" err="1"/>
              <a:t>NodePiece</a:t>
            </a:r>
            <a:r>
              <a:rPr lang="en-US" dirty="0"/>
              <a:t> and EARL reduce model size by compressing entity embeddings. </a:t>
            </a:r>
          </a:p>
          <a:p>
            <a:endParaRPr lang="en-US" dirty="0"/>
          </a:p>
          <a:p>
            <a:r>
              <a:rPr lang="en-US" dirty="0"/>
              <a:t>However, all previous work mainly benefits training and not out-of-distribution evaluation; they have substantial hardware requirements, and, above all, any promised acceleration is independent of the graph size. Thus, there is a gap for a model-based technique that accelerates evaluation under limited resources. </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10</a:t>
            </a:fld>
            <a:endParaRPr lang="fr-FR" dirty="0"/>
          </a:p>
        </p:txBody>
      </p:sp>
    </p:spTree>
    <p:extLst>
      <p:ext uri="{BB962C8B-B14F-4D97-AF65-F5344CB8AC3E}">
        <p14:creationId xmlns:p14="http://schemas.microsoft.com/office/powerpoint/2010/main" val="401791794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graphs can be formalized as attributed multiplex heterogeneous networks, in which knowledge base entities and relations form edge triplets. </a:t>
            </a:r>
          </a:p>
          <a:p>
            <a:endParaRPr lang="en-US" dirty="0"/>
          </a:p>
          <a:p>
            <a:r>
              <a:rPr lang="en-US" dirty="0"/>
              <a:t>Knowledge graph queries are anchor entities combined with computational graphs over the graph structure, where edges represent either relation projections or intersections, i.e., logical operations.</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11</a:t>
            </a:fld>
            <a:endParaRPr lang="fr-FR" dirty="0"/>
          </a:p>
        </p:txBody>
      </p:sp>
    </p:spTree>
    <p:extLst>
      <p:ext uri="{BB962C8B-B14F-4D97-AF65-F5344CB8AC3E}">
        <p14:creationId xmlns:p14="http://schemas.microsoft.com/office/powerpoint/2010/main" val="374838216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Reasoning tasks are cast as optimization problems in continuous spaces. Link prediction entails distinguishing positive examples from sampled negatives using a scoring model. This is thus a simpler task with manageable complexity.</a:t>
            </a:r>
          </a:p>
          <a:p>
            <a:endParaRPr lang="en-US" dirty="0"/>
          </a:p>
          <a:p>
            <a:r>
              <a:rPr lang="en-US" dirty="0"/>
              <a:t>The major computational bottleneck arises during query answering, where we are evaluating queries against all entities in the graph.</a:t>
            </a:r>
          </a:p>
          <a:p>
            <a:endParaRPr lang="en-US" dirty="0"/>
          </a:p>
          <a:p>
            <a:r>
              <a:rPr lang="en-US" dirty="0"/>
              <a:t>This task has thus scary quadratic complexity. This motivates incorporating some method to reduce redundant evaluations, and this is the main goal of research in scalability for knowledge graphs.</a:t>
            </a:r>
          </a:p>
          <a:p>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12</a:t>
            </a:fld>
            <a:endParaRPr lang="fr-FR" dirty="0"/>
          </a:p>
        </p:txBody>
      </p:sp>
    </p:spTree>
    <p:extLst>
      <p:ext uri="{BB962C8B-B14F-4D97-AF65-F5344CB8AC3E}">
        <p14:creationId xmlns:p14="http://schemas.microsoft.com/office/powerpoint/2010/main" val="92933216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graph embedding models map entities and relations into vectors, then apply contrastive learning to obtain a likelihood model for query-answer pairs.</a:t>
            </a:r>
          </a:p>
          <a:p>
            <a:endParaRPr lang="en-US" dirty="0"/>
          </a:p>
          <a:p>
            <a:r>
              <a:rPr lang="en-US" dirty="0"/>
              <a:t>Embedding whole queries involves learning non-linear functions approximating their projection and intersection logical operations, </a:t>
            </a:r>
          </a:p>
          <a:p>
            <a:endParaRPr lang="en-US" dirty="0"/>
          </a:p>
          <a:p>
            <a:r>
              <a:rPr lang="en-US" dirty="0"/>
              <a:t>as well as a sample scoring function.</a:t>
            </a:r>
          </a:p>
          <a:p>
            <a:endParaRPr lang="en-US" dirty="0"/>
          </a:p>
          <a:p>
            <a:r>
              <a:rPr lang="en-US" dirty="0"/>
              <a:t>The optimization problem is minimizing this formula, the contrastive loss, given the embeddings of a real query-answer pair and some negative examples for the query.</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13</a:t>
            </a:fld>
            <a:endParaRPr lang="fr-FR" dirty="0"/>
          </a:p>
        </p:txBody>
      </p:sp>
    </p:spTree>
    <p:extLst>
      <p:ext uri="{BB962C8B-B14F-4D97-AF65-F5344CB8AC3E}">
        <p14:creationId xmlns:p14="http://schemas.microsoft.com/office/powerpoint/2010/main" val="336510979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idea of COINs is to accelerate inference by using graph embeddings also informed by higher-level abstractions of the data, but performing prediction learning on both coarse and fine levels. In this manner, we address all the shortcomings of previous work.</a:t>
            </a:r>
          </a:p>
          <a:p>
            <a:endParaRPr lang="en-US" dirty="0"/>
          </a:p>
          <a:p>
            <a:r>
              <a:rPr lang="en-US" dirty="0"/>
              <a:t>Data preprocessing steps include coarsening both the knowledge graph and all query answering samples, using a mapping of entities into K disjoint groups.</a:t>
            </a:r>
          </a:p>
          <a:p>
            <a:endParaRPr lang="en-US" dirty="0"/>
          </a:p>
          <a:p>
            <a:r>
              <a:rPr lang="en-US" dirty="0"/>
              <a:t>Then the inference steps are very natural: first, localize the query answer to one group, then search only within that group as a second step. </a:t>
            </a:r>
          </a:p>
          <a:p>
            <a:endParaRPr lang="en-US" dirty="0"/>
          </a:p>
          <a:p>
            <a:r>
              <a:rPr lang="en-US" dirty="0"/>
              <a:t>Mathematically, this is just an application of Bayes' formula, where the main assumption is that we can estimate well enough both of the new probabilities.</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14</a:t>
            </a:fld>
            <a:endParaRPr lang="fr-FR" dirty="0"/>
          </a:p>
        </p:txBody>
      </p:sp>
    </p:spTree>
    <p:extLst>
      <p:ext uri="{BB962C8B-B14F-4D97-AF65-F5344CB8AC3E}">
        <p14:creationId xmlns:p14="http://schemas.microsoft.com/office/powerpoint/2010/main" val="53399625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guarantees for our claims, we first provide theoretical bounds on evaluation complexity. Baseline methods scale linearly with graph size, whereas COINs can achieve near–square-root acceleration with its two-step inference process, if group sizes are equal.</a:t>
            </a:r>
          </a:p>
          <a:p>
            <a:endParaRPr lang="en-US" dirty="0"/>
          </a:p>
          <a:p>
            <a:r>
              <a:rPr lang="en-US" dirty="0"/>
              <a:t>But this is not enough, and we also formalize the importance of query locality, showing that well-formed entity groups minimize cross-group interactions and preserve predictive quality in addition to providing acceleration. Community detection with the Leiden algorithm emerged as the empirical optimum for this purpose.</a:t>
            </a:r>
          </a:p>
          <a:p>
            <a:endParaRPr lang="en-US" dirty="0"/>
          </a:p>
          <a:p>
            <a:r>
              <a:rPr lang="en-US" dirty="0"/>
              <a:t>Finally, we provide a result detailing the feasibility condition, i.e., a statistical test to estimate when COINs is worth integrating, based on measuring the expected time to a correct query answer.</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15</a:t>
            </a:fld>
            <a:endParaRPr lang="fr-FR" dirty="0"/>
          </a:p>
        </p:txBody>
      </p:sp>
    </p:spTree>
    <p:extLst>
      <p:ext uri="{BB962C8B-B14F-4D97-AF65-F5344CB8AC3E}">
        <p14:creationId xmlns:p14="http://schemas.microsoft.com/office/powerpoint/2010/main" val="151687713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model architecture, we define a collection of embedders that extend or replace the baselines. These include:</a:t>
            </a:r>
          </a:p>
          <a:p>
            <a:r>
              <a:rPr lang="en-US" dirty="0"/>
              <a:t>– community-level,</a:t>
            </a:r>
          </a:p>
          <a:p>
            <a:r>
              <a:rPr lang="en-US" dirty="0"/>
              <a:t>– intra-community,</a:t>
            </a:r>
          </a:p>
          <a:p>
            <a:r>
              <a:rPr lang="en-US" dirty="0"/>
              <a:t>– inter-community,</a:t>
            </a:r>
          </a:p>
          <a:p>
            <a:r>
              <a:rPr lang="en-US" dirty="0"/>
              <a:t>– and node-level embedders.</a:t>
            </a:r>
          </a:p>
          <a:p>
            <a:endParaRPr lang="en-US" dirty="0"/>
          </a:p>
          <a:p>
            <a:r>
              <a:rPr lang="en-US" dirty="0"/>
              <a:t>These components are trained jointly through weighted refinement.</a:t>
            </a:r>
          </a:p>
          <a:p>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16</a:t>
            </a:fld>
            <a:endParaRPr lang="fr-FR" dirty="0"/>
          </a:p>
        </p:txBody>
      </p:sp>
    </p:spTree>
    <p:extLst>
      <p:ext uri="{BB962C8B-B14F-4D97-AF65-F5344CB8AC3E}">
        <p14:creationId xmlns:p14="http://schemas.microsoft.com/office/powerpoint/2010/main" val="427619912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let's see the details visually. On the left is the starting point, an original knowledge graph and the coarsened graph of its two Leiden communities. The process of a given sample begins in Step I, by mapping queries to community-level anchors and answers. In Step II, if all nodes lie within the same community, intra-community embeddings are applied. Otherwise, inter-community embeddings are used, supported by a padding mechanism, like in the example here. Finally, node-level and community-level embeddings are combined adaptively, linking coarse and fine structure.</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17</a:t>
            </a:fld>
            <a:endParaRPr lang="fr-FR" dirty="0"/>
          </a:p>
        </p:txBody>
      </p:sp>
    </p:spTree>
    <p:extLst>
      <p:ext uri="{BB962C8B-B14F-4D97-AF65-F5344CB8AC3E}">
        <p14:creationId xmlns:p14="http://schemas.microsoft.com/office/powerpoint/2010/main" val="197149494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algorithm on the left is the implementation of everything I said for the previous slide, and it has three main properties:</a:t>
            </a:r>
          </a:p>
          <a:p>
            <a:endParaRPr lang="en-US" dirty="0"/>
          </a:p>
          <a:p>
            <a:r>
              <a:rPr lang="en-US" dirty="0"/>
              <a:t>Queries spanning multiple communities are handled separately, enabling generalization.</a:t>
            </a:r>
          </a:p>
          <a:p>
            <a:endParaRPr lang="en-US" dirty="0"/>
          </a:p>
          <a:p>
            <a:r>
              <a:rPr lang="en-US" dirty="0"/>
              <a:t>The number of entity embeddings required per query is capped, providing substantial speed-ups.</a:t>
            </a:r>
          </a:p>
          <a:p>
            <a:endParaRPr lang="en-US" dirty="0"/>
          </a:p>
          <a:p>
            <a:r>
              <a:rPr lang="en-US" dirty="0"/>
              <a:t>Node and community embeddings are refined jointly, improving adaptivity and stability.</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18</a:t>
            </a:fld>
            <a:endParaRPr lang="fr-FR" dirty="0"/>
          </a:p>
        </p:txBody>
      </p:sp>
    </p:spTree>
    <p:extLst>
      <p:ext uri="{BB962C8B-B14F-4D97-AF65-F5344CB8AC3E}">
        <p14:creationId xmlns:p14="http://schemas.microsoft.com/office/powerpoint/2010/main" val="151504376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experiments, we evaluated COINs using 3 classical knowledge graph completion datasets.</a:t>
            </a:r>
          </a:p>
          <a:p>
            <a:endParaRPr lang="en-US" dirty="0"/>
          </a:p>
          <a:p>
            <a:r>
              <a:rPr lang="en-US" dirty="0"/>
              <a:t>The baseline models that were considered included 4 purely geometric techniques and one GNN that can only answer single-hop queries, as well as Query2Box, a very powerful architecture for general query answering.</a:t>
            </a:r>
          </a:p>
          <a:p>
            <a:endParaRPr lang="en-US" dirty="0"/>
          </a:p>
          <a:p>
            <a:r>
              <a:rPr lang="en-US" dirty="0"/>
              <a:t>Training employed within-community negative examples and query sampling via the scalable SMORE algorithm of previous work. Evaluation metrics were the classical </a:t>
            </a:r>
            <a:r>
              <a:rPr lang="en-US" dirty="0" err="1"/>
              <a:t>Hits@k</a:t>
            </a:r>
            <a:r>
              <a:rPr lang="en-US" dirty="0"/>
              <a:t>, Mean Rank, and Mean Reciprocal Rank.</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19</a:t>
            </a:fld>
            <a:endParaRPr lang="fr-FR" dirty="0"/>
          </a:p>
        </p:txBody>
      </p:sp>
    </p:spTree>
    <p:extLst>
      <p:ext uri="{BB962C8B-B14F-4D97-AF65-F5344CB8AC3E}">
        <p14:creationId xmlns:p14="http://schemas.microsoft.com/office/powerpoint/2010/main" val="361545970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experiment results, we first analyzed the detected community structures that achieved the best performance. Importantly, we obtained a minimum of 4 times speed-up for each dataset. The Freebase graph, due to its edge density, produced larger inter-community sets but still decent acceleration.</a:t>
            </a:r>
          </a:p>
          <a:p>
            <a:endParaRPr lang="en-US" dirty="0"/>
          </a:p>
          <a:p>
            <a:r>
              <a:rPr lang="en-US" dirty="0"/>
              <a:t>Tuning the resolution hyperparameter in the Leiden algorithm showed a strong correlation with scalability factors, making it a powerful control tool.</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20</a:t>
            </a:fld>
            <a:endParaRPr lang="fr-FR" dirty="0"/>
          </a:p>
        </p:txBody>
      </p:sp>
    </p:spTree>
    <p:extLst>
      <p:ext uri="{BB962C8B-B14F-4D97-AF65-F5344CB8AC3E}">
        <p14:creationId xmlns:p14="http://schemas.microsoft.com/office/powerpoint/2010/main" val="247908926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summarize the single-hop query answering metrics, COINs preserved up to 97% of baseline accuracy for the median evaluation sample.</a:t>
            </a:r>
          </a:p>
          <a:p>
            <a:endParaRPr lang="en-US" dirty="0"/>
          </a:p>
          <a:p>
            <a:r>
              <a:rPr lang="en-US" dirty="0"/>
              <a:t>For many multi-hop query structures, COINs even often exceeded the baseline, and it seems community-level representations helped the logical reasoning regardless of the complexity of the query. In general, accuracy improved when pairing COINs with more expressive models, such as </a:t>
            </a:r>
            <a:r>
              <a:rPr lang="en-US" dirty="0" err="1"/>
              <a:t>RotatE</a:t>
            </a:r>
            <a:r>
              <a:rPr lang="en-US" dirty="0"/>
              <a:t>, the GNN, or Query2Box.</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21</a:t>
            </a:fld>
            <a:endParaRPr lang="fr-FR" dirty="0"/>
          </a:p>
        </p:txBody>
      </p:sp>
    </p:spTree>
    <p:extLst>
      <p:ext uri="{BB962C8B-B14F-4D97-AF65-F5344CB8AC3E}">
        <p14:creationId xmlns:p14="http://schemas.microsoft.com/office/powerpoint/2010/main" val="59167393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compared with the previous works that also trade some performance for scalability, COINs consistently achieved a better trade-off. Unlike those methods, which reduce model size through tokenization, it seems that leveraging community structure leads to stronger preservation of performance under acceleration.</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22</a:t>
            </a:fld>
            <a:endParaRPr lang="fr-FR" dirty="0"/>
          </a:p>
        </p:txBody>
      </p:sp>
    </p:spTree>
    <p:extLst>
      <p:ext uri="{BB962C8B-B14F-4D97-AF65-F5344CB8AC3E}">
        <p14:creationId xmlns:p14="http://schemas.microsoft.com/office/powerpoint/2010/main" val="24619568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Finally, we assessed feasibility by comparing acceleration against relative error in MRR. Most experiments fall well inside the feasible region, where speed-up outweighs accuracy loss, unlike the metrics of previous work.</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23</a:t>
            </a:fld>
            <a:endParaRPr lang="fr-FR" dirty="0"/>
          </a:p>
        </p:txBody>
      </p:sp>
    </p:spTree>
    <p:extLst>
      <p:ext uri="{BB962C8B-B14F-4D97-AF65-F5344CB8AC3E}">
        <p14:creationId xmlns:p14="http://schemas.microsoft.com/office/powerpoint/2010/main" val="325628804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Thus, to summarize: COINs is a scalable, model-based method for knowledge graph reasoning.</a:t>
            </a:r>
          </a:p>
          <a:p>
            <a:endParaRPr lang="en-US" dirty="0"/>
          </a:p>
          <a:p>
            <a:r>
              <a:rPr lang="en-US" dirty="0"/>
              <a:t>It enables big data inference on small compute, generalizes across embedding models, </a:t>
            </a:r>
          </a:p>
          <a:p>
            <a:endParaRPr lang="en-US" dirty="0"/>
          </a:p>
          <a:p>
            <a:r>
              <a:rPr lang="en-US" dirty="0"/>
              <a:t>and is supported by both theoretical and empirical evidence.</a:t>
            </a:r>
          </a:p>
          <a:p>
            <a:endParaRPr lang="en-US" dirty="0"/>
          </a:p>
          <a:p>
            <a:r>
              <a:rPr lang="en-US" dirty="0"/>
              <a:t>The quality of the community detection emerges as the key factor for success, however.</a:t>
            </a:r>
          </a:p>
          <a:p>
            <a:endParaRPr lang="en-US" dirty="0"/>
          </a:p>
          <a:p>
            <a:r>
              <a:rPr lang="en-US" dirty="0"/>
              <a:t>The key takeaway, nevertheless, is that both a holistic as well as a reductionist viewpoint were necessary to obtain the best benefits.</a:t>
            </a:r>
          </a:p>
          <a:p>
            <a:endParaRPr lang="en-US" dirty="0"/>
          </a:p>
          <a:p>
            <a:r>
              <a:rPr lang="en-US" dirty="0"/>
              <a:t>Future work could include the integration with more powerful foundation models, such as graph transformers, and could also aim to evaluate COINs on larger and less standardized public knowledge bases, where scalability is critical.</a:t>
            </a:r>
          </a:p>
        </p:txBody>
      </p:sp>
      <p:sp>
        <p:nvSpPr>
          <p:cNvPr id="4" name="Slide Number Placeholder 3"/>
          <p:cNvSpPr>
            <a:spLocks noGrp="1"/>
          </p:cNvSpPr>
          <p:nvPr>
            <p:ph type="sldNum" sz="quarter" idx="5"/>
          </p:nvPr>
        </p:nvSpPr>
        <p:spPr/>
        <p:txBody>
          <a:bodyPr/>
          <a:lstStyle/>
          <a:p>
            <a:fld id="{4CF50783-AAED-1941-8BCC-9F6140F0A6B1}" type="slidenum">
              <a:rPr lang="fr-FR" smtClean="0"/>
              <a:pPr/>
              <a:t>24</a:t>
            </a:fld>
            <a:endParaRPr lang="fr-FR" dirty="0"/>
          </a:p>
        </p:txBody>
      </p:sp>
    </p:spTree>
    <p:extLst>
      <p:ext uri="{BB962C8B-B14F-4D97-AF65-F5344CB8AC3E}">
        <p14:creationId xmlns:p14="http://schemas.microsoft.com/office/powerpoint/2010/main" val="24926439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9DF230-077B-FC1A-20C0-E3389C70651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A34493-6B29-A657-9265-47AEB688A55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C7F9F13-DE3F-B16B-6832-FA71FED4E0A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362D671-05BE-1CB1-147C-76FEEA81CF2E}"/>
              </a:ext>
            </a:extLst>
          </p:cNvPr>
          <p:cNvSpPr>
            <a:spLocks noGrp="1"/>
          </p:cNvSpPr>
          <p:nvPr>
            <p:ph type="sldNum" sz="quarter" idx="5"/>
          </p:nvPr>
        </p:nvSpPr>
        <p:spPr/>
        <p:txBody>
          <a:bodyPr/>
          <a:lstStyle/>
          <a:p>
            <a:fld id="{4CF50783-AAED-1941-8BCC-9F6140F0A6B1}" type="slidenum">
              <a:rPr lang="fr-FR" smtClean="0"/>
              <a:pPr/>
              <a:t>25</a:t>
            </a:fld>
            <a:endParaRPr lang="fr-FR" dirty="0"/>
          </a:p>
        </p:txBody>
      </p:sp>
    </p:spTree>
    <p:extLst>
      <p:ext uri="{BB962C8B-B14F-4D97-AF65-F5344CB8AC3E}">
        <p14:creationId xmlns:p14="http://schemas.microsoft.com/office/powerpoint/2010/main" val="403420534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C8FA51-6AC1-0E77-3D5C-8EDCDD518A3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0D377E6-44FD-845E-E5A8-9E67E6387ED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69D41ED-19BD-D8FB-639E-52316FC73AB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44CF6CE-FA3F-DED4-1EA8-EDDE046E97ED}"/>
              </a:ext>
            </a:extLst>
          </p:cNvPr>
          <p:cNvSpPr>
            <a:spLocks noGrp="1"/>
          </p:cNvSpPr>
          <p:nvPr>
            <p:ph type="sldNum" sz="quarter" idx="5"/>
          </p:nvPr>
        </p:nvSpPr>
        <p:spPr/>
        <p:txBody>
          <a:bodyPr/>
          <a:lstStyle/>
          <a:p>
            <a:fld id="{4CF50783-AAED-1941-8BCC-9F6140F0A6B1}" type="slidenum">
              <a:rPr lang="fr-FR" smtClean="0"/>
              <a:pPr/>
              <a:t>26</a:t>
            </a:fld>
            <a:endParaRPr lang="fr-FR" dirty="0"/>
          </a:p>
        </p:txBody>
      </p:sp>
    </p:spTree>
    <p:extLst>
      <p:ext uri="{BB962C8B-B14F-4D97-AF65-F5344CB8AC3E}">
        <p14:creationId xmlns:p14="http://schemas.microsoft.com/office/powerpoint/2010/main" val="329062595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F3F261-B3EF-40E8-37BB-13AD94C4CE7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9F7108A-8045-3626-EBBF-EA176D54747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9F1237A-FF50-7F38-26C8-805DF60D86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0035E30-99A5-C91D-9058-B6BC0765E4DB}"/>
              </a:ext>
            </a:extLst>
          </p:cNvPr>
          <p:cNvSpPr>
            <a:spLocks noGrp="1"/>
          </p:cNvSpPr>
          <p:nvPr>
            <p:ph type="sldNum" sz="quarter" idx="5"/>
          </p:nvPr>
        </p:nvSpPr>
        <p:spPr/>
        <p:txBody>
          <a:bodyPr/>
          <a:lstStyle/>
          <a:p>
            <a:fld id="{4CF50783-AAED-1941-8BCC-9F6140F0A6B1}" type="slidenum">
              <a:rPr lang="fr-FR" smtClean="0"/>
              <a:pPr/>
              <a:t>27</a:t>
            </a:fld>
            <a:endParaRPr lang="fr-FR" dirty="0"/>
          </a:p>
        </p:txBody>
      </p:sp>
    </p:spTree>
    <p:extLst>
      <p:ext uri="{BB962C8B-B14F-4D97-AF65-F5344CB8AC3E}">
        <p14:creationId xmlns:p14="http://schemas.microsoft.com/office/powerpoint/2010/main" val="2492235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DAEA30-9B46-43D4-EE0D-54740049209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FC8DE3-2FD8-4800-D7C8-71ABD8F187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D12C3E8-FABA-83DB-5572-E01F8C246DA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F85BD41-7F1B-3A39-73D8-DD4841255727}"/>
              </a:ext>
            </a:extLst>
          </p:cNvPr>
          <p:cNvSpPr>
            <a:spLocks noGrp="1"/>
          </p:cNvSpPr>
          <p:nvPr>
            <p:ph type="sldNum" sz="quarter" idx="5"/>
          </p:nvPr>
        </p:nvSpPr>
        <p:spPr/>
        <p:txBody>
          <a:bodyPr/>
          <a:lstStyle/>
          <a:p>
            <a:fld id="{4CF50783-AAED-1941-8BCC-9F6140F0A6B1}" type="slidenum">
              <a:rPr lang="fr-FR" smtClean="0"/>
              <a:pPr/>
              <a:t>28</a:t>
            </a:fld>
            <a:endParaRPr lang="fr-FR" dirty="0"/>
          </a:p>
        </p:txBody>
      </p:sp>
    </p:spTree>
    <p:extLst>
      <p:ext uri="{BB962C8B-B14F-4D97-AF65-F5344CB8AC3E}">
        <p14:creationId xmlns:p14="http://schemas.microsoft.com/office/powerpoint/2010/main" val="274086803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EB1719-C36F-AB38-912D-C19257F35E4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14BD0B5-EF7A-D259-4656-1B8C48A0C58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D6937C5-AC27-5CC2-37FB-87917E2615A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7DF06E8-4B68-E286-D52B-4747FE9DAF9B}"/>
              </a:ext>
            </a:extLst>
          </p:cNvPr>
          <p:cNvSpPr>
            <a:spLocks noGrp="1"/>
          </p:cNvSpPr>
          <p:nvPr>
            <p:ph type="sldNum" sz="quarter" idx="5"/>
          </p:nvPr>
        </p:nvSpPr>
        <p:spPr/>
        <p:txBody>
          <a:bodyPr/>
          <a:lstStyle/>
          <a:p>
            <a:fld id="{4CF50783-AAED-1941-8BCC-9F6140F0A6B1}" type="slidenum">
              <a:rPr lang="fr-FR" smtClean="0"/>
              <a:pPr/>
              <a:t>29</a:t>
            </a:fld>
            <a:endParaRPr lang="fr-FR" dirty="0"/>
          </a:p>
        </p:txBody>
      </p:sp>
    </p:spTree>
    <p:extLst>
      <p:ext uri="{BB962C8B-B14F-4D97-AF65-F5344CB8AC3E}">
        <p14:creationId xmlns:p14="http://schemas.microsoft.com/office/powerpoint/2010/main" val="261329864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95C868-E573-8B38-0553-D2C0A3A7C4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1E0BDB1-B68D-8EC0-76AE-6F720C0D64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4E801D1-D6A5-3AC7-58E0-6A851A7B89E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2780CFA-BDF4-3F42-22D1-E4A96A2D8D3E}"/>
              </a:ext>
            </a:extLst>
          </p:cNvPr>
          <p:cNvSpPr>
            <a:spLocks noGrp="1"/>
          </p:cNvSpPr>
          <p:nvPr>
            <p:ph type="sldNum" sz="quarter" idx="5"/>
          </p:nvPr>
        </p:nvSpPr>
        <p:spPr/>
        <p:txBody>
          <a:bodyPr/>
          <a:lstStyle/>
          <a:p>
            <a:fld id="{4CF50783-AAED-1941-8BCC-9F6140F0A6B1}" type="slidenum">
              <a:rPr lang="fr-FR" smtClean="0"/>
              <a:pPr/>
              <a:t>30</a:t>
            </a:fld>
            <a:endParaRPr lang="fr-FR" dirty="0"/>
          </a:p>
        </p:txBody>
      </p:sp>
    </p:spTree>
    <p:extLst>
      <p:ext uri="{BB962C8B-B14F-4D97-AF65-F5344CB8AC3E}">
        <p14:creationId xmlns:p14="http://schemas.microsoft.com/office/powerpoint/2010/main" val="84289305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C6C415-9334-EF28-CE08-1B2AB5211F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7430DA6-1D4C-F34C-3F27-2E6AC43F9A6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88F456B-4465-60D7-5897-3FB1746B9FA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038AA1F-8293-B612-C26D-38602FC15600}"/>
              </a:ext>
            </a:extLst>
          </p:cNvPr>
          <p:cNvSpPr>
            <a:spLocks noGrp="1"/>
          </p:cNvSpPr>
          <p:nvPr>
            <p:ph type="sldNum" sz="quarter" idx="5"/>
          </p:nvPr>
        </p:nvSpPr>
        <p:spPr/>
        <p:txBody>
          <a:bodyPr/>
          <a:lstStyle/>
          <a:p>
            <a:fld id="{4CF50783-AAED-1941-8BCC-9F6140F0A6B1}" type="slidenum">
              <a:rPr lang="fr-FR" smtClean="0"/>
              <a:pPr/>
              <a:t>31</a:t>
            </a:fld>
            <a:endParaRPr lang="fr-FR" dirty="0"/>
          </a:p>
        </p:txBody>
      </p:sp>
    </p:spTree>
    <p:extLst>
      <p:ext uri="{BB962C8B-B14F-4D97-AF65-F5344CB8AC3E}">
        <p14:creationId xmlns:p14="http://schemas.microsoft.com/office/powerpoint/2010/main" val="2949415744"/>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31CCA4-5911-BD84-0A6C-3E4791D7EC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BE6E7CD-7DBE-6914-D2A5-26F80119130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2FA6603-71CC-3998-D7B1-47AE9919EBD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159B170-07CC-F7CC-71B2-F789A65CFC75}"/>
              </a:ext>
            </a:extLst>
          </p:cNvPr>
          <p:cNvSpPr>
            <a:spLocks noGrp="1"/>
          </p:cNvSpPr>
          <p:nvPr>
            <p:ph type="sldNum" sz="quarter" idx="5"/>
          </p:nvPr>
        </p:nvSpPr>
        <p:spPr/>
        <p:txBody>
          <a:bodyPr/>
          <a:lstStyle/>
          <a:p>
            <a:fld id="{4CF50783-AAED-1941-8BCC-9F6140F0A6B1}" type="slidenum">
              <a:rPr lang="fr-FR" smtClean="0"/>
              <a:pPr/>
              <a:t>32</a:t>
            </a:fld>
            <a:endParaRPr lang="fr-FR" dirty="0"/>
          </a:p>
        </p:txBody>
      </p:sp>
    </p:spTree>
    <p:extLst>
      <p:ext uri="{BB962C8B-B14F-4D97-AF65-F5344CB8AC3E}">
        <p14:creationId xmlns:p14="http://schemas.microsoft.com/office/powerpoint/2010/main" val="277230958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47A0-0319-D8D4-B74C-88DF58D342E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E0B396-6C2F-5872-77DD-2881185E32D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0E75D36-F3C7-0E14-D8FE-F90B709D228F}"/>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5D60A990-8754-98A2-3ECF-19A25577365A}"/>
              </a:ext>
            </a:extLst>
          </p:cNvPr>
          <p:cNvSpPr>
            <a:spLocks noGrp="1"/>
          </p:cNvSpPr>
          <p:nvPr>
            <p:ph type="sldNum" sz="quarter" idx="5"/>
          </p:nvPr>
        </p:nvSpPr>
        <p:spPr/>
        <p:txBody>
          <a:bodyPr/>
          <a:lstStyle/>
          <a:p>
            <a:fld id="{4CF50783-AAED-1941-8BCC-9F6140F0A6B1}" type="slidenum">
              <a:rPr lang="fr-FR" smtClean="0"/>
              <a:pPr/>
              <a:t>33</a:t>
            </a:fld>
            <a:endParaRPr lang="fr-FR" dirty="0"/>
          </a:p>
        </p:txBody>
      </p:sp>
    </p:spTree>
    <p:extLst>
      <p:ext uri="{BB962C8B-B14F-4D97-AF65-F5344CB8AC3E}">
        <p14:creationId xmlns:p14="http://schemas.microsoft.com/office/powerpoint/2010/main" val="118585330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65B681-EF09-A77F-2A96-5FD934DB81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26B6588-98E9-1A0D-0AB1-F8C1CBD0989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ACF6FE1-B038-A4B7-3C66-9E146B1F174C}"/>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3C0E38BC-833A-2985-6858-190E8937FDC5}"/>
              </a:ext>
            </a:extLst>
          </p:cNvPr>
          <p:cNvSpPr>
            <a:spLocks noGrp="1"/>
          </p:cNvSpPr>
          <p:nvPr>
            <p:ph type="sldNum" sz="quarter" idx="5"/>
          </p:nvPr>
        </p:nvSpPr>
        <p:spPr/>
        <p:txBody>
          <a:bodyPr/>
          <a:lstStyle/>
          <a:p>
            <a:fld id="{4CF50783-AAED-1941-8BCC-9F6140F0A6B1}" type="slidenum">
              <a:rPr lang="fr-FR" smtClean="0"/>
              <a:pPr/>
              <a:t>34</a:t>
            </a:fld>
            <a:endParaRPr lang="fr-FR" dirty="0"/>
          </a:p>
        </p:txBody>
      </p:sp>
    </p:spTree>
    <p:extLst>
      <p:ext uri="{BB962C8B-B14F-4D97-AF65-F5344CB8AC3E}">
        <p14:creationId xmlns:p14="http://schemas.microsoft.com/office/powerpoint/2010/main" val="1650411769"/>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48A0D7-C317-1DB0-5D22-5A1FA76F04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422ECC-6015-2423-7671-065F3B70C1C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16CC63F-BE76-F5C2-8744-427F5DA49F2D}"/>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E4637E62-A0F2-3EEB-F98D-9A0E298EF629}"/>
              </a:ext>
            </a:extLst>
          </p:cNvPr>
          <p:cNvSpPr>
            <a:spLocks noGrp="1"/>
          </p:cNvSpPr>
          <p:nvPr>
            <p:ph type="sldNum" sz="quarter" idx="5"/>
          </p:nvPr>
        </p:nvSpPr>
        <p:spPr/>
        <p:txBody>
          <a:bodyPr/>
          <a:lstStyle/>
          <a:p>
            <a:fld id="{4CF50783-AAED-1941-8BCC-9F6140F0A6B1}" type="slidenum">
              <a:rPr lang="fr-FR" smtClean="0"/>
              <a:pPr/>
              <a:t>35</a:t>
            </a:fld>
            <a:endParaRPr lang="fr-FR" dirty="0"/>
          </a:p>
        </p:txBody>
      </p:sp>
    </p:spTree>
    <p:extLst>
      <p:ext uri="{BB962C8B-B14F-4D97-AF65-F5344CB8AC3E}">
        <p14:creationId xmlns:p14="http://schemas.microsoft.com/office/powerpoint/2010/main" val="2025174468"/>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CA2F64-5D22-C545-B4DF-BC8242710B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9B790D1-F27A-EAEF-4895-B8AFA9C9DEA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07F1FCD-72EC-15E5-F195-13D0464BBEA9}"/>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C77182E1-0CF0-C07E-AFE7-703BB2EA1B4A}"/>
              </a:ext>
            </a:extLst>
          </p:cNvPr>
          <p:cNvSpPr>
            <a:spLocks noGrp="1"/>
          </p:cNvSpPr>
          <p:nvPr>
            <p:ph type="sldNum" sz="quarter" idx="5"/>
          </p:nvPr>
        </p:nvSpPr>
        <p:spPr/>
        <p:txBody>
          <a:bodyPr/>
          <a:lstStyle/>
          <a:p>
            <a:fld id="{4CF50783-AAED-1941-8BCC-9F6140F0A6B1}" type="slidenum">
              <a:rPr lang="fr-FR" smtClean="0"/>
              <a:pPr/>
              <a:t>36</a:t>
            </a:fld>
            <a:endParaRPr lang="fr-FR" dirty="0"/>
          </a:p>
        </p:txBody>
      </p:sp>
    </p:spTree>
    <p:extLst>
      <p:ext uri="{BB962C8B-B14F-4D97-AF65-F5344CB8AC3E}">
        <p14:creationId xmlns:p14="http://schemas.microsoft.com/office/powerpoint/2010/main" val="1398768465"/>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FC9709-B4F8-3267-1D95-9C1CF1A3BE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905B608-8EFB-8AA0-B789-69599CA333D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58FCEAA-DBEF-056B-8EEC-35E153758B3E}"/>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E63BF7C1-4D88-BA1E-85CB-B9510E48BF9F}"/>
              </a:ext>
            </a:extLst>
          </p:cNvPr>
          <p:cNvSpPr>
            <a:spLocks noGrp="1"/>
          </p:cNvSpPr>
          <p:nvPr>
            <p:ph type="sldNum" sz="quarter" idx="5"/>
          </p:nvPr>
        </p:nvSpPr>
        <p:spPr/>
        <p:txBody>
          <a:bodyPr/>
          <a:lstStyle/>
          <a:p>
            <a:fld id="{4CF50783-AAED-1941-8BCC-9F6140F0A6B1}" type="slidenum">
              <a:rPr lang="fr-FR" smtClean="0"/>
              <a:pPr/>
              <a:t>37</a:t>
            </a:fld>
            <a:endParaRPr lang="fr-FR" dirty="0"/>
          </a:p>
        </p:txBody>
      </p:sp>
    </p:spTree>
    <p:extLst>
      <p:ext uri="{BB962C8B-B14F-4D97-AF65-F5344CB8AC3E}">
        <p14:creationId xmlns:p14="http://schemas.microsoft.com/office/powerpoint/2010/main" val="402401124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9C070F-17A0-214B-0024-0D338E3378E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264AEBF-6A5A-1C02-F1CC-B8D4C2196E6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99E5D74-2985-CBD2-2D34-F2ADF3592A03}"/>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6347DFD5-6BBD-CF3E-889F-D93E1DDA5994}"/>
              </a:ext>
            </a:extLst>
          </p:cNvPr>
          <p:cNvSpPr>
            <a:spLocks noGrp="1"/>
          </p:cNvSpPr>
          <p:nvPr>
            <p:ph type="sldNum" sz="quarter" idx="5"/>
          </p:nvPr>
        </p:nvSpPr>
        <p:spPr/>
        <p:txBody>
          <a:bodyPr/>
          <a:lstStyle/>
          <a:p>
            <a:fld id="{4CF50783-AAED-1941-8BCC-9F6140F0A6B1}" type="slidenum">
              <a:rPr lang="fr-FR" smtClean="0"/>
              <a:pPr/>
              <a:t>38</a:t>
            </a:fld>
            <a:endParaRPr lang="fr-FR" dirty="0"/>
          </a:p>
        </p:txBody>
      </p:sp>
    </p:spTree>
    <p:extLst>
      <p:ext uri="{BB962C8B-B14F-4D97-AF65-F5344CB8AC3E}">
        <p14:creationId xmlns:p14="http://schemas.microsoft.com/office/powerpoint/2010/main" val="27424365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90E71-962D-2E9A-C9C4-80356C7961E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B7812D3-BA4D-76D4-ED3F-A9B8886757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0F06BE8-377D-4E10-36EB-FBEE802420DF}"/>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DF553DBE-9A58-ACA0-E552-48183BA6D8DA}"/>
              </a:ext>
            </a:extLst>
          </p:cNvPr>
          <p:cNvSpPr>
            <a:spLocks noGrp="1"/>
          </p:cNvSpPr>
          <p:nvPr>
            <p:ph type="sldNum" sz="quarter" idx="5"/>
          </p:nvPr>
        </p:nvSpPr>
        <p:spPr/>
        <p:txBody>
          <a:bodyPr/>
          <a:lstStyle/>
          <a:p>
            <a:fld id="{4CF50783-AAED-1941-8BCC-9F6140F0A6B1}" type="slidenum">
              <a:rPr lang="fr-FR" smtClean="0"/>
              <a:pPr/>
              <a:t>39</a:t>
            </a:fld>
            <a:endParaRPr lang="fr-FR" dirty="0"/>
          </a:p>
        </p:txBody>
      </p:sp>
    </p:spTree>
    <p:extLst>
      <p:ext uri="{BB962C8B-B14F-4D97-AF65-F5344CB8AC3E}">
        <p14:creationId xmlns:p14="http://schemas.microsoft.com/office/powerpoint/2010/main" val="725175175"/>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23DFE9-4236-C683-BC4B-483AA68DAA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BC9C55F-418A-9EE0-F975-B1166594E86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D917589-7DB5-4064-7C4E-A5358F3F9525}"/>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F6A37198-8A0E-FC64-3759-72D5F935A5F6}"/>
              </a:ext>
            </a:extLst>
          </p:cNvPr>
          <p:cNvSpPr>
            <a:spLocks noGrp="1"/>
          </p:cNvSpPr>
          <p:nvPr>
            <p:ph type="sldNum" sz="quarter" idx="5"/>
          </p:nvPr>
        </p:nvSpPr>
        <p:spPr/>
        <p:txBody>
          <a:bodyPr/>
          <a:lstStyle/>
          <a:p>
            <a:fld id="{4CF50783-AAED-1941-8BCC-9F6140F0A6B1}" type="slidenum">
              <a:rPr lang="fr-FR" smtClean="0"/>
              <a:pPr/>
              <a:t>40</a:t>
            </a:fld>
            <a:endParaRPr lang="fr-FR" dirty="0"/>
          </a:p>
        </p:txBody>
      </p:sp>
    </p:spTree>
    <p:extLst>
      <p:ext uri="{BB962C8B-B14F-4D97-AF65-F5344CB8AC3E}">
        <p14:creationId xmlns:p14="http://schemas.microsoft.com/office/powerpoint/2010/main" val="3606936529"/>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C0C1D0-4850-CEFA-1A35-97AF138F9E4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0BE762F-5655-346B-9074-BDC25370654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ABAA553-34D5-A923-49D5-4835568A6C92}"/>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9AFCEB89-6947-4338-DACF-332DEF9271E5}"/>
              </a:ext>
            </a:extLst>
          </p:cNvPr>
          <p:cNvSpPr>
            <a:spLocks noGrp="1"/>
          </p:cNvSpPr>
          <p:nvPr>
            <p:ph type="sldNum" sz="quarter" idx="5"/>
          </p:nvPr>
        </p:nvSpPr>
        <p:spPr/>
        <p:txBody>
          <a:bodyPr/>
          <a:lstStyle/>
          <a:p>
            <a:fld id="{4CF50783-AAED-1941-8BCC-9F6140F0A6B1}" type="slidenum">
              <a:rPr lang="fr-FR" smtClean="0"/>
              <a:pPr/>
              <a:t>41</a:t>
            </a:fld>
            <a:endParaRPr lang="fr-FR" dirty="0"/>
          </a:p>
        </p:txBody>
      </p:sp>
    </p:spTree>
    <p:extLst>
      <p:ext uri="{BB962C8B-B14F-4D97-AF65-F5344CB8AC3E}">
        <p14:creationId xmlns:p14="http://schemas.microsoft.com/office/powerpoint/2010/main" val="305787742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0360C2-8556-6135-8C88-56001846264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5CAD0BE-A710-09E4-9461-637EA35669A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AE322DA-07D3-EECA-9F54-C6F066BC879B}"/>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360828C3-505B-D6F0-DB65-7B8E52B42179}"/>
              </a:ext>
            </a:extLst>
          </p:cNvPr>
          <p:cNvSpPr>
            <a:spLocks noGrp="1"/>
          </p:cNvSpPr>
          <p:nvPr>
            <p:ph type="sldNum" sz="quarter" idx="5"/>
          </p:nvPr>
        </p:nvSpPr>
        <p:spPr/>
        <p:txBody>
          <a:bodyPr/>
          <a:lstStyle/>
          <a:p>
            <a:fld id="{4CF50783-AAED-1941-8BCC-9F6140F0A6B1}" type="slidenum">
              <a:rPr lang="fr-FR" smtClean="0"/>
              <a:pPr/>
              <a:t>42</a:t>
            </a:fld>
            <a:endParaRPr lang="fr-FR" dirty="0"/>
          </a:p>
        </p:txBody>
      </p:sp>
    </p:spTree>
    <p:extLst>
      <p:ext uri="{BB962C8B-B14F-4D97-AF65-F5344CB8AC3E}">
        <p14:creationId xmlns:p14="http://schemas.microsoft.com/office/powerpoint/2010/main" val="2911134037"/>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2C89EB-1470-D600-0F32-8E4B4C790D2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89FB49-9691-98A2-04F3-17DAAC729DE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ACB150E-AF44-41A4-6908-FD09FF8252DE}"/>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70E732E2-379C-1B85-C809-AFE6ECC80C34}"/>
              </a:ext>
            </a:extLst>
          </p:cNvPr>
          <p:cNvSpPr>
            <a:spLocks noGrp="1"/>
          </p:cNvSpPr>
          <p:nvPr>
            <p:ph type="sldNum" sz="quarter" idx="5"/>
          </p:nvPr>
        </p:nvSpPr>
        <p:spPr/>
        <p:txBody>
          <a:bodyPr/>
          <a:lstStyle/>
          <a:p>
            <a:fld id="{4CF50783-AAED-1941-8BCC-9F6140F0A6B1}" type="slidenum">
              <a:rPr lang="fr-FR" smtClean="0"/>
              <a:pPr/>
              <a:t>43</a:t>
            </a:fld>
            <a:endParaRPr lang="fr-FR" dirty="0"/>
          </a:p>
        </p:txBody>
      </p:sp>
    </p:spTree>
    <p:extLst>
      <p:ext uri="{BB962C8B-B14F-4D97-AF65-F5344CB8AC3E}">
        <p14:creationId xmlns:p14="http://schemas.microsoft.com/office/powerpoint/2010/main" val="23701240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0CED82-392F-1F4D-3A3D-B12A0997BE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A60963C-3965-B0D6-11BD-F467F89FF87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9AA3125-A0CB-64C4-0DEE-6D4054788154}"/>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A8D5CC46-2EA0-5F71-C187-ECA776E0B4BF}"/>
              </a:ext>
            </a:extLst>
          </p:cNvPr>
          <p:cNvSpPr>
            <a:spLocks noGrp="1"/>
          </p:cNvSpPr>
          <p:nvPr>
            <p:ph type="sldNum" sz="quarter" idx="5"/>
          </p:nvPr>
        </p:nvSpPr>
        <p:spPr/>
        <p:txBody>
          <a:bodyPr/>
          <a:lstStyle/>
          <a:p>
            <a:fld id="{4CF50783-AAED-1941-8BCC-9F6140F0A6B1}" type="slidenum">
              <a:rPr lang="fr-FR" smtClean="0"/>
              <a:pPr/>
              <a:t>44</a:t>
            </a:fld>
            <a:endParaRPr lang="fr-FR" dirty="0"/>
          </a:p>
        </p:txBody>
      </p:sp>
    </p:spTree>
    <p:extLst>
      <p:ext uri="{BB962C8B-B14F-4D97-AF65-F5344CB8AC3E}">
        <p14:creationId xmlns:p14="http://schemas.microsoft.com/office/powerpoint/2010/main" val="796975793"/>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5650E5-FB67-0876-A190-FB4B2FF7EEB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54D2279-F50C-3DA2-31AC-97DC35ED55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98867D1-660B-14D8-2C4E-0A14D93ADD46}"/>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9F40946E-2AEB-854E-772E-905DF07B8092}"/>
              </a:ext>
            </a:extLst>
          </p:cNvPr>
          <p:cNvSpPr>
            <a:spLocks noGrp="1"/>
          </p:cNvSpPr>
          <p:nvPr>
            <p:ph type="sldNum" sz="quarter" idx="5"/>
          </p:nvPr>
        </p:nvSpPr>
        <p:spPr/>
        <p:txBody>
          <a:bodyPr/>
          <a:lstStyle/>
          <a:p>
            <a:fld id="{4CF50783-AAED-1941-8BCC-9F6140F0A6B1}" type="slidenum">
              <a:rPr lang="fr-FR" smtClean="0"/>
              <a:pPr/>
              <a:t>45</a:t>
            </a:fld>
            <a:endParaRPr lang="fr-FR" dirty="0"/>
          </a:p>
        </p:txBody>
      </p:sp>
    </p:spTree>
    <p:extLst>
      <p:ext uri="{BB962C8B-B14F-4D97-AF65-F5344CB8AC3E}">
        <p14:creationId xmlns:p14="http://schemas.microsoft.com/office/powerpoint/2010/main" val="418650649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D4A05A-99D1-D700-1A8E-4FAE2192CAD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3B6839A-D6F4-FF67-32FB-7FCFBDC1B5C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5383077-18D8-EF19-41A7-558B5FB79E96}"/>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3F065FF0-EC42-C449-0EDF-AB8072ECF6C2}"/>
              </a:ext>
            </a:extLst>
          </p:cNvPr>
          <p:cNvSpPr>
            <a:spLocks noGrp="1"/>
          </p:cNvSpPr>
          <p:nvPr>
            <p:ph type="sldNum" sz="quarter" idx="5"/>
          </p:nvPr>
        </p:nvSpPr>
        <p:spPr/>
        <p:txBody>
          <a:bodyPr/>
          <a:lstStyle/>
          <a:p>
            <a:fld id="{4CF50783-AAED-1941-8BCC-9F6140F0A6B1}" type="slidenum">
              <a:rPr lang="fr-FR" smtClean="0"/>
              <a:pPr/>
              <a:t>46</a:t>
            </a:fld>
            <a:endParaRPr lang="fr-FR" dirty="0"/>
          </a:p>
        </p:txBody>
      </p:sp>
    </p:spTree>
    <p:extLst>
      <p:ext uri="{BB962C8B-B14F-4D97-AF65-F5344CB8AC3E}">
        <p14:creationId xmlns:p14="http://schemas.microsoft.com/office/powerpoint/2010/main" val="2631262212"/>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834D46-95AF-C086-B205-2B96064B575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CD406AC-3155-CB96-BF4F-5710149636D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BAD5161-EA41-11C5-918A-6849264A0368}"/>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C816BEAE-0560-6E98-23EB-147A9255F702}"/>
              </a:ext>
            </a:extLst>
          </p:cNvPr>
          <p:cNvSpPr>
            <a:spLocks noGrp="1"/>
          </p:cNvSpPr>
          <p:nvPr>
            <p:ph type="sldNum" sz="quarter" idx="5"/>
          </p:nvPr>
        </p:nvSpPr>
        <p:spPr/>
        <p:txBody>
          <a:bodyPr/>
          <a:lstStyle/>
          <a:p>
            <a:fld id="{4CF50783-AAED-1941-8BCC-9F6140F0A6B1}" type="slidenum">
              <a:rPr lang="fr-FR" smtClean="0"/>
              <a:pPr/>
              <a:t>47</a:t>
            </a:fld>
            <a:endParaRPr lang="fr-FR" dirty="0"/>
          </a:p>
        </p:txBody>
      </p:sp>
    </p:spTree>
    <p:extLst>
      <p:ext uri="{BB962C8B-B14F-4D97-AF65-F5344CB8AC3E}">
        <p14:creationId xmlns:p14="http://schemas.microsoft.com/office/powerpoint/2010/main" val="3316930337"/>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FF0660-E99E-F021-C1B8-F58D704F3F0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2009578-E165-134C-6E43-98DF8E3E9A4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28E06EC-7E64-418E-44C6-13C5704C50A5}"/>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E5300547-F52C-95B7-7C3C-E0666D9BEEE3}"/>
              </a:ext>
            </a:extLst>
          </p:cNvPr>
          <p:cNvSpPr>
            <a:spLocks noGrp="1"/>
          </p:cNvSpPr>
          <p:nvPr>
            <p:ph type="sldNum" sz="quarter" idx="5"/>
          </p:nvPr>
        </p:nvSpPr>
        <p:spPr/>
        <p:txBody>
          <a:bodyPr/>
          <a:lstStyle/>
          <a:p>
            <a:fld id="{4CF50783-AAED-1941-8BCC-9F6140F0A6B1}" type="slidenum">
              <a:rPr lang="fr-FR" smtClean="0"/>
              <a:pPr/>
              <a:t>48</a:t>
            </a:fld>
            <a:endParaRPr lang="fr-FR" dirty="0"/>
          </a:p>
        </p:txBody>
      </p:sp>
    </p:spTree>
    <p:extLst>
      <p:ext uri="{BB962C8B-B14F-4D97-AF65-F5344CB8AC3E}">
        <p14:creationId xmlns:p14="http://schemas.microsoft.com/office/powerpoint/2010/main" val="4220631217"/>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0C0881-517F-4D72-4C54-8448C9880A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D35C728-CD57-41DD-E426-E8F3B9F82ED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04B0FA9-5961-C80D-D997-5FF0061D292A}"/>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C56F001A-5CF6-CEA1-474C-1D74EB07DF33}"/>
              </a:ext>
            </a:extLst>
          </p:cNvPr>
          <p:cNvSpPr>
            <a:spLocks noGrp="1"/>
          </p:cNvSpPr>
          <p:nvPr>
            <p:ph type="sldNum" sz="quarter" idx="5"/>
          </p:nvPr>
        </p:nvSpPr>
        <p:spPr/>
        <p:txBody>
          <a:bodyPr/>
          <a:lstStyle/>
          <a:p>
            <a:fld id="{4CF50783-AAED-1941-8BCC-9F6140F0A6B1}" type="slidenum">
              <a:rPr lang="fr-FR" smtClean="0"/>
              <a:pPr/>
              <a:t>49</a:t>
            </a:fld>
            <a:endParaRPr lang="fr-FR" dirty="0"/>
          </a:p>
        </p:txBody>
      </p:sp>
    </p:spTree>
    <p:extLst>
      <p:ext uri="{BB962C8B-B14F-4D97-AF65-F5344CB8AC3E}">
        <p14:creationId xmlns:p14="http://schemas.microsoft.com/office/powerpoint/2010/main" val="668293334"/>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84B8F9-7A6A-AF3B-7B78-69A15D0EC9C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3662C8B-FB19-1C65-4D80-F84B7FAB46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890A16B-E5C1-1E43-F3C3-F8648DF43F79}"/>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BF90C862-4060-961E-B28D-DE7563665348}"/>
              </a:ext>
            </a:extLst>
          </p:cNvPr>
          <p:cNvSpPr>
            <a:spLocks noGrp="1"/>
          </p:cNvSpPr>
          <p:nvPr>
            <p:ph type="sldNum" sz="quarter" idx="5"/>
          </p:nvPr>
        </p:nvSpPr>
        <p:spPr/>
        <p:txBody>
          <a:bodyPr/>
          <a:lstStyle/>
          <a:p>
            <a:fld id="{4CF50783-AAED-1941-8BCC-9F6140F0A6B1}" type="slidenum">
              <a:rPr lang="fr-FR" smtClean="0"/>
              <a:pPr/>
              <a:t>50</a:t>
            </a:fld>
            <a:endParaRPr lang="fr-FR" dirty="0"/>
          </a:p>
        </p:txBody>
      </p:sp>
    </p:spTree>
    <p:extLst>
      <p:ext uri="{BB962C8B-B14F-4D97-AF65-F5344CB8AC3E}">
        <p14:creationId xmlns:p14="http://schemas.microsoft.com/office/powerpoint/2010/main" val="1492477749"/>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3E0257-A01E-A156-31CD-761B5EECAC2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1EA479-9739-E8B5-0449-1E01F0CC3A3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79EEA53-A154-EEFA-B996-738FA9BD3D2B}"/>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7952679B-9758-4579-A0B5-19EEFC3EBEFE}"/>
              </a:ext>
            </a:extLst>
          </p:cNvPr>
          <p:cNvSpPr>
            <a:spLocks noGrp="1"/>
          </p:cNvSpPr>
          <p:nvPr>
            <p:ph type="sldNum" sz="quarter" idx="5"/>
          </p:nvPr>
        </p:nvSpPr>
        <p:spPr/>
        <p:txBody>
          <a:bodyPr/>
          <a:lstStyle/>
          <a:p>
            <a:fld id="{4CF50783-AAED-1941-8BCC-9F6140F0A6B1}" type="slidenum">
              <a:rPr lang="fr-FR" smtClean="0"/>
              <a:pPr/>
              <a:t>51</a:t>
            </a:fld>
            <a:endParaRPr lang="fr-FR" dirty="0"/>
          </a:p>
        </p:txBody>
      </p:sp>
    </p:spTree>
    <p:extLst>
      <p:ext uri="{BB962C8B-B14F-4D97-AF65-F5344CB8AC3E}">
        <p14:creationId xmlns:p14="http://schemas.microsoft.com/office/powerpoint/2010/main" val="2160972155"/>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1F80E9-B421-87EF-EDD5-39785E0DB7A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40876D3-7781-4E5A-0FEC-BCA76EF911F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774624E-DE3D-193E-4344-4B32A57099CB}"/>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901A263E-B12F-6179-7F79-A6D4269388FF}"/>
              </a:ext>
            </a:extLst>
          </p:cNvPr>
          <p:cNvSpPr>
            <a:spLocks noGrp="1"/>
          </p:cNvSpPr>
          <p:nvPr>
            <p:ph type="sldNum" sz="quarter" idx="5"/>
          </p:nvPr>
        </p:nvSpPr>
        <p:spPr/>
        <p:txBody>
          <a:bodyPr/>
          <a:lstStyle/>
          <a:p>
            <a:fld id="{4CF50783-AAED-1941-8BCC-9F6140F0A6B1}" type="slidenum">
              <a:rPr lang="fr-FR" smtClean="0"/>
              <a:pPr/>
              <a:t>52</a:t>
            </a:fld>
            <a:endParaRPr lang="fr-FR" dirty="0"/>
          </a:p>
        </p:txBody>
      </p:sp>
    </p:spTree>
    <p:extLst>
      <p:ext uri="{BB962C8B-B14F-4D97-AF65-F5344CB8AC3E}">
        <p14:creationId xmlns:p14="http://schemas.microsoft.com/office/powerpoint/2010/main" val="3944624497"/>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A005D6-F813-24F7-71B1-08AD3F34188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9FE6D25-E4F1-5DFB-C19C-50A9373BCBF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497C986-D643-B266-285B-4F8D4B34FF3A}"/>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DB7EC6C5-3DAC-3925-1577-2758D3506C51}"/>
              </a:ext>
            </a:extLst>
          </p:cNvPr>
          <p:cNvSpPr>
            <a:spLocks noGrp="1"/>
          </p:cNvSpPr>
          <p:nvPr>
            <p:ph type="sldNum" sz="quarter" idx="5"/>
          </p:nvPr>
        </p:nvSpPr>
        <p:spPr/>
        <p:txBody>
          <a:bodyPr/>
          <a:lstStyle/>
          <a:p>
            <a:fld id="{4CF50783-AAED-1941-8BCC-9F6140F0A6B1}" type="slidenum">
              <a:rPr lang="fr-FR" smtClean="0"/>
              <a:pPr/>
              <a:t>53</a:t>
            </a:fld>
            <a:endParaRPr lang="fr-FR" dirty="0"/>
          </a:p>
        </p:txBody>
      </p:sp>
    </p:spTree>
    <p:extLst>
      <p:ext uri="{BB962C8B-B14F-4D97-AF65-F5344CB8AC3E}">
        <p14:creationId xmlns:p14="http://schemas.microsoft.com/office/powerpoint/2010/main" val="72049205"/>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60E505-9CE7-8980-7C36-6FD03284DD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243485-F0DA-5739-35AA-93273D2AD9F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86E93A-1646-AB84-7FD2-6CF79BB41725}"/>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81F05B94-ABCE-47F9-60F5-ECF78517D1BC}"/>
              </a:ext>
            </a:extLst>
          </p:cNvPr>
          <p:cNvSpPr>
            <a:spLocks noGrp="1"/>
          </p:cNvSpPr>
          <p:nvPr>
            <p:ph type="sldNum" sz="quarter" idx="5"/>
          </p:nvPr>
        </p:nvSpPr>
        <p:spPr/>
        <p:txBody>
          <a:bodyPr/>
          <a:lstStyle/>
          <a:p>
            <a:fld id="{4CF50783-AAED-1941-8BCC-9F6140F0A6B1}" type="slidenum">
              <a:rPr lang="fr-FR" smtClean="0"/>
              <a:pPr/>
              <a:t>54</a:t>
            </a:fld>
            <a:endParaRPr lang="fr-FR" dirty="0"/>
          </a:p>
        </p:txBody>
      </p:sp>
    </p:spTree>
    <p:extLst>
      <p:ext uri="{BB962C8B-B14F-4D97-AF65-F5344CB8AC3E}">
        <p14:creationId xmlns:p14="http://schemas.microsoft.com/office/powerpoint/2010/main" val="3398419805"/>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0F2FC7-D587-93C8-1776-A0A489071A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AE25FB8-F8C0-F40C-F120-39F64258749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E83EB66-B8E4-5C54-C5D3-64D447392027}"/>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1672FE6A-DE99-6A1A-0B3F-CC36519FA3E7}"/>
              </a:ext>
            </a:extLst>
          </p:cNvPr>
          <p:cNvSpPr>
            <a:spLocks noGrp="1"/>
          </p:cNvSpPr>
          <p:nvPr>
            <p:ph type="sldNum" sz="quarter" idx="5"/>
          </p:nvPr>
        </p:nvSpPr>
        <p:spPr/>
        <p:txBody>
          <a:bodyPr/>
          <a:lstStyle/>
          <a:p>
            <a:fld id="{4CF50783-AAED-1941-8BCC-9F6140F0A6B1}" type="slidenum">
              <a:rPr lang="fr-FR" smtClean="0"/>
              <a:pPr/>
              <a:t>55</a:t>
            </a:fld>
            <a:endParaRPr lang="fr-FR" dirty="0"/>
          </a:p>
        </p:txBody>
      </p:sp>
    </p:spTree>
    <p:extLst>
      <p:ext uri="{BB962C8B-B14F-4D97-AF65-F5344CB8AC3E}">
        <p14:creationId xmlns:p14="http://schemas.microsoft.com/office/powerpoint/2010/main" val="1863083767"/>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8A12D9-823F-0968-4361-1C3433474EA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D5D2840-12A7-7800-F73F-14A57FDDB7E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97930B1-BAFA-0AEF-9360-F006825EBF39}"/>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CF2CB776-7114-0E11-B075-5418D4686312}"/>
              </a:ext>
            </a:extLst>
          </p:cNvPr>
          <p:cNvSpPr>
            <a:spLocks noGrp="1"/>
          </p:cNvSpPr>
          <p:nvPr>
            <p:ph type="sldNum" sz="quarter" idx="5"/>
          </p:nvPr>
        </p:nvSpPr>
        <p:spPr/>
        <p:txBody>
          <a:bodyPr/>
          <a:lstStyle/>
          <a:p>
            <a:fld id="{4CF50783-AAED-1941-8BCC-9F6140F0A6B1}" type="slidenum">
              <a:rPr lang="fr-FR" smtClean="0"/>
              <a:pPr/>
              <a:t>56</a:t>
            </a:fld>
            <a:endParaRPr lang="fr-FR" dirty="0"/>
          </a:p>
        </p:txBody>
      </p:sp>
    </p:spTree>
    <p:extLst>
      <p:ext uri="{BB962C8B-B14F-4D97-AF65-F5344CB8AC3E}">
        <p14:creationId xmlns:p14="http://schemas.microsoft.com/office/powerpoint/2010/main" val="3315213470"/>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50FBB8-22B0-E7B9-629E-1EAFC7732ED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B381B3B-3DD5-F140-36EB-315A6326CF9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6F3FC8D-E300-0BCB-6150-4EF8F6575A84}"/>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FA0AB675-5C75-853D-236B-0530DE09DE4D}"/>
              </a:ext>
            </a:extLst>
          </p:cNvPr>
          <p:cNvSpPr>
            <a:spLocks noGrp="1"/>
          </p:cNvSpPr>
          <p:nvPr>
            <p:ph type="sldNum" sz="quarter" idx="5"/>
          </p:nvPr>
        </p:nvSpPr>
        <p:spPr/>
        <p:txBody>
          <a:bodyPr/>
          <a:lstStyle/>
          <a:p>
            <a:fld id="{4CF50783-AAED-1941-8BCC-9F6140F0A6B1}" type="slidenum">
              <a:rPr lang="fr-FR" smtClean="0"/>
              <a:pPr/>
              <a:t>57</a:t>
            </a:fld>
            <a:endParaRPr lang="fr-FR" dirty="0"/>
          </a:p>
        </p:txBody>
      </p:sp>
    </p:spTree>
    <p:extLst>
      <p:ext uri="{BB962C8B-B14F-4D97-AF65-F5344CB8AC3E}">
        <p14:creationId xmlns:p14="http://schemas.microsoft.com/office/powerpoint/2010/main" val="353575558"/>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D01644-CF1C-7F28-D52B-DA276A98AF8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19FFCAE-D243-835D-88B7-C436FC0B88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7073099-C045-B804-B3A4-8AEDE0531714}"/>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2732B8AD-5E45-A928-3F47-E2EEAE47FAA1}"/>
              </a:ext>
            </a:extLst>
          </p:cNvPr>
          <p:cNvSpPr>
            <a:spLocks noGrp="1"/>
          </p:cNvSpPr>
          <p:nvPr>
            <p:ph type="sldNum" sz="quarter" idx="5"/>
          </p:nvPr>
        </p:nvSpPr>
        <p:spPr/>
        <p:txBody>
          <a:bodyPr/>
          <a:lstStyle/>
          <a:p>
            <a:fld id="{4CF50783-AAED-1941-8BCC-9F6140F0A6B1}" type="slidenum">
              <a:rPr lang="fr-FR" smtClean="0"/>
              <a:pPr/>
              <a:t>58</a:t>
            </a:fld>
            <a:endParaRPr lang="fr-FR" dirty="0"/>
          </a:p>
        </p:txBody>
      </p:sp>
    </p:spTree>
    <p:extLst>
      <p:ext uri="{BB962C8B-B14F-4D97-AF65-F5344CB8AC3E}">
        <p14:creationId xmlns:p14="http://schemas.microsoft.com/office/powerpoint/2010/main" val="4132582315"/>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054E01-0D7C-C30C-C607-E85852921A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3D80998-287E-560A-9E90-108BF34F1FA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7028D51-73FC-8564-9C7E-DAD36B91A6D0}"/>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320238BE-F2A9-20DB-3BFA-839D3031782B}"/>
              </a:ext>
            </a:extLst>
          </p:cNvPr>
          <p:cNvSpPr>
            <a:spLocks noGrp="1"/>
          </p:cNvSpPr>
          <p:nvPr>
            <p:ph type="sldNum" sz="quarter" idx="5"/>
          </p:nvPr>
        </p:nvSpPr>
        <p:spPr/>
        <p:txBody>
          <a:bodyPr/>
          <a:lstStyle/>
          <a:p>
            <a:fld id="{4CF50783-AAED-1941-8BCC-9F6140F0A6B1}" type="slidenum">
              <a:rPr lang="fr-FR" smtClean="0"/>
              <a:pPr/>
              <a:t>59</a:t>
            </a:fld>
            <a:endParaRPr lang="fr-FR" dirty="0"/>
          </a:p>
        </p:txBody>
      </p:sp>
    </p:spTree>
    <p:extLst>
      <p:ext uri="{BB962C8B-B14F-4D97-AF65-F5344CB8AC3E}">
        <p14:creationId xmlns:p14="http://schemas.microsoft.com/office/powerpoint/2010/main" val="3968094405"/>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02EF2F-F661-C698-551F-FB72C992FE4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834A696-3F6F-500E-084B-78873B4506A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79C3673-71BB-9D9D-BFF2-AD8EA03067D0}"/>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BE88CB85-C78B-5C2F-B07D-BD07EB2A9530}"/>
              </a:ext>
            </a:extLst>
          </p:cNvPr>
          <p:cNvSpPr>
            <a:spLocks noGrp="1"/>
          </p:cNvSpPr>
          <p:nvPr>
            <p:ph type="sldNum" sz="quarter" idx="5"/>
          </p:nvPr>
        </p:nvSpPr>
        <p:spPr/>
        <p:txBody>
          <a:bodyPr/>
          <a:lstStyle/>
          <a:p>
            <a:fld id="{4CF50783-AAED-1941-8BCC-9F6140F0A6B1}" type="slidenum">
              <a:rPr lang="fr-FR" smtClean="0"/>
              <a:pPr/>
              <a:t>60</a:t>
            </a:fld>
            <a:endParaRPr lang="fr-FR" dirty="0"/>
          </a:p>
        </p:txBody>
      </p:sp>
    </p:spTree>
    <p:extLst>
      <p:ext uri="{BB962C8B-B14F-4D97-AF65-F5344CB8AC3E}">
        <p14:creationId xmlns:p14="http://schemas.microsoft.com/office/powerpoint/2010/main" val="3619512040"/>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F0E3AA-7900-5318-FB07-E5CB9FB9EB1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F4DE7E-A52B-EC8C-484B-39FC41C27F9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E1166DC-6765-C2BB-95F4-F8937813F183}"/>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7FD8F2F2-51F6-F69D-4401-231B7404C52F}"/>
              </a:ext>
            </a:extLst>
          </p:cNvPr>
          <p:cNvSpPr>
            <a:spLocks noGrp="1"/>
          </p:cNvSpPr>
          <p:nvPr>
            <p:ph type="sldNum" sz="quarter" idx="5"/>
          </p:nvPr>
        </p:nvSpPr>
        <p:spPr/>
        <p:txBody>
          <a:bodyPr/>
          <a:lstStyle/>
          <a:p>
            <a:fld id="{4CF50783-AAED-1941-8BCC-9F6140F0A6B1}" type="slidenum">
              <a:rPr lang="fr-FR" smtClean="0"/>
              <a:pPr/>
              <a:t>61</a:t>
            </a:fld>
            <a:endParaRPr lang="fr-FR" dirty="0"/>
          </a:p>
        </p:txBody>
      </p:sp>
    </p:spTree>
    <p:extLst>
      <p:ext uri="{BB962C8B-B14F-4D97-AF65-F5344CB8AC3E}">
        <p14:creationId xmlns:p14="http://schemas.microsoft.com/office/powerpoint/2010/main" val="4088925192"/>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3D5920-8355-D6D9-B44F-94E6E049EFB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01AC208-02CD-D493-0374-1A72A8B74ED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8054793-9425-5132-6B55-FFE56BF3BEC8}"/>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58AA936F-0164-7A45-0AC5-63C5EF1234C2}"/>
              </a:ext>
            </a:extLst>
          </p:cNvPr>
          <p:cNvSpPr>
            <a:spLocks noGrp="1"/>
          </p:cNvSpPr>
          <p:nvPr>
            <p:ph type="sldNum" sz="quarter" idx="5"/>
          </p:nvPr>
        </p:nvSpPr>
        <p:spPr/>
        <p:txBody>
          <a:bodyPr/>
          <a:lstStyle/>
          <a:p>
            <a:fld id="{4CF50783-AAED-1941-8BCC-9F6140F0A6B1}" type="slidenum">
              <a:rPr lang="fr-FR" smtClean="0"/>
              <a:pPr/>
              <a:t>62</a:t>
            </a:fld>
            <a:endParaRPr lang="fr-FR" dirty="0"/>
          </a:p>
        </p:txBody>
      </p:sp>
    </p:spTree>
    <p:extLst>
      <p:ext uri="{BB962C8B-B14F-4D97-AF65-F5344CB8AC3E}">
        <p14:creationId xmlns:p14="http://schemas.microsoft.com/office/powerpoint/2010/main" val="2643925536"/>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C1017-A1B9-4C70-00B5-0CC2D28060D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00B560D-523B-129F-5090-B31C135C61F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12545C4-73A5-71AB-A862-A27420AB72CF}"/>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95AC2033-06CB-7D43-348E-C790D8EDC0D8}"/>
              </a:ext>
            </a:extLst>
          </p:cNvPr>
          <p:cNvSpPr>
            <a:spLocks noGrp="1"/>
          </p:cNvSpPr>
          <p:nvPr>
            <p:ph type="sldNum" sz="quarter" idx="5"/>
          </p:nvPr>
        </p:nvSpPr>
        <p:spPr/>
        <p:txBody>
          <a:bodyPr/>
          <a:lstStyle/>
          <a:p>
            <a:fld id="{4CF50783-AAED-1941-8BCC-9F6140F0A6B1}" type="slidenum">
              <a:rPr lang="fr-FR" smtClean="0"/>
              <a:pPr/>
              <a:t>63</a:t>
            </a:fld>
            <a:endParaRPr lang="fr-FR" dirty="0"/>
          </a:p>
        </p:txBody>
      </p:sp>
    </p:spTree>
    <p:extLst>
      <p:ext uri="{BB962C8B-B14F-4D97-AF65-F5344CB8AC3E}">
        <p14:creationId xmlns:p14="http://schemas.microsoft.com/office/powerpoint/2010/main" val="3853083107"/>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F274B6-376E-75C5-AC2A-09E472F9DEE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85E6EE-3C55-31F0-6243-3776B11ADEE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E5B92C5-E262-CC30-EE19-DD6B56803478}"/>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42F45611-F280-2F13-E352-D697D4925837}"/>
              </a:ext>
            </a:extLst>
          </p:cNvPr>
          <p:cNvSpPr>
            <a:spLocks noGrp="1"/>
          </p:cNvSpPr>
          <p:nvPr>
            <p:ph type="sldNum" sz="quarter" idx="5"/>
          </p:nvPr>
        </p:nvSpPr>
        <p:spPr/>
        <p:txBody>
          <a:bodyPr/>
          <a:lstStyle/>
          <a:p>
            <a:fld id="{4CF50783-AAED-1941-8BCC-9F6140F0A6B1}" type="slidenum">
              <a:rPr lang="fr-FR" smtClean="0"/>
              <a:pPr/>
              <a:t>64</a:t>
            </a:fld>
            <a:endParaRPr lang="fr-FR" dirty="0"/>
          </a:p>
        </p:txBody>
      </p:sp>
    </p:spTree>
    <p:extLst>
      <p:ext uri="{BB962C8B-B14F-4D97-AF65-F5344CB8AC3E}">
        <p14:creationId xmlns:p14="http://schemas.microsoft.com/office/powerpoint/2010/main" val="1174884443"/>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639DF2-B1FC-E231-A19A-7BD91DEE155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E19B90-997F-32F0-929A-C5E8669D813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3244ECF-DF9B-2EC8-2BE4-547C16B573B4}"/>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55EBC142-F447-E2F1-CF63-676B24F1E32C}"/>
              </a:ext>
            </a:extLst>
          </p:cNvPr>
          <p:cNvSpPr>
            <a:spLocks noGrp="1"/>
          </p:cNvSpPr>
          <p:nvPr>
            <p:ph type="sldNum" sz="quarter" idx="5"/>
          </p:nvPr>
        </p:nvSpPr>
        <p:spPr/>
        <p:txBody>
          <a:bodyPr/>
          <a:lstStyle/>
          <a:p>
            <a:fld id="{4CF50783-AAED-1941-8BCC-9F6140F0A6B1}" type="slidenum">
              <a:rPr lang="fr-FR" smtClean="0"/>
              <a:pPr/>
              <a:t>65</a:t>
            </a:fld>
            <a:endParaRPr lang="fr-FR" dirty="0"/>
          </a:p>
        </p:txBody>
      </p:sp>
    </p:spTree>
    <p:extLst>
      <p:ext uri="{BB962C8B-B14F-4D97-AF65-F5344CB8AC3E}">
        <p14:creationId xmlns:p14="http://schemas.microsoft.com/office/powerpoint/2010/main" val="3738391855"/>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9EEEFA-BCBA-B5DE-D819-DBB4FEA88B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BF066B-5247-44D9-F7C8-DEEDC60FD3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D17AD89-385B-5DA7-3DF5-273BD4C1EB0F}"/>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3A7ADF92-E36A-CB6B-867C-CF7EF3C101A2}"/>
              </a:ext>
            </a:extLst>
          </p:cNvPr>
          <p:cNvSpPr>
            <a:spLocks noGrp="1"/>
          </p:cNvSpPr>
          <p:nvPr>
            <p:ph type="sldNum" sz="quarter" idx="5"/>
          </p:nvPr>
        </p:nvSpPr>
        <p:spPr/>
        <p:txBody>
          <a:bodyPr/>
          <a:lstStyle/>
          <a:p>
            <a:fld id="{4CF50783-AAED-1941-8BCC-9F6140F0A6B1}" type="slidenum">
              <a:rPr lang="fr-FR" smtClean="0"/>
              <a:pPr/>
              <a:t>66</a:t>
            </a:fld>
            <a:endParaRPr lang="fr-FR" dirty="0"/>
          </a:p>
        </p:txBody>
      </p:sp>
    </p:spTree>
    <p:extLst>
      <p:ext uri="{BB962C8B-B14F-4D97-AF65-F5344CB8AC3E}">
        <p14:creationId xmlns:p14="http://schemas.microsoft.com/office/powerpoint/2010/main" val="2534102126"/>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4E9724-2F1B-3DC3-7A69-9BB05EEF570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3B3C5C2-93A1-AE94-CEA8-948B8F29ACB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C197A80-9D86-2268-5A5D-2391D50A2851}"/>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E2F3582B-1FD1-B648-D066-34BD418C2B9E}"/>
              </a:ext>
            </a:extLst>
          </p:cNvPr>
          <p:cNvSpPr>
            <a:spLocks noGrp="1"/>
          </p:cNvSpPr>
          <p:nvPr>
            <p:ph type="sldNum" sz="quarter" idx="5"/>
          </p:nvPr>
        </p:nvSpPr>
        <p:spPr/>
        <p:txBody>
          <a:bodyPr/>
          <a:lstStyle/>
          <a:p>
            <a:fld id="{4CF50783-AAED-1941-8BCC-9F6140F0A6B1}" type="slidenum">
              <a:rPr lang="fr-FR" smtClean="0"/>
              <a:pPr/>
              <a:t>67</a:t>
            </a:fld>
            <a:endParaRPr lang="fr-FR" dirty="0"/>
          </a:p>
        </p:txBody>
      </p:sp>
    </p:spTree>
    <p:extLst>
      <p:ext uri="{BB962C8B-B14F-4D97-AF65-F5344CB8AC3E}">
        <p14:creationId xmlns:p14="http://schemas.microsoft.com/office/powerpoint/2010/main" val="62148397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AC8ACF-7E27-4182-690A-F73E808E1A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1CCFD3B-DA4F-2908-C9CB-3BDFC5820BD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895C305-5036-2A97-F2AC-94841A4D82F0}"/>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ADA21515-3927-A5DC-9E3F-37B709696122}"/>
              </a:ext>
            </a:extLst>
          </p:cNvPr>
          <p:cNvSpPr>
            <a:spLocks noGrp="1"/>
          </p:cNvSpPr>
          <p:nvPr>
            <p:ph type="sldNum" sz="quarter" idx="5"/>
          </p:nvPr>
        </p:nvSpPr>
        <p:spPr/>
        <p:txBody>
          <a:bodyPr/>
          <a:lstStyle/>
          <a:p>
            <a:fld id="{4CF50783-AAED-1941-8BCC-9F6140F0A6B1}" type="slidenum">
              <a:rPr lang="fr-FR" smtClean="0"/>
              <a:pPr/>
              <a:t>68</a:t>
            </a:fld>
            <a:endParaRPr lang="fr-FR" dirty="0"/>
          </a:p>
        </p:txBody>
      </p:sp>
    </p:spTree>
    <p:extLst>
      <p:ext uri="{BB962C8B-B14F-4D97-AF65-F5344CB8AC3E}">
        <p14:creationId xmlns:p14="http://schemas.microsoft.com/office/powerpoint/2010/main" val="1803060388"/>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980886-9A14-D8E8-66DB-3BB5A8746F7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20ADF85-DD9B-9464-3337-859067BBFC9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EE69EA8-3DBC-1CBF-30BC-76293A7E0FF3}"/>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44AABCF5-9574-A5A5-3956-0E2B3980D55E}"/>
              </a:ext>
            </a:extLst>
          </p:cNvPr>
          <p:cNvSpPr>
            <a:spLocks noGrp="1"/>
          </p:cNvSpPr>
          <p:nvPr>
            <p:ph type="sldNum" sz="quarter" idx="5"/>
          </p:nvPr>
        </p:nvSpPr>
        <p:spPr/>
        <p:txBody>
          <a:bodyPr/>
          <a:lstStyle/>
          <a:p>
            <a:fld id="{4CF50783-AAED-1941-8BCC-9F6140F0A6B1}" type="slidenum">
              <a:rPr lang="fr-FR" smtClean="0"/>
              <a:pPr/>
              <a:t>69</a:t>
            </a:fld>
            <a:endParaRPr lang="fr-FR" dirty="0"/>
          </a:p>
        </p:txBody>
      </p:sp>
    </p:spTree>
    <p:extLst>
      <p:ext uri="{BB962C8B-B14F-4D97-AF65-F5344CB8AC3E}">
        <p14:creationId xmlns:p14="http://schemas.microsoft.com/office/powerpoint/2010/main" val="1431261130"/>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D32806-5446-5F31-7246-58F803D9E40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ED63E5-BFE3-F370-C351-FCB2F0B14FF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9838AAB-4646-25F8-FC10-A2C63520A683}"/>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D1008FB2-E2ED-3190-6AD6-562CDD523B1D}"/>
              </a:ext>
            </a:extLst>
          </p:cNvPr>
          <p:cNvSpPr>
            <a:spLocks noGrp="1"/>
          </p:cNvSpPr>
          <p:nvPr>
            <p:ph type="sldNum" sz="quarter" idx="5"/>
          </p:nvPr>
        </p:nvSpPr>
        <p:spPr/>
        <p:txBody>
          <a:bodyPr/>
          <a:lstStyle/>
          <a:p>
            <a:fld id="{4CF50783-AAED-1941-8BCC-9F6140F0A6B1}" type="slidenum">
              <a:rPr lang="fr-FR" smtClean="0"/>
              <a:pPr/>
              <a:t>70</a:t>
            </a:fld>
            <a:endParaRPr lang="fr-FR" dirty="0"/>
          </a:p>
        </p:txBody>
      </p:sp>
    </p:spTree>
    <p:extLst>
      <p:ext uri="{BB962C8B-B14F-4D97-AF65-F5344CB8AC3E}">
        <p14:creationId xmlns:p14="http://schemas.microsoft.com/office/powerpoint/2010/main" val="3890564182"/>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0E4ACE-460D-3B43-CD64-245627577D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001F21C-28C7-1E2B-C4EA-2AE0DB9BFBC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06209C6-84CE-767F-819E-ADAD31E0EC70}"/>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5E1F40F5-9867-7E09-0F19-03427EE53324}"/>
              </a:ext>
            </a:extLst>
          </p:cNvPr>
          <p:cNvSpPr>
            <a:spLocks noGrp="1"/>
          </p:cNvSpPr>
          <p:nvPr>
            <p:ph type="sldNum" sz="quarter" idx="5"/>
          </p:nvPr>
        </p:nvSpPr>
        <p:spPr/>
        <p:txBody>
          <a:bodyPr/>
          <a:lstStyle/>
          <a:p>
            <a:fld id="{4CF50783-AAED-1941-8BCC-9F6140F0A6B1}" type="slidenum">
              <a:rPr lang="fr-FR" smtClean="0"/>
              <a:pPr/>
              <a:t>71</a:t>
            </a:fld>
            <a:endParaRPr lang="fr-FR" dirty="0"/>
          </a:p>
        </p:txBody>
      </p:sp>
    </p:spTree>
    <p:extLst>
      <p:ext uri="{BB962C8B-B14F-4D97-AF65-F5344CB8AC3E}">
        <p14:creationId xmlns:p14="http://schemas.microsoft.com/office/powerpoint/2010/main" val="2286141229"/>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6818E8-8EBD-B8ED-E886-E097A9CD2C7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09CAC3-9B1C-18B9-070E-3D10E0B5DA8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3B70081-754E-6899-073A-9E63E19E2C88}"/>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6DAE472F-5DEF-134D-F426-E7AF8D4A3086}"/>
              </a:ext>
            </a:extLst>
          </p:cNvPr>
          <p:cNvSpPr>
            <a:spLocks noGrp="1"/>
          </p:cNvSpPr>
          <p:nvPr>
            <p:ph type="sldNum" sz="quarter" idx="5"/>
          </p:nvPr>
        </p:nvSpPr>
        <p:spPr/>
        <p:txBody>
          <a:bodyPr/>
          <a:lstStyle/>
          <a:p>
            <a:fld id="{4CF50783-AAED-1941-8BCC-9F6140F0A6B1}" type="slidenum">
              <a:rPr lang="fr-FR" smtClean="0"/>
              <a:pPr/>
              <a:t>72</a:t>
            </a:fld>
            <a:endParaRPr lang="fr-FR" dirty="0"/>
          </a:p>
        </p:txBody>
      </p:sp>
    </p:spTree>
    <p:extLst>
      <p:ext uri="{BB962C8B-B14F-4D97-AF65-F5344CB8AC3E}">
        <p14:creationId xmlns:p14="http://schemas.microsoft.com/office/powerpoint/2010/main" val="716182482"/>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9FF83F-7CF9-44C4-236A-1213D5B3D9A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A8B971A-57E5-14B4-1567-78E1D165612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B0B20B5-AE15-41A3-F2B6-9C4198FB4F64}"/>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1F2A37E4-7536-5335-B293-C762C25EB90E}"/>
              </a:ext>
            </a:extLst>
          </p:cNvPr>
          <p:cNvSpPr>
            <a:spLocks noGrp="1"/>
          </p:cNvSpPr>
          <p:nvPr>
            <p:ph type="sldNum" sz="quarter" idx="5"/>
          </p:nvPr>
        </p:nvSpPr>
        <p:spPr/>
        <p:txBody>
          <a:bodyPr/>
          <a:lstStyle/>
          <a:p>
            <a:fld id="{4CF50783-AAED-1941-8BCC-9F6140F0A6B1}" type="slidenum">
              <a:rPr lang="fr-FR" smtClean="0"/>
              <a:pPr/>
              <a:t>73</a:t>
            </a:fld>
            <a:endParaRPr lang="fr-FR" dirty="0"/>
          </a:p>
        </p:txBody>
      </p:sp>
    </p:spTree>
    <p:extLst>
      <p:ext uri="{BB962C8B-B14F-4D97-AF65-F5344CB8AC3E}">
        <p14:creationId xmlns:p14="http://schemas.microsoft.com/office/powerpoint/2010/main" val="3709716559"/>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482057-4E91-48C3-8F4A-ED3EA7CB536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897A93-5658-3C10-B45F-8F8202C92DF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6C5B20B-5184-B8FA-9C0A-1542036A111A}"/>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BABE490A-3FA2-CE3F-6473-88130D66AD22}"/>
              </a:ext>
            </a:extLst>
          </p:cNvPr>
          <p:cNvSpPr>
            <a:spLocks noGrp="1"/>
          </p:cNvSpPr>
          <p:nvPr>
            <p:ph type="sldNum" sz="quarter" idx="5"/>
          </p:nvPr>
        </p:nvSpPr>
        <p:spPr/>
        <p:txBody>
          <a:bodyPr/>
          <a:lstStyle/>
          <a:p>
            <a:fld id="{4CF50783-AAED-1941-8BCC-9F6140F0A6B1}" type="slidenum">
              <a:rPr lang="fr-FR" smtClean="0"/>
              <a:pPr/>
              <a:t>74</a:t>
            </a:fld>
            <a:endParaRPr lang="fr-FR" dirty="0"/>
          </a:p>
        </p:txBody>
      </p:sp>
    </p:spTree>
    <p:extLst>
      <p:ext uri="{BB962C8B-B14F-4D97-AF65-F5344CB8AC3E}">
        <p14:creationId xmlns:p14="http://schemas.microsoft.com/office/powerpoint/2010/main" val="370318241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3CE534-888F-BD96-9977-E456D47537C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E419A6-D7FF-06B2-9AD5-BEBAEE20756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CDF1070-6AD5-6C86-2D44-A975A1D2E30F}"/>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C108F4A0-8811-4574-C54A-8AFC5413C9EB}"/>
              </a:ext>
            </a:extLst>
          </p:cNvPr>
          <p:cNvSpPr>
            <a:spLocks noGrp="1"/>
          </p:cNvSpPr>
          <p:nvPr>
            <p:ph type="sldNum" sz="quarter" idx="5"/>
          </p:nvPr>
        </p:nvSpPr>
        <p:spPr/>
        <p:txBody>
          <a:bodyPr/>
          <a:lstStyle/>
          <a:p>
            <a:fld id="{4CF50783-AAED-1941-8BCC-9F6140F0A6B1}" type="slidenum">
              <a:rPr lang="fr-FR" smtClean="0"/>
              <a:pPr/>
              <a:t>75</a:t>
            </a:fld>
            <a:endParaRPr lang="fr-FR" dirty="0"/>
          </a:p>
        </p:txBody>
      </p:sp>
    </p:spTree>
    <p:extLst>
      <p:ext uri="{BB962C8B-B14F-4D97-AF65-F5344CB8AC3E}">
        <p14:creationId xmlns:p14="http://schemas.microsoft.com/office/powerpoint/2010/main" val="1775243264"/>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C5D66C-4742-98BD-93DA-E71D7E9BF98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DAD05BC-9A63-77EA-B18A-83762BE22CF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CDD6FBC-4007-6B12-D2C4-542A53E1C694}"/>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B6BC870F-8D12-B775-5F76-984582E4971B}"/>
              </a:ext>
            </a:extLst>
          </p:cNvPr>
          <p:cNvSpPr>
            <a:spLocks noGrp="1"/>
          </p:cNvSpPr>
          <p:nvPr>
            <p:ph type="sldNum" sz="quarter" idx="5"/>
          </p:nvPr>
        </p:nvSpPr>
        <p:spPr/>
        <p:txBody>
          <a:bodyPr/>
          <a:lstStyle/>
          <a:p>
            <a:fld id="{4CF50783-AAED-1941-8BCC-9F6140F0A6B1}" type="slidenum">
              <a:rPr lang="fr-FR" smtClean="0"/>
              <a:pPr/>
              <a:t>76</a:t>
            </a:fld>
            <a:endParaRPr lang="fr-FR" dirty="0"/>
          </a:p>
        </p:txBody>
      </p:sp>
    </p:spTree>
    <p:extLst>
      <p:ext uri="{BB962C8B-B14F-4D97-AF65-F5344CB8AC3E}">
        <p14:creationId xmlns:p14="http://schemas.microsoft.com/office/powerpoint/2010/main" val="253335530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F3D403-0EE7-1222-5BEA-3B5CDE4D1B9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21FED0-9A9A-61BB-443D-0E7A02A31E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D447F6A-DECF-8231-B85D-4DCFA0082C21}"/>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FEDC82B7-6511-8A90-117E-953BF1C9A3F9}"/>
              </a:ext>
            </a:extLst>
          </p:cNvPr>
          <p:cNvSpPr>
            <a:spLocks noGrp="1"/>
          </p:cNvSpPr>
          <p:nvPr>
            <p:ph type="sldNum" sz="quarter" idx="5"/>
          </p:nvPr>
        </p:nvSpPr>
        <p:spPr/>
        <p:txBody>
          <a:bodyPr/>
          <a:lstStyle/>
          <a:p>
            <a:fld id="{4CF50783-AAED-1941-8BCC-9F6140F0A6B1}" type="slidenum">
              <a:rPr lang="fr-FR" smtClean="0"/>
              <a:pPr/>
              <a:t>77</a:t>
            </a:fld>
            <a:endParaRPr lang="fr-FR" dirty="0"/>
          </a:p>
        </p:txBody>
      </p:sp>
    </p:spTree>
    <p:extLst>
      <p:ext uri="{BB962C8B-B14F-4D97-AF65-F5344CB8AC3E}">
        <p14:creationId xmlns:p14="http://schemas.microsoft.com/office/powerpoint/2010/main" val="212991046"/>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01E712-9F40-F303-FFAE-0D06F016598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AFACDE2-234C-2C0C-26AE-C3D5F5C575F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B40F7BB-665F-E370-748E-8E75C90BF4C3}"/>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466CFB08-D1CE-C09F-336F-FE19181A648A}"/>
              </a:ext>
            </a:extLst>
          </p:cNvPr>
          <p:cNvSpPr>
            <a:spLocks noGrp="1"/>
          </p:cNvSpPr>
          <p:nvPr>
            <p:ph type="sldNum" sz="quarter" idx="5"/>
          </p:nvPr>
        </p:nvSpPr>
        <p:spPr/>
        <p:txBody>
          <a:bodyPr/>
          <a:lstStyle/>
          <a:p>
            <a:fld id="{4CF50783-AAED-1941-8BCC-9F6140F0A6B1}" type="slidenum">
              <a:rPr lang="fr-FR" smtClean="0"/>
              <a:pPr/>
              <a:t>78</a:t>
            </a:fld>
            <a:endParaRPr lang="fr-FR" dirty="0"/>
          </a:p>
        </p:txBody>
      </p:sp>
    </p:spTree>
    <p:extLst>
      <p:ext uri="{BB962C8B-B14F-4D97-AF65-F5344CB8AC3E}">
        <p14:creationId xmlns:p14="http://schemas.microsoft.com/office/powerpoint/2010/main" val="1001873425"/>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887043-E56F-7934-AC04-E8194E600BC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304766-3181-E986-F6D2-3833154CF2D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0DE377A-F7B7-C4EC-4AF4-706BDE8A8C41}"/>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02B76812-9800-F364-717D-D37903647C64}"/>
              </a:ext>
            </a:extLst>
          </p:cNvPr>
          <p:cNvSpPr>
            <a:spLocks noGrp="1"/>
          </p:cNvSpPr>
          <p:nvPr>
            <p:ph type="sldNum" sz="quarter" idx="5"/>
          </p:nvPr>
        </p:nvSpPr>
        <p:spPr/>
        <p:txBody>
          <a:bodyPr/>
          <a:lstStyle/>
          <a:p>
            <a:fld id="{4CF50783-AAED-1941-8BCC-9F6140F0A6B1}" type="slidenum">
              <a:rPr lang="fr-FR" smtClean="0"/>
              <a:pPr/>
              <a:t>79</a:t>
            </a:fld>
            <a:endParaRPr lang="fr-FR" dirty="0"/>
          </a:p>
        </p:txBody>
      </p:sp>
    </p:spTree>
    <p:extLst>
      <p:ext uri="{BB962C8B-B14F-4D97-AF65-F5344CB8AC3E}">
        <p14:creationId xmlns:p14="http://schemas.microsoft.com/office/powerpoint/2010/main" val="475813593"/>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887043-E56F-7934-AC04-E8194E600BC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304766-3181-E986-F6D2-3833154CF2D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0DE377A-F7B7-C4EC-4AF4-706BDE8A8C41}"/>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02B76812-9800-F364-717D-D37903647C64}"/>
              </a:ext>
            </a:extLst>
          </p:cNvPr>
          <p:cNvSpPr>
            <a:spLocks noGrp="1"/>
          </p:cNvSpPr>
          <p:nvPr>
            <p:ph type="sldNum" sz="quarter" idx="5"/>
          </p:nvPr>
        </p:nvSpPr>
        <p:spPr/>
        <p:txBody>
          <a:bodyPr/>
          <a:lstStyle/>
          <a:p>
            <a:fld id="{4CF50783-AAED-1941-8BCC-9F6140F0A6B1}" type="slidenum">
              <a:rPr lang="fr-FR" smtClean="0"/>
              <a:pPr/>
              <a:t>80</a:t>
            </a:fld>
            <a:endParaRPr lang="fr-FR" dirty="0"/>
          </a:p>
        </p:txBody>
      </p:sp>
    </p:spTree>
    <p:extLst>
      <p:ext uri="{BB962C8B-B14F-4D97-AF65-F5344CB8AC3E}">
        <p14:creationId xmlns:p14="http://schemas.microsoft.com/office/powerpoint/2010/main" val="104655744"/>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887043-E56F-7934-AC04-E8194E600BC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304766-3181-E986-F6D2-3833154CF2D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0DE377A-F7B7-C4EC-4AF4-706BDE8A8C41}"/>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02B76812-9800-F364-717D-D37903647C64}"/>
              </a:ext>
            </a:extLst>
          </p:cNvPr>
          <p:cNvSpPr>
            <a:spLocks noGrp="1"/>
          </p:cNvSpPr>
          <p:nvPr>
            <p:ph type="sldNum" sz="quarter" idx="5"/>
          </p:nvPr>
        </p:nvSpPr>
        <p:spPr/>
        <p:txBody>
          <a:bodyPr/>
          <a:lstStyle/>
          <a:p>
            <a:fld id="{4CF50783-AAED-1941-8BCC-9F6140F0A6B1}" type="slidenum">
              <a:rPr lang="fr-FR" smtClean="0"/>
              <a:pPr/>
              <a:t>81</a:t>
            </a:fld>
            <a:endParaRPr lang="fr-FR" dirty="0"/>
          </a:p>
        </p:txBody>
      </p:sp>
    </p:spTree>
    <p:extLst>
      <p:ext uri="{BB962C8B-B14F-4D97-AF65-F5344CB8AC3E}">
        <p14:creationId xmlns:p14="http://schemas.microsoft.com/office/powerpoint/2010/main" val="3183305453"/>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887043-E56F-7934-AC04-E8194E600BC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304766-3181-E986-F6D2-3833154CF2D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0DE377A-F7B7-C4EC-4AF4-706BDE8A8C41}"/>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02B76812-9800-F364-717D-D37903647C64}"/>
              </a:ext>
            </a:extLst>
          </p:cNvPr>
          <p:cNvSpPr>
            <a:spLocks noGrp="1"/>
          </p:cNvSpPr>
          <p:nvPr>
            <p:ph type="sldNum" sz="quarter" idx="5"/>
          </p:nvPr>
        </p:nvSpPr>
        <p:spPr/>
        <p:txBody>
          <a:bodyPr/>
          <a:lstStyle/>
          <a:p>
            <a:fld id="{4CF50783-AAED-1941-8BCC-9F6140F0A6B1}" type="slidenum">
              <a:rPr lang="fr-FR" smtClean="0"/>
              <a:pPr/>
              <a:t>82</a:t>
            </a:fld>
            <a:endParaRPr lang="fr-FR" dirty="0"/>
          </a:p>
        </p:txBody>
      </p:sp>
    </p:spTree>
    <p:extLst>
      <p:ext uri="{BB962C8B-B14F-4D97-AF65-F5344CB8AC3E}">
        <p14:creationId xmlns:p14="http://schemas.microsoft.com/office/powerpoint/2010/main" val="4196854233"/>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that was all the new knowledge for today. Thank you for your attention, and I will be happy to take any questions you may have.</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83</a:t>
            </a:fld>
            <a:endParaRPr lang="fr-FR" dirty="0"/>
          </a:p>
        </p:txBody>
      </p:sp>
    </p:spTree>
    <p:extLst>
      <p:ext uri="{BB962C8B-B14F-4D97-AF65-F5344CB8AC3E}">
        <p14:creationId xmlns:p14="http://schemas.microsoft.com/office/powerpoint/2010/main" val="212690647"/>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Diapositive de titre">
    <p:spTree>
      <p:nvGrpSpPr>
        <p:cNvPr id="1" name=""/>
        <p:cNvGrpSpPr/>
        <p:nvPr/>
      </p:nvGrpSpPr>
      <p:grpSpPr>
        <a:xfrm>
          <a:off x="0" y="0"/>
          <a:ext cx="0" cy="0"/>
          <a:chOff x="0" y="0"/>
          <a:chExt cx="0" cy="0"/>
        </a:xfrm>
      </p:grpSpPr>
      <p:sp>
        <p:nvSpPr>
          <p:cNvPr id="12" name="Espace réservé pour une image  11">
            <a:extLst>
              <a:ext uri="{FF2B5EF4-FFF2-40B4-BE49-F238E27FC236}">
                <a16:creationId xmlns:a16="http://schemas.microsoft.com/office/drawing/2014/main" id="{4CF6F629-51E7-9F40-939D-F50AE3925ADE}"/>
              </a:ext>
            </a:extLst>
          </p:cNvPr>
          <p:cNvSpPr>
            <a:spLocks noGrp="1"/>
          </p:cNvSpPr>
          <p:nvPr>
            <p:ph type="pic" sz="quarter" idx="10"/>
          </p:nvPr>
        </p:nvSpPr>
        <p:spPr>
          <a:xfrm>
            <a:off x="1331913" y="0"/>
            <a:ext cx="7812087" cy="4948238"/>
          </a:xfrm>
        </p:spPr>
        <p:txBody>
          <a:bodyPr/>
          <a:lstStyle/>
          <a:p>
            <a:r>
              <a:rPr lang="fr-FR"/>
              <a:t>Cliquez sur l'icône pour ajouter une image</a:t>
            </a:r>
          </a:p>
        </p:txBody>
      </p:sp>
      <p:sp>
        <p:nvSpPr>
          <p:cNvPr id="2" name="Title 1"/>
          <p:cNvSpPr>
            <a:spLocks noGrp="1"/>
          </p:cNvSpPr>
          <p:nvPr>
            <p:ph type="ctrTitle"/>
          </p:nvPr>
        </p:nvSpPr>
        <p:spPr>
          <a:xfrm>
            <a:off x="6405563" y="786535"/>
            <a:ext cx="2738437" cy="2338387"/>
          </a:xfrm>
          <a:solidFill>
            <a:schemeClr val="accent1"/>
          </a:solidFill>
        </p:spPr>
        <p:txBody>
          <a:bodyPr lIns="216000" anchor="ctr" anchorCtr="0">
            <a:normAutofit/>
          </a:bodyPr>
          <a:lstStyle>
            <a:lvl1pPr algn="l">
              <a:defRPr sz="3600">
                <a:solidFill>
                  <a:schemeClr val="bg1"/>
                </a:solidFill>
              </a:defRPr>
            </a:lvl1pPr>
          </a:lstStyle>
          <a:p>
            <a:r>
              <a:rPr lang="fr-FR"/>
              <a:t>Modifiez le style du titre</a:t>
            </a:r>
            <a:endParaRPr lang="en-US" dirty="0"/>
          </a:p>
        </p:txBody>
      </p:sp>
      <p:sp>
        <p:nvSpPr>
          <p:cNvPr id="3" name="Subtitle 2"/>
          <p:cNvSpPr>
            <a:spLocks noGrp="1"/>
          </p:cNvSpPr>
          <p:nvPr>
            <p:ph type="subTitle" idx="1"/>
          </p:nvPr>
        </p:nvSpPr>
        <p:spPr>
          <a:xfrm>
            <a:off x="4576763" y="3124922"/>
            <a:ext cx="1828800" cy="1568450"/>
          </a:xfrm>
          <a:solidFill>
            <a:schemeClr val="tx1"/>
          </a:solidFill>
        </p:spPr>
        <p:txBody>
          <a:bodyPr lIns="90000" anchor="ctr" anchorCtr="0">
            <a:normAutofit/>
          </a:bodyPr>
          <a:lstStyle>
            <a:lvl1pPr marL="0" indent="0" algn="ctr">
              <a:buNone/>
              <a:defRPr sz="1200">
                <a:solidFill>
                  <a:schemeClr val="bg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fr-FR"/>
              <a:t>Modifiez le style des sous-titres du masque</a:t>
            </a:r>
            <a:endParaRPr lang="en-US" dirty="0"/>
          </a:p>
        </p:txBody>
      </p:sp>
      <p:pic>
        <p:nvPicPr>
          <p:cNvPr id="9" name="Image 8">
            <a:extLst>
              <a:ext uri="{FF2B5EF4-FFF2-40B4-BE49-F238E27FC236}">
                <a16:creationId xmlns:a16="http://schemas.microsoft.com/office/drawing/2014/main" id="{6535A482-EC85-1C41-A1E4-7882A0E39FFD}"/>
              </a:ext>
            </a:extLst>
          </p:cNvPr>
          <p:cNvPicPr>
            <a:picLocks noChangeAspect="1"/>
          </p:cNvPicPr>
          <p:nvPr userDrawn="1"/>
        </p:nvPicPr>
        <p:blipFill>
          <a:blip r:embed="rId2"/>
          <a:stretch>
            <a:fillRect/>
          </a:stretch>
        </p:blipFill>
        <p:spPr>
          <a:xfrm>
            <a:off x="82647" y="80283"/>
            <a:ext cx="1175301" cy="508655"/>
          </a:xfrm>
          <a:prstGeom prst="rect">
            <a:avLst/>
          </a:prstGeom>
        </p:spPr>
      </p:pic>
      <p:sp>
        <p:nvSpPr>
          <p:cNvPr id="16" name="Espace réservé du texte 4">
            <a:extLst>
              <a:ext uri="{FF2B5EF4-FFF2-40B4-BE49-F238E27FC236}">
                <a16:creationId xmlns:a16="http://schemas.microsoft.com/office/drawing/2014/main" id="{01960462-6F28-0740-916D-499D3BEDB2BE}"/>
              </a:ext>
            </a:extLst>
          </p:cNvPr>
          <p:cNvSpPr>
            <a:spLocks noGrp="1"/>
          </p:cNvSpPr>
          <p:nvPr>
            <p:ph type="body" sz="quarter" idx="11"/>
          </p:nvPr>
        </p:nvSpPr>
        <p:spPr>
          <a:xfrm>
            <a:off x="6400800" y="4683125"/>
            <a:ext cx="1828800" cy="460375"/>
          </a:xfrm>
          <a:solidFill>
            <a:schemeClr val="bg1"/>
          </a:solidFill>
        </p:spPr>
        <p:txBody>
          <a:bodyPr lIns="90000" anchor="ctr">
            <a:noAutofit/>
          </a:bodyPr>
          <a:lstStyle>
            <a:lvl1pPr marL="0" indent="0" algn="ctr">
              <a:buNone/>
              <a:defRPr sz="1100"/>
            </a:lvl1pPr>
          </a:lstStyle>
          <a:p>
            <a:pPr lvl="0"/>
            <a:r>
              <a:rPr lang="fr-FR"/>
              <a:t>Modifier les styles du texte du masque
Deuxième niveau
Troisième niveau
Quatrième niveau
Cinquième niveau</a:t>
            </a:r>
          </a:p>
        </p:txBody>
      </p:sp>
      <p:sp>
        <p:nvSpPr>
          <p:cNvPr id="5" name="Espace réservé du texte 4">
            <a:extLst>
              <a:ext uri="{FF2B5EF4-FFF2-40B4-BE49-F238E27FC236}">
                <a16:creationId xmlns:a16="http://schemas.microsoft.com/office/drawing/2014/main" id="{1E187583-F16A-6F41-8B68-000F9C9C20D3}"/>
              </a:ext>
            </a:extLst>
          </p:cNvPr>
          <p:cNvSpPr>
            <a:spLocks noGrp="1"/>
          </p:cNvSpPr>
          <p:nvPr>
            <p:ph type="body" sz="quarter" idx="12"/>
          </p:nvPr>
        </p:nvSpPr>
        <p:spPr>
          <a:xfrm>
            <a:off x="82550" y="4440264"/>
            <a:ext cx="698500" cy="507975"/>
          </a:xfrm>
        </p:spPr>
        <p:txBody>
          <a:bodyPr lIns="0" tIns="0" rIns="0" bIns="0" anchor="b" anchorCtr="0">
            <a:noAutofit/>
          </a:bodyPr>
          <a:lstStyle>
            <a:lvl1pPr marL="114300" indent="-107950">
              <a:buFontTx/>
              <a:buBlip>
                <a:blip r:embed="rId3"/>
              </a:buBlip>
              <a:tabLst/>
              <a:defRPr sz="700">
                <a:solidFill>
                  <a:schemeClr val="tx1"/>
                </a:solidFill>
              </a:defRPr>
            </a:lvl1pPr>
          </a:lstStyle>
          <a:p>
            <a:r>
              <a:rPr lang="fr-FR" dirty="0"/>
              <a:t>Modifier les styles du texte du masque</a:t>
            </a:r>
          </a:p>
        </p:txBody>
      </p:sp>
    </p:spTree>
    <p:extLst>
      <p:ext uri="{BB962C8B-B14F-4D97-AF65-F5344CB8AC3E}">
        <p14:creationId xmlns:p14="http://schemas.microsoft.com/office/powerpoint/2010/main" val="577880871"/>
      </p:ext>
    </p:extLst>
  </p:cSld>
  <p:clrMapOvr>
    <a:masterClrMapping/>
  </p:clrMapOvr>
  <p:extLst>
    <p:ext uri="{DCECCB84-F9BA-43D5-87BE-67443E8EF086}">
      <p15:sldGuideLst xmlns:p15="http://schemas.microsoft.com/office/powerpoint/2012/main">
        <p15:guide id="1" orient="horz" pos="1620" userDrawn="1">
          <p15:clr>
            <a:srgbClr val="FBAE40"/>
          </p15:clr>
        </p15:guide>
        <p15:guide id="2" pos="2880" userDrawn="1">
          <p15:clr>
            <a:srgbClr val="FBAE40"/>
          </p15:clr>
        </p15:guide>
        <p15:guide id="3" pos="126" userDrawn="1">
          <p15:clr>
            <a:srgbClr val="FBAE40"/>
          </p15:clr>
        </p15:guide>
        <p15:guide id="5" orient="horz" pos="123" userDrawn="1">
          <p15:clr>
            <a:srgbClr val="FBAE40"/>
          </p15:clr>
        </p15:guide>
        <p15:guide id="6" orient="horz" pos="3117" userDrawn="1">
          <p15:clr>
            <a:srgbClr val="FBAE40"/>
          </p15:clr>
        </p15:guide>
        <p15:guide id="7" pos="839"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re de section">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4A9F6C81-AE59-DE44-BF60-E773080CD91C}"/>
              </a:ext>
            </a:extLst>
          </p:cNvPr>
          <p:cNvSpPr/>
          <p:nvPr userDrawn="1"/>
        </p:nvSpPr>
        <p:spPr>
          <a:xfrm>
            <a:off x="4572000" y="0"/>
            <a:ext cx="4572000" cy="51435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latin typeface="Arial" panose="020B0604020202020204" pitchFamily="34" charset="0"/>
            </a:endParaRPr>
          </a:p>
        </p:txBody>
      </p:sp>
      <p:sp>
        <p:nvSpPr>
          <p:cNvPr id="2" name="Title 1"/>
          <p:cNvSpPr>
            <a:spLocks noGrp="1"/>
          </p:cNvSpPr>
          <p:nvPr>
            <p:ph type="title"/>
          </p:nvPr>
        </p:nvSpPr>
        <p:spPr>
          <a:xfrm>
            <a:off x="4572000" y="777875"/>
            <a:ext cx="4058920" cy="1793875"/>
          </a:xfrm>
        </p:spPr>
        <p:txBody>
          <a:bodyPr anchor="ctr" anchorCtr="0">
            <a:normAutofit/>
          </a:bodyPr>
          <a:lstStyle>
            <a:lvl1pPr>
              <a:defRPr sz="3200">
                <a:solidFill>
                  <a:schemeClr val="bg1"/>
                </a:solidFill>
              </a:defRPr>
            </a:lvl1pPr>
          </a:lstStyle>
          <a:p>
            <a:r>
              <a:rPr lang="fr-FR"/>
              <a:t>Modifiez le style du titre</a:t>
            </a:r>
            <a:endParaRPr lang="en-US" dirty="0"/>
          </a:p>
        </p:txBody>
      </p:sp>
      <p:sp>
        <p:nvSpPr>
          <p:cNvPr id="3" name="Text Placeholder 2"/>
          <p:cNvSpPr>
            <a:spLocks noGrp="1"/>
          </p:cNvSpPr>
          <p:nvPr>
            <p:ph type="body" idx="1"/>
          </p:nvPr>
        </p:nvSpPr>
        <p:spPr>
          <a:xfrm>
            <a:off x="4572000" y="2571750"/>
            <a:ext cx="4058920" cy="2156508"/>
          </a:xfrm>
        </p:spPr>
        <p:txBody>
          <a:bodyPr/>
          <a:lstStyle>
            <a:lvl1pPr marL="0" indent="0">
              <a:buNone/>
              <a:defRPr sz="1800">
                <a:solidFill>
                  <a:schemeClr val="bg1"/>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fr-FR" dirty="0"/>
              <a:t>Modifier les styles du texte du masque
Deuxième niveau
Troisième niveau
Quatrième niveau
Cinquième niveau</a:t>
            </a:r>
          </a:p>
        </p:txBody>
      </p:sp>
      <p:sp>
        <p:nvSpPr>
          <p:cNvPr id="9" name="Espace réservé pour une image  8">
            <a:extLst>
              <a:ext uri="{FF2B5EF4-FFF2-40B4-BE49-F238E27FC236}">
                <a16:creationId xmlns:a16="http://schemas.microsoft.com/office/drawing/2014/main" id="{C58F136D-3292-C745-91DE-A21191C16FE7}"/>
              </a:ext>
            </a:extLst>
          </p:cNvPr>
          <p:cNvSpPr>
            <a:spLocks noGrp="1"/>
          </p:cNvSpPr>
          <p:nvPr>
            <p:ph type="pic" sz="quarter" idx="13"/>
          </p:nvPr>
        </p:nvSpPr>
        <p:spPr>
          <a:xfrm>
            <a:off x="904875" y="0"/>
            <a:ext cx="3667125" cy="5143500"/>
          </a:xfrm>
        </p:spPr>
        <p:txBody>
          <a:bodyPr/>
          <a:lstStyle/>
          <a:p>
            <a:r>
              <a:rPr lang="fr-FR"/>
              <a:t>Cliquez sur l'icône pour ajouter une image</a:t>
            </a:r>
          </a:p>
        </p:txBody>
      </p:sp>
      <p:sp>
        <p:nvSpPr>
          <p:cNvPr id="12" name="Espace réservé de la date 11"/>
          <p:cNvSpPr>
            <a:spLocks noGrp="1"/>
          </p:cNvSpPr>
          <p:nvPr>
            <p:ph type="dt" sz="half" idx="14"/>
          </p:nvPr>
        </p:nvSpPr>
        <p:spPr/>
        <p:txBody>
          <a:bodyPr/>
          <a:lstStyle/>
          <a:p>
            <a:r>
              <a:rPr lang="fr-CH"/>
              <a:t>NAME EVENT / NAME PRESENTATION</a:t>
            </a:r>
            <a:endParaRPr lang="fr-FR" dirty="0"/>
          </a:p>
        </p:txBody>
      </p:sp>
      <p:sp>
        <p:nvSpPr>
          <p:cNvPr id="13" name="Espace réservé du pied de page 12"/>
          <p:cNvSpPr>
            <a:spLocks noGrp="1"/>
          </p:cNvSpPr>
          <p:nvPr>
            <p:ph type="ftr" sz="quarter" idx="15"/>
          </p:nvPr>
        </p:nvSpPr>
        <p:spPr/>
        <p:txBody>
          <a:bodyPr/>
          <a:lstStyle>
            <a:lvl1pPr>
              <a:defRPr>
                <a:solidFill>
                  <a:schemeClr val="bg1"/>
                </a:solidFill>
              </a:defRPr>
            </a:lvl1pPr>
          </a:lstStyle>
          <a:p>
            <a:r>
              <a:rPr lang="fr-FR"/>
              <a:t>Speaker </a:t>
            </a:r>
            <a:endParaRPr lang="fr-FR" dirty="0"/>
          </a:p>
        </p:txBody>
      </p:sp>
      <p:sp>
        <p:nvSpPr>
          <p:cNvPr id="14" name="Espace réservé du numéro de diapositive 13"/>
          <p:cNvSpPr>
            <a:spLocks noGrp="1"/>
          </p:cNvSpPr>
          <p:nvPr>
            <p:ph type="sldNum" sz="quarter" idx="16"/>
          </p:nvPr>
        </p:nvSpPr>
        <p:spPr/>
        <p:txBody>
          <a:bodyPr/>
          <a:lstStyle>
            <a:lvl1pPr>
              <a:defRPr>
                <a:solidFill>
                  <a:schemeClr val="bg1"/>
                </a:solidFill>
              </a:defRPr>
            </a:lvl1pPr>
          </a:lstStyle>
          <a:p>
            <a:fld id="{E1E1CD7C-2161-7D43-862E-CE4C333CD873}" type="slidenum">
              <a:rPr lang="fr-FR" smtClean="0"/>
              <a:pPr/>
              <a:t>‹#›</a:t>
            </a:fld>
            <a:endParaRPr lang="fr-FR" dirty="0"/>
          </a:p>
        </p:txBody>
      </p:sp>
    </p:spTree>
    <p:extLst>
      <p:ext uri="{BB962C8B-B14F-4D97-AF65-F5344CB8AC3E}">
        <p14:creationId xmlns:p14="http://schemas.microsoft.com/office/powerpoint/2010/main" val="39888642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_Titre de section">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4A9F6C81-AE59-DE44-BF60-E773080CD91C}"/>
              </a:ext>
            </a:extLst>
          </p:cNvPr>
          <p:cNvSpPr/>
          <p:nvPr userDrawn="1"/>
        </p:nvSpPr>
        <p:spPr>
          <a:xfrm>
            <a:off x="4572000" y="0"/>
            <a:ext cx="4572000" cy="51435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latin typeface="Arial" panose="020B0604020202020204" pitchFamily="34" charset="0"/>
            </a:endParaRPr>
          </a:p>
        </p:txBody>
      </p:sp>
      <p:sp>
        <p:nvSpPr>
          <p:cNvPr id="2" name="Title 1"/>
          <p:cNvSpPr>
            <a:spLocks noGrp="1"/>
          </p:cNvSpPr>
          <p:nvPr>
            <p:ph type="title"/>
          </p:nvPr>
        </p:nvSpPr>
        <p:spPr>
          <a:xfrm>
            <a:off x="4572000" y="777875"/>
            <a:ext cx="4058920" cy="1793875"/>
          </a:xfrm>
        </p:spPr>
        <p:txBody>
          <a:bodyPr anchor="ctr" anchorCtr="0">
            <a:normAutofit/>
          </a:bodyPr>
          <a:lstStyle>
            <a:lvl1pPr>
              <a:defRPr sz="3200">
                <a:solidFill>
                  <a:schemeClr val="bg1"/>
                </a:solidFill>
              </a:defRPr>
            </a:lvl1pPr>
          </a:lstStyle>
          <a:p>
            <a:r>
              <a:rPr lang="fr-FR"/>
              <a:t>Modifiez le style du titre</a:t>
            </a:r>
            <a:endParaRPr lang="en-US" dirty="0"/>
          </a:p>
        </p:txBody>
      </p:sp>
      <p:sp>
        <p:nvSpPr>
          <p:cNvPr id="3" name="Text Placeholder 2"/>
          <p:cNvSpPr>
            <a:spLocks noGrp="1"/>
          </p:cNvSpPr>
          <p:nvPr>
            <p:ph type="body" idx="1"/>
          </p:nvPr>
        </p:nvSpPr>
        <p:spPr>
          <a:xfrm>
            <a:off x="4572000" y="2571750"/>
            <a:ext cx="4058920" cy="2156508"/>
          </a:xfrm>
        </p:spPr>
        <p:txBody>
          <a:bodyPr/>
          <a:lstStyle>
            <a:lvl1pPr marL="0" indent="0">
              <a:buNone/>
              <a:defRPr sz="1800">
                <a:solidFill>
                  <a:schemeClr val="bg1"/>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fr-FR" dirty="0"/>
              <a:t>Modifier les styles du texte du masque
Deuxième niveau
Troisième niveau
Quatrième niveau
Cinquième niveau</a:t>
            </a:r>
          </a:p>
        </p:txBody>
      </p:sp>
      <p:sp>
        <p:nvSpPr>
          <p:cNvPr id="9" name="Espace réservé pour une image  8">
            <a:extLst>
              <a:ext uri="{FF2B5EF4-FFF2-40B4-BE49-F238E27FC236}">
                <a16:creationId xmlns:a16="http://schemas.microsoft.com/office/drawing/2014/main" id="{C58F136D-3292-C745-91DE-A21191C16FE7}"/>
              </a:ext>
            </a:extLst>
          </p:cNvPr>
          <p:cNvSpPr>
            <a:spLocks noGrp="1"/>
          </p:cNvSpPr>
          <p:nvPr>
            <p:ph type="pic" sz="quarter" idx="13"/>
          </p:nvPr>
        </p:nvSpPr>
        <p:spPr>
          <a:xfrm>
            <a:off x="904875" y="0"/>
            <a:ext cx="3667125" cy="5143500"/>
          </a:xfrm>
        </p:spPr>
        <p:txBody>
          <a:bodyPr/>
          <a:lstStyle/>
          <a:p>
            <a:r>
              <a:rPr lang="fr-FR"/>
              <a:t>Cliquez sur l'icône pour ajouter une image</a:t>
            </a:r>
          </a:p>
        </p:txBody>
      </p:sp>
      <p:sp>
        <p:nvSpPr>
          <p:cNvPr id="12" name="Espace réservé de la date 11"/>
          <p:cNvSpPr>
            <a:spLocks noGrp="1"/>
          </p:cNvSpPr>
          <p:nvPr>
            <p:ph type="dt" sz="half" idx="14"/>
          </p:nvPr>
        </p:nvSpPr>
        <p:spPr/>
        <p:txBody>
          <a:bodyPr/>
          <a:lstStyle/>
          <a:p>
            <a:r>
              <a:rPr lang="fr-CH"/>
              <a:t>NAME EVENT / NAME PRESENTATION</a:t>
            </a:r>
            <a:endParaRPr lang="fr-FR" dirty="0"/>
          </a:p>
        </p:txBody>
      </p:sp>
      <p:sp>
        <p:nvSpPr>
          <p:cNvPr id="13" name="Espace réservé du pied de page 12"/>
          <p:cNvSpPr>
            <a:spLocks noGrp="1"/>
          </p:cNvSpPr>
          <p:nvPr>
            <p:ph type="ftr" sz="quarter" idx="15"/>
          </p:nvPr>
        </p:nvSpPr>
        <p:spPr/>
        <p:txBody>
          <a:bodyPr/>
          <a:lstStyle>
            <a:lvl1pPr>
              <a:defRPr>
                <a:solidFill>
                  <a:schemeClr val="bg1"/>
                </a:solidFill>
              </a:defRPr>
            </a:lvl1pPr>
          </a:lstStyle>
          <a:p>
            <a:r>
              <a:rPr lang="fr-FR"/>
              <a:t>Speaker </a:t>
            </a:r>
            <a:endParaRPr lang="fr-FR" dirty="0"/>
          </a:p>
        </p:txBody>
      </p:sp>
      <p:sp>
        <p:nvSpPr>
          <p:cNvPr id="14" name="Espace réservé du numéro de diapositive 13"/>
          <p:cNvSpPr>
            <a:spLocks noGrp="1"/>
          </p:cNvSpPr>
          <p:nvPr>
            <p:ph type="sldNum" sz="quarter" idx="16"/>
          </p:nvPr>
        </p:nvSpPr>
        <p:spPr/>
        <p:txBody>
          <a:bodyPr/>
          <a:lstStyle>
            <a:lvl1pPr>
              <a:defRPr>
                <a:solidFill>
                  <a:schemeClr val="bg1"/>
                </a:solidFill>
              </a:defRPr>
            </a:lvl1pPr>
          </a:lstStyle>
          <a:p>
            <a:fld id="{E1E1CD7C-2161-7D43-862E-CE4C333CD873}" type="slidenum">
              <a:rPr lang="fr-FR" smtClean="0"/>
              <a:pPr/>
              <a:t>‹#›</a:t>
            </a:fld>
            <a:endParaRPr lang="fr-FR" dirty="0"/>
          </a:p>
        </p:txBody>
      </p:sp>
    </p:spTree>
    <p:extLst>
      <p:ext uri="{BB962C8B-B14F-4D97-AF65-F5344CB8AC3E}">
        <p14:creationId xmlns:p14="http://schemas.microsoft.com/office/powerpoint/2010/main" val="246817738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Titre de section">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4A9F6C81-AE59-DE44-BF60-E773080CD91C}"/>
              </a:ext>
            </a:extLst>
          </p:cNvPr>
          <p:cNvSpPr/>
          <p:nvPr userDrawn="1"/>
        </p:nvSpPr>
        <p:spPr>
          <a:xfrm>
            <a:off x="4572000" y="0"/>
            <a:ext cx="4572000" cy="51435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latin typeface="Arial" panose="020B0604020202020204" pitchFamily="34" charset="0"/>
            </a:endParaRPr>
          </a:p>
        </p:txBody>
      </p:sp>
      <p:sp>
        <p:nvSpPr>
          <p:cNvPr id="2" name="Title 1"/>
          <p:cNvSpPr>
            <a:spLocks noGrp="1"/>
          </p:cNvSpPr>
          <p:nvPr>
            <p:ph type="title"/>
          </p:nvPr>
        </p:nvSpPr>
        <p:spPr>
          <a:xfrm>
            <a:off x="4572000" y="777875"/>
            <a:ext cx="4058920" cy="1793875"/>
          </a:xfrm>
        </p:spPr>
        <p:txBody>
          <a:bodyPr anchor="ctr" anchorCtr="0">
            <a:normAutofit/>
          </a:bodyPr>
          <a:lstStyle>
            <a:lvl1pPr>
              <a:defRPr sz="3200">
                <a:solidFill>
                  <a:schemeClr val="bg1"/>
                </a:solidFill>
              </a:defRPr>
            </a:lvl1pPr>
          </a:lstStyle>
          <a:p>
            <a:r>
              <a:rPr lang="fr-FR"/>
              <a:t>Modifiez le style du titre</a:t>
            </a:r>
            <a:endParaRPr lang="en-US" dirty="0"/>
          </a:p>
        </p:txBody>
      </p:sp>
      <p:sp>
        <p:nvSpPr>
          <p:cNvPr id="3" name="Text Placeholder 2"/>
          <p:cNvSpPr>
            <a:spLocks noGrp="1"/>
          </p:cNvSpPr>
          <p:nvPr>
            <p:ph type="body" idx="1"/>
          </p:nvPr>
        </p:nvSpPr>
        <p:spPr>
          <a:xfrm>
            <a:off x="4572000" y="2571750"/>
            <a:ext cx="4058920" cy="2156508"/>
          </a:xfrm>
        </p:spPr>
        <p:txBody>
          <a:bodyPr/>
          <a:lstStyle>
            <a:lvl1pPr marL="0" indent="0">
              <a:buNone/>
              <a:defRPr sz="1800">
                <a:solidFill>
                  <a:schemeClr val="bg1"/>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fr-FR"/>
              <a:t>Modifier les styles du texte du masque
Deuxième niveau
Troisième niveau
Quatrième niveau
Cinquième niveau</a:t>
            </a:r>
          </a:p>
        </p:txBody>
      </p:sp>
      <p:sp>
        <p:nvSpPr>
          <p:cNvPr id="9" name="Espace réservé pour une image  8">
            <a:extLst>
              <a:ext uri="{FF2B5EF4-FFF2-40B4-BE49-F238E27FC236}">
                <a16:creationId xmlns:a16="http://schemas.microsoft.com/office/drawing/2014/main" id="{C58F136D-3292-C745-91DE-A21191C16FE7}"/>
              </a:ext>
            </a:extLst>
          </p:cNvPr>
          <p:cNvSpPr>
            <a:spLocks noGrp="1"/>
          </p:cNvSpPr>
          <p:nvPr>
            <p:ph type="pic" sz="quarter" idx="13"/>
          </p:nvPr>
        </p:nvSpPr>
        <p:spPr>
          <a:xfrm>
            <a:off x="904875" y="0"/>
            <a:ext cx="3667125" cy="5143500"/>
          </a:xfrm>
        </p:spPr>
        <p:txBody>
          <a:bodyPr/>
          <a:lstStyle/>
          <a:p>
            <a:r>
              <a:rPr lang="fr-FR"/>
              <a:t>Cliquez sur l'icône pour ajouter une image</a:t>
            </a:r>
          </a:p>
        </p:txBody>
      </p:sp>
      <p:sp>
        <p:nvSpPr>
          <p:cNvPr id="8" name="Espace réservé de la date 7"/>
          <p:cNvSpPr>
            <a:spLocks noGrp="1"/>
          </p:cNvSpPr>
          <p:nvPr>
            <p:ph type="dt" sz="half" idx="14"/>
          </p:nvPr>
        </p:nvSpPr>
        <p:spPr/>
        <p:txBody>
          <a:bodyPr/>
          <a:lstStyle/>
          <a:p>
            <a:r>
              <a:rPr lang="fr-CH"/>
              <a:t>NAME EVENT / NAME PRESENTATION</a:t>
            </a:r>
            <a:endParaRPr lang="fr-FR" dirty="0"/>
          </a:p>
        </p:txBody>
      </p:sp>
      <p:sp>
        <p:nvSpPr>
          <p:cNvPr id="10" name="Espace réservé du pied de page 9"/>
          <p:cNvSpPr>
            <a:spLocks noGrp="1"/>
          </p:cNvSpPr>
          <p:nvPr>
            <p:ph type="ftr" sz="quarter" idx="15"/>
          </p:nvPr>
        </p:nvSpPr>
        <p:spPr/>
        <p:txBody>
          <a:bodyPr/>
          <a:lstStyle>
            <a:lvl1pPr>
              <a:defRPr>
                <a:solidFill>
                  <a:schemeClr val="bg1"/>
                </a:solidFill>
              </a:defRPr>
            </a:lvl1pPr>
          </a:lstStyle>
          <a:p>
            <a:r>
              <a:rPr lang="fr-FR"/>
              <a:t>Speaker </a:t>
            </a:r>
            <a:endParaRPr lang="fr-FR" dirty="0"/>
          </a:p>
        </p:txBody>
      </p:sp>
      <p:sp>
        <p:nvSpPr>
          <p:cNvPr id="11" name="Espace réservé du numéro de diapositive 10"/>
          <p:cNvSpPr>
            <a:spLocks noGrp="1"/>
          </p:cNvSpPr>
          <p:nvPr>
            <p:ph type="sldNum" sz="quarter" idx="16"/>
          </p:nvPr>
        </p:nvSpPr>
        <p:spPr/>
        <p:txBody>
          <a:bodyPr/>
          <a:lstStyle>
            <a:lvl1pPr>
              <a:defRPr>
                <a:solidFill>
                  <a:schemeClr val="bg1"/>
                </a:solidFill>
              </a:defRPr>
            </a:lvl1pPr>
          </a:lstStyle>
          <a:p>
            <a:fld id="{E1E1CD7C-2161-7D43-862E-CE4C333CD873}" type="slidenum">
              <a:rPr lang="fr-FR" smtClean="0"/>
              <a:pPr/>
              <a:t>‹#›</a:t>
            </a:fld>
            <a:endParaRPr lang="fr-FR" dirty="0"/>
          </a:p>
        </p:txBody>
      </p:sp>
    </p:spTree>
    <p:extLst>
      <p:ext uri="{BB962C8B-B14F-4D97-AF65-F5344CB8AC3E}">
        <p14:creationId xmlns:p14="http://schemas.microsoft.com/office/powerpoint/2010/main" val="203222960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re et contenu">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lang="fr-FR"/>
              <a:t>Modifier les styles du texte du masque
Deuxième niveau
Troisième niveau
Quatrième niveau
Cinquième niveau</a:t>
            </a:r>
          </a:p>
        </p:txBody>
      </p:sp>
      <p:sp>
        <p:nvSpPr>
          <p:cNvPr id="8" name="Titre 7">
            <a:extLst>
              <a:ext uri="{FF2B5EF4-FFF2-40B4-BE49-F238E27FC236}">
                <a16:creationId xmlns:a16="http://schemas.microsoft.com/office/drawing/2014/main" id="{A30C78BE-DAD0-D748-8B93-AD898D00C88C}"/>
              </a:ext>
            </a:extLst>
          </p:cNvPr>
          <p:cNvSpPr>
            <a:spLocks noGrp="1"/>
          </p:cNvSpPr>
          <p:nvPr>
            <p:ph type="title"/>
          </p:nvPr>
        </p:nvSpPr>
        <p:spPr/>
        <p:txBody>
          <a:bodyPr/>
          <a:lstStyle/>
          <a:p>
            <a:r>
              <a:rPr lang="fr-FR"/>
              <a:t>Modifiez le style du titre</a:t>
            </a:r>
          </a:p>
        </p:txBody>
      </p:sp>
      <p:sp>
        <p:nvSpPr>
          <p:cNvPr id="9" name="Espace réservé de la date 8">
            <a:extLst>
              <a:ext uri="{FF2B5EF4-FFF2-40B4-BE49-F238E27FC236}">
                <a16:creationId xmlns:a16="http://schemas.microsoft.com/office/drawing/2014/main" id="{131A8490-33AC-9443-A9FC-9A5E9322967C}"/>
              </a:ext>
            </a:extLst>
          </p:cNvPr>
          <p:cNvSpPr>
            <a:spLocks noGrp="1"/>
          </p:cNvSpPr>
          <p:nvPr>
            <p:ph type="dt" sz="half" idx="10"/>
          </p:nvPr>
        </p:nvSpPr>
        <p:spPr/>
        <p:txBody>
          <a:bodyPr/>
          <a:lstStyle/>
          <a:p>
            <a:r>
              <a:rPr lang="fr-CH"/>
              <a:t>NAME EVENT / NAME PRESENTATION</a:t>
            </a:r>
            <a:endParaRPr lang="fr-FR" dirty="0"/>
          </a:p>
        </p:txBody>
      </p:sp>
      <p:sp>
        <p:nvSpPr>
          <p:cNvPr id="10" name="Espace réservé du pied de page 9">
            <a:extLst>
              <a:ext uri="{FF2B5EF4-FFF2-40B4-BE49-F238E27FC236}">
                <a16:creationId xmlns:a16="http://schemas.microsoft.com/office/drawing/2014/main" id="{B875139C-6471-774D-89EF-2B93FAD2CB2A}"/>
              </a:ext>
            </a:extLst>
          </p:cNvPr>
          <p:cNvSpPr>
            <a:spLocks noGrp="1"/>
          </p:cNvSpPr>
          <p:nvPr>
            <p:ph type="ftr" sz="quarter" idx="11"/>
          </p:nvPr>
        </p:nvSpPr>
        <p:spPr/>
        <p:txBody>
          <a:bodyPr/>
          <a:lstStyle/>
          <a:p>
            <a:r>
              <a:rPr lang="fr-FR"/>
              <a:t>Speaker </a:t>
            </a:r>
            <a:endParaRPr lang="fr-FR" dirty="0"/>
          </a:p>
        </p:txBody>
      </p:sp>
      <p:sp>
        <p:nvSpPr>
          <p:cNvPr id="11" name="Espace réservé du numéro de diapositive 10">
            <a:extLst>
              <a:ext uri="{FF2B5EF4-FFF2-40B4-BE49-F238E27FC236}">
                <a16:creationId xmlns:a16="http://schemas.microsoft.com/office/drawing/2014/main" id="{3942AF23-4BDC-8C4A-9212-AF88439C6122}"/>
              </a:ext>
            </a:extLst>
          </p:cNvPr>
          <p:cNvSpPr>
            <a:spLocks noGrp="1"/>
          </p:cNvSpPr>
          <p:nvPr>
            <p:ph type="sldNum" sz="quarter" idx="12"/>
          </p:nvPr>
        </p:nvSpPr>
        <p:spPr/>
        <p:txBody>
          <a:bodyPr/>
          <a:lstStyle/>
          <a:p>
            <a:fld id="{E1E1CD7C-2161-7D43-862E-CE4C333CD873}" type="slidenum">
              <a:rPr lang="fr-FR" smtClean="0"/>
              <a:pPr/>
              <a:t>‹#›</a:t>
            </a:fld>
            <a:endParaRPr lang="fr-FR" dirty="0"/>
          </a:p>
        </p:txBody>
      </p:sp>
    </p:spTree>
    <p:extLst>
      <p:ext uri="{BB962C8B-B14F-4D97-AF65-F5344CB8AC3E}">
        <p14:creationId xmlns:p14="http://schemas.microsoft.com/office/powerpoint/2010/main" val="236962799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Titre et contenu">
    <p:spTree>
      <p:nvGrpSpPr>
        <p:cNvPr id="1" name=""/>
        <p:cNvGrpSpPr/>
        <p:nvPr/>
      </p:nvGrpSpPr>
      <p:grpSpPr>
        <a:xfrm>
          <a:off x="0" y="0"/>
          <a:ext cx="0" cy="0"/>
          <a:chOff x="0" y="0"/>
          <a:chExt cx="0" cy="0"/>
        </a:xfrm>
      </p:grpSpPr>
      <p:sp>
        <p:nvSpPr>
          <p:cNvPr id="3" name="Content Placeholder 2"/>
          <p:cNvSpPr>
            <a:spLocks noGrp="1"/>
          </p:cNvSpPr>
          <p:nvPr>
            <p:ph idx="1"/>
          </p:nvPr>
        </p:nvSpPr>
        <p:spPr>
          <a:xfrm>
            <a:off x="904875" y="1563688"/>
            <a:ext cx="4581525" cy="3386772"/>
          </a:xfrm>
        </p:spPr>
        <p:txBody>
          <a:bodyPr/>
          <a:lstStyle/>
          <a:p>
            <a:pPr lvl="0"/>
            <a:r>
              <a:rPr lang="fr-FR"/>
              <a:t>Modifier les styles du texte du masque
Deuxième niveau
Troisième niveau
Quatrième niveau
Cinquième niveau</a:t>
            </a:r>
          </a:p>
        </p:txBody>
      </p:sp>
      <p:sp>
        <p:nvSpPr>
          <p:cNvPr id="8" name="Espace réservé pour une image  7">
            <a:extLst>
              <a:ext uri="{FF2B5EF4-FFF2-40B4-BE49-F238E27FC236}">
                <a16:creationId xmlns:a16="http://schemas.microsoft.com/office/drawing/2014/main" id="{70ED9B2D-C513-AF40-B94F-355C174B8FF0}"/>
              </a:ext>
            </a:extLst>
          </p:cNvPr>
          <p:cNvSpPr>
            <a:spLocks noGrp="1"/>
          </p:cNvSpPr>
          <p:nvPr>
            <p:ph type="pic" sz="quarter" idx="13"/>
          </p:nvPr>
        </p:nvSpPr>
        <p:spPr>
          <a:xfrm>
            <a:off x="5486400" y="0"/>
            <a:ext cx="3144838" cy="5143500"/>
          </a:xfrm>
        </p:spPr>
        <p:txBody>
          <a:bodyPr/>
          <a:lstStyle/>
          <a:p>
            <a:r>
              <a:rPr lang="fr-FR"/>
              <a:t>Cliquez sur l'icône pour ajouter une image</a:t>
            </a:r>
          </a:p>
        </p:txBody>
      </p:sp>
      <p:sp>
        <p:nvSpPr>
          <p:cNvPr id="5" name="Titre 4">
            <a:extLst>
              <a:ext uri="{FF2B5EF4-FFF2-40B4-BE49-F238E27FC236}">
                <a16:creationId xmlns:a16="http://schemas.microsoft.com/office/drawing/2014/main" id="{55F20A3C-6DA6-684F-8F84-A7C8F1339C00}"/>
              </a:ext>
            </a:extLst>
          </p:cNvPr>
          <p:cNvSpPr>
            <a:spLocks noGrp="1"/>
          </p:cNvSpPr>
          <p:nvPr>
            <p:ph type="title"/>
          </p:nvPr>
        </p:nvSpPr>
        <p:spPr/>
        <p:txBody>
          <a:bodyPr/>
          <a:lstStyle/>
          <a:p>
            <a:r>
              <a:rPr lang="fr-FR"/>
              <a:t>Modifiez le style du titre</a:t>
            </a:r>
          </a:p>
        </p:txBody>
      </p:sp>
      <p:sp>
        <p:nvSpPr>
          <p:cNvPr id="6" name="Espace réservé de la date 5">
            <a:extLst>
              <a:ext uri="{FF2B5EF4-FFF2-40B4-BE49-F238E27FC236}">
                <a16:creationId xmlns:a16="http://schemas.microsoft.com/office/drawing/2014/main" id="{B633A2CC-2D27-AE47-AE09-87A5F61228B8}"/>
              </a:ext>
            </a:extLst>
          </p:cNvPr>
          <p:cNvSpPr>
            <a:spLocks noGrp="1"/>
          </p:cNvSpPr>
          <p:nvPr>
            <p:ph type="dt" sz="half" idx="14"/>
          </p:nvPr>
        </p:nvSpPr>
        <p:spPr/>
        <p:txBody>
          <a:bodyPr/>
          <a:lstStyle/>
          <a:p>
            <a:r>
              <a:rPr lang="fr-CH"/>
              <a:t>NAME EVENT / NAME PRESENTATION</a:t>
            </a:r>
            <a:endParaRPr lang="fr-FR" dirty="0"/>
          </a:p>
        </p:txBody>
      </p:sp>
      <p:sp>
        <p:nvSpPr>
          <p:cNvPr id="11" name="Espace réservé du pied de page 10">
            <a:extLst>
              <a:ext uri="{FF2B5EF4-FFF2-40B4-BE49-F238E27FC236}">
                <a16:creationId xmlns:a16="http://schemas.microsoft.com/office/drawing/2014/main" id="{CABC000E-4E22-1A40-9D3F-FE2F141E5CA4}"/>
              </a:ext>
            </a:extLst>
          </p:cNvPr>
          <p:cNvSpPr>
            <a:spLocks noGrp="1"/>
          </p:cNvSpPr>
          <p:nvPr>
            <p:ph type="ftr" sz="quarter" idx="15"/>
          </p:nvPr>
        </p:nvSpPr>
        <p:spPr/>
        <p:txBody>
          <a:bodyPr/>
          <a:lstStyle/>
          <a:p>
            <a:r>
              <a:rPr lang="fr-FR"/>
              <a:t>Speaker </a:t>
            </a:r>
            <a:endParaRPr lang="fr-FR" dirty="0"/>
          </a:p>
        </p:txBody>
      </p:sp>
      <p:sp>
        <p:nvSpPr>
          <p:cNvPr id="12" name="Espace réservé du numéro de diapositive 11">
            <a:extLst>
              <a:ext uri="{FF2B5EF4-FFF2-40B4-BE49-F238E27FC236}">
                <a16:creationId xmlns:a16="http://schemas.microsoft.com/office/drawing/2014/main" id="{0AF49D93-C78A-F646-92B0-A7932C43D9EE}"/>
              </a:ext>
            </a:extLst>
          </p:cNvPr>
          <p:cNvSpPr>
            <a:spLocks noGrp="1"/>
          </p:cNvSpPr>
          <p:nvPr>
            <p:ph type="sldNum" sz="quarter" idx="16"/>
          </p:nvPr>
        </p:nvSpPr>
        <p:spPr/>
        <p:txBody>
          <a:bodyPr/>
          <a:lstStyle/>
          <a:p>
            <a:fld id="{E1E1CD7C-2161-7D43-862E-CE4C333CD873}" type="slidenum">
              <a:rPr lang="fr-FR" smtClean="0"/>
              <a:pPr/>
              <a:t>‹#›</a:t>
            </a:fld>
            <a:endParaRPr lang="fr-FR" dirty="0"/>
          </a:p>
        </p:txBody>
      </p:sp>
    </p:spTree>
    <p:extLst>
      <p:ext uri="{BB962C8B-B14F-4D97-AF65-F5344CB8AC3E}">
        <p14:creationId xmlns:p14="http://schemas.microsoft.com/office/powerpoint/2010/main" val="414318496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2_Titre et contenu">
    <p:spTree>
      <p:nvGrpSpPr>
        <p:cNvPr id="1" name=""/>
        <p:cNvGrpSpPr/>
        <p:nvPr/>
      </p:nvGrpSpPr>
      <p:grpSpPr>
        <a:xfrm>
          <a:off x="0" y="0"/>
          <a:ext cx="0" cy="0"/>
          <a:chOff x="0" y="0"/>
          <a:chExt cx="0" cy="0"/>
        </a:xfrm>
      </p:grpSpPr>
      <p:sp>
        <p:nvSpPr>
          <p:cNvPr id="8" name="Espace réservé pour une image  7">
            <a:extLst>
              <a:ext uri="{FF2B5EF4-FFF2-40B4-BE49-F238E27FC236}">
                <a16:creationId xmlns:a16="http://schemas.microsoft.com/office/drawing/2014/main" id="{70ED9B2D-C513-AF40-B94F-355C174B8FF0}"/>
              </a:ext>
            </a:extLst>
          </p:cNvPr>
          <p:cNvSpPr>
            <a:spLocks noGrp="1"/>
          </p:cNvSpPr>
          <p:nvPr>
            <p:ph type="pic" sz="quarter" idx="13"/>
          </p:nvPr>
        </p:nvSpPr>
        <p:spPr>
          <a:xfrm>
            <a:off x="904875" y="0"/>
            <a:ext cx="3144838" cy="5143500"/>
          </a:xfrm>
        </p:spPr>
        <p:txBody>
          <a:bodyPr/>
          <a:lstStyle/>
          <a:p>
            <a:r>
              <a:rPr lang="fr-FR"/>
              <a:t>Cliquez sur l'icône pour ajouter une image</a:t>
            </a:r>
          </a:p>
        </p:txBody>
      </p:sp>
      <p:sp>
        <p:nvSpPr>
          <p:cNvPr id="3" name="Content Placeholder 2"/>
          <p:cNvSpPr>
            <a:spLocks noGrp="1"/>
          </p:cNvSpPr>
          <p:nvPr>
            <p:ph idx="1"/>
          </p:nvPr>
        </p:nvSpPr>
        <p:spPr>
          <a:xfrm>
            <a:off x="4049395" y="1563688"/>
            <a:ext cx="4581525" cy="3386772"/>
          </a:xfrm>
        </p:spPr>
        <p:txBody>
          <a:bodyPr/>
          <a:lstStyle/>
          <a:p>
            <a:pPr lvl="0"/>
            <a:r>
              <a:rPr lang="fr-FR"/>
              <a:t>Modifier les styles du texte du masque
Deuxième niveau
Troisième niveau
Quatrième niveau
Cinquième niveau</a:t>
            </a:r>
          </a:p>
        </p:txBody>
      </p:sp>
      <p:sp>
        <p:nvSpPr>
          <p:cNvPr id="7" name="Espace réservé de la date 6">
            <a:extLst>
              <a:ext uri="{FF2B5EF4-FFF2-40B4-BE49-F238E27FC236}">
                <a16:creationId xmlns:a16="http://schemas.microsoft.com/office/drawing/2014/main" id="{A02A0D73-096C-844E-97C3-C4A4AF580FDE}"/>
              </a:ext>
            </a:extLst>
          </p:cNvPr>
          <p:cNvSpPr>
            <a:spLocks noGrp="1"/>
          </p:cNvSpPr>
          <p:nvPr>
            <p:ph type="dt" sz="half" idx="14"/>
          </p:nvPr>
        </p:nvSpPr>
        <p:spPr/>
        <p:txBody>
          <a:bodyPr/>
          <a:lstStyle/>
          <a:p>
            <a:r>
              <a:rPr lang="fr-CH"/>
              <a:t>NAME EVENT / NAME PRESENTATION</a:t>
            </a:r>
            <a:endParaRPr lang="fr-FR" dirty="0"/>
          </a:p>
        </p:txBody>
      </p:sp>
      <p:sp>
        <p:nvSpPr>
          <p:cNvPr id="9" name="Espace réservé du pied de page 8">
            <a:extLst>
              <a:ext uri="{FF2B5EF4-FFF2-40B4-BE49-F238E27FC236}">
                <a16:creationId xmlns:a16="http://schemas.microsoft.com/office/drawing/2014/main" id="{CEF5AC5C-A2B6-2848-8C47-96A168E211DF}"/>
              </a:ext>
            </a:extLst>
          </p:cNvPr>
          <p:cNvSpPr>
            <a:spLocks noGrp="1"/>
          </p:cNvSpPr>
          <p:nvPr>
            <p:ph type="ftr" sz="quarter" idx="15"/>
          </p:nvPr>
        </p:nvSpPr>
        <p:spPr/>
        <p:txBody>
          <a:bodyPr/>
          <a:lstStyle/>
          <a:p>
            <a:r>
              <a:rPr lang="fr-FR"/>
              <a:t>Speaker </a:t>
            </a:r>
            <a:endParaRPr lang="fr-FR" dirty="0"/>
          </a:p>
        </p:txBody>
      </p:sp>
      <p:sp>
        <p:nvSpPr>
          <p:cNvPr id="10" name="Espace réservé du numéro de diapositive 9">
            <a:extLst>
              <a:ext uri="{FF2B5EF4-FFF2-40B4-BE49-F238E27FC236}">
                <a16:creationId xmlns:a16="http://schemas.microsoft.com/office/drawing/2014/main" id="{31B90E33-03D8-2143-B49F-B1474EE1A1F6}"/>
              </a:ext>
            </a:extLst>
          </p:cNvPr>
          <p:cNvSpPr>
            <a:spLocks noGrp="1"/>
          </p:cNvSpPr>
          <p:nvPr>
            <p:ph type="sldNum" sz="quarter" idx="16"/>
          </p:nvPr>
        </p:nvSpPr>
        <p:spPr/>
        <p:txBody>
          <a:bodyPr/>
          <a:lstStyle/>
          <a:p>
            <a:fld id="{E1E1CD7C-2161-7D43-862E-CE4C333CD873}" type="slidenum">
              <a:rPr lang="fr-FR" smtClean="0"/>
              <a:pPr/>
              <a:t>‹#›</a:t>
            </a:fld>
            <a:endParaRPr lang="fr-FR" dirty="0"/>
          </a:p>
        </p:txBody>
      </p:sp>
      <p:sp>
        <p:nvSpPr>
          <p:cNvPr id="11" name="Titre 10">
            <a:extLst>
              <a:ext uri="{FF2B5EF4-FFF2-40B4-BE49-F238E27FC236}">
                <a16:creationId xmlns:a16="http://schemas.microsoft.com/office/drawing/2014/main" id="{3FC7B5EC-066E-EC4A-B320-77DF64E6E0F0}"/>
              </a:ext>
            </a:extLst>
          </p:cNvPr>
          <p:cNvSpPr>
            <a:spLocks noGrp="1"/>
          </p:cNvSpPr>
          <p:nvPr>
            <p:ph type="title"/>
          </p:nvPr>
        </p:nvSpPr>
        <p:spPr>
          <a:xfrm>
            <a:off x="904876" y="131032"/>
            <a:ext cx="3144520" cy="1072753"/>
          </a:xfrm>
        </p:spPr>
        <p:txBody>
          <a:bodyPr/>
          <a:lstStyle/>
          <a:p>
            <a:r>
              <a:rPr lang="fr-FR" dirty="0"/>
              <a:t>Modifiez le style du titre</a:t>
            </a:r>
          </a:p>
        </p:txBody>
      </p:sp>
    </p:spTree>
    <p:extLst>
      <p:ext uri="{BB962C8B-B14F-4D97-AF65-F5344CB8AC3E}">
        <p14:creationId xmlns:p14="http://schemas.microsoft.com/office/powerpoint/2010/main" val="169895894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4_Titre et contenu">
    <p:spTree>
      <p:nvGrpSpPr>
        <p:cNvPr id="1" name=""/>
        <p:cNvGrpSpPr/>
        <p:nvPr/>
      </p:nvGrpSpPr>
      <p:grpSpPr>
        <a:xfrm>
          <a:off x="0" y="0"/>
          <a:ext cx="0" cy="0"/>
          <a:chOff x="0" y="0"/>
          <a:chExt cx="0" cy="0"/>
        </a:xfrm>
      </p:grpSpPr>
      <p:sp>
        <p:nvSpPr>
          <p:cNvPr id="8" name="Espace réservé pour une image  7">
            <a:extLst>
              <a:ext uri="{FF2B5EF4-FFF2-40B4-BE49-F238E27FC236}">
                <a16:creationId xmlns:a16="http://schemas.microsoft.com/office/drawing/2014/main" id="{70ED9B2D-C513-AF40-B94F-355C174B8FF0}"/>
              </a:ext>
            </a:extLst>
          </p:cNvPr>
          <p:cNvSpPr>
            <a:spLocks noGrp="1"/>
          </p:cNvSpPr>
          <p:nvPr>
            <p:ph type="pic" sz="quarter" idx="13"/>
          </p:nvPr>
        </p:nvSpPr>
        <p:spPr>
          <a:xfrm>
            <a:off x="904875" y="0"/>
            <a:ext cx="3144838" cy="5143500"/>
          </a:xfrm>
        </p:spPr>
        <p:txBody>
          <a:bodyPr/>
          <a:lstStyle/>
          <a:p>
            <a:r>
              <a:rPr lang="fr-FR"/>
              <a:t>Cliquez sur l'icône pour ajouter une image</a:t>
            </a:r>
          </a:p>
        </p:txBody>
      </p:sp>
      <p:sp>
        <p:nvSpPr>
          <p:cNvPr id="3" name="Content Placeholder 2"/>
          <p:cNvSpPr>
            <a:spLocks noGrp="1"/>
          </p:cNvSpPr>
          <p:nvPr>
            <p:ph idx="1"/>
          </p:nvPr>
        </p:nvSpPr>
        <p:spPr>
          <a:xfrm>
            <a:off x="4049395" y="1563688"/>
            <a:ext cx="4581525" cy="3386772"/>
          </a:xfrm>
        </p:spPr>
        <p:txBody>
          <a:bodyPr/>
          <a:lstStyle/>
          <a:p>
            <a:pPr lvl="0"/>
            <a:r>
              <a:rPr lang="fr-FR"/>
              <a:t>Modifier les styles du texte du masque
Deuxième niveau
Troisième niveau
Quatrième niveau
Cinquième niveau</a:t>
            </a:r>
          </a:p>
        </p:txBody>
      </p:sp>
      <p:sp>
        <p:nvSpPr>
          <p:cNvPr id="7" name="Espace réservé de la date 6">
            <a:extLst>
              <a:ext uri="{FF2B5EF4-FFF2-40B4-BE49-F238E27FC236}">
                <a16:creationId xmlns:a16="http://schemas.microsoft.com/office/drawing/2014/main" id="{A02A0D73-096C-844E-97C3-C4A4AF580FDE}"/>
              </a:ext>
            </a:extLst>
          </p:cNvPr>
          <p:cNvSpPr>
            <a:spLocks noGrp="1"/>
          </p:cNvSpPr>
          <p:nvPr>
            <p:ph type="dt" sz="half" idx="14"/>
          </p:nvPr>
        </p:nvSpPr>
        <p:spPr/>
        <p:txBody>
          <a:bodyPr/>
          <a:lstStyle/>
          <a:p>
            <a:r>
              <a:rPr lang="fr-CH"/>
              <a:t>NAME EVENT / NAME PRESENTATION</a:t>
            </a:r>
            <a:endParaRPr lang="fr-FR" dirty="0"/>
          </a:p>
        </p:txBody>
      </p:sp>
      <p:sp>
        <p:nvSpPr>
          <p:cNvPr id="9" name="Espace réservé du pied de page 8">
            <a:extLst>
              <a:ext uri="{FF2B5EF4-FFF2-40B4-BE49-F238E27FC236}">
                <a16:creationId xmlns:a16="http://schemas.microsoft.com/office/drawing/2014/main" id="{CEF5AC5C-A2B6-2848-8C47-96A168E211DF}"/>
              </a:ext>
            </a:extLst>
          </p:cNvPr>
          <p:cNvSpPr>
            <a:spLocks noGrp="1"/>
          </p:cNvSpPr>
          <p:nvPr>
            <p:ph type="ftr" sz="quarter" idx="15"/>
          </p:nvPr>
        </p:nvSpPr>
        <p:spPr/>
        <p:txBody>
          <a:bodyPr/>
          <a:lstStyle/>
          <a:p>
            <a:r>
              <a:rPr lang="fr-FR"/>
              <a:t>Speaker </a:t>
            </a:r>
            <a:endParaRPr lang="fr-FR" dirty="0"/>
          </a:p>
        </p:txBody>
      </p:sp>
      <p:sp>
        <p:nvSpPr>
          <p:cNvPr id="10" name="Espace réservé du numéro de diapositive 9">
            <a:extLst>
              <a:ext uri="{FF2B5EF4-FFF2-40B4-BE49-F238E27FC236}">
                <a16:creationId xmlns:a16="http://schemas.microsoft.com/office/drawing/2014/main" id="{31B90E33-03D8-2143-B49F-B1474EE1A1F6}"/>
              </a:ext>
            </a:extLst>
          </p:cNvPr>
          <p:cNvSpPr>
            <a:spLocks noGrp="1"/>
          </p:cNvSpPr>
          <p:nvPr>
            <p:ph type="sldNum" sz="quarter" idx="16"/>
          </p:nvPr>
        </p:nvSpPr>
        <p:spPr/>
        <p:txBody>
          <a:bodyPr/>
          <a:lstStyle/>
          <a:p>
            <a:fld id="{E1E1CD7C-2161-7D43-862E-CE4C333CD873}" type="slidenum">
              <a:rPr lang="fr-FR" smtClean="0"/>
              <a:pPr/>
              <a:t>‹#›</a:t>
            </a:fld>
            <a:endParaRPr lang="fr-FR" dirty="0"/>
          </a:p>
        </p:txBody>
      </p:sp>
      <p:sp>
        <p:nvSpPr>
          <p:cNvPr id="11" name="Titre 10">
            <a:extLst>
              <a:ext uri="{FF2B5EF4-FFF2-40B4-BE49-F238E27FC236}">
                <a16:creationId xmlns:a16="http://schemas.microsoft.com/office/drawing/2014/main" id="{3FC7B5EC-066E-EC4A-B320-77DF64E6E0F0}"/>
              </a:ext>
            </a:extLst>
          </p:cNvPr>
          <p:cNvSpPr>
            <a:spLocks noGrp="1"/>
          </p:cNvSpPr>
          <p:nvPr>
            <p:ph type="title"/>
          </p:nvPr>
        </p:nvSpPr>
        <p:spPr>
          <a:xfrm>
            <a:off x="4049395" y="131032"/>
            <a:ext cx="3144520" cy="1072753"/>
          </a:xfrm>
        </p:spPr>
        <p:txBody>
          <a:bodyPr/>
          <a:lstStyle/>
          <a:p>
            <a:r>
              <a:rPr lang="fr-FR" dirty="0"/>
              <a:t>Modifiez le style du titre</a:t>
            </a:r>
          </a:p>
        </p:txBody>
      </p:sp>
    </p:spTree>
    <p:extLst>
      <p:ext uri="{BB962C8B-B14F-4D97-AF65-F5344CB8AC3E}">
        <p14:creationId xmlns:p14="http://schemas.microsoft.com/office/powerpoint/2010/main" val="253142774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3_Titre et contenu">
    <p:spTree>
      <p:nvGrpSpPr>
        <p:cNvPr id="1" name=""/>
        <p:cNvGrpSpPr/>
        <p:nvPr/>
      </p:nvGrpSpPr>
      <p:grpSpPr>
        <a:xfrm>
          <a:off x="0" y="0"/>
          <a:ext cx="0" cy="0"/>
          <a:chOff x="0" y="0"/>
          <a:chExt cx="0" cy="0"/>
        </a:xfrm>
      </p:grpSpPr>
      <p:sp>
        <p:nvSpPr>
          <p:cNvPr id="8" name="Espace réservé pour une image  7">
            <a:extLst>
              <a:ext uri="{FF2B5EF4-FFF2-40B4-BE49-F238E27FC236}">
                <a16:creationId xmlns:a16="http://schemas.microsoft.com/office/drawing/2014/main" id="{70ED9B2D-C513-AF40-B94F-355C174B8FF0}"/>
              </a:ext>
            </a:extLst>
          </p:cNvPr>
          <p:cNvSpPr>
            <a:spLocks noGrp="1"/>
          </p:cNvSpPr>
          <p:nvPr>
            <p:ph type="pic" sz="quarter" idx="13"/>
          </p:nvPr>
        </p:nvSpPr>
        <p:spPr>
          <a:xfrm>
            <a:off x="904875" y="1563688"/>
            <a:ext cx="3144838" cy="3579812"/>
          </a:xfrm>
        </p:spPr>
        <p:txBody>
          <a:bodyPr/>
          <a:lstStyle/>
          <a:p>
            <a:r>
              <a:rPr lang="fr-FR"/>
              <a:t>Cliquez sur l'icône pour ajouter une image</a:t>
            </a:r>
          </a:p>
        </p:txBody>
      </p:sp>
      <p:sp>
        <p:nvSpPr>
          <p:cNvPr id="3" name="Content Placeholder 2"/>
          <p:cNvSpPr>
            <a:spLocks noGrp="1"/>
          </p:cNvSpPr>
          <p:nvPr>
            <p:ph idx="1"/>
          </p:nvPr>
        </p:nvSpPr>
        <p:spPr>
          <a:xfrm>
            <a:off x="4049395" y="1563688"/>
            <a:ext cx="4581525" cy="3386772"/>
          </a:xfrm>
        </p:spPr>
        <p:txBody>
          <a:bodyPr/>
          <a:lstStyle/>
          <a:p>
            <a:pPr lvl="0"/>
            <a:r>
              <a:rPr lang="fr-FR"/>
              <a:t>Modifier les styles du texte du masque
Deuxième niveau
Troisième niveau
Quatrième niveau
Cinquième niveau</a:t>
            </a:r>
          </a:p>
        </p:txBody>
      </p:sp>
      <p:sp>
        <p:nvSpPr>
          <p:cNvPr id="7" name="Titre 6">
            <a:extLst>
              <a:ext uri="{FF2B5EF4-FFF2-40B4-BE49-F238E27FC236}">
                <a16:creationId xmlns:a16="http://schemas.microsoft.com/office/drawing/2014/main" id="{C026A30B-6F8E-1445-88F0-A5FB77E124E9}"/>
              </a:ext>
            </a:extLst>
          </p:cNvPr>
          <p:cNvSpPr>
            <a:spLocks noGrp="1"/>
          </p:cNvSpPr>
          <p:nvPr>
            <p:ph type="title"/>
          </p:nvPr>
        </p:nvSpPr>
        <p:spPr/>
        <p:txBody>
          <a:bodyPr/>
          <a:lstStyle/>
          <a:p>
            <a:r>
              <a:rPr lang="fr-FR"/>
              <a:t>Modifiez le style du titre</a:t>
            </a:r>
          </a:p>
        </p:txBody>
      </p:sp>
      <p:sp>
        <p:nvSpPr>
          <p:cNvPr id="9" name="Espace réservé de la date 8">
            <a:extLst>
              <a:ext uri="{FF2B5EF4-FFF2-40B4-BE49-F238E27FC236}">
                <a16:creationId xmlns:a16="http://schemas.microsoft.com/office/drawing/2014/main" id="{826567D5-4A83-9E48-B441-CCB2A72BA6D1}"/>
              </a:ext>
            </a:extLst>
          </p:cNvPr>
          <p:cNvSpPr>
            <a:spLocks noGrp="1"/>
          </p:cNvSpPr>
          <p:nvPr>
            <p:ph type="dt" sz="half" idx="14"/>
          </p:nvPr>
        </p:nvSpPr>
        <p:spPr/>
        <p:txBody>
          <a:bodyPr/>
          <a:lstStyle/>
          <a:p>
            <a:r>
              <a:rPr lang="fr-CH"/>
              <a:t>NAME EVENT / NAME PRESENTATION</a:t>
            </a:r>
            <a:endParaRPr lang="fr-FR" dirty="0"/>
          </a:p>
        </p:txBody>
      </p:sp>
      <p:sp>
        <p:nvSpPr>
          <p:cNvPr id="10" name="Espace réservé du pied de page 9">
            <a:extLst>
              <a:ext uri="{FF2B5EF4-FFF2-40B4-BE49-F238E27FC236}">
                <a16:creationId xmlns:a16="http://schemas.microsoft.com/office/drawing/2014/main" id="{C830A539-93F1-2541-B9F0-330893BD5190}"/>
              </a:ext>
            </a:extLst>
          </p:cNvPr>
          <p:cNvSpPr>
            <a:spLocks noGrp="1"/>
          </p:cNvSpPr>
          <p:nvPr>
            <p:ph type="ftr" sz="quarter" idx="15"/>
          </p:nvPr>
        </p:nvSpPr>
        <p:spPr/>
        <p:txBody>
          <a:bodyPr/>
          <a:lstStyle/>
          <a:p>
            <a:r>
              <a:rPr lang="fr-FR"/>
              <a:t>Speaker </a:t>
            </a:r>
            <a:endParaRPr lang="fr-FR" dirty="0"/>
          </a:p>
        </p:txBody>
      </p:sp>
      <p:sp>
        <p:nvSpPr>
          <p:cNvPr id="11" name="Espace réservé du numéro de diapositive 10">
            <a:extLst>
              <a:ext uri="{FF2B5EF4-FFF2-40B4-BE49-F238E27FC236}">
                <a16:creationId xmlns:a16="http://schemas.microsoft.com/office/drawing/2014/main" id="{82F21D18-8706-7E4D-8FBE-C1E2584541D1}"/>
              </a:ext>
            </a:extLst>
          </p:cNvPr>
          <p:cNvSpPr>
            <a:spLocks noGrp="1"/>
          </p:cNvSpPr>
          <p:nvPr>
            <p:ph type="sldNum" sz="quarter" idx="16"/>
          </p:nvPr>
        </p:nvSpPr>
        <p:spPr/>
        <p:txBody>
          <a:bodyPr/>
          <a:lstStyle/>
          <a:p>
            <a:fld id="{E1E1CD7C-2161-7D43-862E-CE4C333CD873}" type="slidenum">
              <a:rPr lang="fr-FR" smtClean="0"/>
              <a:pPr/>
              <a:t>‹#›</a:t>
            </a:fld>
            <a:endParaRPr lang="fr-FR" dirty="0"/>
          </a:p>
        </p:txBody>
      </p:sp>
    </p:spTree>
    <p:extLst>
      <p:ext uri="{BB962C8B-B14F-4D97-AF65-F5344CB8AC3E}">
        <p14:creationId xmlns:p14="http://schemas.microsoft.com/office/powerpoint/2010/main" val="243454521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Deux contenus">
    <p:spTree>
      <p:nvGrpSpPr>
        <p:cNvPr id="1" name=""/>
        <p:cNvGrpSpPr/>
        <p:nvPr/>
      </p:nvGrpSpPr>
      <p:grpSpPr>
        <a:xfrm>
          <a:off x="0" y="0"/>
          <a:ext cx="0" cy="0"/>
          <a:chOff x="0" y="0"/>
          <a:chExt cx="0" cy="0"/>
        </a:xfrm>
      </p:grpSpPr>
      <p:sp>
        <p:nvSpPr>
          <p:cNvPr id="3" name="Content Placeholder 2"/>
          <p:cNvSpPr>
            <a:spLocks noGrp="1"/>
          </p:cNvSpPr>
          <p:nvPr>
            <p:ph sz="half" idx="1"/>
          </p:nvPr>
        </p:nvSpPr>
        <p:spPr>
          <a:xfrm>
            <a:off x="904875" y="1563688"/>
            <a:ext cx="3671466" cy="3263504"/>
          </a:xfrm>
        </p:spPr>
        <p:txBody>
          <a:bodyPr/>
          <a:lstStyle/>
          <a:p>
            <a:pPr lvl="0"/>
            <a:r>
              <a:rPr lang="fr-FR"/>
              <a:t>Modifier les styles du texte du masque
Deuxième niveau
Troisième niveau
Quatrième niveau
Cinquième niveau</a:t>
            </a:r>
          </a:p>
        </p:txBody>
      </p:sp>
      <p:sp>
        <p:nvSpPr>
          <p:cNvPr id="4" name="Content Placeholder 3"/>
          <p:cNvSpPr>
            <a:spLocks noGrp="1"/>
          </p:cNvSpPr>
          <p:nvPr>
            <p:ph sz="half" idx="2"/>
          </p:nvPr>
        </p:nvSpPr>
        <p:spPr>
          <a:xfrm>
            <a:off x="4959772" y="1563688"/>
            <a:ext cx="3671466" cy="3263504"/>
          </a:xfrm>
        </p:spPr>
        <p:txBody>
          <a:bodyPr/>
          <a:lstStyle/>
          <a:p>
            <a:pPr lvl="0"/>
            <a:r>
              <a:rPr lang="fr-FR"/>
              <a:t>Modifier les styles du texte du masque
Deuxième niveau
Troisième niveau
Quatrième niveau
Cinquième niveau</a:t>
            </a:r>
          </a:p>
        </p:txBody>
      </p:sp>
      <p:sp>
        <p:nvSpPr>
          <p:cNvPr id="8" name="Titre 7">
            <a:extLst>
              <a:ext uri="{FF2B5EF4-FFF2-40B4-BE49-F238E27FC236}">
                <a16:creationId xmlns:a16="http://schemas.microsoft.com/office/drawing/2014/main" id="{6897D737-724C-984A-82E1-2A2DBD5F6249}"/>
              </a:ext>
            </a:extLst>
          </p:cNvPr>
          <p:cNvSpPr>
            <a:spLocks noGrp="1"/>
          </p:cNvSpPr>
          <p:nvPr>
            <p:ph type="title"/>
          </p:nvPr>
        </p:nvSpPr>
        <p:spPr/>
        <p:txBody>
          <a:bodyPr/>
          <a:lstStyle/>
          <a:p>
            <a:r>
              <a:rPr lang="fr-FR"/>
              <a:t>Modifiez le style du titre</a:t>
            </a:r>
          </a:p>
        </p:txBody>
      </p:sp>
      <p:sp>
        <p:nvSpPr>
          <p:cNvPr id="9" name="Espace réservé de la date 8">
            <a:extLst>
              <a:ext uri="{FF2B5EF4-FFF2-40B4-BE49-F238E27FC236}">
                <a16:creationId xmlns:a16="http://schemas.microsoft.com/office/drawing/2014/main" id="{E34C2B73-67B7-BB4C-AE0F-7D16D8DDD2B2}"/>
              </a:ext>
            </a:extLst>
          </p:cNvPr>
          <p:cNvSpPr>
            <a:spLocks noGrp="1"/>
          </p:cNvSpPr>
          <p:nvPr>
            <p:ph type="dt" sz="half" idx="10"/>
          </p:nvPr>
        </p:nvSpPr>
        <p:spPr/>
        <p:txBody>
          <a:bodyPr/>
          <a:lstStyle/>
          <a:p>
            <a:r>
              <a:rPr lang="fr-CH"/>
              <a:t>NAME EVENT / NAME PRESENTATION</a:t>
            </a:r>
            <a:endParaRPr lang="fr-FR" dirty="0"/>
          </a:p>
        </p:txBody>
      </p:sp>
      <p:sp>
        <p:nvSpPr>
          <p:cNvPr id="10" name="Espace réservé du pied de page 9">
            <a:extLst>
              <a:ext uri="{FF2B5EF4-FFF2-40B4-BE49-F238E27FC236}">
                <a16:creationId xmlns:a16="http://schemas.microsoft.com/office/drawing/2014/main" id="{C9FF6AA9-AC16-D748-B815-56221BFFFB93}"/>
              </a:ext>
            </a:extLst>
          </p:cNvPr>
          <p:cNvSpPr>
            <a:spLocks noGrp="1"/>
          </p:cNvSpPr>
          <p:nvPr>
            <p:ph type="ftr" sz="quarter" idx="11"/>
          </p:nvPr>
        </p:nvSpPr>
        <p:spPr/>
        <p:txBody>
          <a:bodyPr/>
          <a:lstStyle/>
          <a:p>
            <a:r>
              <a:rPr lang="fr-FR"/>
              <a:t>Speaker </a:t>
            </a:r>
            <a:endParaRPr lang="fr-FR" dirty="0"/>
          </a:p>
        </p:txBody>
      </p:sp>
      <p:sp>
        <p:nvSpPr>
          <p:cNvPr id="11" name="Espace réservé du numéro de diapositive 10">
            <a:extLst>
              <a:ext uri="{FF2B5EF4-FFF2-40B4-BE49-F238E27FC236}">
                <a16:creationId xmlns:a16="http://schemas.microsoft.com/office/drawing/2014/main" id="{DD59D891-3F23-D04C-AB43-6FA4220AFE80}"/>
              </a:ext>
            </a:extLst>
          </p:cNvPr>
          <p:cNvSpPr>
            <a:spLocks noGrp="1"/>
          </p:cNvSpPr>
          <p:nvPr>
            <p:ph type="sldNum" sz="quarter" idx="12"/>
          </p:nvPr>
        </p:nvSpPr>
        <p:spPr/>
        <p:txBody>
          <a:bodyPr/>
          <a:lstStyle/>
          <a:p>
            <a:fld id="{E1E1CD7C-2161-7D43-862E-CE4C333CD873}" type="slidenum">
              <a:rPr lang="fr-FR" smtClean="0"/>
              <a:pPr/>
              <a:t>‹#›</a:t>
            </a:fld>
            <a:endParaRPr lang="fr-FR" dirty="0"/>
          </a:p>
        </p:txBody>
      </p:sp>
    </p:spTree>
    <p:extLst>
      <p:ext uri="{BB962C8B-B14F-4D97-AF65-F5344CB8AC3E}">
        <p14:creationId xmlns:p14="http://schemas.microsoft.com/office/powerpoint/2010/main" val="177670623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re seul">
    <p:spTree>
      <p:nvGrpSpPr>
        <p:cNvPr id="1" name=""/>
        <p:cNvGrpSpPr/>
        <p:nvPr/>
      </p:nvGrpSpPr>
      <p:grpSpPr>
        <a:xfrm>
          <a:off x="0" y="0"/>
          <a:ext cx="0" cy="0"/>
          <a:chOff x="0" y="0"/>
          <a:chExt cx="0" cy="0"/>
        </a:xfrm>
      </p:grpSpPr>
      <p:sp>
        <p:nvSpPr>
          <p:cNvPr id="6" name="Titre 5">
            <a:extLst>
              <a:ext uri="{FF2B5EF4-FFF2-40B4-BE49-F238E27FC236}">
                <a16:creationId xmlns:a16="http://schemas.microsoft.com/office/drawing/2014/main" id="{9BFFD8D9-6AAA-B44F-8BD5-98D7A6546A6C}"/>
              </a:ext>
            </a:extLst>
          </p:cNvPr>
          <p:cNvSpPr>
            <a:spLocks noGrp="1"/>
          </p:cNvSpPr>
          <p:nvPr>
            <p:ph type="title"/>
          </p:nvPr>
        </p:nvSpPr>
        <p:spPr/>
        <p:txBody>
          <a:bodyPr/>
          <a:lstStyle/>
          <a:p>
            <a:r>
              <a:rPr lang="fr-FR"/>
              <a:t>Modifiez le style du titre</a:t>
            </a:r>
          </a:p>
        </p:txBody>
      </p:sp>
      <p:sp>
        <p:nvSpPr>
          <p:cNvPr id="7" name="Espace réservé de la date 6">
            <a:extLst>
              <a:ext uri="{FF2B5EF4-FFF2-40B4-BE49-F238E27FC236}">
                <a16:creationId xmlns:a16="http://schemas.microsoft.com/office/drawing/2014/main" id="{084C64CE-C88F-2044-AD84-19F588F18902}"/>
              </a:ext>
            </a:extLst>
          </p:cNvPr>
          <p:cNvSpPr>
            <a:spLocks noGrp="1"/>
          </p:cNvSpPr>
          <p:nvPr>
            <p:ph type="dt" sz="half" idx="10"/>
          </p:nvPr>
        </p:nvSpPr>
        <p:spPr/>
        <p:txBody>
          <a:bodyPr/>
          <a:lstStyle/>
          <a:p>
            <a:r>
              <a:rPr lang="fr-CH"/>
              <a:t>NAME EVENT / NAME PRESENTATION</a:t>
            </a:r>
            <a:endParaRPr lang="fr-FR" dirty="0"/>
          </a:p>
        </p:txBody>
      </p:sp>
      <p:sp>
        <p:nvSpPr>
          <p:cNvPr id="8" name="Espace réservé du pied de page 7">
            <a:extLst>
              <a:ext uri="{FF2B5EF4-FFF2-40B4-BE49-F238E27FC236}">
                <a16:creationId xmlns:a16="http://schemas.microsoft.com/office/drawing/2014/main" id="{A948AF20-C2DF-3542-BB6A-8354A9817325}"/>
              </a:ext>
            </a:extLst>
          </p:cNvPr>
          <p:cNvSpPr>
            <a:spLocks noGrp="1"/>
          </p:cNvSpPr>
          <p:nvPr>
            <p:ph type="ftr" sz="quarter" idx="11"/>
          </p:nvPr>
        </p:nvSpPr>
        <p:spPr/>
        <p:txBody>
          <a:bodyPr/>
          <a:lstStyle/>
          <a:p>
            <a:r>
              <a:rPr lang="fr-FR"/>
              <a:t>Speaker </a:t>
            </a:r>
            <a:endParaRPr lang="fr-FR" dirty="0"/>
          </a:p>
        </p:txBody>
      </p:sp>
      <p:sp>
        <p:nvSpPr>
          <p:cNvPr id="9" name="Espace réservé du numéro de diapositive 8">
            <a:extLst>
              <a:ext uri="{FF2B5EF4-FFF2-40B4-BE49-F238E27FC236}">
                <a16:creationId xmlns:a16="http://schemas.microsoft.com/office/drawing/2014/main" id="{71083942-1443-BC45-9F95-32C82A8DCDEF}"/>
              </a:ext>
            </a:extLst>
          </p:cNvPr>
          <p:cNvSpPr>
            <a:spLocks noGrp="1"/>
          </p:cNvSpPr>
          <p:nvPr>
            <p:ph type="sldNum" sz="quarter" idx="12"/>
          </p:nvPr>
        </p:nvSpPr>
        <p:spPr/>
        <p:txBody>
          <a:bodyPr/>
          <a:lstStyle/>
          <a:p>
            <a:fld id="{E1E1CD7C-2161-7D43-862E-CE4C333CD873}" type="slidenum">
              <a:rPr lang="fr-FR" smtClean="0"/>
              <a:pPr/>
              <a:t>‹#›</a:t>
            </a:fld>
            <a:endParaRPr lang="fr-FR" dirty="0"/>
          </a:p>
        </p:txBody>
      </p:sp>
    </p:spTree>
    <p:extLst>
      <p:ext uri="{BB962C8B-B14F-4D97-AF65-F5344CB8AC3E}">
        <p14:creationId xmlns:p14="http://schemas.microsoft.com/office/powerpoint/2010/main" val="307403935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Titre seul">
    <p:spTree>
      <p:nvGrpSpPr>
        <p:cNvPr id="1" name=""/>
        <p:cNvGrpSpPr/>
        <p:nvPr/>
      </p:nvGrpSpPr>
      <p:grpSpPr>
        <a:xfrm>
          <a:off x="0" y="0"/>
          <a:ext cx="0" cy="0"/>
          <a:chOff x="0" y="0"/>
          <a:chExt cx="0" cy="0"/>
        </a:xfrm>
      </p:grpSpPr>
      <p:sp>
        <p:nvSpPr>
          <p:cNvPr id="7" name="Espace réservé pour une image  6">
            <a:extLst>
              <a:ext uri="{FF2B5EF4-FFF2-40B4-BE49-F238E27FC236}">
                <a16:creationId xmlns:a16="http://schemas.microsoft.com/office/drawing/2014/main" id="{625DAC6D-23F0-6941-BE81-E7A79CA3AFFD}"/>
              </a:ext>
            </a:extLst>
          </p:cNvPr>
          <p:cNvSpPr>
            <a:spLocks noGrp="1"/>
          </p:cNvSpPr>
          <p:nvPr>
            <p:ph type="pic" sz="quarter" idx="13"/>
          </p:nvPr>
        </p:nvSpPr>
        <p:spPr>
          <a:xfrm>
            <a:off x="904875" y="0"/>
            <a:ext cx="8239125" cy="5143500"/>
          </a:xfrm>
        </p:spPr>
        <p:txBody>
          <a:bodyPr/>
          <a:lstStyle/>
          <a:p>
            <a:r>
              <a:rPr lang="fr-FR"/>
              <a:t>Cliquez sur l'icône pour ajouter une image</a:t>
            </a:r>
          </a:p>
        </p:txBody>
      </p:sp>
      <p:sp>
        <p:nvSpPr>
          <p:cNvPr id="2" name="Title 1"/>
          <p:cNvSpPr>
            <a:spLocks noGrp="1"/>
          </p:cNvSpPr>
          <p:nvPr>
            <p:ph type="title"/>
          </p:nvPr>
        </p:nvSpPr>
        <p:spPr>
          <a:xfrm>
            <a:off x="6405563" y="2571750"/>
            <a:ext cx="2738437" cy="2111375"/>
          </a:xfrm>
          <a:solidFill>
            <a:schemeClr val="accent2"/>
          </a:solidFill>
        </p:spPr>
        <p:txBody>
          <a:bodyPr anchor="ctr" anchorCtr="0"/>
          <a:lstStyle>
            <a:lvl1pPr>
              <a:defRPr>
                <a:solidFill>
                  <a:schemeClr val="bg1"/>
                </a:solidFill>
              </a:defRPr>
            </a:lvl1pPr>
          </a:lstStyle>
          <a:p>
            <a:r>
              <a:rPr lang="fr-FR"/>
              <a:t>Modifiez le style du titre</a:t>
            </a:r>
            <a:endParaRPr lang="en-US" dirty="0"/>
          </a:p>
        </p:txBody>
      </p:sp>
      <p:sp>
        <p:nvSpPr>
          <p:cNvPr id="3" name="Espace réservé de la date 2">
            <a:extLst>
              <a:ext uri="{FF2B5EF4-FFF2-40B4-BE49-F238E27FC236}">
                <a16:creationId xmlns:a16="http://schemas.microsoft.com/office/drawing/2014/main" id="{60E5EA1C-63CE-2C4F-B9F4-39FDBC14B9A3}"/>
              </a:ext>
            </a:extLst>
          </p:cNvPr>
          <p:cNvSpPr>
            <a:spLocks noGrp="1"/>
          </p:cNvSpPr>
          <p:nvPr>
            <p:ph type="dt" sz="half" idx="14"/>
          </p:nvPr>
        </p:nvSpPr>
        <p:spPr/>
        <p:txBody>
          <a:bodyPr/>
          <a:lstStyle/>
          <a:p>
            <a:r>
              <a:rPr lang="fr-CH"/>
              <a:t>NAME EVENT / NAME PRESENTATION</a:t>
            </a:r>
            <a:endParaRPr lang="fr-FR" dirty="0"/>
          </a:p>
        </p:txBody>
      </p:sp>
      <p:sp>
        <p:nvSpPr>
          <p:cNvPr id="4" name="Espace réservé du pied de page 3">
            <a:extLst>
              <a:ext uri="{FF2B5EF4-FFF2-40B4-BE49-F238E27FC236}">
                <a16:creationId xmlns:a16="http://schemas.microsoft.com/office/drawing/2014/main" id="{8E7A5892-F23D-BD48-84D1-FD279BA16865}"/>
              </a:ext>
            </a:extLst>
          </p:cNvPr>
          <p:cNvSpPr>
            <a:spLocks noGrp="1"/>
          </p:cNvSpPr>
          <p:nvPr>
            <p:ph type="ftr" sz="quarter" idx="15"/>
          </p:nvPr>
        </p:nvSpPr>
        <p:spPr/>
        <p:txBody>
          <a:bodyPr/>
          <a:lstStyle/>
          <a:p>
            <a:r>
              <a:rPr lang="fr-FR"/>
              <a:t>Speaker </a:t>
            </a:r>
            <a:endParaRPr lang="fr-FR" dirty="0"/>
          </a:p>
        </p:txBody>
      </p:sp>
      <p:sp>
        <p:nvSpPr>
          <p:cNvPr id="5" name="Espace réservé du numéro de diapositive 4">
            <a:extLst>
              <a:ext uri="{FF2B5EF4-FFF2-40B4-BE49-F238E27FC236}">
                <a16:creationId xmlns:a16="http://schemas.microsoft.com/office/drawing/2014/main" id="{6C516D46-C7BB-2141-A4EE-18D1756414F6}"/>
              </a:ext>
            </a:extLst>
          </p:cNvPr>
          <p:cNvSpPr>
            <a:spLocks noGrp="1"/>
          </p:cNvSpPr>
          <p:nvPr>
            <p:ph type="sldNum" sz="quarter" idx="16"/>
          </p:nvPr>
        </p:nvSpPr>
        <p:spPr/>
        <p:txBody>
          <a:bodyPr/>
          <a:lstStyle/>
          <a:p>
            <a:fld id="{E1E1CD7C-2161-7D43-862E-CE4C333CD873}" type="slidenum">
              <a:rPr lang="fr-FR" smtClean="0"/>
              <a:pPr/>
              <a:t>‹#›</a:t>
            </a:fld>
            <a:endParaRPr lang="fr-FR" dirty="0"/>
          </a:p>
        </p:txBody>
      </p:sp>
    </p:spTree>
    <p:extLst>
      <p:ext uri="{BB962C8B-B14F-4D97-AF65-F5344CB8AC3E}">
        <p14:creationId xmlns:p14="http://schemas.microsoft.com/office/powerpoint/2010/main" val="204094835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2_Titre seul">
    <p:spTree>
      <p:nvGrpSpPr>
        <p:cNvPr id="1" name=""/>
        <p:cNvGrpSpPr/>
        <p:nvPr/>
      </p:nvGrpSpPr>
      <p:grpSpPr>
        <a:xfrm>
          <a:off x="0" y="0"/>
          <a:ext cx="0" cy="0"/>
          <a:chOff x="0" y="0"/>
          <a:chExt cx="0" cy="0"/>
        </a:xfrm>
      </p:grpSpPr>
      <p:sp>
        <p:nvSpPr>
          <p:cNvPr id="7" name="Espace réservé pour une image  6">
            <a:extLst>
              <a:ext uri="{FF2B5EF4-FFF2-40B4-BE49-F238E27FC236}">
                <a16:creationId xmlns:a16="http://schemas.microsoft.com/office/drawing/2014/main" id="{625DAC6D-23F0-6941-BE81-E7A79CA3AFFD}"/>
              </a:ext>
            </a:extLst>
          </p:cNvPr>
          <p:cNvSpPr>
            <a:spLocks noGrp="1"/>
          </p:cNvSpPr>
          <p:nvPr>
            <p:ph type="pic" sz="quarter" idx="13"/>
          </p:nvPr>
        </p:nvSpPr>
        <p:spPr>
          <a:xfrm>
            <a:off x="904875" y="0"/>
            <a:ext cx="7726363" cy="5143500"/>
          </a:xfrm>
        </p:spPr>
        <p:txBody>
          <a:bodyPr/>
          <a:lstStyle/>
          <a:p>
            <a:r>
              <a:rPr lang="fr-FR"/>
              <a:t>Cliquez sur l'icône pour ajouter une image</a:t>
            </a:r>
          </a:p>
        </p:txBody>
      </p:sp>
      <p:sp>
        <p:nvSpPr>
          <p:cNvPr id="5" name="Espace réservé de la date 4">
            <a:extLst>
              <a:ext uri="{FF2B5EF4-FFF2-40B4-BE49-F238E27FC236}">
                <a16:creationId xmlns:a16="http://schemas.microsoft.com/office/drawing/2014/main" id="{91E6F4EB-CC02-6E4D-9146-CE4A7A789A95}"/>
              </a:ext>
            </a:extLst>
          </p:cNvPr>
          <p:cNvSpPr>
            <a:spLocks noGrp="1"/>
          </p:cNvSpPr>
          <p:nvPr>
            <p:ph type="dt" sz="half" idx="14"/>
          </p:nvPr>
        </p:nvSpPr>
        <p:spPr/>
        <p:txBody>
          <a:bodyPr/>
          <a:lstStyle/>
          <a:p>
            <a:r>
              <a:rPr lang="fr-CH"/>
              <a:t>NAME EVENT / NAME PRESENTATION</a:t>
            </a:r>
            <a:endParaRPr lang="fr-FR" dirty="0"/>
          </a:p>
        </p:txBody>
      </p:sp>
      <p:sp>
        <p:nvSpPr>
          <p:cNvPr id="6" name="Espace réservé du pied de page 5">
            <a:extLst>
              <a:ext uri="{FF2B5EF4-FFF2-40B4-BE49-F238E27FC236}">
                <a16:creationId xmlns:a16="http://schemas.microsoft.com/office/drawing/2014/main" id="{DED4AA2C-29B3-CA42-B7C3-C932911A7586}"/>
              </a:ext>
            </a:extLst>
          </p:cNvPr>
          <p:cNvSpPr>
            <a:spLocks noGrp="1"/>
          </p:cNvSpPr>
          <p:nvPr>
            <p:ph type="ftr" sz="quarter" idx="15"/>
          </p:nvPr>
        </p:nvSpPr>
        <p:spPr/>
        <p:txBody>
          <a:bodyPr/>
          <a:lstStyle/>
          <a:p>
            <a:r>
              <a:rPr lang="fr-FR"/>
              <a:t>Speaker </a:t>
            </a:r>
            <a:endParaRPr lang="fr-FR" dirty="0"/>
          </a:p>
        </p:txBody>
      </p:sp>
      <p:sp>
        <p:nvSpPr>
          <p:cNvPr id="8" name="Espace réservé du numéro de diapositive 7">
            <a:extLst>
              <a:ext uri="{FF2B5EF4-FFF2-40B4-BE49-F238E27FC236}">
                <a16:creationId xmlns:a16="http://schemas.microsoft.com/office/drawing/2014/main" id="{0FE7A1E3-AAEC-7641-B6C5-8D9FC0B6A211}"/>
              </a:ext>
            </a:extLst>
          </p:cNvPr>
          <p:cNvSpPr>
            <a:spLocks noGrp="1"/>
          </p:cNvSpPr>
          <p:nvPr>
            <p:ph type="sldNum" sz="quarter" idx="16"/>
          </p:nvPr>
        </p:nvSpPr>
        <p:spPr/>
        <p:txBody>
          <a:bodyPr/>
          <a:lstStyle/>
          <a:p>
            <a:fld id="{E1E1CD7C-2161-7D43-862E-CE4C333CD873}" type="slidenum">
              <a:rPr lang="fr-FR" smtClean="0"/>
              <a:pPr/>
              <a:t>‹#›</a:t>
            </a:fld>
            <a:endParaRPr lang="fr-FR" dirty="0"/>
          </a:p>
        </p:txBody>
      </p:sp>
    </p:spTree>
    <p:extLst>
      <p:ext uri="{BB962C8B-B14F-4D97-AF65-F5344CB8AC3E}">
        <p14:creationId xmlns:p14="http://schemas.microsoft.com/office/powerpoint/2010/main" val="120172720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3_Titre seul">
    <p:spTree>
      <p:nvGrpSpPr>
        <p:cNvPr id="1" name=""/>
        <p:cNvGrpSpPr/>
        <p:nvPr/>
      </p:nvGrpSpPr>
      <p:grpSpPr>
        <a:xfrm>
          <a:off x="0" y="0"/>
          <a:ext cx="0" cy="0"/>
          <a:chOff x="0" y="0"/>
          <a:chExt cx="0" cy="0"/>
        </a:xfrm>
      </p:grpSpPr>
      <p:sp>
        <p:nvSpPr>
          <p:cNvPr id="7" name="Espace réservé pour une image  6">
            <a:extLst>
              <a:ext uri="{FF2B5EF4-FFF2-40B4-BE49-F238E27FC236}">
                <a16:creationId xmlns:a16="http://schemas.microsoft.com/office/drawing/2014/main" id="{625DAC6D-23F0-6941-BE81-E7A79CA3AFFD}"/>
              </a:ext>
            </a:extLst>
          </p:cNvPr>
          <p:cNvSpPr>
            <a:spLocks noGrp="1"/>
          </p:cNvSpPr>
          <p:nvPr>
            <p:ph type="pic" sz="quarter" idx="13"/>
          </p:nvPr>
        </p:nvSpPr>
        <p:spPr>
          <a:xfrm>
            <a:off x="904875" y="3114674"/>
            <a:ext cx="8239125" cy="2028825"/>
          </a:xfrm>
        </p:spPr>
        <p:txBody>
          <a:bodyPr/>
          <a:lstStyle/>
          <a:p>
            <a:r>
              <a:rPr lang="fr-FR"/>
              <a:t>Cliquez sur l'icône pour ajouter une image</a:t>
            </a:r>
          </a:p>
        </p:txBody>
      </p:sp>
      <p:sp>
        <p:nvSpPr>
          <p:cNvPr id="4" name="Espace réservé du texte 3"/>
          <p:cNvSpPr>
            <a:spLocks noGrp="1"/>
          </p:cNvSpPr>
          <p:nvPr>
            <p:ph type="body" sz="quarter" idx="17"/>
          </p:nvPr>
        </p:nvSpPr>
        <p:spPr>
          <a:xfrm>
            <a:off x="904875" y="1563688"/>
            <a:ext cx="7646988" cy="1436687"/>
          </a:xfrm>
        </p:spPr>
        <p:txBody>
          <a:bodyPr/>
          <a:lstStyle>
            <a:lvl4pPr>
              <a:defRPr>
                <a:latin typeface="Arial" panose="020B0604020202020204" pitchFamily="34" charset="0"/>
              </a:defRPr>
            </a:lvl4pPr>
            <a:lvl5pPr>
              <a:defRPr>
                <a:latin typeface="Arial" panose="020B0604020202020204" pitchFamily="34" charset="0"/>
              </a:defRPr>
            </a:lvl5pPr>
          </a:lstStyle>
          <a:p>
            <a:pPr lvl="0"/>
            <a:r>
              <a:rPr lang="fr-FR"/>
              <a:t>Modifier les styles du texte du masque
Deuxième niveau
Troisième niveau
Quatrième niveau
Cinquième niveau</a:t>
            </a:r>
            <a:endParaRPr lang="fr-CH" dirty="0"/>
          </a:p>
        </p:txBody>
      </p:sp>
      <p:sp>
        <p:nvSpPr>
          <p:cNvPr id="6" name="Espace réservé de la date 5">
            <a:extLst>
              <a:ext uri="{FF2B5EF4-FFF2-40B4-BE49-F238E27FC236}">
                <a16:creationId xmlns:a16="http://schemas.microsoft.com/office/drawing/2014/main" id="{37CF3032-2465-874C-B786-95E1B594A5AB}"/>
              </a:ext>
            </a:extLst>
          </p:cNvPr>
          <p:cNvSpPr>
            <a:spLocks noGrp="1"/>
          </p:cNvSpPr>
          <p:nvPr>
            <p:ph type="dt" sz="half" idx="18"/>
          </p:nvPr>
        </p:nvSpPr>
        <p:spPr/>
        <p:txBody>
          <a:bodyPr/>
          <a:lstStyle/>
          <a:p>
            <a:r>
              <a:rPr lang="fr-CH"/>
              <a:t>NAME EVENT / NAME PRESENTATION</a:t>
            </a:r>
            <a:endParaRPr lang="fr-FR" dirty="0"/>
          </a:p>
        </p:txBody>
      </p:sp>
      <p:sp>
        <p:nvSpPr>
          <p:cNvPr id="8" name="Espace réservé du pied de page 7">
            <a:extLst>
              <a:ext uri="{FF2B5EF4-FFF2-40B4-BE49-F238E27FC236}">
                <a16:creationId xmlns:a16="http://schemas.microsoft.com/office/drawing/2014/main" id="{AAF73E2A-22D7-894A-9267-185CB4E4B13E}"/>
              </a:ext>
            </a:extLst>
          </p:cNvPr>
          <p:cNvSpPr>
            <a:spLocks noGrp="1"/>
          </p:cNvSpPr>
          <p:nvPr>
            <p:ph type="ftr" sz="quarter" idx="19"/>
          </p:nvPr>
        </p:nvSpPr>
        <p:spPr/>
        <p:txBody>
          <a:bodyPr/>
          <a:lstStyle/>
          <a:p>
            <a:r>
              <a:rPr lang="fr-FR"/>
              <a:t>Speaker </a:t>
            </a:r>
            <a:endParaRPr lang="fr-FR" dirty="0"/>
          </a:p>
        </p:txBody>
      </p:sp>
      <p:sp>
        <p:nvSpPr>
          <p:cNvPr id="9" name="Espace réservé du numéro de diapositive 8">
            <a:extLst>
              <a:ext uri="{FF2B5EF4-FFF2-40B4-BE49-F238E27FC236}">
                <a16:creationId xmlns:a16="http://schemas.microsoft.com/office/drawing/2014/main" id="{39D9777C-EC90-1141-9E30-4B4F669C2BE1}"/>
              </a:ext>
            </a:extLst>
          </p:cNvPr>
          <p:cNvSpPr>
            <a:spLocks noGrp="1"/>
          </p:cNvSpPr>
          <p:nvPr>
            <p:ph type="sldNum" sz="quarter" idx="20"/>
          </p:nvPr>
        </p:nvSpPr>
        <p:spPr/>
        <p:txBody>
          <a:bodyPr/>
          <a:lstStyle/>
          <a:p>
            <a:fld id="{E1E1CD7C-2161-7D43-862E-CE4C333CD873}" type="slidenum">
              <a:rPr lang="fr-FR" smtClean="0"/>
              <a:pPr/>
              <a:t>‹#›</a:t>
            </a:fld>
            <a:endParaRPr lang="fr-FR" dirty="0"/>
          </a:p>
        </p:txBody>
      </p:sp>
      <p:sp>
        <p:nvSpPr>
          <p:cNvPr id="11" name="Titre 10">
            <a:extLst>
              <a:ext uri="{FF2B5EF4-FFF2-40B4-BE49-F238E27FC236}">
                <a16:creationId xmlns:a16="http://schemas.microsoft.com/office/drawing/2014/main" id="{0E011164-727C-4C46-B34E-7729CB350E3E}"/>
              </a:ext>
            </a:extLst>
          </p:cNvPr>
          <p:cNvSpPr>
            <a:spLocks noGrp="1"/>
          </p:cNvSpPr>
          <p:nvPr>
            <p:ph type="title"/>
          </p:nvPr>
        </p:nvSpPr>
        <p:spPr/>
        <p:txBody>
          <a:bodyPr/>
          <a:lstStyle/>
          <a:p>
            <a:r>
              <a:rPr lang="fr-FR"/>
              <a:t>Modifiez le style du titre</a:t>
            </a:r>
          </a:p>
        </p:txBody>
      </p:sp>
    </p:spTree>
    <p:extLst>
      <p:ext uri="{BB962C8B-B14F-4D97-AF65-F5344CB8AC3E}">
        <p14:creationId xmlns:p14="http://schemas.microsoft.com/office/powerpoint/2010/main" val="353115612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5" name="Espace réservé de la date 4">
            <a:extLst>
              <a:ext uri="{FF2B5EF4-FFF2-40B4-BE49-F238E27FC236}">
                <a16:creationId xmlns:a16="http://schemas.microsoft.com/office/drawing/2014/main" id="{4D8101AB-8ACE-BB4C-9D61-B4AABFE11591}"/>
              </a:ext>
            </a:extLst>
          </p:cNvPr>
          <p:cNvSpPr>
            <a:spLocks noGrp="1"/>
          </p:cNvSpPr>
          <p:nvPr>
            <p:ph type="dt" sz="half" idx="10"/>
          </p:nvPr>
        </p:nvSpPr>
        <p:spPr/>
        <p:txBody>
          <a:bodyPr/>
          <a:lstStyle/>
          <a:p>
            <a:r>
              <a:rPr lang="fr-CH"/>
              <a:t>NAME EVENT / NAME PRESENTATION</a:t>
            </a:r>
            <a:endParaRPr lang="fr-FR" dirty="0"/>
          </a:p>
        </p:txBody>
      </p:sp>
      <p:sp>
        <p:nvSpPr>
          <p:cNvPr id="6" name="Espace réservé du pied de page 5">
            <a:extLst>
              <a:ext uri="{FF2B5EF4-FFF2-40B4-BE49-F238E27FC236}">
                <a16:creationId xmlns:a16="http://schemas.microsoft.com/office/drawing/2014/main" id="{5F9CFC1D-0B2A-0A4E-9C0D-682EECA55703}"/>
              </a:ext>
            </a:extLst>
          </p:cNvPr>
          <p:cNvSpPr>
            <a:spLocks noGrp="1"/>
          </p:cNvSpPr>
          <p:nvPr>
            <p:ph type="ftr" sz="quarter" idx="11"/>
          </p:nvPr>
        </p:nvSpPr>
        <p:spPr/>
        <p:txBody>
          <a:bodyPr/>
          <a:lstStyle/>
          <a:p>
            <a:r>
              <a:rPr lang="fr-FR"/>
              <a:t>Speaker </a:t>
            </a:r>
            <a:endParaRPr lang="fr-FR" dirty="0"/>
          </a:p>
        </p:txBody>
      </p:sp>
      <p:sp>
        <p:nvSpPr>
          <p:cNvPr id="7" name="Espace réservé du numéro de diapositive 6">
            <a:extLst>
              <a:ext uri="{FF2B5EF4-FFF2-40B4-BE49-F238E27FC236}">
                <a16:creationId xmlns:a16="http://schemas.microsoft.com/office/drawing/2014/main" id="{56622065-A833-2340-B0FD-ACB065A3B8CF}"/>
              </a:ext>
            </a:extLst>
          </p:cNvPr>
          <p:cNvSpPr>
            <a:spLocks noGrp="1"/>
          </p:cNvSpPr>
          <p:nvPr>
            <p:ph type="sldNum" sz="quarter" idx="12"/>
          </p:nvPr>
        </p:nvSpPr>
        <p:spPr/>
        <p:txBody>
          <a:bodyPr/>
          <a:lstStyle/>
          <a:p>
            <a:fld id="{E1E1CD7C-2161-7D43-862E-CE4C333CD873}" type="slidenum">
              <a:rPr lang="fr-FR" smtClean="0"/>
              <a:pPr/>
              <a:t>‹#›</a:t>
            </a:fld>
            <a:endParaRPr lang="fr-FR" dirty="0"/>
          </a:p>
        </p:txBody>
      </p:sp>
    </p:spTree>
    <p:extLst>
      <p:ext uri="{BB962C8B-B14F-4D97-AF65-F5344CB8AC3E}">
        <p14:creationId xmlns:p14="http://schemas.microsoft.com/office/powerpoint/2010/main" val="189484077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image" Target="../media/image1.png"/><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904875" y="131032"/>
            <a:ext cx="3667125" cy="1072753"/>
          </a:xfrm>
          <a:prstGeom prst="rect">
            <a:avLst/>
          </a:prstGeom>
        </p:spPr>
        <p:txBody>
          <a:bodyPr vert="horz" lIns="180000" tIns="0" rIns="72000" bIns="46800" rtlCol="0" anchor="t">
            <a:normAutofit/>
          </a:bodyPr>
          <a:lstStyle/>
          <a:p>
            <a:r>
              <a:rPr lang="fr-FR" dirty="0"/>
              <a:t>Modifiez le style du titre</a:t>
            </a:r>
            <a:endParaRPr lang="en-US" dirty="0"/>
          </a:p>
        </p:txBody>
      </p:sp>
      <p:sp>
        <p:nvSpPr>
          <p:cNvPr id="3" name="Text Placeholder 2"/>
          <p:cNvSpPr>
            <a:spLocks noGrp="1"/>
          </p:cNvSpPr>
          <p:nvPr>
            <p:ph type="body" idx="1"/>
          </p:nvPr>
        </p:nvSpPr>
        <p:spPr>
          <a:xfrm>
            <a:off x="904875" y="1563688"/>
            <a:ext cx="7726363" cy="3386772"/>
          </a:xfrm>
          <a:prstGeom prst="rect">
            <a:avLst/>
          </a:prstGeom>
        </p:spPr>
        <p:txBody>
          <a:bodyPr vert="horz" lIns="180000" tIns="45720" rIns="91440" bIns="45720" rtlCol="0">
            <a:normAutofit/>
          </a:bodyPr>
          <a:lstStyle/>
          <a:p>
            <a:pPr lvl="0"/>
            <a:r>
              <a:rPr lang="fr-FR" dirty="0"/>
              <a:t>Modifier les styles du texte du masque</a:t>
            </a:r>
          </a:p>
          <a:p>
            <a:pPr lvl="1"/>
            <a:r>
              <a:rPr lang="fr-FR" dirty="0"/>
              <a:t>Deuxième niveau</a:t>
            </a:r>
          </a:p>
          <a:p>
            <a:pPr lvl="2"/>
            <a:r>
              <a:rPr lang="fr-FR" dirty="0"/>
              <a:t>Troisième niveau
Quatrième niveau
Cinquième niveau</a:t>
            </a:r>
            <a:endParaRPr lang="en-US" dirty="0"/>
          </a:p>
        </p:txBody>
      </p:sp>
      <p:sp>
        <p:nvSpPr>
          <p:cNvPr id="4" name="Date Placeholder 3"/>
          <p:cNvSpPr>
            <a:spLocks noGrp="1"/>
          </p:cNvSpPr>
          <p:nvPr>
            <p:ph type="dt" sz="half" idx="2"/>
          </p:nvPr>
        </p:nvSpPr>
        <p:spPr>
          <a:xfrm rot="16200000">
            <a:off x="-1221413" y="2778452"/>
            <a:ext cx="3341052" cy="911524"/>
          </a:xfrm>
          <a:prstGeom prst="rect">
            <a:avLst/>
          </a:prstGeom>
        </p:spPr>
        <p:txBody>
          <a:bodyPr vert="horz" lIns="91440" tIns="45720" rIns="91440" bIns="45720" rtlCol="0" anchor="ctr"/>
          <a:lstStyle>
            <a:lvl1pPr algn="l">
              <a:defRPr sz="700">
                <a:solidFill>
                  <a:schemeClr val="accent1"/>
                </a:solidFill>
                <a:latin typeface="Arial" panose="020B0604020202020204" pitchFamily="34" charset="0"/>
              </a:defRPr>
            </a:lvl1pPr>
          </a:lstStyle>
          <a:p>
            <a:r>
              <a:rPr lang="fr-CH"/>
              <a:t>NAME EVENT / NAME PRESENTATION</a:t>
            </a:r>
            <a:endParaRPr lang="fr-FR" dirty="0"/>
          </a:p>
        </p:txBody>
      </p:sp>
      <p:sp>
        <p:nvSpPr>
          <p:cNvPr id="5" name="Footer Placeholder 4"/>
          <p:cNvSpPr>
            <a:spLocks noGrp="1"/>
          </p:cNvSpPr>
          <p:nvPr>
            <p:ph type="ftr" sz="quarter" idx="3"/>
          </p:nvPr>
        </p:nvSpPr>
        <p:spPr>
          <a:xfrm rot="16200000">
            <a:off x="7115989" y="1874064"/>
            <a:ext cx="3543260" cy="512762"/>
          </a:xfrm>
          <a:prstGeom prst="rect">
            <a:avLst/>
          </a:prstGeom>
        </p:spPr>
        <p:txBody>
          <a:bodyPr vert="horz" lIns="91440" tIns="45720" rIns="91440" bIns="45720" rtlCol="0" anchor="ctr"/>
          <a:lstStyle>
            <a:lvl1pPr algn="r">
              <a:defRPr sz="700">
                <a:solidFill>
                  <a:schemeClr val="tx1"/>
                </a:solidFill>
                <a:latin typeface="Arial" panose="020B0604020202020204" pitchFamily="34" charset="0"/>
              </a:defRPr>
            </a:lvl1pPr>
          </a:lstStyle>
          <a:p>
            <a:r>
              <a:rPr lang="fr-FR" dirty="0"/>
              <a:t>Speaker </a:t>
            </a:r>
          </a:p>
        </p:txBody>
      </p:sp>
      <p:sp>
        <p:nvSpPr>
          <p:cNvPr id="6" name="Slide Number Placeholder 5"/>
          <p:cNvSpPr>
            <a:spLocks noGrp="1"/>
          </p:cNvSpPr>
          <p:nvPr>
            <p:ph type="sldNum" sz="quarter" idx="4"/>
          </p:nvPr>
        </p:nvSpPr>
        <p:spPr>
          <a:xfrm>
            <a:off x="8631238" y="195263"/>
            <a:ext cx="512762" cy="163552"/>
          </a:xfrm>
          <a:prstGeom prst="rect">
            <a:avLst/>
          </a:prstGeom>
        </p:spPr>
        <p:txBody>
          <a:bodyPr vert="horz" lIns="90000" tIns="0" rIns="90000" bIns="0" rtlCol="0" anchor="t"/>
          <a:lstStyle>
            <a:lvl1pPr algn="ctr">
              <a:defRPr sz="700" b="1">
                <a:solidFill>
                  <a:schemeClr val="tx1"/>
                </a:solidFill>
                <a:latin typeface="+mj-lt"/>
              </a:defRPr>
            </a:lvl1pPr>
          </a:lstStyle>
          <a:p>
            <a:fld id="{E1E1CD7C-2161-7D43-862E-CE4C333CD873}" type="slidenum">
              <a:rPr lang="fr-FR" smtClean="0"/>
              <a:pPr/>
              <a:t>‹#›</a:t>
            </a:fld>
            <a:endParaRPr lang="fr-FR" dirty="0"/>
          </a:p>
        </p:txBody>
      </p:sp>
      <p:pic>
        <p:nvPicPr>
          <p:cNvPr id="13" name="Image 12">
            <a:extLst>
              <a:ext uri="{FF2B5EF4-FFF2-40B4-BE49-F238E27FC236}">
                <a16:creationId xmlns:a16="http://schemas.microsoft.com/office/drawing/2014/main" id="{717E6E68-87EB-C34E-85D5-C26372DFEC99}"/>
              </a:ext>
            </a:extLst>
          </p:cNvPr>
          <p:cNvPicPr>
            <a:picLocks noChangeAspect="1"/>
          </p:cNvPicPr>
          <p:nvPr userDrawn="1"/>
        </p:nvPicPr>
        <p:blipFill>
          <a:blip r:embed="rId17"/>
          <a:stretch>
            <a:fillRect/>
          </a:stretch>
        </p:blipFill>
        <p:spPr>
          <a:xfrm>
            <a:off x="130273" y="132334"/>
            <a:ext cx="653952" cy="283022"/>
          </a:xfrm>
          <a:prstGeom prst="rect">
            <a:avLst/>
          </a:prstGeom>
        </p:spPr>
      </p:pic>
      <p:sp>
        <p:nvSpPr>
          <p:cNvPr id="14" name="Rectangle 13">
            <a:extLst>
              <a:ext uri="{FF2B5EF4-FFF2-40B4-BE49-F238E27FC236}">
                <a16:creationId xmlns:a16="http://schemas.microsoft.com/office/drawing/2014/main" id="{75D7A1C0-94CD-D94F-A99F-21847E542637}"/>
              </a:ext>
            </a:extLst>
          </p:cNvPr>
          <p:cNvSpPr/>
          <p:nvPr userDrawn="1"/>
        </p:nvSpPr>
        <p:spPr>
          <a:xfrm rot="16200000">
            <a:off x="430003" y="4897709"/>
            <a:ext cx="45719" cy="59782"/>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latin typeface="Arial" panose="020B0604020202020204" pitchFamily="34" charset="0"/>
            </a:endParaRPr>
          </a:p>
        </p:txBody>
      </p:sp>
    </p:spTree>
    <p:extLst>
      <p:ext uri="{BB962C8B-B14F-4D97-AF65-F5344CB8AC3E}">
        <p14:creationId xmlns:p14="http://schemas.microsoft.com/office/powerpoint/2010/main" val="3569486836"/>
      </p:ext>
    </p:extLst>
  </p:cSld>
  <p:clrMap bg1="lt1" tx1="dk1" bg2="lt2" tx2="dk2" accent1="accent1" accent2="accent2" accent3="accent3" accent4="accent4" accent5="accent5" accent6="accent6" hlink="hlink" folHlink="folHlink"/>
  <p:sldLayoutIdLst>
    <p:sldLayoutId id="2147483661" r:id="rId1"/>
    <p:sldLayoutId id="2147483663" r:id="rId2"/>
    <p:sldLayoutId id="2147483681" r:id="rId3"/>
    <p:sldLayoutId id="2147483673" r:id="rId4"/>
    <p:sldLayoutId id="2147483662" r:id="rId5"/>
    <p:sldLayoutId id="2147483674" r:id="rId6"/>
    <p:sldLayoutId id="2147483675" r:id="rId7"/>
    <p:sldLayoutId id="2147483682" r:id="rId8"/>
    <p:sldLayoutId id="2147483676" r:id="rId9"/>
    <p:sldLayoutId id="2147483664" r:id="rId10"/>
    <p:sldLayoutId id="2147483666" r:id="rId11"/>
    <p:sldLayoutId id="2147483677" r:id="rId12"/>
    <p:sldLayoutId id="2147483678" r:id="rId13"/>
    <p:sldLayoutId id="2147483679" r:id="rId14"/>
    <p:sldLayoutId id="2147483667" r:id="rId15"/>
  </p:sldLayoutIdLst>
  <p:hf hdr="0"/>
  <p:txStyles>
    <p:titleStyle>
      <a:lvl1pPr algn="l" defTabSz="685800" rtl="0" eaLnBrk="1" latinLnBrk="0" hangingPunct="1">
        <a:lnSpc>
          <a:spcPct val="90000"/>
        </a:lnSpc>
        <a:spcBef>
          <a:spcPct val="0"/>
        </a:spcBef>
        <a:buNone/>
        <a:defRPr sz="3200" b="1" i="0" kern="1000" spc="-70" baseline="0">
          <a:solidFill>
            <a:schemeClr val="tx1"/>
          </a:solidFill>
          <a:latin typeface="Franklin Gothic Demi Cond" panose="020B0706030402020204" pitchFamily="34" charset="0"/>
          <a:ea typeface="Roboto Black" panose="02000000000000000000" pitchFamily="2" charset="0"/>
          <a:cs typeface="Arial" panose="020B0604020202020204" pitchFamily="34" charset="0"/>
        </a:defRPr>
      </a:lvl1pPr>
    </p:titleStyle>
    <p:bodyStyle>
      <a:lvl1pPr marL="171450" indent="-171450" algn="l" defTabSz="685800" rtl="0" eaLnBrk="1" latinLnBrk="0" hangingPunct="1">
        <a:lnSpc>
          <a:spcPct val="90000"/>
        </a:lnSpc>
        <a:spcBef>
          <a:spcPts val="750"/>
        </a:spcBef>
        <a:buClr>
          <a:schemeClr val="accent1"/>
        </a:buClr>
        <a:buSzPct val="90000"/>
        <a:buFont typeface="Wingdings" pitchFamily="2" charset="2"/>
        <a:buChar char="§"/>
        <a:defRPr sz="1800" b="0" i="0" kern="1200">
          <a:solidFill>
            <a:schemeClr val="tx1"/>
          </a:solidFill>
          <a:latin typeface="Arial" panose="020B0604020202020204" pitchFamily="34" charset="0"/>
          <a:ea typeface="+mn-ea"/>
          <a:cs typeface="Arial" panose="020B0604020202020204" pitchFamily="34" charset="0"/>
        </a:defRPr>
      </a:lvl1pPr>
      <a:lvl2pPr marL="514350" indent="-171450" algn="l" defTabSz="685800" rtl="0" eaLnBrk="1" latinLnBrk="0" hangingPunct="1">
        <a:lnSpc>
          <a:spcPct val="90000"/>
        </a:lnSpc>
        <a:spcBef>
          <a:spcPts val="375"/>
        </a:spcBef>
        <a:buClr>
          <a:schemeClr val="accent1"/>
        </a:buClr>
        <a:buSzPct val="100000"/>
        <a:buFont typeface="Arial" panose="020B0604020202020204" pitchFamily="34" charset="0"/>
        <a:buChar char="•"/>
        <a:defRPr sz="1600" b="0" i="0" kern="1200">
          <a:solidFill>
            <a:schemeClr val="tx1"/>
          </a:solidFill>
          <a:latin typeface="Arial" panose="020B0604020202020204" pitchFamily="34" charset="0"/>
          <a:ea typeface="+mn-ea"/>
          <a:cs typeface="Arial" panose="020B0604020202020204" pitchFamily="34" charset="0"/>
        </a:defRPr>
      </a:lvl2pPr>
      <a:lvl3pPr marL="857250" indent="-171450" algn="l" defTabSz="685800" rtl="0" eaLnBrk="1" latinLnBrk="0" hangingPunct="1">
        <a:lnSpc>
          <a:spcPct val="90000"/>
        </a:lnSpc>
        <a:spcBef>
          <a:spcPts val="375"/>
        </a:spcBef>
        <a:buSzPct val="90000"/>
        <a:buFont typeface="Wingdings" pitchFamily="2" charset="2"/>
        <a:buChar char="§"/>
        <a:defRPr sz="1500" b="0" i="0" kern="1200">
          <a:solidFill>
            <a:schemeClr val="tx1"/>
          </a:solidFill>
          <a:latin typeface="Arial" panose="020B0604020202020204" pitchFamily="34" charset="0"/>
          <a:ea typeface="+mn-ea"/>
          <a:cs typeface="Arial" panose="020B060402020202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620" userDrawn="1">
          <p15:clr>
            <a:srgbClr val="F26B43"/>
          </p15:clr>
        </p15:guide>
        <p15:guide id="2" pos="126" userDrawn="1">
          <p15:clr>
            <a:srgbClr val="F26B43"/>
          </p15:clr>
        </p15:guide>
        <p15:guide id="3" pos="5602" userDrawn="1">
          <p15:clr>
            <a:srgbClr val="F26B43"/>
          </p15:clr>
        </p15:guide>
        <p15:guide id="4" pos="2880" userDrawn="1">
          <p15:clr>
            <a:srgbClr val="F26B43"/>
          </p15:clr>
        </p15:guide>
        <p15:guide id="5" orient="horz" pos="123" userDrawn="1">
          <p15:clr>
            <a:srgbClr val="F26B43"/>
          </p15:clr>
        </p15:guide>
        <p15:guide id="6" orient="horz" pos="3117" userDrawn="1">
          <p15:clr>
            <a:srgbClr val="F26B43"/>
          </p15:clr>
        </p15:guide>
        <p15:guide id="7" pos="570" userDrawn="1">
          <p15:clr>
            <a:srgbClr val="F26B43"/>
          </p15:clr>
        </p15:guide>
        <p15:guide id="8" pos="1155" userDrawn="1">
          <p15:clr>
            <a:srgbClr val="F26B43"/>
          </p15:clr>
        </p15:guide>
        <p15:guide id="9" pos="1728" userDrawn="1">
          <p15:clr>
            <a:srgbClr val="F26B43"/>
          </p15:clr>
        </p15:guide>
        <p15:guide id="10" pos="2304" userDrawn="1">
          <p15:clr>
            <a:srgbClr val="F26B43"/>
          </p15:clr>
        </p15:guide>
        <p15:guide id="11" pos="3456" userDrawn="1">
          <p15:clr>
            <a:srgbClr val="F26B43"/>
          </p15:clr>
        </p15:guide>
        <p15:guide id="12" pos="4035" userDrawn="1">
          <p15:clr>
            <a:srgbClr val="F26B43"/>
          </p15:clr>
        </p15:guide>
        <p15:guide id="13" pos="4608" userDrawn="1">
          <p15:clr>
            <a:srgbClr val="F26B43"/>
          </p15:clr>
        </p15:guide>
        <p15:guide id="14" pos="5180" userDrawn="1">
          <p15:clr>
            <a:srgbClr val="F26B43"/>
          </p15:clr>
        </p15:guide>
        <p15:guide id="15" orient="horz" pos="490" userDrawn="1">
          <p15:clr>
            <a:srgbClr val="F26B43"/>
          </p15:clr>
        </p15:guide>
        <p15:guide id="16" orient="horz" pos="985" userDrawn="1">
          <p15:clr>
            <a:srgbClr val="F26B43"/>
          </p15:clr>
        </p15:guide>
        <p15:guide id="17" orient="horz" pos="1475" userDrawn="1">
          <p15:clr>
            <a:srgbClr val="F26B43"/>
          </p15:clr>
        </p15:guide>
        <p15:guide id="18" orient="horz" pos="1962" userDrawn="1">
          <p15:clr>
            <a:srgbClr val="F26B43"/>
          </p15:clr>
        </p15:guide>
        <p15:guide id="19" orient="horz" pos="2458" userDrawn="1">
          <p15:clr>
            <a:srgbClr val="F26B43"/>
          </p15:clr>
        </p15:guide>
        <p15:guide id="20" orient="horz" pos="2950" userDrawn="1">
          <p15:clr>
            <a:srgbClr val="F26B43"/>
          </p15:clr>
        </p15:guide>
        <p15:guide id="21" pos="5437" userDrawn="1">
          <p15:clr>
            <a:srgbClr val="F26B43"/>
          </p15:clr>
        </p15:guide>
        <p15:guide id="22" orient="horz" userDrawn="1">
          <p15:clr>
            <a:srgbClr val="F26B43"/>
          </p15:clr>
        </p15:guide>
        <p15:guide id="23" pos="5760" userDrawn="1">
          <p15:clr>
            <a:srgbClr val="F26B43"/>
          </p15:clr>
        </p15:guide>
        <p15:guide id="24" orient="horz" pos="3240" userDrawn="1">
          <p15:clr>
            <a:srgbClr val="F26B43"/>
          </p15:clr>
        </p15:guide>
        <p15:guide id="25"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hyperlink" Target="https://ru.wikipedia.org/wiki/Logitech"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10.xml"/><Relationship Id="rId5" Type="http://schemas.openxmlformats.org/officeDocument/2006/relationships/image" Target="../media/image8.png"/><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hyperlink" Target="https://ru.wikipedia.org/wiki/Logitech" TargetMode="External"/></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10.xml"/><Relationship Id="rId5" Type="http://schemas.openxmlformats.org/officeDocument/2006/relationships/image" Target="../media/image11.png"/><Relationship Id="rId4" Type="http://schemas.openxmlformats.org/officeDocument/2006/relationships/image" Target="../media/image10.png"/></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10.xml"/></Relationships>
</file>

<file path=ppt/slides/_rels/slide8.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hyperlink" Target="https://ru.wikipedia.org/wiki/Logitech" TargetMode="External"/></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9.xml"/><Relationship Id="rId1" Type="http://schemas.openxmlformats.org/officeDocument/2006/relationships/slideLayout" Target="../slideLayouts/slideLayout10.xml"/></Relationships>
</file>

<file path=ppt/slides/_rels/slide1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0.xml"/><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11.xml"/><Relationship Id="rId1" Type="http://schemas.openxmlformats.org/officeDocument/2006/relationships/slideLayout" Target="../slideLayouts/slideLayout5.xml"/><Relationship Id="rId4" Type="http://schemas.openxmlformats.org/officeDocument/2006/relationships/image" Target="../media/image15.png"/></Relationships>
</file>

<file path=ppt/slides/_rels/slide1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2.xml"/><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3.xml"/><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4.xml"/><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5.xml"/><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6.xml"/><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7.xml"/><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8.xml"/><Relationship Id="rId1" Type="http://schemas.openxmlformats.org/officeDocument/2006/relationships/slideLayout" Target="../slideLayouts/slideLayout10.xml"/></Relationships>
</file>

<file path=ppt/slides/_rels/slide19.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9.xml"/><Relationship Id="rId1" Type="http://schemas.openxmlformats.org/officeDocument/2006/relationships/slideLayout" Target="../slideLayouts/slideLayout10.xml"/><Relationship Id="rId5" Type="http://schemas.openxmlformats.org/officeDocument/2006/relationships/image" Target="../media/image25.png"/><Relationship Id="rId4" Type="http://schemas.openxmlformats.org/officeDocument/2006/relationships/image" Target="../media/image24.png"/></Relationships>
</file>

<file path=ppt/slides/_rels/slide20.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0.xml"/><Relationship Id="rId1" Type="http://schemas.openxmlformats.org/officeDocument/2006/relationships/slideLayout" Target="../slideLayouts/slideLayout5.xml"/><Relationship Id="rId4" Type="http://schemas.openxmlformats.org/officeDocument/2006/relationships/image" Target="../media/image27.png"/></Relationships>
</file>

<file path=ppt/slides/_rels/slide21.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1.xml"/><Relationship Id="rId1" Type="http://schemas.openxmlformats.org/officeDocument/2006/relationships/slideLayout" Target="../slideLayouts/slideLayout5.xml"/><Relationship Id="rId4" Type="http://schemas.openxmlformats.org/officeDocument/2006/relationships/image" Target="../media/image29.png"/></Relationships>
</file>

<file path=ppt/slides/_rels/slide22.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2.xml"/><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3.xml"/><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5.xml"/><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6.xml"/><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7.xml"/><Relationship Id="rId1" Type="http://schemas.openxmlformats.org/officeDocument/2006/relationships/slideLayout" Target="../slideLayouts/slideLayout10.xml"/></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10.xml"/></Relationships>
</file>

<file path=ppt/slides/_rels/slide29.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29.xml"/><Relationship Id="rId1" Type="http://schemas.openxmlformats.org/officeDocument/2006/relationships/slideLayout" Target="../slideLayouts/slideLayout10.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1.xml"/><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2.xml"/><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33.xml"/><Relationship Id="rId1" Type="http://schemas.openxmlformats.org/officeDocument/2006/relationships/slideLayout" Target="../slideLayouts/slideLayout2.xml"/><Relationship Id="rId4" Type="http://schemas.openxmlformats.org/officeDocument/2006/relationships/hyperlink" Target="https://ru.wikipedia.org/wiki/Logitech" TargetMode="Externa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5.xml"/></Relationships>
</file>

<file path=ppt/slides/_rels/slide35.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5.xml"/><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6.xml"/><Relationship Id="rId1" Type="http://schemas.openxmlformats.org/officeDocument/2006/relationships/slideLayout" Target="../slideLayouts/slideLayout10.xml"/><Relationship Id="rId4" Type="http://schemas.openxmlformats.org/officeDocument/2006/relationships/image" Target="../media/image39.png"/></Relationships>
</file>

<file path=ppt/slides/_rels/slide37.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37.xml"/><Relationship Id="rId1" Type="http://schemas.openxmlformats.org/officeDocument/2006/relationships/slideLayout" Target="../slideLayouts/slideLayout10.xml"/><Relationship Id="rId4" Type="http://schemas.openxmlformats.org/officeDocument/2006/relationships/image" Target="../media/image41.png"/></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5.xml"/></Relationships>
</file>

<file path=ppt/slides/_rels/slide39.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39.xml"/><Relationship Id="rId1" Type="http://schemas.openxmlformats.org/officeDocument/2006/relationships/slideLayout" Target="../slideLayouts/slideLayout10.xml"/></Relationships>
</file>

<file path=ppt/slides/_rels/slide40.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40.xml"/><Relationship Id="rId1" Type="http://schemas.openxmlformats.org/officeDocument/2006/relationships/slideLayout" Target="../slideLayouts/slideLayout10.xml"/></Relationships>
</file>

<file path=ppt/slides/_rels/slide41.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41.xml"/><Relationship Id="rId1" Type="http://schemas.openxmlformats.org/officeDocument/2006/relationships/slideLayout" Target="../slideLayouts/slideLayout5.xml"/></Relationships>
</file>

<file path=ppt/slides/_rels/slide42.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42.xml"/><Relationship Id="rId1" Type="http://schemas.openxmlformats.org/officeDocument/2006/relationships/slideLayout" Target="../slideLayouts/slideLayout10.xml"/><Relationship Id="rId4" Type="http://schemas.openxmlformats.org/officeDocument/2006/relationships/image" Target="../media/image46.png"/></Relationships>
</file>

<file path=ppt/slides/_rels/slide43.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43.xml"/><Relationship Id="rId1" Type="http://schemas.openxmlformats.org/officeDocument/2006/relationships/slideLayout" Target="../slideLayouts/slideLayout5.xml"/></Relationships>
</file>

<file path=ppt/slides/_rels/slide44.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44.xml"/><Relationship Id="rId1" Type="http://schemas.openxmlformats.org/officeDocument/2006/relationships/slideLayout" Target="../slideLayouts/slideLayout5.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5.xml"/></Relationships>
</file>

<file path=ppt/slides/_rels/slide46.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46.xml"/><Relationship Id="rId1" Type="http://schemas.openxmlformats.org/officeDocument/2006/relationships/slideLayout" Target="../slideLayouts/slideLayout5.xml"/></Relationships>
</file>

<file path=ppt/slides/_rels/slide47.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47.xml"/><Relationship Id="rId1" Type="http://schemas.openxmlformats.org/officeDocument/2006/relationships/slideLayout" Target="../slideLayouts/slideLayout5.xml"/></Relationships>
</file>

<file path=ppt/slides/_rels/slide48.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48.xml"/><Relationship Id="rId1" Type="http://schemas.openxmlformats.org/officeDocument/2006/relationships/slideLayout" Target="../slideLayouts/slideLayout10.xml"/><Relationship Id="rId4" Type="http://schemas.openxmlformats.org/officeDocument/2006/relationships/image" Target="../media/image52.png"/></Relationships>
</file>

<file path=ppt/slides/_rels/slide49.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49.xml"/><Relationship Id="rId1" Type="http://schemas.openxmlformats.org/officeDocument/2006/relationships/slideLayout" Target="../slideLayouts/slideLayout5.xml"/></Relationships>
</file>

<file path=ppt/slides/_rels/slide50.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50.xml"/><Relationship Id="rId1" Type="http://schemas.openxmlformats.org/officeDocument/2006/relationships/slideLayout" Target="../slideLayouts/slideLayout5.xml"/></Relationships>
</file>

<file path=ppt/slides/_rels/slide51.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51.xml"/><Relationship Id="rId1" Type="http://schemas.openxmlformats.org/officeDocument/2006/relationships/slideLayout" Target="../slideLayouts/slideLayout5.xml"/></Relationships>
</file>

<file path=ppt/slides/_rels/slide52.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52.xml"/><Relationship Id="rId1" Type="http://schemas.openxmlformats.org/officeDocument/2006/relationships/slideLayout" Target="../slideLayouts/slideLayout5.xml"/></Relationships>
</file>

<file path=ppt/slides/_rels/slide53.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53.xml"/><Relationship Id="rId1" Type="http://schemas.openxmlformats.org/officeDocument/2006/relationships/slideLayout" Target="../slideLayouts/slideLayout5.xml"/></Relationships>
</file>

<file path=ppt/slides/_rels/slide54.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54.xml"/><Relationship Id="rId1" Type="http://schemas.openxmlformats.org/officeDocument/2006/relationships/slideLayout" Target="../slideLayouts/slideLayout10.xml"/><Relationship Id="rId4" Type="http://schemas.openxmlformats.org/officeDocument/2006/relationships/image" Target="../media/image59.png"/></Relationships>
</file>

<file path=ppt/slides/_rels/slide55.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55.xml"/><Relationship Id="rId1" Type="http://schemas.openxmlformats.org/officeDocument/2006/relationships/slideLayout" Target="../slideLayouts/slideLayout5.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5.xml"/></Relationships>
</file>

<file path=ppt/slides/_rels/slide57.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57.xml"/><Relationship Id="rId1" Type="http://schemas.openxmlformats.org/officeDocument/2006/relationships/slideLayout" Target="../slideLayouts/slideLayout5.xml"/></Relationships>
</file>

<file path=ppt/slides/_rels/slide58.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58.xml"/><Relationship Id="rId1" Type="http://schemas.openxmlformats.org/officeDocument/2006/relationships/slideLayout" Target="../slideLayouts/slideLayout5.xml"/><Relationship Id="rId4" Type="http://schemas.openxmlformats.org/officeDocument/2006/relationships/image" Target="../media/image63.png"/></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5.xml"/></Relationships>
</file>

<file path=ppt/slides/_rels/slide60.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60.xml"/><Relationship Id="rId1" Type="http://schemas.openxmlformats.org/officeDocument/2006/relationships/slideLayout" Target="../slideLayouts/slideLayout10.xml"/></Relationships>
</file>

<file path=ppt/slides/_rels/slide61.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61.xml"/><Relationship Id="rId1" Type="http://schemas.openxmlformats.org/officeDocument/2006/relationships/slideLayout" Target="../slideLayouts/slideLayout5.xml"/></Relationships>
</file>

<file path=ppt/slides/_rels/slide62.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62.xml"/><Relationship Id="rId1" Type="http://schemas.openxmlformats.org/officeDocument/2006/relationships/slideLayout" Target="../slideLayouts/slideLayout5.xml"/><Relationship Id="rId5" Type="http://schemas.openxmlformats.org/officeDocument/2006/relationships/image" Target="../media/image68.png"/><Relationship Id="rId4" Type="http://schemas.openxmlformats.org/officeDocument/2006/relationships/image" Target="../media/image67.png"/></Relationships>
</file>

<file path=ppt/slides/_rels/slide63.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63.xml"/><Relationship Id="rId1" Type="http://schemas.openxmlformats.org/officeDocument/2006/relationships/slideLayout" Target="../slideLayouts/slideLayout5.xml"/></Relationships>
</file>

<file path=ppt/slides/_rels/slide64.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64.xml"/><Relationship Id="rId1" Type="http://schemas.openxmlformats.org/officeDocument/2006/relationships/slideLayout" Target="../slideLayouts/slideLayout5.xml"/></Relationships>
</file>

<file path=ppt/slides/_rels/slide65.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notesSlide" Target="../notesSlides/notesSlide65.xml"/><Relationship Id="rId1" Type="http://schemas.openxmlformats.org/officeDocument/2006/relationships/slideLayout" Target="../slideLayouts/slideLayout5.xml"/></Relationships>
</file>

<file path=ppt/slides/_rels/slide66.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66.xml"/><Relationship Id="rId1" Type="http://schemas.openxmlformats.org/officeDocument/2006/relationships/slideLayout" Target="../slideLayouts/slideLayout10.xml"/><Relationship Id="rId4" Type="http://schemas.openxmlformats.org/officeDocument/2006/relationships/image" Target="../media/image74.png"/></Relationships>
</file>

<file path=ppt/slides/_rels/slide67.xml.rels><?xml version="1.0" encoding="UTF-8" standalone="yes"?>
<Relationships xmlns="http://schemas.openxmlformats.org/package/2006/relationships"><Relationship Id="rId3" Type="http://schemas.openxmlformats.org/officeDocument/2006/relationships/image" Target="../media/image690.png"/><Relationship Id="rId2" Type="http://schemas.openxmlformats.org/officeDocument/2006/relationships/notesSlide" Target="../notesSlides/notesSlide67.xml"/><Relationship Id="rId1" Type="http://schemas.openxmlformats.org/officeDocument/2006/relationships/slideLayout" Target="../slideLayouts/slideLayout5.xml"/></Relationships>
</file>

<file path=ppt/slides/_rels/slide68.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notesSlide" Target="../notesSlides/notesSlide68.xml"/><Relationship Id="rId1" Type="http://schemas.openxmlformats.org/officeDocument/2006/relationships/slideLayout" Target="../slideLayouts/slideLayout5.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5.xml"/></Relationships>
</file>

<file path=ppt/slides/_rels/slide70.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70.xml"/><Relationship Id="rId1" Type="http://schemas.openxmlformats.org/officeDocument/2006/relationships/slideLayout" Target="../slideLayouts/slideLayout10.xml"/><Relationship Id="rId4" Type="http://schemas.openxmlformats.org/officeDocument/2006/relationships/image" Target="../media/image77.png"/></Relationships>
</file>

<file path=ppt/slides/_rels/slide71.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notesSlide" Target="../notesSlides/notesSlide71.xml"/><Relationship Id="rId1" Type="http://schemas.openxmlformats.org/officeDocument/2006/relationships/slideLayout" Target="../slideLayouts/slideLayout10.xml"/></Relationships>
</file>

<file path=ppt/slides/_rels/slide72.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notesSlide" Target="../notesSlides/notesSlide72.xml"/><Relationship Id="rId1" Type="http://schemas.openxmlformats.org/officeDocument/2006/relationships/slideLayout" Target="../slideLayouts/slideLayout5.xml"/></Relationships>
</file>

<file path=ppt/slides/_rels/slide73.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73.xml"/><Relationship Id="rId1" Type="http://schemas.openxmlformats.org/officeDocument/2006/relationships/slideLayout" Target="../slideLayouts/slideLayout5.xml"/></Relationships>
</file>

<file path=ppt/slides/_rels/slide74.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notesSlide" Target="../notesSlides/notesSlide74.xml"/><Relationship Id="rId1" Type="http://schemas.openxmlformats.org/officeDocument/2006/relationships/slideLayout" Target="../slideLayouts/slideLayout10.xml"/><Relationship Id="rId4" Type="http://schemas.openxmlformats.org/officeDocument/2006/relationships/image" Target="../media/image82.png"/></Relationships>
</file>

<file path=ppt/slides/_rels/slide75.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notesSlide" Target="../notesSlides/notesSlide75.xml"/><Relationship Id="rId1" Type="http://schemas.openxmlformats.org/officeDocument/2006/relationships/slideLayout" Target="../slideLayouts/slideLayout10.xml"/><Relationship Id="rId4" Type="http://schemas.openxmlformats.org/officeDocument/2006/relationships/image" Target="../media/image84.png"/></Relationships>
</file>

<file path=ppt/slides/_rels/slide76.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76.xml"/><Relationship Id="rId1" Type="http://schemas.openxmlformats.org/officeDocument/2006/relationships/slideLayout" Target="../slideLayouts/slideLayout5.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77.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77.xml"/><Relationship Id="rId1" Type="http://schemas.openxmlformats.org/officeDocument/2006/relationships/slideLayout" Target="../slideLayouts/slideLayout2.xml"/><Relationship Id="rId4" Type="http://schemas.openxmlformats.org/officeDocument/2006/relationships/hyperlink" Target="https://ru.wikipedia.org/wiki/Logitech" TargetMode="Externa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5.xml"/></Relationships>
</file>

<file path=ppt/slides/_rels/slide79.xml.rels><?xml version="1.0" encoding="UTF-8" standalone="yes"?>
<Relationships xmlns="http://schemas.openxmlformats.org/package/2006/relationships"><Relationship Id="rId8" Type="http://schemas.openxmlformats.org/officeDocument/2006/relationships/hyperlink" Target="https://proceedings.mlr.press/v70/arjovsky17a.html" TargetMode="External"/><Relationship Id="rId3" Type="http://schemas.openxmlformats.org/officeDocument/2006/relationships/hyperlink" Target="https://doi.org/10.1137/0111010" TargetMode="External"/><Relationship Id="rId7" Type="http://schemas.openxmlformats.org/officeDocument/2006/relationships/hyperlink" Target="https://proceedings.mlr.press/v37/sohl-dickstein15.html" TargetMode="External"/><Relationship Id="rId2" Type="http://schemas.openxmlformats.org/officeDocument/2006/relationships/notesSlide" Target="../notesSlides/notesSlide79.xml"/><Relationship Id="rId1" Type="http://schemas.openxmlformats.org/officeDocument/2006/relationships/slideLayout" Target="../slideLayouts/slideLayout5.xml"/><Relationship Id="rId6" Type="http://schemas.openxmlformats.org/officeDocument/2006/relationships/hyperlink" Target="https://research.utwente.nl/en/publications/graph-abstraction-and-abstract-graph-transformation" TargetMode="External"/><Relationship Id="rId5" Type="http://schemas.openxmlformats.org/officeDocument/2006/relationships/hyperlink" Target="https://doi.org/10.1090/S0002-9947-1993-1094553-1" TargetMode="External"/><Relationship Id="rId4" Type="http://schemas.openxmlformats.org/officeDocument/2006/relationships/hyperlink" Target="https://doi.org/10.1007/BFb0099421" TargetMode="External"/><Relationship Id="rId9" Type="http://schemas.openxmlformats.org/officeDocument/2006/relationships/hyperlink" Target="http://arxiv.org/abs/1806.01261" TargetMode="External"/></Relationships>
</file>

<file path=ppt/slides/_rels/slide80.xml.rels><?xml version="1.0" encoding="UTF-8" standalone="yes"?>
<Relationships xmlns="http://schemas.openxmlformats.org/package/2006/relationships"><Relationship Id="rId8" Type="http://schemas.openxmlformats.org/officeDocument/2006/relationships/hyperlink" Target="https://openreview.net/forum?id=qiAxL3Xqx1o" TargetMode="External"/><Relationship Id="rId3" Type="http://schemas.openxmlformats.org/officeDocument/2006/relationships/hyperlink" Target="https://proceedings.mlsys.org/paper/2019/hash/e2c420d928d4bf8ce0ff2ec19b371514-Abstract.html" TargetMode="External"/><Relationship Id="rId7" Type="http://schemas.openxmlformats.org/officeDocument/2006/relationships/hyperlink" Target="https://doi.org/10.1145/3397271.3401172" TargetMode="External"/><Relationship Id="rId2" Type="http://schemas.openxmlformats.org/officeDocument/2006/relationships/notesSlide" Target="../notesSlides/notesSlide80.xml"/><Relationship Id="rId1" Type="http://schemas.openxmlformats.org/officeDocument/2006/relationships/slideLayout" Target="../slideLayouts/slideLayout5.xml"/><Relationship Id="rId6" Type="http://schemas.openxmlformats.org/officeDocument/2006/relationships/hyperlink" Target="https://doi.org/10.48550/arXiv.2006.05976" TargetMode="External"/><Relationship Id="rId5" Type="http://schemas.openxmlformats.org/officeDocument/2006/relationships/hyperlink" Target="https://openreview.net/forum?id=BJgr4kSFDS" TargetMode="External"/><Relationship Id="rId4" Type="http://schemas.openxmlformats.org/officeDocument/2006/relationships/hyperlink" Target="https://doi.org/10.18653/v1/P19-1466" TargetMode="External"/><Relationship Id="rId9" Type="http://schemas.openxmlformats.org/officeDocument/2006/relationships/hyperlink" Target="https://doi.org/10.1145/3447772" TargetMode="External"/></Relationships>
</file>

<file path=ppt/slides/_rels/slide81.xml.rels><?xml version="1.0" encoding="UTF-8" standalone="yes"?>
<Relationships xmlns="http://schemas.openxmlformats.org/package/2006/relationships"><Relationship Id="rId8" Type="http://schemas.openxmlformats.org/officeDocument/2006/relationships/hyperlink" Target="https://doi.org/10.1145/3580305.3599268" TargetMode="External"/><Relationship Id="rId3" Type="http://schemas.openxmlformats.org/officeDocument/2006/relationships/hyperlink" Target="https://infoscience.epfl.ch/handle/20.500.14299/253964" TargetMode="External"/><Relationship Id="rId7" Type="http://schemas.openxmlformats.org/officeDocument/2006/relationships/hyperlink" Target="https://doi.org/10.1609/aaai.v37i4.25535" TargetMode="External"/><Relationship Id="rId2" Type="http://schemas.openxmlformats.org/officeDocument/2006/relationships/notesSlide" Target="../notesSlides/notesSlide81.xml"/><Relationship Id="rId1" Type="http://schemas.openxmlformats.org/officeDocument/2006/relationships/slideLayout" Target="../slideLayouts/slideLayout5.xml"/><Relationship Id="rId6" Type="http://schemas.openxmlformats.org/officeDocument/2006/relationships/hyperlink" Target="https://openreview.net/forum?id=UaAD-Nu86WX" TargetMode="External"/><Relationship Id="rId5" Type="http://schemas.openxmlformats.org/officeDocument/2006/relationships/hyperlink" Target="https://openreview.net/forum?id=xMJWUKJnFSw" TargetMode="External"/><Relationship Id="rId10" Type="http://schemas.openxmlformats.org/officeDocument/2006/relationships/hyperlink" Target="https://openreview.net/forum?id=KNvubydSB5" TargetMode="External"/><Relationship Id="rId4" Type="http://schemas.openxmlformats.org/officeDocument/2006/relationships/hyperlink" Target="https://doi.org/10.48550/arXiv.2110.14890" TargetMode="External"/><Relationship Id="rId9" Type="http://schemas.openxmlformats.org/officeDocument/2006/relationships/hyperlink" Target="https://doi.org/10.48550/arXiv.2307.06698" TargetMode="External"/></Relationships>
</file>

<file path=ppt/slides/_rels/slide82.xml.rels><?xml version="1.0" encoding="UTF-8" standalone="yes"?>
<Relationships xmlns="http://schemas.openxmlformats.org/package/2006/relationships"><Relationship Id="rId8" Type="http://schemas.openxmlformats.org/officeDocument/2006/relationships/hyperlink" Target="https://aclanthology.org/2025.genaik-1.9/" TargetMode="External"/><Relationship Id="rId3" Type="http://schemas.openxmlformats.org/officeDocument/2006/relationships/hyperlink" Target="https://openreview.net/forum?id=0rZiMEOzh0" TargetMode="External"/><Relationship Id="rId7" Type="http://schemas.openxmlformats.org/officeDocument/2006/relationships/hyperlink" Target="https://openreview.net/forum?id=xkiI5tou6J" TargetMode="External"/><Relationship Id="rId2" Type="http://schemas.openxmlformats.org/officeDocument/2006/relationships/notesSlide" Target="../notesSlides/notesSlide82.xml"/><Relationship Id="rId1" Type="http://schemas.openxmlformats.org/officeDocument/2006/relationships/slideLayout" Target="../slideLayouts/slideLayout5.xml"/><Relationship Id="rId6" Type="http://schemas.openxmlformats.org/officeDocument/2006/relationships/hyperlink" Target="https://doi.org/10.48550/arXiv.2408.04053" TargetMode="External"/><Relationship Id="rId5" Type="http://schemas.openxmlformats.org/officeDocument/2006/relationships/hyperlink" Target="https://openreview.net/forum?id=yiMB2DOjsR" TargetMode="External"/><Relationship Id="rId4" Type="http://schemas.openxmlformats.org/officeDocument/2006/relationships/hyperlink" Target="https://doi.org/10.5075/epfl-thesis-9020" TargetMode="External"/></Relationships>
</file>

<file path=ppt/slides/_rels/slide83.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83.xml"/><Relationship Id="rId1" Type="http://schemas.openxmlformats.org/officeDocument/2006/relationships/slideLayout" Target="../slideLayouts/slideLayout2.xml"/><Relationship Id="rId4" Type="http://schemas.openxmlformats.org/officeDocument/2006/relationships/hyperlink" Target="https://ru.wikipedia.org/wiki/Logitech"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re 2">
            <a:extLst>
              <a:ext uri="{FF2B5EF4-FFF2-40B4-BE49-F238E27FC236}">
                <a16:creationId xmlns:a16="http://schemas.microsoft.com/office/drawing/2014/main" id="{55A5C923-5A79-224D-A6A6-8267C64759A4}"/>
              </a:ext>
            </a:extLst>
          </p:cNvPr>
          <p:cNvSpPr>
            <a:spLocks noGrp="1" noChangeAspect="1"/>
          </p:cNvSpPr>
          <p:nvPr>
            <p:ph type="ctrTitle"/>
          </p:nvPr>
        </p:nvSpPr>
        <p:spPr>
          <a:xfrm>
            <a:off x="1331913" y="786535"/>
            <a:ext cx="7812088" cy="2338387"/>
          </a:xfrm>
        </p:spPr>
        <p:txBody>
          <a:bodyPr>
            <a:normAutofit/>
          </a:bodyPr>
          <a:lstStyle/>
          <a:p>
            <a:r>
              <a:rPr lang="fr-FR" dirty="0"/>
              <a:t>	Scalable Methods</a:t>
            </a:r>
            <a:br>
              <a:rPr lang="fr-FR" dirty="0"/>
            </a:br>
            <a:r>
              <a:rPr lang="fr-FR" dirty="0"/>
              <a:t>	for </a:t>
            </a:r>
            <a:r>
              <a:rPr lang="fr-FR" dirty="0" err="1"/>
              <a:t>Knowledge</a:t>
            </a:r>
            <a:r>
              <a:rPr lang="fr-FR" dirty="0"/>
              <a:t> Graph </a:t>
            </a:r>
            <a:r>
              <a:rPr lang="fr-FR" dirty="0" err="1"/>
              <a:t>Reasoning</a:t>
            </a:r>
            <a:br>
              <a:rPr lang="fr-FR" dirty="0"/>
            </a:br>
            <a:r>
              <a:rPr lang="fr-FR" dirty="0"/>
              <a:t>	and </a:t>
            </a:r>
            <a:r>
              <a:rPr lang="fr-FR" dirty="0" err="1"/>
              <a:t>Generation</a:t>
            </a:r>
            <a:endParaRPr lang="fr-FR" dirty="0"/>
          </a:p>
        </p:txBody>
      </p:sp>
      <p:sp>
        <p:nvSpPr>
          <p:cNvPr id="4" name="Sous-titre 3">
            <a:extLst>
              <a:ext uri="{FF2B5EF4-FFF2-40B4-BE49-F238E27FC236}">
                <a16:creationId xmlns:a16="http://schemas.microsoft.com/office/drawing/2014/main" id="{34F3CA74-E434-844A-9C90-0FE7EB8DBFC3}"/>
              </a:ext>
            </a:extLst>
          </p:cNvPr>
          <p:cNvSpPr>
            <a:spLocks noGrp="1"/>
          </p:cNvSpPr>
          <p:nvPr>
            <p:ph type="subTitle" idx="1"/>
          </p:nvPr>
        </p:nvSpPr>
        <p:spPr>
          <a:xfrm>
            <a:off x="4576762" y="3124922"/>
            <a:ext cx="4567237" cy="708847"/>
          </a:xfrm>
        </p:spPr>
        <p:txBody>
          <a:bodyPr/>
          <a:lstStyle/>
          <a:p>
            <a:r>
              <a:rPr lang="fr-FR" dirty="0">
                <a:latin typeface="+mj-lt"/>
              </a:rPr>
              <a:t>EDIC PhD </a:t>
            </a:r>
            <a:r>
              <a:rPr lang="fr-FR" dirty="0" err="1">
                <a:latin typeface="+mj-lt"/>
              </a:rPr>
              <a:t>Private</a:t>
            </a:r>
            <a:r>
              <a:rPr lang="fr-FR" dirty="0">
                <a:latin typeface="+mj-lt"/>
              </a:rPr>
              <a:t> </a:t>
            </a:r>
            <a:r>
              <a:rPr lang="fr-FR" dirty="0" err="1">
                <a:latin typeface="+mj-lt"/>
              </a:rPr>
              <a:t>Defense</a:t>
            </a:r>
            <a:endParaRPr lang="fr-FR" dirty="0">
              <a:latin typeface="+mj-lt"/>
            </a:endParaRPr>
          </a:p>
          <a:p>
            <a:r>
              <a:rPr lang="fr-FR" dirty="0">
                <a:latin typeface="+mj-lt"/>
              </a:rPr>
              <a:t>Andrej Janchevski, EPFL STI IEM LIONS</a:t>
            </a:r>
          </a:p>
        </p:txBody>
      </p:sp>
      <p:sp>
        <p:nvSpPr>
          <p:cNvPr id="5" name="Espace réservé du texte 4">
            <a:extLst>
              <a:ext uri="{FF2B5EF4-FFF2-40B4-BE49-F238E27FC236}">
                <a16:creationId xmlns:a16="http://schemas.microsoft.com/office/drawing/2014/main" id="{BC3BCA55-E2C0-5C4E-89C0-5D85ED2FB439}"/>
              </a:ext>
            </a:extLst>
          </p:cNvPr>
          <p:cNvSpPr>
            <a:spLocks noGrp="1"/>
          </p:cNvSpPr>
          <p:nvPr>
            <p:ph type="body" sz="quarter" idx="11"/>
          </p:nvPr>
        </p:nvSpPr>
        <p:spPr/>
        <p:txBody>
          <a:bodyPr/>
          <a:lstStyle/>
          <a:p>
            <a:r>
              <a:rPr lang="fr-FR" dirty="0">
                <a:latin typeface="+mj-lt"/>
              </a:rPr>
              <a:t>Lausanne, 30.10.2025</a:t>
            </a:r>
          </a:p>
          <a:p>
            <a:r>
              <a:rPr lang="fr-FR" dirty="0">
                <a:latin typeface="+mj-lt"/>
              </a:rPr>
              <a:t> </a:t>
            </a:r>
          </a:p>
        </p:txBody>
      </p:sp>
      <p:sp>
        <p:nvSpPr>
          <p:cNvPr id="6" name="Espace réservé du texte 5">
            <a:extLst>
              <a:ext uri="{FF2B5EF4-FFF2-40B4-BE49-F238E27FC236}">
                <a16:creationId xmlns:a16="http://schemas.microsoft.com/office/drawing/2014/main" id="{18A3154D-FCB0-A34B-BBBC-167C625558EC}"/>
              </a:ext>
            </a:extLst>
          </p:cNvPr>
          <p:cNvSpPr>
            <a:spLocks noGrp="1"/>
          </p:cNvSpPr>
          <p:nvPr>
            <p:ph type="body" sz="quarter" idx="12"/>
          </p:nvPr>
        </p:nvSpPr>
        <p:spPr/>
        <p:txBody>
          <a:bodyPr/>
          <a:lstStyle/>
          <a:p>
            <a:r>
              <a:rPr lang="fr-FR" dirty="0">
                <a:latin typeface="+mj-lt"/>
              </a:rPr>
              <a:t>CC BY 1.0</a:t>
            </a:r>
          </a:p>
        </p:txBody>
      </p:sp>
      <p:pic>
        <p:nvPicPr>
          <p:cNvPr id="1032" name="Picture 8">
            <a:extLst>
              <a:ext uri="{FF2B5EF4-FFF2-40B4-BE49-F238E27FC236}">
                <a16:creationId xmlns:a16="http://schemas.microsoft.com/office/drawing/2014/main" id="{F918387C-D90C-4E72-A62C-25039087846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702803" y="77688"/>
            <a:ext cx="2286000" cy="619125"/>
          </a:xfrm>
          <a:prstGeom prst="rect">
            <a:avLst/>
          </a:prstGeom>
          <a:noFill/>
          <a:extLst>
            <a:ext uri="{909E8E84-426E-40DD-AFC4-6F175D3DCCD1}">
              <a14:hiddenFill xmlns:a14="http://schemas.microsoft.com/office/drawing/2010/main">
                <a:solidFill>
                  <a:srgbClr val="FFFFFF"/>
                </a:solidFill>
              </a14:hiddenFill>
            </a:ext>
          </a:extLst>
        </p:spPr>
      </p:pic>
      <p:pic>
        <p:nvPicPr>
          <p:cNvPr id="2" name="Picture 2" descr="@LIONS-EPFL">
            <a:extLst>
              <a:ext uri="{FF2B5EF4-FFF2-40B4-BE49-F238E27FC236}">
                <a16:creationId xmlns:a16="http://schemas.microsoft.com/office/drawing/2014/main" id="{669BF9B3-AAE2-F4CB-687D-6CC16D7C9DF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331913" y="53875"/>
            <a:ext cx="666750" cy="6667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35279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Content Placeholder 8">
            <a:extLst>
              <a:ext uri="{FF2B5EF4-FFF2-40B4-BE49-F238E27FC236}">
                <a16:creationId xmlns:a16="http://schemas.microsoft.com/office/drawing/2014/main" id="{6440C47E-7ABF-A149-1D70-B9253A94368D}"/>
              </a:ext>
            </a:extLst>
          </p:cNvPr>
          <p:cNvSpPr>
            <a:spLocks noGrp="1"/>
          </p:cNvSpPr>
          <p:nvPr>
            <p:ph idx="1"/>
          </p:nvPr>
        </p:nvSpPr>
        <p:spPr/>
        <p:txBody>
          <a:bodyPr anchor="ctr">
            <a:normAutofit fontScale="92500" lnSpcReduction="20000"/>
          </a:bodyPr>
          <a:lstStyle/>
          <a:p>
            <a:pPr marL="342900" indent="-342900">
              <a:buFont typeface="+mj-lt"/>
              <a:buAutoNum type="arabicPeriod"/>
            </a:pPr>
            <a:r>
              <a:rPr lang="en-US" sz="2400" dirty="0">
                <a:latin typeface="+mj-lt"/>
              </a:rPr>
              <a:t>Introduction</a:t>
            </a:r>
          </a:p>
          <a:p>
            <a:pPr marL="342900" indent="-342900">
              <a:buFont typeface="+mj-lt"/>
              <a:buAutoNum type="arabicPeriod"/>
            </a:pPr>
            <a:r>
              <a:rPr lang="en-US" sz="2400" dirty="0">
                <a:latin typeface="+mj-lt"/>
              </a:rPr>
              <a:t>Background</a:t>
            </a:r>
          </a:p>
          <a:p>
            <a:pPr marL="342900" indent="-342900">
              <a:buFont typeface="+mj-lt"/>
              <a:buAutoNum type="arabicPeriod"/>
            </a:pPr>
            <a:r>
              <a:rPr lang="en-US" sz="2400" dirty="0">
                <a:latin typeface="+mj-lt"/>
              </a:rPr>
              <a:t>Scalable Knowledge Graph Reasoning</a:t>
            </a:r>
          </a:p>
          <a:p>
            <a:pPr marL="685800" lvl="1" indent="-342900">
              <a:buFont typeface="+mj-lt"/>
              <a:buAutoNum type="arabicPeriod"/>
            </a:pPr>
            <a:r>
              <a:rPr lang="en-US" sz="1900" dirty="0">
                <a:latin typeface="+mj-lt"/>
              </a:rPr>
              <a:t>Community-Informed Graph Embeddings</a:t>
            </a:r>
          </a:p>
          <a:p>
            <a:pPr marL="685800" lvl="1" indent="-342900">
              <a:buFont typeface="+mj-lt"/>
              <a:buAutoNum type="arabicPeriod"/>
            </a:pPr>
            <a:r>
              <a:rPr lang="en-US" sz="1900" dirty="0">
                <a:latin typeface="+mj-lt"/>
              </a:rPr>
              <a:t>Real-world Application: The Monty Knowledge Base</a:t>
            </a:r>
          </a:p>
          <a:p>
            <a:pPr marL="342900" indent="-342900">
              <a:buFont typeface="+mj-lt"/>
              <a:buAutoNum type="arabicPeriod"/>
            </a:pPr>
            <a:r>
              <a:rPr lang="en-US" sz="2400" dirty="0">
                <a:latin typeface="+mj-lt"/>
              </a:rPr>
              <a:t>Scalable Graph Generation</a:t>
            </a:r>
          </a:p>
          <a:p>
            <a:pPr marL="685800" lvl="1" indent="-342900">
              <a:buFont typeface="+mj-lt"/>
              <a:buAutoNum type="arabicPeriod"/>
            </a:pPr>
            <a:r>
              <a:rPr lang="en-US" sz="1900" dirty="0">
                <a:latin typeface="+mj-lt"/>
              </a:rPr>
              <a:t>Geometric Graph Generation with Chinese Restaurant Processes</a:t>
            </a:r>
          </a:p>
          <a:p>
            <a:pPr marL="685800" lvl="1" indent="-342900">
              <a:buFont typeface="+mj-lt"/>
              <a:buAutoNum type="arabicPeriod"/>
            </a:pPr>
            <a:r>
              <a:rPr lang="en-US" sz="1900" dirty="0">
                <a:latin typeface="+mj-lt"/>
              </a:rPr>
              <a:t>Hierarchical Generative Graph Diffusion</a:t>
            </a:r>
          </a:p>
          <a:p>
            <a:pPr marL="685800" lvl="1" indent="-342900">
              <a:buFont typeface="+mj-lt"/>
              <a:buAutoNum type="arabicPeriod"/>
            </a:pPr>
            <a:r>
              <a:rPr lang="en-US" sz="1900" dirty="0">
                <a:latin typeface="+mj-lt"/>
              </a:rPr>
              <a:t>Multi-measurement Methods for Graph Diffusion Acceleration</a:t>
            </a:r>
          </a:p>
          <a:p>
            <a:pPr marL="685800" lvl="1" indent="-342900">
              <a:buFont typeface="+mj-lt"/>
              <a:buAutoNum type="arabicPeriod"/>
            </a:pPr>
            <a:r>
              <a:rPr lang="en-US" sz="1900" dirty="0">
                <a:latin typeface="+mj-lt"/>
              </a:rPr>
              <a:t>Generative Knowledge Graph Anomaly Correction</a:t>
            </a:r>
          </a:p>
          <a:p>
            <a:pPr marL="342900" indent="-342900">
              <a:buFont typeface="+mj-lt"/>
              <a:buAutoNum type="arabicPeriod"/>
            </a:pPr>
            <a:r>
              <a:rPr lang="en-US" sz="2400" dirty="0">
                <a:latin typeface="+mj-lt"/>
              </a:rPr>
              <a:t>Conclusion</a:t>
            </a:r>
            <a:endParaRPr lang="en-GB" sz="2400" dirty="0">
              <a:latin typeface="+mj-lt"/>
            </a:endParaRPr>
          </a:p>
        </p:txBody>
      </p:sp>
      <p:sp>
        <p:nvSpPr>
          <p:cNvPr id="8" name="Title 7">
            <a:extLst>
              <a:ext uri="{FF2B5EF4-FFF2-40B4-BE49-F238E27FC236}">
                <a16:creationId xmlns:a16="http://schemas.microsoft.com/office/drawing/2014/main" id="{FF0F514E-0864-EDDB-3D12-A61E24FEF2B6}"/>
              </a:ext>
            </a:extLst>
          </p:cNvPr>
          <p:cNvSpPr>
            <a:spLocks noGrp="1"/>
          </p:cNvSpPr>
          <p:nvPr>
            <p:ph type="title"/>
          </p:nvPr>
        </p:nvSpPr>
        <p:spPr/>
        <p:txBody>
          <a:bodyPr/>
          <a:lstStyle/>
          <a:p>
            <a:r>
              <a:rPr lang="en-US" dirty="0"/>
              <a:t>Agenda</a:t>
            </a:r>
            <a:endParaRPr lang="en-GB" dirty="0"/>
          </a:p>
        </p:txBody>
      </p:sp>
      <p:sp>
        <p:nvSpPr>
          <p:cNvPr id="5" name="Date Placeholder 4">
            <a:extLst>
              <a:ext uri="{FF2B5EF4-FFF2-40B4-BE49-F238E27FC236}">
                <a16:creationId xmlns:a16="http://schemas.microsoft.com/office/drawing/2014/main" id="{051B1449-90F7-9D4C-AEA8-D0D12431A762}"/>
              </a:ext>
            </a:extLst>
          </p:cNvPr>
          <p:cNvSpPr>
            <a:spLocks noGrp="1"/>
          </p:cNvSpPr>
          <p:nvPr>
            <p:ph type="dt" sz="half" idx="10"/>
          </p:nvPr>
        </p:nvSpPr>
        <p:spPr/>
        <p:txBody>
          <a:bodyPr/>
          <a:lstStyle/>
          <a:p>
            <a:r>
              <a:rPr lang="fr-CH" sz="600" dirty="0">
                <a:latin typeface="+mj-lt"/>
              </a:rPr>
              <a:t>EDIC PhD </a:t>
            </a:r>
            <a:r>
              <a:rPr lang="fr-CH" sz="600" dirty="0" err="1">
                <a:latin typeface="+mj-lt"/>
              </a:rPr>
              <a:t>Private</a:t>
            </a:r>
            <a:r>
              <a:rPr lang="fr-CH" sz="600" dirty="0">
                <a:latin typeface="+mj-lt"/>
              </a:rPr>
              <a:t> </a:t>
            </a:r>
            <a:r>
              <a:rPr lang="fr-CH" sz="600" dirty="0" err="1">
                <a:latin typeface="+mj-lt"/>
              </a:rPr>
              <a:t>Defense</a:t>
            </a:r>
            <a:r>
              <a:rPr lang="fr-CH" sz="600" dirty="0">
                <a:latin typeface="+mj-lt"/>
              </a:rPr>
              <a:t> / Scalable Methods for </a:t>
            </a:r>
            <a:r>
              <a:rPr lang="fr-CH" sz="600" dirty="0" err="1">
                <a:latin typeface="+mj-lt"/>
              </a:rPr>
              <a:t>Knowledge</a:t>
            </a:r>
            <a:r>
              <a:rPr lang="fr-CH" sz="600" dirty="0">
                <a:latin typeface="+mj-lt"/>
              </a:rPr>
              <a:t> Graph </a:t>
            </a:r>
            <a:r>
              <a:rPr lang="fr-CH" sz="600" dirty="0" err="1">
                <a:latin typeface="+mj-lt"/>
              </a:rPr>
              <a:t>Reasoning</a:t>
            </a:r>
            <a:r>
              <a:rPr lang="fr-CH" sz="600" dirty="0">
                <a:latin typeface="+mj-lt"/>
              </a:rPr>
              <a:t> and </a:t>
            </a:r>
            <a:r>
              <a:rPr lang="fr-CH" sz="600" dirty="0" err="1">
                <a:latin typeface="+mj-lt"/>
              </a:rPr>
              <a:t>Generation</a:t>
            </a:r>
            <a:endParaRPr lang="fr-FR" sz="600" dirty="0">
              <a:latin typeface="+mj-lt"/>
            </a:endParaRPr>
          </a:p>
        </p:txBody>
      </p:sp>
      <p:sp>
        <p:nvSpPr>
          <p:cNvPr id="6" name="Footer Placeholder 5">
            <a:extLst>
              <a:ext uri="{FF2B5EF4-FFF2-40B4-BE49-F238E27FC236}">
                <a16:creationId xmlns:a16="http://schemas.microsoft.com/office/drawing/2014/main" id="{C5DBFF27-07ED-80B7-3449-B5541D24D8B0}"/>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A14D9E5F-8DE0-D4BC-CCDC-D69B322568E4}"/>
              </a:ext>
            </a:extLst>
          </p:cNvPr>
          <p:cNvSpPr>
            <a:spLocks noGrp="1"/>
          </p:cNvSpPr>
          <p:nvPr>
            <p:ph type="sldNum" sz="quarter" idx="12"/>
          </p:nvPr>
        </p:nvSpPr>
        <p:spPr/>
        <p:txBody>
          <a:bodyPr/>
          <a:lstStyle/>
          <a:p>
            <a:fld id="{E1E1CD7C-2161-7D43-862E-CE4C333CD873}" type="slidenum">
              <a:rPr lang="fr-FR" smtClean="0"/>
              <a:pPr/>
              <a:t>2</a:t>
            </a:fld>
            <a:endParaRPr lang="fr-FR" dirty="0"/>
          </a:p>
        </p:txBody>
      </p:sp>
    </p:spTree>
    <p:extLst>
      <p:ext uri="{BB962C8B-B14F-4D97-AF65-F5344CB8AC3E}">
        <p14:creationId xmlns:p14="http://schemas.microsoft.com/office/powerpoint/2010/main" val="167380612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579054AB-E69B-49BD-6443-39E9AED0207C}"/>
              </a:ext>
            </a:extLst>
          </p:cNvPr>
          <p:cNvSpPr>
            <a:spLocks noGrp="1"/>
          </p:cNvSpPr>
          <p:nvPr>
            <p:ph type="title"/>
          </p:nvPr>
        </p:nvSpPr>
        <p:spPr/>
        <p:txBody>
          <a:bodyPr/>
          <a:lstStyle/>
          <a:p>
            <a:r>
              <a:rPr lang="en-US" dirty="0"/>
              <a:t>Introduction</a:t>
            </a:r>
            <a:endParaRPr lang="en-GB" dirty="0"/>
          </a:p>
        </p:txBody>
      </p:sp>
      <p:sp>
        <p:nvSpPr>
          <p:cNvPr id="8" name="Text Placeholder 7">
            <a:extLst>
              <a:ext uri="{FF2B5EF4-FFF2-40B4-BE49-F238E27FC236}">
                <a16:creationId xmlns:a16="http://schemas.microsoft.com/office/drawing/2014/main" id="{762427C8-5173-2FAE-16A3-AA708901905A}"/>
              </a:ext>
            </a:extLst>
          </p:cNvPr>
          <p:cNvSpPr>
            <a:spLocks noGrp="1"/>
          </p:cNvSpPr>
          <p:nvPr>
            <p:ph type="body" idx="1"/>
          </p:nvPr>
        </p:nvSpPr>
        <p:spPr/>
        <p:txBody>
          <a:bodyPr>
            <a:normAutofit/>
          </a:bodyPr>
          <a:lstStyle/>
          <a:p>
            <a:r>
              <a:rPr lang="en-US" sz="2400" dirty="0">
                <a:latin typeface="+mj-lt"/>
              </a:rPr>
              <a:t>Chapter 1</a:t>
            </a:r>
            <a:endParaRPr lang="en-GB" sz="2400" dirty="0">
              <a:latin typeface="+mj-lt"/>
            </a:endParaRPr>
          </a:p>
        </p:txBody>
      </p:sp>
      <p:sp>
        <p:nvSpPr>
          <p:cNvPr id="4" name="Date Placeholder 3">
            <a:extLst>
              <a:ext uri="{FF2B5EF4-FFF2-40B4-BE49-F238E27FC236}">
                <a16:creationId xmlns:a16="http://schemas.microsoft.com/office/drawing/2014/main" id="{5751FED3-C36F-426D-39B0-F93F3B412C3D}"/>
              </a:ext>
            </a:extLst>
          </p:cNvPr>
          <p:cNvSpPr>
            <a:spLocks noGrp="1"/>
          </p:cNvSpPr>
          <p:nvPr>
            <p:ph type="dt" sz="half" idx="14"/>
          </p:nvPr>
        </p:nvSpPr>
        <p:spPr/>
        <p:txBody>
          <a:bodyPr/>
          <a:lstStyle/>
          <a:p>
            <a:r>
              <a:rPr lang="en-US" sz="600" dirty="0">
                <a:latin typeface="+mj-lt"/>
              </a:rPr>
              <a:t>EDIC PhD Private Defense / Scalable Methods for Knowledge Graph Reasoning and Generation</a:t>
            </a:r>
          </a:p>
        </p:txBody>
      </p:sp>
      <p:sp>
        <p:nvSpPr>
          <p:cNvPr id="5" name="Footer Placeholder 4">
            <a:extLst>
              <a:ext uri="{FF2B5EF4-FFF2-40B4-BE49-F238E27FC236}">
                <a16:creationId xmlns:a16="http://schemas.microsoft.com/office/drawing/2014/main" id="{01436E2B-6C6B-2BBB-CDDF-4BFF19B93179}"/>
              </a:ext>
            </a:extLst>
          </p:cNvPr>
          <p:cNvSpPr>
            <a:spLocks noGrp="1"/>
          </p:cNvSpPr>
          <p:nvPr>
            <p:ph type="ftr" sz="quarter" idx="15"/>
          </p:nvPr>
        </p:nvSpPr>
        <p:spPr/>
        <p:txBody>
          <a:bodyPr/>
          <a:lstStyle/>
          <a:p>
            <a:endParaRPr lang="fr-FR" dirty="0">
              <a:latin typeface="+mj-lt"/>
            </a:endParaRPr>
          </a:p>
          <a:p>
            <a:r>
              <a:rPr lang="fr-FR" dirty="0">
                <a:latin typeface="+mj-lt"/>
              </a:rPr>
              <a:t>Andrej Janchevski, EPFL STI IEM LIONS, Lausanne, </a:t>
            </a:r>
            <a:r>
              <a:rPr lang="fr-FR" dirty="0" err="1">
                <a:latin typeface="+mj-lt"/>
              </a:rPr>
              <a:t>Switzerland</a:t>
            </a:r>
            <a:r>
              <a:rPr lang="fr-FR" dirty="0">
                <a:latin typeface="+mj-lt"/>
              </a:rPr>
              <a:t> </a:t>
            </a:r>
          </a:p>
          <a:p>
            <a:r>
              <a:rPr lang="fr-FR" dirty="0"/>
              <a:t> </a:t>
            </a:r>
          </a:p>
        </p:txBody>
      </p:sp>
      <p:sp>
        <p:nvSpPr>
          <p:cNvPr id="6" name="Slide Number Placeholder 5">
            <a:extLst>
              <a:ext uri="{FF2B5EF4-FFF2-40B4-BE49-F238E27FC236}">
                <a16:creationId xmlns:a16="http://schemas.microsoft.com/office/drawing/2014/main" id="{1CECEE65-7D03-DBD2-DD71-1F87BF9F8775}"/>
              </a:ext>
            </a:extLst>
          </p:cNvPr>
          <p:cNvSpPr>
            <a:spLocks noGrp="1"/>
          </p:cNvSpPr>
          <p:nvPr>
            <p:ph type="sldNum" sz="quarter" idx="16"/>
          </p:nvPr>
        </p:nvSpPr>
        <p:spPr/>
        <p:txBody>
          <a:bodyPr/>
          <a:lstStyle/>
          <a:p>
            <a:fld id="{E1E1CD7C-2161-7D43-862E-CE4C333CD873}" type="slidenum">
              <a:rPr lang="fr-FR" smtClean="0"/>
              <a:pPr/>
              <a:t>3</a:t>
            </a:fld>
            <a:endParaRPr lang="fr-FR" dirty="0"/>
          </a:p>
        </p:txBody>
      </p:sp>
      <p:pic>
        <p:nvPicPr>
          <p:cNvPr id="10" name="Picture Placeholder 11" descr="A city next to the water&#10;&#10;AI-generated content may be incorrect.">
            <a:extLst>
              <a:ext uri="{FF2B5EF4-FFF2-40B4-BE49-F238E27FC236}">
                <a16:creationId xmlns:a16="http://schemas.microsoft.com/office/drawing/2014/main" id="{7D023253-089C-DCAE-E050-516180635769}"/>
              </a:ext>
            </a:extLst>
          </p:cNvPr>
          <p:cNvPicPr>
            <a:picLocks noGrp="1" noChangeAspect="1"/>
          </p:cNvPicPr>
          <p:nvPr>
            <p:ph type="pic" sz="quarter" idx="13"/>
          </p:nvPr>
        </p:nvPicPr>
        <p:blipFill>
          <a:blip r:embed="rId3">
            <a:extLst>
              <a:ext uri="{837473B0-CC2E-450A-ABE3-18F120FF3D39}">
                <a1611:picAttrSrcUrl xmlns:a1611="http://schemas.microsoft.com/office/drawing/2016/11/main" r:id="rId4"/>
              </a:ext>
            </a:extLst>
          </a:blip>
          <a:srcRect l="26235" r="26235"/>
          <a:stretch>
            <a:fillRect/>
          </a:stretch>
        </p:blipFill>
        <p:spPr bwMode="auto">
          <a:xfrm>
            <a:off x="904875" y="0"/>
            <a:ext cx="3667125" cy="5143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1013582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3D0C56-A144-A790-71F9-4C3D7119801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73B1140-37FE-9C9D-6190-1C5D9C0FB60C}"/>
              </a:ext>
            </a:extLst>
          </p:cNvPr>
          <p:cNvSpPr>
            <a:spLocks noGrp="1"/>
          </p:cNvSpPr>
          <p:nvPr>
            <p:ph sz="half" idx="1"/>
          </p:nvPr>
        </p:nvSpPr>
        <p:spPr>
          <a:xfrm>
            <a:off x="904875" y="1563688"/>
            <a:ext cx="4310592" cy="3263504"/>
          </a:xfrm>
        </p:spPr>
        <p:txBody>
          <a:bodyPr anchor="ctr">
            <a:normAutofit/>
          </a:bodyPr>
          <a:lstStyle/>
          <a:p>
            <a:r>
              <a:rPr lang="en-CH" dirty="0">
                <a:latin typeface="+mj-lt"/>
              </a:rPr>
              <a:t>Novel complex scientific problem</a:t>
            </a:r>
          </a:p>
          <a:p>
            <a:pPr lvl="1"/>
            <a:r>
              <a:rPr lang="en-CH" dirty="0">
                <a:latin typeface="+mj-lt"/>
              </a:rPr>
              <a:t>Computer science:  </a:t>
            </a:r>
            <a:r>
              <a:rPr lang="en-CH" i="1" dirty="0">
                <a:latin typeface="+mj-lt"/>
              </a:rPr>
              <a:t>computational</a:t>
            </a:r>
            <a:r>
              <a:rPr lang="en-CH" dirty="0">
                <a:latin typeface="+mj-lt"/>
              </a:rPr>
              <a:t> complexity</a:t>
            </a:r>
          </a:p>
          <a:p>
            <a:pPr lvl="1"/>
            <a:r>
              <a:rPr lang="en-CH" dirty="0">
                <a:latin typeface="+mj-lt"/>
              </a:rPr>
              <a:t>Solution idea camps: </a:t>
            </a:r>
            <a:r>
              <a:rPr lang="en-CH" i="1" dirty="0">
                <a:latin typeface="+mj-lt"/>
              </a:rPr>
              <a:t>holism</a:t>
            </a:r>
            <a:r>
              <a:rPr lang="en-CH" dirty="0">
                <a:latin typeface="+mj-lt"/>
              </a:rPr>
              <a:t> vs. </a:t>
            </a:r>
            <a:r>
              <a:rPr lang="en-CH" i="1" dirty="0">
                <a:latin typeface="+mj-lt"/>
              </a:rPr>
              <a:t>reductionism</a:t>
            </a:r>
          </a:p>
          <a:p>
            <a:pPr lvl="1"/>
            <a:r>
              <a:rPr lang="en-CH" dirty="0">
                <a:latin typeface="+mj-lt"/>
              </a:rPr>
              <a:t>Discard </a:t>
            </a:r>
            <a:r>
              <a:rPr lang="en-GB" dirty="0">
                <a:latin typeface="+mj-lt"/>
              </a:rPr>
              <a:t>local/noisy</a:t>
            </a:r>
            <a:r>
              <a:rPr lang="en-CH" dirty="0">
                <a:latin typeface="+mj-lt"/>
              </a:rPr>
              <a:t> features vs. decompose</a:t>
            </a:r>
          </a:p>
          <a:p>
            <a:r>
              <a:rPr lang="en-CH" dirty="0">
                <a:latin typeface="+mj-lt"/>
              </a:rPr>
              <a:t>This thesis</a:t>
            </a:r>
          </a:p>
          <a:p>
            <a:pPr lvl="1"/>
            <a:r>
              <a:rPr lang="en-CH" dirty="0">
                <a:latin typeface="+mj-lt"/>
              </a:rPr>
              <a:t>Graph machine learning problems</a:t>
            </a:r>
          </a:p>
          <a:p>
            <a:pPr lvl="1"/>
            <a:r>
              <a:rPr lang="en-CH" dirty="0">
                <a:latin typeface="+mj-lt"/>
              </a:rPr>
              <a:t>Scalability issues from graph sizes</a:t>
            </a:r>
          </a:p>
          <a:p>
            <a:pPr lvl="1"/>
            <a:r>
              <a:rPr lang="en-CH" dirty="0">
                <a:latin typeface="+mj-lt"/>
              </a:rPr>
              <a:t>KG reasoning and graph generation</a:t>
            </a:r>
          </a:p>
          <a:p>
            <a:pPr lvl="1"/>
            <a:r>
              <a:rPr lang="en-CH" dirty="0">
                <a:latin typeface="+mj-lt"/>
              </a:rPr>
              <a:t>Mix of </a:t>
            </a:r>
            <a:r>
              <a:rPr lang="en-GB" dirty="0">
                <a:latin typeface="+mj-lt"/>
              </a:rPr>
              <a:t>holistic </a:t>
            </a:r>
            <a:r>
              <a:rPr lang="en-GB" i="1" dirty="0">
                <a:latin typeface="+mj-lt"/>
              </a:rPr>
              <a:t>and</a:t>
            </a:r>
            <a:r>
              <a:rPr lang="en-GB" dirty="0">
                <a:latin typeface="+mj-lt"/>
              </a:rPr>
              <a:t> reductionist views</a:t>
            </a:r>
          </a:p>
          <a:p>
            <a:pPr lvl="1"/>
            <a:r>
              <a:rPr lang="en-GB" dirty="0">
                <a:latin typeface="+mj-lt"/>
              </a:rPr>
              <a:t>Community detection + graph coarsening</a:t>
            </a:r>
          </a:p>
          <a:p>
            <a:pPr lvl="1"/>
            <a:r>
              <a:rPr lang="en-GB" dirty="0">
                <a:latin typeface="+mj-lt"/>
              </a:rPr>
              <a:t>5x5 Rubik’s Cubes…</a:t>
            </a:r>
            <a:endParaRPr lang="en-CH" dirty="0">
              <a:latin typeface="+mj-lt"/>
            </a:endParaRPr>
          </a:p>
        </p:txBody>
      </p:sp>
      <p:sp>
        <p:nvSpPr>
          <p:cNvPr id="8" name="Title 7">
            <a:extLst>
              <a:ext uri="{FF2B5EF4-FFF2-40B4-BE49-F238E27FC236}">
                <a16:creationId xmlns:a16="http://schemas.microsoft.com/office/drawing/2014/main" id="{F782E0B8-4F5A-258F-276B-555C3F25A674}"/>
              </a:ext>
            </a:extLst>
          </p:cNvPr>
          <p:cNvSpPr>
            <a:spLocks noGrp="1"/>
          </p:cNvSpPr>
          <p:nvPr>
            <p:ph type="title"/>
          </p:nvPr>
        </p:nvSpPr>
        <p:spPr/>
        <p:txBody>
          <a:bodyPr/>
          <a:lstStyle/>
          <a:p>
            <a:r>
              <a:rPr lang="en-US" dirty="0"/>
              <a:t>1.	Introduction</a:t>
            </a:r>
            <a:endParaRPr lang="en-GB" dirty="0"/>
          </a:p>
        </p:txBody>
      </p:sp>
      <p:sp>
        <p:nvSpPr>
          <p:cNvPr id="5" name="Date Placeholder 4">
            <a:extLst>
              <a:ext uri="{FF2B5EF4-FFF2-40B4-BE49-F238E27FC236}">
                <a16:creationId xmlns:a16="http://schemas.microsoft.com/office/drawing/2014/main" id="{3D02C016-2998-BE78-58DA-FFC05A9525E3}"/>
              </a:ext>
            </a:extLst>
          </p:cNvPr>
          <p:cNvSpPr>
            <a:spLocks noGrp="1"/>
          </p:cNvSpPr>
          <p:nvPr>
            <p:ph type="dt" sz="half" idx="10"/>
          </p:nvPr>
        </p:nvSpPr>
        <p:spPr/>
        <p:txBody>
          <a:bodyPr/>
          <a:lstStyle/>
          <a:p>
            <a:r>
              <a:rPr lang="fr-CH" sz="600" dirty="0">
                <a:latin typeface="+mj-lt"/>
              </a:rPr>
              <a:t>EDIC PhD </a:t>
            </a:r>
            <a:r>
              <a:rPr lang="fr-CH" sz="600" dirty="0" err="1">
                <a:latin typeface="+mj-lt"/>
              </a:rPr>
              <a:t>Private</a:t>
            </a:r>
            <a:r>
              <a:rPr lang="fr-CH" sz="600" dirty="0">
                <a:latin typeface="+mj-lt"/>
              </a:rPr>
              <a:t> </a:t>
            </a:r>
            <a:r>
              <a:rPr lang="fr-CH" sz="600" dirty="0" err="1">
                <a:latin typeface="+mj-lt"/>
              </a:rPr>
              <a:t>Defense</a:t>
            </a:r>
            <a:r>
              <a:rPr lang="fr-CH" sz="600" dirty="0">
                <a:latin typeface="+mj-lt"/>
              </a:rPr>
              <a:t> / Scalable Methods for </a:t>
            </a:r>
            <a:r>
              <a:rPr lang="fr-CH" sz="600" dirty="0" err="1">
                <a:latin typeface="+mj-lt"/>
              </a:rPr>
              <a:t>Knowledge</a:t>
            </a:r>
            <a:r>
              <a:rPr lang="fr-CH" sz="600" dirty="0">
                <a:latin typeface="+mj-lt"/>
              </a:rPr>
              <a:t> Graph </a:t>
            </a:r>
            <a:r>
              <a:rPr lang="fr-CH" sz="600" dirty="0" err="1">
                <a:latin typeface="+mj-lt"/>
              </a:rPr>
              <a:t>Reasoning</a:t>
            </a:r>
            <a:r>
              <a:rPr lang="fr-CH" sz="600" dirty="0">
                <a:latin typeface="+mj-lt"/>
              </a:rPr>
              <a:t> and </a:t>
            </a:r>
            <a:r>
              <a:rPr lang="fr-CH" sz="600" dirty="0" err="1">
                <a:latin typeface="+mj-lt"/>
              </a:rPr>
              <a:t>Generation</a:t>
            </a:r>
            <a:endParaRPr lang="fr-FR" sz="600" dirty="0">
              <a:latin typeface="+mj-lt"/>
            </a:endParaRPr>
          </a:p>
        </p:txBody>
      </p:sp>
      <p:sp>
        <p:nvSpPr>
          <p:cNvPr id="6" name="Footer Placeholder 5">
            <a:extLst>
              <a:ext uri="{FF2B5EF4-FFF2-40B4-BE49-F238E27FC236}">
                <a16:creationId xmlns:a16="http://schemas.microsoft.com/office/drawing/2014/main" id="{F6B3629B-752D-B6E7-3BE6-47EE17B6F3CF}"/>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95458CD1-F209-233E-C193-F1D1A15447F3}"/>
              </a:ext>
            </a:extLst>
          </p:cNvPr>
          <p:cNvSpPr>
            <a:spLocks noGrp="1"/>
          </p:cNvSpPr>
          <p:nvPr>
            <p:ph type="sldNum" sz="quarter" idx="12"/>
          </p:nvPr>
        </p:nvSpPr>
        <p:spPr/>
        <p:txBody>
          <a:bodyPr/>
          <a:lstStyle/>
          <a:p>
            <a:fld id="{E1E1CD7C-2161-7D43-862E-CE4C333CD873}" type="slidenum">
              <a:rPr lang="fr-FR" smtClean="0"/>
              <a:pPr/>
              <a:t>4</a:t>
            </a:fld>
            <a:endParaRPr lang="fr-FR" dirty="0"/>
          </a:p>
        </p:txBody>
      </p:sp>
      <p:pic>
        <p:nvPicPr>
          <p:cNvPr id="17" name="Content Placeholder 16" descr="A colorful cube with black background&#10;&#10;AI-generated content may be incorrect.">
            <a:extLst>
              <a:ext uri="{FF2B5EF4-FFF2-40B4-BE49-F238E27FC236}">
                <a16:creationId xmlns:a16="http://schemas.microsoft.com/office/drawing/2014/main" id="{32D42F86-6274-9188-3897-96B094645C8E}"/>
              </a:ext>
            </a:extLst>
          </p:cNvPr>
          <p:cNvPicPr>
            <a:picLocks noGrp="1" noChangeAspect="1"/>
          </p:cNvPicPr>
          <p:nvPr>
            <p:ph sz="half" idx="2"/>
          </p:nvPr>
        </p:nvPicPr>
        <p:blipFill>
          <a:blip r:embed="rId3"/>
          <a:stretch>
            <a:fillRect/>
          </a:stretch>
        </p:blipFill>
        <p:spPr>
          <a:xfrm>
            <a:off x="5828189" y="43353"/>
            <a:ext cx="1546860" cy="1600200"/>
          </a:xfrm>
        </p:spPr>
      </p:pic>
      <p:pic>
        <p:nvPicPr>
          <p:cNvPr id="19" name="Picture 18" descr="A cube with different colored squares&#10;&#10;AI-generated content may be incorrect.">
            <a:extLst>
              <a:ext uri="{FF2B5EF4-FFF2-40B4-BE49-F238E27FC236}">
                <a16:creationId xmlns:a16="http://schemas.microsoft.com/office/drawing/2014/main" id="{52BCCD3B-AA16-720A-78C2-5768DF21F938}"/>
              </a:ext>
            </a:extLst>
          </p:cNvPr>
          <p:cNvPicPr>
            <a:picLocks noChangeAspect="1"/>
          </p:cNvPicPr>
          <p:nvPr/>
        </p:nvPicPr>
        <p:blipFill>
          <a:blip r:embed="rId4"/>
          <a:stretch>
            <a:fillRect/>
          </a:stretch>
        </p:blipFill>
        <p:spPr>
          <a:xfrm>
            <a:off x="5820569" y="1707158"/>
            <a:ext cx="1562100" cy="1600200"/>
          </a:xfrm>
          <a:prstGeom prst="rect">
            <a:avLst/>
          </a:prstGeom>
        </p:spPr>
      </p:pic>
      <p:pic>
        <p:nvPicPr>
          <p:cNvPr id="21" name="Picture 20" descr="A cube with different colored squares&#10;&#10;AI-generated content may be incorrect.">
            <a:extLst>
              <a:ext uri="{FF2B5EF4-FFF2-40B4-BE49-F238E27FC236}">
                <a16:creationId xmlns:a16="http://schemas.microsoft.com/office/drawing/2014/main" id="{67AB955C-60BF-E161-C24E-61DDD03FF6AA}"/>
              </a:ext>
            </a:extLst>
          </p:cNvPr>
          <p:cNvPicPr>
            <a:picLocks noChangeAspect="1"/>
          </p:cNvPicPr>
          <p:nvPr/>
        </p:nvPicPr>
        <p:blipFill>
          <a:blip r:embed="rId5"/>
          <a:stretch>
            <a:fillRect/>
          </a:stretch>
        </p:blipFill>
        <p:spPr>
          <a:xfrm>
            <a:off x="5824910" y="3370963"/>
            <a:ext cx="1577340" cy="1653540"/>
          </a:xfrm>
          <a:prstGeom prst="rect">
            <a:avLst/>
          </a:prstGeom>
        </p:spPr>
      </p:pic>
    </p:spTree>
    <p:extLst>
      <p:ext uri="{BB962C8B-B14F-4D97-AF65-F5344CB8AC3E}">
        <p14:creationId xmlns:p14="http://schemas.microsoft.com/office/powerpoint/2010/main" val="13781540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randombar(horizontal)">
                                      <p:cBhvr>
                                        <p:cTn id="7" dur="500"/>
                                        <p:tgtEl>
                                          <p:spTgt spid="2">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2">
                                            <p:txEl>
                                              <p:pRg st="1" end="1"/>
                                            </p:txEl>
                                          </p:spTgt>
                                        </p:tgtEl>
                                        <p:attrNameLst>
                                          <p:attrName>style.visibility</p:attrName>
                                        </p:attrNameLst>
                                      </p:cBhvr>
                                      <p:to>
                                        <p:strVal val="visible"/>
                                      </p:to>
                                    </p:set>
                                    <p:animEffect transition="in" filter="randombar(horizontal)">
                                      <p:cBhvr>
                                        <p:cTn id="10" dur="500"/>
                                        <p:tgtEl>
                                          <p:spTgt spid="2">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animEffect transition="in" filter="randombar(horizontal)">
                                      <p:cBhvr>
                                        <p:cTn id="13" dur="500"/>
                                        <p:tgtEl>
                                          <p:spTgt spid="2">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2">
                                            <p:txEl>
                                              <p:pRg st="3" end="3"/>
                                            </p:txEl>
                                          </p:spTgt>
                                        </p:tgtEl>
                                        <p:attrNameLst>
                                          <p:attrName>style.visibility</p:attrName>
                                        </p:attrNameLst>
                                      </p:cBhvr>
                                      <p:to>
                                        <p:strVal val="visible"/>
                                      </p:to>
                                    </p:set>
                                    <p:animEffect transition="in" filter="randombar(horizontal)">
                                      <p:cBhvr>
                                        <p:cTn id="16" dur="500"/>
                                        <p:tgtEl>
                                          <p:spTgt spid="2">
                                            <p:txEl>
                                              <p:pRg st="3" end="3"/>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4" presetClass="entr" presetSubtype="10" fill="hold" nodeType="clickEffect">
                                  <p:stCondLst>
                                    <p:cond delay="0"/>
                                  </p:stCondLst>
                                  <p:childTnLst>
                                    <p:set>
                                      <p:cBhvr>
                                        <p:cTn id="20" dur="1" fill="hold">
                                          <p:stCondLst>
                                            <p:cond delay="0"/>
                                          </p:stCondLst>
                                        </p:cTn>
                                        <p:tgtEl>
                                          <p:spTgt spid="2">
                                            <p:txEl>
                                              <p:pRg st="4" end="4"/>
                                            </p:txEl>
                                          </p:spTgt>
                                        </p:tgtEl>
                                        <p:attrNameLst>
                                          <p:attrName>style.visibility</p:attrName>
                                        </p:attrNameLst>
                                      </p:cBhvr>
                                      <p:to>
                                        <p:strVal val="visible"/>
                                      </p:to>
                                    </p:set>
                                    <p:animEffect transition="in" filter="randombar(horizontal)">
                                      <p:cBhvr>
                                        <p:cTn id="21" dur="500"/>
                                        <p:tgtEl>
                                          <p:spTgt spid="2">
                                            <p:txEl>
                                              <p:pRg st="4" end="4"/>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2">
                                            <p:txEl>
                                              <p:pRg st="5" end="5"/>
                                            </p:txEl>
                                          </p:spTgt>
                                        </p:tgtEl>
                                        <p:attrNameLst>
                                          <p:attrName>style.visibility</p:attrName>
                                        </p:attrNameLst>
                                      </p:cBhvr>
                                      <p:to>
                                        <p:strVal val="visible"/>
                                      </p:to>
                                    </p:set>
                                    <p:animEffect transition="in" filter="randombar(horizontal)">
                                      <p:cBhvr>
                                        <p:cTn id="24" dur="500"/>
                                        <p:tgtEl>
                                          <p:spTgt spid="2">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2">
                                            <p:txEl>
                                              <p:pRg st="6" end="6"/>
                                            </p:txEl>
                                          </p:spTgt>
                                        </p:tgtEl>
                                        <p:attrNameLst>
                                          <p:attrName>style.visibility</p:attrName>
                                        </p:attrNameLst>
                                      </p:cBhvr>
                                      <p:to>
                                        <p:strVal val="visible"/>
                                      </p:to>
                                    </p:set>
                                    <p:animEffect transition="in" filter="randombar(horizontal)">
                                      <p:cBhvr>
                                        <p:cTn id="27" dur="500"/>
                                        <p:tgtEl>
                                          <p:spTgt spid="2">
                                            <p:txEl>
                                              <p:pRg st="6" end="6"/>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2">
                                            <p:txEl>
                                              <p:pRg st="7" end="7"/>
                                            </p:txEl>
                                          </p:spTgt>
                                        </p:tgtEl>
                                        <p:attrNameLst>
                                          <p:attrName>style.visibility</p:attrName>
                                        </p:attrNameLst>
                                      </p:cBhvr>
                                      <p:to>
                                        <p:strVal val="visible"/>
                                      </p:to>
                                    </p:set>
                                    <p:animEffect transition="in" filter="randombar(horizontal)">
                                      <p:cBhvr>
                                        <p:cTn id="30" dur="500"/>
                                        <p:tgtEl>
                                          <p:spTgt spid="2">
                                            <p:txEl>
                                              <p:pRg st="7" end="7"/>
                                            </p:txEl>
                                          </p:spTgt>
                                        </p:tgtEl>
                                      </p:cBhvr>
                                    </p:animEffect>
                                  </p:childTnLst>
                                </p:cTn>
                              </p:par>
                              <p:par>
                                <p:cTn id="31" presetID="14" presetClass="entr" presetSubtype="10" fill="hold" nodeType="withEffect">
                                  <p:stCondLst>
                                    <p:cond delay="0"/>
                                  </p:stCondLst>
                                  <p:childTnLst>
                                    <p:set>
                                      <p:cBhvr>
                                        <p:cTn id="32" dur="1" fill="hold">
                                          <p:stCondLst>
                                            <p:cond delay="0"/>
                                          </p:stCondLst>
                                        </p:cTn>
                                        <p:tgtEl>
                                          <p:spTgt spid="2">
                                            <p:txEl>
                                              <p:pRg st="8" end="8"/>
                                            </p:txEl>
                                          </p:spTgt>
                                        </p:tgtEl>
                                        <p:attrNameLst>
                                          <p:attrName>style.visibility</p:attrName>
                                        </p:attrNameLst>
                                      </p:cBhvr>
                                      <p:to>
                                        <p:strVal val="visible"/>
                                      </p:to>
                                    </p:set>
                                    <p:animEffect transition="in" filter="randombar(horizontal)">
                                      <p:cBhvr>
                                        <p:cTn id="33" dur="500"/>
                                        <p:tgtEl>
                                          <p:spTgt spid="2">
                                            <p:txEl>
                                              <p:pRg st="8" end="8"/>
                                            </p:txEl>
                                          </p:spTgt>
                                        </p:tgtEl>
                                      </p:cBhvr>
                                    </p:animEffect>
                                  </p:childTnLst>
                                </p:cTn>
                              </p:par>
                              <p:par>
                                <p:cTn id="34" presetID="14" presetClass="entr" presetSubtype="10" fill="hold" nodeType="withEffect">
                                  <p:stCondLst>
                                    <p:cond delay="0"/>
                                  </p:stCondLst>
                                  <p:childTnLst>
                                    <p:set>
                                      <p:cBhvr>
                                        <p:cTn id="35" dur="1" fill="hold">
                                          <p:stCondLst>
                                            <p:cond delay="0"/>
                                          </p:stCondLst>
                                        </p:cTn>
                                        <p:tgtEl>
                                          <p:spTgt spid="2">
                                            <p:txEl>
                                              <p:pRg st="9" end="9"/>
                                            </p:txEl>
                                          </p:spTgt>
                                        </p:tgtEl>
                                        <p:attrNameLst>
                                          <p:attrName>style.visibility</p:attrName>
                                        </p:attrNameLst>
                                      </p:cBhvr>
                                      <p:to>
                                        <p:strVal val="visible"/>
                                      </p:to>
                                    </p:set>
                                    <p:animEffect transition="in" filter="randombar(horizontal)">
                                      <p:cBhvr>
                                        <p:cTn id="36" dur="500"/>
                                        <p:tgtEl>
                                          <p:spTgt spid="2">
                                            <p:txEl>
                                              <p:pRg st="9" end="9"/>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14" presetClass="entr" presetSubtype="10" fill="hold" nodeType="clickEffect">
                                  <p:stCondLst>
                                    <p:cond delay="0"/>
                                  </p:stCondLst>
                                  <p:childTnLst>
                                    <p:set>
                                      <p:cBhvr>
                                        <p:cTn id="40" dur="1" fill="hold">
                                          <p:stCondLst>
                                            <p:cond delay="0"/>
                                          </p:stCondLst>
                                        </p:cTn>
                                        <p:tgtEl>
                                          <p:spTgt spid="2">
                                            <p:txEl>
                                              <p:pRg st="10" end="10"/>
                                            </p:txEl>
                                          </p:spTgt>
                                        </p:tgtEl>
                                        <p:attrNameLst>
                                          <p:attrName>style.visibility</p:attrName>
                                        </p:attrNameLst>
                                      </p:cBhvr>
                                      <p:to>
                                        <p:strVal val="visible"/>
                                      </p:to>
                                    </p:set>
                                    <p:animEffect transition="in" filter="randombar(horizontal)">
                                      <p:cBhvr>
                                        <p:cTn id="41" dur="500"/>
                                        <p:tgtEl>
                                          <p:spTgt spid="2">
                                            <p:txEl>
                                              <p:pRg st="10" end="10"/>
                                            </p:txEl>
                                          </p:spTgt>
                                        </p:tgtEl>
                                      </p:cBhvr>
                                    </p:animEffect>
                                  </p:childTnLst>
                                </p:cTn>
                              </p:par>
                            </p:childTnLst>
                          </p:cTn>
                        </p:par>
                        <p:par>
                          <p:cTn id="42" fill="hold">
                            <p:stCondLst>
                              <p:cond delay="500"/>
                            </p:stCondLst>
                            <p:childTnLst>
                              <p:par>
                                <p:cTn id="43" presetID="14" presetClass="entr" presetSubtype="10" fill="hold" nodeType="afterEffect">
                                  <p:stCondLst>
                                    <p:cond delay="0"/>
                                  </p:stCondLst>
                                  <p:childTnLst>
                                    <p:set>
                                      <p:cBhvr>
                                        <p:cTn id="44" dur="1" fill="hold">
                                          <p:stCondLst>
                                            <p:cond delay="0"/>
                                          </p:stCondLst>
                                        </p:cTn>
                                        <p:tgtEl>
                                          <p:spTgt spid="17"/>
                                        </p:tgtEl>
                                        <p:attrNameLst>
                                          <p:attrName>style.visibility</p:attrName>
                                        </p:attrNameLst>
                                      </p:cBhvr>
                                      <p:to>
                                        <p:strVal val="visible"/>
                                      </p:to>
                                    </p:set>
                                    <p:animEffect transition="in" filter="randombar(horizontal)">
                                      <p:cBhvr>
                                        <p:cTn id="45" dur="500"/>
                                        <p:tgtEl>
                                          <p:spTgt spid="17"/>
                                        </p:tgtEl>
                                      </p:cBhvr>
                                    </p:animEffect>
                                  </p:childTnLst>
                                </p:cTn>
                              </p:par>
                            </p:childTnLst>
                          </p:cTn>
                        </p:par>
                        <p:par>
                          <p:cTn id="46" fill="hold">
                            <p:stCondLst>
                              <p:cond delay="1000"/>
                            </p:stCondLst>
                            <p:childTnLst>
                              <p:par>
                                <p:cTn id="47" presetID="14" presetClass="entr" presetSubtype="10" fill="hold" nodeType="afterEffect">
                                  <p:stCondLst>
                                    <p:cond delay="0"/>
                                  </p:stCondLst>
                                  <p:childTnLst>
                                    <p:set>
                                      <p:cBhvr>
                                        <p:cTn id="48" dur="1" fill="hold">
                                          <p:stCondLst>
                                            <p:cond delay="0"/>
                                          </p:stCondLst>
                                        </p:cTn>
                                        <p:tgtEl>
                                          <p:spTgt spid="19"/>
                                        </p:tgtEl>
                                        <p:attrNameLst>
                                          <p:attrName>style.visibility</p:attrName>
                                        </p:attrNameLst>
                                      </p:cBhvr>
                                      <p:to>
                                        <p:strVal val="visible"/>
                                      </p:to>
                                    </p:set>
                                    <p:animEffect transition="in" filter="randombar(horizontal)">
                                      <p:cBhvr>
                                        <p:cTn id="49" dur="500"/>
                                        <p:tgtEl>
                                          <p:spTgt spid="19"/>
                                        </p:tgtEl>
                                      </p:cBhvr>
                                    </p:animEffect>
                                  </p:childTnLst>
                                </p:cTn>
                              </p:par>
                            </p:childTnLst>
                          </p:cTn>
                        </p:par>
                        <p:par>
                          <p:cTn id="50" fill="hold">
                            <p:stCondLst>
                              <p:cond delay="1500"/>
                            </p:stCondLst>
                            <p:childTnLst>
                              <p:par>
                                <p:cTn id="51" presetID="14" presetClass="entr" presetSubtype="10" fill="hold" nodeType="afterEffect">
                                  <p:stCondLst>
                                    <p:cond delay="0"/>
                                  </p:stCondLst>
                                  <p:childTnLst>
                                    <p:set>
                                      <p:cBhvr>
                                        <p:cTn id="52" dur="1" fill="hold">
                                          <p:stCondLst>
                                            <p:cond delay="0"/>
                                          </p:stCondLst>
                                        </p:cTn>
                                        <p:tgtEl>
                                          <p:spTgt spid="21"/>
                                        </p:tgtEl>
                                        <p:attrNameLst>
                                          <p:attrName>style.visibility</p:attrName>
                                        </p:attrNameLst>
                                      </p:cBhvr>
                                      <p:to>
                                        <p:strVal val="visible"/>
                                      </p:to>
                                    </p:set>
                                    <p:animEffect transition="in" filter="randombar(horizontal)">
                                      <p:cBhvr>
                                        <p:cTn id="53"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81E700-93CD-3B97-28E3-E03EA94B51ED}"/>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24606254-2A12-C49B-0DE5-F28F4BF72A35}"/>
              </a:ext>
            </a:extLst>
          </p:cNvPr>
          <p:cNvSpPr>
            <a:spLocks noGrp="1"/>
          </p:cNvSpPr>
          <p:nvPr>
            <p:ph type="title"/>
          </p:nvPr>
        </p:nvSpPr>
        <p:spPr/>
        <p:txBody>
          <a:bodyPr/>
          <a:lstStyle/>
          <a:p>
            <a:r>
              <a:rPr lang="en-US" dirty="0"/>
              <a:t>Background</a:t>
            </a:r>
            <a:endParaRPr lang="en-GB" dirty="0"/>
          </a:p>
        </p:txBody>
      </p:sp>
      <p:sp>
        <p:nvSpPr>
          <p:cNvPr id="8" name="Text Placeholder 7">
            <a:extLst>
              <a:ext uri="{FF2B5EF4-FFF2-40B4-BE49-F238E27FC236}">
                <a16:creationId xmlns:a16="http://schemas.microsoft.com/office/drawing/2014/main" id="{57C68295-DCBF-4740-F53D-B52C8BD5A96E}"/>
              </a:ext>
            </a:extLst>
          </p:cNvPr>
          <p:cNvSpPr>
            <a:spLocks noGrp="1"/>
          </p:cNvSpPr>
          <p:nvPr>
            <p:ph type="body" idx="1"/>
          </p:nvPr>
        </p:nvSpPr>
        <p:spPr/>
        <p:txBody>
          <a:bodyPr>
            <a:normAutofit/>
          </a:bodyPr>
          <a:lstStyle/>
          <a:p>
            <a:r>
              <a:rPr lang="en-US" sz="2400" dirty="0">
                <a:latin typeface="+mj-lt"/>
              </a:rPr>
              <a:t>Chapter 2</a:t>
            </a:r>
            <a:endParaRPr lang="en-GB" sz="2400" dirty="0">
              <a:latin typeface="+mj-lt"/>
            </a:endParaRPr>
          </a:p>
        </p:txBody>
      </p:sp>
      <p:sp>
        <p:nvSpPr>
          <p:cNvPr id="4" name="Date Placeholder 3">
            <a:extLst>
              <a:ext uri="{FF2B5EF4-FFF2-40B4-BE49-F238E27FC236}">
                <a16:creationId xmlns:a16="http://schemas.microsoft.com/office/drawing/2014/main" id="{5166B582-C792-B7A3-DE19-45D7E538472C}"/>
              </a:ext>
            </a:extLst>
          </p:cNvPr>
          <p:cNvSpPr>
            <a:spLocks noGrp="1"/>
          </p:cNvSpPr>
          <p:nvPr>
            <p:ph type="dt" sz="half" idx="14"/>
          </p:nvPr>
        </p:nvSpPr>
        <p:spPr/>
        <p:txBody>
          <a:bodyPr/>
          <a:lstStyle/>
          <a:p>
            <a:r>
              <a:rPr lang="en-US" sz="600" dirty="0">
                <a:latin typeface="+mj-lt"/>
              </a:rPr>
              <a:t>EDIC PhD Private Defense / Scalable Methods for Knowledge Graph Reasoning and Generation</a:t>
            </a:r>
          </a:p>
        </p:txBody>
      </p:sp>
      <p:sp>
        <p:nvSpPr>
          <p:cNvPr id="5" name="Footer Placeholder 4">
            <a:extLst>
              <a:ext uri="{FF2B5EF4-FFF2-40B4-BE49-F238E27FC236}">
                <a16:creationId xmlns:a16="http://schemas.microsoft.com/office/drawing/2014/main" id="{7D6B2E06-CF19-6EF3-5446-BA5DDCC4F871}"/>
              </a:ext>
            </a:extLst>
          </p:cNvPr>
          <p:cNvSpPr>
            <a:spLocks noGrp="1"/>
          </p:cNvSpPr>
          <p:nvPr>
            <p:ph type="ftr" sz="quarter" idx="15"/>
          </p:nvPr>
        </p:nvSpPr>
        <p:spPr/>
        <p:txBody>
          <a:bodyPr/>
          <a:lstStyle/>
          <a:p>
            <a:endParaRPr lang="fr-FR" dirty="0">
              <a:latin typeface="+mj-lt"/>
            </a:endParaRPr>
          </a:p>
          <a:p>
            <a:r>
              <a:rPr lang="fr-FR" dirty="0">
                <a:latin typeface="+mj-lt"/>
              </a:rPr>
              <a:t>Andrej Janchevski, EPFL STI IEM LIONS, Lausanne, </a:t>
            </a:r>
            <a:r>
              <a:rPr lang="fr-FR" dirty="0" err="1">
                <a:latin typeface="+mj-lt"/>
              </a:rPr>
              <a:t>Switzerland</a:t>
            </a:r>
            <a:r>
              <a:rPr lang="fr-FR" dirty="0">
                <a:latin typeface="+mj-lt"/>
              </a:rPr>
              <a:t> </a:t>
            </a:r>
          </a:p>
          <a:p>
            <a:r>
              <a:rPr lang="fr-FR" dirty="0"/>
              <a:t> </a:t>
            </a:r>
          </a:p>
        </p:txBody>
      </p:sp>
      <p:sp>
        <p:nvSpPr>
          <p:cNvPr id="6" name="Slide Number Placeholder 5">
            <a:extLst>
              <a:ext uri="{FF2B5EF4-FFF2-40B4-BE49-F238E27FC236}">
                <a16:creationId xmlns:a16="http://schemas.microsoft.com/office/drawing/2014/main" id="{EE55C852-765A-75AA-A28E-AB7F1BB650FE}"/>
              </a:ext>
            </a:extLst>
          </p:cNvPr>
          <p:cNvSpPr>
            <a:spLocks noGrp="1"/>
          </p:cNvSpPr>
          <p:nvPr>
            <p:ph type="sldNum" sz="quarter" idx="16"/>
          </p:nvPr>
        </p:nvSpPr>
        <p:spPr/>
        <p:txBody>
          <a:bodyPr/>
          <a:lstStyle/>
          <a:p>
            <a:fld id="{E1E1CD7C-2161-7D43-862E-CE4C333CD873}" type="slidenum">
              <a:rPr lang="fr-FR" smtClean="0"/>
              <a:pPr/>
              <a:t>5</a:t>
            </a:fld>
            <a:endParaRPr lang="fr-FR" dirty="0"/>
          </a:p>
        </p:txBody>
      </p:sp>
      <p:pic>
        <p:nvPicPr>
          <p:cNvPr id="10" name="Picture Placeholder 11" descr="A city next to the water&#10;&#10;AI-generated content may be incorrect.">
            <a:extLst>
              <a:ext uri="{FF2B5EF4-FFF2-40B4-BE49-F238E27FC236}">
                <a16:creationId xmlns:a16="http://schemas.microsoft.com/office/drawing/2014/main" id="{A32A2321-4877-EE7B-ED00-A004ABABACBF}"/>
              </a:ext>
            </a:extLst>
          </p:cNvPr>
          <p:cNvPicPr>
            <a:picLocks noGrp="1" noChangeAspect="1"/>
          </p:cNvPicPr>
          <p:nvPr>
            <p:ph type="pic" sz="quarter" idx="13"/>
          </p:nvPr>
        </p:nvPicPr>
        <p:blipFill>
          <a:blip r:embed="rId3">
            <a:extLst>
              <a:ext uri="{837473B0-CC2E-450A-ABE3-18F120FF3D39}">
                <a1611:picAttrSrcUrl xmlns:a1611="http://schemas.microsoft.com/office/drawing/2016/11/main" r:id="rId4"/>
              </a:ext>
            </a:extLst>
          </a:blip>
          <a:srcRect l="26235" r="26235"/>
          <a:stretch>
            <a:fillRect/>
          </a:stretch>
        </p:blipFill>
        <p:spPr bwMode="auto">
          <a:xfrm>
            <a:off x="904875" y="0"/>
            <a:ext cx="3667125" cy="5143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4089002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3BA6DB-2A63-EBB5-8441-EFCD40A5E8FF}"/>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 name="Content Placeholder 1">
                <a:extLst>
                  <a:ext uri="{FF2B5EF4-FFF2-40B4-BE49-F238E27FC236}">
                    <a16:creationId xmlns:a16="http://schemas.microsoft.com/office/drawing/2014/main" id="{C86C03D2-4E07-16F4-6C46-869551A8C93F}"/>
                  </a:ext>
                </a:extLst>
              </p:cNvPr>
              <p:cNvSpPr>
                <a:spLocks noGrp="1"/>
              </p:cNvSpPr>
              <p:nvPr>
                <p:ph sz="half" idx="1"/>
              </p:nvPr>
            </p:nvSpPr>
            <p:spPr/>
            <p:txBody>
              <a:bodyPr anchor="ctr">
                <a:normAutofit fontScale="77500" lnSpcReduction="20000"/>
              </a:bodyPr>
              <a:lstStyle/>
              <a:p>
                <a:r>
                  <a:rPr lang="en-CH" dirty="0">
                    <a:latin typeface="+mj-lt"/>
                  </a:rPr>
                  <a:t>Graphs – </a:t>
                </a:r>
                <a:r>
                  <a:rPr lang="en-CH" i="1" dirty="0">
                    <a:latin typeface="+mj-lt"/>
                  </a:rPr>
                  <a:t>relational</a:t>
                </a:r>
                <a:r>
                  <a:rPr lang="en-CH" dirty="0">
                    <a:latin typeface="+mj-lt"/>
                  </a:rPr>
                  <a:t> data with a surprisingly rich number of avenues for analysis</a:t>
                </a:r>
              </a:p>
              <a:p>
                <a:pPr lvl="1"/>
                <a:r>
                  <a:rPr lang="en-US" dirty="0">
                    <a:latin typeface="+mj-lt"/>
                  </a:rPr>
                  <a:t>Set of nodes and edges: </a:t>
                </a:r>
                <a14:m>
                  <m:oMath xmlns:m="http://schemas.openxmlformats.org/officeDocument/2006/math">
                    <m:r>
                      <a:rPr lang="en-US" b="0" i="1" smtClean="0">
                        <a:latin typeface="Cambria Math" panose="02040503050406030204" pitchFamily="18" charset="0"/>
                      </a:rPr>
                      <m:t>𝐺</m:t>
                    </m:r>
                    <m:r>
                      <a:rPr lang="en-US" b="0" i="1" smtClean="0">
                        <a:latin typeface="Cambria Math" panose="02040503050406030204" pitchFamily="18" charset="0"/>
                      </a:rPr>
                      <m:t>=</m:t>
                    </m:r>
                    <m:d>
                      <m:dPr>
                        <m:ctrlPr>
                          <a:rPr lang="en-US" b="0" i="1" smtClean="0">
                            <a:latin typeface="Cambria Math" panose="02040503050406030204" pitchFamily="18" charset="0"/>
                          </a:rPr>
                        </m:ctrlPr>
                      </m:dPr>
                      <m:e>
                        <m:r>
                          <a:rPr lang="en-US" b="0" i="1" smtClean="0">
                            <a:latin typeface="Cambria Math" panose="02040503050406030204" pitchFamily="18" charset="0"/>
                          </a:rPr>
                          <m:t>𝑉</m:t>
                        </m:r>
                        <m:r>
                          <a:rPr lang="en-US" b="0" i="1" smtClean="0">
                            <a:latin typeface="Cambria Math" panose="02040503050406030204" pitchFamily="18" charset="0"/>
                          </a:rPr>
                          <m:t>,</m:t>
                        </m:r>
                        <m:r>
                          <a:rPr lang="en-US" b="0" i="1" smtClean="0">
                            <a:latin typeface="Cambria Math" panose="02040503050406030204" pitchFamily="18" charset="0"/>
                          </a:rPr>
                          <m:t>𝐸</m:t>
                        </m:r>
                      </m:e>
                    </m:d>
                  </m:oMath>
                </a14:m>
                <a:endParaRPr lang="en-CH" dirty="0">
                  <a:latin typeface="+mj-lt"/>
                </a:endParaRPr>
              </a:p>
              <a:p>
                <a:pPr lvl="1"/>
                <a:r>
                  <a:rPr lang="en-CH" dirty="0">
                    <a:latin typeface="+mj-lt"/>
                  </a:rPr>
                  <a:t>Directed vs. undirected, adjacency matrices</a:t>
                </a:r>
              </a:p>
              <a:p>
                <a:pPr lvl="1"/>
                <a:r>
                  <a:rPr lang="en-CH" dirty="0">
                    <a:latin typeface="+mj-lt"/>
                  </a:rPr>
                  <a:t>Node neighborhoods and degrees, paths and cycles, subgraphs</a:t>
                </a:r>
              </a:p>
              <a:p>
                <a:pPr lvl="1"/>
                <a:r>
                  <a:rPr lang="en-CH" dirty="0">
                    <a:latin typeface="+mj-lt"/>
                  </a:rPr>
                  <a:t>Connected components, Laplacian and spectral decomposition, orbits</a:t>
                </a:r>
              </a:p>
              <a:p>
                <a:r>
                  <a:rPr lang="en-CH" dirty="0">
                    <a:latin typeface="+mj-lt"/>
                  </a:rPr>
                  <a:t>Network Science – </a:t>
                </a:r>
                <a:r>
                  <a:rPr lang="en-CH" i="1" dirty="0">
                    <a:latin typeface="+mj-lt"/>
                  </a:rPr>
                  <a:t>importance</a:t>
                </a:r>
                <a:r>
                  <a:rPr lang="en-CH" dirty="0">
                    <a:latin typeface="+mj-lt"/>
                  </a:rPr>
                  <a:t> measures</a:t>
                </a:r>
              </a:p>
              <a:p>
                <a:pPr lvl="1"/>
                <a:r>
                  <a:rPr lang="en-CH" dirty="0">
                    <a:latin typeface="+mj-lt"/>
                  </a:rPr>
                  <a:t>Centralities</a:t>
                </a:r>
              </a:p>
              <a:p>
                <a:pPr lvl="1"/>
                <a:r>
                  <a:rPr lang="en-CH" dirty="0">
                    <a:latin typeface="+mj-lt"/>
                  </a:rPr>
                  <a:t>Clustering coefficients</a:t>
                </a:r>
              </a:p>
              <a:p>
                <a:pPr lvl="1"/>
                <a:r>
                  <a:rPr lang="en-CH" dirty="0">
                    <a:latin typeface="+mj-lt"/>
                  </a:rPr>
                  <a:t>HITS, PageRank</a:t>
                </a:r>
              </a:p>
              <a:p>
                <a:r>
                  <a:rPr lang="en-CH" dirty="0">
                    <a:latin typeface="+mj-lt"/>
                  </a:rPr>
                  <a:t>Community structure</a:t>
                </a:r>
              </a:p>
              <a:p>
                <a:pPr lvl="1"/>
                <a:r>
                  <a:rPr lang="en-CH" dirty="0">
                    <a:latin typeface="+mj-lt"/>
                  </a:rPr>
                  <a:t>Local density, global sparsity</a:t>
                </a:r>
              </a:p>
              <a:p>
                <a:pPr lvl="1"/>
                <a:r>
                  <a:rPr lang="en-CH" dirty="0">
                    <a:latin typeface="+mj-lt"/>
                  </a:rPr>
                  <a:t>Disjoint vs. overlapping communities</a:t>
                </a:r>
              </a:p>
              <a:p>
                <a:pPr lvl="1"/>
                <a:r>
                  <a:rPr lang="en-CH" dirty="0">
                    <a:latin typeface="+mj-lt"/>
                  </a:rPr>
                  <a:t>Graph abstraction through coarsening</a:t>
                </a:r>
                <a:r>
                  <a:rPr lang="en-US" dirty="0">
                    <a:latin typeface="+mj-lt"/>
                  </a:rPr>
                  <a:t> </a:t>
                </a:r>
                <a:r>
                  <a:rPr lang="en-US" dirty="0">
                    <a:solidFill>
                      <a:schemeClr val="accent1"/>
                    </a:solidFill>
                    <a:latin typeface="+mj-lt"/>
                  </a:rPr>
                  <a:t>[4]</a:t>
                </a:r>
                <a:endParaRPr lang="en-CH" dirty="0">
                  <a:solidFill>
                    <a:schemeClr val="accent1"/>
                  </a:solidFill>
                  <a:latin typeface="+mj-lt"/>
                </a:endParaRPr>
              </a:p>
            </p:txBody>
          </p:sp>
        </mc:Choice>
        <mc:Fallback>
          <p:sp>
            <p:nvSpPr>
              <p:cNvPr id="2" name="Content Placeholder 1">
                <a:extLst>
                  <a:ext uri="{FF2B5EF4-FFF2-40B4-BE49-F238E27FC236}">
                    <a16:creationId xmlns:a16="http://schemas.microsoft.com/office/drawing/2014/main" id="{C86C03D2-4E07-16F4-6C46-869551A8C93F}"/>
                  </a:ext>
                </a:extLst>
              </p:cNvPr>
              <p:cNvSpPr>
                <a:spLocks noGrp="1" noRot="1" noChangeAspect="1" noMove="1" noResize="1" noEditPoints="1" noAdjustHandles="1" noChangeArrowheads="1" noChangeShapeType="1" noTextEdit="1"/>
              </p:cNvSpPr>
              <p:nvPr>
                <p:ph sz="half" idx="1"/>
              </p:nvPr>
            </p:nvSpPr>
            <p:spPr>
              <a:blipFill>
                <a:blip r:embed="rId3"/>
                <a:stretch>
                  <a:fillRect/>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1ED8A346-1243-AA21-B288-43D3DBE18806}"/>
              </a:ext>
            </a:extLst>
          </p:cNvPr>
          <p:cNvSpPr>
            <a:spLocks noGrp="1"/>
          </p:cNvSpPr>
          <p:nvPr>
            <p:ph type="title"/>
          </p:nvPr>
        </p:nvSpPr>
        <p:spPr>
          <a:xfrm>
            <a:off x="904875" y="131032"/>
            <a:ext cx="7532688" cy="1072753"/>
          </a:xfrm>
        </p:spPr>
        <p:txBody>
          <a:bodyPr/>
          <a:lstStyle/>
          <a:p>
            <a:r>
              <a:rPr lang="en-US" dirty="0"/>
              <a:t>2.1	Graph Theory &amp; Network Science</a:t>
            </a:r>
            <a:endParaRPr lang="en-GB" dirty="0"/>
          </a:p>
        </p:txBody>
      </p:sp>
      <p:sp>
        <p:nvSpPr>
          <p:cNvPr id="5" name="Date Placeholder 4">
            <a:extLst>
              <a:ext uri="{FF2B5EF4-FFF2-40B4-BE49-F238E27FC236}">
                <a16:creationId xmlns:a16="http://schemas.microsoft.com/office/drawing/2014/main" id="{018B2783-AC6C-0A71-979C-EB9C2FF5C21A}"/>
              </a:ext>
            </a:extLst>
          </p:cNvPr>
          <p:cNvSpPr>
            <a:spLocks noGrp="1"/>
          </p:cNvSpPr>
          <p:nvPr>
            <p:ph type="dt" sz="half" idx="10"/>
          </p:nvPr>
        </p:nvSpPr>
        <p:spPr/>
        <p:txBody>
          <a:bodyPr/>
          <a:lstStyle/>
          <a:p>
            <a:r>
              <a:rPr lang="fr-CH" sz="600" dirty="0">
                <a:latin typeface="+mj-lt"/>
              </a:rPr>
              <a:t>EDIC PhD </a:t>
            </a:r>
            <a:r>
              <a:rPr lang="fr-CH" sz="600" dirty="0" err="1">
                <a:latin typeface="+mj-lt"/>
              </a:rPr>
              <a:t>Private</a:t>
            </a:r>
            <a:r>
              <a:rPr lang="fr-CH" sz="600" dirty="0">
                <a:latin typeface="+mj-lt"/>
              </a:rPr>
              <a:t> </a:t>
            </a:r>
            <a:r>
              <a:rPr lang="fr-CH" sz="600" dirty="0" err="1">
                <a:latin typeface="+mj-lt"/>
              </a:rPr>
              <a:t>Defense</a:t>
            </a:r>
            <a:r>
              <a:rPr lang="fr-CH" sz="600" dirty="0">
                <a:latin typeface="+mj-lt"/>
              </a:rPr>
              <a:t> / Scalable Methods for </a:t>
            </a:r>
            <a:r>
              <a:rPr lang="fr-CH" sz="600" dirty="0" err="1">
                <a:latin typeface="+mj-lt"/>
              </a:rPr>
              <a:t>Knowledge</a:t>
            </a:r>
            <a:r>
              <a:rPr lang="fr-CH" sz="600" dirty="0">
                <a:latin typeface="+mj-lt"/>
              </a:rPr>
              <a:t> Graph </a:t>
            </a:r>
            <a:r>
              <a:rPr lang="fr-CH" sz="600" dirty="0" err="1">
                <a:latin typeface="+mj-lt"/>
              </a:rPr>
              <a:t>Reasoning</a:t>
            </a:r>
            <a:r>
              <a:rPr lang="fr-CH" sz="600" dirty="0">
                <a:latin typeface="+mj-lt"/>
              </a:rPr>
              <a:t> and </a:t>
            </a:r>
            <a:r>
              <a:rPr lang="fr-CH" sz="600" dirty="0" err="1">
                <a:latin typeface="+mj-lt"/>
              </a:rPr>
              <a:t>Generation</a:t>
            </a:r>
            <a:endParaRPr lang="fr-FR" sz="600" dirty="0">
              <a:latin typeface="+mj-lt"/>
            </a:endParaRPr>
          </a:p>
        </p:txBody>
      </p:sp>
      <p:sp>
        <p:nvSpPr>
          <p:cNvPr id="6" name="Footer Placeholder 5">
            <a:extLst>
              <a:ext uri="{FF2B5EF4-FFF2-40B4-BE49-F238E27FC236}">
                <a16:creationId xmlns:a16="http://schemas.microsoft.com/office/drawing/2014/main" id="{D93F59AD-8C49-8B9B-7C7D-233804C44B9E}"/>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E96E3C4D-9D3D-C43B-EB9F-097EA6E12194}"/>
              </a:ext>
            </a:extLst>
          </p:cNvPr>
          <p:cNvSpPr>
            <a:spLocks noGrp="1"/>
          </p:cNvSpPr>
          <p:nvPr>
            <p:ph type="sldNum" sz="quarter" idx="12"/>
          </p:nvPr>
        </p:nvSpPr>
        <p:spPr/>
        <p:txBody>
          <a:bodyPr/>
          <a:lstStyle/>
          <a:p>
            <a:fld id="{E1E1CD7C-2161-7D43-862E-CE4C333CD873}" type="slidenum">
              <a:rPr lang="fr-FR" smtClean="0"/>
              <a:pPr/>
              <a:t>6</a:t>
            </a:fld>
            <a:endParaRPr lang="fr-FR" dirty="0"/>
          </a:p>
        </p:txBody>
      </p:sp>
      <p:pic>
        <p:nvPicPr>
          <p:cNvPr id="3074" name="Picture 2" descr="The Seven Bridges of Königsberg, Fig. 1 - PICRYL - Public Domain Media  Search Engine Public Domain Search">
            <a:extLst>
              <a:ext uri="{FF2B5EF4-FFF2-40B4-BE49-F238E27FC236}">
                <a16:creationId xmlns:a16="http://schemas.microsoft.com/office/drawing/2014/main" id="{36D69303-F1BC-4A80-7D7E-49B12CC04DA4}"/>
              </a:ext>
            </a:extLst>
          </p:cNvPr>
          <p:cNvPicPr>
            <a:picLocks noGrp="1" noChangeAspect="1" noChangeArrowheads="1"/>
          </p:cNvPicPr>
          <p:nvPr>
            <p:ph sz="half" idx="2"/>
          </p:nvPr>
        </p:nvPicPr>
        <p:blipFill>
          <a:blip r:embed="rId4">
            <a:extLst>
              <a:ext uri="{28A0092B-C50C-407E-A947-70E740481C1C}">
                <a14:useLocalDpi xmlns:a14="http://schemas.microsoft.com/office/drawing/2010/main" val="0"/>
              </a:ext>
            </a:extLst>
          </a:blip>
          <a:srcRect/>
          <a:stretch>
            <a:fillRect/>
          </a:stretch>
        </p:blipFill>
        <p:spPr bwMode="auto">
          <a:xfrm>
            <a:off x="4765675" y="634959"/>
            <a:ext cx="3671888" cy="1857458"/>
          </a:xfrm>
          <a:prstGeom prst="rect">
            <a:avLst/>
          </a:prstGeom>
          <a:noFill/>
          <a:extLst>
            <a:ext uri="{909E8E84-426E-40DD-AFC4-6F175D3DCCD1}">
              <a14:hiddenFill xmlns:a14="http://schemas.microsoft.com/office/drawing/2010/main">
                <a:solidFill>
                  <a:srgbClr val="FFFFFF"/>
                </a:solidFill>
              </a14:hiddenFill>
            </a:ext>
          </a:extLst>
        </p:spPr>
      </p:pic>
      <p:pic>
        <p:nvPicPr>
          <p:cNvPr id="3076" name="Picture 4">
            <a:extLst>
              <a:ext uri="{FF2B5EF4-FFF2-40B4-BE49-F238E27FC236}">
                <a16:creationId xmlns:a16="http://schemas.microsoft.com/office/drawing/2014/main" id="{027AFB34-8218-D916-D131-E3EDBA0B9917}"/>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153819" y="2656840"/>
            <a:ext cx="2895600" cy="22479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834601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randombar(horizontal)">
                                      <p:cBhvr>
                                        <p:cTn id="7" dur="500"/>
                                        <p:tgtEl>
                                          <p:spTgt spid="2">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2">
                                            <p:txEl>
                                              <p:pRg st="1" end="1"/>
                                            </p:txEl>
                                          </p:spTgt>
                                        </p:tgtEl>
                                        <p:attrNameLst>
                                          <p:attrName>style.visibility</p:attrName>
                                        </p:attrNameLst>
                                      </p:cBhvr>
                                      <p:to>
                                        <p:strVal val="visible"/>
                                      </p:to>
                                    </p:set>
                                    <p:animEffect transition="in" filter="randombar(horizontal)">
                                      <p:cBhvr>
                                        <p:cTn id="10" dur="500"/>
                                        <p:tgtEl>
                                          <p:spTgt spid="2">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animEffect transition="in" filter="randombar(horizontal)">
                                      <p:cBhvr>
                                        <p:cTn id="13" dur="500"/>
                                        <p:tgtEl>
                                          <p:spTgt spid="2">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2">
                                            <p:txEl>
                                              <p:pRg st="3" end="3"/>
                                            </p:txEl>
                                          </p:spTgt>
                                        </p:tgtEl>
                                        <p:attrNameLst>
                                          <p:attrName>style.visibility</p:attrName>
                                        </p:attrNameLst>
                                      </p:cBhvr>
                                      <p:to>
                                        <p:strVal val="visible"/>
                                      </p:to>
                                    </p:set>
                                    <p:animEffect transition="in" filter="randombar(horizontal)">
                                      <p:cBhvr>
                                        <p:cTn id="16" dur="500"/>
                                        <p:tgtEl>
                                          <p:spTgt spid="2">
                                            <p:txEl>
                                              <p:pRg st="3" end="3"/>
                                            </p:txEl>
                                          </p:spTgt>
                                        </p:tgtEl>
                                      </p:cBhvr>
                                    </p:animEffect>
                                  </p:childTnLst>
                                </p:cTn>
                              </p:par>
                              <p:par>
                                <p:cTn id="17" presetID="14" presetClass="entr" presetSubtype="10" fill="hold" nodeType="withEffect">
                                  <p:stCondLst>
                                    <p:cond delay="0"/>
                                  </p:stCondLst>
                                  <p:childTnLst>
                                    <p:set>
                                      <p:cBhvr>
                                        <p:cTn id="18" dur="1" fill="hold">
                                          <p:stCondLst>
                                            <p:cond delay="0"/>
                                          </p:stCondLst>
                                        </p:cTn>
                                        <p:tgtEl>
                                          <p:spTgt spid="2">
                                            <p:txEl>
                                              <p:pRg st="4" end="4"/>
                                            </p:txEl>
                                          </p:spTgt>
                                        </p:tgtEl>
                                        <p:attrNameLst>
                                          <p:attrName>style.visibility</p:attrName>
                                        </p:attrNameLst>
                                      </p:cBhvr>
                                      <p:to>
                                        <p:strVal val="visible"/>
                                      </p:to>
                                    </p:set>
                                    <p:animEffect transition="in" filter="randombar(horizontal)">
                                      <p:cBhvr>
                                        <p:cTn id="19" dur="500"/>
                                        <p:tgtEl>
                                          <p:spTgt spid="2">
                                            <p:txEl>
                                              <p:pRg st="4" end="4"/>
                                            </p:txEl>
                                          </p:spTgt>
                                        </p:tgtEl>
                                      </p:cBhvr>
                                    </p:animEffect>
                                  </p:childTnLst>
                                </p:cTn>
                              </p:par>
                              <p:par>
                                <p:cTn id="20" presetID="14" presetClass="entr" presetSubtype="10" fill="hold" nodeType="withEffect">
                                  <p:stCondLst>
                                    <p:cond delay="0"/>
                                  </p:stCondLst>
                                  <p:childTnLst>
                                    <p:set>
                                      <p:cBhvr>
                                        <p:cTn id="21" dur="1" fill="hold">
                                          <p:stCondLst>
                                            <p:cond delay="0"/>
                                          </p:stCondLst>
                                        </p:cTn>
                                        <p:tgtEl>
                                          <p:spTgt spid="3074"/>
                                        </p:tgtEl>
                                        <p:attrNameLst>
                                          <p:attrName>style.visibility</p:attrName>
                                        </p:attrNameLst>
                                      </p:cBhvr>
                                      <p:to>
                                        <p:strVal val="visible"/>
                                      </p:to>
                                    </p:set>
                                    <p:animEffect transition="in" filter="randombar(horizontal)">
                                      <p:cBhvr>
                                        <p:cTn id="22" dur="500"/>
                                        <p:tgtEl>
                                          <p:spTgt spid="3074"/>
                                        </p:tgtEl>
                                      </p:cBhvr>
                                    </p:animEffect>
                                  </p:childTnLst>
                                </p:cTn>
                              </p:par>
                              <p:par>
                                <p:cTn id="23" presetID="14" presetClass="entr" presetSubtype="10" fill="hold" nodeType="withEffect">
                                  <p:stCondLst>
                                    <p:cond delay="0"/>
                                  </p:stCondLst>
                                  <p:childTnLst>
                                    <p:set>
                                      <p:cBhvr>
                                        <p:cTn id="24" dur="1" fill="hold">
                                          <p:stCondLst>
                                            <p:cond delay="0"/>
                                          </p:stCondLst>
                                        </p:cTn>
                                        <p:tgtEl>
                                          <p:spTgt spid="3076"/>
                                        </p:tgtEl>
                                        <p:attrNameLst>
                                          <p:attrName>style.visibility</p:attrName>
                                        </p:attrNameLst>
                                      </p:cBhvr>
                                      <p:to>
                                        <p:strVal val="visible"/>
                                      </p:to>
                                    </p:set>
                                    <p:animEffect transition="in" filter="randombar(horizontal)">
                                      <p:cBhvr>
                                        <p:cTn id="25" dur="500"/>
                                        <p:tgtEl>
                                          <p:spTgt spid="3076"/>
                                        </p:tgtEl>
                                      </p:cBhvr>
                                    </p:animEffect>
                                  </p:childTnLst>
                                </p:cTn>
                              </p:par>
                            </p:childTnLst>
                          </p:cTn>
                        </p:par>
                      </p:childTnLst>
                    </p:cTn>
                  </p:par>
                  <p:par>
                    <p:cTn id="26" fill="hold">
                      <p:stCondLst>
                        <p:cond delay="indefinite"/>
                      </p:stCondLst>
                      <p:childTnLst>
                        <p:par>
                          <p:cTn id="27" fill="hold">
                            <p:stCondLst>
                              <p:cond delay="0"/>
                            </p:stCondLst>
                            <p:childTnLst>
                              <p:par>
                                <p:cTn id="28" presetID="14" presetClass="entr" presetSubtype="10" fill="hold" nodeType="clickEffect">
                                  <p:stCondLst>
                                    <p:cond delay="0"/>
                                  </p:stCondLst>
                                  <p:childTnLst>
                                    <p:set>
                                      <p:cBhvr>
                                        <p:cTn id="29" dur="1" fill="hold">
                                          <p:stCondLst>
                                            <p:cond delay="0"/>
                                          </p:stCondLst>
                                        </p:cTn>
                                        <p:tgtEl>
                                          <p:spTgt spid="2">
                                            <p:txEl>
                                              <p:pRg st="5" end="5"/>
                                            </p:txEl>
                                          </p:spTgt>
                                        </p:tgtEl>
                                        <p:attrNameLst>
                                          <p:attrName>style.visibility</p:attrName>
                                        </p:attrNameLst>
                                      </p:cBhvr>
                                      <p:to>
                                        <p:strVal val="visible"/>
                                      </p:to>
                                    </p:set>
                                    <p:animEffect transition="in" filter="randombar(horizontal)">
                                      <p:cBhvr>
                                        <p:cTn id="30" dur="500"/>
                                        <p:tgtEl>
                                          <p:spTgt spid="2">
                                            <p:txEl>
                                              <p:pRg st="5" end="5"/>
                                            </p:txEl>
                                          </p:spTgt>
                                        </p:tgtEl>
                                      </p:cBhvr>
                                    </p:animEffect>
                                  </p:childTnLst>
                                </p:cTn>
                              </p:par>
                              <p:par>
                                <p:cTn id="31" presetID="14" presetClass="entr" presetSubtype="10" fill="hold" nodeType="withEffect">
                                  <p:stCondLst>
                                    <p:cond delay="0"/>
                                  </p:stCondLst>
                                  <p:childTnLst>
                                    <p:set>
                                      <p:cBhvr>
                                        <p:cTn id="32" dur="1" fill="hold">
                                          <p:stCondLst>
                                            <p:cond delay="0"/>
                                          </p:stCondLst>
                                        </p:cTn>
                                        <p:tgtEl>
                                          <p:spTgt spid="2">
                                            <p:txEl>
                                              <p:pRg st="6" end="6"/>
                                            </p:txEl>
                                          </p:spTgt>
                                        </p:tgtEl>
                                        <p:attrNameLst>
                                          <p:attrName>style.visibility</p:attrName>
                                        </p:attrNameLst>
                                      </p:cBhvr>
                                      <p:to>
                                        <p:strVal val="visible"/>
                                      </p:to>
                                    </p:set>
                                    <p:animEffect transition="in" filter="randombar(horizontal)">
                                      <p:cBhvr>
                                        <p:cTn id="33" dur="500"/>
                                        <p:tgtEl>
                                          <p:spTgt spid="2">
                                            <p:txEl>
                                              <p:pRg st="6" end="6"/>
                                            </p:txEl>
                                          </p:spTgt>
                                        </p:tgtEl>
                                      </p:cBhvr>
                                    </p:animEffect>
                                  </p:childTnLst>
                                </p:cTn>
                              </p:par>
                              <p:par>
                                <p:cTn id="34" presetID="14" presetClass="entr" presetSubtype="10" fill="hold" nodeType="withEffect">
                                  <p:stCondLst>
                                    <p:cond delay="0"/>
                                  </p:stCondLst>
                                  <p:childTnLst>
                                    <p:set>
                                      <p:cBhvr>
                                        <p:cTn id="35" dur="1" fill="hold">
                                          <p:stCondLst>
                                            <p:cond delay="0"/>
                                          </p:stCondLst>
                                        </p:cTn>
                                        <p:tgtEl>
                                          <p:spTgt spid="2">
                                            <p:txEl>
                                              <p:pRg st="7" end="7"/>
                                            </p:txEl>
                                          </p:spTgt>
                                        </p:tgtEl>
                                        <p:attrNameLst>
                                          <p:attrName>style.visibility</p:attrName>
                                        </p:attrNameLst>
                                      </p:cBhvr>
                                      <p:to>
                                        <p:strVal val="visible"/>
                                      </p:to>
                                    </p:set>
                                    <p:animEffect transition="in" filter="randombar(horizontal)">
                                      <p:cBhvr>
                                        <p:cTn id="36" dur="500"/>
                                        <p:tgtEl>
                                          <p:spTgt spid="2">
                                            <p:txEl>
                                              <p:pRg st="7" end="7"/>
                                            </p:txEl>
                                          </p:spTgt>
                                        </p:tgtEl>
                                      </p:cBhvr>
                                    </p:animEffect>
                                  </p:childTnLst>
                                </p:cTn>
                              </p:par>
                              <p:par>
                                <p:cTn id="37" presetID="14" presetClass="entr" presetSubtype="10" fill="hold" nodeType="withEffect">
                                  <p:stCondLst>
                                    <p:cond delay="0"/>
                                  </p:stCondLst>
                                  <p:childTnLst>
                                    <p:set>
                                      <p:cBhvr>
                                        <p:cTn id="38" dur="1" fill="hold">
                                          <p:stCondLst>
                                            <p:cond delay="0"/>
                                          </p:stCondLst>
                                        </p:cTn>
                                        <p:tgtEl>
                                          <p:spTgt spid="2">
                                            <p:txEl>
                                              <p:pRg st="8" end="8"/>
                                            </p:txEl>
                                          </p:spTgt>
                                        </p:tgtEl>
                                        <p:attrNameLst>
                                          <p:attrName>style.visibility</p:attrName>
                                        </p:attrNameLst>
                                      </p:cBhvr>
                                      <p:to>
                                        <p:strVal val="visible"/>
                                      </p:to>
                                    </p:set>
                                    <p:animEffect transition="in" filter="randombar(horizontal)">
                                      <p:cBhvr>
                                        <p:cTn id="39" dur="500"/>
                                        <p:tgtEl>
                                          <p:spTgt spid="2">
                                            <p:txEl>
                                              <p:pRg st="8" end="8"/>
                                            </p:txEl>
                                          </p:spTgt>
                                        </p:tgtEl>
                                      </p:cBhvr>
                                    </p:animEffect>
                                  </p:childTnLst>
                                </p:cTn>
                              </p:par>
                            </p:childTnLst>
                          </p:cTn>
                        </p:par>
                      </p:childTnLst>
                    </p:cTn>
                  </p:par>
                  <p:par>
                    <p:cTn id="40" fill="hold">
                      <p:stCondLst>
                        <p:cond delay="indefinite"/>
                      </p:stCondLst>
                      <p:childTnLst>
                        <p:par>
                          <p:cTn id="41" fill="hold">
                            <p:stCondLst>
                              <p:cond delay="0"/>
                            </p:stCondLst>
                            <p:childTnLst>
                              <p:par>
                                <p:cTn id="42" presetID="14" presetClass="entr" presetSubtype="10" fill="hold" nodeType="clickEffect">
                                  <p:stCondLst>
                                    <p:cond delay="0"/>
                                  </p:stCondLst>
                                  <p:childTnLst>
                                    <p:set>
                                      <p:cBhvr>
                                        <p:cTn id="43" dur="1" fill="hold">
                                          <p:stCondLst>
                                            <p:cond delay="0"/>
                                          </p:stCondLst>
                                        </p:cTn>
                                        <p:tgtEl>
                                          <p:spTgt spid="2">
                                            <p:txEl>
                                              <p:pRg st="9" end="9"/>
                                            </p:txEl>
                                          </p:spTgt>
                                        </p:tgtEl>
                                        <p:attrNameLst>
                                          <p:attrName>style.visibility</p:attrName>
                                        </p:attrNameLst>
                                      </p:cBhvr>
                                      <p:to>
                                        <p:strVal val="visible"/>
                                      </p:to>
                                    </p:set>
                                    <p:animEffect transition="in" filter="randombar(horizontal)">
                                      <p:cBhvr>
                                        <p:cTn id="44" dur="500"/>
                                        <p:tgtEl>
                                          <p:spTgt spid="2">
                                            <p:txEl>
                                              <p:pRg st="9" end="9"/>
                                            </p:txEl>
                                          </p:spTgt>
                                        </p:tgtEl>
                                      </p:cBhvr>
                                    </p:animEffect>
                                  </p:childTnLst>
                                </p:cTn>
                              </p:par>
                              <p:par>
                                <p:cTn id="45" presetID="14" presetClass="entr" presetSubtype="10" fill="hold" nodeType="withEffect">
                                  <p:stCondLst>
                                    <p:cond delay="0"/>
                                  </p:stCondLst>
                                  <p:childTnLst>
                                    <p:set>
                                      <p:cBhvr>
                                        <p:cTn id="46" dur="1" fill="hold">
                                          <p:stCondLst>
                                            <p:cond delay="0"/>
                                          </p:stCondLst>
                                        </p:cTn>
                                        <p:tgtEl>
                                          <p:spTgt spid="2">
                                            <p:txEl>
                                              <p:pRg st="10" end="10"/>
                                            </p:txEl>
                                          </p:spTgt>
                                        </p:tgtEl>
                                        <p:attrNameLst>
                                          <p:attrName>style.visibility</p:attrName>
                                        </p:attrNameLst>
                                      </p:cBhvr>
                                      <p:to>
                                        <p:strVal val="visible"/>
                                      </p:to>
                                    </p:set>
                                    <p:animEffect transition="in" filter="randombar(horizontal)">
                                      <p:cBhvr>
                                        <p:cTn id="47" dur="500"/>
                                        <p:tgtEl>
                                          <p:spTgt spid="2">
                                            <p:txEl>
                                              <p:pRg st="10" end="10"/>
                                            </p:txEl>
                                          </p:spTgt>
                                        </p:tgtEl>
                                      </p:cBhvr>
                                    </p:animEffect>
                                  </p:childTnLst>
                                </p:cTn>
                              </p:par>
                              <p:par>
                                <p:cTn id="48" presetID="14" presetClass="entr" presetSubtype="10" fill="hold" nodeType="withEffect">
                                  <p:stCondLst>
                                    <p:cond delay="0"/>
                                  </p:stCondLst>
                                  <p:childTnLst>
                                    <p:set>
                                      <p:cBhvr>
                                        <p:cTn id="49" dur="1" fill="hold">
                                          <p:stCondLst>
                                            <p:cond delay="0"/>
                                          </p:stCondLst>
                                        </p:cTn>
                                        <p:tgtEl>
                                          <p:spTgt spid="2">
                                            <p:txEl>
                                              <p:pRg st="11" end="11"/>
                                            </p:txEl>
                                          </p:spTgt>
                                        </p:tgtEl>
                                        <p:attrNameLst>
                                          <p:attrName>style.visibility</p:attrName>
                                        </p:attrNameLst>
                                      </p:cBhvr>
                                      <p:to>
                                        <p:strVal val="visible"/>
                                      </p:to>
                                    </p:set>
                                    <p:animEffect transition="in" filter="randombar(horizontal)">
                                      <p:cBhvr>
                                        <p:cTn id="50" dur="500"/>
                                        <p:tgtEl>
                                          <p:spTgt spid="2">
                                            <p:txEl>
                                              <p:pRg st="11" end="11"/>
                                            </p:txEl>
                                          </p:spTgt>
                                        </p:tgtEl>
                                      </p:cBhvr>
                                    </p:animEffect>
                                  </p:childTnLst>
                                </p:cTn>
                              </p:par>
                              <p:par>
                                <p:cTn id="51" presetID="14" presetClass="entr" presetSubtype="10" fill="hold" nodeType="withEffect">
                                  <p:stCondLst>
                                    <p:cond delay="0"/>
                                  </p:stCondLst>
                                  <p:childTnLst>
                                    <p:set>
                                      <p:cBhvr>
                                        <p:cTn id="52" dur="1" fill="hold">
                                          <p:stCondLst>
                                            <p:cond delay="0"/>
                                          </p:stCondLst>
                                        </p:cTn>
                                        <p:tgtEl>
                                          <p:spTgt spid="2">
                                            <p:txEl>
                                              <p:pRg st="12" end="12"/>
                                            </p:txEl>
                                          </p:spTgt>
                                        </p:tgtEl>
                                        <p:attrNameLst>
                                          <p:attrName>style.visibility</p:attrName>
                                        </p:attrNameLst>
                                      </p:cBhvr>
                                      <p:to>
                                        <p:strVal val="visible"/>
                                      </p:to>
                                    </p:set>
                                    <p:animEffect transition="in" filter="randombar(horizontal)">
                                      <p:cBhvr>
                                        <p:cTn id="53" dur="500"/>
                                        <p:tgtEl>
                                          <p:spTgt spid="2">
                                            <p:txEl>
                                              <p:pRg st="12" end="1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F275CE-A8D4-5750-F619-8CEB4B84C2F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6306EF8-4762-ED3E-E823-77E2197FE9DE}"/>
              </a:ext>
            </a:extLst>
          </p:cNvPr>
          <p:cNvSpPr>
            <a:spLocks noGrp="1"/>
          </p:cNvSpPr>
          <p:nvPr>
            <p:ph sz="half" idx="1"/>
          </p:nvPr>
        </p:nvSpPr>
        <p:spPr>
          <a:xfrm>
            <a:off x="904875" y="1563688"/>
            <a:ext cx="3794125" cy="3263504"/>
          </a:xfrm>
        </p:spPr>
        <p:txBody>
          <a:bodyPr anchor="ctr">
            <a:normAutofit fontScale="92500" lnSpcReduction="10000"/>
          </a:bodyPr>
          <a:lstStyle/>
          <a:p>
            <a:r>
              <a:rPr lang="en-CH" dirty="0">
                <a:latin typeface="+mj-lt"/>
              </a:rPr>
              <a:t>Models, parameters, data points, loss functions…</a:t>
            </a:r>
          </a:p>
          <a:p>
            <a:r>
              <a:rPr lang="en-CH" dirty="0">
                <a:latin typeface="+mj-lt"/>
              </a:rPr>
              <a:t>Optimization algorithms</a:t>
            </a:r>
          </a:p>
          <a:p>
            <a:pPr lvl="1"/>
            <a:r>
              <a:rPr lang="en-CH" dirty="0">
                <a:latin typeface="+mj-lt"/>
              </a:rPr>
              <a:t>Learning model parameters via loss minimization with GD, SGD, Adam…</a:t>
            </a:r>
          </a:p>
          <a:p>
            <a:r>
              <a:rPr lang="en-CH" dirty="0">
                <a:latin typeface="+mj-lt"/>
              </a:rPr>
              <a:t>Neural networks</a:t>
            </a:r>
          </a:p>
          <a:p>
            <a:pPr lvl="1"/>
            <a:r>
              <a:rPr lang="en-CH" dirty="0">
                <a:latin typeface="+mj-lt"/>
              </a:rPr>
              <a:t>Sequence of </a:t>
            </a:r>
            <a:r>
              <a:rPr lang="en-CH" i="1" dirty="0">
                <a:latin typeface="+mj-lt"/>
              </a:rPr>
              <a:t>layer </a:t>
            </a:r>
            <a:r>
              <a:rPr lang="en-CH" dirty="0">
                <a:latin typeface="+mj-lt"/>
              </a:rPr>
              <a:t>models</a:t>
            </a:r>
          </a:p>
          <a:p>
            <a:pPr lvl="1"/>
            <a:r>
              <a:rPr lang="en-CH" dirty="0">
                <a:latin typeface="+mj-lt"/>
              </a:rPr>
              <a:t>Universal approximation</a:t>
            </a:r>
          </a:p>
          <a:p>
            <a:pPr lvl="1"/>
            <a:r>
              <a:rPr lang="en-CH" dirty="0">
                <a:latin typeface="+mj-lt"/>
              </a:rPr>
              <a:t>Importance of depth</a:t>
            </a:r>
          </a:p>
          <a:p>
            <a:pPr lvl="1"/>
            <a:r>
              <a:rPr lang="en-CH" dirty="0">
                <a:latin typeface="+mj-lt"/>
              </a:rPr>
              <a:t>Layer architectures: linear, embedding, dropout, batch normalization…</a:t>
            </a:r>
          </a:p>
          <a:p>
            <a:pPr lvl="1"/>
            <a:r>
              <a:rPr lang="en-CH" dirty="0">
                <a:latin typeface="+mj-lt"/>
              </a:rPr>
              <a:t>Attention</a:t>
            </a:r>
          </a:p>
          <a:p>
            <a:r>
              <a:rPr lang="en-CH" dirty="0">
                <a:latin typeface="+mj-lt"/>
              </a:rPr>
              <a:t>Graph Neural Network (GNN) blocks </a:t>
            </a:r>
            <a:r>
              <a:rPr lang="en-US" dirty="0">
                <a:solidFill>
                  <a:schemeClr val="accent1"/>
                </a:solidFill>
                <a:latin typeface="+mj-lt"/>
              </a:rPr>
              <a:t>[7]</a:t>
            </a:r>
            <a:endParaRPr lang="en-CH" dirty="0">
              <a:solidFill>
                <a:schemeClr val="accent1"/>
              </a:solidFill>
              <a:latin typeface="+mj-lt"/>
            </a:endParaRPr>
          </a:p>
        </p:txBody>
      </p:sp>
      <p:pic>
        <p:nvPicPr>
          <p:cNvPr id="9" name="Content Placeholder 8" descr="A diagram of a block diagram&#10;&#10;AI-generated content may be incorrect.">
            <a:extLst>
              <a:ext uri="{FF2B5EF4-FFF2-40B4-BE49-F238E27FC236}">
                <a16:creationId xmlns:a16="http://schemas.microsoft.com/office/drawing/2014/main" id="{88D96A37-E209-3633-03C2-B1FE95E19218}"/>
              </a:ext>
            </a:extLst>
          </p:cNvPr>
          <p:cNvPicPr>
            <a:picLocks noGrp="1" noChangeAspect="1"/>
          </p:cNvPicPr>
          <p:nvPr>
            <p:ph sz="half" idx="2"/>
          </p:nvPr>
        </p:nvPicPr>
        <p:blipFill>
          <a:blip r:embed="rId3"/>
          <a:stretch>
            <a:fillRect/>
          </a:stretch>
        </p:blipFill>
        <p:spPr>
          <a:xfrm>
            <a:off x="4959350" y="2265383"/>
            <a:ext cx="3671888" cy="1860510"/>
          </a:xfrm>
        </p:spPr>
      </p:pic>
      <p:sp>
        <p:nvSpPr>
          <p:cNvPr id="8" name="Title 7">
            <a:extLst>
              <a:ext uri="{FF2B5EF4-FFF2-40B4-BE49-F238E27FC236}">
                <a16:creationId xmlns:a16="http://schemas.microsoft.com/office/drawing/2014/main" id="{F8D8ADF1-141C-AA98-C3D8-7BB8E3CCCD03}"/>
              </a:ext>
            </a:extLst>
          </p:cNvPr>
          <p:cNvSpPr>
            <a:spLocks noGrp="1"/>
          </p:cNvSpPr>
          <p:nvPr>
            <p:ph type="title"/>
          </p:nvPr>
        </p:nvSpPr>
        <p:spPr>
          <a:xfrm>
            <a:off x="904875" y="131032"/>
            <a:ext cx="7726363" cy="1072753"/>
          </a:xfrm>
        </p:spPr>
        <p:txBody>
          <a:bodyPr/>
          <a:lstStyle/>
          <a:p>
            <a:r>
              <a:rPr lang="en-US" dirty="0"/>
              <a:t>2.2	Graph Machine Learning</a:t>
            </a:r>
            <a:endParaRPr lang="en-GB" dirty="0"/>
          </a:p>
        </p:txBody>
      </p:sp>
      <p:sp>
        <p:nvSpPr>
          <p:cNvPr id="5" name="Date Placeholder 4">
            <a:extLst>
              <a:ext uri="{FF2B5EF4-FFF2-40B4-BE49-F238E27FC236}">
                <a16:creationId xmlns:a16="http://schemas.microsoft.com/office/drawing/2014/main" id="{827D9700-EACD-2B9C-71F5-9A4889EB070E}"/>
              </a:ext>
            </a:extLst>
          </p:cNvPr>
          <p:cNvSpPr>
            <a:spLocks noGrp="1"/>
          </p:cNvSpPr>
          <p:nvPr>
            <p:ph type="dt" sz="half" idx="10"/>
          </p:nvPr>
        </p:nvSpPr>
        <p:spPr/>
        <p:txBody>
          <a:bodyPr/>
          <a:lstStyle/>
          <a:p>
            <a:r>
              <a:rPr lang="fr-CH" sz="600" dirty="0">
                <a:latin typeface="+mj-lt"/>
              </a:rPr>
              <a:t>EDIC PhD </a:t>
            </a:r>
            <a:r>
              <a:rPr lang="fr-CH" sz="600" dirty="0" err="1">
                <a:latin typeface="+mj-lt"/>
              </a:rPr>
              <a:t>Private</a:t>
            </a:r>
            <a:r>
              <a:rPr lang="fr-CH" sz="600" dirty="0">
                <a:latin typeface="+mj-lt"/>
              </a:rPr>
              <a:t> </a:t>
            </a:r>
            <a:r>
              <a:rPr lang="fr-CH" sz="600" dirty="0" err="1">
                <a:latin typeface="+mj-lt"/>
              </a:rPr>
              <a:t>Defense</a:t>
            </a:r>
            <a:r>
              <a:rPr lang="fr-CH" sz="600" dirty="0">
                <a:latin typeface="+mj-lt"/>
              </a:rPr>
              <a:t> / Scalable Methods for </a:t>
            </a:r>
            <a:r>
              <a:rPr lang="fr-CH" sz="600" dirty="0" err="1">
                <a:latin typeface="+mj-lt"/>
              </a:rPr>
              <a:t>Knowledge</a:t>
            </a:r>
            <a:r>
              <a:rPr lang="fr-CH" sz="600" dirty="0">
                <a:latin typeface="+mj-lt"/>
              </a:rPr>
              <a:t> Graph </a:t>
            </a:r>
            <a:r>
              <a:rPr lang="fr-CH" sz="600" dirty="0" err="1">
                <a:latin typeface="+mj-lt"/>
              </a:rPr>
              <a:t>Reasoning</a:t>
            </a:r>
            <a:r>
              <a:rPr lang="fr-CH" sz="600" dirty="0">
                <a:latin typeface="+mj-lt"/>
              </a:rPr>
              <a:t> and </a:t>
            </a:r>
            <a:r>
              <a:rPr lang="fr-CH" sz="600" dirty="0" err="1">
                <a:latin typeface="+mj-lt"/>
              </a:rPr>
              <a:t>Generation</a:t>
            </a:r>
            <a:endParaRPr lang="fr-FR" sz="600" dirty="0">
              <a:latin typeface="+mj-lt"/>
            </a:endParaRPr>
          </a:p>
        </p:txBody>
      </p:sp>
      <p:sp>
        <p:nvSpPr>
          <p:cNvPr id="6" name="Footer Placeholder 5">
            <a:extLst>
              <a:ext uri="{FF2B5EF4-FFF2-40B4-BE49-F238E27FC236}">
                <a16:creationId xmlns:a16="http://schemas.microsoft.com/office/drawing/2014/main" id="{9CAE30E0-BC4F-2B13-8D4F-18B0EA0CA83C}"/>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95DFDAA8-A63B-BAFD-1482-FC25BF5AEE84}"/>
              </a:ext>
            </a:extLst>
          </p:cNvPr>
          <p:cNvSpPr>
            <a:spLocks noGrp="1"/>
          </p:cNvSpPr>
          <p:nvPr>
            <p:ph type="sldNum" sz="quarter" idx="12"/>
          </p:nvPr>
        </p:nvSpPr>
        <p:spPr/>
        <p:txBody>
          <a:bodyPr/>
          <a:lstStyle/>
          <a:p>
            <a:fld id="{E1E1CD7C-2161-7D43-862E-CE4C333CD873}" type="slidenum">
              <a:rPr lang="fr-FR" smtClean="0"/>
              <a:pPr/>
              <a:t>7</a:t>
            </a:fld>
            <a:endParaRPr lang="fr-FR" dirty="0"/>
          </a:p>
        </p:txBody>
      </p:sp>
    </p:spTree>
    <p:extLst>
      <p:ext uri="{BB962C8B-B14F-4D97-AF65-F5344CB8AC3E}">
        <p14:creationId xmlns:p14="http://schemas.microsoft.com/office/powerpoint/2010/main" val="802513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randombar(horizontal)">
                                      <p:cBhvr>
                                        <p:cTn id="7" dur="500"/>
                                        <p:tgtEl>
                                          <p:spTgt spid="2">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2">
                                            <p:txEl>
                                              <p:pRg st="1" end="1"/>
                                            </p:txEl>
                                          </p:spTgt>
                                        </p:tgtEl>
                                        <p:attrNameLst>
                                          <p:attrName>style.visibility</p:attrName>
                                        </p:attrNameLst>
                                      </p:cBhvr>
                                      <p:to>
                                        <p:strVal val="visible"/>
                                      </p:to>
                                    </p:set>
                                    <p:animEffect transition="in" filter="randombar(horizontal)">
                                      <p:cBhvr>
                                        <p:cTn id="12" dur="500"/>
                                        <p:tgtEl>
                                          <p:spTgt spid="2">
                                            <p:txEl>
                                              <p:pRg st="1" end="1"/>
                                            </p:txEl>
                                          </p:spTgt>
                                        </p:tgtEl>
                                      </p:cBhvr>
                                    </p:animEffect>
                                  </p:childTnLst>
                                </p:cTn>
                              </p:par>
                              <p:par>
                                <p:cTn id="13" presetID="14" presetClass="entr" presetSubtype="10" fill="hold" nodeType="with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animEffect transition="in" filter="randombar(horizontal)">
                                      <p:cBhvr>
                                        <p:cTn id="15" dur="500"/>
                                        <p:tgtEl>
                                          <p:spTgt spid="2">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4" presetClass="entr" presetSubtype="10" fill="hold" nodeType="clickEffect">
                                  <p:stCondLst>
                                    <p:cond delay="0"/>
                                  </p:stCondLst>
                                  <p:childTnLst>
                                    <p:set>
                                      <p:cBhvr>
                                        <p:cTn id="19" dur="1" fill="hold">
                                          <p:stCondLst>
                                            <p:cond delay="0"/>
                                          </p:stCondLst>
                                        </p:cTn>
                                        <p:tgtEl>
                                          <p:spTgt spid="2">
                                            <p:txEl>
                                              <p:pRg st="3" end="3"/>
                                            </p:txEl>
                                          </p:spTgt>
                                        </p:tgtEl>
                                        <p:attrNameLst>
                                          <p:attrName>style.visibility</p:attrName>
                                        </p:attrNameLst>
                                      </p:cBhvr>
                                      <p:to>
                                        <p:strVal val="visible"/>
                                      </p:to>
                                    </p:set>
                                    <p:animEffect transition="in" filter="randombar(horizontal)">
                                      <p:cBhvr>
                                        <p:cTn id="20" dur="500"/>
                                        <p:tgtEl>
                                          <p:spTgt spid="2">
                                            <p:txEl>
                                              <p:pRg st="3" end="3"/>
                                            </p:txEl>
                                          </p:spTgt>
                                        </p:tgtEl>
                                      </p:cBhvr>
                                    </p:animEffect>
                                  </p:childTnLst>
                                </p:cTn>
                              </p:par>
                              <p:par>
                                <p:cTn id="21" presetID="14" presetClass="entr" presetSubtype="10" fill="hold" nodeType="with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animEffect transition="in" filter="randombar(horizontal)">
                                      <p:cBhvr>
                                        <p:cTn id="23" dur="500"/>
                                        <p:tgtEl>
                                          <p:spTgt spid="2">
                                            <p:txEl>
                                              <p:pRg st="4" end="4"/>
                                            </p:txEl>
                                          </p:spTgt>
                                        </p:tgtEl>
                                      </p:cBhvr>
                                    </p:animEffect>
                                  </p:childTnLst>
                                </p:cTn>
                              </p:par>
                              <p:par>
                                <p:cTn id="24" presetID="14" presetClass="entr" presetSubtype="10" fill="hold" nodeType="withEffect">
                                  <p:stCondLst>
                                    <p:cond delay="0"/>
                                  </p:stCondLst>
                                  <p:childTnLst>
                                    <p:set>
                                      <p:cBhvr>
                                        <p:cTn id="25" dur="1" fill="hold">
                                          <p:stCondLst>
                                            <p:cond delay="0"/>
                                          </p:stCondLst>
                                        </p:cTn>
                                        <p:tgtEl>
                                          <p:spTgt spid="2">
                                            <p:txEl>
                                              <p:pRg st="5" end="5"/>
                                            </p:txEl>
                                          </p:spTgt>
                                        </p:tgtEl>
                                        <p:attrNameLst>
                                          <p:attrName>style.visibility</p:attrName>
                                        </p:attrNameLst>
                                      </p:cBhvr>
                                      <p:to>
                                        <p:strVal val="visible"/>
                                      </p:to>
                                    </p:set>
                                    <p:animEffect transition="in" filter="randombar(horizontal)">
                                      <p:cBhvr>
                                        <p:cTn id="26" dur="500"/>
                                        <p:tgtEl>
                                          <p:spTgt spid="2">
                                            <p:txEl>
                                              <p:pRg st="5" end="5"/>
                                            </p:txEl>
                                          </p:spTgt>
                                        </p:tgtEl>
                                      </p:cBhvr>
                                    </p:animEffect>
                                  </p:childTnLst>
                                </p:cTn>
                              </p:par>
                              <p:par>
                                <p:cTn id="27" presetID="14" presetClass="entr" presetSubtype="10" fill="hold" nodeType="withEffect">
                                  <p:stCondLst>
                                    <p:cond delay="0"/>
                                  </p:stCondLst>
                                  <p:childTnLst>
                                    <p:set>
                                      <p:cBhvr>
                                        <p:cTn id="28" dur="1" fill="hold">
                                          <p:stCondLst>
                                            <p:cond delay="0"/>
                                          </p:stCondLst>
                                        </p:cTn>
                                        <p:tgtEl>
                                          <p:spTgt spid="2">
                                            <p:txEl>
                                              <p:pRg st="6" end="6"/>
                                            </p:txEl>
                                          </p:spTgt>
                                        </p:tgtEl>
                                        <p:attrNameLst>
                                          <p:attrName>style.visibility</p:attrName>
                                        </p:attrNameLst>
                                      </p:cBhvr>
                                      <p:to>
                                        <p:strVal val="visible"/>
                                      </p:to>
                                    </p:set>
                                    <p:animEffect transition="in" filter="randombar(horizontal)">
                                      <p:cBhvr>
                                        <p:cTn id="29" dur="500"/>
                                        <p:tgtEl>
                                          <p:spTgt spid="2">
                                            <p:txEl>
                                              <p:pRg st="6" end="6"/>
                                            </p:txEl>
                                          </p:spTgt>
                                        </p:tgtEl>
                                      </p:cBhvr>
                                    </p:animEffect>
                                  </p:childTnLst>
                                </p:cTn>
                              </p:par>
                              <p:par>
                                <p:cTn id="30" presetID="14" presetClass="entr" presetSubtype="10" fill="hold" nodeType="withEffect">
                                  <p:stCondLst>
                                    <p:cond delay="0"/>
                                  </p:stCondLst>
                                  <p:childTnLst>
                                    <p:set>
                                      <p:cBhvr>
                                        <p:cTn id="31" dur="1" fill="hold">
                                          <p:stCondLst>
                                            <p:cond delay="0"/>
                                          </p:stCondLst>
                                        </p:cTn>
                                        <p:tgtEl>
                                          <p:spTgt spid="2">
                                            <p:txEl>
                                              <p:pRg st="7" end="7"/>
                                            </p:txEl>
                                          </p:spTgt>
                                        </p:tgtEl>
                                        <p:attrNameLst>
                                          <p:attrName>style.visibility</p:attrName>
                                        </p:attrNameLst>
                                      </p:cBhvr>
                                      <p:to>
                                        <p:strVal val="visible"/>
                                      </p:to>
                                    </p:set>
                                    <p:animEffect transition="in" filter="randombar(horizontal)">
                                      <p:cBhvr>
                                        <p:cTn id="32" dur="500"/>
                                        <p:tgtEl>
                                          <p:spTgt spid="2">
                                            <p:txEl>
                                              <p:pRg st="7" end="7"/>
                                            </p:txEl>
                                          </p:spTgt>
                                        </p:tgtEl>
                                      </p:cBhvr>
                                    </p:animEffect>
                                  </p:childTnLst>
                                </p:cTn>
                              </p:par>
                              <p:par>
                                <p:cTn id="33" presetID="14" presetClass="entr" presetSubtype="10" fill="hold" nodeType="withEffect">
                                  <p:stCondLst>
                                    <p:cond delay="0"/>
                                  </p:stCondLst>
                                  <p:childTnLst>
                                    <p:set>
                                      <p:cBhvr>
                                        <p:cTn id="34" dur="1" fill="hold">
                                          <p:stCondLst>
                                            <p:cond delay="0"/>
                                          </p:stCondLst>
                                        </p:cTn>
                                        <p:tgtEl>
                                          <p:spTgt spid="2">
                                            <p:txEl>
                                              <p:pRg st="8" end="8"/>
                                            </p:txEl>
                                          </p:spTgt>
                                        </p:tgtEl>
                                        <p:attrNameLst>
                                          <p:attrName>style.visibility</p:attrName>
                                        </p:attrNameLst>
                                      </p:cBhvr>
                                      <p:to>
                                        <p:strVal val="visible"/>
                                      </p:to>
                                    </p:set>
                                    <p:animEffect transition="in" filter="randombar(horizontal)">
                                      <p:cBhvr>
                                        <p:cTn id="35" dur="500"/>
                                        <p:tgtEl>
                                          <p:spTgt spid="2">
                                            <p:txEl>
                                              <p:pRg st="8" end="8"/>
                                            </p:txEl>
                                          </p:spTgt>
                                        </p:tgtEl>
                                      </p:cBhvr>
                                    </p:animEffect>
                                  </p:childTnLst>
                                </p:cTn>
                              </p:par>
                            </p:childTnLst>
                          </p:cTn>
                        </p:par>
                      </p:childTnLst>
                    </p:cTn>
                  </p:par>
                  <p:par>
                    <p:cTn id="36" fill="hold">
                      <p:stCondLst>
                        <p:cond delay="indefinite"/>
                      </p:stCondLst>
                      <p:childTnLst>
                        <p:par>
                          <p:cTn id="37" fill="hold">
                            <p:stCondLst>
                              <p:cond delay="0"/>
                            </p:stCondLst>
                            <p:childTnLst>
                              <p:par>
                                <p:cTn id="38" presetID="14" presetClass="entr" presetSubtype="10" fill="hold" nodeType="clickEffect">
                                  <p:stCondLst>
                                    <p:cond delay="0"/>
                                  </p:stCondLst>
                                  <p:childTnLst>
                                    <p:set>
                                      <p:cBhvr>
                                        <p:cTn id="39" dur="1" fill="hold">
                                          <p:stCondLst>
                                            <p:cond delay="0"/>
                                          </p:stCondLst>
                                        </p:cTn>
                                        <p:tgtEl>
                                          <p:spTgt spid="2">
                                            <p:txEl>
                                              <p:pRg st="9" end="9"/>
                                            </p:txEl>
                                          </p:spTgt>
                                        </p:tgtEl>
                                        <p:attrNameLst>
                                          <p:attrName>style.visibility</p:attrName>
                                        </p:attrNameLst>
                                      </p:cBhvr>
                                      <p:to>
                                        <p:strVal val="visible"/>
                                      </p:to>
                                    </p:set>
                                    <p:animEffect transition="in" filter="randombar(horizontal)">
                                      <p:cBhvr>
                                        <p:cTn id="40" dur="500"/>
                                        <p:tgtEl>
                                          <p:spTgt spid="2">
                                            <p:txEl>
                                              <p:pRg st="9" end="9"/>
                                            </p:txEl>
                                          </p:spTgt>
                                        </p:tgtEl>
                                      </p:cBhvr>
                                    </p:animEffect>
                                  </p:childTnLst>
                                </p:cTn>
                              </p:par>
                              <p:par>
                                <p:cTn id="41" presetID="14" presetClass="entr" presetSubtype="10" fill="hold" nodeType="withEffect">
                                  <p:stCondLst>
                                    <p:cond delay="0"/>
                                  </p:stCondLst>
                                  <p:childTnLst>
                                    <p:set>
                                      <p:cBhvr>
                                        <p:cTn id="42" dur="1" fill="hold">
                                          <p:stCondLst>
                                            <p:cond delay="0"/>
                                          </p:stCondLst>
                                        </p:cTn>
                                        <p:tgtEl>
                                          <p:spTgt spid="9"/>
                                        </p:tgtEl>
                                        <p:attrNameLst>
                                          <p:attrName>style.visibility</p:attrName>
                                        </p:attrNameLst>
                                      </p:cBhvr>
                                      <p:to>
                                        <p:strVal val="visible"/>
                                      </p:to>
                                    </p:set>
                                    <p:animEffect transition="in" filter="randombar(horizontal)">
                                      <p:cBhvr>
                                        <p:cTn id="43"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EEB1CD-2C6A-B515-238A-CE22A47DFBA1}"/>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A6033213-A55B-64B3-20B7-E15066DEC93E}"/>
              </a:ext>
            </a:extLst>
          </p:cNvPr>
          <p:cNvSpPr>
            <a:spLocks noGrp="1"/>
          </p:cNvSpPr>
          <p:nvPr>
            <p:ph type="title"/>
          </p:nvPr>
        </p:nvSpPr>
        <p:spPr/>
        <p:txBody>
          <a:bodyPr/>
          <a:lstStyle/>
          <a:p>
            <a:r>
              <a:rPr lang="en-US" dirty="0"/>
              <a:t>Scalable </a:t>
            </a:r>
            <a:br>
              <a:rPr lang="en-US" dirty="0"/>
            </a:br>
            <a:r>
              <a:rPr lang="en-US" dirty="0"/>
              <a:t>Knowledge Graph Reasoning</a:t>
            </a:r>
            <a:endParaRPr lang="en-GB" dirty="0"/>
          </a:p>
        </p:txBody>
      </p:sp>
      <p:sp>
        <p:nvSpPr>
          <p:cNvPr id="8" name="Text Placeholder 7">
            <a:extLst>
              <a:ext uri="{FF2B5EF4-FFF2-40B4-BE49-F238E27FC236}">
                <a16:creationId xmlns:a16="http://schemas.microsoft.com/office/drawing/2014/main" id="{09BDCAAB-5C18-DA52-D529-40A34433360D}"/>
              </a:ext>
            </a:extLst>
          </p:cNvPr>
          <p:cNvSpPr>
            <a:spLocks noGrp="1"/>
          </p:cNvSpPr>
          <p:nvPr>
            <p:ph type="body" idx="1"/>
          </p:nvPr>
        </p:nvSpPr>
        <p:spPr/>
        <p:txBody>
          <a:bodyPr>
            <a:normAutofit/>
          </a:bodyPr>
          <a:lstStyle/>
          <a:p>
            <a:r>
              <a:rPr lang="en-US" sz="2400" dirty="0">
                <a:latin typeface="+mj-lt"/>
              </a:rPr>
              <a:t>Chapter 3</a:t>
            </a:r>
            <a:endParaRPr lang="en-GB" sz="2400" dirty="0">
              <a:latin typeface="+mj-lt"/>
            </a:endParaRPr>
          </a:p>
        </p:txBody>
      </p:sp>
      <p:sp>
        <p:nvSpPr>
          <p:cNvPr id="4" name="Date Placeholder 3">
            <a:extLst>
              <a:ext uri="{FF2B5EF4-FFF2-40B4-BE49-F238E27FC236}">
                <a16:creationId xmlns:a16="http://schemas.microsoft.com/office/drawing/2014/main" id="{4E552FCF-E7B8-73C1-D851-420AD9030949}"/>
              </a:ext>
            </a:extLst>
          </p:cNvPr>
          <p:cNvSpPr>
            <a:spLocks noGrp="1"/>
          </p:cNvSpPr>
          <p:nvPr>
            <p:ph type="dt" sz="half" idx="14"/>
          </p:nvPr>
        </p:nvSpPr>
        <p:spPr/>
        <p:txBody>
          <a:bodyPr/>
          <a:lstStyle/>
          <a:p>
            <a:r>
              <a:rPr lang="en-US" sz="600" dirty="0">
                <a:latin typeface="+mj-lt"/>
              </a:rPr>
              <a:t>EDIC PhD Private Defense / Scalable Methods for Knowledge Graph Reasoning and Generation</a:t>
            </a:r>
          </a:p>
        </p:txBody>
      </p:sp>
      <p:sp>
        <p:nvSpPr>
          <p:cNvPr id="5" name="Footer Placeholder 4">
            <a:extLst>
              <a:ext uri="{FF2B5EF4-FFF2-40B4-BE49-F238E27FC236}">
                <a16:creationId xmlns:a16="http://schemas.microsoft.com/office/drawing/2014/main" id="{F9F176B0-0BF8-52C7-65F3-5FB0D5C1324F}"/>
              </a:ext>
            </a:extLst>
          </p:cNvPr>
          <p:cNvSpPr>
            <a:spLocks noGrp="1"/>
          </p:cNvSpPr>
          <p:nvPr>
            <p:ph type="ftr" sz="quarter" idx="15"/>
          </p:nvPr>
        </p:nvSpPr>
        <p:spPr/>
        <p:txBody>
          <a:bodyPr/>
          <a:lstStyle/>
          <a:p>
            <a:endParaRPr lang="fr-FR" dirty="0">
              <a:latin typeface="+mj-lt"/>
            </a:endParaRPr>
          </a:p>
          <a:p>
            <a:r>
              <a:rPr lang="fr-FR" dirty="0">
                <a:latin typeface="+mj-lt"/>
              </a:rPr>
              <a:t>Andrej Janchevski, EPFL STI IEM LIONS, Lausanne, </a:t>
            </a:r>
            <a:r>
              <a:rPr lang="fr-FR" dirty="0" err="1">
                <a:latin typeface="+mj-lt"/>
              </a:rPr>
              <a:t>Switzerland</a:t>
            </a:r>
            <a:r>
              <a:rPr lang="fr-FR" dirty="0">
                <a:latin typeface="+mj-lt"/>
              </a:rPr>
              <a:t> </a:t>
            </a:r>
          </a:p>
          <a:p>
            <a:r>
              <a:rPr lang="fr-FR" dirty="0"/>
              <a:t> </a:t>
            </a:r>
          </a:p>
        </p:txBody>
      </p:sp>
      <p:sp>
        <p:nvSpPr>
          <p:cNvPr id="6" name="Slide Number Placeholder 5">
            <a:extLst>
              <a:ext uri="{FF2B5EF4-FFF2-40B4-BE49-F238E27FC236}">
                <a16:creationId xmlns:a16="http://schemas.microsoft.com/office/drawing/2014/main" id="{B309DEC8-3F84-1B2A-E286-5BB7D2D5A6A6}"/>
              </a:ext>
            </a:extLst>
          </p:cNvPr>
          <p:cNvSpPr>
            <a:spLocks noGrp="1"/>
          </p:cNvSpPr>
          <p:nvPr>
            <p:ph type="sldNum" sz="quarter" idx="16"/>
          </p:nvPr>
        </p:nvSpPr>
        <p:spPr/>
        <p:txBody>
          <a:bodyPr/>
          <a:lstStyle/>
          <a:p>
            <a:fld id="{E1E1CD7C-2161-7D43-862E-CE4C333CD873}" type="slidenum">
              <a:rPr lang="fr-FR" smtClean="0"/>
              <a:pPr/>
              <a:t>8</a:t>
            </a:fld>
            <a:endParaRPr lang="fr-FR" dirty="0"/>
          </a:p>
        </p:txBody>
      </p:sp>
      <p:pic>
        <p:nvPicPr>
          <p:cNvPr id="10" name="Picture Placeholder 11" descr="A city next to the water&#10;&#10;AI-generated content may be incorrect.">
            <a:extLst>
              <a:ext uri="{FF2B5EF4-FFF2-40B4-BE49-F238E27FC236}">
                <a16:creationId xmlns:a16="http://schemas.microsoft.com/office/drawing/2014/main" id="{9642FC53-0D29-9F05-01FF-6552C4CF41B1}"/>
              </a:ext>
            </a:extLst>
          </p:cNvPr>
          <p:cNvPicPr>
            <a:picLocks noGrp="1" noChangeAspect="1"/>
          </p:cNvPicPr>
          <p:nvPr>
            <p:ph type="pic" sz="quarter" idx="13"/>
          </p:nvPr>
        </p:nvPicPr>
        <p:blipFill>
          <a:blip r:embed="rId3">
            <a:extLst>
              <a:ext uri="{837473B0-CC2E-450A-ABE3-18F120FF3D39}">
                <a1611:picAttrSrcUrl xmlns:a1611="http://schemas.microsoft.com/office/drawing/2016/11/main" r:id="rId4"/>
              </a:ext>
            </a:extLst>
          </a:blip>
          <a:srcRect l="26235" r="26235"/>
          <a:stretch>
            <a:fillRect/>
          </a:stretch>
        </p:blipFill>
        <p:spPr bwMode="auto">
          <a:xfrm>
            <a:off x="904875" y="0"/>
            <a:ext cx="3667125" cy="5143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2508755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E86011-ADD7-15A4-D2D2-1491FE489ACF}"/>
            </a:ext>
          </a:extLst>
        </p:cNvPr>
        <p:cNvGrpSpPr/>
        <p:nvPr/>
      </p:nvGrpSpPr>
      <p:grpSpPr>
        <a:xfrm>
          <a:off x="0" y="0"/>
          <a:ext cx="0" cy="0"/>
          <a:chOff x="0" y="0"/>
          <a:chExt cx="0" cy="0"/>
        </a:xfrm>
      </p:grpSpPr>
      <p:sp>
        <p:nvSpPr>
          <p:cNvPr id="9" name="Content Placeholder 8">
            <a:extLst>
              <a:ext uri="{FF2B5EF4-FFF2-40B4-BE49-F238E27FC236}">
                <a16:creationId xmlns:a16="http://schemas.microsoft.com/office/drawing/2014/main" id="{24120698-84FF-0E0D-11C8-2FDFFC3CCE41}"/>
              </a:ext>
            </a:extLst>
          </p:cNvPr>
          <p:cNvSpPr>
            <a:spLocks noGrp="1"/>
          </p:cNvSpPr>
          <p:nvPr>
            <p:ph sz="half" idx="1"/>
          </p:nvPr>
        </p:nvSpPr>
        <p:spPr/>
        <p:txBody>
          <a:bodyPr anchor="ctr">
            <a:normAutofit/>
          </a:bodyPr>
          <a:lstStyle/>
          <a:p>
            <a:r>
              <a:rPr lang="en-US" sz="1600" dirty="0">
                <a:latin typeface="Franklin Gothic Demi Cond" panose="020B0706030402020204" pitchFamily="34" charset="0"/>
              </a:rPr>
              <a:t>Knowledge graphs (KGs) - a type of database, a </a:t>
            </a:r>
            <a:r>
              <a:rPr lang="en-US" sz="1600" i="1" dirty="0">
                <a:latin typeface="Franklin Gothic Demi Cond" panose="020B0706030402020204" pitchFamily="34" charset="0"/>
              </a:rPr>
              <a:t>network</a:t>
            </a:r>
            <a:r>
              <a:rPr lang="en-US" sz="1600" dirty="0">
                <a:latin typeface="Franklin Gothic Demi Cond" panose="020B0706030402020204" pitchFamily="34" charset="0"/>
              </a:rPr>
              <a:t> of </a:t>
            </a:r>
            <a:r>
              <a:rPr lang="en-US" sz="1600" i="1" dirty="0">
                <a:latin typeface="Franklin Gothic Demi Cond" panose="020B0706030402020204" pitchFamily="34" charset="0"/>
              </a:rPr>
              <a:t>entities</a:t>
            </a:r>
            <a:r>
              <a:rPr lang="en-US" sz="1600" dirty="0">
                <a:latin typeface="Franklin Gothic Demi Cond" panose="020B0706030402020204" pitchFamily="34" charset="0"/>
              </a:rPr>
              <a:t>, their semantic </a:t>
            </a:r>
            <a:r>
              <a:rPr lang="en-US" sz="1600" i="1" dirty="0">
                <a:latin typeface="Franklin Gothic Demi Cond" panose="020B0706030402020204" pitchFamily="34" charset="0"/>
              </a:rPr>
              <a:t>types</a:t>
            </a:r>
            <a:r>
              <a:rPr lang="en-US" sz="1600" dirty="0">
                <a:latin typeface="Franklin Gothic Demi Cond" panose="020B0706030402020204" pitchFamily="34" charset="0"/>
              </a:rPr>
              <a:t>, </a:t>
            </a:r>
            <a:r>
              <a:rPr lang="en-US" sz="1600" i="1" dirty="0">
                <a:latin typeface="Franklin Gothic Demi Cond" panose="020B0706030402020204" pitchFamily="34" charset="0"/>
              </a:rPr>
              <a:t>properties</a:t>
            </a:r>
            <a:r>
              <a:rPr lang="en-US" sz="1600" dirty="0">
                <a:latin typeface="Franklin Gothic Demi Cond" panose="020B0706030402020204" pitchFamily="34" charset="0"/>
              </a:rPr>
              <a:t>, and </a:t>
            </a:r>
            <a:r>
              <a:rPr lang="en-US" sz="1600" i="1" dirty="0">
                <a:latin typeface="Franklin Gothic Demi Cond" panose="020B0706030402020204" pitchFamily="34" charset="0"/>
              </a:rPr>
              <a:t>relationships </a:t>
            </a:r>
            <a:r>
              <a:rPr lang="en-US" sz="1600" dirty="0">
                <a:solidFill>
                  <a:schemeClr val="accent1"/>
                </a:solidFill>
                <a:latin typeface="Franklin Gothic Demi Cond" panose="020B0706030402020204" pitchFamily="34" charset="0"/>
              </a:rPr>
              <a:t>[14]</a:t>
            </a:r>
            <a:endParaRPr lang="en-US" sz="1600" i="1" dirty="0">
              <a:solidFill>
                <a:schemeClr val="accent1"/>
              </a:solidFill>
              <a:latin typeface="Franklin Gothic Demi Cond" panose="020B0706030402020204" pitchFamily="34" charset="0"/>
            </a:endParaRPr>
          </a:p>
          <a:p>
            <a:r>
              <a:rPr lang="en-US" sz="1600" dirty="0">
                <a:latin typeface="Franklin Gothic Demi Cond" panose="020B0706030402020204" pitchFamily="34" charset="0"/>
              </a:rPr>
              <a:t>Represent real-world data from multiple topical domains</a:t>
            </a:r>
          </a:p>
          <a:p>
            <a:r>
              <a:rPr lang="en-US" sz="1600" dirty="0">
                <a:latin typeface="Franklin Gothic Demi Cond" panose="020B0706030402020204" pitchFamily="34" charset="0"/>
              </a:rPr>
              <a:t>The end goal: using the data to reason, infer novel knowledge</a:t>
            </a:r>
          </a:p>
          <a:p>
            <a:r>
              <a:rPr lang="en-US" sz="1600" dirty="0">
                <a:latin typeface="Franklin Gothic Demi Cond" panose="020B0706030402020204" pitchFamily="34" charset="0"/>
              </a:rPr>
              <a:t>Main tasks - link prediction and</a:t>
            </a:r>
            <a:r>
              <a:rPr lang="en-US" sz="1600" i="1" dirty="0">
                <a:latin typeface="Franklin Gothic Demi Cond" panose="020B0706030402020204" pitchFamily="34" charset="0"/>
              </a:rPr>
              <a:t> </a:t>
            </a:r>
            <a:r>
              <a:rPr lang="en-US" sz="1600" dirty="0">
                <a:latin typeface="Franklin Gothic Demi Cond" panose="020B0706030402020204" pitchFamily="34" charset="0"/>
              </a:rPr>
              <a:t>query answering for graphs</a:t>
            </a:r>
          </a:p>
          <a:p>
            <a:r>
              <a:rPr lang="en-US" sz="1600" i="1" dirty="0">
                <a:latin typeface="Franklin Gothic Demi Cond" panose="020B0706030402020204" pitchFamily="34" charset="0"/>
              </a:rPr>
              <a:t>Scalability</a:t>
            </a:r>
            <a:r>
              <a:rPr lang="en-US" sz="1600" dirty="0">
                <a:latin typeface="Franklin Gothic Demi Cond" panose="020B0706030402020204" pitchFamily="34" charset="0"/>
              </a:rPr>
              <a:t> - KGs grow very large &amp; require significant computational resources</a:t>
            </a:r>
          </a:p>
        </p:txBody>
      </p:sp>
      <p:sp>
        <p:nvSpPr>
          <p:cNvPr id="8" name="Title 7">
            <a:extLst>
              <a:ext uri="{FF2B5EF4-FFF2-40B4-BE49-F238E27FC236}">
                <a16:creationId xmlns:a16="http://schemas.microsoft.com/office/drawing/2014/main" id="{8845FDB2-171F-F762-3002-AFAE861FB560}"/>
              </a:ext>
            </a:extLst>
          </p:cNvPr>
          <p:cNvSpPr>
            <a:spLocks noGrp="1"/>
          </p:cNvSpPr>
          <p:nvPr>
            <p:ph type="title"/>
          </p:nvPr>
        </p:nvSpPr>
        <p:spPr>
          <a:xfrm>
            <a:off x="904875" y="131032"/>
            <a:ext cx="7726363" cy="1072753"/>
          </a:xfrm>
        </p:spPr>
        <p:txBody>
          <a:bodyPr>
            <a:normAutofit/>
          </a:bodyPr>
          <a:lstStyle/>
          <a:p>
            <a:r>
              <a:rPr lang="en-US" dirty="0"/>
              <a:t>3.1	Community-Informed Graph Embeddings</a:t>
            </a:r>
            <a:br>
              <a:rPr lang="en-US" dirty="0"/>
            </a:br>
            <a:r>
              <a:rPr lang="en-US" sz="2400" b="0" i="1" dirty="0"/>
              <a:t>Problem &amp; Challenges - Setting</a:t>
            </a:r>
            <a:endParaRPr lang="en-GB" sz="2400" b="0" i="1" dirty="0"/>
          </a:p>
        </p:txBody>
      </p:sp>
      <p:sp>
        <p:nvSpPr>
          <p:cNvPr id="5" name="Date Placeholder 4">
            <a:extLst>
              <a:ext uri="{FF2B5EF4-FFF2-40B4-BE49-F238E27FC236}">
                <a16:creationId xmlns:a16="http://schemas.microsoft.com/office/drawing/2014/main" id="{E4C17409-DB07-57D0-0857-A6D5FC8A5979}"/>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101B1165-E95E-D8B4-E3B8-E9F159BB1049}"/>
              </a:ext>
            </a:extLst>
          </p:cNvPr>
          <p:cNvSpPr>
            <a:spLocks noGrp="1"/>
          </p:cNvSpPr>
          <p:nvPr>
            <p:ph type="ftr" sz="quarter" idx="11"/>
          </p:nvPr>
        </p:nvSpPr>
        <p:spPr/>
        <p:txBody>
          <a:bodyPr/>
          <a:lstStyle/>
          <a:p>
            <a:r>
              <a:rPr lang="fr-FR">
                <a:latin typeface="+mj-lt"/>
              </a:rPr>
              <a:t>Andrej Janchevski, EPFL STI IEM LIONS, Lausanne, Switzerland </a:t>
            </a:r>
            <a:endParaRPr lang="fr-FR" dirty="0">
              <a:latin typeface="+mj-lt"/>
            </a:endParaRPr>
          </a:p>
        </p:txBody>
      </p:sp>
      <p:sp>
        <p:nvSpPr>
          <p:cNvPr id="7" name="Slide Number Placeholder 6">
            <a:extLst>
              <a:ext uri="{FF2B5EF4-FFF2-40B4-BE49-F238E27FC236}">
                <a16:creationId xmlns:a16="http://schemas.microsoft.com/office/drawing/2014/main" id="{4E08B23A-5CB9-62E2-1206-7B0C96E848FA}"/>
              </a:ext>
            </a:extLst>
          </p:cNvPr>
          <p:cNvSpPr>
            <a:spLocks noGrp="1"/>
          </p:cNvSpPr>
          <p:nvPr>
            <p:ph type="sldNum" sz="quarter" idx="12"/>
          </p:nvPr>
        </p:nvSpPr>
        <p:spPr/>
        <p:txBody>
          <a:bodyPr/>
          <a:lstStyle/>
          <a:p>
            <a:fld id="{E1E1CD7C-2161-7D43-862E-CE4C333CD873}" type="slidenum">
              <a:rPr lang="fr-FR" smtClean="0"/>
              <a:pPr/>
              <a:t>9</a:t>
            </a:fld>
            <a:endParaRPr lang="fr-FR" dirty="0"/>
          </a:p>
        </p:txBody>
      </p:sp>
      <p:pic>
        <p:nvPicPr>
          <p:cNvPr id="18" name="Content Placeholder 3" descr="Application, Teams&#10;&#10;Description automatically generated with medium confidence">
            <a:extLst>
              <a:ext uri="{FF2B5EF4-FFF2-40B4-BE49-F238E27FC236}">
                <a16:creationId xmlns:a16="http://schemas.microsoft.com/office/drawing/2014/main" id="{90CA399B-BB9E-D6DB-E902-48DE7F85B200}"/>
              </a:ext>
            </a:extLst>
          </p:cNvPr>
          <p:cNvPicPr>
            <a:picLocks noGrp="1" noChangeAspect="1"/>
          </p:cNvPicPr>
          <p:nvPr>
            <p:ph sz="half" idx="2"/>
          </p:nvPr>
        </p:nvPicPr>
        <p:blipFill>
          <a:blip r:embed="rId3">
            <a:extLst>
              <a:ext uri="{28A0092B-C50C-407E-A947-70E740481C1C}">
                <a14:useLocalDpi xmlns:a14="http://schemas.microsoft.com/office/drawing/2010/main" val="0"/>
              </a:ext>
            </a:extLst>
          </a:blip>
          <a:stretch>
            <a:fillRect/>
          </a:stretch>
        </p:blipFill>
        <p:spPr>
          <a:xfrm>
            <a:off x="4959350" y="1716118"/>
            <a:ext cx="3671888" cy="2959039"/>
          </a:xfrm>
        </p:spPr>
      </p:pic>
    </p:spTree>
    <p:extLst>
      <p:ext uri="{BB962C8B-B14F-4D97-AF65-F5344CB8AC3E}">
        <p14:creationId xmlns:p14="http://schemas.microsoft.com/office/powerpoint/2010/main" val="42064681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18"/>
                                        </p:tgtEl>
                                        <p:attrNameLst>
                                          <p:attrName>style.visibility</p:attrName>
                                        </p:attrNameLst>
                                      </p:cBhvr>
                                      <p:to>
                                        <p:strVal val="visible"/>
                                      </p:to>
                                    </p:set>
                                    <p:animEffect transition="in" filter="randombar(horizontal)">
                                      <p:cBhvr>
                                        <p:cTn id="16" dur="500"/>
                                        <p:tgtEl>
                                          <p:spTgt spid="18"/>
                                        </p:tgtEl>
                                      </p:cBhvr>
                                    </p:animEffect>
                                  </p:childTnLst>
                                </p:cTn>
                              </p:par>
                            </p:childTnLst>
                          </p:cTn>
                        </p:par>
                      </p:childTnLst>
                    </p:cTn>
                  </p:par>
                  <p:par>
                    <p:cTn id="17" fill="hold">
                      <p:stCondLst>
                        <p:cond delay="indefinite"/>
                      </p:stCondLst>
                      <p:childTnLst>
                        <p:par>
                          <p:cTn id="18" fill="hold">
                            <p:stCondLst>
                              <p:cond delay="0"/>
                            </p:stCondLst>
                            <p:childTnLst>
                              <p:par>
                                <p:cTn id="19" presetID="14" presetClass="entr" presetSubtype="10" fill="hold" nodeType="clickEffect">
                                  <p:stCondLst>
                                    <p:cond delay="0"/>
                                  </p:stCondLst>
                                  <p:childTnLst>
                                    <p:set>
                                      <p:cBhvr>
                                        <p:cTn id="20" dur="1" fill="hold">
                                          <p:stCondLst>
                                            <p:cond delay="0"/>
                                          </p:stCondLst>
                                        </p:cTn>
                                        <p:tgtEl>
                                          <p:spTgt spid="9">
                                            <p:txEl>
                                              <p:pRg st="3" end="3"/>
                                            </p:txEl>
                                          </p:spTgt>
                                        </p:tgtEl>
                                        <p:attrNameLst>
                                          <p:attrName>style.visibility</p:attrName>
                                        </p:attrNameLst>
                                      </p:cBhvr>
                                      <p:to>
                                        <p:strVal val="visible"/>
                                      </p:to>
                                    </p:set>
                                    <p:animEffect transition="in" filter="randombar(horizontal)">
                                      <p:cBhvr>
                                        <p:cTn id="21" dur="500"/>
                                        <p:tgtEl>
                                          <p:spTgt spid="9">
                                            <p:txEl>
                                              <p:pRg st="3" end="3"/>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4" presetClass="entr" presetSubtype="10" fill="hold" nodeType="clickEffect">
                                  <p:stCondLst>
                                    <p:cond delay="0"/>
                                  </p:stCondLst>
                                  <p:childTnLst>
                                    <p:set>
                                      <p:cBhvr>
                                        <p:cTn id="25" dur="1" fill="hold">
                                          <p:stCondLst>
                                            <p:cond delay="0"/>
                                          </p:stCondLst>
                                        </p:cTn>
                                        <p:tgtEl>
                                          <p:spTgt spid="9">
                                            <p:txEl>
                                              <p:pRg st="4" end="4"/>
                                            </p:txEl>
                                          </p:spTgt>
                                        </p:tgtEl>
                                        <p:attrNameLst>
                                          <p:attrName>style.visibility</p:attrName>
                                        </p:attrNameLst>
                                      </p:cBhvr>
                                      <p:to>
                                        <p:strVal val="visible"/>
                                      </p:to>
                                    </p:set>
                                    <p:animEffect transition="in" filter="randombar(horizontal)">
                                      <p:cBhvr>
                                        <p:cTn id="26" dur="500"/>
                                        <p:tgtEl>
                                          <p:spTgt spid="9">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80147B-5A5B-4474-098B-45B04531BBBE}"/>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9" name="Content Placeholder 8">
                <a:extLst>
                  <a:ext uri="{FF2B5EF4-FFF2-40B4-BE49-F238E27FC236}">
                    <a16:creationId xmlns:a16="http://schemas.microsoft.com/office/drawing/2014/main" id="{E75B6F18-6C9B-5ED3-2065-C2C0F7A0281A}"/>
                  </a:ext>
                </a:extLst>
              </p:cNvPr>
              <p:cNvSpPr>
                <a:spLocks noGrp="1"/>
              </p:cNvSpPr>
              <p:nvPr>
                <p:ph idx="1"/>
              </p:nvPr>
            </p:nvSpPr>
            <p:spPr/>
            <p:txBody>
              <a:bodyPr anchor="ctr">
                <a:normAutofit/>
              </a:bodyPr>
              <a:lstStyle/>
              <a:p>
                <a:r>
                  <a:rPr lang="en-US" dirty="0">
                    <a:latin typeface="+mj-lt"/>
                  </a:rPr>
                  <a:t>Split the knowledge graph into disjoint subsets, then distribute over a cluster </a:t>
                </a:r>
                <a:r>
                  <a:rPr lang="en-US" dirty="0">
                    <a:solidFill>
                      <a:schemeClr val="accent1"/>
                    </a:solidFill>
                    <a:latin typeface="+mj-lt"/>
                  </a:rPr>
                  <a:t>[8, 12]</a:t>
                </a:r>
              </a:p>
              <a:p>
                <a:r>
                  <a:rPr lang="en-US" dirty="0">
                    <a:latin typeface="+mj-lt"/>
                  </a:rPr>
                  <a:t>Cache intermediate results reused across multiple evaluation samples </a:t>
                </a:r>
                <a:r>
                  <a:rPr lang="en-US" dirty="0">
                    <a:solidFill>
                      <a:schemeClr val="accent1"/>
                    </a:solidFill>
                    <a:latin typeface="+mj-lt"/>
                  </a:rPr>
                  <a:t>[16, 20]</a:t>
                </a:r>
              </a:p>
              <a:p>
                <a:r>
                  <a:rPr lang="en-US" dirty="0">
                    <a:latin typeface="+mj-lt"/>
                  </a:rPr>
                  <a:t>Faster algorithms for sampling training data </a:t>
                </a:r>
                <a:r>
                  <a:rPr lang="en-US" dirty="0">
                    <a:solidFill>
                      <a:schemeClr val="accent1"/>
                    </a:solidFill>
                    <a:latin typeface="+mj-lt"/>
                  </a:rPr>
                  <a:t>[16, 20]</a:t>
                </a:r>
              </a:p>
              <a:p>
                <a:r>
                  <a:rPr lang="en-US" dirty="0">
                    <a:latin typeface="+mj-lt"/>
                  </a:rPr>
                  <a:t>Reduce memory complexity and the cost of slower run-time </a:t>
                </a:r>
                <a:r>
                  <a:rPr lang="en-US" dirty="0">
                    <a:solidFill>
                      <a:schemeClr val="accent1"/>
                    </a:solidFill>
                    <a:latin typeface="+mj-lt"/>
                  </a:rPr>
                  <a:t>[17, 19]</a:t>
                </a:r>
              </a:p>
              <a:p>
                <a:r>
                  <a:rPr lang="en-US" dirty="0">
                    <a:latin typeface="+mj-lt"/>
                  </a:rPr>
                  <a:t>Model-free</a:t>
                </a:r>
              </a:p>
              <a:p>
                <a:r>
                  <a:rPr lang="en-US" dirty="0">
                    <a:latin typeface="+mj-lt"/>
                  </a:rPr>
                  <a:t>Common issues</a:t>
                </a:r>
              </a:p>
              <a:p>
                <a:pPr lvl="1"/>
                <a:r>
                  <a:rPr lang="en-US" i="1" dirty="0">
                    <a:latin typeface="+mj-lt"/>
                  </a:rPr>
                  <a:t>Inapplicable to out-of-distribution testing (i.e., all non-academic applications)</a:t>
                </a:r>
              </a:p>
              <a:p>
                <a:pPr lvl="1"/>
                <a:r>
                  <a:rPr lang="en-US" i="1" dirty="0">
                    <a:latin typeface="+mj-lt"/>
                  </a:rPr>
                  <a:t>Require hundreds of compute units (usually GPUs)</a:t>
                </a:r>
              </a:p>
              <a:p>
                <a:pPr lvl="1"/>
                <a:r>
                  <a:rPr lang="en-US" i="1" dirty="0">
                    <a:latin typeface="+mj-lt"/>
                  </a:rPr>
                  <a:t>Acceleration factors independent of graph size </a:t>
                </a:r>
                <a14:m>
                  <m:oMath xmlns:m="http://schemas.openxmlformats.org/officeDocument/2006/math">
                    <m:r>
                      <a:rPr lang="en-US" b="0" i="1" smtClean="0">
                        <a:latin typeface="Cambria Math" panose="02040503050406030204" pitchFamily="18" charset="0"/>
                      </a:rPr>
                      <m:t> ⇒</m:t>
                    </m:r>
                  </m:oMath>
                </a14:m>
                <a:r>
                  <a:rPr lang="en-US" i="1" dirty="0">
                    <a:latin typeface="+mj-lt"/>
                  </a:rPr>
                  <a:t> diminishing returns</a:t>
                </a:r>
              </a:p>
            </p:txBody>
          </p:sp>
        </mc:Choice>
        <mc:Fallback>
          <p:sp>
            <p:nvSpPr>
              <p:cNvPr id="9" name="Content Placeholder 8">
                <a:extLst>
                  <a:ext uri="{FF2B5EF4-FFF2-40B4-BE49-F238E27FC236}">
                    <a16:creationId xmlns:a16="http://schemas.microsoft.com/office/drawing/2014/main" id="{E75B6F18-6C9B-5ED3-2065-C2C0F7A0281A}"/>
                  </a:ext>
                </a:extLst>
              </p:cNvPr>
              <p:cNvSpPr>
                <a:spLocks noGrp="1" noRot="1" noChangeAspect="1" noMove="1" noResize="1" noEditPoints="1" noAdjustHandles="1" noChangeArrowheads="1" noChangeShapeType="1" noTextEdit="1"/>
              </p:cNvSpPr>
              <p:nvPr>
                <p:ph idx="1"/>
              </p:nvPr>
            </p:nvSpPr>
            <p:spPr>
              <a:blipFill>
                <a:blip r:embed="rId3"/>
                <a:stretch>
                  <a:fillRect r="-552"/>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3C980A50-C935-37DC-79CC-800D67BFE7A5}"/>
              </a:ext>
            </a:extLst>
          </p:cNvPr>
          <p:cNvSpPr>
            <a:spLocks noGrp="1"/>
          </p:cNvSpPr>
          <p:nvPr>
            <p:ph type="title"/>
          </p:nvPr>
        </p:nvSpPr>
        <p:spPr>
          <a:xfrm>
            <a:off x="904875" y="131032"/>
            <a:ext cx="7219217" cy="1072753"/>
          </a:xfrm>
        </p:spPr>
        <p:txBody>
          <a:bodyPr>
            <a:normAutofit/>
          </a:bodyPr>
          <a:lstStyle/>
          <a:p>
            <a:r>
              <a:rPr lang="en-US" dirty="0"/>
              <a:t>3.1	Community-Informed Graph Embeddings</a:t>
            </a:r>
            <a:br>
              <a:rPr lang="en-US" dirty="0"/>
            </a:br>
            <a:r>
              <a:rPr lang="en-US" sz="2400" b="0" i="1" dirty="0"/>
              <a:t>Problem &amp; Challenges - Related work</a:t>
            </a:r>
            <a:endParaRPr lang="en-GB" sz="2400" b="0" i="1" dirty="0"/>
          </a:p>
        </p:txBody>
      </p:sp>
      <p:sp>
        <p:nvSpPr>
          <p:cNvPr id="5" name="Date Placeholder 4">
            <a:extLst>
              <a:ext uri="{FF2B5EF4-FFF2-40B4-BE49-F238E27FC236}">
                <a16:creationId xmlns:a16="http://schemas.microsoft.com/office/drawing/2014/main" id="{37D92735-99E4-4F50-7CE7-9E52D9274228}"/>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64F3A82D-E24E-0435-A49E-81727C9BB456}"/>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73DE6617-67BE-336F-63D3-8F261DCCFF38}"/>
              </a:ext>
            </a:extLst>
          </p:cNvPr>
          <p:cNvSpPr>
            <a:spLocks noGrp="1"/>
          </p:cNvSpPr>
          <p:nvPr>
            <p:ph type="sldNum" sz="quarter" idx="12"/>
          </p:nvPr>
        </p:nvSpPr>
        <p:spPr/>
        <p:txBody>
          <a:bodyPr/>
          <a:lstStyle/>
          <a:p>
            <a:fld id="{E1E1CD7C-2161-7D43-862E-CE4C333CD873}" type="slidenum">
              <a:rPr lang="fr-FR" smtClean="0"/>
              <a:pPr/>
              <a:t>10</a:t>
            </a:fld>
            <a:endParaRPr lang="fr-FR" dirty="0"/>
          </a:p>
        </p:txBody>
      </p:sp>
    </p:spTree>
    <p:extLst>
      <p:ext uri="{BB962C8B-B14F-4D97-AF65-F5344CB8AC3E}">
        <p14:creationId xmlns:p14="http://schemas.microsoft.com/office/powerpoint/2010/main" val="5419808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6" dur="500"/>
                                        <p:tgtEl>
                                          <p:spTgt spid="9">
                                            <p:txEl>
                                              <p:pRg st="3" end="3"/>
                                            </p:txEl>
                                          </p:spTgt>
                                        </p:tgtEl>
                                      </p:cBhvr>
                                    </p:animEffect>
                                  </p:childTnLst>
                                </p:cTn>
                              </p:par>
                              <p:par>
                                <p:cTn id="17" presetID="14" presetClass="entr" presetSubtype="10" fill="hold" nodeType="withEffect">
                                  <p:stCondLst>
                                    <p:cond delay="0"/>
                                  </p:stCondLst>
                                  <p:childTnLst>
                                    <p:set>
                                      <p:cBhvr>
                                        <p:cTn id="18" dur="1" fill="hold">
                                          <p:stCondLst>
                                            <p:cond delay="0"/>
                                          </p:stCondLst>
                                        </p:cTn>
                                        <p:tgtEl>
                                          <p:spTgt spid="9">
                                            <p:txEl>
                                              <p:pRg st="4" end="4"/>
                                            </p:txEl>
                                          </p:spTgt>
                                        </p:tgtEl>
                                        <p:attrNameLst>
                                          <p:attrName>style.visibility</p:attrName>
                                        </p:attrNameLst>
                                      </p:cBhvr>
                                      <p:to>
                                        <p:strVal val="visible"/>
                                      </p:to>
                                    </p:set>
                                    <p:animEffect transition="in" filter="randombar(horizontal)">
                                      <p:cBhvr>
                                        <p:cTn id="19" dur="500"/>
                                        <p:tgtEl>
                                          <p:spTgt spid="9">
                                            <p:txEl>
                                              <p:pRg st="4" end="4"/>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14" presetClass="entr" presetSubtype="10" fill="hold" nodeType="clickEffect">
                                  <p:stCondLst>
                                    <p:cond delay="0"/>
                                  </p:stCondLst>
                                  <p:childTnLst>
                                    <p:set>
                                      <p:cBhvr>
                                        <p:cTn id="23"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4" dur="500"/>
                                        <p:tgtEl>
                                          <p:spTgt spid="9">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9">
                                            <p:txEl>
                                              <p:pRg st="6" end="6"/>
                                            </p:txEl>
                                          </p:spTgt>
                                        </p:tgtEl>
                                        <p:attrNameLst>
                                          <p:attrName>style.visibility</p:attrName>
                                        </p:attrNameLst>
                                      </p:cBhvr>
                                      <p:to>
                                        <p:strVal val="visible"/>
                                      </p:to>
                                    </p:set>
                                    <p:animEffect transition="in" filter="randombar(horizontal)">
                                      <p:cBhvr>
                                        <p:cTn id="27" dur="500"/>
                                        <p:tgtEl>
                                          <p:spTgt spid="9">
                                            <p:txEl>
                                              <p:pRg st="6" end="6"/>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0" dur="500"/>
                                        <p:tgtEl>
                                          <p:spTgt spid="9">
                                            <p:txEl>
                                              <p:pRg st="7" end="7"/>
                                            </p:txEl>
                                          </p:spTgt>
                                        </p:tgtEl>
                                      </p:cBhvr>
                                    </p:animEffect>
                                  </p:childTnLst>
                                </p:cTn>
                              </p:par>
                              <p:par>
                                <p:cTn id="31" presetID="14" presetClass="entr" presetSubtype="10" fill="hold" nodeType="withEffect">
                                  <p:stCondLst>
                                    <p:cond delay="0"/>
                                  </p:stCondLst>
                                  <p:childTnLst>
                                    <p:set>
                                      <p:cBhvr>
                                        <p:cTn id="32" dur="1" fill="hold">
                                          <p:stCondLst>
                                            <p:cond delay="0"/>
                                          </p:stCondLst>
                                        </p:cTn>
                                        <p:tgtEl>
                                          <p:spTgt spid="9">
                                            <p:txEl>
                                              <p:pRg st="8" end="8"/>
                                            </p:txEl>
                                          </p:spTgt>
                                        </p:tgtEl>
                                        <p:attrNameLst>
                                          <p:attrName>style.visibility</p:attrName>
                                        </p:attrNameLst>
                                      </p:cBhvr>
                                      <p:to>
                                        <p:strVal val="visible"/>
                                      </p:to>
                                    </p:set>
                                    <p:animEffect transition="in" filter="randombar(horizontal)">
                                      <p:cBhvr>
                                        <p:cTn id="33" dur="500"/>
                                        <p:tgtEl>
                                          <p:spTgt spid="9">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1272E8-71B4-51F8-2290-0C2FDDE18562}"/>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Content Placeholder 8">
                <a:extLst>
                  <a:ext uri="{FF2B5EF4-FFF2-40B4-BE49-F238E27FC236}">
                    <a16:creationId xmlns:a16="http://schemas.microsoft.com/office/drawing/2014/main" id="{862F51F3-EE61-0ED0-F494-5C7A9212FB93}"/>
                  </a:ext>
                </a:extLst>
              </p:cNvPr>
              <p:cNvSpPr>
                <a:spLocks noGrp="1"/>
              </p:cNvSpPr>
              <p:nvPr>
                <p:ph idx="1"/>
              </p:nvPr>
            </p:nvSpPr>
            <p:spPr/>
            <p:txBody>
              <a:bodyPr>
                <a:normAutofit/>
              </a:bodyPr>
              <a:lstStyle/>
              <a:p>
                <a:r>
                  <a:rPr lang="en-US" dirty="0">
                    <a:latin typeface="+mj-lt"/>
                  </a:rPr>
                  <a:t>Attributed Multiplex Heterogeneous Networks (AMHENs) </a:t>
                </a:r>
                <a14:m>
                  <m:oMath xmlns:m="http://schemas.openxmlformats.org/officeDocument/2006/math">
                    <m:r>
                      <a:rPr lang="en-US" b="0" i="1" smtClean="0">
                        <a:latin typeface="Cambria Math" panose="02040503050406030204" pitchFamily="18" charset="0"/>
                      </a:rPr>
                      <m:t>𝐺</m:t>
                    </m:r>
                    <m:r>
                      <a:rPr lang="en-US" b="0" i="1" smtClean="0">
                        <a:latin typeface="Cambria Math" panose="02040503050406030204" pitchFamily="18" charset="0"/>
                      </a:rPr>
                      <m:t>=</m:t>
                    </m:r>
                    <m:d>
                      <m:dPr>
                        <m:ctrlPr>
                          <a:rPr lang="en-US" b="0" i="1" smtClean="0">
                            <a:latin typeface="Cambria Math" panose="02040503050406030204" pitchFamily="18" charset="0"/>
                          </a:rPr>
                        </m:ctrlPr>
                      </m:dPr>
                      <m:e>
                        <m:r>
                          <a:rPr lang="en-US" b="0" i="1" smtClean="0">
                            <a:latin typeface="Cambria Math" panose="02040503050406030204" pitchFamily="18" charset="0"/>
                          </a:rPr>
                          <m:t>𝑉</m:t>
                        </m:r>
                        <m:r>
                          <a:rPr lang="en-US" b="0" i="1" smtClean="0">
                            <a:latin typeface="Cambria Math" panose="02040503050406030204" pitchFamily="18" charset="0"/>
                          </a:rPr>
                          <m:t>,</m:t>
                        </m:r>
                        <m:r>
                          <a:rPr lang="en-US" b="0" i="1" smtClean="0">
                            <a:latin typeface="Cambria Math" panose="02040503050406030204" pitchFamily="18" charset="0"/>
                          </a:rPr>
                          <m:t>𝑅</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𝐸</m:t>
                            </m:r>
                          </m:e>
                          <m:sub>
                            <m:r>
                              <a:rPr lang="en-US" b="0" i="1" smtClean="0">
                                <a:latin typeface="Cambria Math" panose="02040503050406030204" pitchFamily="18" charset="0"/>
                              </a:rPr>
                              <m:t>𝑅</m:t>
                            </m:r>
                          </m:sub>
                        </m:sSub>
                        <m:r>
                          <a:rPr lang="en-US" b="0" i="1" smtClean="0">
                            <a:latin typeface="Cambria Math" panose="02040503050406030204" pitchFamily="18" charset="0"/>
                          </a:rPr>
                          <m:t>,</m:t>
                        </m:r>
                        <m:r>
                          <a:rPr lang="en-US" b="1" i="1" smtClean="0">
                            <a:latin typeface="Cambria Math" panose="02040503050406030204" pitchFamily="18" charset="0"/>
                          </a:rPr>
                          <m:t>𝑿</m:t>
                        </m:r>
                      </m:e>
                    </m:d>
                  </m:oMath>
                </a14:m>
                <a:endParaRPr lang="en-US" i="1" dirty="0">
                  <a:latin typeface="+mj-lt"/>
                </a:endParaRPr>
              </a:p>
              <a:p>
                <a:pPr lvl="1"/>
                <a14:m>
                  <m:oMath xmlns:m="http://schemas.openxmlformats.org/officeDocument/2006/math">
                    <m:r>
                      <a:rPr lang="en-US" i="1">
                        <a:latin typeface="Cambria Math" panose="02040503050406030204" pitchFamily="18" charset="0"/>
                      </a:rPr>
                      <m:t>𝑉</m:t>
                    </m:r>
                  </m:oMath>
                </a14:m>
                <a:r>
                  <a:rPr lang="en-GB" dirty="0">
                    <a:latin typeface="+mj-lt"/>
                  </a:rPr>
                  <a:t>- set of entities/nodes</a:t>
                </a:r>
              </a:p>
              <a:p>
                <a:pPr lvl="1"/>
                <a14:m>
                  <m:oMath xmlns:m="http://schemas.openxmlformats.org/officeDocument/2006/math">
                    <m:r>
                      <a:rPr lang="en-US" b="0" i="1" smtClean="0">
                        <a:latin typeface="Cambria Math" panose="02040503050406030204" pitchFamily="18" charset="0"/>
                      </a:rPr>
                      <m:t>𝑅</m:t>
                    </m:r>
                  </m:oMath>
                </a14:m>
                <a:r>
                  <a:rPr lang="en-GB" dirty="0">
                    <a:latin typeface="+mj-lt"/>
                  </a:rPr>
                  <a:t>- set of relation types</a:t>
                </a:r>
              </a:p>
              <a:p>
                <a:pPr lvl="1"/>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𝐸</m:t>
                        </m:r>
                      </m:e>
                      <m:sub>
                        <m:r>
                          <a:rPr lang="en-US" b="0" i="1" smtClean="0">
                            <a:latin typeface="Cambria Math" panose="02040503050406030204" pitchFamily="18" charset="0"/>
                          </a:rPr>
                          <m:t>𝑅</m:t>
                        </m:r>
                      </m:sub>
                    </m:sSub>
                    <m:r>
                      <a:rPr lang="en-US" b="0" i="1" smtClean="0">
                        <a:latin typeface="Cambria Math" panose="02040503050406030204" pitchFamily="18" charset="0"/>
                      </a:rPr>
                      <m:t>⊆</m:t>
                    </m:r>
                    <m:r>
                      <a:rPr lang="en-US" b="0" i="1" smtClean="0">
                        <a:latin typeface="Cambria Math" panose="02040503050406030204" pitchFamily="18" charset="0"/>
                      </a:rPr>
                      <m:t>𝑉</m:t>
                    </m:r>
                    <m:r>
                      <a:rPr lang="en-US" b="0" i="1" smtClean="0">
                        <a:latin typeface="Cambria Math" panose="02040503050406030204" pitchFamily="18" charset="0"/>
                      </a:rPr>
                      <m:t>×</m:t>
                    </m:r>
                    <m:r>
                      <a:rPr lang="en-US" b="0" i="1" smtClean="0">
                        <a:latin typeface="Cambria Math" panose="02040503050406030204" pitchFamily="18" charset="0"/>
                      </a:rPr>
                      <m:t>𝑅</m:t>
                    </m:r>
                    <m:r>
                      <a:rPr lang="en-US" b="0" i="1" smtClean="0">
                        <a:latin typeface="Cambria Math" panose="02040503050406030204" pitchFamily="18" charset="0"/>
                      </a:rPr>
                      <m:t>×</m:t>
                    </m:r>
                    <m:r>
                      <a:rPr lang="en-US" b="0" i="1" smtClean="0">
                        <a:latin typeface="Cambria Math" panose="02040503050406030204" pitchFamily="18" charset="0"/>
                      </a:rPr>
                      <m:t>𝑉</m:t>
                    </m:r>
                  </m:oMath>
                </a14:m>
                <a:r>
                  <a:rPr lang="en-GB" dirty="0">
                    <a:latin typeface="+mj-lt"/>
                  </a:rPr>
                  <a:t> - set of relations/edges</a:t>
                </a:r>
              </a:p>
              <a:p>
                <a:pPr lvl="1"/>
                <a14:m>
                  <m:oMath xmlns:m="http://schemas.openxmlformats.org/officeDocument/2006/math">
                    <m:r>
                      <a:rPr lang="en-US" b="1" i="1" smtClean="0">
                        <a:latin typeface="Cambria Math" panose="02040503050406030204" pitchFamily="18" charset="0"/>
                      </a:rPr>
                      <m:t>𝑿</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ℝ</m:t>
                        </m:r>
                      </m:e>
                      <m:sup>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𝑉</m:t>
                            </m:r>
                          </m:e>
                        </m:d>
                        <m:r>
                          <a:rPr lang="en-US" b="0" i="1" smtClean="0">
                            <a:latin typeface="Cambria Math" panose="02040503050406030204" pitchFamily="18" charset="0"/>
                          </a:rPr>
                          <m:t>×</m:t>
                        </m:r>
                        <m:r>
                          <a:rPr lang="en-US" b="0" i="1" smtClean="0">
                            <a:latin typeface="Cambria Math" panose="02040503050406030204" pitchFamily="18" charset="0"/>
                          </a:rPr>
                          <m:t>𝐹</m:t>
                        </m:r>
                      </m:sup>
                    </m:sSup>
                  </m:oMath>
                </a14:m>
                <a:r>
                  <a:rPr lang="en-GB" dirty="0">
                    <a:latin typeface="+mj-lt"/>
                  </a:rPr>
                  <a:t> - node attribute matrix</a:t>
                </a:r>
              </a:p>
              <a:p>
                <a:r>
                  <a:rPr lang="en-GB" dirty="0">
                    <a:latin typeface="+mj-lt"/>
                  </a:rPr>
                  <a:t>Knowledge Graph queries</a:t>
                </a:r>
              </a:p>
              <a:p>
                <a:pPr lvl="1"/>
                <a14:m>
                  <m:oMath xmlns:m="http://schemas.openxmlformats.org/officeDocument/2006/math">
                    <m:r>
                      <a:rPr lang="en-US" b="0" i="1" smtClean="0">
                        <a:latin typeface="Cambria Math" panose="02040503050406030204" pitchFamily="18" charset="0"/>
                      </a:rPr>
                      <m:t>𝑞</m:t>
                    </m:r>
                    <m:r>
                      <a:rPr lang="en-US" b="0" i="1" smtClean="0">
                        <a:latin typeface="Cambria Math" panose="02040503050406030204" pitchFamily="18" charset="0"/>
                      </a:rPr>
                      <m:t>=</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𝒜</m:t>
                            </m:r>
                          </m:e>
                          <m:sub>
                            <m:r>
                              <a:rPr lang="en-US" b="0" i="1" smtClean="0">
                                <a:latin typeface="Cambria Math" panose="02040503050406030204" pitchFamily="18" charset="0"/>
                              </a:rPr>
                              <m:t>𝑞</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𝐺</m:t>
                            </m:r>
                          </m:e>
                          <m:sub>
                            <m:r>
                              <a:rPr lang="en-US" b="0" i="1" smtClean="0">
                                <a:latin typeface="Cambria Math" panose="02040503050406030204" pitchFamily="18" charset="0"/>
                              </a:rPr>
                              <m:t>𝑞</m:t>
                            </m:r>
                          </m:sub>
                        </m:sSub>
                      </m:e>
                    </m:d>
                  </m:oMath>
                </a14:m>
                <a:r>
                  <a:rPr lang="en-GB" dirty="0">
                    <a:latin typeface="+mj-lt"/>
                  </a:rPr>
                  <a:t> - anchors + computation DAG for answer generation, FOL</a:t>
                </a:r>
              </a:p>
            </p:txBody>
          </p:sp>
        </mc:Choice>
        <mc:Fallback xmlns="">
          <p:sp>
            <p:nvSpPr>
              <p:cNvPr id="9" name="Content Placeholder 8">
                <a:extLst>
                  <a:ext uri="{FF2B5EF4-FFF2-40B4-BE49-F238E27FC236}">
                    <a16:creationId xmlns:a16="http://schemas.microsoft.com/office/drawing/2014/main" id="{862F51F3-EE61-0ED0-F494-5C7A9212FB93}"/>
                  </a:ext>
                </a:extLst>
              </p:cNvPr>
              <p:cNvSpPr>
                <a:spLocks noGrp="1" noRot="1" noChangeAspect="1" noMove="1" noResize="1" noEditPoints="1" noAdjustHandles="1" noChangeArrowheads="1" noChangeShapeType="1" noTextEdit="1"/>
              </p:cNvSpPr>
              <p:nvPr>
                <p:ph idx="1"/>
              </p:nvPr>
            </p:nvSpPr>
            <p:spPr>
              <a:blipFill>
                <a:blip r:embed="rId3"/>
                <a:stretch>
                  <a:fillRect t="-1802"/>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DBBCCE26-7704-ED07-33BA-001189169E1A}"/>
              </a:ext>
            </a:extLst>
          </p:cNvPr>
          <p:cNvSpPr>
            <a:spLocks noGrp="1"/>
          </p:cNvSpPr>
          <p:nvPr>
            <p:ph type="title"/>
          </p:nvPr>
        </p:nvSpPr>
        <p:spPr>
          <a:xfrm>
            <a:off x="904875" y="131032"/>
            <a:ext cx="7207279" cy="1072753"/>
          </a:xfrm>
        </p:spPr>
        <p:txBody>
          <a:bodyPr>
            <a:normAutofit/>
          </a:bodyPr>
          <a:lstStyle/>
          <a:p>
            <a:r>
              <a:rPr lang="en-US" dirty="0"/>
              <a:t>3.1	Community-Informed Graph Embeddings</a:t>
            </a:r>
            <a:br>
              <a:rPr lang="en-US" dirty="0"/>
            </a:br>
            <a:r>
              <a:rPr lang="en-US" sz="2400" b="0" i="1" dirty="0"/>
              <a:t>Background - Graph theory of Knowledge Graph Reasoning</a:t>
            </a:r>
            <a:endParaRPr lang="en-GB" sz="2400" b="0" i="1" dirty="0"/>
          </a:p>
        </p:txBody>
      </p:sp>
      <p:sp>
        <p:nvSpPr>
          <p:cNvPr id="5" name="Date Placeholder 4">
            <a:extLst>
              <a:ext uri="{FF2B5EF4-FFF2-40B4-BE49-F238E27FC236}">
                <a16:creationId xmlns:a16="http://schemas.microsoft.com/office/drawing/2014/main" id="{4D9DEE53-1297-7CA0-62AE-FA4646D2C1FA}"/>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B67113B5-A974-43F9-5AD9-388DA088249F}"/>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6EC95B71-79FC-46A4-497C-33B59A9CE667}"/>
              </a:ext>
            </a:extLst>
          </p:cNvPr>
          <p:cNvSpPr>
            <a:spLocks noGrp="1"/>
          </p:cNvSpPr>
          <p:nvPr>
            <p:ph type="sldNum" sz="quarter" idx="12"/>
          </p:nvPr>
        </p:nvSpPr>
        <p:spPr/>
        <p:txBody>
          <a:bodyPr/>
          <a:lstStyle/>
          <a:p>
            <a:fld id="{E1E1CD7C-2161-7D43-862E-CE4C333CD873}" type="slidenum">
              <a:rPr lang="fr-FR" smtClean="0"/>
              <a:pPr/>
              <a:t>11</a:t>
            </a:fld>
            <a:endParaRPr lang="fr-FR" dirty="0"/>
          </a:p>
        </p:txBody>
      </p:sp>
      <p:pic>
        <p:nvPicPr>
          <p:cNvPr id="13" name="Picture 12" descr="A diagram of a molecule&#10;&#10;AI-generated content may be incorrect.">
            <a:extLst>
              <a:ext uri="{FF2B5EF4-FFF2-40B4-BE49-F238E27FC236}">
                <a16:creationId xmlns:a16="http://schemas.microsoft.com/office/drawing/2014/main" id="{112229C7-B97A-D76F-5070-A6AE8829C746}"/>
              </a:ext>
            </a:extLst>
          </p:cNvPr>
          <p:cNvPicPr>
            <a:picLocks noChangeAspect="1"/>
          </p:cNvPicPr>
          <p:nvPr/>
        </p:nvPicPr>
        <p:blipFill>
          <a:blip r:embed="rId4"/>
          <a:stretch>
            <a:fillRect/>
          </a:stretch>
        </p:blipFill>
        <p:spPr>
          <a:xfrm>
            <a:off x="1630708" y="3666526"/>
            <a:ext cx="5755611" cy="1345942"/>
          </a:xfrm>
          <a:prstGeom prst="rect">
            <a:avLst/>
          </a:prstGeom>
        </p:spPr>
      </p:pic>
    </p:spTree>
    <p:extLst>
      <p:ext uri="{BB962C8B-B14F-4D97-AF65-F5344CB8AC3E}">
        <p14:creationId xmlns:p14="http://schemas.microsoft.com/office/powerpoint/2010/main" val="35470229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6" dur="500"/>
                                        <p:tgtEl>
                                          <p:spTgt spid="9">
                                            <p:txEl>
                                              <p:pRg st="3" end="3"/>
                                            </p:txEl>
                                          </p:spTgt>
                                        </p:tgtEl>
                                      </p:cBhvr>
                                    </p:animEffect>
                                  </p:childTnLst>
                                </p:cTn>
                              </p:par>
                              <p:par>
                                <p:cTn id="17" presetID="14" presetClass="entr" presetSubtype="10" fill="hold" nodeType="withEffect">
                                  <p:stCondLst>
                                    <p:cond delay="0"/>
                                  </p:stCondLst>
                                  <p:childTnLst>
                                    <p:set>
                                      <p:cBhvr>
                                        <p:cTn id="18" dur="1" fill="hold">
                                          <p:stCondLst>
                                            <p:cond delay="0"/>
                                          </p:stCondLst>
                                        </p:cTn>
                                        <p:tgtEl>
                                          <p:spTgt spid="9">
                                            <p:txEl>
                                              <p:pRg st="4" end="4"/>
                                            </p:txEl>
                                          </p:spTgt>
                                        </p:tgtEl>
                                        <p:attrNameLst>
                                          <p:attrName>style.visibility</p:attrName>
                                        </p:attrNameLst>
                                      </p:cBhvr>
                                      <p:to>
                                        <p:strVal val="visible"/>
                                      </p:to>
                                    </p:set>
                                    <p:animEffect transition="in" filter="randombar(horizontal)">
                                      <p:cBhvr>
                                        <p:cTn id="19" dur="500"/>
                                        <p:tgtEl>
                                          <p:spTgt spid="9">
                                            <p:txEl>
                                              <p:pRg st="4" end="4"/>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14" presetClass="entr" presetSubtype="10" fill="hold" nodeType="clickEffect">
                                  <p:stCondLst>
                                    <p:cond delay="0"/>
                                  </p:stCondLst>
                                  <p:childTnLst>
                                    <p:set>
                                      <p:cBhvr>
                                        <p:cTn id="23"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4" dur="500"/>
                                        <p:tgtEl>
                                          <p:spTgt spid="9">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9">
                                            <p:txEl>
                                              <p:pRg st="6" end="6"/>
                                            </p:txEl>
                                          </p:spTgt>
                                        </p:tgtEl>
                                        <p:attrNameLst>
                                          <p:attrName>style.visibility</p:attrName>
                                        </p:attrNameLst>
                                      </p:cBhvr>
                                      <p:to>
                                        <p:strVal val="visible"/>
                                      </p:to>
                                    </p:set>
                                    <p:animEffect transition="in" filter="randombar(horizontal)">
                                      <p:cBhvr>
                                        <p:cTn id="27" dur="500"/>
                                        <p:tgtEl>
                                          <p:spTgt spid="9">
                                            <p:txEl>
                                              <p:pRg st="6" end="6"/>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randombar(horizontal)">
                                      <p:cBhvr>
                                        <p:cTn id="30"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288137-17B0-8D71-B1DF-CB95CF10ACF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Content Placeholder 8">
                <a:extLst>
                  <a:ext uri="{FF2B5EF4-FFF2-40B4-BE49-F238E27FC236}">
                    <a16:creationId xmlns:a16="http://schemas.microsoft.com/office/drawing/2014/main" id="{C997F95A-935B-2A32-F194-641C7FA5AF5D}"/>
                  </a:ext>
                </a:extLst>
              </p:cNvPr>
              <p:cNvSpPr>
                <a:spLocks noGrp="1"/>
              </p:cNvSpPr>
              <p:nvPr>
                <p:ph idx="1"/>
              </p:nvPr>
            </p:nvSpPr>
            <p:spPr/>
            <p:txBody>
              <a:bodyPr anchor="ctr">
                <a:normAutofit/>
              </a:bodyPr>
              <a:lstStyle/>
              <a:p>
                <a:r>
                  <a:rPr lang="en-US" dirty="0">
                    <a:latin typeface="+mj-lt"/>
                  </a:rPr>
                  <a:t>Link prediction</a:t>
                </a:r>
              </a:p>
              <a:p>
                <a:pPr lvl="1"/>
                <a:r>
                  <a:rPr lang="en-US" dirty="0">
                    <a:latin typeface="+mj-lt"/>
                  </a:rPr>
                  <a:t>Dataset: </a:t>
                </a:r>
                <a14:m>
                  <m:oMath xmlns:m="http://schemas.openxmlformats.org/officeDocument/2006/math">
                    <m:r>
                      <a:rPr lang="en-US" b="0" i="1" smtClean="0">
                        <a:latin typeface="Cambria Math" panose="02040503050406030204" pitchFamily="18" charset="0"/>
                      </a:rPr>
                      <m:t>𝒟</m:t>
                    </m:r>
                    <m:r>
                      <a:rPr lang="en-US" b="0" i="1" smtClean="0">
                        <a:latin typeface="Cambria Math" panose="02040503050406030204" pitchFamily="18" charset="0"/>
                      </a:rPr>
                      <m:t>=</m:t>
                    </m:r>
                    <m:r>
                      <m:rPr>
                        <m:lit/>
                      </m:rPr>
                      <a:rPr lang="en-US" b="0" i="1" smtClean="0">
                        <a:latin typeface="Cambria Math" panose="02040503050406030204" pitchFamily="18" charset="0"/>
                      </a:rPr>
                      <m:t>{</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h</m:t>
                            </m:r>
                          </m:e>
                          <m:sub>
                            <m:r>
                              <a:rPr lang="en-US" b="0" i="1" smtClean="0">
                                <a:latin typeface="Cambria Math" panose="02040503050406030204" pitchFamily="18" charset="0"/>
                              </a:rPr>
                              <m:t>𝑖</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𝑟</m:t>
                            </m:r>
                          </m:e>
                          <m:sub>
                            <m:r>
                              <a:rPr lang="en-US" b="0" i="1" smtClean="0">
                                <a:latin typeface="Cambria Math" panose="02040503050406030204" pitchFamily="18" charset="0"/>
                              </a:rPr>
                              <m:t>𝑖</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𝑡</m:t>
                            </m:r>
                          </m:e>
                          <m:sub>
                            <m:r>
                              <a:rPr lang="en-US" b="0" i="1" smtClean="0">
                                <a:latin typeface="Cambria Math" panose="02040503050406030204" pitchFamily="18" charset="0"/>
                              </a:rPr>
                              <m:t>𝑖</m:t>
                            </m:r>
                          </m:sub>
                        </m:sSub>
                      </m:e>
                    </m:d>
                    <m:sSubSup>
                      <m:sSubSupPr>
                        <m:ctrlPr>
                          <a:rPr lang="en-US" b="0" i="1" smtClean="0">
                            <a:latin typeface="Cambria Math" panose="02040503050406030204" pitchFamily="18" charset="0"/>
                          </a:rPr>
                        </m:ctrlPr>
                      </m:sSubSupPr>
                      <m:e>
                        <m:r>
                          <m:rPr>
                            <m:lit/>
                          </m:rPr>
                          <a:rPr lang="en-US" b="0" i="1" smtClean="0">
                            <a:latin typeface="Cambria Math" panose="02040503050406030204" pitchFamily="18" charset="0"/>
                          </a:rPr>
                          <m:t>}</m:t>
                        </m:r>
                      </m:e>
                      <m:sub>
                        <m:r>
                          <a:rPr lang="en-US" b="0" i="1" smtClean="0">
                            <a:latin typeface="Cambria Math" panose="02040503050406030204" pitchFamily="18" charset="0"/>
                          </a:rPr>
                          <m:t>𝑖</m:t>
                        </m:r>
                        <m:r>
                          <a:rPr lang="en-US" b="0" i="1" smtClean="0">
                            <a:latin typeface="Cambria Math" panose="02040503050406030204" pitchFamily="18" charset="0"/>
                          </a:rPr>
                          <m:t>=1</m:t>
                        </m:r>
                      </m:sub>
                      <m:sup>
                        <m:r>
                          <a:rPr lang="en-US" b="0" i="1" smtClean="0">
                            <a:latin typeface="Cambria Math" panose="02040503050406030204" pitchFamily="18" charset="0"/>
                          </a:rPr>
                          <m:t>𝑁</m:t>
                        </m:r>
                      </m:sup>
                    </m:sSubSup>
                  </m:oMath>
                </a14:m>
                <a:endParaRPr lang="en-US" dirty="0">
                  <a:latin typeface="+mj-lt"/>
                </a:endParaRPr>
              </a:p>
              <a:p>
                <a:pPr lvl="1"/>
                <a:r>
                  <a:rPr lang="en-US" dirty="0">
                    <a:latin typeface="+mj-lt"/>
                  </a:rPr>
                  <a:t>Model: </a:t>
                </a:r>
                <a14:m>
                  <m:oMath xmlns:m="http://schemas.openxmlformats.org/officeDocument/2006/math">
                    <m:r>
                      <a:rPr lang="en-US" b="0" i="1" smtClean="0">
                        <a:latin typeface="Cambria Math" panose="02040503050406030204" pitchFamily="18" charset="0"/>
                      </a:rPr>
                      <m:t>ℙ</m:t>
                    </m:r>
                    <m:d>
                      <m:dPr>
                        <m:ctrlPr>
                          <a:rPr lang="en-US" b="0" i="1" smtClean="0">
                            <a:latin typeface="Cambria Math" panose="02040503050406030204" pitchFamily="18" charset="0"/>
                          </a:rPr>
                        </m:ctrlPr>
                      </m:dPr>
                      <m:e>
                        <m:d>
                          <m:dPr>
                            <m:ctrlPr>
                              <a:rPr lang="en-US" b="0" i="1" smtClean="0">
                                <a:latin typeface="Cambria Math" panose="02040503050406030204" pitchFamily="18" charset="0"/>
                              </a:rPr>
                            </m:ctrlPr>
                          </m:dPr>
                          <m:e>
                            <m:r>
                              <a:rPr lang="en-US" b="0" i="1" smtClean="0">
                                <a:latin typeface="Cambria Math" panose="02040503050406030204" pitchFamily="18" charset="0"/>
                              </a:rPr>
                              <m:t>h</m:t>
                            </m:r>
                            <m:r>
                              <a:rPr lang="en-US" b="0" i="1" smtClean="0">
                                <a:latin typeface="Cambria Math" panose="02040503050406030204" pitchFamily="18" charset="0"/>
                              </a:rPr>
                              <m:t>,</m:t>
                            </m:r>
                            <m:r>
                              <a:rPr lang="en-US" b="0" i="1" smtClean="0">
                                <a:latin typeface="Cambria Math" panose="02040503050406030204" pitchFamily="18" charset="0"/>
                              </a:rPr>
                              <m:t>𝑟</m:t>
                            </m:r>
                            <m:r>
                              <a:rPr lang="en-US" b="0" i="1" smtClean="0">
                                <a:latin typeface="Cambria Math" panose="02040503050406030204" pitchFamily="18" charset="0"/>
                              </a:rPr>
                              <m:t>,</m:t>
                            </m:r>
                            <m:r>
                              <a:rPr lang="en-US" b="0" i="1" smtClean="0">
                                <a:latin typeface="Cambria Math" panose="02040503050406030204" pitchFamily="18" charset="0"/>
                              </a:rPr>
                              <m:t>𝑡</m:t>
                            </m:r>
                          </m:e>
                        </m:d>
                        <m:r>
                          <a:rPr lang="en-US" b="0" i="1" smtClean="0">
                            <a:latin typeface="Cambria Math" panose="02040503050406030204" pitchFamily="18" charset="0"/>
                          </a:rPr>
                          <m:t>∈</m:t>
                        </m:r>
                        <m:r>
                          <a:rPr lang="en-US" b="0" i="1" smtClean="0">
                            <a:latin typeface="Cambria Math" panose="02040503050406030204" pitchFamily="18" charset="0"/>
                          </a:rPr>
                          <m:t>𝒟</m:t>
                        </m:r>
                      </m:e>
                    </m:d>
                    <m:r>
                      <a:rPr lang="en-US" b="0" i="1" smtClean="0">
                        <a:latin typeface="Cambria Math" panose="02040503050406030204" pitchFamily="18" charset="0"/>
                      </a:rPr>
                      <m:t>=</m:t>
                    </m:r>
                    <m:r>
                      <a:rPr lang="en-US" b="0" i="1" smtClean="0">
                        <a:latin typeface="Cambria Math" panose="02040503050406030204" pitchFamily="18" charset="0"/>
                      </a:rPr>
                      <m:t>𝜎</m:t>
                    </m:r>
                    <m:d>
                      <m:dPr>
                        <m:ctrlPr>
                          <a:rPr lang="en-US" b="0" i="1" smtClean="0">
                            <a:latin typeface="Cambria Math" panose="02040503050406030204" pitchFamily="18" charset="0"/>
                          </a:rPr>
                        </m:ctrlPr>
                      </m:dPr>
                      <m:e>
                        <m:r>
                          <a:rPr lang="en-US" b="0" i="1" smtClean="0">
                            <a:latin typeface="Cambria Math" panose="02040503050406030204" pitchFamily="18" charset="0"/>
                          </a:rPr>
                          <m:t>ℓ</m:t>
                        </m:r>
                        <m:d>
                          <m:dPr>
                            <m:ctrlPr>
                              <a:rPr lang="en-US" b="0" i="1" smtClean="0">
                                <a:latin typeface="Cambria Math" panose="02040503050406030204" pitchFamily="18" charset="0"/>
                              </a:rPr>
                            </m:ctrlPr>
                          </m:dPr>
                          <m:e>
                            <m:r>
                              <a:rPr lang="en-US" b="0" i="1" smtClean="0">
                                <a:latin typeface="Cambria Math" panose="02040503050406030204" pitchFamily="18" charset="0"/>
                              </a:rPr>
                              <m:t>h</m:t>
                            </m:r>
                            <m:r>
                              <a:rPr lang="en-US" b="0" i="1" smtClean="0">
                                <a:latin typeface="Cambria Math" panose="02040503050406030204" pitchFamily="18" charset="0"/>
                              </a:rPr>
                              <m:t>,</m:t>
                            </m:r>
                            <m:r>
                              <a:rPr lang="en-US" b="0" i="1" smtClean="0">
                                <a:latin typeface="Cambria Math" panose="02040503050406030204" pitchFamily="18" charset="0"/>
                              </a:rPr>
                              <m:t>𝑟</m:t>
                            </m:r>
                            <m:r>
                              <a:rPr lang="en-US" b="0" i="1" smtClean="0">
                                <a:latin typeface="Cambria Math" panose="02040503050406030204" pitchFamily="18" charset="0"/>
                              </a:rPr>
                              <m:t>,</m:t>
                            </m:r>
                            <m:r>
                              <a:rPr lang="en-US" b="0" i="1" smtClean="0">
                                <a:latin typeface="Cambria Math" panose="02040503050406030204" pitchFamily="18" charset="0"/>
                              </a:rPr>
                              <m:t>𝑡</m:t>
                            </m:r>
                          </m:e>
                        </m:d>
                      </m:e>
                    </m:d>
                  </m:oMath>
                </a14:m>
                <a:endParaRPr lang="en-US" dirty="0">
                  <a:latin typeface="+mj-lt"/>
                </a:endParaRPr>
              </a:p>
              <a:p>
                <a:pPr lvl="1"/>
                <a:r>
                  <a:rPr lang="en-US" dirty="0">
                    <a:latin typeface="+mj-lt"/>
                  </a:rPr>
                  <a:t>Goal: Classify fact triplets as true or false</a:t>
                </a:r>
              </a:p>
              <a:p>
                <a:pPr lvl="1"/>
                <a:r>
                  <a:rPr lang="en-US" dirty="0">
                    <a:latin typeface="+mj-lt"/>
                  </a:rPr>
                  <a:t>Simple and low-cost</a:t>
                </a:r>
              </a:p>
              <a:p>
                <a:r>
                  <a:rPr lang="en-US" dirty="0">
                    <a:latin typeface="+mj-lt"/>
                  </a:rPr>
                  <a:t>Query answering</a:t>
                </a:r>
              </a:p>
              <a:p>
                <a:pPr lvl="1"/>
                <a:r>
                  <a:rPr lang="en-US" dirty="0">
                    <a:latin typeface="+mj-lt"/>
                  </a:rPr>
                  <a:t>Dataset: </a:t>
                </a:r>
                <a14:m>
                  <m:oMath xmlns:m="http://schemas.openxmlformats.org/officeDocument/2006/math">
                    <m:r>
                      <a:rPr lang="en-US" i="1" smtClean="0">
                        <a:latin typeface="Cambria Math" panose="02040503050406030204" pitchFamily="18" charset="0"/>
                      </a:rPr>
                      <m:t>𝒟</m:t>
                    </m:r>
                    <m:r>
                      <a:rPr lang="en-US" i="1" smtClean="0">
                        <a:latin typeface="Cambria Math" panose="02040503050406030204" pitchFamily="18" charset="0"/>
                      </a:rPr>
                      <m:t>=</m:t>
                    </m:r>
                    <m:sSubSup>
                      <m:sSubSupPr>
                        <m:ctrlPr>
                          <a:rPr lang="en-US" b="0" i="1" smtClean="0">
                            <a:latin typeface="Cambria Math" panose="02040503050406030204" pitchFamily="18" charset="0"/>
                          </a:rPr>
                        </m:ctrlPr>
                      </m:sSubSupPr>
                      <m:e>
                        <m:d>
                          <m:dPr>
                            <m:begChr m:val="{"/>
                            <m:endChr m:val="}"/>
                            <m:ctrlPr>
                              <a:rPr lang="en-US" b="0" i="1" smtClean="0">
                                <a:latin typeface="Cambria Math" panose="02040503050406030204" pitchFamily="18" charset="0"/>
                              </a:rPr>
                            </m:ctrlPr>
                          </m:dPr>
                          <m:e>
                            <m:d>
                              <m:dPr>
                                <m:ctrlPr>
                                  <a:rPr lang="en-US" i="1">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𝑞</m:t>
                                    </m:r>
                                  </m:e>
                                  <m:sub>
                                    <m:r>
                                      <a:rPr lang="en-US" b="0" i="1" smtClean="0">
                                        <a:latin typeface="Cambria Math" panose="02040503050406030204" pitchFamily="18" charset="0"/>
                                      </a:rPr>
                                      <m:t>𝑖</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b="0" i="1" smtClean="0">
                                        <a:latin typeface="Cambria Math" panose="02040503050406030204" pitchFamily="18" charset="0"/>
                                      </a:rPr>
                                      <m:t>𝑎</m:t>
                                    </m:r>
                                  </m:e>
                                  <m:sub>
                                    <m:r>
                                      <a:rPr lang="en-US" i="1">
                                        <a:latin typeface="Cambria Math" panose="02040503050406030204" pitchFamily="18" charset="0"/>
                                      </a:rPr>
                                      <m:t>𝑖</m:t>
                                    </m:r>
                                  </m:sub>
                                </m:sSub>
                              </m:e>
                            </m:d>
                          </m:e>
                        </m:d>
                      </m:e>
                      <m:sub>
                        <m:r>
                          <a:rPr lang="en-US" b="0" i="1" smtClean="0">
                            <a:latin typeface="Cambria Math" panose="02040503050406030204" pitchFamily="18" charset="0"/>
                          </a:rPr>
                          <m:t>𝑖</m:t>
                        </m:r>
                        <m:r>
                          <a:rPr lang="en-US" b="0" i="1" smtClean="0">
                            <a:latin typeface="Cambria Math" panose="02040503050406030204" pitchFamily="18" charset="0"/>
                          </a:rPr>
                          <m:t>=1</m:t>
                        </m:r>
                      </m:sub>
                      <m:sup>
                        <m:r>
                          <a:rPr lang="en-US" b="0" i="1" smtClean="0">
                            <a:latin typeface="Cambria Math" panose="02040503050406030204" pitchFamily="18" charset="0"/>
                          </a:rPr>
                          <m:t>𝑁</m:t>
                        </m:r>
                      </m:sup>
                    </m:sSubSup>
                  </m:oMath>
                </a14:m>
                <a:endParaRPr lang="en-US" dirty="0">
                  <a:latin typeface="+mj-lt"/>
                </a:endParaRPr>
              </a:p>
              <a:p>
                <a:pPr lvl="1"/>
                <a:r>
                  <a:rPr lang="en-US" dirty="0">
                    <a:latin typeface="+mj-lt"/>
                  </a:rPr>
                  <a:t>Model: </a:t>
                </a:r>
                <a14:m>
                  <m:oMath xmlns:m="http://schemas.openxmlformats.org/officeDocument/2006/math">
                    <m:r>
                      <a:rPr lang="en-US" i="1">
                        <a:latin typeface="Cambria Math" panose="02040503050406030204" pitchFamily="18" charset="0"/>
                      </a:rPr>
                      <m:t>ℙ</m:t>
                    </m:r>
                    <m:d>
                      <m:dPr>
                        <m:ctrlPr>
                          <a:rPr lang="en-US" i="1">
                            <a:latin typeface="Cambria Math" panose="02040503050406030204" pitchFamily="18" charset="0"/>
                          </a:rPr>
                        </m:ctrlPr>
                      </m:dPr>
                      <m:e>
                        <m:d>
                          <m:dPr>
                            <m:ctrlPr>
                              <a:rPr lang="en-US" i="1">
                                <a:latin typeface="Cambria Math" panose="02040503050406030204" pitchFamily="18" charset="0"/>
                              </a:rPr>
                            </m:ctrlPr>
                          </m:dPr>
                          <m:e>
                            <m:r>
                              <a:rPr lang="en-US" b="0" i="1" smtClean="0">
                                <a:latin typeface="Cambria Math" panose="02040503050406030204" pitchFamily="18" charset="0"/>
                              </a:rPr>
                              <m:t>𝑞</m:t>
                            </m:r>
                            <m:r>
                              <a:rPr lang="en-US" b="0" i="1" smtClean="0">
                                <a:latin typeface="Cambria Math" panose="02040503050406030204" pitchFamily="18" charset="0"/>
                              </a:rPr>
                              <m:t>,</m:t>
                            </m:r>
                            <m:r>
                              <a:rPr lang="en-US" b="0" i="1" smtClean="0">
                                <a:latin typeface="Cambria Math" panose="02040503050406030204" pitchFamily="18" charset="0"/>
                              </a:rPr>
                              <m:t>𝑎</m:t>
                            </m:r>
                          </m:e>
                        </m:d>
                        <m:r>
                          <a:rPr lang="en-US" i="1">
                            <a:latin typeface="Cambria Math" panose="02040503050406030204" pitchFamily="18" charset="0"/>
                          </a:rPr>
                          <m:t>∈</m:t>
                        </m:r>
                        <m:r>
                          <a:rPr lang="en-US" i="1">
                            <a:latin typeface="Cambria Math" panose="02040503050406030204" pitchFamily="18" charset="0"/>
                          </a:rPr>
                          <m:t>𝒟</m:t>
                        </m:r>
                      </m:e>
                    </m:d>
                    <m:r>
                      <a:rPr lang="en-US" i="1">
                        <a:latin typeface="Cambria Math" panose="02040503050406030204" pitchFamily="18" charset="0"/>
                      </a:rPr>
                      <m:t>=</m:t>
                    </m:r>
                    <m:r>
                      <a:rPr lang="en-US" i="1">
                        <a:latin typeface="Cambria Math" panose="02040503050406030204" pitchFamily="18" charset="0"/>
                      </a:rPr>
                      <m:t>𝜎</m:t>
                    </m:r>
                    <m:d>
                      <m:dPr>
                        <m:ctrlPr>
                          <a:rPr lang="en-US" i="1">
                            <a:latin typeface="Cambria Math" panose="02040503050406030204" pitchFamily="18" charset="0"/>
                          </a:rPr>
                        </m:ctrlPr>
                      </m:dPr>
                      <m:e>
                        <m:r>
                          <a:rPr lang="en-US" b="0" i="1" smtClean="0">
                            <a:latin typeface="Cambria Math" panose="02040503050406030204" pitchFamily="18" charset="0"/>
                          </a:rPr>
                          <m:t>𝑆</m:t>
                        </m:r>
                        <m:d>
                          <m:dPr>
                            <m:ctrlPr>
                              <a:rPr lang="en-US" i="1">
                                <a:latin typeface="Cambria Math" panose="02040503050406030204" pitchFamily="18" charset="0"/>
                              </a:rPr>
                            </m:ctrlPr>
                          </m:dPr>
                          <m:e>
                            <m:r>
                              <a:rPr lang="en-US" b="0" i="1" smtClean="0">
                                <a:latin typeface="Cambria Math" panose="02040503050406030204" pitchFamily="18" charset="0"/>
                              </a:rPr>
                              <m:t>𝑞</m:t>
                            </m:r>
                            <m:r>
                              <a:rPr lang="en-US" b="0" i="1" smtClean="0">
                                <a:latin typeface="Cambria Math" panose="02040503050406030204" pitchFamily="18" charset="0"/>
                              </a:rPr>
                              <m:t>,</m:t>
                            </m:r>
                            <m:r>
                              <a:rPr lang="en-US" b="0" i="1" smtClean="0">
                                <a:latin typeface="Cambria Math" panose="02040503050406030204" pitchFamily="18" charset="0"/>
                              </a:rPr>
                              <m:t>𝑎</m:t>
                            </m:r>
                          </m:e>
                        </m:d>
                      </m:e>
                    </m:d>
                  </m:oMath>
                </a14:m>
                <a:endParaRPr lang="en-US" i="1" dirty="0">
                  <a:latin typeface="+mj-lt"/>
                </a:endParaRPr>
              </a:p>
              <a:p>
                <a:pPr lvl="1"/>
                <a:r>
                  <a:rPr lang="en-US" dirty="0">
                    <a:latin typeface="+mj-lt"/>
                  </a:rPr>
                  <a:t>Goal: Given </a:t>
                </a:r>
                <a14:m>
                  <m:oMath xmlns:m="http://schemas.openxmlformats.org/officeDocument/2006/math">
                    <m:r>
                      <a:rPr lang="en-US" i="1">
                        <a:latin typeface="Cambria Math" panose="02040503050406030204" pitchFamily="18" charset="0"/>
                      </a:rPr>
                      <m:t>𝑞</m:t>
                    </m:r>
                  </m:oMath>
                </a14:m>
                <a:r>
                  <a:rPr lang="en-US" dirty="0">
                    <a:latin typeface="+mj-lt"/>
                  </a:rPr>
                  <a:t>, find</a:t>
                </a:r>
                <a:r>
                  <a:rPr lang="en-US" dirty="0"/>
                  <a:t> </a:t>
                </a:r>
                <a14:m>
                  <m:oMath xmlns:m="http://schemas.openxmlformats.org/officeDocument/2006/math">
                    <m:r>
                      <a:rPr lang="en-US" i="1" smtClean="0">
                        <a:latin typeface="Cambria Math" panose="02040503050406030204" pitchFamily="18" charset="0"/>
                      </a:rPr>
                      <m:t>𝑎</m:t>
                    </m:r>
                    <m:r>
                      <a:rPr lang="en-US">
                        <a:latin typeface="Cambria Math" panose="02040503050406030204" pitchFamily="18" charset="0"/>
                      </a:rPr>
                      <m:t>=</m:t>
                    </m:r>
                    <m:sSub>
                      <m:sSubPr>
                        <m:ctrlPr>
                          <a:rPr lang="en-US" b="0" i="1" smtClean="0">
                            <a:latin typeface="Cambria Math" panose="02040503050406030204" pitchFamily="18" charset="0"/>
                          </a:rPr>
                        </m:ctrlPr>
                      </m:sSubPr>
                      <m:e>
                        <m:r>
                          <m:rPr>
                            <m:sty m:val="p"/>
                          </m:rPr>
                          <a:rPr lang="en-US" b="0" i="0" smtClean="0">
                            <a:latin typeface="Cambria Math" panose="02040503050406030204" pitchFamily="18" charset="0"/>
                          </a:rPr>
                          <m:t>arg</m:t>
                        </m:r>
                        <m:r>
                          <a:rPr lang="en-US" b="0" i="0" smtClean="0">
                            <a:latin typeface="Cambria Math" panose="02040503050406030204" pitchFamily="18" charset="0"/>
                          </a:rPr>
                          <m:t> </m:t>
                        </m:r>
                        <m:r>
                          <m:rPr>
                            <m:sty m:val="p"/>
                          </m:rPr>
                          <a:rPr lang="en-US" b="0" i="0" smtClean="0">
                            <a:latin typeface="Cambria Math" panose="02040503050406030204" pitchFamily="18" charset="0"/>
                          </a:rPr>
                          <m:t>max</m:t>
                        </m:r>
                      </m:e>
                      <m:sub>
                        <m:sSup>
                          <m:sSupPr>
                            <m:ctrlPr>
                              <a:rPr lang="en-US" i="1">
                                <a:latin typeface="Cambria Math" panose="02040503050406030204" pitchFamily="18" charset="0"/>
                              </a:rPr>
                            </m:ctrlPr>
                          </m:sSupPr>
                          <m:e>
                            <m:r>
                              <a:rPr lang="en-US" i="1">
                                <a:latin typeface="Cambria Math" panose="02040503050406030204" pitchFamily="18" charset="0"/>
                              </a:rPr>
                              <m:t>𝑎</m:t>
                            </m:r>
                          </m:e>
                          <m:sup>
                            <m:r>
                              <a:rPr lang="en-US" i="1">
                                <a:latin typeface="Cambria Math" panose="02040503050406030204" pitchFamily="18" charset="0"/>
                              </a:rPr>
                              <m:t>′</m:t>
                            </m:r>
                          </m:sup>
                        </m:sSup>
                        <m:r>
                          <a:rPr lang="en-US" b="0" i="1" smtClean="0">
                            <a:latin typeface="Cambria Math" panose="02040503050406030204" pitchFamily="18" charset="0"/>
                          </a:rPr>
                          <m:t>∈</m:t>
                        </m:r>
                        <m:r>
                          <a:rPr lang="en-US" b="0" i="1" smtClean="0">
                            <a:latin typeface="Cambria Math" panose="02040503050406030204" pitchFamily="18" charset="0"/>
                          </a:rPr>
                          <m:t>𝑉</m:t>
                        </m:r>
                      </m:sub>
                    </m:sSub>
                    <m:r>
                      <a:rPr lang="en-US" i="1">
                        <a:latin typeface="Cambria Math" panose="02040503050406030204" pitchFamily="18" charset="0"/>
                      </a:rPr>
                      <m:t>ℙ</m:t>
                    </m:r>
                    <m:d>
                      <m:dPr>
                        <m:ctrlPr>
                          <a:rPr lang="en-US" i="1">
                            <a:latin typeface="Cambria Math" panose="02040503050406030204" pitchFamily="18" charset="0"/>
                          </a:rPr>
                        </m:ctrlPr>
                      </m:dPr>
                      <m:e>
                        <m:d>
                          <m:dPr>
                            <m:ctrlPr>
                              <a:rPr lang="en-US" i="1">
                                <a:latin typeface="Cambria Math" panose="02040503050406030204" pitchFamily="18" charset="0"/>
                              </a:rPr>
                            </m:ctrlPr>
                          </m:dPr>
                          <m:e>
                            <m:r>
                              <a:rPr lang="en-US" i="1">
                                <a:latin typeface="Cambria Math" panose="02040503050406030204" pitchFamily="18" charset="0"/>
                              </a:rPr>
                              <m:t>𝑞</m:t>
                            </m:r>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𝑎</m:t>
                                </m:r>
                              </m:e>
                              <m:sup>
                                <m:r>
                                  <a:rPr lang="en-US" i="1">
                                    <a:latin typeface="Cambria Math" panose="02040503050406030204" pitchFamily="18" charset="0"/>
                                  </a:rPr>
                                  <m:t>′</m:t>
                                </m:r>
                              </m:sup>
                            </m:sSup>
                          </m:e>
                        </m:d>
                        <m:r>
                          <a:rPr lang="en-US" i="1">
                            <a:latin typeface="Cambria Math" panose="02040503050406030204" pitchFamily="18" charset="0"/>
                          </a:rPr>
                          <m:t>∈</m:t>
                        </m:r>
                        <m:r>
                          <a:rPr lang="en-US" i="1">
                            <a:latin typeface="Cambria Math" panose="02040503050406030204" pitchFamily="18" charset="0"/>
                          </a:rPr>
                          <m:t>𝒟</m:t>
                        </m:r>
                      </m:e>
                    </m:d>
                  </m:oMath>
                </a14:m>
                <a:endParaRPr lang="en-US" dirty="0">
                  <a:latin typeface="+mj-lt"/>
                </a:endParaRPr>
              </a:p>
              <a:p>
                <a:pPr lvl="1"/>
                <a:r>
                  <a:rPr lang="en-US" i="1" dirty="0">
                    <a:latin typeface="+mj-lt"/>
                  </a:rPr>
                  <a:t>Complex ranking problem with quadratic cost:  </a:t>
                </a:r>
                <a14:m>
                  <m:oMath xmlns:m="http://schemas.openxmlformats.org/officeDocument/2006/math">
                    <m:r>
                      <a:rPr lang="en-US" i="1">
                        <a:latin typeface="Cambria Math" panose="02040503050406030204" pitchFamily="18" charset="0"/>
                      </a:rPr>
                      <m:t>𝑁</m:t>
                    </m:r>
                    <m:d>
                      <m:dPr>
                        <m:begChr m:val="|"/>
                        <m:endChr m:val="|"/>
                        <m:ctrlPr>
                          <a:rPr lang="en-US" i="1">
                            <a:latin typeface="Cambria Math" panose="02040503050406030204" pitchFamily="18" charset="0"/>
                          </a:rPr>
                        </m:ctrlPr>
                      </m:dPr>
                      <m:e>
                        <m:r>
                          <a:rPr lang="en-US" i="1">
                            <a:latin typeface="Cambria Math" panose="02040503050406030204" pitchFamily="18" charset="0"/>
                          </a:rPr>
                          <m:t>𝑉</m:t>
                        </m:r>
                      </m:e>
                    </m:d>
                  </m:oMath>
                </a14:m>
                <a:endParaRPr lang="en-US" dirty="0">
                  <a:latin typeface="+mj-lt"/>
                </a:endParaRPr>
              </a:p>
            </p:txBody>
          </p:sp>
        </mc:Choice>
        <mc:Fallback xmlns="">
          <p:sp>
            <p:nvSpPr>
              <p:cNvPr id="9" name="Content Placeholder 8">
                <a:extLst>
                  <a:ext uri="{FF2B5EF4-FFF2-40B4-BE49-F238E27FC236}">
                    <a16:creationId xmlns:a16="http://schemas.microsoft.com/office/drawing/2014/main" id="{C997F95A-935B-2A32-F194-641C7FA5AF5D}"/>
                  </a:ext>
                </a:extLst>
              </p:cNvPr>
              <p:cNvSpPr>
                <a:spLocks noGrp="1" noRot="1" noChangeAspect="1" noMove="1" noResize="1" noEditPoints="1" noAdjustHandles="1" noChangeArrowheads="1" noChangeShapeType="1" noTextEdit="1"/>
              </p:cNvSpPr>
              <p:nvPr>
                <p:ph idx="1"/>
              </p:nvPr>
            </p:nvSpPr>
            <p:spPr>
              <a:blipFill>
                <a:blip r:embed="rId3"/>
                <a:stretch>
                  <a:fillRect/>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363E9969-F83C-DF9F-BDF0-6E2981064FDA}"/>
              </a:ext>
            </a:extLst>
          </p:cNvPr>
          <p:cNvSpPr>
            <a:spLocks noGrp="1"/>
          </p:cNvSpPr>
          <p:nvPr>
            <p:ph type="title"/>
          </p:nvPr>
        </p:nvSpPr>
        <p:spPr>
          <a:xfrm>
            <a:off x="904875" y="131032"/>
            <a:ext cx="7207279" cy="1072753"/>
          </a:xfrm>
        </p:spPr>
        <p:txBody>
          <a:bodyPr>
            <a:normAutofit fontScale="90000"/>
          </a:bodyPr>
          <a:lstStyle/>
          <a:p>
            <a:r>
              <a:rPr lang="en-US" dirty="0"/>
              <a:t>3.1	Community-Informed Graph Embeddings</a:t>
            </a:r>
            <a:br>
              <a:rPr lang="en-US" dirty="0"/>
            </a:br>
            <a:r>
              <a:rPr lang="en-US" sz="2400" b="0" i="1" dirty="0"/>
              <a:t>Background - Optimization problems of Knowledge Graph Reasoning</a:t>
            </a:r>
            <a:endParaRPr lang="en-GB" sz="2400" b="0" i="1" dirty="0"/>
          </a:p>
        </p:txBody>
      </p:sp>
      <p:sp>
        <p:nvSpPr>
          <p:cNvPr id="5" name="Date Placeholder 4">
            <a:extLst>
              <a:ext uri="{FF2B5EF4-FFF2-40B4-BE49-F238E27FC236}">
                <a16:creationId xmlns:a16="http://schemas.microsoft.com/office/drawing/2014/main" id="{0E22E88F-04B4-321A-B50A-3510AF6E6702}"/>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DB5AC1E9-897B-1A98-F771-0D38EFCC36D2}"/>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7112BAF0-0F4D-8FBD-D845-E9D9EAD2C44C}"/>
              </a:ext>
            </a:extLst>
          </p:cNvPr>
          <p:cNvSpPr>
            <a:spLocks noGrp="1"/>
          </p:cNvSpPr>
          <p:nvPr>
            <p:ph type="sldNum" sz="quarter" idx="12"/>
          </p:nvPr>
        </p:nvSpPr>
        <p:spPr/>
        <p:txBody>
          <a:bodyPr/>
          <a:lstStyle/>
          <a:p>
            <a:fld id="{E1E1CD7C-2161-7D43-862E-CE4C333CD873}" type="slidenum">
              <a:rPr lang="fr-FR" smtClean="0"/>
              <a:pPr/>
              <a:t>12</a:t>
            </a:fld>
            <a:endParaRPr lang="fr-FR" dirty="0"/>
          </a:p>
        </p:txBody>
      </p:sp>
    </p:spTree>
    <p:extLst>
      <p:ext uri="{BB962C8B-B14F-4D97-AF65-F5344CB8AC3E}">
        <p14:creationId xmlns:p14="http://schemas.microsoft.com/office/powerpoint/2010/main" val="28073418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6" dur="500"/>
                                        <p:tgtEl>
                                          <p:spTgt spid="9">
                                            <p:txEl>
                                              <p:pRg st="3" end="3"/>
                                            </p:txEl>
                                          </p:spTgt>
                                        </p:tgtEl>
                                      </p:cBhvr>
                                    </p:animEffect>
                                  </p:childTnLst>
                                </p:cTn>
                              </p:par>
                              <p:par>
                                <p:cTn id="17" presetID="14" presetClass="entr" presetSubtype="10" fill="hold" nodeType="withEffect">
                                  <p:stCondLst>
                                    <p:cond delay="0"/>
                                  </p:stCondLst>
                                  <p:childTnLst>
                                    <p:set>
                                      <p:cBhvr>
                                        <p:cTn id="18" dur="1" fill="hold">
                                          <p:stCondLst>
                                            <p:cond delay="0"/>
                                          </p:stCondLst>
                                        </p:cTn>
                                        <p:tgtEl>
                                          <p:spTgt spid="9">
                                            <p:txEl>
                                              <p:pRg st="4" end="4"/>
                                            </p:txEl>
                                          </p:spTgt>
                                        </p:tgtEl>
                                        <p:attrNameLst>
                                          <p:attrName>style.visibility</p:attrName>
                                        </p:attrNameLst>
                                      </p:cBhvr>
                                      <p:to>
                                        <p:strVal val="visible"/>
                                      </p:to>
                                    </p:set>
                                    <p:animEffect transition="in" filter="randombar(horizontal)">
                                      <p:cBhvr>
                                        <p:cTn id="19" dur="500"/>
                                        <p:tgtEl>
                                          <p:spTgt spid="9">
                                            <p:txEl>
                                              <p:pRg st="4" end="4"/>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14" presetClass="entr" presetSubtype="10" fill="hold" nodeType="clickEffect">
                                  <p:stCondLst>
                                    <p:cond delay="0"/>
                                  </p:stCondLst>
                                  <p:childTnLst>
                                    <p:set>
                                      <p:cBhvr>
                                        <p:cTn id="23"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4" dur="500"/>
                                        <p:tgtEl>
                                          <p:spTgt spid="9">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9">
                                            <p:txEl>
                                              <p:pRg st="6" end="6"/>
                                            </p:txEl>
                                          </p:spTgt>
                                        </p:tgtEl>
                                        <p:attrNameLst>
                                          <p:attrName>style.visibility</p:attrName>
                                        </p:attrNameLst>
                                      </p:cBhvr>
                                      <p:to>
                                        <p:strVal val="visible"/>
                                      </p:to>
                                    </p:set>
                                    <p:animEffect transition="in" filter="randombar(horizontal)">
                                      <p:cBhvr>
                                        <p:cTn id="27" dur="500"/>
                                        <p:tgtEl>
                                          <p:spTgt spid="9">
                                            <p:txEl>
                                              <p:pRg st="6" end="6"/>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0" dur="500"/>
                                        <p:tgtEl>
                                          <p:spTgt spid="9">
                                            <p:txEl>
                                              <p:pRg st="7" end="7"/>
                                            </p:txEl>
                                          </p:spTgt>
                                        </p:tgtEl>
                                      </p:cBhvr>
                                    </p:animEffect>
                                  </p:childTnLst>
                                </p:cTn>
                              </p:par>
                              <p:par>
                                <p:cTn id="31" presetID="14" presetClass="entr" presetSubtype="10" fill="hold" nodeType="withEffect">
                                  <p:stCondLst>
                                    <p:cond delay="0"/>
                                  </p:stCondLst>
                                  <p:childTnLst>
                                    <p:set>
                                      <p:cBhvr>
                                        <p:cTn id="32" dur="1" fill="hold">
                                          <p:stCondLst>
                                            <p:cond delay="0"/>
                                          </p:stCondLst>
                                        </p:cTn>
                                        <p:tgtEl>
                                          <p:spTgt spid="9">
                                            <p:txEl>
                                              <p:pRg st="8" end="8"/>
                                            </p:txEl>
                                          </p:spTgt>
                                        </p:tgtEl>
                                        <p:attrNameLst>
                                          <p:attrName>style.visibility</p:attrName>
                                        </p:attrNameLst>
                                      </p:cBhvr>
                                      <p:to>
                                        <p:strVal val="visible"/>
                                      </p:to>
                                    </p:set>
                                    <p:animEffect transition="in" filter="randombar(horizontal)">
                                      <p:cBhvr>
                                        <p:cTn id="33" dur="500"/>
                                        <p:tgtEl>
                                          <p:spTgt spid="9">
                                            <p:txEl>
                                              <p:pRg st="8" end="8"/>
                                            </p:txEl>
                                          </p:spTgt>
                                        </p:tgtEl>
                                      </p:cBhvr>
                                    </p:animEffect>
                                  </p:childTnLst>
                                </p:cTn>
                              </p:par>
                            </p:childTnLst>
                          </p:cTn>
                        </p:par>
                      </p:childTnLst>
                    </p:cTn>
                  </p:par>
                  <p:par>
                    <p:cTn id="34" fill="hold">
                      <p:stCondLst>
                        <p:cond delay="indefinite"/>
                      </p:stCondLst>
                      <p:childTnLst>
                        <p:par>
                          <p:cTn id="35" fill="hold">
                            <p:stCondLst>
                              <p:cond delay="0"/>
                            </p:stCondLst>
                            <p:childTnLst>
                              <p:par>
                                <p:cTn id="36" presetID="14" presetClass="entr" presetSubtype="10" fill="hold" nodeType="clickEffect">
                                  <p:stCondLst>
                                    <p:cond delay="0"/>
                                  </p:stCondLst>
                                  <p:childTnLst>
                                    <p:set>
                                      <p:cBhvr>
                                        <p:cTn id="37" dur="1" fill="hold">
                                          <p:stCondLst>
                                            <p:cond delay="0"/>
                                          </p:stCondLst>
                                        </p:cTn>
                                        <p:tgtEl>
                                          <p:spTgt spid="9">
                                            <p:txEl>
                                              <p:pRg st="9" end="9"/>
                                            </p:txEl>
                                          </p:spTgt>
                                        </p:tgtEl>
                                        <p:attrNameLst>
                                          <p:attrName>style.visibility</p:attrName>
                                        </p:attrNameLst>
                                      </p:cBhvr>
                                      <p:to>
                                        <p:strVal val="visible"/>
                                      </p:to>
                                    </p:set>
                                    <p:animEffect transition="in" filter="randombar(horizontal)">
                                      <p:cBhvr>
                                        <p:cTn id="38" dur="500"/>
                                        <p:tgtEl>
                                          <p:spTgt spid="9">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EFE0B4-B11E-45E4-C0FE-AAF61810D9D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Content Placeholder 8">
                <a:extLst>
                  <a:ext uri="{FF2B5EF4-FFF2-40B4-BE49-F238E27FC236}">
                    <a16:creationId xmlns:a16="http://schemas.microsoft.com/office/drawing/2014/main" id="{6B4BFBB7-2472-62BC-EF9B-2897609CCDCD}"/>
                  </a:ext>
                </a:extLst>
              </p:cNvPr>
              <p:cNvSpPr>
                <a:spLocks noGrp="1"/>
              </p:cNvSpPr>
              <p:nvPr>
                <p:ph idx="1"/>
              </p:nvPr>
            </p:nvSpPr>
            <p:spPr/>
            <p:txBody>
              <a:bodyPr anchor="ctr">
                <a:normAutofit/>
              </a:bodyPr>
              <a:lstStyle/>
              <a:p>
                <a:r>
                  <a:rPr lang="en-US" dirty="0">
                    <a:latin typeface="+mj-lt"/>
                  </a:rPr>
                  <a:t>Graph embedding</a:t>
                </a:r>
              </a:p>
              <a:p>
                <a:pPr lvl="1"/>
                <a:r>
                  <a:rPr lang="en-US" dirty="0">
                    <a:latin typeface="+mj-lt"/>
                  </a:rPr>
                  <a:t>Entity embedder: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𝑔</m:t>
                        </m:r>
                      </m:e>
                      <m:sub>
                        <m:r>
                          <a:rPr lang="en-US" b="0" i="1" smtClean="0">
                            <a:latin typeface="Cambria Math" panose="02040503050406030204" pitchFamily="18" charset="0"/>
                          </a:rPr>
                          <m:t>𝑉</m:t>
                        </m:r>
                      </m:sub>
                    </m:sSub>
                    <m:r>
                      <a:rPr lang="en-US" b="0" i="1" smtClean="0">
                        <a:latin typeface="Cambria Math" panose="02040503050406030204" pitchFamily="18" charset="0"/>
                      </a:rPr>
                      <m:t>:</m:t>
                    </m:r>
                    <m:r>
                      <a:rPr lang="en-US" b="0" i="1" smtClean="0">
                        <a:latin typeface="Cambria Math" panose="02040503050406030204" pitchFamily="18" charset="0"/>
                      </a:rPr>
                      <m:t>𝑉</m:t>
                    </m:r>
                    <m:r>
                      <a:rPr lang="en-US" b="0" i="1" smtClean="0">
                        <a:latin typeface="Cambria Math" panose="02040503050406030204" pitchFamily="18" charset="0"/>
                      </a:rPr>
                      <m:t>→</m:t>
                    </m:r>
                    <m:r>
                      <a:rPr lang="en-US" b="0" i="1" smtClean="0">
                        <a:latin typeface="Cambria Math" panose="02040503050406030204" pitchFamily="18" charset="0"/>
                      </a:rPr>
                      <m:t>ℰ</m:t>
                    </m:r>
                  </m:oMath>
                </a14:m>
                <a:endParaRPr lang="en-US" dirty="0">
                  <a:latin typeface="+mj-lt"/>
                </a:endParaRPr>
              </a:p>
              <a:p>
                <a:pPr lvl="1"/>
                <a:r>
                  <a:rPr lang="en-US" dirty="0">
                    <a:latin typeface="+mj-lt"/>
                  </a:rPr>
                  <a:t>Relation embedder: </a:t>
                </a:r>
                <a14:m>
                  <m:oMath xmlns:m="http://schemas.openxmlformats.org/officeDocument/2006/math">
                    <m:sSub>
                      <m:sSubPr>
                        <m:ctrlPr>
                          <a:rPr lang="en-US" i="1" smtClean="0">
                            <a:latin typeface="Cambria Math" panose="02040503050406030204" pitchFamily="18" charset="0"/>
                          </a:rPr>
                        </m:ctrlPr>
                      </m:sSubPr>
                      <m:e>
                        <m:r>
                          <a:rPr lang="en-US" i="1">
                            <a:latin typeface="Cambria Math" panose="02040503050406030204" pitchFamily="18" charset="0"/>
                          </a:rPr>
                          <m:t>𝑔</m:t>
                        </m:r>
                      </m:e>
                      <m:sub>
                        <m:r>
                          <a:rPr lang="en-US" b="0" i="1" smtClean="0">
                            <a:latin typeface="Cambria Math" panose="02040503050406030204" pitchFamily="18" charset="0"/>
                          </a:rPr>
                          <m:t>𝑅</m:t>
                        </m:r>
                      </m:sub>
                    </m:sSub>
                    <m:r>
                      <a:rPr lang="en-US" i="1">
                        <a:latin typeface="Cambria Math" panose="02040503050406030204" pitchFamily="18" charset="0"/>
                      </a:rPr>
                      <m:t>:</m:t>
                    </m:r>
                    <m:r>
                      <a:rPr lang="en-US" b="0" i="1" smtClean="0">
                        <a:latin typeface="Cambria Math" panose="02040503050406030204" pitchFamily="18" charset="0"/>
                      </a:rPr>
                      <m:t>𝑅</m:t>
                    </m:r>
                    <m:r>
                      <a:rPr lang="en-US" i="1">
                        <a:latin typeface="Cambria Math" panose="02040503050406030204" pitchFamily="18" charset="0"/>
                      </a:rPr>
                      <m:t>→</m:t>
                    </m:r>
                    <m:r>
                      <a:rPr lang="en-US" b="0" i="1" smtClean="0">
                        <a:latin typeface="Cambria Math" panose="02040503050406030204" pitchFamily="18" charset="0"/>
                      </a:rPr>
                      <m:t>ℛ</m:t>
                    </m:r>
                  </m:oMath>
                </a14:m>
                <a:endParaRPr lang="en-US" dirty="0">
                  <a:latin typeface="+mj-lt"/>
                </a:endParaRPr>
              </a:p>
              <a:p>
                <a:r>
                  <a:rPr lang="en-US" dirty="0">
                    <a:latin typeface="+mj-lt"/>
                  </a:rPr>
                  <a:t>Query embedding</a:t>
                </a:r>
              </a:p>
              <a:p>
                <a:pPr lvl="1"/>
                <a:r>
                  <a:rPr lang="en-US" dirty="0">
                    <a:latin typeface="+mj-lt"/>
                  </a:rPr>
                  <a:t>Projection embedder: </a:t>
                </a:r>
                <a14:m>
                  <m:oMath xmlns:m="http://schemas.openxmlformats.org/officeDocument/2006/math">
                    <m:sSub>
                      <m:sSubPr>
                        <m:ctrlPr>
                          <a:rPr lang="en-US" i="1" smtClean="0">
                            <a:latin typeface="Cambria Math" panose="02040503050406030204" pitchFamily="18" charset="0"/>
                          </a:rPr>
                        </m:ctrlPr>
                      </m:sSubPr>
                      <m:e>
                        <m:r>
                          <a:rPr lang="en-US" i="1">
                            <a:latin typeface="Cambria Math" panose="02040503050406030204" pitchFamily="18" charset="0"/>
                          </a:rPr>
                          <m:t>𝑔</m:t>
                        </m:r>
                      </m:e>
                      <m:sub>
                        <m:r>
                          <a:rPr lang="en-US" b="0" i="1" smtClean="0">
                            <a:latin typeface="Cambria Math" panose="02040503050406030204" pitchFamily="18" charset="0"/>
                          </a:rPr>
                          <m:t>𝑃</m:t>
                        </m:r>
                      </m:sub>
                    </m:sSub>
                    <m:r>
                      <a:rPr lang="en-US" i="1">
                        <a:latin typeface="Cambria Math" panose="02040503050406030204" pitchFamily="18" charset="0"/>
                      </a:rPr>
                      <m:t>:</m:t>
                    </m:r>
                    <m:r>
                      <a:rPr lang="en-US" b="0" i="1" smtClean="0">
                        <a:latin typeface="Cambria Math" panose="02040503050406030204" pitchFamily="18" charset="0"/>
                      </a:rPr>
                      <m:t>ℰ</m:t>
                    </m:r>
                    <m:r>
                      <a:rPr lang="en-US" b="0" i="1" smtClean="0">
                        <a:latin typeface="Cambria Math" panose="02040503050406030204" pitchFamily="18" charset="0"/>
                      </a:rPr>
                      <m:t>×</m:t>
                    </m:r>
                    <m:r>
                      <a:rPr lang="en-US" b="0" i="1" smtClean="0">
                        <a:latin typeface="Cambria Math" panose="02040503050406030204" pitchFamily="18" charset="0"/>
                      </a:rPr>
                      <m:t>ℛ</m:t>
                    </m:r>
                    <m:r>
                      <a:rPr lang="en-US" i="1">
                        <a:latin typeface="Cambria Math" panose="02040503050406030204" pitchFamily="18" charset="0"/>
                      </a:rPr>
                      <m:t>→</m:t>
                    </m:r>
                    <m:r>
                      <a:rPr lang="en-US" b="0" i="1" smtClean="0">
                        <a:latin typeface="Cambria Math" panose="02040503050406030204" pitchFamily="18" charset="0"/>
                      </a:rPr>
                      <m:t>ℰ</m:t>
                    </m:r>
                  </m:oMath>
                </a14:m>
                <a:endParaRPr lang="en-US" dirty="0">
                  <a:latin typeface="+mj-lt"/>
                </a:endParaRPr>
              </a:p>
              <a:p>
                <a:pPr lvl="1"/>
                <a:r>
                  <a:rPr lang="en-US" dirty="0">
                    <a:latin typeface="+mj-lt"/>
                  </a:rPr>
                  <a:t>Intersection embedder: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b="0" i="1" smtClean="0">
                            <a:latin typeface="Cambria Math" panose="02040503050406030204" pitchFamily="18" charset="0"/>
                          </a:rPr>
                          <m:t>𝐼</m:t>
                        </m:r>
                      </m:sub>
                    </m:sSub>
                    <m:r>
                      <a:rPr lang="en-US" i="1">
                        <a:latin typeface="Cambria Math" panose="02040503050406030204" pitchFamily="18" charset="0"/>
                      </a:rPr>
                      <m:t>:</m:t>
                    </m:r>
                    <m:r>
                      <a:rPr lang="en-US" i="1">
                        <a:latin typeface="Cambria Math" panose="02040503050406030204" pitchFamily="18" charset="0"/>
                      </a:rPr>
                      <m:t>ℰ</m:t>
                    </m:r>
                    <m:r>
                      <a:rPr lang="en-US" i="1">
                        <a:latin typeface="Cambria Math" panose="02040503050406030204" pitchFamily="18" charset="0"/>
                      </a:rPr>
                      <m:t>×</m:t>
                    </m:r>
                    <m:r>
                      <a:rPr lang="en-US" i="1">
                        <a:latin typeface="Cambria Math" panose="02040503050406030204" pitchFamily="18" charset="0"/>
                      </a:rPr>
                      <m:t>ℰ</m:t>
                    </m:r>
                    <m:r>
                      <a:rPr lang="en-US" b="0" i="1" smtClean="0">
                        <a:latin typeface="Cambria Math" panose="02040503050406030204" pitchFamily="18" charset="0"/>
                      </a:rPr>
                      <m:t>×…</m:t>
                    </m:r>
                    <m:r>
                      <a:rPr lang="en-US" i="1">
                        <a:latin typeface="Cambria Math" panose="02040503050406030204" pitchFamily="18" charset="0"/>
                      </a:rPr>
                      <m:t>→</m:t>
                    </m:r>
                    <m:r>
                      <a:rPr lang="en-US" i="1">
                        <a:latin typeface="Cambria Math" panose="02040503050406030204" pitchFamily="18" charset="0"/>
                      </a:rPr>
                      <m:t>ℰ</m:t>
                    </m:r>
                  </m:oMath>
                </a14:m>
                <a:endParaRPr lang="en-US" dirty="0">
                  <a:latin typeface="+mj-lt"/>
                </a:endParaRPr>
              </a:p>
              <a:p>
                <a:r>
                  <a:rPr lang="en-US" dirty="0">
                    <a:latin typeface="+mj-lt"/>
                  </a:rPr>
                  <a:t>Scoring</a:t>
                </a:r>
              </a:p>
              <a:p>
                <a:pPr lvl="1"/>
                <a14:m>
                  <m:oMath xmlns:m="http://schemas.openxmlformats.org/officeDocument/2006/math">
                    <m:r>
                      <a:rPr lang="en-US" b="0" i="0" smtClean="0">
                        <a:latin typeface="Cambria Math" panose="02040503050406030204" pitchFamily="18" charset="0"/>
                      </a:rPr>
                      <m:t>𝑓</m:t>
                    </m:r>
                    <m:r>
                      <a:rPr lang="en-US" b="0" i="0" smtClean="0">
                        <a:latin typeface="Cambria Math" panose="02040503050406030204" pitchFamily="18" charset="0"/>
                      </a:rPr>
                      <m:t>:</m:t>
                    </m:r>
                    <m:r>
                      <a:rPr lang="en-US" i="0">
                        <a:latin typeface="Cambria Math" panose="02040503050406030204" pitchFamily="18" charset="0"/>
                      </a:rPr>
                      <m:t>ℰ</m:t>
                    </m:r>
                    <m:r>
                      <a:rPr lang="en-US" i="0">
                        <a:latin typeface="Cambria Math" panose="02040503050406030204" pitchFamily="18" charset="0"/>
                      </a:rPr>
                      <m:t>×</m:t>
                    </m:r>
                    <m:r>
                      <a:rPr lang="en-US" i="0">
                        <a:latin typeface="Cambria Math" panose="02040503050406030204" pitchFamily="18" charset="0"/>
                      </a:rPr>
                      <m:t>ℰ</m:t>
                    </m:r>
                    <m:r>
                      <a:rPr lang="en-US" i="0">
                        <a:latin typeface="Cambria Math" panose="02040503050406030204" pitchFamily="18" charset="0"/>
                      </a:rPr>
                      <m:t>→</m:t>
                    </m:r>
                    <m:r>
                      <a:rPr lang="en-US" b="0" i="0" smtClean="0">
                        <a:latin typeface="Cambria Math" panose="02040503050406030204" pitchFamily="18" charset="0"/>
                      </a:rPr>
                      <m:t>ℝ</m:t>
                    </m:r>
                  </m:oMath>
                </a14:m>
                <a:endParaRPr lang="en-US" dirty="0">
                  <a:latin typeface="+mj-lt"/>
                </a:endParaRPr>
              </a:p>
              <a:p>
                <a:r>
                  <a:rPr lang="en-US" dirty="0">
                    <a:latin typeface="+mj-lt"/>
                  </a:rPr>
                  <a:t>Contrastive loss</a:t>
                </a:r>
              </a:p>
              <a:p>
                <a:pPr lvl="1"/>
                <a14:m>
                  <m:oMath xmlns:m="http://schemas.openxmlformats.org/officeDocument/2006/math">
                    <m:r>
                      <a:rPr lang="en-US" b="0" i="1" smtClean="0">
                        <a:latin typeface="Cambria Math" panose="02040503050406030204" pitchFamily="18" charset="0"/>
                      </a:rPr>
                      <m:t>ℒ</m:t>
                    </m:r>
                    <m:d>
                      <m:dPr>
                        <m:ctrlPr>
                          <a:rPr lang="en-US" b="0" i="1" smtClean="0">
                            <a:latin typeface="Cambria Math" panose="02040503050406030204" pitchFamily="18" charset="0"/>
                          </a:rPr>
                        </m:ctrlPr>
                      </m:dPr>
                      <m:e>
                        <m:r>
                          <a:rPr lang="en-US" b="1" i="0" smtClean="0">
                            <a:latin typeface="Cambria Math" panose="02040503050406030204" pitchFamily="18" charset="0"/>
                          </a:rPr>
                          <m:t>𝐪</m:t>
                        </m:r>
                        <m:r>
                          <a:rPr lang="en-US" b="0" i="1" smtClean="0">
                            <a:latin typeface="Cambria Math" panose="02040503050406030204" pitchFamily="18" charset="0"/>
                          </a:rPr>
                          <m:t>,</m:t>
                        </m:r>
                        <m:r>
                          <a:rPr lang="en-US" b="1" i="0" smtClean="0">
                            <a:latin typeface="Cambria Math" panose="02040503050406030204" pitchFamily="18" charset="0"/>
                          </a:rPr>
                          <m:t>𝐚</m:t>
                        </m:r>
                        <m:r>
                          <a:rPr lang="en-US" b="0" i="1" smtClean="0">
                            <a:latin typeface="Cambria Math" panose="02040503050406030204" pitchFamily="18" charset="0"/>
                          </a:rPr>
                          <m:t>,</m:t>
                        </m:r>
                        <m:r>
                          <m:rPr>
                            <m:lit/>
                          </m:rPr>
                          <a:rPr lang="en-US" b="0" i="1" smtClean="0">
                            <a:latin typeface="Cambria Math" panose="02040503050406030204" pitchFamily="18" charset="0"/>
                          </a:rPr>
                          <m:t>{</m:t>
                        </m:r>
                        <m:sSub>
                          <m:sSubPr>
                            <m:ctrlPr>
                              <a:rPr lang="en-US" b="0" i="1" smtClean="0">
                                <a:latin typeface="Cambria Math" panose="02040503050406030204" pitchFamily="18" charset="0"/>
                              </a:rPr>
                            </m:ctrlPr>
                          </m:sSubPr>
                          <m:e>
                            <m:sSup>
                              <m:sSupPr>
                                <m:ctrlPr>
                                  <a:rPr lang="en-US" b="0" i="1" smtClean="0">
                                    <a:latin typeface="Cambria Math" panose="02040503050406030204" pitchFamily="18" charset="0"/>
                                  </a:rPr>
                                </m:ctrlPr>
                              </m:sSupPr>
                              <m:e>
                                <m:r>
                                  <a:rPr lang="en-US" b="1" i="0" smtClean="0">
                                    <a:latin typeface="Cambria Math" panose="02040503050406030204" pitchFamily="18" charset="0"/>
                                  </a:rPr>
                                  <m:t>𝐚</m:t>
                                </m:r>
                              </m:e>
                              <m:sup>
                                <m:r>
                                  <a:rPr lang="en-US" b="0" i="1" smtClean="0">
                                    <a:latin typeface="Cambria Math" panose="02040503050406030204" pitchFamily="18" charset="0"/>
                                  </a:rPr>
                                  <m:t>′</m:t>
                                </m:r>
                              </m:sup>
                            </m:sSup>
                          </m:e>
                          <m:sub>
                            <m:r>
                              <a:rPr lang="en-US" b="0" i="1" smtClean="0">
                                <a:latin typeface="Cambria Math" panose="02040503050406030204" pitchFamily="18" charset="0"/>
                              </a:rPr>
                              <m:t>𝑖</m:t>
                            </m:r>
                          </m:sub>
                        </m:sSub>
                        <m:sSubSup>
                          <m:sSubSupPr>
                            <m:ctrlPr>
                              <a:rPr lang="en-US" b="0" i="1" smtClean="0">
                                <a:latin typeface="Cambria Math" panose="02040503050406030204" pitchFamily="18" charset="0"/>
                              </a:rPr>
                            </m:ctrlPr>
                          </m:sSubSupPr>
                          <m:e>
                            <m:r>
                              <m:rPr>
                                <m:lit/>
                              </m:rPr>
                              <a:rPr lang="en-US" b="0" i="1" smtClean="0">
                                <a:latin typeface="Cambria Math" panose="02040503050406030204" pitchFamily="18" charset="0"/>
                              </a:rPr>
                              <m:t>}</m:t>
                            </m:r>
                          </m:e>
                          <m:sub>
                            <m:r>
                              <a:rPr lang="en-US" b="0" i="1" smtClean="0">
                                <a:latin typeface="Cambria Math" panose="02040503050406030204" pitchFamily="18" charset="0"/>
                              </a:rPr>
                              <m:t>𝑖</m:t>
                            </m:r>
                            <m:r>
                              <a:rPr lang="en-US" b="0" i="1" smtClean="0">
                                <a:latin typeface="Cambria Math" panose="02040503050406030204" pitchFamily="18" charset="0"/>
                              </a:rPr>
                              <m:t>=1</m:t>
                            </m:r>
                          </m:sub>
                          <m:sup>
                            <m:r>
                              <a:rPr lang="en-US" b="0" i="1" smtClean="0">
                                <a:latin typeface="Cambria Math" panose="02040503050406030204" pitchFamily="18" charset="0"/>
                              </a:rPr>
                              <m:t>𝑚</m:t>
                            </m:r>
                          </m:sup>
                        </m:sSubSup>
                      </m:e>
                    </m:d>
                    <m: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r>
                          <m:rPr>
                            <m:sty m:val="p"/>
                          </m:rPr>
                          <a:rPr lang="en-US" b="0" i="0" smtClean="0">
                            <a:latin typeface="Cambria Math" panose="02040503050406030204" pitchFamily="18" charset="0"/>
                          </a:rPr>
                          <m:t>log</m:t>
                        </m:r>
                      </m:fName>
                      <m:e>
                        <m:d>
                          <m:dPr>
                            <m:ctrlPr>
                              <a:rPr lang="en-US" b="0" i="1" smtClean="0">
                                <a:latin typeface="Cambria Math" panose="02040503050406030204" pitchFamily="18" charset="0"/>
                              </a:rPr>
                            </m:ctrlPr>
                          </m:dPr>
                          <m:e>
                            <m:r>
                              <a:rPr lang="en-US" b="0" i="1" smtClean="0">
                                <a:latin typeface="Cambria Math" panose="02040503050406030204" pitchFamily="18" charset="0"/>
                              </a:rPr>
                              <m:t>𝜎</m:t>
                            </m:r>
                            <m:d>
                              <m:dPr>
                                <m:ctrlPr>
                                  <a:rPr lang="en-US" b="0" i="1" smtClean="0">
                                    <a:latin typeface="Cambria Math" panose="02040503050406030204" pitchFamily="18" charset="0"/>
                                  </a:rPr>
                                </m:ctrlPr>
                              </m:dPr>
                              <m:e>
                                <m:r>
                                  <a:rPr lang="en-US" b="0" i="1" smtClean="0">
                                    <a:latin typeface="Cambria Math" panose="02040503050406030204" pitchFamily="18" charset="0"/>
                                  </a:rPr>
                                  <m:t>𝑓</m:t>
                                </m:r>
                                <m:d>
                                  <m:dPr>
                                    <m:ctrlPr>
                                      <a:rPr lang="en-US" b="0" i="1" smtClean="0">
                                        <a:latin typeface="Cambria Math" panose="02040503050406030204" pitchFamily="18" charset="0"/>
                                      </a:rPr>
                                    </m:ctrlPr>
                                  </m:dPr>
                                  <m:e>
                                    <m:r>
                                      <a:rPr lang="en-US" b="1" i="0" smtClean="0">
                                        <a:latin typeface="Cambria Math" panose="02040503050406030204" pitchFamily="18" charset="0"/>
                                      </a:rPr>
                                      <m:t>𝐪</m:t>
                                    </m:r>
                                    <m:r>
                                      <a:rPr lang="en-US" b="0" i="1" smtClean="0">
                                        <a:latin typeface="Cambria Math" panose="02040503050406030204" pitchFamily="18" charset="0"/>
                                      </a:rPr>
                                      <m:t>,</m:t>
                                    </m:r>
                                    <m:r>
                                      <a:rPr lang="en-US" b="1" i="0" smtClean="0">
                                        <a:latin typeface="Cambria Math" panose="02040503050406030204" pitchFamily="18" charset="0"/>
                                      </a:rPr>
                                      <m:t>𝐚</m:t>
                                    </m:r>
                                  </m:e>
                                </m:d>
                              </m:e>
                            </m:d>
                          </m:e>
                        </m:d>
                      </m:e>
                    </m:func>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𝑚</m:t>
                        </m:r>
                      </m:den>
                    </m:f>
                    <m:nary>
                      <m:naryPr>
                        <m:chr m:val="∑"/>
                        <m:ctrlPr>
                          <a:rPr lang="en-US" b="0" i="1" smtClean="0">
                            <a:latin typeface="Cambria Math" panose="02040503050406030204" pitchFamily="18" charset="0"/>
                          </a:rPr>
                        </m:ctrlPr>
                      </m:naryPr>
                      <m:sub>
                        <m:r>
                          <a:rPr lang="en-US" b="0" i="1" smtClean="0">
                            <a:latin typeface="Cambria Math" panose="02040503050406030204" pitchFamily="18" charset="0"/>
                          </a:rPr>
                          <m:t>𝑖</m:t>
                        </m:r>
                        <m:r>
                          <a:rPr lang="en-US" b="0" i="1" smtClean="0">
                            <a:latin typeface="Cambria Math" panose="02040503050406030204" pitchFamily="18" charset="0"/>
                          </a:rPr>
                          <m:t>=1</m:t>
                        </m:r>
                      </m:sub>
                      <m:sup>
                        <m:r>
                          <a:rPr lang="en-US" b="0" i="1" smtClean="0">
                            <a:latin typeface="Cambria Math" panose="02040503050406030204" pitchFamily="18" charset="0"/>
                          </a:rPr>
                          <m:t>𝑚</m:t>
                        </m:r>
                      </m:sup>
                      <m:e>
                        <m:func>
                          <m:funcPr>
                            <m:ctrlPr>
                              <a:rPr lang="en-US" i="1">
                                <a:latin typeface="Cambria Math" panose="02040503050406030204" pitchFamily="18" charset="0"/>
                              </a:rPr>
                            </m:ctrlPr>
                          </m:funcPr>
                          <m:fName>
                            <m:r>
                              <m:rPr>
                                <m:sty m:val="p"/>
                              </m:rPr>
                              <a:rPr lang="en-US">
                                <a:latin typeface="Cambria Math" panose="02040503050406030204" pitchFamily="18" charset="0"/>
                              </a:rPr>
                              <m:t>log</m:t>
                            </m:r>
                          </m:fName>
                          <m:e>
                            <m:d>
                              <m:dPr>
                                <m:ctrlPr>
                                  <a:rPr lang="en-US" i="1">
                                    <a:latin typeface="Cambria Math" panose="02040503050406030204" pitchFamily="18" charset="0"/>
                                  </a:rPr>
                                </m:ctrlPr>
                              </m:dPr>
                              <m:e>
                                <m:r>
                                  <a:rPr lang="en-US" i="1">
                                    <a:latin typeface="Cambria Math" panose="02040503050406030204" pitchFamily="18" charset="0"/>
                                  </a:rPr>
                                  <m:t>𝜎</m:t>
                                </m:r>
                                <m:d>
                                  <m:dPr>
                                    <m:ctrlPr>
                                      <a:rPr lang="en-US" i="1">
                                        <a:latin typeface="Cambria Math" panose="02040503050406030204" pitchFamily="18" charset="0"/>
                                      </a:rPr>
                                    </m:ctrlPr>
                                  </m:dPr>
                                  <m:e>
                                    <m:r>
                                      <a:rPr lang="en-US" i="1">
                                        <a:latin typeface="Cambria Math" panose="02040503050406030204" pitchFamily="18" charset="0"/>
                                      </a:rPr>
                                      <m:t>−</m:t>
                                    </m:r>
                                    <m:r>
                                      <a:rPr lang="en-US" i="1">
                                        <a:latin typeface="Cambria Math" panose="02040503050406030204" pitchFamily="18" charset="0"/>
                                      </a:rPr>
                                      <m:t>𝑓</m:t>
                                    </m:r>
                                    <m:d>
                                      <m:dPr>
                                        <m:ctrlPr>
                                          <a:rPr lang="en-US" i="1">
                                            <a:latin typeface="Cambria Math" panose="02040503050406030204" pitchFamily="18" charset="0"/>
                                          </a:rPr>
                                        </m:ctrlPr>
                                      </m:dPr>
                                      <m:e>
                                        <m:r>
                                          <a:rPr lang="en-US" b="1" i="0">
                                            <a:latin typeface="Cambria Math" panose="02040503050406030204" pitchFamily="18" charset="0"/>
                                          </a:rPr>
                                          <m:t>𝐪</m:t>
                                        </m:r>
                                        <m:r>
                                          <a:rPr lang="en-US" i="1">
                                            <a:latin typeface="Cambria Math" panose="02040503050406030204" pitchFamily="18" charset="0"/>
                                          </a:rPr>
                                          <m:t>,</m:t>
                                        </m:r>
                                        <m:sSubSup>
                                          <m:sSubSupPr>
                                            <m:ctrlPr>
                                              <a:rPr lang="en-US" i="1">
                                                <a:latin typeface="Cambria Math" panose="02040503050406030204" pitchFamily="18" charset="0"/>
                                              </a:rPr>
                                            </m:ctrlPr>
                                          </m:sSubSupPr>
                                          <m:e>
                                            <m:r>
                                              <a:rPr lang="en-US" b="1" i="0">
                                                <a:latin typeface="Cambria Math" panose="02040503050406030204" pitchFamily="18" charset="0"/>
                                              </a:rPr>
                                              <m:t>𝐚</m:t>
                                            </m:r>
                                          </m:e>
                                          <m:sub>
                                            <m:r>
                                              <a:rPr lang="en-US" i="1">
                                                <a:latin typeface="Cambria Math" panose="02040503050406030204" pitchFamily="18" charset="0"/>
                                              </a:rPr>
                                              <m:t>𝑖</m:t>
                                            </m:r>
                                          </m:sub>
                                          <m:sup>
                                            <m:r>
                                              <a:rPr lang="en-US" i="1">
                                                <a:latin typeface="Cambria Math" panose="02040503050406030204" pitchFamily="18" charset="0"/>
                                              </a:rPr>
                                              <m:t>′</m:t>
                                            </m:r>
                                          </m:sup>
                                        </m:sSubSup>
                                      </m:e>
                                    </m:d>
                                  </m:e>
                                </m:d>
                              </m:e>
                            </m:d>
                          </m:e>
                        </m:func>
                      </m:e>
                    </m:nary>
                  </m:oMath>
                </a14:m>
                <a:endParaRPr lang="en-US" dirty="0">
                  <a:latin typeface="+mj-lt"/>
                </a:endParaRPr>
              </a:p>
            </p:txBody>
          </p:sp>
        </mc:Choice>
        <mc:Fallback xmlns="">
          <p:sp>
            <p:nvSpPr>
              <p:cNvPr id="9" name="Content Placeholder 8">
                <a:extLst>
                  <a:ext uri="{FF2B5EF4-FFF2-40B4-BE49-F238E27FC236}">
                    <a16:creationId xmlns:a16="http://schemas.microsoft.com/office/drawing/2014/main" id="{6B4BFBB7-2472-62BC-EF9B-2897609CCDCD}"/>
                  </a:ext>
                </a:extLst>
              </p:cNvPr>
              <p:cNvSpPr>
                <a:spLocks noGrp="1" noRot="1" noChangeAspect="1" noMove="1" noResize="1" noEditPoints="1" noAdjustHandles="1" noChangeArrowheads="1" noChangeShapeType="1" noTextEdit="1"/>
              </p:cNvSpPr>
              <p:nvPr>
                <p:ph idx="1"/>
              </p:nvPr>
            </p:nvSpPr>
            <p:spPr>
              <a:blipFill>
                <a:blip r:embed="rId3"/>
                <a:stretch>
                  <a:fillRect b="-11532"/>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FA33E9A7-8A03-F166-1FB6-6AEC9A7B2A8C}"/>
              </a:ext>
            </a:extLst>
          </p:cNvPr>
          <p:cNvSpPr>
            <a:spLocks noGrp="1"/>
          </p:cNvSpPr>
          <p:nvPr>
            <p:ph type="title"/>
          </p:nvPr>
        </p:nvSpPr>
        <p:spPr>
          <a:xfrm>
            <a:off x="904875" y="131032"/>
            <a:ext cx="7207279" cy="1072753"/>
          </a:xfrm>
        </p:spPr>
        <p:txBody>
          <a:bodyPr>
            <a:normAutofit fontScale="90000"/>
          </a:bodyPr>
          <a:lstStyle/>
          <a:p>
            <a:r>
              <a:rPr lang="en-US" dirty="0"/>
              <a:t>3.1	Community-Informed Graph Embeddings</a:t>
            </a:r>
            <a:br>
              <a:rPr lang="en-US" dirty="0"/>
            </a:br>
            <a:r>
              <a:rPr lang="en-US" sz="2400" b="0" i="1" dirty="0"/>
              <a:t>Background - Representation theory of Knowledge Graph Reasoning</a:t>
            </a:r>
            <a:endParaRPr lang="en-GB" sz="2400" b="0" i="1" dirty="0"/>
          </a:p>
        </p:txBody>
      </p:sp>
      <p:sp>
        <p:nvSpPr>
          <p:cNvPr id="5" name="Date Placeholder 4">
            <a:extLst>
              <a:ext uri="{FF2B5EF4-FFF2-40B4-BE49-F238E27FC236}">
                <a16:creationId xmlns:a16="http://schemas.microsoft.com/office/drawing/2014/main" id="{C6107C6E-215C-BB39-87A6-36BA73801426}"/>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8EE733F2-27FF-92D2-6102-921B11AD3DD2}"/>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F0BB404C-B52E-F2C0-0CD4-199EDACECF6F}"/>
              </a:ext>
            </a:extLst>
          </p:cNvPr>
          <p:cNvSpPr>
            <a:spLocks noGrp="1"/>
          </p:cNvSpPr>
          <p:nvPr>
            <p:ph type="sldNum" sz="quarter" idx="12"/>
          </p:nvPr>
        </p:nvSpPr>
        <p:spPr/>
        <p:txBody>
          <a:bodyPr/>
          <a:lstStyle/>
          <a:p>
            <a:fld id="{E1E1CD7C-2161-7D43-862E-CE4C333CD873}" type="slidenum">
              <a:rPr lang="fr-FR" smtClean="0"/>
              <a:pPr/>
              <a:t>13</a:t>
            </a:fld>
            <a:endParaRPr lang="fr-FR" dirty="0"/>
          </a:p>
        </p:txBody>
      </p:sp>
    </p:spTree>
    <p:extLst>
      <p:ext uri="{BB962C8B-B14F-4D97-AF65-F5344CB8AC3E}">
        <p14:creationId xmlns:p14="http://schemas.microsoft.com/office/powerpoint/2010/main" val="19501459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4" presetClass="entr" presetSubtype="10" fill="hold" nodeType="clickEffect">
                                  <p:stCondLst>
                                    <p:cond delay="0"/>
                                  </p:stCondLst>
                                  <p:childTnLst>
                                    <p:set>
                                      <p:cBhvr>
                                        <p:cTn id="17"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8" dur="500"/>
                                        <p:tgtEl>
                                          <p:spTgt spid="9">
                                            <p:txEl>
                                              <p:pRg st="3" end="3"/>
                                            </p:txEl>
                                          </p:spTgt>
                                        </p:tgtEl>
                                      </p:cBhvr>
                                    </p:animEffect>
                                  </p:childTnLst>
                                </p:cTn>
                              </p:par>
                              <p:par>
                                <p:cTn id="19" presetID="14" presetClass="entr" presetSubtype="10" fill="hold" nodeType="withEffect">
                                  <p:stCondLst>
                                    <p:cond delay="0"/>
                                  </p:stCondLst>
                                  <p:childTnLst>
                                    <p:set>
                                      <p:cBhvr>
                                        <p:cTn id="20" dur="1" fill="hold">
                                          <p:stCondLst>
                                            <p:cond delay="0"/>
                                          </p:stCondLst>
                                        </p:cTn>
                                        <p:tgtEl>
                                          <p:spTgt spid="9">
                                            <p:txEl>
                                              <p:pRg st="4" end="4"/>
                                            </p:txEl>
                                          </p:spTgt>
                                        </p:tgtEl>
                                        <p:attrNameLst>
                                          <p:attrName>style.visibility</p:attrName>
                                        </p:attrNameLst>
                                      </p:cBhvr>
                                      <p:to>
                                        <p:strVal val="visible"/>
                                      </p:to>
                                    </p:set>
                                    <p:animEffect transition="in" filter="randombar(horizontal)">
                                      <p:cBhvr>
                                        <p:cTn id="21" dur="500"/>
                                        <p:tgtEl>
                                          <p:spTgt spid="9">
                                            <p:txEl>
                                              <p:pRg st="4" end="4"/>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4" dur="500"/>
                                        <p:tgtEl>
                                          <p:spTgt spid="9">
                                            <p:txEl>
                                              <p:pRg st="5" end="5"/>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14" presetClass="entr" presetSubtype="10" fill="hold" nodeType="clickEffect">
                                  <p:stCondLst>
                                    <p:cond delay="0"/>
                                  </p:stCondLst>
                                  <p:childTnLst>
                                    <p:set>
                                      <p:cBhvr>
                                        <p:cTn id="28" dur="1" fill="hold">
                                          <p:stCondLst>
                                            <p:cond delay="0"/>
                                          </p:stCondLst>
                                        </p:cTn>
                                        <p:tgtEl>
                                          <p:spTgt spid="9">
                                            <p:txEl>
                                              <p:pRg st="6" end="6"/>
                                            </p:txEl>
                                          </p:spTgt>
                                        </p:tgtEl>
                                        <p:attrNameLst>
                                          <p:attrName>style.visibility</p:attrName>
                                        </p:attrNameLst>
                                      </p:cBhvr>
                                      <p:to>
                                        <p:strVal val="visible"/>
                                      </p:to>
                                    </p:set>
                                    <p:animEffect transition="in" filter="randombar(horizontal)">
                                      <p:cBhvr>
                                        <p:cTn id="29" dur="500"/>
                                        <p:tgtEl>
                                          <p:spTgt spid="9">
                                            <p:txEl>
                                              <p:pRg st="6" end="6"/>
                                            </p:txEl>
                                          </p:spTgt>
                                        </p:tgtEl>
                                      </p:cBhvr>
                                    </p:animEffect>
                                  </p:childTnLst>
                                </p:cTn>
                              </p:par>
                              <p:par>
                                <p:cTn id="30" presetID="14" presetClass="entr" presetSubtype="10" fill="hold" nodeType="withEffect">
                                  <p:stCondLst>
                                    <p:cond delay="0"/>
                                  </p:stCondLst>
                                  <p:childTnLst>
                                    <p:set>
                                      <p:cBhvr>
                                        <p:cTn id="31"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2" dur="500"/>
                                        <p:tgtEl>
                                          <p:spTgt spid="9">
                                            <p:txEl>
                                              <p:pRg st="7" end="7"/>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4" presetClass="entr" presetSubtype="10" fill="hold" nodeType="clickEffect">
                                  <p:stCondLst>
                                    <p:cond delay="0"/>
                                  </p:stCondLst>
                                  <p:childTnLst>
                                    <p:set>
                                      <p:cBhvr>
                                        <p:cTn id="36" dur="1" fill="hold">
                                          <p:stCondLst>
                                            <p:cond delay="0"/>
                                          </p:stCondLst>
                                        </p:cTn>
                                        <p:tgtEl>
                                          <p:spTgt spid="9">
                                            <p:txEl>
                                              <p:pRg st="8" end="8"/>
                                            </p:txEl>
                                          </p:spTgt>
                                        </p:tgtEl>
                                        <p:attrNameLst>
                                          <p:attrName>style.visibility</p:attrName>
                                        </p:attrNameLst>
                                      </p:cBhvr>
                                      <p:to>
                                        <p:strVal val="visible"/>
                                      </p:to>
                                    </p:set>
                                    <p:animEffect transition="in" filter="randombar(horizontal)">
                                      <p:cBhvr>
                                        <p:cTn id="37" dur="500"/>
                                        <p:tgtEl>
                                          <p:spTgt spid="9">
                                            <p:txEl>
                                              <p:pRg st="8" end="8"/>
                                            </p:txEl>
                                          </p:spTgt>
                                        </p:tgtEl>
                                      </p:cBhvr>
                                    </p:animEffect>
                                  </p:childTnLst>
                                </p:cTn>
                              </p:par>
                              <p:par>
                                <p:cTn id="38" presetID="14" presetClass="entr" presetSubtype="10" fill="hold" nodeType="withEffect">
                                  <p:stCondLst>
                                    <p:cond delay="0"/>
                                  </p:stCondLst>
                                  <p:childTnLst>
                                    <p:set>
                                      <p:cBhvr>
                                        <p:cTn id="39" dur="1" fill="hold">
                                          <p:stCondLst>
                                            <p:cond delay="0"/>
                                          </p:stCondLst>
                                        </p:cTn>
                                        <p:tgtEl>
                                          <p:spTgt spid="9">
                                            <p:txEl>
                                              <p:pRg st="9" end="9"/>
                                            </p:txEl>
                                          </p:spTgt>
                                        </p:tgtEl>
                                        <p:attrNameLst>
                                          <p:attrName>style.visibility</p:attrName>
                                        </p:attrNameLst>
                                      </p:cBhvr>
                                      <p:to>
                                        <p:strVal val="visible"/>
                                      </p:to>
                                    </p:set>
                                    <p:animEffect transition="in" filter="randombar(horizontal)">
                                      <p:cBhvr>
                                        <p:cTn id="40" dur="500"/>
                                        <p:tgtEl>
                                          <p:spTgt spid="9">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75E942-1F6A-7BF0-C2F2-19E81F910042}"/>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9" name="Content Placeholder 8">
                <a:extLst>
                  <a:ext uri="{FF2B5EF4-FFF2-40B4-BE49-F238E27FC236}">
                    <a16:creationId xmlns:a16="http://schemas.microsoft.com/office/drawing/2014/main" id="{E777135A-8524-9FD9-45AA-1C6411B63AC5}"/>
                  </a:ext>
                </a:extLst>
              </p:cNvPr>
              <p:cNvSpPr>
                <a:spLocks noGrp="1"/>
              </p:cNvSpPr>
              <p:nvPr>
                <p:ph idx="1"/>
              </p:nvPr>
            </p:nvSpPr>
            <p:spPr/>
            <p:txBody>
              <a:bodyPr anchor="ctr">
                <a:normAutofit fontScale="92500" lnSpcReduction="10000"/>
              </a:bodyPr>
              <a:lstStyle/>
              <a:p>
                <a:r>
                  <a:rPr lang="en-US" dirty="0">
                    <a:latin typeface="+mj-lt"/>
                  </a:rPr>
                  <a:t>(COINs) </a:t>
                </a:r>
                <a:r>
                  <a:rPr lang="en-US" i="1" dirty="0">
                    <a:latin typeface="+mj-lt"/>
                  </a:rPr>
                  <a:t>Co</a:t>
                </a:r>
                <a:r>
                  <a:rPr lang="en-US" dirty="0">
                    <a:latin typeface="+mj-lt"/>
                  </a:rPr>
                  <a:t>mmunity-</a:t>
                </a:r>
                <a:r>
                  <a:rPr lang="en-US" i="1" dirty="0">
                    <a:latin typeface="+mj-lt"/>
                  </a:rPr>
                  <a:t>In</a:t>
                </a:r>
                <a:r>
                  <a:rPr lang="en-US" dirty="0">
                    <a:latin typeface="+mj-lt"/>
                  </a:rPr>
                  <a:t>spired Graph Embedding</a:t>
                </a:r>
                <a:r>
                  <a:rPr lang="en-US" i="1" dirty="0">
                    <a:latin typeface="+mj-lt"/>
                  </a:rPr>
                  <a:t>s </a:t>
                </a:r>
                <a:r>
                  <a:rPr lang="en-US" dirty="0">
                    <a:solidFill>
                      <a:schemeClr val="accent1"/>
                    </a:solidFill>
                    <a:latin typeface="+mj-lt"/>
                  </a:rPr>
                  <a:t>[28]</a:t>
                </a:r>
                <a:endParaRPr lang="en-US" i="1" dirty="0">
                  <a:solidFill>
                    <a:schemeClr val="accent1"/>
                  </a:solidFill>
                  <a:latin typeface="+mj-lt"/>
                </a:endParaRPr>
              </a:p>
              <a:p>
                <a:pPr lvl="1"/>
                <a:r>
                  <a:rPr lang="en-US" i="1" dirty="0">
                    <a:latin typeface="+mj-lt"/>
                  </a:rPr>
                  <a:t>Accelerating KG query answering even on a single CPU/GPU</a:t>
                </a:r>
              </a:p>
              <a:p>
                <a:pPr lvl="1"/>
                <a:r>
                  <a:rPr lang="en-US" i="1" dirty="0">
                    <a:latin typeface="+mj-lt"/>
                  </a:rPr>
                  <a:t>Model-based knowledge graph partitioning with multi-level graph representations</a:t>
                </a:r>
              </a:p>
              <a:p>
                <a:pPr lvl="1"/>
                <a:r>
                  <a:rPr lang="en-US" i="1" dirty="0">
                    <a:latin typeface="+mj-lt"/>
                  </a:rPr>
                  <a:t>Universal: replaces traditional query answering inference and evaluation</a:t>
                </a:r>
              </a:p>
              <a:p>
                <a:r>
                  <a:rPr lang="en-US" dirty="0">
                    <a:latin typeface="+mj-lt"/>
                  </a:rPr>
                  <a:t>Coarsen KG and all samples</a:t>
                </a:r>
              </a:p>
              <a:p>
                <a:pPr lvl="1"/>
                <a:r>
                  <a:rPr lang="en-US" dirty="0">
                    <a:latin typeface="+mj-lt"/>
                  </a:rPr>
                  <a:t>Entity grouping: </a:t>
                </a:r>
                <a14:m>
                  <m:oMath xmlns:m="http://schemas.openxmlformats.org/officeDocument/2006/math">
                    <m:r>
                      <a:rPr lang="en-US" i="1" smtClean="0">
                        <a:latin typeface="Cambria Math" panose="02040503050406030204" pitchFamily="18" charset="0"/>
                      </a:rPr>
                      <m:t>𝑐</m:t>
                    </m:r>
                    <m:r>
                      <a:rPr lang="en-US" i="1" smtClean="0">
                        <a:latin typeface="Cambria Math" panose="02040503050406030204" pitchFamily="18" charset="0"/>
                      </a:rPr>
                      <m:t>:</m:t>
                    </m:r>
                    <m:r>
                      <a:rPr lang="en-US" i="1" smtClean="0">
                        <a:latin typeface="Cambria Math" panose="02040503050406030204" pitchFamily="18" charset="0"/>
                      </a:rPr>
                      <m:t>𝑉</m:t>
                    </m:r>
                    <m:r>
                      <a:rPr lang="en-US" i="1" smtClean="0">
                        <a:latin typeface="Cambria Math" panose="02040503050406030204" pitchFamily="18" charset="0"/>
                      </a:rPr>
                      <m:t>→</m:t>
                    </m:r>
                    <m:r>
                      <a:rPr lang="en-US" i="1" smtClean="0">
                        <a:latin typeface="Cambria Math" panose="02040503050406030204" pitchFamily="18" charset="0"/>
                      </a:rPr>
                      <m:t>𝒞</m:t>
                    </m:r>
                    <m:r>
                      <a:rPr lang="en-US" b="0" i="1" smtClean="0">
                        <a:latin typeface="Cambria Math" panose="02040503050406030204" pitchFamily="18" charset="0"/>
                      </a:rPr>
                      <m:t>,</m:t>
                    </m:r>
                    <m:r>
                      <a:rPr lang="en-US" i="1">
                        <a:latin typeface="Cambria Math" panose="02040503050406030204" pitchFamily="18" charset="0"/>
                      </a:rPr>
                      <m:t>𝒞</m:t>
                    </m:r>
                    <m:r>
                      <a:rPr lang="en-US" b="0" i="1" smtClean="0">
                        <a:latin typeface="Cambria Math" panose="02040503050406030204" pitchFamily="18" charset="0"/>
                      </a:rPr>
                      <m:t>=</m:t>
                    </m:r>
                    <m:r>
                      <m:rPr>
                        <m:lit/>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𝐶</m:t>
                        </m:r>
                      </m:e>
                      <m:sub>
                        <m:r>
                          <a:rPr lang="en-US" i="1">
                            <a:latin typeface="Cambria Math" panose="02040503050406030204" pitchFamily="18" charset="0"/>
                          </a:rPr>
                          <m:t>𝑘</m:t>
                        </m:r>
                      </m:sub>
                    </m:sSub>
                    <m:sSubSup>
                      <m:sSubSupPr>
                        <m:ctrlPr>
                          <a:rPr lang="en-US" b="0" i="1" smtClean="0">
                            <a:latin typeface="Cambria Math" panose="02040503050406030204" pitchFamily="18" charset="0"/>
                          </a:rPr>
                        </m:ctrlPr>
                      </m:sSubSupPr>
                      <m:e>
                        <m:r>
                          <m:rPr>
                            <m:lit/>
                          </m:rPr>
                          <a:rPr lang="en-US" i="1">
                            <a:latin typeface="Cambria Math" panose="02040503050406030204" pitchFamily="18" charset="0"/>
                          </a:rPr>
                          <m:t>}</m:t>
                        </m:r>
                      </m:e>
                      <m:sub>
                        <m:r>
                          <a:rPr lang="en-US" b="0" i="1" smtClean="0">
                            <a:latin typeface="Cambria Math" panose="02040503050406030204" pitchFamily="18" charset="0"/>
                          </a:rPr>
                          <m:t>𝑘</m:t>
                        </m:r>
                        <m:r>
                          <a:rPr lang="en-US" b="0" i="1" smtClean="0">
                            <a:latin typeface="Cambria Math" panose="02040503050406030204" pitchFamily="18" charset="0"/>
                          </a:rPr>
                          <m:t>=1</m:t>
                        </m:r>
                      </m:sub>
                      <m:sup>
                        <m:r>
                          <a:rPr lang="en-US" b="0" i="1" smtClean="0">
                            <a:latin typeface="Cambria Math" panose="02040503050406030204" pitchFamily="18" charset="0"/>
                          </a:rPr>
                          <m:t>𝐾</m:t>
                        </m:r>
                      </m:sup>
                    </m:sSubSup>
                    <m:r>
                      <a:rPr lang="en-US" b="0" i="1" smtClean="0">
                        <a:latin typeface="Cambria Math" panose="02040503050406030204" pitchFamily="18" charset="0"/>
                      </a:rPr>
                      <m:t>,</m:t>
                    </m:r>
                    <m:nary>
                      <m:naryPr>
                        <m:chr m:val="⋃"/>
                        <m:ctrlPr>
                          <a:rPr lang="en-US" b="0" i="1" smtClean="0">
                            <a:latin typeface="Cambria Math" panose="02040503050406030204" pitchFamily="18" charset="0"/>
                          </a:rPr>
                        </m:ctrlPr>
                      </m:naryPr>
                      <m:sub>
                        <m:r>
                          <a:rPr lang="en-US" i="1">
                            <a:latin typeface="Cambria Math" panose="02040503050406030204" pitchFamily="18" charset="0"/>
                          </a:rPr>
                          <m:t>𝑘</m:t>
                        </m:r>
                        <m:r>
                          <a:rPr lang="en-US" i="1">
                            <a:latin typeface="Cambria Math" panose="02040503050406030204" pitchFamily="18" charset="0"/>
                          </a:rPr>
                          <m:t>=1</m:t>
                        </m:r>
                      </m:sub>
                      <m:sup>
                        <m:r>
                          <a:rPr lang="en-US" i="1">
                            <a:latin typeface="Cambria Math" panose="02040503050406030204" pitchFamily="18" charset="0"/>
                          </a:rPr>
                          <m:t>𝐾</m:t>
                        </m:r>
                      </m:sup>
                      <m:e>
                        <m:sSub>
                          <m:sSubPr>
                            <m:ctrlPr>
                              <a:rPr lang="en-US" i="1">
                                <a:latin typeface="Cambria Math" panose="02040503050406030204" pitchFamily="18" charset="0"/>
                              </a:rPr>
                            </m:ctrlPr>
                          </m:sSubPr>
                          <m:e>
                            <m:r>
                              <a:rPr lang="en-US" i="1">
                                <a:latin typeface="Cambria Math" panose="02040503050406030204" pitchFamily="18" charset="0"/>
                              </a:rPr>
                              <m:t>𝐶</m:t>
                            </m:r>
                          </m:e>
                          <m:sub>
                            <m:r>
                              <a:rPr lang="en-US" i="1">
                                <a:latin typeface="Cambria Math" panose="02040503050406030204" pitchFamily="18" charset="0"/>
                              </a:rPr>
                              <m:t>𝑘</m:t>
                            </m:r>
                          </m:sub>
                        </m:sSub>
                        <m:r>
                          <a:rPr lang="en-US" b="0" i="1" smtClean="0">
                            <a:latin typeface="Cambria Math" panose="02040503050406030204" pitchFamily="18" charset="0"/>
                          </a:rPr>
                          <m:t>=</m:t>
                        </m:r>
                        <m:r>
                          <a:rPr lang="en-US" b="0" i="1" smtClean="0">
                            <a:latin typeface="Cambria Math" panose="02040503050406030204" pitchFamily="18" charset="0"/>
                          </a:rPr>
                          <m:t>𝑉</m:t>
                        </m:r>
                      </m:e>
                    </m:nary>
                  </m:oMath>
                </a14:m>
                <a:endParaRPr lang="en-US" b="0" i="1" dirty="0">
                  <a:latin typeface="Cambria Math" panose="02040503050406030204" pitchFamily="18" charset="0"/>
                </a:endParaRPr>
              </a:p>
              <a:p>
                <a:pPr lvl="1"/>
                <a:r>
                  <a:rPr lang="en-US" b="0" dirty="0">
                    <a:latin typeface="+mj-lt"/>
                  </a:rPr>
                  <a:t>Group-level </a:t>
                </a:r>
                <a:r>
                  <a:rPr lang="en-US" dirty="0">
                    <a:latin typeface="+mj-lt"/>
                  </a:rPr>
                  <a:t>graph: </a:t>
                </a:r>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𝐺</m:t>
                        </m:r>
                      </m:e>
                      <m:sup>
                        <m:r>
                          <a:rPr lang="en-US" b="0" i="1" smtClean="0">
                            <a:latin typeface="Cambria Math" panose="02040503050406030204" pitchFamily="18" charset="0"/>
                          </a:rPr>
                          <m:t>(</m:t>
                        </m:r>
                        <m:r>
                          <a:rPr lang="en-US" b="0" i="1" smtClean="0">
                            <a:latin typeface="Cambria Math" panose="02040503050406030204" pitchFamily="18" charset="0"/>
                          </a:rPr>
                          <m:t>𝐶</m:t>
                        </m:r>
                        <m:r>
                          <a:rPr lang="en-US" b="0" i="1" smtClean="0">
                            <a:latin typeface="Cambria Math" panose="02040503050406030204" pitchFamily="18" charset="0"/>
                          </a:rPr>
                          <m:t>)</m:t>
                        </m:r>
                      </m:sup>
                    </m:sSup>
                    <m:r>
                      <a:rPr lang="en-US" b="0" i="1" smtClean="0">
                        <a:latin typeface="Cambria Math" panose="02040503050406030204" pitchFamily="18" charset="0"/>
                      </a:rPr>
                      <m:t>=</m:t>
                    </m:r>
                    <m:d>
                      <m:dPr>
                        <m:ctrlPr>
                          <a:rPr lang="en-US" b="0" i="1" smtClean="0">
                            <a:latin typeface="Cambria Math" panose="02040503050406030204" pitchFamily="18" charset="0"/>
                          </a:rPr>
                        </m:ctrlPr>
                      </m:dPr>
                      <m:e>
                        <m:r>
                          <a:rPr lang="en-US" i="1">
                            <a:latin typeface="Cambria Math" panose="02040503050406030204" pitchFamily="18" charset="0"/>
                          </a:rPr>
                          <m:t>𝒞</m:t>
                        </m:r>
                        <m:r>
                          <a:rPr lang="en-US" b="0" i="1" smtClean="0">
                            <a:latin typeface="Cambria Math" panose="02040503050406030204" pitchFamily="18" charset="0"/>
                          </a:rPr>
                          <m:t>,</m:t>
                        </m:r>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𝐸</m:t>
                            </m:r>
                          </m:e>
                          <m:sub>
                            <m:r>
                              <a:rPr lang="en-US" b="0" i="1" smtClean="0">
                                <a:latin typeface="Cambria Math" panose="02040503050406030204" pitchFamily="18" charset="0"/>
                              </a:rPr>
                              <m:t>𝑅</m:t>
                            </m:r>
                          </m:sub>
                          <m:sup>
                            <m:r>
                              <a:rPr lang="en-US" b="0" i="1" smtClean="0">
                                <a:latin typeface="Cambria Math" panose="02040503050406030204" pitchFamily="18" charset="0"/>
                              </a:rPr>
                              <m:t>(</m:t>
                            </m:r>
                            <m:r>
                              <a:rPr lang="en-US" b="0" i="1" smtClean="0">
                                <a:latin typeface="Cambria Math" panose="02040503050406030204" pitchFamily="18" charset="0"/>
                              </a:rPr>
                              <m:t>𝐶</m:t>
                            </m:r>
                            <m:r>
                              <a:rPr lang="en-US" b="0" i="1" smtClean="0">
                                <a:latin typeface="Cambria Math" panose="02040503050406030204" pitchFamily="18" charset="0"/>
                              </a:rPr>
                              <m:t>)</m:t>
                            </m:r>
                          </m:sup>
                        </m:sSubSup>
                      </m:e>
                    </m:d>
                    <m:r>
                      <a:rPr lang="en-US" b="0" i="1" smtClean="0">
                        <a:latin typeface="Cambria Math" panose="02040503050406030204" pitchFamily="18" charset="0"/>
                      </a:rPr>
                      <m:t>,</m:t>
                    </m:r>
                    <m:sSubSup>
                      <m:sSubSupPr>
                        <m:ctrlPr>
                          <a:rPr lang="en-US" b="0" i="1" smtClean="0">
                            <a:latin typeface="Cambria Math" panose="02040503050406030204" pitchFamily="18" charset="0"/>
                          </a:rPr>
                        </m:ctrlPr>
                      </m:sSubSupPr>
                      <m:e>
                        <m:r>
                          <a:rPr lang="en-US" i="1">
                            <a:latin typeface="Cambria Math" panose="02040503050406030204" pitchFamily="18" charset="0"/>
                          </a:rPr>
                          <m:t>𝐸</m:t>
                        </m:r>
                      </m:e>
                      <m:sub>
                        <m:r>
                          <a:rPr lang="en-US" i="1">
                            <a:latin typeface="Cambria Math" panose="02040503050406030204" pitchFamily="18" charset="0"/>
                          </a:rPr>
                          <m:t>𝑅</m:t>
                        </m:r>
                      </m:sub>
                      <m:sup>
                        <m:r>
                          <a:rPr lang="en-US" b="0" i="1" smtClean="0">
                            <a:latin typeface="Cambria Math" panose="02040503050406030204" pitchFamily="18" charset="0"/>
                          </a:rPr>
                          <m:t>(</m:t>
                        </m:r>
                        <m:r>
                          <a:rPr lang="en-US" i="1">
                            <a:latin typeface="Cambria Math" panose="02040503050406030204" pitchFamily="18" charset="0"/>
                          </a:rPr>
                          <m:t>𝐶</m:t>
                        </m:r>
                        <m:r>
                          <a:rPr lang="en-US" b="0" i="1" smtClean="0">
                            <a:latin typeface="Cambria Math" panose="02040503050406030204" pitchFamily="18" charset="0"/>
                          </a:rPr>
                          <m:t>)</m:t>
                        </m:r>
                      </m:sup>
                    </m:sSubSup>
                    <m:r>
                      <a:rPr lang="en-US" b="0" i="1" smtClean="0">
                        <a:latin typeface="Cambria Math" panose="02040503050406030204" pitchFamily="18" charset="0"/>
                      </a:rPr>
                      <m:t>=</m:t>
                    </m:r>
                    <m:d>
                      <m:dPr>
                        <m:begChr m:val="{"/>
                        <m:endChr m:val="}"/>
                        <m:sepChr m:val="∣"/>
                        <m:ctrlPr>
                          <a:rPr lang="en-US" b="0" i="1" smtClean="0">
                            <a:latin typeface="Cambria Math" panose="02040503050406030204" pitchFamily="18" charset="0"/>
                          </a:rPr>
                        </m:ctrlPr>
                      </m:dPr>
                      <m:e>
                        <m:d>
                          <m:dPr>
                            <m:ctrlPr>
                              <a:rPr lang="en-US" b="0" i="1" smtClean="0">
                                <a:latin typeface="Cambria Math" panose="02040503050406030204" pitchFamily="18" charset="0"/>
                              </a:rPr>
                            </m:ctrlPr>
                          </m:dPr>
                          <m:e>
                            <m:r>
                              <a:rPr lang="en-US" b="0" i="1" smtClean="0">
                                <a:latin typeface="Cambria Math" panose="02040503050406030204" pitchFamily="18" charset="0"/>
                              </a:rPr>
                              <m:t>𝑐</m:t>
                            </m:r>
                            <m:d>
                              <m:dPr>
                                <m:ctrlPr>
                                  <a:rPr lang="en-US" b="0" i="1" smtClean="0">
                                    <a:latin typeface="Cambria Math" panose="02040503050406030204" pitchFamily="18" charset="0"/>
                                  </a:rPr>
                                </m:ctrlPr>
                              </m:dPr>
                              <m:e>
                                <m:r>
                                  <a:rPr lang="en-US" b="0" i="1" smtClean="0">
                                    <a:latin typeface="Cambria Math" panose="02040503050406030204" pitchFamily="18" charset="0"/>
                                  </a:rPr>
                                  <m:t>h</m:t>
                                </m:r>
                              </m:e>
                            </m:d>
                            <m:r>
                              <a:rPr lang="en-US" b="0" i="1" smtClean="0">
                                <a:latin typeface="Cambria Math" panose="02040503050406030204" pitchFamily="18" charset="0"/>
                              </a:rPr>
                              <m:t>,</m:t>
                            </m:r>
                            <m:r>
                              <a:rPr lang="en-US" b="0" i="1" smtClean="0">
                                <a:latin typeface="Cambria Math" panose="02040503050406030204" pitchFamily="18" charset="0"/>
                              </a:rPr>
                              <m:t>𝑟</m:t>
                            </m:r>
                            <m:r>
                              <a:rPr lang="en-US" b="0" i="1" smtClean="0">
                                <a:latin typeface="Cambria Math" panose="02040503050406030204" pitchFamily="18" charset="0"/>
                              </a:rPr>
                              <m:t>,</m:t>
                            </m:r>
                            <m:r>
                              <a:rPr lang="en-US" b="0" i="1" smtClean="0">
                                <a:latin typeface="Cambria Math" panose="02040503050406030204" pitchFamily="18" charset="0"/>
                              </a:rPr>
                              <m:t>𝑐</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e>
                        </m:d>
                      </m:e>
                      <m:e>
                        <m:d>
                          <m:dPr>
                            <m:ctrlPr>
                              <a:rPr lang="en-US" b="0" i="1" smtClean="0">
                                <a:latin typeface="Cambria Math" panose="02040503050406030204" pitchFamily="18" charset="0"/>
                              </a:rPr>
                            </m:ctrlPr>
                          </m:dPr>
                          <m:e>
                            <m:r>
                              <a:rPr lang="en-US" b="0" i="1" smtClean="0">
                                <a:latin typeface="Cambria Math" panose="02040503050406030204" pitchFamily="18" charset="0"/>
                              </a:rPr>
                              <m:t>h</m:t>
                            </m:r>
                            <m:r>
                              <a:rPr lang="en-US" b="0" i="1" smtClean="0">
                                <a:latin typeface="Cambria Math" panose="02040503050406030204" pitchFamily="18" charset="0"/>
                              </a:rPr>
                              <m:t>,</m:t>
                            </m:r>
                            <m:r>
                              <a:rPr lang="en-US" b="0" i="1" smtClean="0">
                                <a:latin typeface="Cambria Math" panose="02040503050406030204" pitchFamily="18" charset="0"/>
                              </a:rPr>
                              <m:t>𝑟</m:t>
                            </m:r>
                            <m:r>
                              <a:rPr lang="en-US" b="0" i="1" smtClean="0">
                                <a:latin typeface="Cambria Math" panose="02040503050406030204" pitchFamily="18" charset="0"/>
                              </a:rPr>
                              <m:t>,</m:t>
                            </m:r>
                            <m:r>
                              <a:rPr lang="en-US" b="0" i="1" smtClean="0">
                                <a:latin typeface="Cambria Math" panose="02040503050406030204" pitchFamily="18" charset="0"/>
                              </a:rPr>
                              <m:t>𝑡</m:t>
                            </m:r>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𝐸</m:t>
                            </m:r>
                          </m:e>
                          <m:sub>
                            <m:r>
                              <a:rPr lang="en-US" b="0" i="1" smtClean="0">
                                <a:latin typeface="Cambria Math" panose="02040503050406030204" pitchFamily="18" charset="0"/>
                              </a:rPr>
                              <m:t>𝑅</m:t>
                            </m:r>
                          </m:sub>
                        </m:sSub>
                      </m:e>
                    </m:d>
                  </m:oMath>
                </a14:m>
                <a:endParaRPr lang="en-US" dirty="0">
                  <a:latin typeface="+mj-lt"/>
                </a:endParaRPr>
              </a:p>
              <a:p>
                <a:pPr lvl="1"/>
                <a:r>
                  <a:rPr lang="en-US" dirty="0">
                    <a:latin typeface="+mj-lt"/>
                  </a:rPr>
                  <a:t>Group-level query-answer pairs: </a:t>
                </a:r>
                <a14:m>
                  <m:oMath xmlns:m="http://schemas.openxmlformats.org/officeDocument/2006/math">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𝑞</m:t>
                            </m:r>
                          </m:e>
                          <m:sup>
                            <m:d>
                              <m:dPr>
                                <m:ctrlPr>
                                  <a:rPr lang="en-US" b="0" i="1" smtClean="0">
                                    <a:latin typeface="Cambria Math" panose="02040503050406030204" pitchFamily="18" charset="0"/>
                                  </a:rPr>
                                </m:ctrlPr>
                              </m:dPr>
                              <m:e>
                                <m:r>
                                  <a:rPr lang="en-US" b="0" i="1" smtClean="0">
                                    <a:latin typeface="Cambria Math" panose="02040503050406030204" pitchFamily="18" charset="0"/>
                                  </a:rPr>
                                  <m:t>𝐶</m:t>
                                </m:r>
                              </m:e>
                            </m:d>
                          </m:sup>
                        </m:sSup>
                        <m:r>
                          <a:rPr lang="en-US" b="0" i="1" smtClean="0">
                            <a:latin typeface="Cambria Math" panose="02040503050406030204" pitchFamily="18" charset="0"/>
                          </a:rPr>
                          <m:t>,</m:t>
                        </m:r>
                        <m:r>
                          <a:rPr lang="en-US" b="0" i="1" smtClean="0">
                            <a:latin typeface="Cambria Math" panose="02040503050406030204" pitchFamily="18" charset="0"/>
                          </a:rPr>
                          <m:t>𝑐</m:t>
                        </m:r>
                        <m:d>
                          <m:dPr>
                            <m:ctrlPr>
                              <a:rPr lang="en-US" b="0" i="1" smtClean="0">
                                <a:latin typeface="Cambria Math" panose="02040503050406030204" pitchFamily="18" charset="0"/>
                              </a:rPr>
                            </m:ctrlPr>
                          </m:dPr>
                          <m:e>
                            <m:r>
                              <a:rPr lang="en-US" b="0" i="1" smtClean="0">
                                <a:latin typeface="Cambria Math" panose="02040503050406030204" pitchFamily="18" charset="0"/>
                              </a:rPr>
                              <m:t>𝑎</m:t>
                            </m:r>
                          </m:e>
                        </m:d>
                      </m:e>
                    </m:d>
                  </m:oMath>
                </a14:m>
                <a:endParaRPr lang="en-US" dirty="0">
                  <a:latin typeface="+mj-lt"/>
                </a:endParaRPr>
              </a:p>
              <a:p>
                <a:r>
                  <a:rPr lang="en-US" dirty="0">
                    <a:latin typeface="+mj-lt"/>
                  </a:rPr>
                  <a:t>Two-step reasoning</a:t>
                </a:r>
              </a:p>
              <a:p>
                <a:pPr marL="742950" lvl="1" indent="-400050">
                  <a:buFont typeface="+mj-lt"/>
                  <a:buAutoNum type="romanUcPeriod"/>
                </a:pPr>
                <a:r>
                  <a:rPr lang="en-US" dirty="0">
                    <a:latin typeface="+mj-lt"/>
                  </a:rPr>
                  <a:t>Answer group-level query</a:t>
                </a:r>
                <a14:m>
                  <m:oMath xmlns:m="http://schemas.openxmlformats.org/officeDocument/2006/math">
                    <m:sSup>
                      <m:sSupPr>
                        <m:ctrlPr>
                          <a:rPr lang="en-US" i="1">
                            <a:latin typeface="Cambria Math" panose="02040503050406030204" pitchFamily="18" charset="0"/>
                          </a:rPr>
                        </m:ctrlPr>
                      </m:sSupPr>
                      <m:e>
                        <m:r>
                          <a:rPr lang="en-US" b="0" i="1" smtClean="0">
                            <a:latin typeface="Cambria Math" panose="02040503050406030204" pitchFamily="18" charset="0"/>
                          </a:rPr>
                          <m:t> </m:t>
                        </m:r>
                        <m:r>
                          <a:rPr lang="en-US" i="1">
                            <a:latin typeface="Cambria Math" panose="02040503050406030204" pitchFamily="18" charset="0"/>
                          </a:rPr>
                          <m:t>𝑞</m:t>
                        </m:r>
                      </m:e>
                      <m:sup>
                        <m:d>
                          <m:dPr>
                            <m:ctrlPr>
                              <a:rPr lang="en-US" i="1">
                                <a:latin typeface="Cambria Math" panose="02040503050406030204" pitchFamily="18" charset="0"/>
                              </a:rPr>
                            </m:ctrlPr>
                          </m:dPr>
                          <m:e>
                            <m:r>
                              <a:rPr lang="en-US" i="1">
                                <a:latin typeface="Cambria Math" panose="02040503050406030204" pitchFamily="18" charset="0"/>
                              </a:rPr>
                              <m:t>𝐶</m:t>
                            </m:r>
                          </m:e>
                        </m:d>
                      </m:sup>
                    </m:sSup>
                  </m:oMath>
                </a14:m>
                <a:r>
                  <a:rPr lang="en-US" dirty="0">
                    <a:latin typeface="+mj-lt"/>
                  </a:rPr>
                  <a:t> to predict </a:t>
                </a:r>
                <a14:m>
                  <m:oMath xmlns:m="http://schemas.openxmlformats.org/officeDocument/2006/math">
                    <m:r>
                      <a:rPr lang="en-US" i="1">
                        <a:latin typeface="Cambria Math" panose="02040503050406030204" pitchFamily="18" charset="0"/>
                      </a:rPr>
                      <m:t>𝑐</m:t>
                    </m:r>
                    <m:d>
                      <m:dPr>
                        <m:ctrlPr>
                          <a:rPr lang="en-US" i="1">
                            <a:latin typeface="Cambria Math" panose="02040503050406030204" pitchFamily="18" charset="0"/>
                          </a:rPr>
                        </m:ctrlPr>
                      </m:dPr>
                      <m:e>
                        <m:r>
                          <a:rPr lang="en-US" i="1">
                            <a:latin typeface="Cambria Math" panose="02040503050406030204" pitchFamily="18" charset="0"/>
                          </a:rPr>
                          <m:t>𝑎</m:t>
                        </m:r>
                      </m:e>
                    </m:d>
                  </m:oMath>
                </a14:m>
                <a:endParaRPr lang="en-US" dirty="0">
                  <a:latin typeface="+mj-lt"/>
                </a:endParaRPr>
              </a:p>
              <a:p>
                <a:pPr marL="742950" lvl="1" indent="-400050">
                  <a:buFont typeface="+mj-lt"/>
                  <a:buAutoNum type="romanUcPeriod"/>
                </a:pPr>
                <a:r>
                  <a:rPr lang="en-US" dirty="0">
                    <a:latin typeface="+mj-lt"/>
                  </a:rPr>
                  <a:t>Search for answer of node-level query </a:t>
                </a:r>
                <a14:m>
                  <m:oMath xmlns:m="http://schemas.openxmlformats.org/officeDocument/2006/math">
                    <m:r>
                      <a:rPr lang="en-US" i="1">
                        <a:latin typeface="Cambria Math" panose="02040503050406030204" pitchFamily="18" charset="0"/>
                      </a:rPr>
                      <m:t>𝑞</m:t>
                    </m:r>
                  </m:oMath>
                </a14:m>
                <a:r>
                  <a:rPr lang="en-US" dirty="0">
                    <a:latin typeface="+mj-lt"/>
                  </a:rPr>
                  <a:t> only among entities in </a:t>
                </a:r>
                <a14:m>
                  <m:oMath xmlns:m="http://schemas.openxmlformats.org/officeDocument/2006/math">
                    <m:sSub>
                      <m:sSubPr>
                        <m:ctrlPr>
                          <a:rPr lang="en-US" b="0" i="1" smtClean="0">
                            <a:latin typeface="Cambria Math" panose="02040503050406030204" pitchFamily="18" charset="0"/>
                          </a:rPr>
                        </m:ctrlPr>
                      </m:sSubPr>
                      <m:e>
                        <m:r>
                          <a:rPr lang="en-US" i="1">
                            <a:latin typeface="Cambria Math" panose="02040503050406030204" pitchFamily="18" charset="0"/>
                          </a:rPr>
                          <m:t>𝐶</m:t>
                        </m:r>
                      </m:e>
                      <m:sub>
                        <m:r>
                          <a:rPr lang="en-US" b="0" i="1" smtClean="0">
                            <a:latin typeface="Cambria Math" panose="02040503050406030204" pitchFamily="18" charset="0"/>
                          </a:rPr>
                          <m:t>𝑐</m:t>
                        </m:r>
                        <m:d>
                          <m:dPr>
                            <m:ctrlPr>
                              <a:rPr lang="en-US" b="0" i="1" smtClean="0">
                                <a:latin typeface="Cambria Math" panose="02040503050406030204" pitchFamily="18" charset="0"/>
                              </a:rPr>
                            </m:ctrlPr>
                          </m:dPr>
                          <m:e>
                            <m:r>
                              <a:rPr lang="en-US" b="0" i="1" smtClean="0">
                                <a:latin typeface="Cambria Math" panose="02040503050406030204" pitchFamily="18" charset="0"/>
                              </a:rPr>
                              <m:t>𝑎</m:t>
                            </m:r>
                          </m:e>
                        </m:d>
                      </m:sub>
                    </m:sSub>
                  </m:oMath>
                </a14:m>
                <a:endParaRPr lang="en-US" dirty="0">
                  <a:latin typeface="+mj-lt"/>
                </a:endParaRP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ℙ</m:t>
                      </m:r>
                      <m:d>
                        <m:dPr>
                          <m:ctrlPr>
                            <a:rPr lang="en-US" b="0" i="1" smtClean="0">
                              <a:latin typeface="Cambria Math" panose="02040503050406030204" pitchFamily="18" charset="0"/>
                            </a:rPr>
                          </m:ctrlPr>
                        </m:dPr>
                        <m:e>
                          <m:d>
                            <m:dPr>
                              <m:ctrlPr>
                                <a:rPr lang="en-US" b="0" i="1" smtClean="0">
                                  <a:latin typeface="Cambria Math" panose="02040503050406030204" pitchFamily="18" charset="0"/>
                                </a:rPr>
                              </m:ctrlPr>
                            </m:dPr>
                            <m:e>
                              <m:r>
                                <a:rPr lang="en-US" b="0" i="1" smtClean="0">
                                  <a:latin typeface="Cambria Math" panose="02040503050406030204" pitchFamily="18" charset="0"/>
                                </a:rPr>
                                <m:t>𝑞</m:t>
                              </m:r>
                              <m:r>
                                <a:rPr lang="en-US" b="0" i="1" smtClean="0">
                                  <a:latin typeface="Cambria Math" panose="02040503050406030204" pitchFamily="18" charset="0"/>
                                </a:rPr>
                                <m:t>,</m:t>
                              </m:r>
                              <m:r>
                                <a:rPr lang="en-US" b="0" i="1" smtClean="0">
                                  <a:latin typeface="Cambria Math" panose="02040503050406030204" pitchFamily="18" charset="0"/>
                                </a:rPr>
                                <m:t>𝑎</m:t>
                              </m:r>
                            </m:e>
                          </m:d>
                        </m:e>
                      </m:d>
                      <m:r>
                        <a:rPr lang="en-US" b="0" i="1" smtClean="0">
                          <a:latin typeface="Cambria Math" panose="02040503050406030204" pitchFamily="18" charset="0"/>
                        </a:rPr>
                        <m:t>=</m:t>
                      </m:r>
                      <m:r>
                        <a:rPr lang="en-US" i="1">
                          <a:latin typeface="Cambria Math" panose="02040503050406030204" pitchFamily="18" charset="0"/>
                        </a:rPr>
                        <m:t>ℙ</m:t>
                      </m:r>
                      <m:d>
                        <m:dPr>
                          <m:ctrlPr>
                            <a:rPr lang="en-US" b="0" i="1" smtClean="0">
                              <a:latin typeface="Cambria Math" panose="02040503050406030204" pitchFamily="18" charset="0"/>
                            </a:rPr>
                          </m:ctrlPr>
                        </m:dPr>
                        <m:e>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𝑞</m:t>
                                  </m:r>
                                </m:e>
                                <m:sup>
                                  <m:d>
                                    <m:dPr>
                                      <m:ctrlPr>
                                        <a:rPr lang="en-US" b="0" i="1" smtClean="0">
                                          <a:latin typeface="Cambria Math" panose="02040503050406030204" pitchFamily="18" charset="0"/>
                                        </a:rPr>
                                      </m:ctrlPr>
                                    </m:dPr>
                                    <m:e>
                                      <m:r>
                                        <a:rPr lang="en-US" b="0" i="1" smtClean="0">
                                          <a:latin typeface="Cambria Math" panose="02040503050406030204" pitchFamily="18" charset="0"/>
                                        </a:rPr>
                                        <m:t>𝐶</m:t>
                                      </m:r>
                                    </m:e>
                                  </m:d>
                                </m:sup>
                              </m:sSup>
                              <m:r>
                                <a:rPr lang="en-US" b="0" i="1" smtClean="0">
                                  <a:latin typeface="Cambria Math" panose="02040503050406030204" pitchFamily="18" charset="0"/>
                                </a:rPr>
                                <m:t>,</m:t>
                              </m:r>
                              <m:sSup>
                                <m:sSupPr>
                                  <m:ctrlPr>
                                    <a:rPr lang="en-US" i="1">
                                      <a:latin typeface="Cambria Math" panose="02040503050406030204" pitchFamily="18" charset="0"/>
                                    </a:rPr>
                                  </m:ctrlPr>
                                </m:sSupPr>
                                <m:e>
                                  <m:r>
                                    <a:rPr lang="en-US" b="0" i="1" smtClean="0">
                                      <a:latin typeface="Cambria Math" panose="02040503050406030204" pitchFamily="18" charset="0"/>
                                    </a:rPr>
                                    <m:t>𝑎</m:t>
                                  </m:r>
                                </m:e>
                                <m:sup>
                                  <m:d>
                                    <m:dPr>
                                      <m:ctrlPr>
                                        <a:rPr lang="en-US" i="1">
                                          <a:latin typeface="Cambria Math" panose="02040503050406030204" pitchFamily="18" charset="0"/>
                                        </a:rPr>
                                      </m:ctrlPr>
                                    </m:dPr>
                                    <m:e>
                                      <m:r>
                                        <a:rPr lang="en-US" i="1">
                                          <a:latin typeface="Cambria Math" panose="02040503050406030204" pitchFamily="18" charset="0"/>
                                        </a:rPr>
                                        <m:t>𝐶</m:t>
                                      </m:r>
                                    </m:e>
                                  </m:d>
                                </m:sup>
                              </m:sSup>
                            </m:e>
                          </m:d>
                        </m:e>
                      </m:d>
                      <m:r>
                        <a:rPr lang="en-US" i="1">
                          <a:latin typeface="Cambria Math" panose="02040503050406030204" pitchFamily="18" charset="0"/>
                        </a:rPr>
                        <m:t>ℙ</m:t>
                      </m:r>
                      <m:d>
                        <m:dPr>
                          <m:sepChr m:val="∣"/>
                          <m:ctrlPr>
                            <a:rPr lang="en-US" b="0" i="1" smtClean="0">
                              <a:latin typeface="Cambria Math" panose="02040503050406030204" pitchFamily="18" charset="0"/>
                            </a:rPr>
                          </m:ctrlPr>
                        </m:dPr>
                        <m:e>
                          <m:d>
                            <m:dPr>
                              <m:ctrlPr>
                                <a:rPr lang="en-US" b="0" i="1" smtClean="0">
                                  <a:latin typeface="Cambria Math" panose="02040503050406030204" pitchFamily="18" charset="0"/>
                                </a:rPr>
                              </m:ctrlPr>
                            </m:dPr>
                            <m:e>
                              <m:r>
                                <a:rPr lang="en-US" b="0" i="1" smtClean="0">
                                  <a:latin typeface="Cambria Math" panose="02040503050406030204" pitchFamily="18" charset="0"/>
                                </a:rPr>
                                <m:t>𝑞</m:t>
                              </m:r>
                              <m:r>
                                <a:rPr lang="en-US" b="0" i="1" smtClean="0">
                                  <a:latin typeface="Cambria Math" panose="02040503050406030204" pitchFamily="18" charset="0"/>
                                </a:rPr>
                                <m:t>,</m:t>
                              </m:r>
                              <m:r>
                                <a:rPr lang="en-US" b="0" i="1" smtClean="0">
                                  <a:latin typeface="Cambria Math" panose="02040503050406030204" pitchFamily="18" charset="0"/>
                                </a:rPr>
                                <m:t>𝑎</m:t>
                              </m:r>
                            </m:e>
                          </m:d>
                        </m:e>
                        <m:e>
                          <m:r>
                            <a:rPr lang="en-US" b="0" i="1" smtClean="0">
                              <a:latin typeface="Cambria Math" panose="02040503050406030204" pitchFamily="18" charset="0"/>
                            </a:rPr>
                            <m:t>𝑐</m:t>
                          </m:r>
                          <m:d>
                            <m:dPr>
                              <m:ctrlPr>
                                <a:rPr lang="en-US" b="0" i="1" smtClean="0">
                                  <a:latin typeface="Cambria Math" panose="02040503050406030204" pitchFamily="18" charset="0"/>
                                </a:rPr>
                              </m:ctrlPr>
                            </m:dPr>
                            <m:e>
                              <m:r>
                                <a:rPr lang="en-US" b="0" i="1" smtClean="0">
                                  <a:latin typeface="Cambria Math" panose="02040503050406030204" pitchFamily="18" charset="0"/>
                                </a:rPr>
                                <m:t>𝑎</m:t>
                              </m:r>
                            </m:e>
                          </m:d>
                          <m:r>
                            <a:rPr lang="en-US" b="0" i="1" smtClean="0">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𝑎</m:t>
                              </m:r>
                            </m:e>
                            <m:sup>
                              <m:d>
                                <m:dPr>
                                  <m:ctrlPr>
                                    <a:rPr lang="en-US" i="1">
                                      <a:latin typeface="Cambria Math" panose="02040503050406030204" pitchFamily="18" charset="0"/>
                                    </a:rPr>
                                  </m:ctrlPr>
                                </m:dPr>
                                <m:e>
                                  <m:r>
                                    <a:rPr lang="en-US" i="1">
                                      <a:latin typeface="Cambria Math" panose="02040503050406030204" pitchFamily="18" charset="0"/>
                                    </a:rPr>
                                    <m:t>𝐶</m:t>
                                  </m:r>
                                </m:e>
                              </m:d>
                            </m:sup>
                          </m:sSup>
                        </m:e>
                      </m:d>
                    </m:oMath>
                  </m:oMathPara>
                </a14:m>
                <a:endParaRPr lang="en-US" dirty="0">
                  <a:latin typeface="+mj-lt"/>
                </a:endParaRPr>
              </a:p>
            </p:txBody>
          </p:sp>
        </mc:Choice>
        <mc:Fallback>
          <p:sp>
            <p:nvSpPr>
              <p:cNvPr id="9" name="Content Placeholder 8">
                <a:extLst>
                  <a:ext uri="{FF2B5EF4-FFF2-40B4-BE49-F238E27FC236}">
                    <a16:creationId xmlns:a16="http://schemas.microsoft.com/office/drawing/2014/main" id="{E777135A-8524-9FD9-45AA-1C6411B63AC5}"/>
                  </a:ext>
                </a:extLst>
              </p:cNvPr>
              <p:cNvSpPr>
                <a:spLocks noGrp="1" noRot="1" noChangeAspect="1" noMove="1" noResize="1" noEditPoints="1" noAdjustHandles="1" noChangeArrowheads="1" noChangeShapeType="1" noTextEdit="1"/>
              </p:cNvSpPr>
              <p:nvPr>
                <p:ph idx="1"/>
              </p:nvPr>
            </p:nvSpPr>
            <p:spPr>
              <a:blipFill>
                <a:blip r:embed="rId3"/>
                <a:stretch>
                  <a:fillRect t="-1622"/>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468AEF5F-1B07-94B2-2BBD-CB3BA385EB3E}"/>
              </a:ext>
            </a:extLst>
          </p:cNvPr>
          <p:cNvSpPr>
            <a:spLocks noGrp="1"/>
          </p:cNvSpPr>
          <p:nvPr>
            <p:ph type="title"/>
          </p:nvPr>
        </p:nvSpPr>
        <p:spPr>
          <a:xfrm>
            <a:off x="904875" y="131032"/>
            <a:ext cx="7207279" cy="1072753"/>
          </a:xfrm>
        </p:spPr>
        <p:txBody>
          <a:bodyPr>
            <a:normAutofit/>
          </a:bodyPr>
          <a:lstStyle/>
          <a:p>
            <a:r>
              <a:rPr lang="en-US" dirty="0"/>
              <a:t>3.1	Community-Informed Graph Embeddings</a:t>
            </a:r>
            <a:br>
              <a:rPr lang="en-US" dirty="0"/>
            </a:br>
            <a:r>
              <a:rPr lang="en-US" sz="2400" b="0" i="1" dirty="0"/>
              <a:t>Contributions - Idea</a:t>
            </a:r>
            <a:endParaRPr lang="en-GB" sz="2400" b="0" i="1" dirty="0"/>
          </a:p>
        </p:txBody>
      </p:sp>
      <p:sp>
        <p:nvSpPr>
          <p:cNvPr id="5" name="Date Placeholder 4">
            <a:extLst>
              <a:ext uri="{FF2B5EF4-FFF2-40B4-BE49-F238E27FC236}">
                <a16:creationId xmlns:a16="http://schemas.microsoft.com/office/drawing/2014/main" id="{E836BC64-29B7-F94E-C891-945BE6F02CD0}"/>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9A0835E4-6735-AD63-7D6C-D4B72C24ADEC}"/>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DFA6CA2E-89ED-321A-6EB8-95F261945EF4}"/>
              </a:ext>
            </a:extLst>
          </p:cNvPr>
          <p:cNvSpPr>
            <a:spLocks noGrp="1"/>
          </p:cNvSpPr>
          <p:nvPr>
            <p:ph type="sldNum" sz="quarter" idx="12"/>
          </p:nvPr>
        </p:nvSpPr>
        <p:spPr/>
        <p:txBody>
          <a:bodyPr/>
          <a:lstStyle/>
          <a:p>
            <a:fld id="{E1E1CD7C-2161-7D43-862E-CE4C333CD873}" type="slidenum">
              <a:rPr lang="fr-FR" smtClean="0"/>
              <a:pPr/>
              <a:t>14</a:t>
            </a:fld>
            <a:endParaRPr lang="fr-FR" dirty="0"/>
          </a:p>
        </p:txBody>
      </p:sp>
    </p:spTree>
    <p:extLst>
      <p:ext uri="{BB962C8B-B14F-4D97-AF65-F5344CB8AC3E}">
        <p14:creationId xmlns:p14="http://schemas.microsoft.com/office/powerpoint/2010/main" val="26598803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6" dur="500"/>
                                        <p:tgtEl>
                                          <p:spTgt spid="9">
                                            <p:txEl>
                                              <p:pRg st="3" end="3"/>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4" presetClass="entr" presetSubtype="10" fill="hold" nodeType="clickEffect">
                                  <p:stCondLst>
                                    <p:cond delay="0"/>
                                  </p:stCondLst>
                                  <p:childTnLst>
                                    <p:set>
                                      <p:cBhvr>
                                        <p:cTn id="20" dur="1" fill="hold">
                                          <p:stCondLst>
                                            <p:cond delay="0"/>
                                          </p:stCondLst>
                                        </p:cTn>
                                        <p:tgtEl>
                                          <p:spTgt spid="9">
                                            <p:txEl>
                                              <p:pRg st="4" end="4"/>
                                            </p:txEl>
                                          </p:spTgt>
                                        </p:tgtEl>
                                        <p:attrNameLst>
                                          <p:attrName>style.visibility</p:attrName>
                                        </p:attrNameLst>
                                      </p:cBhvr>
                                      <p:to>
                                        <p:strVal val="visible"/>
                                      </p:to>
                                    </p:set>
                                    <p:animEffect transition="in" filter="randombar(horizontal)">
                                      <p:cBhvr>
                                        <p:cTn id="21" dur="500"/>
                                        <p:tgtEl>
                                          <p:spTgt spid="9">
                                            <p:txEl>
                                              <p:pRg st="4" end="4"/>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4" dur="500"/>
                                        <p:tgtEl>
                                          <p:spTgt spid="9">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9">
                                            <p:txEl>
                                              <p:pRg st="6" end="6"/>
                                            </p:txEl>
                                          </p:spTgt>
                                        </p:tgtEl>
                                        <p:attrNameLst>
                                          <p:attrName>style.visibility</p:attrName>
                                        </p:attrNameLst>
                                      </p:cBhvr>
                                      <p:to>
                                        <p:strVal val="visible"/>
                                      </p:to>
                                    </p:set>
                                    <p:animEffect transition="in" filter="randombar(horizontal)">
                                      <p:cBhvr>
                                        <p:cTn id="27" dur="500"/>
                                        <p:tgtEl>
                                          <p:spTgt spid="9">
                                            <p:txEl>
                                              <p:pRg st="6" end="6"/>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0" dur="500"/>
                                        <p:tgtEl>
                                          <p:spTgt spid="9">
                                            <p:txEl>
                                              <p:pRg st="7" end="7"/>
                                            </p:txEl>
                                          </p:spTgt>
                                        </p:tgtEl>
                                      </p:cBhvr>
                                    </p:animEffect>
                                  </p:childTnLst>
                                </p:cTn>
                              </p:par>
                            </p:childTnLst>
                          </p:cTn>
                        </p:par>
                      </p:childTnLst>
                    </p:cTn>
                  </p:par>
                  <p:par>
                    <p:cTn id="31" fill="hold">
                      <p:stCondLst>
                        <p:cond delay="indefinite"/>
                      </p:stCondLst>
                      <p:childTnLst>
                        <p:par>
                          <p:cTn id="32" fill="hold">
                            <p:stCondLst>
                              <p:cond delay="0"/>
                            </p:stCondLst>
                            <p:childTnLst>
                              <p:par>
                                <p:cTn id="33" presetID="14" presetClass="entr" presetSubtype="10" fill="hold" nodeType="clickEffect">
                                  <p:stCondLst>
                                    <p:cond delay="0"/>
                                  </p:stCondLst>
                                  <p:childTnLst>
                                    <p:set>
                                      <p:cBhvr>
                                        <p:cTn id="34" dur="1" fill="hold">
                                          <p:stCondLst>
                                            <p:cond delay="0"/>
                                          </p:stCondLst>
                                        </p:cTn>
                                        <p:tgtEl>
                                          <p:spTgt spid="9">
                                            <p:txEl>
                                              <p:pRg st="8" end="8"/>
                                            </p:txEl>
                                          </p:spTgt>
                                        </p:tgtEl>
                                        <p:attrNameLst>
                                          <p:attrName>style.visibility</p:attrName>
                                        </p:attrNameLst>
                                      </p:cBhvr>
                                      <p:to>
                                        <p:strVal val="visible"/>
                                      </p:to>
                                    </p:set>
                                    <p:animEffect transition="in" filter="randombar(horizontal)">
                                      <p:cBhvr>
                                        <p:cTn id="35" dur="500"/>
                                        <p:tgtEl>
                                          <p:spTgt spid="9">
                                            <p:txEl>
                                              <p:pRg st="8" end="8"/>
                                            </p:txEl>
                                          </p:spTgt>
                                        </p:tgtEl>
                                      </p:cBhvr>
                                    </p:animEffect>
                                  </p:childTnLst>
                                </p:cTn>
                              </p:par>
                              <p:par>
                                <p:cTn id="36" presetID="14" presetClass="entr" presetSubtype="10" fill="hold" nodeType="withEffect">
                                  <p:stCondLst>
                                    <p:cond delay="0"/>
                                  </p:stCondLst>
                                  <p:childTnLst>
                                    <p:set>
                                      <p:cBhvr>
                                        <p:cTn id="37" dur="1" fill="hold">
                                          <p:stCondLst>
                                            <p:cond delay="0"/>
                                          </p:stCondLst>
                                        </p:cTn>
                                        <p:tgtEl>
                                          <p:spTgt spid="9">
                                            <p:txEl>
                                              <p:pRg st="9" end="9"/>
                                            </p:txEl>
                                          </p:spTgt>
                                        </p:tgtEl>
                                        <p:attrNameLst>
                                          <p:attrName>style.visibility</p:attrName>
                                        </p:attrNameLst>
                                      </p:cBhvr>
                                      <p:to>
                                        <p:strVal val="visible"/>
                                      </p:to>
                                    </p:set>
                                    <p:animEffect transition="in" filter="randombar(horizontal)">
                                      <p:cBhvr>
                                        <p:cTn id="38" dur="500"/>
                                        <p:tgtEl>
                                          <p:spTgt spid="9">
                                            <p:txEl>
                                              <p:pRg st="9" end="9"/>
                                            </p:txEl>
                                          </p:spTgt>
                                        </p:tgtEl>
                                      </p:cBhvr>
                                    </p:animEffect>
                                  </p:childTnLst>
                                </p:cTn>
                              </p:par>
                              <p:par>
                                <p:cTn id="39" presetID="14" presetClass="entr" presetSubtype="10" fill="hold" nodeType="withEffect">
                                  <p:stCondLst>
                                    <p:cond delay="0"/>
                                  </p:stCondLst>
                                  <p:childTnLst>
                                    <p:set>
                                      <p:cBhvr>
                                        <p:cTn id="40" dur="1" fill="hold">
                                          <p:stCondLst>
                                            <p:cond delay="0"/>
                                          </p:stCondLst>
                                        </p:cTn>
                                        <p:tgtEl>
                                          <p:spTgt spid="9">
                                            <p:txEl>
                                              <p:pRg st="10" end="10"/>
                                            </p:txEl>
                                          </p:spTgt>
                                        </p:tgtEl>
                                        <p:attrNameLst>
                                          <p:attrName>style.visibility</p:attrName>
                                        </p:attrNameLst>
                                      </p:cBhvr>
                                      <p:to>
                                        <p:strVal val="visible"/>
                                      </p:to>
                                    </p:set>
                                    <p:animEffect transition="in" filter="randombar(horizontal)">
                                      <p:cBhvr>
                                        <p:cTn id="41" dur="500"/>
                                        <p:tgtEl>
                                          <p:spTgt spid="9">
                                            <p:txEl>
                                              <p:pRg st="10" end="10"/>
                                            </p:txEl>
                                          </p:spTgt>
                                        </p:tgtEl>
                                      </p:cBhvr>
                                    </p:animEffect>
                                  </p:childTnLst>
                                </p:cTn>
                              </p:par>
                            </p:childTnLst>
                          </p:cTn>
                        </p:par>
                      </p:childTnLst>
                    </p:cTn>
                  </p:par>
                  <p:par>
                    <p:cTn id="42" fill="hold">
                      <p:stCondLst>
                        <p:cond delay="indefinite"/>
                      </p:stCondLst>
                      <p:childTnLst>
                        <p:par>
                          <p:cTn id="43" fill="hold">
                            <p:stCondLst>
                              <p:cond delay="0"/>
                            </p:stCondLst>
                            <p:childTnLst>
                              <p:par>
                                <p:cTn id="44" presetID="14" presetClass="entr" presetSubtype="10" fill="hold" nodeType="clickEffect">
                                  <p:stCondLst>
                                    <p:cond delay="0"/>
                                  </p:stCondLst>
                                  <p:childTnLst>
                                    <p:set>
                                      <p:cBhvr>
                                        <p:cTn id="45" dur="1" fill="hold">
                                          <p:stCondLst>
                                            <p:cond delay="0"/>
                                          </p:stCondLst>
                                        </p:cTn>
                                        <p:tgtEl>
                                          <p:spTgt spid="9">
                                            <p:txEl>
                                              <p:pRg st="11" end="11"/>
                                            </p:txEl>
                                          </p:spTgt>
                                        </p:tgtEl>
                                        <p:attrNameLst>
                                          <p:attrName>style.visibility</p:attrName>
                                        </p:attrNameLst>
                                      </p:cBhvr>
                                      <p:to>
                                        <p:strVal val="visible"/>
                                      </p:to>
                                    </p:set>
                                    <p:animEffect transition="in" filter="randombar(horizontal)">
                                      <p:cBhvr>
                                        <p:cTn id="46" dur="500"/>
                                        <p:tgtEl>
                                          <p:spTgt spid="9">
                                            <p:txEl>
                                              <p:pRg st="11" end="1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C96220-924C-0D0F-CC7B-5558D7ACCDD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Content Placeholder 8">
                <a:extLst>
                  <a:ext uri="{FF2B5EF4-FFF2-40B4-BE49-F238E27FC236}">
                    <a16:creationId xmlns:a16="http://schemas.microsoft.com/office/drawing/2014/main" id="{0A45E4CE-2066-4F47-AD2C-031546F8F83C}"/>
                  </a:ext>
                </a:extLst>
              </p:cNvPr>
              <p:cNvSpPr>
                <a:spLocks noGrp="1"/>
              </p:cNvSpPr>
              <p:nvPr>
                <p:ph idx="1"/>
              </p:nvPr>
            </p:nvSpPr>
            <p:spPr/>
            <p:txBody>
              <a:bodyPr anchor="ctr">
                <a:normAutofit fontScale="92500" lnSpcReduction="10000"/>
              </a:bodyPr>
              <a:lstStyle/>
              <a:p>
                <a:r>
                  <a:rPr lang="en-US" dirty="0">
                    <a:latin typeface="+mj-lt"/>
                  </a:rPr>
                  <a:t>Computational complexity and bounds</a:t>
                </a:r>
              </a:p>
              <a:p>
                <a:pPr marL="342900" lvl="1"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2</m:t>
                      </m:r>
                      <m:r>
                        <a:rPr lang="en-US" b="0" i="1" smtClean="0">
                          <a:latin typeface="Cambria Math" panose="02040503050406030204" pitchFamily="18" charset="0"/>
                        </a:rPr>
                        <m:t>𝑁</m:t>
                      </m:r>
                      <m:rad>
                        <m:radPr>
                          <m:degHide m:val="on"/>
                          <m:ctrlPr>
                            <a:rPr lang="en-US" b="0" i="1" smtClean="0">
                              <a:latin typeface="Cambria Math" panose="02040503050406030204" pitchFamily="18" charset="0"/>
                            </a:rPr>
                          </m:ctrlPr>
                        </m:radPr>
                        <m:deg/>
                        <m:e>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𝑉</m:t>
                              </m:r>
                            </m:e>
                          </m:d>
                        </m:e>
                      </m:rad>
                      <m:r>
                        <a:rPr lang="en-US" b="0" i="1" smtClean="0">
                          <a:latin typeface="Cambria Math" panose="02040503050406030204" pitchFamily="18" charset="0"/>
                        </a:rPr>
                        <m:t>≤</m:t>
                      </m:r>
                      <m:nary>
                        <m:naryPr>
                          <m:chr m:val="∑"/>
                          <m:ctrlPr>
                            <a:rPr lang="en-US" b="0" i="1" smtClean="0">
                              <a:latin typeface="Cambria Math" panose="02040503050406030204" pitchFamily="18" charset="0"/>
                            </a:rPr>
                          </m:ctrlPr>
                        </m:naryPr>
                        <m:sub>
                          <m:r>
                            <a:rPr lang="en-US" b="0" i="1" smtClean="0">
                              <a:latin typeface="Cambria Math" panose="02040503050406030204" pitchFamily="18" charset="0"/>
                            </a:rPr>
                            <m:t>𝑘</m:t>
                          </m:r>
                          <m:r>
                            <a:rPr lang="en-US" b="0" i="1" smtClean="0">
                              <a:latin typeface="Cambria Math" panose="02040503050406030204" pitchFamily="18" charset="0"/>
                            </a:rPr>
                            <m:t>=1</m:t>
                          </m:r>
                        </m:sub>
                        <m:sup>
                          <m:r>
                            <a:rPr lang="en-US" b="0" i="1" smtClean="0">
                              <a:latin typeface="Cambria Math" panose="02040503050406030204" pitchFamily="18" charset="0"/>
                            </a:rPr>
                            <m:t>𝐾</m:t>
                          </m:r>
                        </m:sup>
                        <m:e>
                          <m:d>
                            <m:dPr>
                              <m:ctrlPr>
                                <a:rPr lang="en-US" b="0" i="1" smtClean="0">
                                  <a:latin typeface="Cambria Math" panose="02040503050406030204" pitchFamily="18" charset="0"/>
                                </a:rPr>
                              </m:ctrlPr>
                            </m:dPr>
                            <m:e>
                              <m:r>
                                <a:rPr lang="en-US" b="0" i="1" smtClean="0">
                                  <a:latin typeface="Cambria Math" panose="02040503050406030204" pitchFamily="18" charset="0"/>
                                </a:rPr>
                                <m:t>𝐾</m:t>
                              </m:r>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𝐶</m:t>
                                      </m:r>
                                    </m:e>
                                    <m:sub>
                                      <m:r>
                                        <a:rPr lang="en-US" b="0" i="1" smtClean="0">
                                          <a:latin typeface="Cambria Math" panose="02040503050406030204" pitchFamily="18" charset="0"/>
                                        </a:rPr>
                                        <m:t>𝑘</m:t>
                                      </m:r>
                                    </m:sub>
                                  </m:sSub>
                                </m:e>
                              </m:d>
                            </m:e>
                          </m:d>
                          <m:sSub>
                            <m:sSubPr>
                              <m:ctrlPr>
                                <a:rPr lang="en-US" b="0" i="1" smtClean="0">
                                  <a:latin typeface="Cambria Math" panose="02040503050406030204" pitchFamily="18" charset="0"/>
                                </a:rPr>
                              </m:ctrlPr>
                            </m:sSubPr>
                            <m:e>
                              <m:r>
                                <a:rPr lang="en-US" b="0" i="1" smtClean="0">
                                  <a:latin typeface="Cambria Math" panose="02040503050406030204" pitchFamily="18" charset="0"/>
                                </a:rPr>
                                <m:t>𝑁</m:t>
                              </m:r>
                            </m:e>
                            <m:sub>
                              <m:r>
                                <a:rPr lang="en-US" b="0" i="1" smtClean="0">
                                  <a:latin typeface="Cambria Math" panose="02040503050406030204" pitchFamily="18" charset="0"/>
                                </a:rPr>
                                <m:t>𝑘</m:t>
                              </m:r>
                            </m:sub>
                          </m:sSub>
                        </m:e>
                      </m:nary>
                      <m:r>
                        <a:rPr lang="en-US" b="0" i="1" smtClean="0">
                          <a:latin typeface="Cambria Math" panose="02040503050406030204" pitchFamily="18" charset="0"/>
                        </a:rPr>
                        <m:t>≤</m:t>
                      </m:r>
                      <m:r>
                        <a:rPr lang="en-US" b="0" i="1" smtClean="0">
                          <a:latin typeface="Cambria Math" panose="02040503050406030204" pitchFamily="18" charset="0"/>
                        </a:rPr>
                        <m:t>𝑁</m:t>
                      </m:r>
                      <m:d>
                        <m:dPr>
                          <m:ctrlPr>
                            <a:rPr lang="en-US" b="0" i="1" smtClean="0">
                              <a:latin typeface="Cambria Math" panose="02040503050406030204" pitchFamily="18" charset="0"/>
                            </a:rPr>
                          </m:ctrlPr>
                        </m:dPr>
                        <m:e>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𝑉</m:t>
                              </m:r>
                            </m:e>
                          </m:d>
                          <m:r>
                            <a:rPr lang="en-US" b="0" i="1" smtClean="0">
                              <a:latin typeface="Cambria Math" panose="02040503050406030204" pitchFamily="18" charset="0"/>
                            </a:rPr>
                            <m:t>+1</m:t>
                          </m:r>
                        </m:e>
                      </m:d>
                    </m:oMath>
                  </m:oMathPara>
                </a14:m>
                <a:endParaRPr lang="en-US" i="1" dirty="0">
                  <a:latin typeface="+mj-lt"/>
                </a:endParaRPr>
              </a:p>
              <a:p>
                <a:pPr lvl="1"/>
                <a:r>
                  <a:rPr lang="en-US" i="1" dirty="0">
                    <a:latin typeface="+mj-lt"/>
                  </a:rPr>
                  <a:t>Potential of acceleration scaling with </a:t>
                </a:r>
                <a14:m>
                  <m:oMath xmlns:m="http://schemas.openxmlformats.org/officeDocument/2006/math">
                    <m:rad>
                      <m:radPr>
                        <m:degHide m:val="on"/>
                        <m:ctrlPr>
                          <a:rPr lang="en-US" b="0" i="1" smtClean="0">
                            <a:latin typeface="Cambria Math" panose="02040503050406030204" pitchFamily="18" charset="0"/>
                          </a:rPr>
                        </m:ctrlPr>
                      </m:radPr>
                      <m:deg/>
                      <m:e>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𝑉</m:t>
                            </m:r>
                          </m:e>
                        </m:d>
                      </m:e>
                    </m:rad>
                  </m:oMath>
                </a14:m>
                <a:r>
                  <a:rPr lang="en-US" i="1" dirty="0">
                    <a:latin typeface="+mj-lt"/>
                  </a:rPr>
                  <a:t>!</a:t>
                </a:r>
              </a:p>
              <a:p>
                <a:pPr lvl="1"/>
                <a:r>
                  <a:rPr lang="en-US" i="1" dirty="0">
                    <a:latin typeface="+mj-lt"/>
                  </a:rPr>
                  <a:t>Achieved when entity group sizes are balanced</a:t>
                </a:r>
              </a:p>
              <a:p>
                <a:r>
                  <a:rPr lang="en-US" dirty="0">
                    <a:latin typeface="+mj-lt"/>
                  </a:rPr>
                  <a:t>Query locality</a:t>
                </a:r>
              </a:p>
              <a:p>
                <a:pPr lvl="1"/>
                <a:r>
                  <a:rPr lang="en-US" dirty="0">
                    <a:latin typeface="+mj-lt"/>
                  </a:rPr>
                  <a:t>Preserving baseline query answering performance </a:t>
                </a:r>
                <a14:m>
                  <m:oMath xmlns:m="http://schemas.openxmlformats.org/officeDocument/2006/math">
                    <m:r>
                      <a:rPr lang="en-US" b="0" i="1" smtClean="0">
                        <a:latin typeface="Cambria Math" panose="02040503050406030204" pitchFamily="18" charset="0"/>
                      </a:rPr>
                      <m:t>⇒</m:t>
                    </m:r>
                  </m:oMath>
                </a14:m>
                <a:r>
                  <a:rPr lang="en-US" dirty="0">
                    <a:latin typeface="+mj-lt"/>
                  </a:rPr>
                  <a:t> need predictable group membership</a:t>
                </a:r>
              </a:p>
              <a:p>
                <a:pPr lvl="1"/>
                <a:r>
                  <a:rPr lang="en-US" dirty="0">
                    <a:latin typeface="+mj-lt"/>
                  </a:rPr>
                  <a:t>Leiden community detection </a:t>
                </a:r>
                <a14:m>
                  <m:oMath xmlns:m="http://schemas.openxmlformats.org/officeDocument/2006/math">
                    <m:r>
                      <a:rPr lang="en-US" i="1">
                        <a:latin typeface="Cambria Math" panose="02040503050406030204" pitchFamily="18" charset="0"/>
                      </a:rPr>
                      <m:t>⇒</m:t>
                    </m:r>
                  </m:oMath>
                </a14:m>
                <a:r>
                  <a:rPr lang="en-US" dirty="0">
                    <a:latin typeface="+mj-lt"/>
                  </a:rPr>
                  <a:t> few inter-group entities </a:t>
                </a:r>
                <a14:m>
                  <m:oMath xmlns:m="http://schemas.openxmlformats.org/officeDocument/2006/math">
                    <m:d>
                      <m:dPr>
                        <m:begChr m:val="|"/>
                        <m:endChr m:val="|"/>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𝑉</m:t>
                            </m:r>
                          </m:e>
                          <m:sup>
                            <m:r>
                              <a:rPr lang="en-US" b="0" i="1" smtClean="0">
                                <a:latin typeface="Cambria Math" panose="02040503050406030204" pitchFamily="18" charset="0"/>
                              </a:rPr>
                              <m:t>∗</m:t>
                            </m:r>
                          </m:sup>
                        </m:sSup>
                      </m:e>
                    </m:d>
                  </m:oMath>
                </a14:m>
                <a:endParaRPr lang="en-US" dirty="0">
                  <a:latin typeface="+mj-lt"/>
                </a:endParaRPr>
              </a:p>
              <a:p>
                <a:r>
                  <a:rPr lang="en-US" dirty="0">
                    <a:latin typeface="+mj-lt"/>
                  </a:rPr>
                  <a:t>Feasibility trade-off</a:t>
                </a:r>
              </a:p>
              <a:p>
                <a:pPr lvl="1"/>
                <a:r>
                  <a:rPr lang="en-US" dirty="0">
                    <a:latin typeface="+mj-lt"/>
                  </a:rPr>
                  <a:t>Comparison of expected time to correct query answers between COINs and baselines</a:t>
                </a:r>
              </a:p>
              <a:p>
                <a:pPr marL="342900" lvl="1" indent="0">
                  <a:buNone/>
                </a:pPr>
                <a14:m>
                  <m:oMathPara xmlns:m="http://schemas.openxmlformats.org/officeDocument/2006/math">
                    <m:oMathParaPr>
                      <m:jc m:val="centerGroup"/>
                    </m:oMathParaPr>
                    <m:oMath xmlns:m="http://schemas.openxmlformats.org/officeDocument/2006/math">
                      <m:nary>
                        <m:naryPr>
                          <m:chr m:val="∑"/>
                          <m:ctrlPr>
                            <a:rPr lang="en-US" b="0" i="1" smtClean="0">
                              <a:latin typeface="Cambria Math" panose="02040503050406030204" pitchFamily="18" charset="0"/>
                            </a:rPr>
                          </m:ctrlPr>
                        </m:naryPr>
                        <m:sub>
                          <m:r>
                            <a:rPr lang="en-US" b="0" i="1" smtClean="0">
                              <a:latin typeface="Cambria Math" panose="02040503050406030204" pitchFamily="18" charset="0"/>
                            </a:rPr>
                            <m:t>𝑘</m:t>
                          </m:r>
                          <m:r>
                            <a:rPr lang="en-US" b="0" i="1" smtClean="0">
                              <a:latin typeface="Cambria Math" panose="02040503050406030204" pitchFamily="18" charset="0"/>
                            </a:rPr>
                            <m:t>=1</m:t>
                          </m:r>
                        </m:sub>
                        <m:sup>
                          <m:r>
                            <a:rPr lang="en-US" b="0" i="1" smtClean="0">
                              <a:latin typeface="Cambria Math" panose="02040503050406030204" pitchFamily="18" charset="0"/>
                            </a:rPr>
                            <m:t>𝐾</m:t>
                          </m:r>
                        </m:sup>
                        <m:e>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𝑁</m:t>
                                  </m:r>
                                </m:e>
                                <m:sub>
                                  <m:r>
                                    <a:rPr lang="en-US" b="0" i="1" smtClean="0">
                                      <a:latin typeface="Cambria Math" panose="02040503050406030204" pitchFamily="18" charset="0"/>
                                    </a:rPr>
                                    <m:t>𝑘</m:t>
                                  </m:r>
                                </m:sub>
                              </m:sSub>
                            </m:num>
                            <m:den>
                              <m:r>
                                <a:rPr lang="en-US" b="0" i="1" smtClean="0">
                                  <a:latin typeface="Cambria Math" panose="02040503050406030204" pitchFamily="18" charset="0"/>
                                </a:rPr>
                                <m:t>𝑁</m:t>
                              </m:r>
                            </m:den>
                          </m:f>
                          <m:f>
                            <m:fPr>
                              <m:ctrlPr>
                                <a:rPr lang="en-US" b="0" i="1" smtClean="0">
                                  <a:latin typeface="Cambria Math" panose="02040503050406030204" pitchFamily="18" charset="0"/>
                                </a:rPr>
                              </m:ctrlPr>
                            </m:fPr>
                            <m:num>
                              <m:r>
                                <a:rPr lang="en-US" b="0" i="1" smtClean="0">
                                  <a:latin typeface="Cambria Math" panose="02040503050406030204" pitchFamily="18" charset="0"/>
                                </a:rPr>
                                <m:t>1+</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𝜀</m:t>
                                  </m:r>
                                </m:e>
                                <m:sub>
                                  <m:r>
                                    <a:rPr lang="en-US" b="0" i="1" smtClean="0">
                                      <a:latin typeface="Cambria Math" panose="02040503050406030204" pitchFamily="18" charset="0"/>
                                    </a:rPr>
                                    <m:t>𝑘</m:t>
                                  </m:r>
                                </m:sub>
                              </m:sSub>
                            </m:num>
                            <m:den>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𝑘</m:t>
                                  </m:r>
                                </m:sub>
                              </m:sSub>
                            </m:den>
                          </m:f>
                        </m:e>
                      </m:nary>
                      <m:r>
                        <a:rPr lang="en-US" b="0" i="1" smtClean="0">
                          <a:latin typeface="Cambria Math" panose="02040503050406030204" pitchFamily="18" charset="0"/>
                        </a:rPr>
                        <m:t>≤1</m:t>
                      </m:r>
                    </m:oMath>
                  </m:oMathPara>
                </a14:m>
                <a:endParaRPr lang="en-US" dirty="0">
                  <a:latin typeface="+mj-lt"/>
                </a:endParaRPr>
              </a:p>
            </p:txBody>
          </p:sp>
        </mc:Choice>
        <mc:Fallback xmlns="">
          <p:sp>
            <p:nvSpPr>
              <p:cNvPr id="9" name="Content Placeholder 8">
                <a:extLst>
                  <a:ext uri="{FF2B5EF4-FFF2-40B4-BE49-F238E27FC236}">
                    <a16:creationId xmlns:a16="http://schemas.microsoft.com/office/drawing/2014/main" id="{0A45E4CE-2066-4F47-AD2C-031546F8F83C}"/>
                  </a:ext>
                </a:extLst>
              </p:cNvPr>
              <p:cNvSpPr>
                <a:spLocks noGrp="1" noRot="1" noChangeAspect="1" noMove="1" noResize="1" noEditPoints="1" noAdjustHandles="1" noChangeArrowheads="1" noChangeShapeType="1" noTextEdit="1"/>
              </p:cNvSpPr>
              <p:nvPr>
                <p:ph idx="1"/>
              </p:nvPr>
            </p:nvSpPr>
            <p:spPr>
              <a:blipFill>
                <a:blip r:embed="rId3"/>
                <a:stretch>
                  <a:fillRect t="-541"/>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B7217F71-5096-BDFF-D08B-22780CB0A51C}"/>
              </a:ext>
            </a:extLst>
          </p:cNvPr>
          <p:cNvSpPr>
            <a:spLocks noGrp="1"/>
          </p:cNvSpPr>
          <p:nvPr>
            <p:ph type="title"/>
          </p:nvPr>
        </p:nvSpPr>
        <p:spPr>
          <a:xfrm>
            <a:off x="904875" y="131032"/>
            <a:ext cx="7207279" cy="1072753"/>
          </a:xfrm>
        </p:spPr>
        <p:txBody>
          <a:bodyPr>
            <a:normAutofit/>
          </a:bodyPr>
          <a:lstStyle/>
          <a:p>
            <a:r>
              <a:rPr lang="en-US" dirty="0"/>
              <a:t>3.1	Community-Informed Graph Embeddings</a:t>
            </a:r>
            <a:br>
              <a:rPr lang="en-US" dirty="0"/>
            </a:br>
            <a:r>
              <a:rPr lang="en-US" sz="2400" b="0" i="1" dirty="0"/>
              <a:t>Contributions - Theory</a:t>
            </a:r>
            <a:endParaRPr lang="en-GB" sz="2400" b="0" i="1" dirty="0"/>
          </a:p>
        </p:txBody>
      </p:sp>
      <p:sp>
        <p:nvSpPr>
          <p:cNvPr id="5" name="Date Placeholder 4">
            <a:extLst>
              <a:ext uri="{FF2B5EF4-FFF2-40B4-BE49-F238E27FC236}">
                <a16:creationId xmlns:a16="http://schemas.microsoft.com/office/drawing/2014/main" id="{CD8A79B5-C0E8-1C1D-7787-A1C76E4AD4AC}"/>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FBE75838-461B-96CB-923D-169919D67E92}"/>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7C93E2AB-62CA-84F6-FDFA-F28A4B9A82CE}"/>
              </a:ext>
            </a:extLst>
          </p:cNvPr>
          <p:cNvSpPr>
            <a:spLocks noGrp="1"/>
          </p:cNvSpPr>
          <p:nvPr>
            <p:ph type="sldNum" sz="quarter" idx="12"/>
          </p:nvPr>
        </p:nvSpPr>
        <p:spPr/>
        <p:txBody>
          <a:bodyPr/>
          <a:lstStyle/>
          <a:p>
            <a:fld id="{E1E1CD7C-2161-7D43-862E-CE4C333CD873}" type="slidenum">
              <a:rPr lang="fr-FR" smtClean="0"/>
              <a:pPr/>
              <a:t>15</a:t>
            </a:fld>
            <a:endParaRPr lang="fr-FR" dirty="0"/>
          </a:p>
        </p:txBody>
      </p:sp>
    </p:spTree>
    <p:extLst>
      <p:ext uri="{BB962C8B-B14F-4D97-AF65-F5344CB8AC3E}">
        <p14:creationId xmlns:p14="http://schemas.microsoft.com/office/powerpoint/2010/main" val="33689645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6" dur="500"/>
                                        <p:tgtEl>
                                          <p:spTgt spid="9">
                                            <p:txEl>
                                              <p:pRg st="3" end="3"/>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4" presetClass="entr" presetSubtype="10" fill="hold" nodeType="clickEffect">
                                  <p:stCondLst>
                                    <p:cond delay="0"/>
                                  </p:stCondLst>
                                  <p:childTnLst>
                                    <p:set>
                                      <p:cBhvr>
                                        <p:cTn id="20" dur="1" fill="hold">
                                          <p:stCondLst>
                                            <p:cond delay="0"/>
                                          </p:stCondLst>
                                        </p:cTn>
                                        <p:tgtEl>
                                          <p:spTgt spid="9">
                                            <p:txEl>
                                              <p:pRg st="4" end="4"/>
                                            </p:txEl>
                                          </p:spTgt>
                                        </p:tgtEl>
                                        <p:attrNameLst>
                                          <p:attrName>style.visibility</p:attrName>
                                        </p:attrNameLst>
                                      </p:cBhvr>
                                      <p:to>
                                        <p:strVal val="visible"/>
                                      </p:to>
                                    </p:set>
                                    <p:animEffect transition="in" filter="randombar(horizontal)">
                                      <p:cBhvr>
                                        <p:cTn id="21" dur="500"/>
                                        <p:tgtEl>
                                          <p:spTgt spid="9">
                                            <p:txEl>
                                              <p:pRg st="4" end="4"/>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4" dur="500"/>
                                        <p:tgtEl>
                                          <p:spTgt spid="9">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9">
                                            <p:txEl>
                                              <p:pRg st="6" end="6"/>
                                            </p:txEl>
                                          </p:spTgt>
                                        </p:tgtEl>
                                        <p:attrNameLst>
                                          <p:attrName>style.visibility</p:attrName>
                                        </p:attrNameLst>
                                      </p:cBhvr>
                                      <p:to>
                                        <p:strVal val="visible"/>
                                      </p:to>
                                    </p:set>
                                    <p:animEffect transition="in" filter="randombar(horizontal)">
                                      <p:cBhvr>
                                        <p:cTn id="27" dur="500"/>
                                        <p:tgtEl>
                                          <p:spTgt spid="9">
                                            <p:txEl>
                                              <p:pRg st="6" end="6"/>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4" presetClass="entr" presetSubtype="10" fill="hold" nodeType="clickEffect">
                                  <p:stCondLst>
                                    <p:cond delay="0"/>
                                  </p:stCondLst>
                                  <p:childTnLst>
                                    <p:set>
                                      <p:cBhvr>
                                        <p:cTn id="31"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2" dur="500"/>
                                        <p:tgtEl>
                                          <p:spTgt spid="9">
                                            <p:txEl>
                                              <p:pRg st="7" end="7"/>
                                            </p:txEl>
                                          </p:spTgt>
                                        </p:tgtEl>
                                      </p:cBhvr>
                                    </p:animEffect>
                                  </p:childTnLst>
                                </p:cTn>
                              </p:par>
                              <p:par>
                                <p:cTn id="33" presetID="14" presetClass="entr" presetSubtype="10" fill="hold" nodeType="withEffect">
                                  <p:stCondLst>
                                    <p:cond delay="0"/>
                                  </p:stCondLst>
                                  <p:childTnLst>
                                    <p:set>
                                      <p:cBhvr>
                                        <p:cTn id="34" dur="1" fill="hold">
                                          <p:stCondLst>
                                            <p:cond delay="0"/>
                                          </p:stCondLst>
                                        </p:cTn>
                                        <p:tgtEl>
                                          <p:spTgt spid="9">
                                            <p:txEl>
                                              <p:pRg st="8" end="8"/>
                                            </p:txEl>
                                          </p:spTgt>
                                        </p:tgtEl>
                                        <p:attrNameLst>
                                          <p:attrName>style.visibility</p:attrName>
                                        </p:attrNameLst>
                                      </p:cBhvr>
                                      <p:to>
                                        <p:strVal val="visible"/>
                                      </p:to>
                                    </p:set>
                                    <p:animEffect transition="in" filter="randombar(horizontal)">
                                      <p:cBhvr>
                                        <p:cTn id="35" dur="500"/>
                                        <p:tgtEl>
                                          <p:spTgt spid="9">
                                            <p:txEl>
                                              <p:pRg st="8" end="8"/>
                                            </p:txEl>
                                          </p:spTgt>
                                        </p:tgtEl>
                                      </p:cBhvr>
                                    </p:animEffect>
                                  </p:childTnLst>
                                </p:cTn>
                              </p:par>
                              <p:par>
                                <p:cTn id="36" presetID="14" presetClass="entr" presetSubtype="10" fill="hold" nodeType="withEffect">
                                  <p:stCondLst>
                                    <p:cond delay="0"/>
                                  </p:stCondLst>
                                  <p:childTnLst>
                                    <p:set>
                                      <p:cBhvr>
                                        <p:cTn id="37" dur="1" fill="hold">
                                          <p:stCondLst>
                                            <p:cond delay="0"/>
                                          </p:stCondLst>
                                        </p:cTn>
                                        <p:tgtEl>
                                          <p:spTgt spid="9">
                                            <p:txEl>
                                              <p:pRg st="9" end="9"/>
                                            </p:txEl>
                                          </p:spTgt>
                                        </p:tgtEl>
                                        <p:attrNameLst>
                                          <p:attrName>style.visibility</p:attrName>
                                        </p:attrNameLst>
                                      </p:cBhvr>
                                      <p:to>
                                        <p:strVal val="visible"/>
                                      </p:to>
                                    </p:set>
                                    <p:animEffect transition="in" filter="randombar(horizontal)">
                                      <p:cBhvr>
                                        <p:cTn id="38" dur="500"/>
                                        <p:tgtEl>
                                          <p:spTgt spid="9">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ED5435-B1EF-D177-CAAF-7F252E2CE5C9}"/>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E9467C76-635B-0C23-8326-1B2FC2E8D322}"/>
              </a:ext>
            </a:extLst>
          </p:cNvPr>
          <p:cNvSpPr>
            <a:spLocks noGrp="1"/>
          </p:cNvSpPr>
          <p:nvPr>
            <p:ph type="title"/>
          </p:nvPr>
        </p:nvSpPr>
        <p:spPr>
          <a:xfrm>
            <a:off x="904875" y="131032"/>
            <a:ext cx="7207279" cy="1072753"/>
          </a:xfrm>
        </p:spPr>
        <p:txBody>
          <a:bodyPr>
            <a:normAutofit/>
          </a:bodyPr>
          <a:lstStyle/>
          <a:p>
            <a:r>
              <a:rPr lang="en-US" dirty="0"/>
              <a:t>3.1	Community-Informed Graph Embeddings</a:t>
            </a:r>
            <a:br>
              <a:rPr lang="en-US" dirty="0"/>
            </a:br>
            <a:r>
              <a:rPr lang="en-US" sz="2400" b="0" i="1" dirty="0"/>
              <a:t>Methodology - The COINs architecture</a:t>
            </a:r>
            <a:endParaRPr lang="en-GB" sz="2400" b="0" i="1" dirty="0"/>
          </a:p>
        </p:txBody>
      </p:sp>
      <p:sp>
        <p:nvSpPr>
          <p:cNvPr id="5" name="Date Placeholder 4">
            <a:extLst>
              <a:ext uri="{FF2B5EF4-FFF2-40B4-BE49-F238E27FC236}">
                <a16:creationId xmlns:a16="http://schemas.microsoft.com/office/drawing/2014/main" id="{B0DF60D5-B5E5-D895-0B2E-0323177727BB}"/>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6870B660-CCAD-D878-94AC-09F7B189E522}"/>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E9CA041F-473F-B3C5-2B52-B60B7E912804}"/>
              </a:ext>
            </a:extLst>
          </p:cNvPr>
          <p:cNvSpPr>
            <a:spLocks noGrp="1"/>
          </p:cNvSpPr>
          <p:nvPr>
            <p:ph type="sldNum" sz="quarter" idx="12"/>
          </p:nvPr>
        </p:nvSpPr>
        <p:spPr/>
        <p:txBody>
          <a:bodyPr/>
          <a:lstStyle/>
          <a:p>
            <a:fld id="{E1E1CD7C-2161-7D43-862E-CE4C333CD873}" type="slidenum">
              <a:rPr lang="fr-FR" smtClean="0"/>
              <a:pPr/>
              <a:t>16</a:t>
            </a:fld>
            <a:endParaRPr lang="fr-FR" dirty="0"/>
          </a:p>
        </p:txBody>
      </p:sp>
      <mc:AlternateContent xmlns:mc="http://schemas.openxmlformats.org/markup-compatibility/2006" xmlns:a14="http://schemas.microsoft.com/office/drawing/2010/main">
        <mc:Choice Requires="a14">
          <p:sp>
            <p:nvSpPr>
              <p:cNvPr id="10" name="Content Placeholder 9">
                <a:extLst>
                  <a:ext uri="{FF2B5EF4-FFF2-40B4-BE49-F238E27FC236}">
                    <a16:creationId xmlns:a16="http://schemas.microsoft.com/office/drawing/2014/main" id="{4D7200C6-A19B-266B-EAB2-03E7705933CB}"/>
                  </a:ext>
                </a:extLst>
              </p:cNvPr>
              <p:cNvSpPr>
                <a:spLocks noGrp="1"/>
              </p:cNvSpPr>
              <p:nvPr>
                <p:ph idx="1"/>
              </p:nvPr>
            </p:nvSpPr>
            <p:spPr/>
            <p:txBody>
              <a:bodyPr anchor="ctr"/>
              <a:lstStyle/>
              <a:p>
                <a:r>
                  <a:rPr lang="en-US" dirty="0">
                    <a:latin typeface="+mj-lt"/>
                  </a:rPr>
                  <a:t>Unchanged:</a:t>
                </a:r>
                <a14:m>
                  <m:oMath xmlns:m="http://schemas.openxmlformats.org/officeDocument/2006/math">
                    <m:r>
                      <a:rPr lang="en-US" b="0" i="0" smtClean="0">
                        <a:latin typeface="Cambria Math" panose="02040503050406030204" pitchFamily="18" charset="0"/>
                      </a:rPr>
                      <m:t> </m:t>
                    </m:r>
                    <m:sSub>
                      <m:sSubPr>
                        <m:ctrlPr>
                          <a:rPr lang="en-US" b="0" i="1" smtClean="0">
                            <a:latin typeface="Cambria Math" panose="02040503050406030204" pitchFamily="18" charset="0"/>
                          </a:rPr>
                        </m:ctrlPr>
                      </m:sSubPr>
                      <m:e>
                        <m:r>
                          <a:rPr lang="en-US" b="0" i="0" smtClean="0">
                            <a:latin typeface="Cambria Math" panose="02040503050406030204" pitchFamily="18" charset="0"/>
                          </a:rPr>
                          <m:t>𝑔</m:t>
                        </m:r>
                      </m:e>
                      <m:sub>
                        <m:r>
                          <a:rPr lang="en-US" b="0" i="0" smtClean="0">
                            <a:latin typeface="Cambria Math" panose="02040503050406030204" pitchFamily="18" charset="0"/>
                          </a:rPr>
                          <m:t>𝑅</m:t>
                        </m:r>
                      </m:sub>
                    </m:sSub>
                    <m:r>
                      <a:rPr lang="en-US" i="1">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𝑔</m:t>
                        </m:r>
                      </m:e>
                      <m:sub>
                        <m:r>
                          <a:rPr lang="en-US" b="0" i="1" smtClean="0">
                            <a:latin typeface="Cambria Math" panose="02040503050406030204" pitchFamily="18" charset="0"/>
                          </a:rPr>
                          <m:t>𝑃</m:t>
                        </m:r>
                      </m:sub>
                    </m:sSub>
                    <m:r>
                      <a:rPr lang="en-US" i="1">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𝑔</m:t>
                        </m:r>
                      </m:e>
                      <m:sub>
                        <m:r>
                          <a:rPr lang="en-US" b="0" i="1" smtClean="0">
                            <a:latin typeface="Cambria Math" panose="02040503050406030204" pitchFamily="18" charset="0"/>
                          </a:rPr>
                          <m:t>𝐼</m:t>
                        </m:r>
                      </m:sub>
                    </m:sSub>
                  </m:oMath>
                </a14:m>
                <a:endParaRPr lang="en-US" dirty="0">
                  <a:latin typeface="+mj-lt"/>
                </a:endParaRPr>
              </a:p>
              <a:p>
                <a:r>
                  <a:rPr lang="en-US" dirty="0">
                    <a:latin typeface="+mj-lt"/>
                  </a:rPr>
                  <a:t>Community embedding models:</a:t>
                </a:r>
                <a:endParaRPr lang="en-US" b="0"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𝑔</m:t>
                          </m:r>
                        </m:e>
                        <m:sub>
                          <m:r>
                            <a:rPr lang="en-US" b="0" i="1" smtClean="0">
                              <a:latin typeface="Cambria Math" panose="02040503050406030204" pitchFamily="18" charset="0"/>
                            </a:rPr>
                            <m:t>𝑉</m:t>
                          </m:r>
                        </m:sub>
                        <m:sup>
                          <m:d>
                            <m:dPr>
                              <m:ctrlPr>
                                <a:rPr lang="en-US" b="0" i="1" smtClean="0">
                                  <a:latin typeface="Cambria Math" panose="02040503050406030204" pitchFamily="18" charset="0"/>
                                </a:rPr>
                              </m:ctrlPr>
                            </m:dPr>
                            <m:e>
                              <m:r>
                                <a:rPr lang="en-US" b="0" i="1" smtClean="0">
                                  <a:latin typeface="Cambria Math" panose="02040503050406030204" pitchFamily="18" charset="0"/>
                                </a:rPr>
                                <m:t>𝐶</m:t>
                              </m:r>
                            </m:e>
                          </m:d>
                        </m:sup>
                      </m:sSubSup>
                      <m:r>
                        <a:rPr lang="en-US" b="0" i="1" smtClean="0">
                          <a:latin typeface="Cambria Math" panose="02040503050406030204" pitchFamily="18" charset="0"/>
                        </a:rPr>
                        <m:t>:</m:t>
                      </m:r>
                      <m:r>
                        <a:rPr lang="en-US" b="0" i="1" smtClean="0">
                          <a:latin typeface="Cambria Math" panose="02040503050406030204" pitchFamily="18" charset="0"/>
                        </a:rPr>
                        <m:t>𝒞</m:t>
                      </m:r>
                      <m:r>
                        <a:rPr lang="en-US" b="0" i="1" smtClean="0">
                          <a:latin typeface="Cambria Math" panose="02040503050406030204" pitchFamily="18" charset="0"/>
                        </a:rPr>
                        <m:t>→</m:t>
                      </m:r>
                      <m:r>
                        <a:rPr lang="en-US" b="0" i="1" smtClean="0">
                          <a:latin typeface="Cambria Math" panose="02040503050406030204" pitchFamily="18" charset="0"/>
                        </a:rPr>
                        <m:t>ℰ</m:t>
                      </m:r>
                      <m:r>
                        <a:rPr lang="en-US" b="0" i="1" smtClean="0">
                          <a:latin typeface="Cambria Math" panose="02040503050406030204" pitchFamily="18" charset="0"/>
                        </a:rPr>
                        <m:t>,</m:t>
                      </m:r>
                      <m:sSubSup>
                        <m:sSubSupPr>
                          <m:ctrlPr>
                            <a:rPr lang="en-US" i="1" smtClean="0">
                              <a:latin typeface="Cambria Math" panose="02040503050406030204" pitchFamily="18" charset="0"/>
                            </a:rPr>
                          </m:ctrlPr>
                        </m:sSubSupPr>
                        <m:e>
                          <m:r>
                            <a:rPr lang="en-US" i="1">
                              <a:latin typeface="Cambria Math" panose="02040503050406030204" pitchFamily="18" charset="0"/>
                            </a:rPr>
                            <m:t>𝑔</m:t>
                          </m:r>
                        </m:e>
                        <m:sub>
                          <m:r>
                            <a:rPr lang="en-US" b="0" i="1" smtClean="0">
                              <a:latin typeface="Cambria Math" panose="02040503050406030204" pitchFamily="18" charset="0"/>
                            </a:rPr>
                            <m:t>𝑅</m:t>
                          </m:r>
                        </m:sub>
                        <m:sup>
                          <m:d>
                            <m:dPr>
                              <m:ctrlPr>
                                <a:rPr lang="en-US" b="0" i="1" smtClean="0">
                                  <a:latin typeface="Cambria Math" panose="02040503050406030204" pitchFamily="18" charset="0"/>
                                </a:rPr>
                              </m:ctrlPr>
                            </m:dPr>
                            <m:e>
                              <m:r>
                                <a:rPr lang="en-US" i="1">
                                  <a:latin typeface="Cambria Math" panose="02040503050406030204" pitchFamily="18" charset="0"/>
                                </a:rPr>
                                <m:t>𝐶</m:t>
                              </m:r>
                            </m:e>
                          </m:d>
                        </m:sup>
                      </m:sSubSup>
                      <m:r>
                        <a:rPr lang="en-US" i="1">
                          <a:latin typeface="Cambria Math" panose="02040503050406030204" pitchFamily="18" charset="0"/>
                        </a:rPr>
                        <m:t>,</m:t>
                      </m:r>
                      <m:sSubSup>
                        <m:sSubSupPr>
                          <m:ctrlPr>
                            <a:rPr lang="en-US" i="1">
                              <a:latin typeface="Cambria Math" panose="02040503050406030204" pitchFamily="18" charset="0"/>
                            </a:rPr>
                          </m:ctrlPr>
                        </m:sSubSupPr>
                        <m:e>
                          <m:r>
                            <a:rPr lang="en-US" i="1">
                              <a:latin typeface="Cambria Math" panose="02040503050406030204" pitchFamily="18" charset="0"/>
                            </a:rPr>
                            <m:t>𝑔</m:t>
                          </m:r>
                        </m:e>
                        <m:sub>
                          <m:r>
                            <a:rPr lang="en-US" b="0" i="1" smtClean="0">
                              <a:latin typeface="Cambria Math" panose="02040503050406030204" pitchFamily="18" charset="0"/>
                            </a:rPr>
                            <m:t>𝑃</m:t>
                          </m:r>
                        </m:sub>
                        <m:sup>
                          <m:d>
                            <m:dPr>
                              <m:ctrlPr>
                                <a:rPr lang="en-US" b="0" i="1" smtClean="0">
                                  <a:latin typeface="Cambria Math" panose="02040503050406030204" pitchFamily="18" charset="0"/>
                                </a:rPr>
                              </m:ctrlPr>
                            </m:dPr>
                            <m:e>
                              <m:r>
                                <a:rPr lang="en-US" i="1">
                                  <a:latin typeface="Cambria Math" panose="02040503050406030204" pitchFamily="18" charset="0"/>
                                </a:rPr>
                                <m:t>𝐶</m:t>
                              </m:r>
                            </m:e>
                          </m:d>
                        </m:sup>
                      </m:sSubSup>
                      <m:r>
                        <a:rPr lang="en-US" i="1">
                          <a:latin typeface="Cambria Math" panose="02040503050406030204" pitchFamily="18" charset="0"/>
                        </a:rPr>
                        <m:t>,</m:t>
                      </m:r>
                      <m:sSubSup>
                        <m:sSubSupPr>
                          <m:ctrlPr>
                            <a:rPr lang="en-US" i="1">
                              <a:latin typeface="Cambria Math" panose="02040503050406030204" pitchFamily="18" charset="0"/>
                            </a:rPr>
                          </m:ctrlPr>
                        </m:sSubSupPr>
                        <m:e>
                          <m:r>
                            <a:rPr lang="en-US" i="1">
                              <a:latin typeface="Cambria Math" panose="02040503050406030204" pitchFamily="18" charset="0"/>
                            </a:rPr>
                            <m:t>𝑔</m:t>
                          </m:r>
                        </m:e>
                        <m:sub>
                          <m:r>
                            <a:rPr lang="en-US" b="0" i="1" smtClean="0">
                              <a:latin typeface="Cambria Math" panose="02040503050406030204" pitchFamily="18" charset="0"/>
                            </a:rPr>
                            <m:t>𝐼</m:t>
                          </m:r>
                        </m:sub>
                        <m:sup>
                          <m:d>
                            <m:dPr>
                              <m:ctrlPr>
                                <a:rPr lang="en-US" b="0" i="1" smtClean="0">
                                  <a:latin typeface="Cambria Math" panose="02040503050406030204" pitchFamily="18" charset="0"/>
                                </a:rPr>
                              </m:ctrlPr>
                            </m:dPr>
                            <m:e>
                              <m:r>
                                <a:rPr lang="en-US" i="1">
                                  <a:latin typeface="Cambria Math" panose="02040503050406030204" pitchFamily="18" charset="0"/>
                                </a:rPr>
                                <m:t>𝐶</m:t>
                              </m:r>
                            </m:e>
                          </m:d>
                        </m:sup>
                      </m:sSubSup>
                    </m:oMath>
                  </m:oMathPara>
                </a14:m>
                <a:endParaRPr lang="en-GB" dirty="0">
                  <a:latin typeface="+mj-lt"/>
                </a:endParaRPr>
              </a:p>
              <a:p>
                <a:r>
                  <a:rPr lang="en-GB" dirty="0">
                    <a:latin typeface="+mj-lt"/>
                  </a:rPr>
                  <a:t>Intra-community node embedding models:</a:t>
                </a:r>
              </a:p>
              <a:p>
                <a:pPr marL="0" indent="0">
                  <a:buNone/>
                </a:pPr>
                <a14:m>
                  <m:oMathPara xmlns:m="http://schemas.openxmlformats.org/officeDocument/2006/math">
                    <m:oMathParaPr>
                      <m:jc m:val="centerGroup"/>
                    </m:oMathParaPr>
                    <m:oMath xmlns:m="http://schemas.openxmlformats.org/officeDocument/2006/math">
                      <m:sSubSup>
                        <m:sSubSupPr>
                          <m:ctrlPr>
                            <a:rPr lang="en-US" b="0" i="1" smtClean="0">
                              <a:latin typeface="Cambria Math" panose="02040503050406030204" pitchFamily="18" charset="0"/>
                            </a:rPr>
                          </m:ctrlPr>
                        </m:sSubSupPr>
                        <m:e>
                          <m:d>
                            <m:dPr>
                              <m:begChr m:val="{"/>
                              <m:endChr m:val="}"/>
                              <m:ctrlPr>
                                <a:rPr lang="en-US" b="0" i="1" smtClean="0">
                                  <a:latin typeface="Cambria Math" panose="02040503050406030204" pitchFamily="18" charset="0"/>
                                </a:rPr>
                              </m:ctrlPr>
                            </m:dPr>
                            <m:e>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𝑔</m:t>
                                  </m:r>
                                </m:e>
                                <m:sub>
                                  <m:r>
                                    <a:rPr lang="en-US" b="0" i="1" smtClean="0">
                                      <a:latin typeface="Cambria Math" panose="02040503050406030204" pitchFamily="18" charset="0"/>
                                    </a:rPr>
                                    <m:t>𝑉</m:t>
                                  </m:r>
                                </m:sub>
                                <m:sup>
                                  <m:d>
                                    <m:dPr>
                                      <m:ctrlPr>
                                        <a:rPr lang="en-US" b="0" i="1" smtClean="0">
                                          <a:latin typeface="Cambria Math" panose="02040503050406030204" pitchFamily="18" charset="0"/>
                                        </a:rPr>
                                      </m:ctrlPr>
                                    </m:dPr>
                                    <m:e>
                                      <m:r>
                                        <a:rPr lang="en-US" b="0" i="1" smtClean="0">
                                          <a:latin typeface="Cambria Math" panose="02040503050406030204" pitchFamily="18" charset="0"/>
                                        </a:rPr>
                                        <m:t>𝑘</m:t>
                                      </m:r>
                                    </m:e>
                                  </m:d>
                                </m:sup>
                              </m:sSubSup>
                            </m:e>
                          </m:d>
                        </m:e>
                        <m:sub>
                          <m:r>
                            <a:rPr lang="en-US" b="0" i="1" smtClean="0">
                              <a:latin typeface="Cambria Math" panose="02040503050406030204" pitchFamily="18" charset="0"/>
                            </a:rPr>
                            <m:t>𝑘</m:t>
                          </m:r>
                          <m:r>
                            <a:rPr lang="en-US" b="0" i="1" smtClean="0">
                              <a:latin typeface="Cambria Math" panose="02040503050406030204" pitchFamily="18" charset="0"/>
                            </a:rPr>
                            <m:t>=1</m:t>
                          </m:r>
                        </m:sub>
                        <m:sup>
                          <m:r>
                            <a:rPr lang="en-US" b="0" i="1" smtClean="0">
                              <a:latin typeface="Cambria Math" panose="02040503050406030204" pitchFamily="18" charset="0"/>
                            </a:rPr>
                            <m:t>𝐾</m:t>
                          </m:r>
                        </m:sup>
                      </m:sSubSup>
                      <m:r>
                        <a:rPr lang="en-US" b="0" i="1" smtClean="0">
                          <a:latin typeface="Cambria Math" panose="02040503050406030204" pitchFamily="18" charset="0"/>
                        </a:rPr>
                        <m:t>,</m:t>
                      </m:r>
                      <m:sSubSup>
                        <m:sSubSupPr>
                          <m:ctrlPr>
                            <a:rPr lang="en-US" i="1">
                              <a:latin typeface="Cambria Math" panose="02040503050406030204" pitchFamily="18" charset="0"/>
                            </a:rPr>
                          </m:ctrlPr>
                        </m:sSubSupPr>
                        <m:e>
                          <m:r>
                            <a:rPr lang="en-US" i="1">
                              <a:latin typeface="Cambria Math" panose="02040503050406030204" pitchFamily="18" charset="0"/>
                            </a:rPr>
                            <m:t>𝑔</m:t>
                          </m:r>
                        </m:e>
                        <m:sub>
                          <m:r>
                            <a:rPr lang="en-US" i="1">
                              <a:latin typeface="Cambria Math" panose="02040503050406030204" pitchFamily="18" charset="0"/>
                            </a:rPr>
                            <m:t>𝑉</m:t>
                          </m:r>
                        </m:sub>
                        <m:sup>
                          <m:d>
                            <m:dPr>
                              <m:ctrlPr>
                                <a:rPr lang="en-US" i="1">
                                  <a:latin typeface="Cambria Math" panose="02040503050406030204" pitchFamily="18" charset="0"/>
                                </a:rPr>
                              </m:ctrlPr>
                            </m:dPr>
                            <m:e>
                              <m:r>
                                <a:rPr lang="en-US" i="1">
                                  <a:latin typeface="Cambria Math" panose="02040503050406030204" pitchFamily="18" charset="0"/>
                                </a:rPr>
                                <m:t>𝑘</m:t>
                              </m:r>
                            </m:e>
                          </m:d>
                        </m:sup>
                      </m:sSubSup>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𝐶</m:t>
                          </m:r>
                        </m:e>
                        <m:sub>
                          <m:r>
                            <a:rPr lang="en-US" b="0" i="1" smtClean="0">
                              <a:latin typeface="Cambria Math" panose="02040503050406030204" pitchFamily="18" charset="0"/>
                            </a:rPr>
                            <m:t>𝑘</m:t>
                          </m:r>
                        </m:sub>
                      </m:sSub>
                      <m:r>
                        <a:rPr lang="en-US" b="0" i="1" smtClean="0">
                          <a:latin typeface="Cambria Math" panose="02040503050406030204" pitchFamily="18" charset="0"/>
                        </a:rPr>
                        <m:t>→</m:t>
                      </m:r>
                      <m:r>
                        <a:rPr lang="en-US" b="0" i="1" smtClean="0">
                          <a:latin typeface="Cambria Math" panose="02040503050406030204" pitchFamily="18" charset="0"/>
                        </a:rPr>
                        <m:t>ℰ</m:t>
                      </m:r>
                    </m:oMath>
                  </m:oMathPara>
                </a14:m>
                <a:endParaRPr lang="en-GB" dirty="0">
                  <a:latin typeface="+mj-lt"/>
                </a:endParaRPr>
              </a:p>
              <a:p>
                <a:r>
                  <a:rPr lang="en-GB" dirty="0">
                    <a:latin typeface="+mj-lt"/>
                  </a:rPr>
                  <a:t>Inter-community node embedding model:</a:t>
                </a:r>
              </a:p>
              <a:p>
                <a:pPr marL="0" indent="0">
                  <a:buNone/>
                </a:pPr>
                <a14:m>
                  <m:oMathPara xmlns:m="http://schemas.openxmlformats.org/officeDocument/2006/math">
                    <m:oMathParaPr>
                      <m:jc m:val="centerGroup"/>
                    </m:oMathParaPr>
                    <m:oMath xmlns:m="http://schemas.openxmlformats.org/officeDocument/2006/math">
                      <m:sSubSup>
                        <m:sSubSupPr>
                          <m:ctrlPr>
                            <a:rPr lang="en-US" i="1" smtClean="0">
                              <a:latin typeface="Cambria Math" panose="02040503050406030204" pitchFamily="18" charset="0"/>
                            </a:rPr>
                          </m:ctrlPr>
                        </m:sSubSupPr>
                        <m:e>
                          <m:r>
                            <a:rPr lang="en-US" i="1">
                              <a:latin typeface="Cambria Math" panose="02040503050406030204" pitchFamily="18" charset="0"/>
                            </a:rPr>
                            <m:t>𝑔</m:t>
                          </m:r>
                        </m:e>
                        <m:sub>
                          <m:r>
                            <a:rPr lang="en-US" i="1">
                              <a:latin typeface="Cambria Math" panose="02040503050406030204" pitchFamily="18" charset="0"/>
                            </a:rPr>
                            <m:t>𝑉</m:t>
                          </m:r>
                        </m:sub>
                        <m:sup>
                          <m:r>
                            <a:rPr lang="en-US" b="0" i="1" smtClean="0">
                              <a:latin typeface="Cambria Math" panose="02040503050406030204" pitchFamily="18" charset="0"/>
                            </a:rPr>
                            <m:t>∗</m:t>
                          </m:r>
                        </m:sup>
                      </m:sSubSup>
                      <m:r>
                        <a:rPr lang="en-US" b="0" i="1" smtClean="0">
                          <a:latin typeface="Cambria Math" panose="02040503050406030204" pitchFamily="18" charset="0"/>
                        </a:rPr>
                        <m:t>:</m:t>
                      </m:r>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𝑉</m:t>
                          </m:r>
                        </m:e>
                        <m:sub>
                          <m:r>
                            <a:rPr lang="en-US" b="0" i="1" smtClean="0">
                              <a:latin typeface="Cambria Math" panose="02040503050406030204" pitchFamily="18" charset="0"/>
                            </a:rPr>
                            <m:t>𝜔</m:t>
                          </m:r>
                        </m:sub>
                        <m:sup>
                          <m:r>
                            <a:rPr lang="en-US" b="0" i="1" smtClean="0">
                              <a:latin typeface="Cambria Math" panose="02040503050406030204" pitchFamily="18" charset="0"/>
                            </a:rPr>
                            <m:t>∗</m:t>
                          </m:r>
                        </m:sup>
                      </m:sSubSup>
                      <m:r>
                        <a:rPr lang="en-US" b="0" i="1" smtClean="0">
                          <a:latin typeface="Cambria Math" panose="02040503050406030204" pitchFamily="18" charset="0"/>
                        </a:rPr>
                        <m:t>→</m:t>
                      </m:r>
                      <m:r>
                        <a:rPr lang="en-US" b="0" i="1" smtClean="0">
                          <a:latin typeface="Cambria Math" panose="02040503050406030204" pitchFamily="18" charset="0"/>
                        </a:rPr>
                        <m:t>ℰ</m:t>
                      </m:r>
                    </m:oMath>
                  </m:oMathPara>
                </a14:m>
                <a:endParaRPr lang="en-US" dirty="0">
                  <a:latin typeface="+mj-lt"/>
                </a:endParaRPr>
              </a:p>
              <a:p>
                <a:r>
                  <a:rPr lang="en-US" dirty="0">
                    <a:latin typeface="+mj-lt"/>
                  </a:rPr>
                  <a:t>Aggregation weights:</a:t>
                </a: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𝐖</m:t>
                      </m:r>
                      <m:r>
                        <a:rPr lang="en-US" b="0" i="1" smtClean="0">
                          <a:latin typeface="Cambria Math" panose="02040503050406030204" pitchFamily="18" charset="0"/>
                        </a:rPr>
                        <m:t>,</m:t>
                      </m:r>
                      <m:r>
                        <a:rPr lang="en-US" b="0" i="1" smtClean="0">
                          <a:latin typeface="Cambria Math" panose="02040503050406030204" pitchFamily="18" charset="0"/>
                        </a:rPr>
                        <m:t>𝐰</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𝐰</m:t>
                          </m:r>
                        </m:e>
                        <m:sub>
                          <m:r>
                            <a:rPr lang="en-US" b="0" i="1" smtClean="0">
                              <a:latin typeface="Cambria Math" panose="02040503050406030204" pitchFamily="18" charset="0"/>
                            </a:rPr>
                            <m:t>𝐑</m:t>
                          </m:r>
                        </m:sub>
                      </m:sSub>
                    </m:oMath>
                  </m:oMathPara>
                </a14:m>
                <a:endParaRPr lang="en-US" dirty="0">
                  <a:latin typeface="+mj-lt"/>
                </a:endParaRPr>
              </a:p>
            </p:txBody>
          </p:sp>
        </mc:Choice>
        <mc:Fallback xmlns="">
          <p:sp>
            <p:nvSpPr>
              <p:cNvPr id="10" name="Content Placeholder 9">
                <a:extLst>
                  <a:ext uri="{FF2B5EF4-FFF2-40B4-BE49-F238E27FC236}">
                    <a16:creationId xmlns:a16="http://schemas.microsoft.com/office/drawing/2014/main" id="{4D7200C6-A19B-266B-EAB2-03E7705933CB}"/>
                  </a:ext>
                </a:extLst>
              </p:cNvPr>
              <p:cNvSpPr>
                <a:spLocks noGrp="1" noRot="1" noChangeAspect="1" noMove="1" noResize="1" noEditPoints="1" noAdjustHandles="1" noChangeArrowheads="1" noChangeShapeType="1" noTextEdit="1"/>
              </p:cNvSpPr>
              <p:nvPr>
                <p:ph idx="1"/>
              </p:nvPr>
            </p:nvSpPr>
            <p:spPr>
              <a:blipFill>
                <a:blip r:embed="rId3"/>
                <a:stretch>
                  <a:fillRect/>
                </a:stretch>
              </a:blipFill>
            </p:spPr>
            <p:txBody>
              <a:bodyPr/>
              <a:lstStyle/>
              <a:p>
                <a:r>
                  <a:rPr lang="en-GB">
                    <a:noFill/>
                  </a:rPr>
                  <a:t> </a:t>
                </a:r>
              </a:p>
            </p:txBody>
          </p:sp>
        </mc:Fallback>
      </mc:AlternateContent>
    </p:spTree>
    <p:extLst>
      <p:ext uri="{BB962C8B-B14F-4D97-AF65-F5344CB8AC3E}">
        <p14:creationId xmlns:p14="http://schemas.microsoft.com/office/powerpoint/2010/main" val="7114803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10">
                                            <p:txEl>
                                              <p:pRg st="0" end="0"/>
                                            </p:txEl>
                                          </p:spTgt>
                                        </p:tgtEl>
                                        <p:attrNameLst>
                                          <p:attrName>style.visibility</p:attrName>
                                        </p:attrNameLst>
                                      </p:cBhvr>
                                      <p:to>
                                        <p:strVal val="visible"/>
                                      </p:to>
                                    </p:set>
                                    <p:animEffect transition="in" filter="randombar(horizontal)">
                                      <p:cBhvr>
                                        <p:cTn id="7" dur="500"/>
                                        <p:tgtEl>
                                          <p:spTgt spid="10">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10">
                                            <p:txEl>
                                              <p:pRg st="1" end="1"/>
                                            </p:txEl>
                                          </p:spTgt>
                                        </p:tgtEl>
                                        <p:attrNameLst>
                                          <p:attrName>style.visibility</p:attrName>
                                        </p:attrNameLst>
                                      </p:cBhvr>
                                      <p:to>
                                        <p:strVal val="visible"/>
                                      </p:to>
                                    </p:set>
                                    <p:animEffect transition="in" filter="randombar(horizontal)">
                                      <p:cBhvr>
                                        <p:cTn id="12" dur="500"/>
                                        <p:tgtEl>
                                          <p:spTgt spid="10">
                                            <p:txEl>
                                              <p:pRg st="1" end="1"/>
                                            </p:txEl>
                                          </p:spTgt>
                                        </p:tgtEl>
                                      </p:cBhvr>
                                    </p:animEffect>
                                  </p:childTnLst>
                                </p:cTn>
                              </p:par>
                              <p:par>
                                <p:cTn id="13" presetID="14" presetClass="entr" presetSubtype="10" fill="hold" nodeType="withEffect">
                                  <p:stCondLst>
                                    <p:cond delay="0"/>
                                  </p:stCondLst>
                                  <p:childTnLst>
                                    <p:set>
                                      <p:cBhvr>
                                        <p:cTn id="14" dur="1" fill="hold">
                                          <p:stCondLst>
                                            <p:cond delay="0"/>
                                          </p:stCondLst>
                                        </p:cTn>
                                        <p:tgtEl>
                                          <p:spTgt spid="10">
                                            <p:txEl>
                                              <p:pRg st="2" end="2"/>
                                            </p:txEl>
                                          </p:spTgt>
                                        </p:tgtEl>
                                        <p:attrNameLst>
                                          <p:attrName>style.visibility</p:attrName>
                                        </p:attrNameLst>
                                      </p:cBhvr>
                                      <p:to>
                                        <p:strVal val="visible"/>
                                      </p:to>
                                    </p:set>
                                    <p:animEffect transition="in" filter="randombar(horizontal)">
                                      <p:cBhvr>
                                        <p:cTn id="15" dur="500"/>
                                        <p:tgtEl>
                                          <p:spTgt spid="10">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4" presetClass="entr" presetSubtype="10" fill="hold" nodeType="clickEffect">
                                  <p:stCondLst>
                                    <p:cond delay="0"/>
                                  </p:stCondLst>
                                  <p:childTnLst>
                                    <p:set>
                                      <p:cBhvr>
                                        <p:cTn id="19" dur="1" fill="hold">
                                          <p:stCondLst>
                                            <p:cond delay="0"/>
                                          </p:stCondLst>
                                        </p:cTn>
                                        <p:tgtEl>
                                          <p:spTgt spid="10">
                                            <p:txEl>
                                              <p:pRg st="3" end="3"/>
                                            </p:txEl>
                                          </p:spTgt>
                                        </p:tgtEl>
                                        <p:attrNameLst>
                                          <p:attrName>style.visibility</p:attrName>
                                        </p:attrNameLst>
                                      </p:cBhvr>
                                      <p:to>
                                        <p:strVal val="visible"/>
                                      </p:to>
                                    </p:set>
                                    <p:animEffect transition="in" filter="randombar(horizontal)">
                                      <p:cBhvr>
                                        <p:cTn id="20" dur="500"/>
                                        <p:tgtEl>
                                          <p:spTgt spid="10">
                                            <p:txEl>
                                              <p:pRg st="3" end="3"/>
                                            </p:txEl>
                                          </p:spTgt>
                                        </p:tgtEl>
                                      </p:cBhvr>
                                    </p:animEffect>
                                  </p:childTnLst>
                                </p:cTn>
                              </p:par>
                              <p:par>
                                <p:cTn id="21" presetID="14" presetClass="entr" presetSubtype="10" fill="hold" nodeType="withEffect">
                                  <p:stCondLst>
                                    <p:cond delay="0"/>
                                  </p:stCondLst>
                                  <p:childTnLst>
                                    <p:set>
                                      <p:cBhvr>
                                        <p:cTn id="22" dur="1" fill="hold">
                                          <p:stCondLst>
                                            <p:cond delay="0"/>
                                          </p:stCondLst>
                                        </p:cTn>
                                        <p:tgtEl>
                                          <p:spTgt spid="10">
                                            <p:txEl>
                                              <p:pRg st="4" end="4"/>
                                            </p:txEl>
                                          </p:spTgt>
                                        </p:tgtEl>
                                        <p:attrNameLst>
                                          <p:attrName>style.visibility</p:attrName>
                                        </p:attrNameLst>
                                      </p:cBhvr>
                                      <p:to>
                                        <p:strVal val="visible"/>
                                      </p:to>
                                    </p:set>
                                    <p:animEffect transition="in" filter="randombar(horizontal)">
                                      <p:cBhvr>
                                        <p:cTn id="23" dur="500"/>
                                        <p:tgtEl>
                                          <p:spTgt spid="10">
                                            <p:txEl>
                                              <p:pRg st="4" end="4"/>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14" presetClass="entr" presetSubtype="10" fill="hold" nodeType="clickEffect">
                                  <p:stCondLst>
                                    <p:cond delay="0"/>
                                  </p:stCondLst>
                                  <p:childTnLst>
                                    <p:set>
                                      <p:cBhvr>
                                        <p:cTn id="27" dur="1" fill="hold">
                                          <p:stCondLst>
                                            <p:cond delay="0"/>
                                          </p:stCondLst>
                                        </p:cTn>
                                        <p:tgtEl>
                                          <p:spTgt spid="10">
                                            <p:txEl>
                                              <p:pRg st="5" end="5"/>
                                            </p:txEl>
                                          </p:spTgt>
                                        </p:tgtEl>
                                        <p:attrNameLst>
                                          <p:attrName>style.visibility</p:attrName>
                                        </p:attrNameLst>
                                      </p:cBhvr>
                                      <p:to>
                                        <p:strVal val="visible"/>
                                      </p:to>
                                    </p:set>
                                    <p:animEffect transition="in" filter="randombar(horizontal)">
                                      <p:cBhvr>
                                        <p:cTn id="28" dur="500"/>
                                        <p:tgtEl>
                                          <p:spTgt spid="10">
                                            <p:txEl>
                                              <p:pRg st="5" end="5"/>
                                            </p:txEl>
                                          </p:spTgt>
                                        </p:tgtEl>
                                      </p:cBhvr>
                                    </p:animEffect>
                                  </p:childTnLst>
                                </p:cTn>
                              </p:par>
                              <p:par>
                                <p:cTn id="29" presetID="14" presetClass="entr" presetSubtype="10" fill="hold" nodeType="withEffect">
                                  <p:stCondLst>
                                    <p:cond delay="0"/>
                                  </p:stCondLst>
                                  <p:childTnLst>
                                    <p:set>
                                      <p:cBhvr>
                                        <p:cTn id="30" dur="1" fill="hold">
                                          <p:stCondLst>
                                            <p:cond delay="0"/>
                                          </p:stCondLst>
                                        </p:cTn>
                                        <p:tgtEl>
                                          <p:spTgt spid="10">
                                            <p:txEl>
                                              <p:pRg st="6" end="6"/>
                                            </p:txEl>
                                          </p:spTgt>
                                        </p:tgtEl>
                                        <p:attrNameLst>
                                          <p:attrName>style.visibility</p:attrName>
                                        </p:attrNameLst>
                                      </p:cBhvr>
                                      <p:to>
                                        <p:strVal val="visible"/>
                                      </p:to>
                                    </p:set>
                                    <p:animEffect transition="in" filter="randombar(horizontal)">
                                      <p:cBhvr>
                                        <p:cTn id="31" dur="500"/>
                                        <p:tgtEl>
                                          <p:spTgt spid="10">
                                            <p:txEl>
                                              <p:pRg st="6" end="6"/>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14" presetClass="entr" presetSubtype="10" fill="hold" nodeType="clickEffect">
                                  <p:stCondLst>
                                    <p:cond delay="0"/>
                                  </p:stCondLst>
                                  <p:childTnLst>
                                    <p:set>
                                      <p:cBhvr>
                                        <p:cTn id="35" dur="1" fill="hold">
                                          <p:stCondLst>
                                            <p:cond delay="0"/>
                                          </p:stCondLst>
                                        </p:cTn>
                                        <p:tgtEl>
                                          <p:spTgt spid="10">
                                            <p:txEl>
                                              <p:pRg st="7" end="7"/>
                                            </p:txEl>
                                          </p:spTgt>
                                        </p:tgtEl>
                                        <p:attrNameLst>
                                          <p:attrName>style.visibility</p:attrName>
                                        </p:attrNameLst>
                                      </p:cBhvr>
                                      <p:to>
                                        <p:strVal val="visible"/>
                                      </p:to>
                                    </p:set>
                                    <p:animEffect transition="in" filter="randombar(horizontal)">
                                      <p:cBhvr>
                                        <p:cTn id="36" dur="500"/>
                                        <p:tgtEl>
                                          <p:spTgt spid="10">
                                            <p:txEl>
                                              <p:pRg st="7" end="7"/>
                                            </p:txEl>
                                          </p:spTgt>
                                        </p:tgtEl>
                                      </p:cBhvr>
                                    </p:animEffect>
                                  </p:childTnLst>
                                </p:cTn>
                              </p:par>
                              <p:par>
                                <p:cTn id="37" presetID="14" presetClass="entr" presetSubtype="10" fill="hold" nodeType="withEffect">
                                  <p:stCondLst>
                                    <p:cond delay="0"/>
                                  </p:stCondLst>
                                  <p:childTnLst>
                                    <p:set>
                                      <p:cBhvr>
                                        <p:cTn id="38" dur="1" fill="hold">
                                          <p:stCondLst>
                                            <p:cond delay="0"/>
                                          </p:stCondLst>
                                        </p:cTn>
                                        <p:tgtEl>
                                          <p:spTgt spid="10">
                                            <p:txEl>
                                              <p:pRg st="8" end="8"/>
                                            </p:txEl>
                                          </p:spTgt>
                                        </p:tgtEl>
                                        <p:attrNameLst>
                                          <p:attrName>style.visibility</p:attrName>
                                        </p:attrNameLst>
                                      </p:cBhvr>
                                      <p:to>
                                        <p:strVal val="visible"/>
                                      </p:to>
                                    </p:set>
                                    <p:animEffect transition="in" filter="randombar(horizontal)">
                                      <p:cBhvr>
                                        <p:cTn id="39" dur="500"/>
                                        <p:tgtEl>
                                          <p:spTgt spid="10">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D8F0F5-1DEB-7090-6453-99D98097B30F}"/>
            </a:ext>
          </a:extLst>
        </p:cNvPr>
        <p:cNvGrpSpPr/>
        <p:nvPr/>
      </p:nvGrpSpPr>
      <p:grpSpPr>
        <a:xfrm>
          <a:off x="0" y="0"/>
          <a:ext cx="0" cy="0"/>
          <a:chOff x="0" y="0"/>
          <a:chExt cx="0" cy="0"/>
        </a:xfrm>
      </p:grpSpPr>
      <p:pic>
        <p:nvPicPr>
          <p:cNvPr id="3" name="Content Placeholder 2" descr="A diagram of a diagram of a diagram&#10;&#10;AI-generated content may be incorrect.">
            <a:extLst>
              <a:ext uri="{FF2B5EF4-FFF2-40B4-BE49-F238E27FC236}">
                <a16:creationId xmlns:a16="http://schemas.microsoft.com/office/drawing/2014/main" id="{0E15AB2B-25C3-A65A-B2EF-F4B952CB0FA0}"/>
              </a:ext>
            </a:extLst>
          </p:cNvPr>
          <p:cNvPicPr>
            <a:picLocks noGrp="1" noChangeAspect="1"/>
          </p:cNvPicPr>
          <p:nvPr>
            <p:ph idx="1"/>
          </p:nvPr>
        </p:nvPicPr>
        <p:blipFill>
          <a:blip r:embed="rId3"/>
          <a:stretch>
            <a:fillRect/>
          </a:stretch>
        </p:blipFill>
        <p:spPr>
          <a:xfrm>
            <a:off x="904875" y="1566233"/>
            <a:ext cx="7726363" cy="3381046"/>
          </a:xfrm>
        </p:spPr>
      </p:pic>
      <p:sp>
        <p:nvSpPr>
          <p:cNvPr id="8" name="Title 7">
            <a:extLst>
              <a:ext uri="{FF2B5EF4-FFF2-40B4-BE49-F238E27FC236}">
                <a16:creationId xmlns:a16="http://schemas.microsoft.com/office/drawing/2014/main" id="{9085D50F-868A-A097-2DB1-FDF0EE20F0A1}"/>
              </a:ext>
            </a:extLst>
          </p:cNvPr>
          <p:cNvSpPr>
            <a:spLocks noGrp="1"/>
          </p:cNvSpPr>
          <p:nvPr>
            <p:ph type="title"/>
          </p:nvPr>
        </p:nvSpPr>
        <p:spPr>
          <a:xfrm>
            <a:off x="904875" y="131032"/>
            <a:ext cx="7207279" cy="1072753"/>
          </a:xfrm>
        </p:spPr>
        <p:txBody>
          <a:bodyPr>
            <a:normAutofit/>
          </a:bodyPr>
          <a:lstStyle/>
          <a:p>
            <a:r>
              <a:rPr lang="en-US" dirty="0"/>
              <a:t>3.1	Community-Informed Graph Embeddings</a:t>
            </a:r>
            <a:br>
              <a:rPr lang="en-US" dirty="0"/>
            </a:br>
            <a:r>
              <a:rPr lang="en-US" sz="2400" b="0" i="1" dirty="0"/>
              <a:t>Methodology - The COINs KG representation process</a:t>
            </a:r>
            <a:endParaRPr lang="en-GB" sz="2400" b="0" i="1" dirty="0"/>
          </a:p>
        </p:txBody>
      </p:sp>
      <p:sp>
        <p:nvSpPr>
          <p:cNvPr id="5" name="Date Placeholder 4">
            <a:extLst>
              <a:ext uri="{FF2B5EF4-FFF2-40B4-BE49-F238E27FC236}">
                <a16:creationId xmlns:a16="http://schemas.microsoft.com/office/drawing/2014/main" id="{18A836E6-2162-BAA2-F7E5-5127B4A94313}"/>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9091F1D6-2836-17E0-D84E-51C0E8484323}"/>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5762CC1A-B72B-6CE4-C234-DC63103DA7EC}"/>
              </a:ext>
            </a:extLst>
          </p:cNvPr>
          <p:cNvSpPr>
            <a:spLocks noGrp="1"/>
          </p:cNvSpPr>
          <p:nvPr>
            <p:ph type="sldNum" sz="quarter" idx="12"/>
          </p:nvPr>
        </p:nvSpPr>
        <p:spPr/>
        <p:txBody>
          <a:bodyPr/>
          <a:lstStyle/>
          <a:p>
            <a:fld id="{E1E1CD7C-2161-7D43-862E-CE4C333CD873}" type="slidenum">
              <a:rPr lang="fr-FR" smtClean="0"/>
              <a:pPr/>
              <a:t>17</a:t>
            </a:fld>
            <a:endParaRPr lang="fr-FR" dirty="0"/>
          </a:p>
        </p:txBody>
      </p:sp>
    </p:spTree>
    <p:extLst>
      <p:ext uri="{BB962C8B-B14F-4D97-AF65-F5344CB8AC3E}">
        <p14:creationId xmlns:p14="http://schemas.microsoft.com/office/powerpoint/2010/main" val="31277946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randombar(horizontal)">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4C229B-6A8D-4246-323E-0E272FC9133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F88CFC6-7172-6912-1A34-18D8F2CB5DD4}"/>
              </a:ext>
            </a:extLst>
          </p:cNvPr>
          <p:cNvSpPr>
            <a:spLocks noGrp="1"/>
          </p:cNvSpPr>
          <p:nvPr>
            <p:ph sz="half" idx="2"/>
          </p:nvPr>
        </p:nvSpPr>
        <p:spPr/>
        <p:txBody>
          <a:bodyPr anchor="ctr"/>
          <a:lstStyle/>
          <a:p>
            <a:r>
              <a:rPr lang="en-US" i="1" dirty="0">
                <a:latin typeface="+mj-lt"/>
              </a:rPr>
              <a:t>Generalization:</a:t>
            </a:r>
            <a:r>
              <a:rPr lang="en-US" dirty="0">
                <a:latin typeface="+mj-lt"/>
              </a:rPr>
              <a:t> queries spanning multiple communities are treated differently</a:t>
            </a:r>
          </a:p>
          <a:p>
            <a:r>
              <a:rPr lang="en-US" i="1" dirty="0">
                <a:latin typeface="+mj-lt"/>
              </a:rPr>
              <a:t>Training speed-up:</a:t>
            </a:r>
            <a:r>
              <a:rPr lang="en-US" dirty="0">
                <a:latin typeface="+mj-lt"/>
              </a:rPr>
              <a:t> the number of different node embeddings to compute per query is capped</a:t>
            </a:r>
          </a:p>
          <a:p>
            <a:r>
              <a:rPr lang="en-US" i="1" dirty="0">
                <a:latin typeface="+mj-lt"/>
              </a:rPr>
              <a:t>Adaptivity and stability:</a:t>
            </a:r>
            <a:r>
              <a:rPr lang="en-US" dirty="0">
                <a:latin typeface="+mj-lt"/>
              </a:rPr>
              <a:t> embedding refinement links community and node embeddings</a:t>
            </a:r>
            <a:endParaRPr lang="en-GB" dirty="0">
              <a:latin typeface="+mj-lt"/>
            </a:endParaRPr>
          </a:p>
        </p:txBody>
      </p:sp>
      <p:sp>
        <p:nvSpPr>
          <p:cNvPr id="8" name="Title 7">
            <a:extLst>
              <a:ext uri="{FF2B5EF4-FFF2-40B4-BE49-F238E27FC236}">
                <a16:creationId xmlns:a16="http://schemas.microsoft.com/office/drawing/2014/main" id="{88DD9E3D-73D8-F697-6B77-9019A0FD7EDA}"/>
              </a:ext>
            </a:extLst>
          </p:cNvPr>
          <p:cNvSpPr>
            <a:spLocks noGrp="1"/>
          </p:cNvSpPr>
          <p:nvPr>
            <p:ph type="title"/>
          </p:nvPr>
        </p:nvSpPr>
        <p:spPr>
          <a:xfrm>
            <a:off x="904875" y="131032"/>
            <a:ext cx="7726363" cy="1072753"/>
          </a:xfrm>
        </p:spPr>
        <p:txBody>
          <a:bodyPr>
            <a:normAutofit/>
          </a:bodyPr>
          <a:lstStyle/>
          <a:p>
            <a:r>
              <a:rPr lang="en-US" dirty="0"/>
              <a:t>3.1	Community-Informed Graph Embeddings</a:t>
            </a:r>
            <a:br>
              <a:rPr lang="en-US" dirty="0"/>
            </a:br>
            <a:r>
              <a:rPr lang="en-US" sz="2400" b="0" i="1" dirty="0"/>
              <a:t>Methodology - Algorithm and  properties</a:t>
            </a:r>
            <a:endParaRPr lang="en-GB" sz="2400" b="0" i="1" dirty="0"/>
          </a:p>
        </p:txBody>
      </p:sp>
      <p:sp>
        <p:nvSpPr>
          <p:cNvPr id="5" name="Date Placeholder 4">
            <a:extLst>
              <a:ext uri="{FF2B5EF4-FFF2-40B4-BE49-F238E27FC236}">
                <a16:creationId xmlns:a16="http://schemas.microsoft.com/office/drawing/2014/main" id="{A8234C18-DD40-6D7F-EE37-34E5D85DCA38}"/>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2472C05B-B19F-0858-5259-5CAD14C77BC2}"/>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FC28D7F2-1C13-72FF-5A3A-37AFA09366F8}"/>
              </a:ext>
            </a:extLst>
          </p:cNvPr>
          <p:cNvSpPr>
            <a:spLocks noGrp="1"/>
          </p:cNvSpPr>
          <p:nvPr>
            <p:ph type="sldNum" sz="quarter" idx="12"/>
          </p:nvPr>
        </p:nvSpPr>
        <p:spPr/>
        <p:txBody>
          <a:bodyPr/>
          <a:lstStyle/>
          <a:p>
            <a:fld id="{E1E1CD7C-2161-7D43-862E-CE4C333CD873}" type="slidenum">
              <a:rPr lang="fr-FR" smtClean="0"/>
              <a:pPr/>
              <a:t>18</a:t>
            </a:fld>
            <a:endParaRPr lang="fr-FR" dirty="0"/>
          </a:p>
        </p:txBody>
      </p:sp>
      <p:pic>
        <p:nvPicPr>
          <p:cNvPr id="11" name="Content Placeholder 10" descr="A screenshot of a math equation&#10;&#10;AI-generated content may be incorrect.">
            <a:extLst>
              <a:ext uri="{FF2B5EF4-FFF2-40B4-BE49-F238E27FC236}">
                <a16:creationId xmlns:a16="http://schemas.microsoft.com/office/drawing/2014/main" id="{BF5F9698-F30E-455D-7EF3-042D8091DEE1}"/>
              </a:ext>
            </a:extLst>
          </p:cNvPr>
          <p:cNvPicPr>
            <a:picLocks noGrp="1" noChangeAspect="1"/>
          </p:cNvPicPr>
          <p:nvPr>
            <p:ph sz="half" idx="1"/>
          </p:nvPr>
        </p:nvPicPr>
        <p:blipFill>
          <a:blip r:embed="rId3"/>
          <a:stretch>
            <a:fillRect/>
          </a:stretch>
        </p:blipFill>
        <p:spPr>
          <a:xfrm>
            <a:off x="904875" y="2203806"/>
            <a:ext cx="3671888" cy="1983663"/>
          </a:xfrm>
        </p:spPr>
      </p:pic>
    </p:spTree>
    <p:extLst>
      <p:ext uri="{BB962C8B-B14F-4D97-AF65-F5344CB8AC3E}">
        <p14:creationId xmlns:p14="http://schemas.microsoft.com/office/powerpoint/2010/main" val="31805884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randombar(horizontal)">
                                      <p:cBhvr>
                                        <p:cTn id="7" dur="500"/>
                                        <p:tgtEl>
                                          <p:spTgt spid="11"/>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2">
                                            <p:txEl>
                                              <p:pRg st="0" end="0"/>
                                            </p:txEl>
                                          </p:spTgt>
                                        </p:tgtEl>
                                        <p:attrNameLst>
                                          <p:attrName>style.visibility</p:attrName>
                                        </p:attrNameLst>
                                      </p:cBhvr>
                                      <p:to>
                                        <p:strVal val="visible"/>
                                      </p:to>
                                    </p:set>
                                    <p:animEffect transition="in" filter="randombar(horizontal)">
                                      <p:cBhvr>
                                        <p:cTn id="12" dur="500"/>
                                        <p:tgtEl>
                                          <p:spTgt spid="2">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4" presetClass="entr" presetSubtype="10" fill="hold" nodeType="clickEffect">
                                  <p:stCondLst>
                                    <p:cond delay="0"/>
                                  </p:stCondLst>
                                  <p:childTnLst>
                                    <p:set>
                                      <p:cBhvr>
                                        <p:cTn id="16" dur="1" fill="hold">
                                          <p:stCondLst>
                                            <p:cond delay="0"/>
                                          </p:stCondLst>
                                        </p:cTn>
                                        <p:tgtEl>
                                          <p:spTgt spid="2">
                                            <p:txEl>
                                              <p:pRg st="1" end="1"/>
                                            </p:txEl>
                                          </p:spTgt>
                                        </p:tgtEl>
                                        <p:attrNameLst>
                                          <p:attrName>style.visibility</p:attrName>
                                        </p:attrNameLst>
                                      </p:cBhvr>
                                      <p:to>
                                        <p:strVal val="visible"/>
                                      </p:to>
                                    </p:set>
                                    <p:animEffect transition="in" filter="randombar(horizontal)">
                                      <p:cBhvr>
                                        <p:cTn id="17" dur="500"/>
                                        <p:tgtEl>
                                          <p:spTgt spid="2">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4" presetClass="entr" presetSubtype="10" fill="hold" nodeType="clickEffect">
                                  <p:stCondLst>
                                    <p:cond delay="0"/>
                                  </p:stCondLst>
                                  <p:childTnLst>
                                    <p:set>
                                      <p:cBhvr>
                                        <p:cTn id="21" dur="1" fill="hold">
                                          <p:stCondLst>
                                            <p:cond delay="0"/>
                                          </p:stCondLst>
                                        </p:cTn>
                                        <p:tgtEl>
                                          <p:spTgt spid="2">
                                            <p:txEl>
                                              <p:pRg st="2" end="2"/>
                                            </p:txEl>
                                          </p:spTgt>
                                        </p:tgtEl>
                                        <p:attrNameLst>
                                          <p:attrName>style.visibility</p:attrName>
                                        </p:attrNameLst>
                                      </p:cBhvr>
                                      <p:to>
                                        <p:strVal val="visible"/>
                                      </p:to>
                                    </p:set>
                                    <p:animEffect transition="in" filter="randombar(horizontal)">
                                      <p:cBhvr>
                                        <p:cTn id="22" dur="500"/>
                                        <p:tgtEl>
                                          <p:spTgt spid="2">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26BBC3-E8F0-752C-4A1C-5F0B5902F59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55242D6-0634-5E69-9E05-E44C7BBA4529}"/>
              </a:ext>
            </a:extLst>
          </p:cNvPr>
          <p:cNvSpPr>
            <a:spLocks noGrp="1"/>
          </p:cNvSpPr>
          <p:nvPr>
            <p:ph sz="half" idx="1"/>
          </p:nvPr>
        </p:nvSpPr>
        <p:spPr/>
        <p:txBody>
          <a:bodyPr anchor="ctr">
            <a:normAutofit lnSpcReduction="10000"/>
          </a:bodyPr>
          <a:lstStyle/>
          <a:p>
            <a:r>
              <a:rPr lang="en-US" dirty="0">
                <a:latin typeface="+mj-lt"/>
              </a:rPr>
              <a:t>Data</a:t>
            </a:r>
          </a:p>
          <a:p>
            <a:pPr lvl="1"/>
            <a:r>
              <a:rPr lang="en-US" dirty="0">
                <a:latin typeface="+mj-lt"/>
              </a:rPr>
              <a:t>FB15k-237</a:t>
            </a:r>
          </a:p>
          <a:p>
            <a:pPr lvl="1"/>
            <a:r>
              <a:rPr lang="en-US" dirty="0">
                <a:latin typeface="+mj-lt"/>
              </a:rPr>
              <a:t>WN18RR</a:t>
            </a:r>
          </a:p>
          <a:p>
            <a:pPr lvl="1"/>
            <a:r>
              <a:rPr lang="en-US" dirty="0">
                <a:latin typeface="+mj-lt"/>
              </a:rPr>
              <a:t>NELL-995</a:t>
            </a:r>
          </a:p>
          <a:p>
            <a:r>
              <a:rPr lang="en-US" dirty="0">
                <a:latin typeface="+mj-lt"/>
              </a:rPr>
              <a:t>KG embedding models</a:t>
            </a:r>
          </a:p>
          <a:p>
            <a:pPr lvl="1"/>
            <a:r>
              <a:rPr lang="en-US" dirty="0">
                <a:latin typeface="+mj-lt"/>
              </a:rPr>
              <a:t>TransE, </a:t>
            </a:r>
            <a:r>
              <a:rPr lang="en-US" dirty="0" err="1">
                <a:latin typeface="+mj-lt"/>
              </a:rPr>
              <a:t>DistMult</a:t>
            </a:r>
            <a:r>
              <a:rPr lang="en-US" dirty="0">
                <a:latin typeface="+mj-lt"/>
              </a:rPr>
              <a:t>, </a:t>
            </a:r>
            <a:r>
              <a:rPr lang="en-US" dirty="0" err="1">
                <a:latin typeface="+mj-lt"/>
              </a:rPr>
              <a:t>ComplEx</a:t>
            </a:r>
            <a:r>
              <a:rPr lang="en-US" dirty="0">
                <a:latin typeface="+mj-lt"/>
              </a:rPr>
              <a:t>, </a:t>
            </a:r>
            <a:r>
              <a:rPr lang="en-US" dirty="0" err="1">
                <a:latin typeface="+mj-lt"/>
              </a:rPr>
              <a:t>RotatE</a:t>
            </a:r>
            <a:endParaRPr lang="en-US" dirty="0">
              <a:latin typeface="+mj-lt"/>
            </a:endParaRPr>
          </a:p>
          <a:p>
            <a:pPr lvl="1"/>
            <a:r>
              <a:rPr lang="en-US" dirty="0">
                <a:latin typeface="+mj-lt"/>
              </a:rPr>
              <a:t>KBGAT </a:t>
            </a:r>
            <a:r>
              <a:rPr lang="en-US" dirty="0">
                <a:solidFill>
                  <a:schemeClr val="accent1"/>
                </a:solidFill>
                <a:latin typeface="+mj-lt"/>
              </a:rPr>
              <a:t>[9]</a:t>
            </a:r>
          </a:p>
          <a:p>
            <a:pPr lvl="1"/>
            <a:r>
              <a:rPr lang="en-US" dirty="0">
                <a:latin typeface="+mj-lt"/>
              </a:rPr>
              <a:t>Query2Box </a:t>
            </a:r>
            <a:r>
              <a:rPr lang="en-US" dirty="0">
                <a:solidFill>
                  <a:schemeClr val="accent1"/>
                </a:solidFill>
                <a:latin typeface="+mj-lt"/>
              </a:rPr>
              <a:t>[10]</a:t>
            </a:r>
          </a:p>
          <a:p>
            <a:r>
              <a:rPr lang="en-US" dirty="0">
                <a:latin typeface="+mj-lt"/>
              </a:rPr>
              <a:t>Training and evaluation</a:t>
            </a:r>
          </a:p>
          <a:p>
            <a:pPr lvl="1"/>
            <a:r>
              <a:rPr lang="en-US" dirty="0">
                <a:latin typeface="+mj-lt"/>
              </a:rPr>
              <a:t>Within-community negative examples</a:t>
            </a:r>
          </a:p>
          <a:p>
            <a:pPr lvl="1"/>
            <a:r>
              <a:rPr lang="en-US" dirty="0">
                <a:latin typeface="+mj-lt"/>
              </a:rPr>
              <a:t>SMORE query sampling</a:t>
            </a:r>
          </a:p>
          <a:p>
            <a:pPr lvl="1"/>
            <a:r>
              <a:rPr lang="en-US" dirty="0">
                <a:latin typeface="+mj-lt"/>
              </a:rPr>
              <a:t>Metrics: </a:t>
            </a:r>
            <a:r>
              <a:rPr lang="en-US" dirty="0" err="1">
                <a:latin typeface="+mj-lt"/>
              </a:rPr>
              <a:t>Hits@k</a:t>
            </a:r>
            <a:r>
              <a:rPr lang="en-US" dirty="0">
                <a:latin typeface="+mj-lt"/>
              </a:rPr>
              <a:t>, MR, MRR</a:t>
            </a:r>
            <a:endParaRPr lang="en-GB" dirty="0">
              <a:latin typeface="+mj-lt"/>
            </a:endParaRPr>
          </a:p>
        </p:txBody>
      </p:sp>
      <p:sp>
        <p:nvSpPr>
          <p:cNvPr id="8" name="Title 7">
            <a:extLst>
              <a:ext uri="{FF2B5EF4-FFF2-40B4-BE49-F238E27FC236}">
                <a16:creationId xmlns:a16="http://schemas.microsoft.com/office/drawing/2014/main" id="{94228064-4434-D193-38F7-23906C7B1380}"/>
              </a:ext>
            </a:extLst>
          </p:cNvPr>
          <p:cNvSpPr>
            <a:spLocks noGrp="1"/>
          </p:cNvSpPr>
          <p:nvPr>
            <p:ph type="title"/>
          </p:nvPr>
        </p:nvSpPr>
        <p:spPr>
          <a:xfrm>
            <a:off x="904875" y="131032"/>
            <a:ext cx="4506119" cy="1072753"/>
          </a:xfrm>
        </p:spPr>
        <p:txBody>
          <a:bodyPr>
            <a:normAutofit fontScale="90000"/>
          </a:bodyPr>
          <a:lstStyle/>
          <a:p>
            <a:r>
              <a:rPr lang="en-US" dirty="0"/>
              <a:t>3.1	Community-Informed Graph Embeddings</a:t>
            </a:r>
            <a:br>
              <a:rPr lang="en-US" dirty="0"/>
            </a:br>
            <a:r>
              <a:rPr lang="en-US" sz="2400" b="0" i="1" dirty="0"/>
              <a:t>Methodology - Experiments</a:t>
            </a:r>
            <a:endParaRPr lang="en-GB" sz="2400" b="0" i="1" dirty="0"/>
          </a:p>
        </p:txBody>
      </p:sp>
      <p:sp>
        <p:nvSpPr>
          <p:cNvPr id="5" name="Date Placeholder 4">
            <a:extLst>
              <a:ext uri="{FF2B5EF4-FFF2-40B4-BE49-F238E27FC236}">
                <a16:creationId xmlns:a16="http://schemas.microsoft.com/office/drawing/2014/main" id="{7260F623-E9EF-D374-7A99-F7A6F32D943E}"/>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D86A74A1-B804-74F2-CD6C-47D0115F7D59}"/>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E4C3E2F3-1672-8A48-4ECE-4694F5D51D2E}"/>
              </a:ext>
            </a:extLst>
          </p:cNvPr>
          <p:cNvSpPr>
            <a:spLocks noGrp="1"/>
          </p:cNvSpPr>
          <p:nvPr>
            <p:ph type="sldNum" sz="quarter" idx="12"/>
          </p:nvPr>
        </p:nvSpPr>
        <p:spPr/>
        <p:txBody>
          <a:bodyPr/>
          <a:lstStyle/>
          <a:p>
            <a:fld id="{E1E1CD7C-2161-7D43-862E-CE4C333CD873}" type="slidenum">
              <a:rPr lang="fr-FR" smtClean="0"/>
              <a:pPr/>
              <a:t>19</a:t>
            </a:fld>
            <a:endParaRPr lang="fr-FR" dirty="0"/>
          </a:p>
        </p:txBody>
      </p:sp>
      <p:pic>
        <p:nvPicPr>
          <p:cNvPr id="1030" name="Picture 6" descr="Global Wordnet Formats">
            <a:extLst>
              <a:ext uri="{FF2B5EF4-FFF2-40B4-BE49-F238E27FC236}">
                <a16:creationId xmlns:a16="http://schemas.microsoft.com/office/drawing/2014/main" id="{660456CF-6FB0-378A-6453-9FDAB0B50FEF}"/>
              </a:ext>
            </a:extLst>
          </p:cNvPr>
          <p:cNvPicPr>
            <a:picLocks noGrp="1" noChangeAspect="1" noChangeArrowheads="1"/>
          </p:cNvPicPr>
          <p:nvPr>
            <p:ph sz="half" idx="2"/>
          </p:nvPr>
        </p:nvPicPr>
        <p:blipFill>
          <a:blip r:embed="rId3">
            <a:extLst>
              <a:ext uri="{28A0092B-C50C-407E-A947-70E740481C1C}">
                <a14:useLocalDpi xmlns:a14="http://schemas.microsoft.com/office/drawing/2010/main" val="0"/>
              </a:ext>
            </a:extLst>
          </a:blip>
          <a:srcRect/>
          <a:stretch>
            <a:fillRect/>
          </a:stretch>
        </p:blipFill>
        <p:spPr bwMode="auto">
          <a:xfrm>
            <a:off x="5715753" y="667408"/>
            <a:ext cx="1771732" cy="2234698"/>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a:extLst>
              <a:ext uri="{FF2B5EF4-FFF2-40B4-BE49-F238E27FC236}">
                <a16:creationId xmlns:a16="http://schemas.microsoft.com/office/drawing/2014/main" id="{15277FB7-4858-0CFB-054B-F0309C23046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410994" y="195263"/>
            <a:ext cx="2381250" cy="438150"/>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3" descr="A screenshot of a social media post&#10;&#10;AI-generated content may be incorrect.">
            <a:extLst>
              <a:ext uri="{FF2B5EF4-FFF2-40B4-BE49-F238E27FC236}">
                <a16:creationId xmlns:a16="http://schemas.microsoft.com/office/drawing/2014/main" id="{3A38BA88-BCEC-CACB-63A2-752086A91990}"/>
              </a:ext>
            </a:extLst>
          </p:cNvPr>
          <p:cNvPicPr>
            <a:picLocks noChangeAspect="1"/>
          </p:cNvPicPr>
          <p:nvPr/>
        </p:nvPicPr>
        <p:blipFill>
          <a:blip r:embed="rId5"/>
          <a:stretch>
            <a:fillRect/>
          </a:stretch>
        </p:blipFill>
        <p:spPr>
          <a:xfrm>
            <a:off x="5456554" y="3025784"/>
            <a:ext cx="2290130" cy="1992908"/>
          </a:xfrm>
          <a:prstGeom prst="rect">
            <a:avLst/>
          </a:prstGeom>
        </p:spPr>
      </p:pic>
    </p:spTree>
    <p:extLst>
      <p:ext uri="{BB962C8B-B14F-4D97-AF65-F5344CB8AC3E}">
        <p14:creationId xmlns:p14="http://schemas.microsoft.com/office/powerpoint/2010/main" val="38239463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randombar(horizontal)">
                                      <p:cBhvr>
                                        <p:cTn id="7" dur="500"/>
                                        <p:tgtEl>
                                          <p:spTgt spid="2">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2">
                                            <p:txEl>
                                              <p:pRg st="1" end="1"/>
                                            </p:txEl>
                                          </p:spTgt>
                                        </p:tgtEl>
                                        <p:attrNameLst>
                                          <p:attrName>style.visibility</p:attrName>
                                        </p:attrNameLst>
                                      </p:cBhvr>
                                      <p:to>
                                        <p:strVal val="visible"/>
                                      </p:to>
                                    </p:set>
                                    <p:animEffect transition="in" filter="randombar(horizontal)">
                                      <p:cBhvr>
                                        <p:cTn id="10" dur="500"/>
                                        <p:tgtEl>
                                          <p:spTgt spid="2">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animEffect transition="in" filter="randombar(horizontal)">
                                      <p:cBhvr>
                                        <p:cTn id="13" dur="500"/>
                                        <p:tgtEl>
                                          <p:spTgt spid="2">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2">
                                            <p:txEl>
                                              <p:pRg st="3" end="3"/>
                                            </p:txEl>
                                          </p:spTgt>
                                        </p:tgtEl>
                                        <p:attrNameLst>
                                          <p:attrName>style.visibility</p:attrName>
                                        </p:attrNameLst>
                                      </p:cBhvr>
                                      <p:to>
                                        <p:strVal val="visible"/>
                                      </p:to>
                                    </p:set>
                                    <p:animEffect transition="in" filter="randombar(horizontal)">
                                      <p:cBhvr>
                                        <p:cTn id="16" dur="500"/>
                                        <p:tgtEl>
                                          <p:spTgt spid="2">
                                            <p:txEl>
                                              <p:pRg st="3" end="3"/>
                                            </p:txEl>
                                          </p:spTgt>
                                        </p:tgtEl>
                                      </p:cBhvr>
                                    </p:animEffect>
                                  </p:childTnLst>
                                </p:cTn>
                              </p:par>
                              <p:par>
                                <p:cTn id="17" presetID="14" presetClass="entr" presetSubtype="10" fill="hold" nodeType="withEffect">
                                  <p:stCondLst>
                                    <p:cond delay="1000"/>
                                  </p:stCondLst>
                                  <p:childTnLst>
                                    <p:set>
                                      <p:cBhvr>
                                        <p:cTn id="18" dur="1" fill="hold">
                                          <p:stCondLst>
                                            <p:cond delay="0"/>
                                          </p:stCondLst>
                                        </p:cTn>
                                        <p:tgtEl>
                                          <p:spTgt spid="1030"/>
                                        </p:tgtEl>
                                        <p:attrNameLst>
                                          <p:attrName>style.visibility</p:attrName>
                                        </p:attrNameLst>
                                      </p:cBhvr>
                                      <p:to>
                                        <p:strVal val="visible"/>
                                      </p:to>
                                    </p:set>
                                    <p:animEffect transition="in" filter="randombar(horizontal)">
                                      <p:cBhvr>
                                        <p:cTn id="19" dur="500"/>
                                        <p:tgtEl>
                                          <p:spTgt spid="1030"/>
                                        </p:tgtEl>
                                      </p:cBhvr>
                                    </p:animEffect>
                                  </p:childTnLst>
                                </p:cTn>
                              </p:par>
                              <p:par>
                                <p:cTn id="20" presetID="14" presetClass="entr" presetSubtype="10" fill="hold" nodeType="withEffect">
                                  <p:stCondLst>
                                    <p:cond delay="500"/>
                                  </p:stCondLst>
                                  <p:childTnLst>
                                    <p:set>
                                      <p:cBhvr>
                                        <p:cTn id="21" dur="1" fill="hold">
                                          <p:stCondLst>
                                            <p:cond delay="0"/>
                                          </p:stCondLst>
                                        </p:cTn>
                                        <p:tgtEl>
                                          <p:spTgt spid="1026"/>
                                        </p:tgtEl>
                                        <p:attrNameLst>
                                          <p:attrName>style.visibility</p:attrName>
                                        </p:attrNameLst>
                                      </p:cBhvr>
                                      <p:to>
                                        <p:strVal val="visible"/>
                                      </p:to>
                                    </p:set>
                                    <p:animEffect transition="in" filter="randombar(horizontal)">
                                      <p:cBhvr>
                                        <p:cTn id="22" dur="500"/>
                                        <p:tgtEl>
                                          <p:spTgt spid="1026"/>
                                        </p:tgtEl>
                                      </p:cBhvr>
                                    </p:animEffect>
                                  </p:childTnLst>
                                </p:cTn>
                              </p:par>
                              <p:par>
                                <p:cTn id="23" presetID="14" presetClass="entr" presetSubtype="10" fill="hold" nodeType="withEffect">
                                  <p:stCondLst>
                                    <p:cond delay="1500"/>
                                  </p:stCondLst>
                                  <p:childTnLst>
                                    <p:set>
                                      <p:cBhvr>
                                        <p:cTn id="24" dur="1" fill="hold">
                                          <p:stCondLst>
                                            <p:cond delay="0"/>
                                          </p:stCondLst>
                                        </p:cTn>
                                        <p:tgtEl>
                                          <p:spTgt spid="4"/>
                                        </p:tgtEl>
                                        <p:attrNameLst>
                                          <p:attrName>style.visibility</p:attrName>
                                        </p:attrNameLst>
                                      </p:cBhvr>
                                      <p:to>
                                        <p:strVal val="visible"/>
                                      </p:to>
                                    </p:set>
                                    <p:animEffect transition="in" filter="randombar(horizontal)">
                                      <p:cBhvr>
                                        <p:cTn id="25" dur="500"/>
                                        <p:tgtEl>
                                          <p:spTgt spid="4"/>
                                        </p:tgtEl>
                                      </p:cBhvr>
                                    </p:animEffect>
                                  </p:childTnLst>
                                </p:cTn>
                              </p:par>
                            </p:childTnLst>
                          </p:cTn>
                        </p:par>
                      </p:childTnLst>
                    </p:cTn>
                  </p:par>
                  <p:par>
                    <p:cTn id="26" fill="hold">
                      <p:stCondLst>
                        <p:cond delay="indefinite"/>
                      </p:stCondLst>
                      <p:childTnLst>
                        <p:par>
                          <p:cTn id="27" fill="hold">
                            <p:stCondLst>
                              <p:cond delay="0"/>
                            </p:stCondLst>
                            <p:childTnLst>
                              <p:par>
                                <p:cTn id="28" presetID="14" presetClass="entr" presetSubtype="10" fill="hold" nodeType="clickEffect">
                                  <p:stCondLst>
                                    <p:cond delay="0"/>
                                  </p:stCondLst>
                                  <p:childTnLst>
                                    <p:set>
                                      <p:cBhvr>
                                        <p:cTn id="29" dur="1" fill="hold">
                                          <p:stCondLst>
                                            <p:cond delay="0"/>
                                          </p:stCondLst>
                                        </p:cTn>
                                        <p:tgtEl>
                                          <p:spTgt spid="2">
                                            <p:txEl>
                                              <p:pRg st="4" end="4"/>
                                            </p:txEl>
                                          </p:spTgt>
                                        </p:tgtEl>
                                        <p:attrNameLst>
                                          <p:attrName>style.visibility</p:attrName>
                                        </p:attrNameLst>
                                      </p:cBhvr>
                                      <p:to>
                                        <p:strVal val="visible"/>
                                      </p:to>
                                    </p:set>
                                    <p:animEffect transition="in" filter="randombar(horizontal)">
                                      <p:cBhvr>
                                        <p:cTn id="30" dur="500"/>
                                        <p:tgtEl>
                                          <p:spTgt spid="2">
                                            <p:txEl>
                                              <p:pRg st="4" end="4"/>
                                            </p:txEl>
                                          </p:spTgt>
                                        </p:tgtEl>
                                      </p:cBhvr>
                                    </p:animEffect>
                                  </p:childTnLst>
                                </p:cTn>
                              </p:par>
                              <p:par>
                                <p:cTn id="31" presetID="14" presetClass="entr" presetSubtype="10" fill="hold" nodeType="withEffect">
                                  <p:stCondLst>
                                    <p:cond delay="0"/>
                                  </p:stCondLst>
                                  <p:childTnLst>
                                    <p:set>
                                      <p:cBhvr>
                                        <p:cTn id="32" dur="1" fill="hold">
                                          <p:stCondLst>
                                            <p:cond delay="0"/>
                                          </p:stCondLst>
                                        </p:cTn>
                                        <p:tgtEl>
                                          <p:spTgt spid="2">
                                            <p:txEl>
                                              <p:pRg st="5" end="5"/>
                                            </p:txEl>
                                          </p:spTgt>
                                        </p:tgtEl>
                                        <p:attrNameLst>
                                          <p:attrName>style.visibility</p:attrName>
                                        </p:attrNameLst>
                                      </p:cBhvr>
                                      <p:to>
                                        <p:strVal val="visible"/>
                                      </p:to>
                                    </p:set>
                                    <p:animEffect transition="in" filter="randombar(horizontal)">
                                      <p:cBhvr>
                                        <p:cTn id="33" dur="500"/>
                                        <p:tgtEl>
                                          <p:spTgt spid="2">
                                            <p:txEl>
                                              <p:pRg st="5" end="5"/>
                                            </p:txEl>
                                          </p:spTgt>
                                        </p:tgtEl>
                                      </p:cBhvr>
                                    </p:animEffect>
                                  </p:childTnLst>
                                </p:cTn>
                              </p:par>
                              <p:par>
                                <p:cTn id="34" presetID="14" presetClass="entr" presetSubtype="10" fill="hold" nodeType="withEffect">
                                  <p:stCondLst>
                                    <p:cond delay="0"/>
                                  </p:stCondLst>
                                  <p:childTnLst>
                                    <p:set>
                                      <p:cBhvr>
                                        <p:cTn id="35" dur="1" fill="hold">
                                          <p:stCondLst>
                                            <p:cond delay="0"/>
                                          </p:stCondLst>
                                        </p:cTn>
                                        <p:tgtEl>
                                          <p:spTgt spid="2">
                                            <p:txEl>
                                              <p:pRg st="6" end="6"/>
                                            </p:txEl>
                                          </p:spTgt>
                                        </p:tgtEl>
                                        <p:attrNameLst>
                                          <p:attrName>style.visibility</p:attrName>
                                        </p:attrNameLst>
                                      </p:cBhvr>
                                      <p:to>
                                        <p:strVal val="visible"/>
                                      </p:to>
                                    </p:set>
                                    <p:animEffect transition="in" filter="randombar(horizontal)">
                                      <p:cBhvr>
                                        <p:cTn id="36" dur="500"/>
                                        <p:tgtEl>
                                          <p:spTgt spid="2">
                                            <p:txEl>
                                              <p:pRg st="6" end="6"/>
                                            </p:txEl>
                                          </p:spTgt>
                                        </p:tgtEl>
                                      </p:cBhvr>
                                    </p:animEffect>
                                  </p:childTnLst>
                                </p:cTn>
                              </p:par>
                              <p:par>
                                <p:cTn id="37" presetID="14" presetClass="entr" presetSubtype="10" fill="hold" nodeType="withEffect">
                                  <p:stCondLst>
                                    <p:cond delay="0"/>
                                  </p:stCondLst>
                                  <p:childTnLst>
                                    <p:set>
                                      <p:cBhvr>
                                        <p:cTn id="38" dur="1" fill="hold">
                                          <p:stCondLst>
                                            <p:cond delay="0"/>
                                          </p:stCondLst>
                                        </p:cTn>
                                        <p:tgtEl>
                                          <p:spTgt spid="2">
                                            <p:txEl>
                                              <p:pRg st="7" end="7"/>
                                            </p:txEl>
                                          </p:spTgt>
                                        </p:tgtEl>
                                        <p:attrNameLst>
                                          <p:attrName>style.visibility</p:attrName>
                                        </p:attrNameLst>
                                      </p:cBhvr>
                                      <p:to>
                                        <p:strVal val="visible"/>
                                      </p:to>
                                    </p:set>
                                    <p:animEffect transition="in" filter="randombar(horizontal)">
                                      <p:cBhvr>
                                        <p:cTn id="39" dur="500"/>
                                        <p:tgtEl>
                                          <p:spTgt spid="2">
                                            <p:txEl>
                                              <p:pRg st="7" end="7"/>
                                            </p:txEl>
                                          </p:spTgt>
                                        </p:tgtEl>
                                      </p:cBhvr>
                                    </p:animEffect>
                                  </p:childTnLst>
                                </p:cTn>
                              </p:par>
                            </p:childTnLst>
                          </p:cTn>
                        </p:par>
                      </p:childTnLst>
                    </p:cTn>
                  </p:par>
                  <p:par>
                    <p:cTn id="40" fill="hold">
                      <p:stCondLst>
                        <p:cond delay="indefinite"/>
                      </p:stCondLst>
                      <p:childTnLst>
                        <p:par>
                          <p:cTn id="41" fill="hold">
                            <p:stCondLst>
                              <p:cond delay="0"/>
                            </p:stCondLst>
                            <p:childTnLst>
                              <p:par>
                                <p:cTn id="42" presetID="14" presetClass="entr" presetSubtype="10" fill="hold" nodeType="clickEffect">
                                  <p:stCondLst>
                                    <p:cond delay="0"/>
                                  </p:stCondLst>
                                  <p:childTnLst>
                                    <p:set>
                                      <p:cBhvr>
                                        <p:cTn id="43" dur="1" fill="hold">
                                          <p:stCondLst>
                                            <p:cond delay="0"/>
                                          </p:stCondLst>
                                        </p:cTn>
                                        <p:tgtEl>
                                          <p:spTgt spid="2">
                                            <p:txEl>
                                              <p:pRg st="8" end="8"/>
                                            </p:txEl>
                                          </p:spTgt>
                                        </p:tgtEl>
                                        <p:attrNameLst>
                                          <p:attrName>style.visibility</p:attrName>
                                        </p:attrNameLst>
                                      </p:cBhvr>
                                      <p:to>
                                        <p:strVal val="visible"/>
                                      </p:to>
                                    </p:set>
                                    <p:animEffect transition="in" filter="randombar(horizontal)">
                                      <p:cBhvr>
                                        <p:cTn id="44" dur="500"/>
                                        <p:tgtEl>
                                          <p:spTgt spid="2">
                                            <p:txEl>
                                              <p:pRg st="8" end="8"/>
                                            </p:txEl>
                                          </p:spTgt>
                                        </p:tgtEl>
                                      </p:cBhvr>
                                    </p:animEffect>
                                  </p:childTnLst>
                                </p:cTn>
                              </p:par>
                              <p:par>
                                <p:cTn id="45" presetID="14" presetClass="entr" presetSubtype="10" fill="hold" nodeType="withEffect">
                                  <p:stCondLst>
                                    <p:cond delay="0"/>
                                  </p:stCondLst>
                                  <p:childTnLst>
                                    <p:set>
                                      <p:cBhvr>
                                        <p:cTn id="46" dur="1" fill="hold">
                                          <p:stCondLst>
                                            <p:cond delay="0"/>
                                          </p:stCondLst>
                                        </p:cTn>
                                        <p:tgtEl>
                                          <p:spTgt spid="2">
                                            <p:txEl>
                                              <p:pRg st="9" end="9"/>
                                            </p:txEl>
                                          </p:spTgt>
                                        </p:tgtEl>
                                        <p:attrNameLst>
                                          <p:attrName>style.visibility</p:attrName>
                                        </p:attrNameLst>
                                      </p:cBhvr>
                                      <p:to>
                                        <p:strVal val="visible"/>
                                      </p:to>
                                    </p:set>
                                    <p:animEffect transition="in" filter="randombar(horizontal)">
                                      <p:cBhvr>
                                        <p:cTn id="47" dur="500"/>
                                        <p:tgtEl>
                                          <p:spTgt spid="2">
                                            <p:txEl>
                                              <p:pRg st="9" end="9"/>
                                            </p:txEl>
                                          </p:spTgt>
                                        </p:tgtEl>
                                      </p:cBhvr>
                                    </p:animEffect>
                                  </p:childTnLst>
                                </p:cTn>
                              </p:par>
                              <p:par>
                                <p:cTn id="48" presetID="14" presetClass="entr" presetSubtype="10" fill="hold" nodeType="withEffect">
                                  <p:stCondLst>
                                    <p:cond delay="0"/>
                                  </p:stCondLst>
                                  <p:childTnLst>
                                    <p:set>
                                      <p:cBhvr>
                                        <p:cTn id="49" dur="1" fill="hold">
                                          <p:stCondLst>
                                            <p:cond delay="0"/>
                                          </p:stCondLst>
                                        </p:cTn>
                                        <p:tgtEl>
                                          <p:spTgt spid="2">
                                            <p:txEl>
                                              <p:pRg st="10" end="10"/>
                                            </p:txEl>
                                          </p:spTgt>
                                        </p:tgtEl>
                                        <p:attrNameLst>
                                          <p:attrName>style.visibility</p:attrName>
                                        </p:attrNameLst>
                                      </p:cBhvr>
                                      <p:to>
                                        <p:strVal val="visible"/>
                                      </p:to>
                                    </p:set>
                                    <p:animEffect transition="in" filter="randombar(horizontal)">
                                      <p:cBhvr>
                                        <p:cTn id="50" dur="500"/>
                                        <p:tgtEl>
                                          <p:spTgt spid="2">
                                            <p:txEl>
                                              <p:pRg st="10" end="10"/>
                                            </p:txEl>
                                          </p:spTgt>
                                        </p:tgtEl>
                                      </p:cBhvr>
                                    </p:animEffect>
                                  </p:childTnLst>
                                </p:cTn>
                              </p:par>
                              <p:par>
                                <p:cTn id="51" presetID="14" presetClass="entr" presetSubtype="10" fill="hold" nodeType="withEffect">
                                  <p:stCondLst>
                                    <p:cond delay="0"/>
                                  </p:stCondLst>
                                  <p:childTnLst>
                                    <p:set>
                                      <p:cBhvr>
                                        <p:cTn id="52" dur="1" fill="hold">
                                          <p:stCondLst>
                                            <p:cond delay="0"/>
                                          </p:stCondLst>
                                        </p:cTn>
                                        <p:tgtEl>
                                          <p:spTgt spid="2">
                                            <p:txEl>
                                              <p:pRg st="11" end="11"/>
                                            </p:txEl>
                                          </p:spTgt>
                                        </p:tgtEl>
                                        <p:attrNameLst>
                                          <p:attrName>style.visibility</p:attrName>
                                        </p:attrNameLst>
                                      </p:cBhvr>
                                      <p:to>
                                        <p:strVal val="visible"/>
                                      </p:to>
                                    </p:set>
                                    <p:animEffect transition="in" filter="randombar(horizontal)">
                                      <p:cBhvr>
                                        <p:cTn id="53" dur="500"/>
                                        <p:tgtEl>
                                          <p:spTgt spid="2">
                                            <p:txEl>
                                              <p:pRg st="11" end="1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C6839E-CA21-B01D-886B-0CB0149F8A9D}"/>
            </a:ext>
          </a:extLst>
        </p:cNvPr>
        <p:cNvGrpSpPr/>
        <p:nvPr/>
      </p:nvGrpSpPr>
      <p:grpSpPr>
        <a:xfrm>
          <a:off x="0" y="0"/>
          <a:ext cx="0" cy="0"/>
          <a:chOff x="0" y="0"/>
          <a:chExt cx="0" cy="0"/>
        </a:xfrm>
      </p:grpSpPr>
      <p:pic>
        <p:nvPicPr>
          <p:cNvPr id="13" name="Content Placeholder 12" descr="A close-up of numbers&#10;&#10;AI-generated content may be incorrect.">
            <a:extLst>
              <a:ext uri="{FF2B5EF4-FFF2-40B4-BE49-F238E27FC236}">
                <a16:creationId xmlns:a16="http://schemas.microsoft.com/office/drawing/2014/main" id="{7E5CD6B3-0EFB-C44D-D362-3CA27FE9B7B2}"/>
              </a:ext>
            </a:extLst>
          </p:cNvPr>
          <p:cNvPicPr>
            <a:picLocks noGrp="1" noChangeAspect="1"/>
          </p:cNvPicPr>
          <p:nvPr>
            <p:ph idx="1"/>
          </p:nvPr>
        </p:nvPicPr>
        <p:blipFill>
          <a:blip r:embed="rId3"/>
          <a:stretch>
            <a:fillRect/>
          </a:stretch>
        </p:blipFill>
        <p:spPr>
          <a:xfrm>
            <a:off x="1042495" y="1563688"/>
            <a:ext cx="7059010" cy="1362265"/>
          </a:xfrm>
        </p:spPr>
      </p:pic>
      <p:sp>
        <p:nvSpPr>
          <p:cNvPr id="8" name="Title 7">
            <a:extLst>
              <a:ext uri="{FF2B5EF4-FFF2-40B4-BE49-F238E27FC236}">
                <a16:creationId xmlns:a16="http://schemas.microsoft.com/office/drawing/2014/main" id="{B19E0588-E3D7-DF63-7EEA-1006F18FBAFC}"/>
              </a:ext>
            </a:extLst>
          </p:cNvPr>
          <p:cNvSpPr>
            <a:spLocks noGrp="1"/>
          </p:cNvSpPr>
          <p:nvPr>
            <p:ph type="title"/>
          </p:nvPr>
        </p:nvSpPr>
        <p:spPr>
          <a:xfrm>
            <a:off x="904875" y="131032"/>
            <a:ext cx="7726363" cy="1072753"/>
          </a:xfrm>
        </p:spPr>
        <p:txBody>
          <a:bodyPr>
            <a:normAutofit/>
          </a:bodyPr>
          <a:lstStyle/>
          <a:p>
            <a:r>
              <a:rPr lang="en-US" dirty="0"/>
              <a:t>3.1	Community-Informed Graph Embeddings</a:t>
            </a:r>
            <a:br>
              <a:rPr lang="en-US" dirty="0"/>
            </a:br>
            <a:r>
              <a:rPr lang="en-US" sz="2400" b="0" i="1" dirty="0"/>
              <a:t>Results - Community quality</a:t>
            </a:r>
            <a:endParaRPr lang="en-GB" sz="2400" b="0" i="1" dirty="0"/>
          </a:p>
        </p:txBody>
      </p:sp>
      <p:sp>
        <p:nvSpPr>
          <p:cNvPr id="5" name="Date Placeholder 4">
            <a:extLst>
              <a:ext uri="{FF2B5EF4-FFF2-40B4-BE49-F238E27FC236}">
                <a16:creationId xmlns:a16="http://schemas.microsoft.com/office/drawing/2014/main" id="{3C9FEEA4-D47D-DDC7-6DE0-C6B3DB70FAE5}"/>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5AA707FA-314C-E33E-AE2C-B04FC162372B}"/>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17FE91C6-F476-85C2-56A9-78634A9CE396}"/>
              </a:ext>
            </a:extLst>
          </p:cNvPr>
          <p:cNvSpPr>
            <a:spLocks noGrp="1"/>
          </p:cNvSpPr>
          <p:nvPr>
            <p:ph type="sldNum" sz="quarter" idx="12"/>
          </p:nvPr>
        </p:nvSpPr>
        <p:spPr/>
        <p:txBody>
          <a:bodyPr/>
          <a:lstStyle/>
          <a:p>
            <a:fld id="{E1E1CD7C-2161-7D43-862E-CE4C333CD873}" type="slidenum">
              <a:rPr lang="fr-FR" smtClean="0"/>
              <a:pPr/>
              <a:t>20</a:t>
            </a:fld>
            <a:endParaRPr lang="fr-FR" dirty="0"/>
          </a:p>
        </p:txBody>
      </p:sp>
      <p:pic>
        <p:nvPicPr>
          <p:cNvPr id="15" name="Picture 14" descr="A diagram of a function&#10;&#10;AI-generated content may be incorrect.">
            <a:extLst>
              <a:ext uri="{FF2B5EF4-FFF2-40B4-BE49-F238E27FC236}">
                <a16:creationId xmlns:a16="http://schemas.microsoft.com/office/drawing/2014/main" id="{E9753E3E-8898-F1C5-FF52-744802A0EA5D}"/>
              </a:ext>
            </a:extLst>
          </p:cNvPr>
          <p:cNvPicPr>
            <a:picLocks noChangeAspect="1"/>
          </p:cNvPicPr>
          <p:nvPr/>
        </p:nvPicPr>
        <p:blipFill>
          <a:blip r:embed="rId4"/>
          <a:stretch>
            <a:fillRect/>
          </a:stretch>
        </p:blipFill>
        <p:spPr>
          <a:xfrm>
            <a:off x="969105" y="3219074"/>
            <a:ext cx="7205790" cy="1366001"/>
          </a:xfrm>
          <a:prstGeom prst="rect">
            <a:avLst/>
          </a:prstGeom>
        </p:spPr>
      </p:pic>
    </p:spTree>
    <p:extLst>
      <p:ext uri="{BB962C8B-B14F-4D97-AF65-F5344CB8AC3E}">
        <p14:creationId xmlns:p14="http://schemas.microsoft.com/office/powerpoint/2010/main" val="15160538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randombar(horizontal)">
                                      <p:cBhvr>
                                        <p:cTn id="7" dur="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15"/>
                                        </p:tgtEl>
                                        <p:attrNameLst>
                                          <p:attrName>style.visibility</p:attrName>
                                        </p:attrNameLst>
                                      </p:cBhvr>
                                      <p:to>
                                        <p:strVal val="visible"/>
                                      </p:to>
                                    </p:set>
                                    <p:animEffect transition="in" filter="randombar(horizontal)">
                                      <p:cBhvr>
                                        <p:cTn id="12"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5D0450-87CC-B892-CD5E-5FDD1BEC36BB}"/>
            </a:ext>
          </a:extLst>
        </p:cNvPr>
        <p:cNvGrpSpPr/>
        <p:nvPr/>
      </p:nvGrpSpPr>
      <p:grpSpPr>
        <a:xfrm>
          <a:off x="0" y="0"/>
          <a:ext cx="0" cy="0"/>
          <a:chOff x="0" y="0"/>
          <a:chExt cx="0" cy="0"/>
        </a:xfrm>
      </p:grpSpPr>
      <p:pic>
        <p:nvPicPr>
          <p:cNvPr id="20" name="Content Placeholder 19" descr="A black and white numbers and a black text&#10;&#10;AI-generated content may be incorrect.">
            <a:extLst>
              <a:ext uri="{FF2B5EF4-FFF2-40B4-BE49-F238E27FC236}">
                <a16:creationId xmlns:a16="http://schemas.microsoft.com/office/drawing/2014/main" id="{883F6102-F5D8-A4A8-C3F2-FD0B7BC8721C}"/>
              </a:ext>
            </a:extLst>
          </p:cNvPr>
          <p:cNvPicPr>
            <a:picLocks noGrp="1" noChangeAspect="1"/>
          </p:cNvPicPr>
          <p:nvPr>
            <p:ph idx="1"/>
          </p:nvPr>
        </p:nvPicPr>
        <p:blipFill>
          <a:blip r:embed="rId3"/>
          <a:stretch>
            <a:fillRect/>
          </a:stretch>
        </p:blipFill>
        <p:spPr>
          <a:xfrm>
            <a:off x="2039187" y="1203785"/>
            <a:ext cx="5065626" cy="1714739"/>
          </a:xfrm>
        </p:spPr>
      </p:pic>
      <p:sp>
        <p:nvSpPr>
          <p:cNvPr id="8" name="Title 7">
            <a:extLst>
              <a:ext uri="{FF2B5EF4-FFF2-40B4-BE49-F238E27FC236}">
                <a16:creationId xmlns:a16="http://schemas.microsoft.com/office/drawing/2014/main" id="{06BAACAB-1686-C9B5-D141-88B9CC16406E}"/>
              </a:ext>
            </a:extLst>
          </p:cNvPr>
          <p:cNvSpPr>
            <a:spLocks noGrp="1"/>
          </p:cNvSpPr>
          <p:nvPr>
            <p:ph type="title"/>
          </p:nvPr>
        </p:nvSpPr>
        <p:spPr>
          <a:xfrm>
            <a:off x="904875" y="131032"/>
            <a:ext cx="7726363" cy="1072753"/>
          </a:xfrm>
        </p:spPr>
        <p:txBody>
          <a:bodyPr>
            <a:normAutofit/>
          </a:bodyPr>
          <a:lstStyle/>
          <a:p>
            <a:r>
              <a:rPr lang="en-US" dirty="0"/>
              <a:t>3.1	Community-Informed Graph Embeddings</a:t>
            </a:r>
            <a:br>
              <a:rPr lang="en-US" dirty="0"/>
            </a:br>
            <a:r>
              <a:rPr lang="en-US" sz="2400" b="0" i="1" dirty="0"/>
              <a:t>Results - Query answering MRR</a:t>
            </a:r>
            <a:endParaRPr lang="en-GB" sz="2400" b="0" i="1" dirty="0"/>
          </a:p>
        </p:txBody>
      </p:sp>
      <p:sp>
        <p:nvSpPr>
          <p:cNvPr id="5" name="Date Placeholder 4">
            <a:extLst>
              <a:ext uri="{FF2B5EF4-FFF2-40B4-BE49-F238E27FC236}">
                <a16:creationId xmlns:a16="http://schemas.microsoft.com/office/drawing/2014/main" id="{10174105-35EB-085C-9C6E-3CCB66BCA1D6}"/>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ED39476D-8E36-2EA3-32BA-78D270111F82}"/>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1A47A278-501D-E7BC-EC68-51B362CBC2E9}"/>
              </a:ext>
            </a:extLst>
          </p:cNvPr>
          <p:cNvSpPr>
            <a:spLocks noGrp="1"/>
          </p:cNvSpPr>
          <p:nvPr>
            <p:ph type="sldNum" sz="quarter" idx="12"/>
          </p:nvPr>
        </p:nvSpPr>
        <p:spPr/>
        <p:txBody>
          <a:bodyPr/>
          <a:lstStyle/>
          <a:p>
            <a:fld id="{E1E1CD7C-2161-7D43-862E-CE4C333CD873}" type="slidenum">
              <a:rPr lang="fr-FR" smtClean="0"/>
              <a:pPr/>
              <a:t>21</a:t>
            </a:fld>
            <a:endParaRPr lang="fr-FR" dirty="0"/>
          </a:p>
        </p:txBody>
      </p:sp>
      <p:pic>
        <p:nvPicPr>
          <p:cNvPr id="22" name="Picture 21" descr="A black and white numbers and a white background&#10;&#10;AI-generated content may be incorrect.">
            <a:extLst>
              <a:ext uri="{FF2B5EF4-FFF2-40B4-BE49-F238E27FC236}">
                <a16:creationId xmlns:a16="http://schemas.microsoft.com/office/drawing/2014/main" id="{2C04E9D8-64D3-12EA-3977-D96FA62991EF}"/>
              </a:ext>
            </a:extLst>
          </p:cNvPr>
          <p:cNvPicPr>
            <a:picLocks noChangeAspect="1"/>
          </p:cNvPicPr>
          <p:nvPr/>
        </p:nvPicPr>
        <p:blipFill>
          <a:blip r:embed="rId4"/>
          <a:stretch>
            <a:fillRect/>
          </a:stretch>
        </p:blipFill>
        <p:spPr>
          <a:xfrm>
            <a:off x="2342839" y="2916100"/>
            <a:ext cx="4458322" cy="1971950"/>
          </a:xfrm>
          <a:prstGeom prst="rect">
            <a:avLst/>
          </a:prstGeom>
        </p:spPr>
      </p:pic>
    </p:spTree>
    <p:extLst>
      <p:ext uri="{BB962C8B-B14F-4D97-AF65-F5344CB8AC3E}">
        <p14:creationId xmlns:p14="http://schemas.microsoft.com/office/powerpoint/2010/main" val="22507456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randombar(horizontal)">
                                      <p:cBhvr>
                                        <p:cTn id="7" dur="500"/>
                                        <p:tgtEl>
                                          <p:spTgt spid="20"/>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22"/>
                                        </p:tgtEl>
                                        <p:attrNameLst>
                                          <p:attrName>style.visibility</p:attrName>
                                        </p:attrNameLst>
                                      </p:cBhvr>
                                      <p:to>
                                        <p:strVal val="visible"/>
                                      </p:to>
                                    </p:set>
                                    <p:animEffect transition="in" filter="randombar(horizontal)">
                                      <p:cBhvr>
                                        <p:cTn id="12"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767FB0-5114-15AA-E8DA-B0B5E37016CB}"/>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424E2FF3-0889-52E1-DE22-50E27189E7C4}"/>
              </a:ext>
            </a:extLst>
          </p:cNvPr>
          <p:cNvSpPr>
            <a:spLocks noGrp="1"/>
          </p:cNvSpPr>
          <p:nvPr>
            <p:ph type="title"/>
          </p:nvPr>
        </p:nvSpPr>
        <p:spPr>
          <a:xfrm>
            <a:off x="904875" y="131032"/>
            <a:ext cx="7726363" cy="1072753"/>
          </a:xfrm>
        </p:spPr>
        <p:txBody>
          <a:bodyPr>
            <a:normAutofit/>
          </a:bodyPr>
          <a:lstStyle/>
          <a:p>
            <a:r>
              <a:rPr lang="en-US" dirty="0"/>
              <a:t>3.1	Community-Informed Graph Embeddings</a:t>
            </a:r>
            <a:br>
              <a:rPr lang="en-US" dirty="0"/>
            </a:br>
            <a:r>
              <a:rPr lang="en-US" sz="2400" b="0" i="1" dirty="0"/>
              <a:t>Results - Comparison to related work on KG scalability</a:t>
            </a:r>
            <a:endParaRPr lang="en-GB" sz="2400" b="0" i="1" dirty="0"/>
          </a:p>
        </p:txBody>
      </p:sp>
      <p:sp>
        <p:nvSpPr>
          <p:cNvPr id="5" name="Date Placeholder 4">
            <a:extLst>
              <a:ext uri="{FF2B5EF4-FFF2-40B4-BE49-F238E27FC236}">
                <a16:creationId xmlns:a16="http://schemas.microsoft.com/office/drawing/2014/main" id="{964582E7-A780-16E2-9631-904BE2F383E1}"/>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02B23728-D47A-636F-E3BC-C114B06171AA}"/>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96309AE1-CF49-6074-F88D-2153418B028E}"/>
              </a:ext>
            </a:extLst>
          </p:cNvPr>
          <p:cNvSpPr>
            <a:spLocks noGrp="1"/>
          </p:cNvSpPr>
          <p:nvPr>
            <p:ph type="sldNum" sz="quarter" idx="12"/>
          </p:nvPr>
        </p:nvSpPr>
        <p:spPr/>
        <p:txBody>
          <a:bodyPr/>
          <a:lstStyle/>
          <a:p>
            <a:fld id="{E1E1CD7C-2161-7D43-862E-CE4C333CD873}" type="slidenum">
              <a:rPr lang="fr-FR" smtClean="0"/>
              <a:pPr/>
              <a:t>22</a:t>
            </a:fld>
            <a:endParaRPr lang="fr-FR" dirty="0"/>
          </a:p>
        </p:txBody>
      </p:sp>
      <p:pic>
        <p:nvPicPr>
          <p:cNvPr id="26" name="Content Placeholder 25" descr="A white rectangular object with black text&#10;&#10;AI-generated content may be incorrect.">
            <a:extLst>
              <a:ext uri="{FF2B5EF4-FFF2-40B4-BE49-F238E27FC236}">
                <a16:creationId xmlns:a16="http://schemas.microsoft.com/office/drawing/2014/main" id="{E18A97D9-BC9F-3D1B-2569-E525028B4F93}"/>
              </a:ext>
            </a:extLst>
          </p:cNvPr>
          <p:cNvPicPr>
            <a:picLocks noGrp="1" noChangeAspect="1"/>
          </p:cNvPicPr>
          <p:nvPr>
            <p:ph idx="1"/>
          </p:nvPr>
        </p:nvPicPr>
        <p:blipFill>
          <a:blip r:embed="rId3"/>
          <a:stretch>
            <a:fillRect/>
          </a:stretch>
        </p:blipFill>
        <p:spPr>
          <a:xfrm>
            <a:off x="2315026" y="2189807"/>
            <a:ext cx="4906060" cy="2133898"/>
          </a:xfrm>
        </p:spPr>
      </p:pic>
    </p:spTree>
    <p:extLst>
      <p:ext uri="{BB962C8B-B14F-4D97-AF65-F5344CB8AC3E}">
        <p14:creationId xmlns:p14="http://schemas.microsoft.com/office/powerpoint/2010/main" val="14908053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randombar(horizontal)">
                                      <p:cBhvr>
                                        <p:cTn id="7"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16D300-2CA8-C2AF-2845-48AADA6EEAD1}"/>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5D166310-8F90-3690-6D79-348CE2319ED4}"/>
              </a:ext>
            </a:extLst>
          </p:cNvPr>
          <p:cNvSpPr>
            <a:spLocks noGrp="1"/>
          </p:cNvSpPr>
          <p:nvPr>
            <p:ph type="title"/>
          </p:nvPr>
        </p:nvSpPr>
        <p:spPr>
          <a:xfrm>
            <a:off x="904875" y="131032"/>
            <a:ext cx="7726363" cy="1072753"/>
          </a:xfrm>
        </p:spPr>
        <p:txBody>
          <a:bodyPr>
            <a:normAutofit/>
          </a:bodyPr>
          <a:lstStyle/>
          <a:p>
            <a:r>
              <a:rPr lang="en-US" dirty="0"/>
              <a:t>3.1	Community-Informed Graph Embeddings</a:t>
            </a:r>
            <a:br>
              <a:rPr lang="en-US" dirty="0"/>
            </a:br>
            <a:r>
              <a:rPr lang="en-US" sz="2400" b="0" i="1" dirty="0"/>
              <a:t>Results - Feasibility</a:t>
            </a:r>
            <a:endParaRPr lang="en-GB" sz="2400" b="0" i="1" dirty="0"/>
          </a:p>
        </p:txBody>
      </p:sp>
      <p:sp>
        <p:nvSpPr>
          <p:cNvPr id="5" name="Date Placeholder 4">
            <a:extLst>
              <a:ext uri="{FF2B5EF4-FFF2-40B4-BE49-F238E27FC236}">
                <a16:creationId xmlns:a16="http://schemas.microsoft.com/office/drawing/2014/main" id="{9461B1C2-7132-C6C9-D7F8-72DC69A85C30}"/>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F112822E-50DA-FEF4-7928-43932D422E01}"/>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9C41A0F8-CE3C-52F9-E318-49801B1DECCC}"/>
              </a:ext>
            </a:extLst>
          </p:cNvPr>
          <p:cNvSpPr>
            <a:spLocks noGrp="1"/>
          </p:cNvSpPr>
          <p:nvPr>
            <p:ph type="sldNum" sz="quarter" idx="12"/>
          </p:nvPr>
        </p:nvSpPr>
        <p:spPr/>
        <p:txBody>
          <a:bodyPr/>
          <a:lstStyle/>
          <a:p>
            <a:fld id="{E1E1CD7C-2161-7D43-862E-CE4C333CD873}" type="slidenum">
              <a:rPr lang="fr-FR" smtClean="0"/>
              <a:pPr/>
              <a:t>23</a:t>
            </a:fld>
            <a:endParaRPr lang="fr-FR" dirty="0"/>
          </a:p>
        </p:txBody>
      </p:sp>
      <p:pic>
        <p:nvPicPr>
          <p:cNvPr id="9" name="Content Placeholder 8" descr="A close-up of several graphs&#10;&#10;AI-generated content may be incorrect.">
            <a:extLst>
              <a:ext uri="{FF2B5EF4-FFF2-40B4-BE49-F238E27FC236}">
                <a16:creationId xmlns:a16="http://schemas.microsoft.com/office/drawing/2014/main" id="{9E2574FB-F4D4-546E-D9BC-A8CC7E84B49B}"/>
              </a:ext>
            </a:extLst>
          </p:cNvPr>
          <p:cNvPicPr>
            <a:picLocks noGrp="1" noChangeAspect="1"/>
          </p:cNvPicPr>
          <p:nvPr>
            <p:ph idx="1"/>
          </p:nvPr>
        </p:nvPicPr>
        <p:blipFill>
          <a:blip r:embed="rId3"/>
          <a:stretch>
            <a:fillRect/>
          </a:stretch>
        </p:blipFill>
        <p:spPr>
          <a:xfrm>
            <a:off x="904875" y="2029782"/>
            <a:ext cx="7726363" cy="2453949"/>
          </a:xfrm>
        </p:spPr>
      </p:pic>
    </p:spTree>
    <p:extLst>
      <p:ext uri="{BB962C8B-B14F-4D97-AF65-F5344CB8AC3E}">
        <p14:creationId xmlns:p14="http://schemas.microsoft.com/office/powerpoint/2010/main" val="7557816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randombar(horizontal)">
                                      <p:cBhvr>
                                        <p:cTn id="7"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6FEADA-0709-B6B2-BEF0-17EB992323D6}"/>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0BCE2E7A-778F-58B5-A87E-5F91CF902B82}"/>
              </a:ext>
            </a:extLst>
          </p:cNvPr>
          <p:cNvSpPr>
            <a:spLocks noGrp="1"/>
          </p:cNvSpPr>
          <p:nvPr>
            <p:ph type="title"/>
          </p:nvPr>
        </p:nvSpPr>
        <p:spPr>
          <a:xfrm>
            <a:off x="904875" y="131032"/>
            <a:ext cx="7726363" cy="1072753"/>
          </a:xfrm>
        </p:spPr>
        <p:txBody>
          <a:bodyPr>
            <a:normAutofit/>
          </a:bodyPr>
          <a:lstStyle/>
          <a:p>
            <a:r>
              <a:rPr lang="en-US" dirty="0"/>
              <a:t>3.1	Community-Informed Graph Embeddings</a:t>
            </a:r>
            <a:br>
              <a:rPr lang="en-US" sz="2400" dirty="0"/>
            </a:br>
            <a:r>
              <a:rPr lang="en-US" sz="2400" b="0" i="1" dirty="0"/>
              <a:t>Summary</a:t>
            </a:r>
            <a:r>
              <a:rPr lang="en-US" sz="2400" dirty="0"/>
              <a:t> </a:t>
            </a:r>
            <a:endParaRPr lang="en-GB" sz="2400" b="0" i="1" dirty="0"/>
          </a:p>
        </p:txBody>
      </p:sp>
      <p:sp>
        <p:nvSpPr>
          <p:cNvPr id="5" name="Date Placeholder 4">
            <a:extLst>
              <a:ext uri="{FF2B5EF4-FFF2-40B4-BE49-F238E27FC236}">
                <a16:creationId xmlns:a16="http://schemas.microsoft.com/office/drawing/2014/main" id="{B92DD391-F898-7752-0AE7-EFD61742DF9B}"/>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9A542E73-49DD-69F3-D5AD-2317C98536F7}"/>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B0F16A17-A304-C60E-EA35-524A6EF6A38D}"/>
              </a:ext>
            </a:extLst>
          </p:cNvPr>
          <p:cNvSpPr>
            <a:spLocks noGrp="1"/>
          </p:cNvSpPr>
          <p:nvPr>
            <p:ph type="sldNum" sz="quarter" idx="12"/>
          </p:nvPr>
        </p:nvSpPr>
        <p:spPr/>
        <p:txBody>
          <a:bodyPr/>
          <a:lstStyle/>
          <a:p>
            <a:fld id="{E1E1CD7C-2161-7D43-862E-CE4C333CD873}" type="slidenum">
              <a:rPr lang="fr-FR" smtClean="0"/>
              <a:pPr/>
              <a:t>24</a:t>
            </a:fld>
            <a:endParaRPr lang="fr-FR" dirty="0"/>
          </a:p>
        </p:txBody>
      </p:sp>
      <p:sp>
        <p:nvSpPr>
          <p:cNvPr id="3" name="Content Placeholder 2">
            <a:extLst>
              <a:ext uri="{FF2B5EF4-FFF2-40B4-BE49-F238E27FC236}">
                <a16:creationId xmlns:a16="http://schemas.microsoft.com/office/drawing/2014/main" id="{CFD8FD9C-2EC0-4B2B-2294-E381316F77DA}"/>
              </a:ext>
            </a:extLst>
          </p:cNvPr>
          <p:cNvSpPr>
            <a:spLocks noGrp="1"/>
          </p:cNvSpPr>
          <p:nvPr>
            <p:ph idx="1"/>
          </p:nvPr>
        </p:nvSpPr>
        <p:spPr/>
        <p:txBody>
          <a:bodyPr anchor="ctr"/>
          <a:lstStyle/>
          <a:p>
            <a:r>
              <a:rPr lang="en-US" dirty="0">
                <a:latin typeface="+mj-lt"/>
              </a:rPr>
              <a:t>Scalable method for knowledge graph reasoning - big data with small compute</a:t>
            </a:r>
          </a:p>
          <a:p>
            <a:r>
              <a:rPr lang="en-US" dirty="0">
                <a:latin typeface="+mj-lt"/>
              </a:rPr>
              <a:t>Model-based technique generalizable to diverse applications</a:t>
            </a:r>
          </a:p>
          <a:p>
            <a:r>
              <a:rPr lang="en-US" dirty="0">
                <a:latin typeface="+mj-lt"/>
              </a:rPr>
              <a:t>Theoretical and empirical arguments</a:t>
            </a:r>
          </a:p>
          <a:p>
            <a:r>
              <a:rPr lang="en-US" dirty="0">
                <a:latin typeface="+mj-lt"/>
              </a:rPr>
              <a:t>Community quality highly relevant</a:t>
            </a:r>
          </a:p>
          <a:p>
            <a:r>
              <a:rPr lang="en-US" dirty="0">
                <a:latin typeface="+mj-lt"/>
              </a:rPr>
              <a:t>Global and local graph representation learning - holism + reductionism</a:t>
            </a:r>
          </a:p>
          <a:p>
            <a:r>
              <a:rPr lang="en-US" dirty="0">
                <a:latin typeface="+mj-lt"/>
              </a:rPr>
              <a:t>Future experiments</a:t>
            </a:r>
          </a:p>
          <a:p>
            <a:pPr lvl="1"/>
            <a:r>
              <a:rPr lang="en-US" dirty="0">
                <a:latin typeface="+mj-lt"/>
              </a:rPr>
              <a:t>Integration with more powerful KG models, such as graph transformers</a:t>
            </a:r>
          </a:p>
          <a:p>
            <a:pPr lvl="1"/>
            <a:r>
              <a:rPr lang="en-US" dirty="0">
                <a:latin typeface="+mj-lt"/>
              </a:rPr>
              <a:t>Larger non-standard public knowledge bases</a:t>
            </a:r>
          </a:p>
        </p:txBody>
      </p:sp>
    </p:spTree>
    <p:extLst>
      <p:ext uri="{BB962C8B-B14F-4D97-AF65-F5344CB8AC3E}">
        <p14:creationId xmlns:p14="http://schemas.microsoft.com/office/powerpoint/2010/main" val="31781926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randombar(horizontal)">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randombar(horizontal)">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4" presetClass="entr" presetSubtype="10" fill="hold"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randombar(horizontal)">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4" presetClass="entr" presetSubtype="10" fill="hold"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randombar(horizontal)">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4" presetClass="entr" presetSubtype="10" fill="hold"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randombar(horizontal)">
                                      <p:cBhvr>
                                        <p:cTn id="27" dur="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4" presetClass="entr" presetSubtype="10" fill="hold"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randombar(horizontal)">
                                      <p:cBhvr>
                                        <p:cTn id="32" dur="500"/>
                                        <p:tgtEl>
                                          <p:spTgt spid="3">
                                            <p:txEl>
                                              <p:pRg st="5" end="5"/>
                                            </p:txEl>
                                          </p:spTgt>
                                        </p:tgtEl>
                                      </p:cBhvr>
                                    </p:animEffect>
                                  </p:childTnLst>
                                </p:cTn>
                              </p:par>
                              <p:par>
                                <p:cTn id="33" presetID="14" presetClass="entr" presetSubtype="10" fill="hold" nodeType="withEffect">
                                  <p:stCondLst>
                                    <p:cond delay="0"/>
                                  </p:stCondLst>
                                  <p:childTnLst>
                                    <p:set>
                                      <p:cBhvr>
                                        <p:cTn id="34" dur="1" fill="hold">
                                          <p:stCondLst>
                                            <p:cond delay="0"/>
                                          </p:stCondLst>
                                        </p:cTn>
                                        <p:tgtEl>
                                          <p:spTgt spid="3">
                                            <p:txEl>
                                              <p:pRg st="6" end="6"/>
                                            </p:txEl>
                                          </p:spTgt>
                                        </p:tgtEl>
                                        <p:attrNameLst>
                                          <p:attrName>style.visibility</p:attrName>
                                        </p:attrNameLst>
                                      </p:cBhvr>
                                      <p:to>
                                        <p:strVal val="visible"/>
                                      </p:to>
                                    </p:set>
                                    <p:animEffect transition="in" filter="randombar(horizontal)">
                                      <p:cBhvr>
                                        <p:cTn id="35" dur="500"/>
                                        <p:tgtEl>
                                          <p:spTgt spid="3">
                                            <p:txEl>
                                              <p:pRg st="6" end="6"/>
                                            </p:txEl>
                                          </p:spTgt>
                                        </p:tgtEl>
                                      </p:cBhvr>
                                    </p:animEffect>
                                  </p:childTnLst>
                                </p:cTn>
                              </p:par>
                              <p:par>
                                <p:cTn id="36" presetID="14" presetClass="entr" presetSubtype="10" fill="hold" nodeType="withEffect">
                                  <p:stCondLst>
                                    <p:cond delay="0"/>
                                  </p:stCondLst>
                                  <p:childTnLst>
                                    <p:set>
                                      <p:cBhvr>
                                        <p:cTn id="37" dur="1" fill="hold">
                                          <p:stCondLst>
                                            <p:cond delay="0"/>
                                          </p:stCondLst>
                                        </p:cTn>
                                        <p:tgtEl>
                                          <p:spTgt spid="3">
                                            <p:txEl>
                                              <p:pRg st="7" end="7"/>
                                            </p:txEl>
                                          </p:spTgt>
                                        </p:tgtEl>
                                        <p:attrNameLst>
                                          <p:attrName>style.visibility</p:attrName>
                                        </p:attrNameLst>
                                      </p:cBhvr>
                                      <p:to>
                                        <p:strVal val="visible"/>
                                      </p:to>
                                    </p:set>
                                    <p:animEffect transition="in" filter="randombar(horizontal)">
                                      <p:cBhvr>
                                        <p:cTn id="38" dur="50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8002073-8438-A969-719E-055D70512F76}"/>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4666B6DA-7DAD-8E37-207B-AECF04FF129C}"/>
              </a:ext>
            </a:extLst>
          </p:cNvPr>
          <p:cNvSpPr>
            <a:spLocks noGrp="1"/>
          </p:cNvSpPr>
          <p:nvPr>
            <p:ph type="title"/>
          </p:nvPr>
        </p:nvSpPr>
        <p:spPr>
          <a:xfrm>
            <a:off x="904875" y="131032"/>
            <a:ext cx="7726363" cy="1072753"/>
          </a:xfrm>
        </p:spPr>
        <p:txBody>
          <a:bodyPr>
            <a:normAutofit/>
          </a:bodyPr>
          <a:lstStyle/>
          <a:p>
            <a:r>
              <a:rPr lang="en-US" dirty="0"/>
              <a:t>3.1	Community-Informed Graph Embeddings</a:t>
            </a:r>
            <a:br>
              <a:rPr lang="en-US" sz="2400" dirty="0"/>
            </a:br>
            <a:r>
              <a:rPr lang="en-US" sz="2400" b="0" i="1" dirty="0"/>
              <a:t>*Distributed extension - Idea</a:t>
            </a:r>
            <a:endParaRPr lang="en-GB" sz="2400" b="0" i="1" dirty="0"/>
          </a:p>
        </p:txBody>
      </p:sp>
      <p:sp>
        <p:nvSpPr>
          <p:cNvPr id="5" name="Date Placeholder 4">
            <a:extLst>
              <a:ext uri="{FF2B5EF4-FFF2-40B4-BE49-F238E27FC236}">
                <a16:creationId xmlns:a16="http://schemas.microsoft.com/office/drawing/2014/main" id="{3F097AF7-90DC-8B8F-F25C-9807AB709A1F}"/>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34BA05B8-029C-5548-06CF-4C7FBAAFF643}"/>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240B5D2A-46C3-1163-BB7A-20EB1BE42B6D}"/>
              </a:ext>
            </a:extLst>
          </p:cNvPr>
          <p:cNvSpPr>
            <a:spLocks noGrp="1"/>
          </p:cNvSpPr>
          <p:nvPr>
            <p:ph type="sldNum" sz="quarter" idx="12"/>
          </p:nvPr>
        </p:nvSpPr>
        <p:spPr/>
        <p:txBody>
          <a:bodyPr/>
          <a:lstStyle/>
          <a:p>
            <a:fld id="{E1E1CD7C-2161-7D43-862E-CE4C333CD873}" type="slidenum">
              <a:rPr lang="fr-FR" smtClean="0"/>
              <a:pPr/>
              <a:t>25</a:t>
            </a:fld>
            <a:endParaRPr lang="fr-FR"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027F43F-5DB2-9221-A682-466FFB71E2CE}"/>
                  </a:ext>
                </a:extLst>
              </p:cNvPr>
              <p:cNvSpPr>
                <a:spLocks noGrp="1"/>
              </p:cNvSpPr>
              <p:nvPr>
                <p:ph idx="1"/>
              </p:nvPr>
            </p:nvSpPr>
            <p:spPr/>
            <p:txBody>
              <a:bodyPr anchor="ctr">
                <a:normAutofit/>
              </a:bodyPr>
              <a:lstStyle/>
              <a:p>
                <a:r>
                  <a:rPr lang="en-US" dirty="0">
                    <a:latin typeface="+mj-lt"/>
                  </a:rPr>
                  <a:t>Scalability still possible beyond a single machine</a:t>
                </a:r>
              </a:p>
              <a:p>
                <a:r>
                  <a:rPr lang="en-US" dirty="0">
                    <a:latin typeface="+mj-lt"/>
                  </a:rPr>
                  <a:t>Previous work - data &amp; model parallelism scaling only linearly with compute</a:t>
                </a:r>
              </a:p>
              <a:p>
                <a:r>
                  <a:rPr lang="en-US" dirty="0">
                    <a:latin typeface="+mj-lt"/>
                  </a:rPr>
                  <a:t>Distributed COINs</a:t>
                </a:r>
              </a:p>
              <a:p>
                <a:pPr lvl="1"/>
                <a:r>
                  <a:rPr lang="en-US" dirty="0">
                    <a:latin typeface="+mj-lt"/>
                  </a:rPr>
                  <a:t>Partial model parallelism for additional scalability benefits</a:t>
                </a:r>
              </a:p>
              <a:p>
                <a:pPr lvl="1"/>
                <a:r>
                  <a:rPr lang="en-US" dirty="0">
                    <a:latin typeface="+mj-lt"/>
                  </a:rPr>
                  <a:t>Step II sub-models are completely independent, but must wait for Step I results</a:t>
                </a:r>
              </a:p>
              <a:p>
                <a:pPr lvl="1"/>
                <a:r>
                  <a:rPr lang="en-US" dirty="0">
                    <a:latin typeface="+mj-lt"/>
                  </a:rPr>
                  <a:t>Assumption: given set of machines </a:t>
                </a:r>
                <a14:m>
                  <m:oMath xmlns:m="http://schemas.openxmlformats.org/officeDocument/2006/math">
                    <m:r>
                      <a:rPr lang="en-US" b="0" i="1" smtClean="0">
                        <a:latin typeface="Cambria Math" panose="02040503050406030204" pitchFamily="18" charset="0"/>
                      </a:rPr>
                      <m:t>𝑈</m:t>
                    </m:r>
                  </m:oMath>
                </a14:m>
                <a:endParaRPr lang="en-US" dirty="0">
                  <a:latin typeface="+mj-lt"/>
                </a:endParaRPr>
              </a:p>
              <a:p>
                <a:pPr lvl="1"/>
                <a:r>
                  <a:rPr lang="en-US" dirty="0">
                    <a:latin typeface="+mj-lt"/>
                  </a:rPr>
                  <a:t>Assign Step I and aggregation steps to a </a:t>
                </a:r>
                <a:r>
                  <a:rPr lang="en-US" i="1" dirty="0">
                    <a:latin typeface="+mj-lt"/>
                  </a:rPr>
                  <a:t>leader</a:t>
                </a:r>
                <a:r>
                  <a:rPr lang="en-US" dirty="0">
                    <a:latin typeface="+mj-lt"/>
                  </a:rPr>
                  <a:t> node </a:t>
                </a:r>
                <a14:m>
                  <m:oMath xmlns:m="http://schemas.openxmlformats.org/officeDocument/2006/math">
                    <m:sSup>
                      <m:sSupPr>
                        <m:ctrlPr>
                          <a:rPr lang="en-US" b="0" i="1" smtClean="0">
                            <a:latin typeface="Cambria Math" panose="02040503050406030204" pitchFamily="18" charset="0"/>
                          </a:rPr>
                        </m:ctrlPr>
                      </m:sSupPr>
                      <m:e>
                        <m:r>
                          <a:rPr lang="en-US">
                            <a:latin typeface="Cambria Math" panose="02040503050406030204" pitchFamily="18" charset="0"/>
                          </a:rPr>
                          <m:t>𝑢</m:t>
                        </m:r>
                      </m:e>
                      <m:sup>
                        <m:r>
                          <a:rPr lang="en-US" b="0" i="1" smtClean="0">
                            <a:latin typeface="Cambria Math" panose="02040503050406030204" pitchFamily="18" charset="0"/>
                          </a:rPr>
                          <m:t>∗</m:t>
                        </m:r>
                      </m:sup>
                    </m:sSup>
                    <m:r>
                      <a:rPr lang="en-US" b="0" i="1" smtClean="0">
                        <a:latin typeface="Cambria Math" panose="02040503050406030204" pitchFamily="18" charset="0"/>
                      </a:rPr>
                      <m:t>∈</m:t>
                    </m:r>
                    <m:r>
                      <a:rPr lang="en-US" i="1">
                        <a:latin typeface="Cambria Math" panose="02040503050406030204" pitchFamily="18" charset="0"/>
                      </a:rPr>
                      <m:t>𝑈</m:t>
                    </m:r>
                  </m:oMath>
                </a14:m>
                <a:endParaRPr lang="en-US" dirty="0">
                  <a:latin typeface="+mj-lt"/>
                </a:endParaRPr>
              </a:p>
              <a:p>
                <a:pPr lvl="1"/>
                <a:r>
                  <a:rPr lang="en-US" dirty="0">
                    <a:latin typeface="+mj-lt"/>
                  </a:rPr>
                  <a:t>Pre-compute optimal </a:t>
                </a:r>
                <a:r>
                  <a:rPr lang="en-US" i="1" dirty="0">
                    <a:latin typeface="+mj-lt"/>
                  </a:rPr>
                  <a:t>follower</a:t>
                </a:r>
                <a:r>
                  <a:rPr lang="en-US" dirty="0">
                    <a:latin typeface="+mj-lt"/>
                  </a:rPr>
                  <a:t> machine assignment for Step II models</a:t>
                </a:r>
              </a:p>
              <a:p>
                <a:pPr lvl="1"/>
                <a:r>
                  <a:rPr lang="en-US" dirty="0">
                    <a:latin typeface="+mj-lt"/>
                  </a:rPr>
                  <a:t>Leader async sends Step II input, sync waits for Step II output</a:t>
                </a:r>
              </a:p>
            </p:txBody>
          </p:sp>
        </mc:Choice>
        <mc:Fallback xmlns="">
          <p:sp>
            <p:nvSpPr>
              <p:cNvPr id="3" name="Content Placeholder 2">
                <a:extLst>
                  <a:ext uri="{FF2B5EF4-FFF2-40B4-BE49-F238E27FC236}">
                    <a16:creationId xmlns:a16="http://schemas.microsoft.com/office/drawing/2014/main" id="{1027F43F-5DB2-9221-A682-466FFB71E2CE}"/>
                  </a:ext>
                </a:extLst>
              </p:cNvPr>
              <p:cNvSpPr>
                <a:spLocks noGrp="1" noRot="1" noChangeAspect="1" noMove="1" noResize="1" noEditPoints="1" noAdjustHandles="1" noChangeArrowheads="1" noChangeShapeType="1" noTextEdit="1"/>
              </p:cNvSpPr>
              <p:nvPr>
                <p:ph idx="1"/>
              </p:nvPr>
            </p:nvSpPr>
            <p:spPr>
              <a:blipFill>
                <a:blip r:embed="rId3"/>
                <a:stretch>
                  <a:fillRect/>
                </a:stretch>
              </a:blipFill>
            </p:spPr>
            <p:txBody>
              <a:bodyPr/>
              <a:lstStyle/>
              <a:p>
                <a:r>
                  <a:rPr lang="en-GB">
                    <a:noFill/>
                  </a:rPr>
                  <a:t> </a:t>
                </a:r>
              </a:p>
            </p:txBody>
          </p:sp>
        </mc:Fallback>
      </mc:AlternateContent>
    </p:spTree>
    <p:extLst>
      <p:ext uri="{BB962C8B-B14F-4D97-AF65-F5344CB8AC3E}">
        <p14:creationId xmlns:p14="http://schemas.microsoft.com/office/powerpoint/2010/main" val="10186661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randombar(horizontal)">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randombar(horizontal)">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4" presetClass="entr" presetSubtype="10" fill="hold"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randombar(horizontal)">
                                      <p:cBhvr>
                                        <p:cTn id="17" dur="500"/>
                                        <p:tgtEl>
                                          <p:spTgt spid="3">
                                            <p:txEl>
                                              <p:pRg st="2" end="2"/>
                                            </p:txEl>
                                          </p:spTgt>
                                        </p:tgtEl>
                                      </p:cBhvr>
                                    </p:animEffect>
                                  </p:childTnLst>
                                </p:cTn>
                              </p:par>
                              <p:par>
                                <p:cTn id="18" presetID="14" presetClass="entr" presetSubtype="10" fill="hold" nodeType="with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randombar(horizontal)">
                                      <p:cBhvr>
                                        <p:cTn id="20" dur="500"/>
                                        <p:tgtEl>
                                          <p:spTgt spid="3">
                                            <p:txEl>
                                              <p:pRg st="3" end="3"/>
                                            </p:txEl>
                                          </p:spTgt>
                                        </p:tgtEl>
                                      </p:cBhvr>
                                    </p:animEffect>
                                  </p:childTnLst>
                                </p:cTn>
                              </p:par>
                              <p:par>
                                <p:cTn id="21" presetID="14" presetClass="entr" presetSubtype="10" fill="hold" nodeType="with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animEffect transition="in" filter="randombar(horizontal)">
                                      <p:cBhvr>
                                        <p:cTn id="23" dur="500"/>
                                        <p:tgtEl>
                                          <p:spTgt spid="3">
                                            <p:txEl>
                                              <p:pRg st="4" end="4"/>
                                            </p:txEl>
                                          </p:spTgt>
                                        </p:tgtEl>
                                      </p:cBhvr>
                                    </p:animEffect>
                                  </p:childTnLst>
                                </p:cTn>
                              </p:par>
                              <p:par>
                                <p:cTn id="24" presetID="14" presetClass="entr" presetSubtype="10" fill="hold" nodeType="withEffect">
                                  <p:stCondLst>
                                    <p:cond delay="0"/>
                                  </p:stCondLst>
                                  <p:childTnLst>
                                    <p:set>
                                      <p:cBhvr>
                                        <p:cTn id="25" dur="1" fill="hold">
                                          <p:stCondLst>
                                            <p:cond delay="0"/>
                                          </p:stCondLst>
                                        </p:cTn>
                                        <p:tgtEl>
                                          <p:spTgt spid="3">
                                            <p:txEl>
                                              <p:pRg st="5" end="5"/>
                                            </p:txEl>
                                          </p:spTgt>
                                        </p:tgtEl>
                                        <p:attrNameLst>
                                          <p:attrName>style.visibility</p:attrName>
                                        </p:attrNameLst>
                                      </p:cBhvr>
                                      <p:to>
                                        <p:strVal val="visible"/>
                                      </p:to>
                                    </p:set>
                                    <p:animEffect transition="in" filter="randombar(horizontal)">
                                      <p:cBhvr>
                                        <p:cTn id="26" dur="500"/>
                                        <p:tgtEl>
                                          <p:spTgt spid="3">
                                            <p:txEl>
                                              <p:pRg st="5" end="5"/>
                                            </p:txEl>
                                          </p:spTgt>
                                        </p:tgtEl>
                                      </p:cBhvr>
                                    </p:animEffect>
                                  </p:childTnLst>
                                </p:cTn>
                              </p:par>
                              <p:par>
                                <p:cTn id="27" presetID="14" presetClass="entr" presetSubtype="10" fill="hold" nodeType="withEffect">
                                  <p:stCondLst>
                                    <p:cond delay="0"/>
                                  </p:stCondLst>
                                  <p:childTnLst>
                                    <p:set>
                                      <p:cBhvr>
                                        <p:cTn id="28" dur="1" fill="hold">
                                          <p:stCondLst>
                                            <p:cond delay="0"/>
                                          </p:stCondLst>
                                        </p:cTn>
                                        <p:tgtEl>
                                          <p:spTgt spid="3">
                                            <p:txEl>
                                              <p:pRg st="6" end="6"/>
                                            </p:txEl>
                                          </p:spTgt>
                                        </p:tgtEl>
                                        <p:attrNameLst>
                                          <p:attrName>style.visibility</p:attrName>
                                        </p:attrNameLst>
                                      </p:cBhvr>
                                      <p:to>
                                        <p:strVal val="visible"/>
                                      </p:to>
                                    </p:set>
                                    <p:animEffect transition="in" filter="randombar(horizontal)">
                                      <p:cBhvr>
                                        <p:cTn id="29" dur="500"/>
                                        <p:tgtEl>
                                          <p:spTgt spid="3">
                                            <p:txEl>
                                              <p:pRg st="6" end="6"/>
                                            </p:txEl>
                                          </p:spTgt>
                                        </p:tgtEl>
                                      </p:cBhvr>
                                    </p:animEffect>
                                  </p:childTnLst>
                                </p:cTn>
                              </p:par>
                              <p:par>
                                <p:cTn id="30" presetID="14" presetClass="entr" presetSubtype="10" fill="hold" nodeType="withEffect">
                                  <p:stCondLst>
                                    <p:cond delay="0"/>
                                  </p:stCondLst>
                                  <p:childTnLst>
                                    <p:set>
                                      <p:cBhvr>
                                        <p:cTn id="31" dur="1" fill="hold">
                                          <p:stCondLst>
                                            <p:cond delay="0"/>
                                          </p:stCondLst>
                                        </p:cTn>
                                        <p:tgtEl>
                                          <p:spTgt spid="3">
                                            <p:txEl>
                                              <p:pRg st="7" end="7"/>
                                            </p:txEl>
                                          </p:spTgt>
                                        </p:tgtEl>
                                        <p:attrNameLst>
                                          <p:attrName>style.visibility</p:attrName>
                                        </p:attrNameLst>
                                      </p:cBhvr>
                                      <p:to>
                                        <p:strVal val="visible"/>
                                      </p:to>
                                    </p:set>
                                    <p:animEffect transition="in" filter="randombar(horizontal)">
                                      <p:cBhvr>
                                        <p:cTn id="32" dur="500"/>
                                        <p:tgtEl>
                                          <p:spTgt spid="3">
                                            <p:txEl>
                                              <p:pRg st="7" end="7"/>
                                            </p:txEl>
                                          </p:spTgt>
                                        </p:tgtEl>
                                      </p:cBhvr>
                                    </p:animEffect>
                                  </p:childTnLst>
                                </p:cTn>
                              </p:par>
                              <p:par>
                                <p:cTn id="33" presetID="14" presetClass="entr" presetSubtype="10" fill="hold" nodeType="with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animEffect transition="in" filter="randombar(horizontal)">
                                      <p:cBhvr>
                                        <p:cTn id="35" dur="500"/>
                                        <p:tgtEl>
                                          <p:spTgt spid="3">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8655D1A6-614F-5795-78DF-CFDFC0FB0033}"/>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9E8CC38B-68D9-43B4-A864-8C610F0133CB}"/>
              </a:ext>
            </a:extLst>
          </p:cNvPr>
          <p:cNvSpPr>
            <a:spLocks noGrp="1"/>
          </p:cNvSpPr>
          <p:nvPr>
            <p:ph type="title"/>
          </p:nvPr>
        </p:nvSpPr>
        <p:spPr>
          <a:xfrm>
            <a:off x="904875" y="131032"/>
            <a:ext cx="7726363" cy="1072753"/>
          </a:xfrm>
        </p:spPr>
        <p:txBody>
          <a:bodyPr>
            <a:normAutofit/>
          </a:bodyPr>
          <a:lstStyle/>
          <a:p>
            <a:r>
              <a:rPr lang="en-US" dirty="0"/>
              <a:t>3.1	Community-Informed Graph Embeddings</a:t>
            </a:r>
            <a:br>
              <a:rPr lang="en-US" dirty="0"/>
            </a:br>
            <a:r>
              <a:rPr lang="en-US" sz="2400" b="0" i="1" dirty="0"/>
              <a:t>*Distributed extension - Outcomes</a:t>
            </a:r>
            <a:endParaRPr lang="en-GB" sz="2400" b="0" i="1" dirty="0"/>
          </a:p>
        </p:txBody>
      </p:sp>
      <p:sp>
        <p:nvSpPr>
          <p:cNvPr id="5" name="Date Placeholder 4">
            <a:extLst>
              <a:ext uri="{FF2B5EF4-FFF2-40B4-BE49-F238E27FC236}">
                <a16:creationId xmlns:a16="http://schemas.microsoft.com/office/drawing/2014/main" id="{3E0739CF-3D54-0FCD-1157-258B413C7D05}"/>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FB865264-99B6-B5F7-D722-CAD67E6B826F}"/>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A0B50AB7-A80D-7250-A751-02093080075F}"/>
              </a:ext>
            </a:extLst>
          </p:cNvPr>
          <p:cNvSpPr>
            <a:spLocks noGrp="1"/>
          </p:cNvSpPr>
          <p:nvPr>
            <p:ph type="sldNum" sz="quarter" idx="12"/>
          </p:nvPr>
        </p:nvSpPr>
        <p:spPr/>
        <p:txBody>
          <a:bodyPr/>
          <a:lstStyle/>
          <a:p>
            <a:fld id="{E1E1CD7C-2161-7D43-862E-CE4C333CD873}" type="slidenum">
              <a:rPr lang="fr-FR" smtClean="0"/>
              <a:pPr/>
              <a:t>26</a:t>
            </a:fld>
            <a:endParaRPr lang="fr-FR"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3C16877D-B56F-197B-F4C5-29A8C535CE58}"/>
                  </a:ext>
                </a:extLst>
              </p:cNvPr>
              <p:cNvSpPr>
                <a:spLocks noGrp="1"/>
              </p:cNvSpPr>
              <p:nvPr>
                <p:ph idx="1"/>
              </p:nvPr>
            </p:nvSpPr>
            <p:spPr/>
            <p:txBody>
              <a:bodyPr anchor="ctr">
                <a:normAutofit fontScale="92500" lnSpcReduction="10000"/>
              </a:bodyPr>
              <a:lstStyle/>
              <a:p>
                <a:r>
                  <a:rPr lang="en-US" dirty="0">
                    <a:latin typeface="+mj-lt"/>
                  </a:rPr>
                  <a:t>Updated complexity and bounds</a:t>
                </a:r>
              </a:p>
              <a:p>
                <a:pPr marL="342900" lvl="1" indent="0">
                  <a:buNone/>
                </a:pPr>
                <a14:m>
                  <m:oMathPara xmlns:m="http://schemas.openxmlformats.org/officeDocument/2006/math">
                    <m:oMathParaPr>
                      <m:jc m:val="centerGroup"/>
                    </m:oMathParaPr>
                    <m:oMath xmlns:m="http://schemas.openxmlformats.org/officeDocument/2006/math">
                      <m:f>
                        <m:fPr>
                          <m:ctrlPr>
                            <a:rPr lang="en-US" i="1" smtClean="0">
                              <a:latin typeface="Cambria Math" panose="02040503050406030204" pitchFamily="18" charset="0"/>
                            </a:rPr>
                          </m:ctrlPr>
                        </m:fPr>
                        <m:num>
                          <m:r>
                            <a:rPr lang="en-US" i="1">
                              <a:latin typeface="Cambria Math" panose="02040503050406030204" pitchFamily="18" charset="0"/>
                            </a:rPr>
                            <m:t>3</m:t>
                          </m:r>
                        </m:num>
                        <m:den>
                          <m:r>
                            <a:rPr lang="en-US" i="1">
                              <a:latin typeface="Cambria Math" panose="02040503050406030204" pitchFamily="18" charset="0"/>
                            </a:rPr>
                            <m:t>2</m:t>
                          </m:r>
                        </m:den>
                      </m:f>
                      <m:rad>
                        <m:radPr>
                          <m:ctrlPr>
                            <a:rPr lang="en-US" i="1">
                              <a:latin typeface="Cambria Math" panose="02040503050406030204" pitchFamily="18" charset="0"/>
                            </a:rPr>
                          </m:ctrlPr>
                        </m:radPr>
                        <m:deg>
                          <m:r>
                            <a:rPr lang="en-US" i="1" smtClean="0">
                              <a:solidFill>
                                <a:srgbClr val="0000FF"/>
                              </a:solidFill>
                              <a:latin typeface="Cambria Math" panose="02040503050406030204" pitchFamily="18" charset="0"/>
                            </a:rPr>
                            <m:t>3</m:t>
                          </m:r>
                        </m:deg>
                        <m:e>
                          <m:r>
                            <a:rPr lang="en-US" i="1">
                              <a:latin typeface="Cambria Math" panose="02040503050406030204" pitchFamily="18" charset="0"/>
                            </a:rPr>
                            <m:t>2</m:t>
                          </m:r>
                          <m:d>
                            <m:dPr>
                              <m:begChr m:val="|"/>
                              <m:endChr m:val="|"/>
                              <m:ctrlPr>
                                <a:rPr lang="en-US" i="1">
                                  <a:latin typeface="Cambria Math" panose="02040503050406030204" pitchFamily="18" charset="0"/>
                                </a:rPr>
                              </m:ctrlPr>
                            </m:dPr>
                            <m:e>
                              <m:r>
                                <a:rPr lang="en-US" i="1">
                                  <a:latin typeface="Cambria Math" panose="02040503050406030204" pitchFamily="18" charset="0"/>
                                </a:rPr>
                                <m:t>𝑉</m:t>
                              </m:r>
                            </m:e>
                          </m:d>
                        </m:e>
                      </m:rad>
                      <m:r>
                        <a:rPr lang="en-US" i="1">
                          <a:latin typeface="Cambria Math" panose="02040503050406030204" pitchFamily="18" charset="0"/>
                        </a:rPr>
                        <m:t>≤</m:t>
                      </m:r>
                      <m:r>
                        <a:rPr lang="en-US" i="1">
                          <a:latin typeface="Cambria Math" panose="02040503050406030204" pitchFamily="18" charset="0"/>
                        </a:rPr>
                        <m:t>𝐾𝑁</m:t>
                      </m:r>
                      <m:r>
                        <a:rPr lang="en-US" i="1">
                          <a:latin typeface="Cambria Math" panose="02040503050406030204" pitchFamily="18" charset="0"/>
                        </a:rPr>
                        <m:t>+</m:t>
                      </m:r>
                      <m:func>
                        <m:funcPr>
                          <m:ctrlPr>
                            <a:rPr lang="en-US" i="1">
                              <a:latin typeface="Cambria Math" panose="02040503050406030204" pitchFamily="18" charset="0"/>
                            </a:rPr>
                          </m:ctrlPr>
                        </m:funcPr>
                        <m:fName>
                          <m:sSubSup>
                            <m:sSubSupPr>
                              <m:ctrlPr>
                                <a:rPr lang="en-US" i="1" smtClean="0">
                                  <a:solidFill>
                                    <a:srgbClr val="0000FF"/>
                                  </a:solidFill>
                                  <a:latin typeface="Cambria Math" panose="02040503050406030204" pitchFamily="18" charset="0"/>
                                </a:rPr>
                              </m:ctrlPr>
                            </m:sSubSupPr>
                            <m:e>
                              <m:r>
                                <m:rPr>
                                  <m:sty m:val="p"/>
                                </m:rPr>
                                <a:rPr lang="en-US" i="0">
                                  <a:solidFill>
                                    <a:srgbClr val="0000FF"/>
                                  </a:solidFill>
                                  <a:latin typeface="Cambria Math" panose="02040503050406030204" pitchFamily="18" charset="0"/>
                                </a:rPr>
                                <m:t>max</m:t>
                              </m:r>
                            </m:e>
                            <m:sub>
                              <m:r>
                                <a:rPr lang="en-US" i="1">
                                  <a:solidFill>
                                    <a:srgbClr val="0000FF"/>
                                  </a:solidFill>
                                  <a:latin typeface="Cambria Math" panose="02040503050406030204" pitchFamily="18" charset="0"/>
                                </a:rPr>
                                <m:t>𝑙</m:t>
                              </m:r>
                              <m:r>
                                <a:rPr lang="en-US" i="1">
                                  <a:solidFill>
                                    <a:srgbClr val="0000FF"/>
                                  </a:solidFill>
                                  <a:latin typeface="Cambria Math" panose="02040503050406030204" pitchFamily="18" charset="0"/>
                                </a:rPr>
                                <m:t>=1</m:t>
                              </m:r>
                            </m:sub>
                            <m:sup>
                              <m:d>
                                <m:dPr>
                                  <m:begChr m:val="|"/>
                                  <m:endChr m:val="|"/>
                                  <m:ctrlPr>
                                    <a:rPr lang="en-US" i="1">
                                      <a:solidFill>
                                        <a:srgbClr val="0000FF"/>
                                      </a:solidFill>
                                      <a:latin typeface="Cambria Math" panose="02040503050406030204" pitchFamily="18" charset="0"/>
                                    </a:rPr>
                                  </m:ctrlPr>
                                </m:dPr>
                                <m:e>
                                  <m:r>
                                    <a:rPr lang="en-US" i="1">
                                      <a:solidFill>
                                        <a:srgbClr val="0000FF"/>
                                      </a:solidFill>
                                      <a:latin typeface="Cambria Math" panose="02040503050406030204" pitchFamily="18" charset="0"/>
                                    </a:rPr>
                                    <m:t>𝑈</m:t>
                                  </m:r>
                                </m:e>
                              </m:d>
                            </m:sup>
                          </m:sSubSup>
                        </m:fName>
                        <m:e>
                          <m:d>
                            <m:dPr>
                              <m:ctrlPr>
                                <a:rPr lang="en-US" i="1">
                                  <a:latin typeface="Cambria Math" panose="02040503050406030204" pitchFamily="18" charset="0"/>
                                </a:rPr>
                              </m:ctrlPr>
                            </m:dPr>
                            <m:e>
                              <m:nary>
                                <m:naryPr>
                                  <m:chr m:val="∑"/>
                                  <m:ctrlPr>
                                    <a:rPr lang="en-US" i="1">
                                      <a:latin typeface="Cambria Math" panose="02040503050406030204" pitchFamily="18" charset="0"/>
                                    </a:rPr>
                                  </m:ctrlPr>
                                </m:naryPr>
                                <m:sub>
                                  <m:r>
                                    <a:rPr lang="en-US" i="1">
                                      <a:latin typeface="Cambria Math" panose="02040503050406030204" pitchFamily="18" charset="0"/>
                                    </a:rPr>
                                    <m:t>𝑘</m:t>
                                  </m:r>
                                  <m:r>
                                    <a:rPr lang="en-US" i="1">
                                      <a:latin typeface="Cambria Math" panose="02040503050406030204" pitchFamily="18" charset="0"/>
                                    </a:rPr>
                                    <m:t>=1</m:t>
                                  </m:r>
                                </m:sub>
                                <m:sup>
                                  <m:r>
                                    <a:rPr lang="en-US" i="1">
                                      <a:latin typeface="Cambria Math" panose="02040503050406030204" pitchFamily="18" charset="0"/>
                                    </a:rPr>
                                    <m:t>𝐾</m:t>
                                  </m:r>
                                </m:sup>
                                <m:e>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𝐶</m:t>
                                          </m:r>
                                        </m:e>
                                        <m:sub>
                                          <m:r>
                                            <a:rPr lang="en-US" i="1">
                                              <a:latin typeface="Cambria Math" panose="02040503050406030204" pitchFamily="18" charset="0"/>
                                            </a:rPr>
                                            <m:t>𝑘</m:t>
                                          </m:r>
                                        </m:sub>
                                      </m:sSub>
                                    </m:e>
                                  </m:d>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𝑁</m:t>
                                          </m:r>
                                        </m:e>
                                        <m:sub>
                                          <m:r>
                                            <a:rPr lang="en-US" i="1">
                                              <a:latin typeface="Cambria Math" panose="02040503050406030204" pitchFamily="18" charset="0"/>
                                            </a:rPr>
                                            <m:t>𝑘</m:t>
                                          </m:r>
                                          <m:r>
                                            <a:rPr lang="en-US" i="1">
                                              <a:latin typeface="Cambria Math" panose="02040503050406030204" pitchFamily="18" charset="0"/>
                                            </a:rPr>
                                            <m:t>,</m:t>
                                          </m:r>
                                          <m:r>
                                            <a:rPr lang="en-US" i="1">
                                              <a:latin typeface="Cambria Math" panose="02040503050406030204" pitchFamily="18" charset="0"/>
                                            </a:rPr>
                                            <m:t>𝑘</m:t>
                                          </m:r>
                                        </m:sub>
                                      </m:sSub>
                                      <m:sSub>
                                        <m:sSubPr>
                                          <m:ctrlPr>
                                            <a:rPr lang="en-US" i="1" smtClean="0">
                                              <a:solidFill>
                                                <a:srgbClr val="0000FF"/>
                                              </a:solidFill>
                                              <a:latin typeface="Cambria Math" panose="02040503050406030204" pitchFamily="18" charset="0"/>
                                            </a:rPr>
                                          </m:ctrlPr>
                                        </m:sSubPr>
                                        <m:e>
                                          <m:r>
                                            <a:rPr lang="en-US" i="1">
                                              <a:solidFill>
                                                <a:srgbClr val="0000FF"/>
                                              </a:solidFill>
                                              <a:latin typeface="Cambria Math" panose="02040503050406030204" pitchFamily="18" charset="0"/>
                                            </a:rPr>
                                            <m:t>𝛿</m:t>
                                          </m:r>
                                        </m:e>
                                        <m:sub>
                                          <m:r>
                                            <a:rPr lang="en-US" i="1">
                                              <a:solidFill>
                                                <a:srgbClr val="0000FF"/>
                                              </a:solidFill>
                                              <a:latin typeface="Cambria Math" panose="02040503050406030204" pitchFamily="18" charset="0"/>
                                            </a:rPr>
                                            <m:t>𝑘</m:t>
                                          </m:r>
                                          <m:r>
                                            <a:rPr lang="en-US" i="1">
                                              <a:solidFill>
                                                <a:srgbClr val="0000FF"/>
                                              </a:solidFill>
                                              <a:latin typeface="Cambria Math" panose="02040503050406030204" pitchFamily="18" charset="0"/>
                                            </a:rPr>
                                            <m:t>,</m:t>
                                          </m:r>
                                          <m:r>
                                            <a:rPr lang="en-US" i="1">
                                              <a:solidFill>
                                                <a:srgbClr val="0000FF"/>
                                              </a:solidFill>
                                              <a:latin typeface="Cambria Math" panose="02040503050406030204" pitchFamily="18" charset="0"/>
                                            </a:rPr>
                                            <m:t>𝑙</m:t>
                                          </m:r>
                                        </m:sub>
                                      </m:sSub>
                                      <m:r>
                                        <a:rPr lang="en-US" i="1">
                                          <a:latin typeface="Cambria Math" panose="02040503050406030204" pitchFamily="18" charset="0"/>
                                        </a:rPr>
                                        <m:t>+</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𝑁</m:t>
                                              </m:r>
                                            </m:e>
                                            <m:sub>
                                              <m:r>
                                                <a:rPr lang="en-US" i="1">
                                                  <a:latin typeface="Cambria Math" panose="02040503050406030204" pitchFamily="18" charset="0"/>
                                                </a:rPr>
                                                <m:t>𝑘</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𝑁</m:t>
                                              </m:r>
                                            </m:e>
                                            <m:sub>
                                              <m:r>
                                                <a:rPr lang="en-US" i="1">
                                                  <a:latin typeface="Cambria Math" panose="02040503050406030204" pitchFamily="18" charset="0"/>
                                                </a:rPr>
                                                <m:t>𝑘</m:t>
                                              </m:r>
                                              <m:r>
                                                <a:rPr lang="en-US" i="1">
                                                  <a:latin typeface="Cambria Math" panose="02040503050406030204" pitchFamily="18" charset="0"/>
                                                </a:rPr>
                                                <m:t>,</m:t>
                                              </m:r>
                                              <m:r>
                                                <a:rPr lang="en-US" i="1">
                                                  <a:latin typeface="Cambria Math" panose="02040503050406030204" pitchFamily="18" charset="0"/>
                                                </a:rPr>
                                                <m:t>𝑘</m:t>
                                              </m:r>
                                            </m:sub>
                                          </m:sSub>
                                        </m:e>
                                      </m:d>
                                      <m:sSub>
                                        <m:sSubPr>
                                          <m:ctrlPr>
                                            <a:rPr lang="en-US" i="1" smtClean="0">
                                              <a:solidFill>
                                                <a:srgbClr val="0000FF"/>
                                              </a:solidFill>
                                              <a:latin typeface="Cambria Math" panose="02040503050406030204" pitchFamily="18" charset="0"/>
                                            </a:rPr>
                                          </m:ctrlPr>
                                        </m:sSubPr>
                                        <m:e>
                                          <m:r>
                                            <a:rPr lang="en-US" i="1">
                                              <a:solidFill>
                                                <a:srgbClr val="0000FF"/>
                                              </a:solidFill>
                                              <a:latin typeface="Cambria Math" panose="02040503050406030204" pitchFamily="18" charset="0"/>
                                            </a:rPr>
                                            <m:t>𝛿</m:t>
                                          </m:r>
                                        </m:e>
                                        <m:sub>
                                          <m:r>
                                            <a:rPr lang="en-US" b="0" i="1" smtClean="0">
                                              <a:solidFill>
                                                <a:srgbClr val="0000FF"/>
                                              </a:solidFill>
                                              <a:latin typeface="Cambria Math" panose="02040503050406030204" pitchFamily="18" charset="0"/>
                                            </a:rPr>
                                            <m:t>∗</m:t>
                                          </m:r>
                                          <m:r>
                                            <a:rPr lang="en-US" i="1">
                                              <a:solidFill>
                                                <a:srgbClr val="0000FF"/>
                                              </a:solidFill>
                                              <a:latin typeface="Cambria Math" panose="02040503050406030204" pitchFamily="18" charset="0"/>
                                            </a:rPr>
                                            <m:t>,</m:t>
                                          </m:r>
                                          <m:r>
                                            <a:rPr lang="en-US" i="1">
                                              <a:solidFill>
                                                <a:srgbClr val="0000FF"/>
                                              </a:solidFill>
                                              <a:latin typeface="Cambria Math" panose="02040503050406030204" pitchFamily="18" charset="0"/>
                                            </a:rPr>
                                            <m:t>𝑙</m:t>
                                          </m:r>
                                        </m:sub>
                                      </m:sSub>
                                    </m:e>
                                  </m:d>
                                </m:e>
                              </m:nary>
                            </m:e>
                          </m:d>
                        </m:e>
                      </m:func>
                      <m:r>
                        <a:rPr lang="en-US" b="0" i="1" smtClean="0">
                          <a:latin typeface="Cambria Math" panose="02040503050406030204" pitchFamily="18" charset="0"/>
                        </a:rPr>
                        <m:t>≤</m:t>
                      </m:r>
                      <m:r>
                        <a:rPr lang="en-US" b="0" i="1" smtClean="0">
                          <a:latin typeface="Cambria Math" panose="02040503050406030204" pitchFamily="18" charset="0"/>
                        </a:rPr>
                        <m:t>𝑁</m:t>
                      </m:r>
                      <m:d>
                        <m:dPr>
                          <m:ctrlPr>
                            <a:rPr lang="en-US" b="0" i="1" smtClean="0">
                              <a:latin typeface="Cambria Math" panose="02040503050406030204" pitchFamily="18" charset="0"/>
                            </a:rPr>
                          </m:ctrlPr>
                        </m:dPr>
                        <m:e>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𝑉</m:t>
                              </m:r>
                            </m:e>
                          </m:d>
                          <m:r>
                            <a:rPr lang="en-US" b="0" i="1" smtClean="0">
                              <a:latin typeface="Cambria Math" panose="02040503050406030204" pitchFamily="18" charset="0"/>
                            </a:rPr>
                            <m:t>+1</m:t>
                          </m:r>
                        </m:e>
                      </m:d>
                    </m:oMath>
                  </m:oMathPara>
                </a14:m>
                <a:endParaRPr lang="en-US" dirty="0">
                  <a:latin typeface="+mj-lt"/>
                </a:endParaRPr>
              </a:p>
              <a:p>
                <a:r>
                  <a:rPr lang="en-US" dirty="0">
                    <a:latin typeface="+mj-lt"/>
                  </a:rPr>
                  <a:t>Issues</a:t>
                </a:r>
              </a:p>
              <a:p>
                <a:pPr lvl="1"/>
                <a:r>
                  <a:rPr lang="en-US" dirty="0">
                    <a:latin typeface="+mj-lt"/>
                  </a:rPr>
                  <a:t>Cubic speed-ups only when </a:t>
                </a:r>
                <a14:m>
                  <m:oMath xmlns:m="http://schemas.openxmlformats.org/officeDocument/2006/math">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𝑈</m:t>
                        </m:r>
                      </m:e>
                    </m:d>
                    <m:r>
                      <a:rPr lang="en-US" b="0" i="1" smtClean="0">
                        <a:latin typeface="Cambria Math" panose="02040503050406030204" pitchFamily="18" charset="0"/>
                      </a:rPr>
                      <m:t>=</m:t>
                    </m:r>
                    <m:r>
                      <a:rPr lang="en-US" b="0" i="1" smtClean="0">
                        <a:latin typeface="Cambria Math" panose="02040503050406030204" pitchFamily="18" charset="0"/>
                      </a:rPr>
                      <m:t>𝐾</m:t>
                    </m:r>
                    <m:r>
                      <a:rPr lang="en-US" b="0" i="1" smtClean="0">
                        <a:latin typeface="Cambria Math" panose="02040503050406030204" pitchFamily="18" charset="0"/>
                      </a:rPr>
                      <m:t>=</m:t>
                    </m:r>
                    <m:rad>
                      <m:radPr>
                        <m:ctrlPr>
                          <a:rPr lang="en-US" i="1">
                            <a:latin typeface="Cambria Math" panose="02040503050406030204" pitchFamily="18" charset="0"/>
                          </a:rPr>
                        </m:ctrlPr>
                      </m:radPr>
                      <m:deg>
                        <m:r>
                          <a:rPr lang="en-US" i="1" smtClean="0">
                            <a:solidFill>
                              <a:srgbClr val="000000"/>
                            </a:solidFill>
                            <a:latin typeface="Cambria Math" panose="02040503050406030204" pitchFamily="18" charset="0"/>
                          </a:rPr>
                          <m:t>3</m:t>
                        </m:r>
                      </m:deg>
                      <m:e>
                        <m:r>
                          <a:rPr lang="en-US" i="1">
                            <a:latin typeface="Cambria Math" panose="02040503050406030204" pitchFamily="18" charset="0"/>
                          </a:rPr>
                          <m:t>2</m:t>
                        </m:r>
                        <m:d>
                          <m:dPr>
                            <m:begChr m:val="|"/>
                            <m:endChr m:val="|"/>
                            <m:ctrlPr>
                              <a:rPr lang="en-US" i="1">
                                <a:latin typeface="Cambria Math" panose="02040503050406030204" pitchFamily="18" charset="0"/>
                              </a:rPr>
                            </m:ctrlPr>
                          </m:dPr>
                          <m:e>
                            <m:r>
                              <a:rPr lang="en-US" i="1">
                                <a:latin typeface="Cambria Math" panose="02040503050406030204" pitchFamily="18" charset="0"/>
                              </a:rPr>
                              <m:t>𝑉</m:t>
                            </m:r>
                          </m:e>
                        </m:d>
                      </m:e>
                    </m:rad>
                  </m:oMath>
                </a14:m>
                <a:endParaRPr lang="en-US" dirty="0">
                  <a:latin typeface="+mj-lt"/>
                </a:endParaRPr>
              </a:p>
              <a:p>
                <a:pPr lvl="1"/>
                <a:r>
                  <a:rPr lang="en-US" dirty="0">
                    <a:latin typeface="+mj-lt"/>
                  </a:rPr>
                  <a:t>Too few communities, harder to preserve baseline performance</a:t>
                </a:r>
              </a:p>
              <a:p>
                <a:pPr lvl="1"/>
                <a:r>
                  <a:rPr lang="en-US" dirty="0">
                    <a:latin typeface="+mj-lt"/>
                  </a:rPr>
                  <a:t>Need to equalize load per machine - 0-1 Knapsack</a:t>
                </a:r>
              </a:p>
              <a:p>
                <a:pPr lvl="1"/>
                <a:r>
                  <a:rPr lang="en-US" dirty="0">
                    <a:latin typeface="+mj-lt"/>
                  </a:rPr>
                  <a:t>In practice at most 1.5x additional speed-up from distribution</a:t>
                </a:r>
              </a:p>
              <a:p>
                <a:r>
                  <a:rPr lang="en-US" dirty="0">
                    <a:latin typeface="+mj-lt"/>
                  </a:rPr>
                  <a:t>Balanced partition problem for optimal Step II assignment</a:t>
                </a:r>
              </a:p>
              <a:p>
                <a:pPr lvl="1"/>
                <a:r>
                  <a:rPr lang="en-US" dirty="0">
                    <a:latin typeface="+mj-lt"/>
                  </a:rPr>
                  <a:t>Brute-force: </a:t>
                </a:r>
                <a14:m>
                  <m:oMath xmlns:m="http://schemas.openxmlformats.org/officeDocument/2006/math">
                    <m:r>
                      <a:rPr lang="en-US" b="0" i="1" smtClean="0">
                        <a:latin typeface="Cambria Math" panose="02040503050406030204" pitchFamily="18" charset="0"/>
                      </a:rPr>
                      <m:t>𝑂</m:t>
                    </m:r>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𝑈</m:t>
                                </m:r>
                              </m:e>
                            </m:d>
                          </m:e>
                          <m:sup>
                            <m:r>
                              <a:rPr lang="en-US" b="0" i="1" smtClean="0">
                                <a:latin typeface="Cambria Math" panose="02040503050406030204" pitchFamily="18" charset="0"/>
                              </a:rPr>
                              <m:t>𝐾</m:t>
                            </m:r>
                          </m:sup>
                        </m:sSup>
                      </m:e>
                    </m:d>
                  </m:oMath>
                </a14:m>
                <a:r>
                  <a:rPr lang="en-US" dirty="0">
                    <a:latin typeface="+mj-lt"/>
                  </a:rPr>
                  <a:t> (infeasible)</a:t>
                </a:r>
              </a:p>
              <a:p>
                <a:pPr lvl="1"/>
                <a:r>
                  <a:rPr lang="en-US" dirty="0">
                    <a:latin typeface="+mj-lt"/>
                  </a:rPr>
                  <a:t>Dynamic programming: </a:t>
                </a:r>
                <a14:m>
                  <m:oMath xmlns:m="http://schemas.openxmlformats.org/officeDocument/2006/math">
                    <m:r>
                      <a:rPr lang="en-US" i="1">
                        <a:latin typeface="Cambria Math" panose="02040503050406030204" pitchFamily="18" charset="0"/>
                      </a:rPr>
                      <m:t>𝑂</m:t>
                    </m:r>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b="0" i="1" smtClean="0">
                                <a:latin typeface="Cambria Math" panose="02040503050406030204" pitchFamily="18" charset="0"/>
                              </a:rPr>
                              <m:t>𝐾𝑆</m:t>
                            </m:r>
                          </m:e>
                          <m:sup>
                            <m:r>
                              <a:rPr lang="en-US" b="0" i="1" smtClean="0">
                                <a:latin typeface="Cambria Math" panose="02040503050406030204" pitchFamily="18" charset="0"/>
                              </a:rPr>
                              <m:t>|</m:t>
                            </m:r>
                            <m:r>
                              <a:rPr lang="en-US" b="0" i="1" smtClean="0">
                                <a:latin typeface="Cambria Math" panose="02040503050406030204" pitchFamily="18" charset="0"/>
                              </a:rPr>
                              <m:t>𝑈</m:t>
                            </m:r>
                            <m:r>
                              <a:rPr lang="en-US" b="0" i="1" smtClean="0">
                                <a:latin typeface="Cambria Math" panose="02040503050406030204" pitchFamily="18" charset="0"/>
                              </a:rPr>
                              <m:t>|−1</m:t>
                            </m:r>
                          </m:sup>
                        </m:sSup>
                      </m:e>
                    </m:d>
                  </m:oMath>
                </a14:m>
                <a:r>
                  <a:rPr lang="en-US" dirty="0">
                    <a:latin typeface="+mj-lt"/>
                  </a:rPr>
                  <a:t> (impractical)</a:t>
                </a:r>
              </a:p>
              <a:p>
                <a:pPr lvl="1"/>
                <a:r>
                  <a:rPr lang="en-US" dirty="0">
                    <a:latin typeface="+mj-lt"/>
                  </a:rPr>
                  <a:t>Greedy: </a:t>
                </a:r>
                <a14:m>
                  <m:oMath xmlns:m="http://schemas.openxmlformats.org/officeDocument/2006/math">
                    <m:r>
                      <a:rPr lang="en-US" i="1">
                        <a:latin typeface="Cambria Math" panose="02040503050406030204" pitchFamily="18" charset="0"/>
                      </a:rPr>
                      <m:t>𝑂</m:t>
                    </m:r>
                    <m:d>
                      <m:dPr>
                        <m:ctrlPr>
                          <a:rPr lang="en-US" i="1">
                            <a:latin typeface="Cambria Math" panose="02040503050406030204" pitchFamily="18" charset="0"/>
                          </a:rPr>
                        </m:ctrlPr>
                      </m:dPr>
                      <m:e>
                        <m:r>
                          <a:rPr lang="en-US" b="0" i="1" smtClean="0">
                            <a:latin typeface="Cambria Math" panose="02040503050406030204" pitchFamily="18" charset="0"/>
                          </a:rPr>
                          <m:t>𝐾</m:t>
                        </m:r>
                        <m:func>
                          <m:funcPr>
                            <m:ctrlPr>
                              <a:rPr lang="en-US" b="0" i="1" smtClean="0">
                                <a:latin typeface="Cambria Math" panose="02040503050406030204" pitchFamily="18" charset="0"/>
                              </a:rPr>
                            </m:ctrlPr>
                          </m:funcPr>
                          <m:fName>
                            <m:r>
                              <m:rPr>
                                <m:sty m:val="p"/>
                              </m:rPr>
                              <a:rPr lang="en-US" b="0" i="0" smtClean="0">
                                <a:latin typeface="Cambria Math" panose="02040503050406030204" pitchFamily="18" charset="0"/>
                              </a:rPr>
                              <m:t>log</m:t>
                            </m:r>
                          </m:fName>
                          <m:e>
                            <m:d>
                              <m:dPr>
                                <m:ctrlPr>
                                  <a:rPr lang="en-US" b="0" i="1" smtClean="0">
                                    <a:latin typeface="Cambria Math" panose="02040503050406030204" pitchFamily="18" charset="0"/>
                                  </a:rPr>
                                </m:ctrlPr>
                              </m:dPr>
                              <m:e>
                                <m:r>
                                  <a:rPr lang="en-US" b="0" i="1" smtClean="0">
                                    <a:latin typeface="Cambria Math" panose="02040503050406030204" pitchFamily="18" charset="0"/>
                                  </a:rPr>
                                  <m:t>𝐾</m:t>
                                </m:r>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𝑈</m:t>
                                    </m:r>
                                  </m:e>
                                </m:d>
                              </m:e>
                            </m:d>
                          </m:e>
                        </m:func>
                      </m:e>
                    </m:d>
                  </m:oMath>
                </a14:m>
                <a:r>
                  <a:rPr lang="en-US" dirty="0">
                    <a:latin typeface="+mj-lt"/>
                  </a:rPr>
                  <a:t> (inexact but scalable)</a:t>
                </a:r>
              </a:p>
            </p:txBody>
          </p:sp>
        </mc:Choice>
        <mc:Fallback xmlns="">
          <p:sp>
            <p:nvSpPr>
              <p:cNvPr id="3" name="Content Placeholder 2">
                <a:extLst>
                  <a:ext uri="{FF2B5EF4-FFF2-40B4-BE49-F238E27FC236}">
                    <a16:creationId xmlns:a16="http://schemas.microsoft.com/office/drawing/2014/main" id="{3C16877D-B56F-197B-F4C5-29A8C535CE58}"/>
                  </a:ext>
                </a:extLst>
              </p:cNvPr>
              <p:cNvSpPr>
                <a:spLocks noGrp="1" noRot="1" noChangeAspect="1" noMove="1" noResize="1" noEditPoints="1" noAdjustHandles="1" noChangeArrowheads="1" noChangeShapeType="1" noTextEdit="1"/>
              </p:cNvSpPr>
              <p:nvPr>
                <p:ph idx="1"/>
              </p:nvPr>
            </p:nvSpPr>
            <p:spPr>
              <a:blipFill>
                <a:blip r:embed="rId3"/>
                <a:stretch>
                  <a:fillRect t="-541" b="-360"/>
                </a:stretch>
              </a:blipFill>
            </p:spPr>
            <p:txBody>
              <a:bodyPr/>
              <a:lstStyle/>
              <a:p>
                <a:r>
                  <a:rPr lang="en-GB">
                    <a:noFill/>
                  </a:rPr>
                  <a:t> </a:t>
                </a:r>
              </a:p>
            </p:txBody>
          </p:sp>
        </mc:Fallback>
      </mc:AlternateContent>
    </p:spTree>
    <p:extLst>
      <p:ext uri="{BB962C8B-B14F-4D97-AF65-F5344CB8AC3E}">
        <p14:creationId xmlns:p14="http://schemas.microsoft.com/office/powerpoint/2010/main" val="28242153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randombar(horizontal)">
                                      <p:cBhvr>
                                        <p:cTn id="7" dur="500"/>
                                        <p:tgtEl>
                                          <p:spTgt spid="3">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randombar(horizontal)">
                                      <p:cBhvr>
                                        <p:cTn id="10" dur="500"/>
                                        <p:tgtEl>
                                          <p:spTgt spid="3">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4" presetClass="entr" presetSubtype="1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randombar(horizontal)">
                                      <p:cBhvr>
                                        <p:cTn id="15" dur="500"/>
                                        <p:tgtEl>
                                          <p:spTgt spid="3">
                                            <p:txEl>
                                              <p:pRg st="2" end="2"/>
                                            </p:txEl>
                                          </p:spTgt>
                                        </p:tgtEl>
                                      </p:cBhvr>
                                    </p:animEffect>
                                  </p:childTnLst>
                                </p:cTn>
                              </p:par>
                              <p:par>
                                <p:cTn id="16" presetID="14" presetClass="entr" presetSubtype="10" fill="hold" nodeType="withEffect">
                                  <p:stCondLst>
                                    <p:cond delay="0"/>
                                  </p:stCondLst>
                                  <p:childTnLst>
                                    <p:set>
                                      <p:cBhvr>
                                        <p:cTn id="17" dur="1" fill="hold">
                                          <p:stCondLst>
                                            <p:cond delay="0"/>
                                          </p:stCondLst>
                                        </p:cTn>
                                        <p:tgtEl>
                                          <p:spTgt spid="3">
                                            <p:txEl>
                                              <p:pRg st="3" end="3"/>
                                            </p:txEl>
                                          </p:spTgt>
                                        </p:tgtEl>
                                        <p:attrNameLst>
                                          <p:attrName>style.visibility</p:attrName>
                                        </p:attrNameLst>
                                      </p:cBhvr>
                                      <p:to>
                                        <p:strVal val="visible"/>
                                      </p:to>
                                    </p:set>
                                    <p:animEffect transition="in" filter="randombar(horizontal)">
                                      <p:cBhvr>
                                        <p:cTn id="18" dur="500"/>
                                        <p:tgtEl>
                                          <p:spTgt spid="3">
                                            <p:txEl>
                                              <p:pRg st="3" end="3"/>
                                            </p:txEl>
                                          </p:spTgt>
                                        </p:tgtEl>
                                      </p:cBhvr>
                                    </p:animEffect>
                                  </p:childTnLst>
                                </p:cTn>
                              </p:par>
                              <p:par>
                                <p:cTn id="19" presetID="14" presetClass="entr" presetSubtype="10" fill="hold" nodeType="with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animEffect transition="in" filter="randombar(horizontal)">
                                      <p:cBhvr>
                                        <p:cTn id="21" dur="500"/>
                                        <p:tgtEl>
                                          <p:spTgt spid="3">
                                            <p:txEl>
                                              <p:pRg st="4" end="4"/>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3">
                                            <p:txEl>
                                              <p:pRg st="5" end="5"/>
                                            </p:txEl>
                                          </p:spTgt>
                                        </p:tgtEl>
                                        <p:attrNameLst>
                                          <p:attrName>style.visibility</p:attrName>
                                        </p:attrNameLst>
                                      </p:cBhvr>
                                      <p:to>
                                        <p:strVal val="visible"/>
                                      </p:to>
                                    </p:set>
                                    <p:animEffect transition="in" filter="randombar(horizontal)">
                                      <p:cBhvr>
                                        <p:cTn id="24" dur="500"/>
                                        <p:tgtEl>
                                          <p:spTgt spid="3">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animEffect transition="in" filter="randombar(horizontal)">
                                      <p:cBhvr>
                                        <p:cTn id="27" dur="500"/>
                                        <p:tgtEl>
                                          <p:spTgt spid="3">
                                            <p:txEl>
                                              <p:pRg st="6" end="6"/>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4" presetClass="entr" presetSubtype="10" fill="hold" nodeType="clickEffect">
                                  <p:stCondLst>
                                    <p:cond delay="0"/>
                                  </p:stCondLst>
                                  <p:childTnLst>
                                    <p:set>
                                      <p:cBhvr>
                                        <p:cTn id="31" dur="1" fill="hold">
                                          <p:stCondLst>
                                            <p:cond delay="0"/>
                                          </p:stCondLst>
                                        </p:cTn>
                                        <p:tgtEl>
                                          <p:spTgt spid="3">
                                            <p:txEl>
                                              <p:pRg st="7" end="7"/>
                                            </p:txEl>
                                          </p:spTgt>
                                        </p:tgtEl>
                                        <p:attrNameLst>
                                          <p:attrName>style.visibility</p:attrName>
                                        </p:attrNameLst>
                                      </p:cBhvr>
                                      <p:to>
                                        <p:strVal val="visible"/>
                                      </p:to>
                                    </p:set>
                                    <p:animEffect transition="in" filter="randombar(horizontal)">
                                      <p:cBhvr>
                                        <p:cTn id="32" dur="500"/>
                                        <p:tgtEl>
                                          <p:spTgt spid="3">
                                            <p:txEl>
                                              <p:pRg st="7" end="7"/>
                                            </p:txEl>
                                          </p:spTgt>
                                        </p:tgtEl>
                                      </p:cBhvr>
                                    </p:animEffect>
                                  </p:childTnLst>
                                </p:cTn>
                              </p:par>
                              <p:par>
                                <p:cTn id="33" presetID="14" presetClass="entr" presetSubtype="10" fill="hold" nodeType="with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animEffect transition="in" filter="randombar(horizontal)">
                                      <p:cBhvr>
                                        <p:cTn id="35" dur="500"/>
                                        <p:tgtEl>
                                          <p:spTgt spid="3">
                                            <p:txEl>
                                              <p:pRg st="8" end="8"/>
                                            </p:txEl>
                                          </p:spTgt>
                                        </p:tgtEl>
                                      </p:cBhvr>
                                    </p:animEffect>
                                  </p:childTnLst>
                                </p:cTn>
                              </p:par>
                              <p:par>
                                <p:cTn id="36" presetID="14" presetClass="entr" presetSubtype="10" fill="hold" nodeType="withEffect">
                                  <p:stCondLst>
                                    <p:cond delay="0"/>
                                  </p:stCondLst>
                                  <p:childTnLst>
                                    <p:set>
                                      <p:cBhvr>
                                        <p:cTn id="37" dur="1" fill="hold">
                                          <p:stCondLst>
                                            <p:cond delay="0"/>
                                          </p:stCondLst>
                                        </p:cTn>
                                        <p:tgtEl>
                                          <p:spTgt spid="3">
                                            <p:txEl>
                                              <p:pRg st="9" end="9"/>
                                            </p:txEl>
                                          </p:spTgt>
                                        </p:tgtEl>
                                        <p:attrNameLst>
                                          <p:attrName>style.visibility</p:attrName>
                                        </p:attrNameLst>
                                      </p:cBhvr>
                                      <p:to>
                                        <p:strVal val="visible"/>
                                      </p:to>
                                    </p:set>
                                    <p:animEffect transition="in" filter="randombar(horizontal)">
                                      <p:cBhvr>
                                        <p:cTn id="38" dur="500"/>
                                        <p:tgtEl>
                                          <p:spTgt spid="3">
                                            <p:txEl>
                                              <p:pRg st="9" end="9"/>
                                            </p:txEl>
                                          </p:spTgt>
                                        </p:tgtEl>
                                      </p:cBhvr>
                                    </p:animEffect>
                                  </p:childTnLst>
                                </p:cTn>
                              </p:par>
                              <p:par>
                                <p:cTn id="39" presetID="14" presetClass="entr" presetSubtype="10" fill="hold" nodeType="withEffect">
                                  <p:stCondLst>
                                    <p:cond delay="0"/>
                                  </p:stCondLst>
                                  <p:childTnLst>
                                    <p:set>
                                      <p:cBhvr>
                                        <p:cTn id="40" dur="1" fill="hold">
                                          <p:stCondLst>
                                            <p:cond delay="0"/>
                                          </p:stCondLst>
                                        </p:cTn>
                                        <p:tgtEl>
                                          <p:spTgt spid="3">
                                            <p:txEl>
                                              <p:pRg st="10" end="10"/>
                                            </p:txEl>
                                          </p:spTgt>
                                        </p:tgtEl>
                                        <p:attrNameLst>
                                          <p:attrName>style.visibility</p:attrName>
                                        </p:attrNameLst>
                                      </p:cBhvr>
                                      <p:to>
                                        <p:strVal val="visible"/>
                                      </p:to>
                                    </p:set>
                                    <p:animEffect transition="in" filter="randombar(horizontal)">
                                      <p:cBhvr>
                                        <p:cTn id="41" dur="500"/>
                                        <p:tgtEl>
                                          <p:spTgt spid="3">
                                            <p:txEl>
                                              <p:pRg st="10" end="1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096763-2499-4BFA-8670-B3703031A15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3E45940-5989-BBDA-7851-84547BE24E8B}"/>
              </a:ext>
            </a:extLst>
          </p:cNvPr>
          <p:cNvSpPr>
            <a:spLocks noGrp="1"/>
          </p:cNvSpPr>
          <p:nvPr>
            <p:ph sz="half" idx="1"/>
          </p:nvPr>
        </p:nvSpPr>
        <p:spPr>
          <a:xfrm>
            <a:off x="904874" y="1563688"/>
            <a:ext cx="4177079" cy="3263504"/>
          </a:xfrm>
        </p:spPr>
        <p:txBody>
          <a:bodyPr anchor="ctr">
            <a:normAutofit/>
          </a:bodyPr>
          <a:lstStyle/>
          <a:p>
            <a:r>
              <a:rPr lang="en-US" dirty="0">
                <a:latin typeface="+mj-lt"/>
              </a:rPr>
              <a:t>Applications</a:t>
            </a:r>
          </a:p>
          <a:p>
            <a:pPr lvl="1"/>
            <a:r>
              <a:rPr lang="en-US" dirty="0">
                <a:latin typeface="+mj-lt"/>
              </a:rPr>
              <a:t>Journalism</a:t>
            </a:r>
          </a:p>
          <a:p>
            <a:pPr lvl="1"/>
            <a:r>
              <a:rPr lang="en-US" dirty="0">
                <a:latin typeface="+mj-lt"/>
              </a:rPr>
              <a:t>Biomedicine</a:t>
            </a:r>
          </a:p>
          <a:p>
            <a:pPr lvl="1"/>
            <a:r>
              <a:rPr lang="en-US" dirty="0">
                <a:latin typeface="+mj-lt"/>
              </a:rPr>
              <a:t>Social networks</a:t>
            </a:r>
          </a:p>
          <a:p>
            <a:pPr lvl="1"/>
            <a:r>
              <a:rPr lang="en-US" dirty="0">
                <a:latin typeface="+mj-lt"/>
              </a:rPr>
              <a:t>Forensics, security</a:t>
            </a:r>
          </a:p>
          <a:p>
            <a:pPr lvl="1"/>
            <a:r>
              <a:rPr lang="en-US" dirty="0">
                <a:latin typeface="+mj-lt"/>
              </a:rPr>
              <a:t>Telecommunications…</a:t>
            </a:r>
          </a:p>
          <a:p>
            <a:r>
              <a:rPr lang="en-US" dirty="0">
                <a:latin typeface="+mj-lt"/>
              </a:rPr>
              <a:t>Monty</a:t>
            </a:r>
          </a:p>
          <a:p>
            <a:pPr lvl="1"/>
            <a:r>
              <a:rPr lang="en-US" dirty="0">
                <a:latin typeface="+mj-lt"/>
              </a:rPr>
              <a:t>Knowledge base of Swisscom</a:t>
            </a:r>
          </a:p>
          <a:p>
            <a:pPr lvl="1"/>
            <a:r>
              <a:rPr lang="en-US" dirty="0">
                <a:latin typeface="+mj-lt"/>
              </a:rPr>
              <a:t>Analyze infrastructure, predict &amp; diagnose defects, aid customer support…</a:t>
            </a:r>
          </a:p>
        </p:txBody>
      </p:sp>
      <p:sp>
        <p:nvSpPr>
          <p:cNvPr id="8" name="Title 7">
            <a:extLst>
              <a:ext uri="{FF2B5EF4-FFF2-40B4-BE49-F238E27FC236}">
                <a16:creationId xmlns:a16="http://schemas.microsoft.com/office/drawing/2014/main" id="{819DBEA4-D44A-0617-CD81-99B7FF4B4AE4}"/>
              </a:ext>
            </a:extLst>
          </p:cNvPr>
          <p:cNvSpPr>
            <a:spLocks noGrp="1"/>
          </p:cNvSpPr>
          <p:nvPr>
            <p:ph type="title"/>
          </p:nvPr>
        </p:nvSpPr>
        <p:spPr>
          <a:xfrm>
            <a:off x="904875" y="131032"/>
            <a:ext cx="7726363" cy="1072753"/>
          </a:xfrm>
        </p:spPr>
        <p:txBody>
          <a:bodyPr>
            <a:normAutofit fontScale="90000"/>
          </a:bodyPr>
          <a:lstStyle/>
          <a:p>
            <a:r>
              <a:rPr lang="en-US" dirty="0"/>
              <a:t>3.2	Real-world Application: The Monty Knowledge Base</a:t>
            </a:r>
            <a:br>
              <a:rPr lang="en-US" dirty="0"/>
            </a:br>
            <a:r>
              <a:rPr lang="en-US" sz="2400" b="0" i="1" dirty="0"/>
              <a:t>Motivation - Knowledge Graph Reasoning in Industry</a:t>
            </a:r>
            <a:endParaRPr lang="en-GB" sz="2400" b="0" i="1" dirty="0"/>
          </a:p>
        </p:txBody>
      </p:sp>
      <p:sp>
        <p:nvSpPr>
          <p:cNvPr id="5" name="Date Placeholder 4">
            <a:extLst>
              <a:ext uri="{FF2B5EF4-FFF2-40B4-BE49-F238E27FC236}">
                <a16:creationId xmlns:a16="http://schemas.microsoft.com/office/drawing/2014/main" id="{29B1E48F-7C2A-3644-CB31-4FA37A28D241}"/>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BB2C8337-F038-4FDD-F305-6BE2914D284D}"/>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4326CA10-E54B-BBA2-EC42-6F210AFB38BE}"/>
              </a:ext>
            </a:extLst>
          </p:cNvPr>
          <p:cNvSpPr>
            <a:spLocks noGrp="1"/>
          </p:cNvSpPr>
          <p:nvPr>
            <p:ph type="sldNum" sz="quarter" idx="12"/>
          </p:nvPr>
        </p:nvSpPr>
        <p:spPr/>
        <p:txBody>
          <a:bodyPr/>
          <a:lstStyle/>
          <a:p>
            <a:fld id="{E1E1CD7C-2161-7D43-862E-CE4C333CD873}" type="slidenum">
              <a:rPr lang="fr-FR" smtClean="0"/>
              <a:pPr/>
              <a:t>27</a:t>
            </a:fld>
            <a:endParaRPr lang="fr-FR" dirty="0"/>
          </a:p>
        </p:txBody>
      </p:sp>
      <p:pic>
        <p:nvPicPr>
          <p:cNvPr id="9" name="Content Placeholder 8">
            <a:extLst>
              <a:ext uri="{FF2B5EF4-FFF2-40B4-BE49-F238E27FC236}">
                <a16:creationId xmlns:a16="http://schemas.microsoft.com/office/drawing/2014/main" id="{64B66164-69EB-020C-2554-FBDE32A160FE}"/>
              </a:ext>
            </a:extLst>
          </p:cNvPr>
          <p:cNvPicPr>
            <a:picLocks noGrp="1" noChangeAspect="1" noChangeArrowheads="1"/>
          </p:cNvPicPr>
          <p:nvPr>
            <p:ph sz="half" idx="2"/>
          </p:nvPr>
        </p:nvPicPr>
        <p:blipFill>
          <a:blip r:embed="rId3">
            <a:extLst>
              <a:ext uri="{28A0092B-C50C-407E-A947-70E740481C1C}">
                <a14:useLocalDpi xmlns:a14="http://schemas.microsoft.com/office/drawing/2010/main" val="0"/>
              </a:ext>
            </a:extLst>
          </a:blip>
          <a:srcRect/>
          <a:stretch>
            <a:fillRect/>
          </a:stretch>
        </p:blipFill>
        <p:spPr bwMode="auto">
          <a:xfrm>
            <a:off x="4959350" y="2698403"/>
            <a:ext cx="3671888" cy="99446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950515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randombar(horizontal)">
                                      <p:cBhvr>
                                        <p:cTn id="7" dur="500"/>
                                        <p:tgtEl>
                                          <p:spTgt spid="2">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2">
                                            <p:txEl>
                                              <p:pRg st="1" end="1"/>
                                            </p:txEl>
                                          </p:spTgt>
                                        </p:tgtEl>
                                        <p:attrNameLst>
                                          <p:attrName>style.visibility</p:attrName>
                                        </p:attrNameLst>
                                      </p:cBhvr>
                                      <p:to>
                                        <p:strVal val="visible"/>
                                      </p:to>
                                    </p:set>
                                    <p:animEffect transition="in" filter="randombar(horizontal)">
                                      <p:cBhvr>
                                        <p:cTn id="10" dur="500"/>
                                        <p:tgtEl>
                                          <p:spTgt spid="2">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animEffect transition="in" filter="randombar(horizontal)">
                                      <p:cBhvr>
                                        <p:cTn id="13" dur="500"/>
                                        <p:tgtEl>
                                          <p:spTgt spid="2">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2">
                                            <p:txEl>
                                              <p:pRg st="3" end="3"/>
                                            </p:txEl>
                                          </p:spTgt>
                                        </p:tgtEl>
                                        <p:attrNameLst>
                                          <p:attrName>style.visibility</p:attrName>
                                        </p:attrNameLst>
                                      </p:cBhvr>
                                      <p:to>
                                        <p:strVal val="visible"/>
                                      </p:to>
                                    </p:set>
                                    <p:animEffect transition="in" filter="randombar(horizontal)">
                                      <p:cBhvr>
                                        <p:cTn id="16" dur="500"/>
                                        <p:tgtEl>
                                          <p:spTgt spid="2">
                                            <p:txEl>
                                              <p:pRg st="3" end="3"/>
                                            </p:txEl>
                                          </p:spTgt>
                                        </p:tgtEl>
                                      </p:cBhvr>
                                    </p:animEffect>
                                  </p:childTnLst>
                                </p:cTn>
                              </p:par>
                              <p:par>
                                <p:cTn id="17" presetID="14" presetClass="entr" presetSubtype="10" fill="hold" nodeType="withEffect">
                                  <p:stCondLst>
                                    <p:cond delay="0"/>
                                  </p:stCondLst>
                                  <p:childTnLst>
                                    <p:set>
                                      <p:cBhvr>
                                        <p:cTn id="18" dur="1" fill="hold">
                                          <p:stCondLst>
                                            <p:cond delay="0"/>
                                          </p:stCondLst>
                                        </p:cTn>
                                        <p:tgtEl>
                                          <p:spTgt spid="2">
                                            <p:txEl>
                                              <p:pRg st="4" end="4"/>
                                            </p:txEl>
                                          </p:spTgt>
                                        </p:tgtEl>
                                        <p:attrNameLst>
                                          <p:attrName>style.visibility</p:attrName>
                                        </p:attrNameLst>
                                      </p:cBhvr>
                                      <p:to>
                                        <p:strVal val="visible"/>
                                      </p:to>
                                    </p:set>
                                    <p:animEffect transition="in" filter="randombar(horizontal)">
                                      <p:cBhvr>
                                        <p:cTn id="19" dur="500"/>
                                        <p:tgtEl>
                                          <p:spTgt spid="2">
                                            <p:txEl>
                                              <p:pRg st="4" end="4"/>
                                            </p:txEl>
                                          </p:spTgt>
                                        </p:tgtEl>
                                      </p:cBhvr>
                                    </p:animEffect>
                                  </p:childTnLst>
                                </p:cTn>
                              </p:par>
                              <p:par>
                                <p:cTn id="20" presetID="14" presetClass="entr" presetSubtype="10" fill="hold" nodeType="withEffect">
                                  <p:stCondLst>
                                    <p:cond delay="0"/>
                                  </p:stCondLst>
                                  <p:childTnLst>
                                    <p:set>
                                      <p:cBhvr>
                                        <p:cTn id="21" dur="1" fill="hold">
                                          <p:stCondLst>
                                            <p:cond delay="0"/>
                                          </p:stCondLst>
                                        </p:cTn>
                                        <p:tgtEl>
                                          <p:spTgt spid="2">
                                            <p:txEl>
                                              <p:pRg st="5" end="5"/>
                                            </p:txEl>
                                          </p:spTgt>
                                        </p:tgtEl>
                                        <p:attrNameLst>
                                          <p:attrName>style.visibility</p:attrName>
                                        </p:attrNameLst>
                                      </p:cBhvr>
                                      <p:to>
                                        <p:strVal val="visible"/>
                                      </p:to>
                                    </p:set>
                                    <p:animEffect transition="in" filter="randombar(horizontal)">
                                      <p:cBhvr>
                                        <p:cTn id="22" dur="500"/>
                                        <p:tgtEl>
                                          <p:spTgt spid="2">
                                            <p:txEl>
                                              <p:pRg st="5" end="5"/>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4" presetClass="entr" presetSubtype="10" fill="hold" nodeType="clickEffect">
                                  <p:stCondLst>
                                    <p:cond delay="0"/>
                                  </p:stCondLst>
                                  <p:childTnLst>
                                    <p:set>
                                      <p:cBhvr>
                                        <p:cTn id="26" dur="1" fill="hold">
                                          <p:stCondLst>
                                            <p:cond delay="0"/>
                                          </p:stCondLst>
                                        </p:cTn>
                                        <p:tgtEl>
                                          <p:spTgt spid="2">
                                            <p:txEl>
                                              <p:pRg st="6" end="6"/>
                                            </p:txEl>
                                          </p:spTgt>
                                        </p:tgtEl>
                                        <p:attrNameLst>
                                          <p:attrName>style.visibility</p:attrName>
                                        </p:attrNameLst>
                                      </p:cBhvr>
                                      <p:to>
                                        <p:strVal val="visible"/>
                                      </p:to>
                                    </p:set>
                                    <p:animEffect transition="in" filter="randombar(horizontal)">
                                      <p:cBhvr>
                                        <p:cTn id="27" dur="500"/>
                                        <p:tgtEl>
                                          <p:spTgt spid="2">
                                            <p:txEl>
                                              <p:pRg st="6" end="6"/>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2">
                                            <p:txEl>
                                              <p:pRg st="7" end="7"/>
                                            </p:txEl>
                                          </p:spTgt>
                                        </p:tgtEl>
                                        <p:attrNameLst>
                                          <p:attrName>style.visibility</p:attrName>
                                        </p:attrNameLst>
                                      </p:cBhvr>
                                      <p:to>
                                        <p:strVal val="visible"/>
                                      </p:to>
                                    </p:set>
                                    <p:animEffect transition="in" filter="randombar(horizontal)">
                                      <p:cBhvr>
                                        <p:cTn id="30" dur="500"/>
                                        <p:tgtEl>
                                          <p:spTgt spid="2">
                                            <p:txEl>
                                              <p:pRg st="7" end="7"/>
                                            </p:txEl>
                                          </p:spTgt>
                                        </p:tgtEl>
                                      </p:cBhvr>
                                    </p:animEffect>
                                  </p:childTnLst>
                                </p:cTn>
                              </p:par>
                              <p:par>
                                <p:cTn id="31" presetID="14" presetClass="entr" presetSubtype="10" fill="hold" nodeType="withEffect">
                                  <p:stCondLst>
                                    <p:cond delay="0"/>
                                  </p:stCondLst>
                                  <p:childTnLst>
                                    <p:set>
                                      <p:cBhvr>
                                        <p:cTn id="32" dur="1" fill="hold">
                                          <p:stCondLst>
                                            <p:cond delay="0"/>
                                          </p:stCondLst>
                                        </p:cTn>
                                        <p:tgtEl>
                                          <p:spTgt spid="2">
                                            <p:txEl>
                                              <p:pRg st="8" end="8"/>
                                            </p:txEl>
                                          </p:spTgt>
                                        </p:tgtEl>
                                        <p:attrNameLst>
                                          <p:attrName>style.visibility</p:attrName>
                                        </p:attrNameLst>
                                      </p:cBhvr>
                                      <p:to>
                                        <p:strVal val="visible"/>
                                      </p:to>
                                    </p:set>
                                    <p:animEffect transition="in" filter="randombar(horizontal)">
                                      <p:cBhvr>
                                        <p:cTn id="33" dur="500"/>
                                        <p:tgtEl>
                                          <p:spTgt spid="2">
                                            <p:txEl>
                                              <p:pRg st="8" end="8"/>
                                            </p:txEl>
                                          </p:spTgt>
                                        </p:tgtEl>
                                      </p:cBhvr>
                                    </p:animEffect>
                                  </p:childTnLst>
                                </p:cTn>
                              </p:par>
                              <p:par>
                                <p:cTn id="34" presetID="14" presetClass="entr" presetSubtype="10" fill="hold" nodeType="withEffect">
                                  <p:stCondLst>
                                    <p:cond delay="0"/>
                                  </p:stCondLst>
                                  <p:childTnLst>
                                    <p:set>
                                      <p:cBhvr>
                                        <p:cTn id="35" dur="1" fill="hold">
                                          <p:stCondLst>
                                            <p:cond delay="0"/>
                                          </p:stCondLst>
                                        </p:cTn>
                                        <p:tgtEl>
                                          <p:spTgt spid="9"/>
                                        </p:tgtEl>
                                        <p:attrNameLst>
                                          <p:attrName>style.visibility</p:attrName>
                                        </p:attrNameLst>
                                      </p:cBhvr>
                                      <p:to>
                                        <p:strVal val="visible"/>
                                      </p:to>
                                    </p:set>
                                    <p:animEffect transition="in" filter="randombar(horizontal)">
                                      <p:cBhvr>
                                        <p:cTn id="36"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9A3BFE-4C0D-3CF3-6A21-E8A25359483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8877CD0-814C-0595-8F7B-07CE78A86B4E}"/>
              </a:ext>
            </a:extLst>
          </p:cNvPr>
          <p:cNvSpPr>
            <a:spLocks noGrp="1"/>
          </p:cNvSpPr>
          <p:nvPr>
            <p:ph sz="half" idx="1"/>
          </p:nvPr>
        </p:nvSpPr>
        <p:spPr>
          <a:xfrm>
            <a:off x="904874" y="1563688"/>
            <a:ext cx="4054475" cy="3263504"/>
          </a:xfrm>
        </p:spPr>
        <p:txBody>
          <a:bodyPr anchor="ctr">
            <a:normAutofit/>
          </a:bodyPr>
          <a:lstStyle/>
          <a:p>
            <a:r>
              <a:rPr lang="en-US" dirty="0">
                <a:latin typeface="+mj-lt"/>
              </a:rPr>
              <a:t>History of COINs </a:t>
            </a:r>
            <a:r>
              <a:rPr lang="en-US" dirty="0">
                <a:solidFill>
                  <a:schemeClr val="accent1"/>
                </a:solidFill>
                <a:latin typeface="+mj-lt"/>
              </a:rPr>
              <a:t>[15]</a:t>
            </a:r>
          </a:p>
          <a:p>
            <a:pPr lvl="1"/>
            <a:r>
              <a:rPr lang="en-US" dirty="0">
                <a:latin typeface="+mj-lt"/>
              </a:rPr>
              <a:t>First version successful on Monty samples</a:t>
            </a:r>
          </a:p>
          <a:p>
            <a:pPr lvl="1"/>
            <a:r>
              <a:rPr lang="en-US" dirty="0">
                <a:latin typeface="+mj-lt"/>
              </a:rPr>
              <a:t>Weak generalization to public data</a:t>
            </a:r>
          </a:p>
          <a:p>
            <a:r>
              <a:rPr lang="en-US" dirty="0">
                <a:latin typeface="+mj-lt"/>
              </a:rPr>
              <a:t>Need to answer: Why?</a:t>
            </a:r>
          </a:p>
          <a:p>
            <a:pPr lvl="1"/>
            <a:r>
              <a:rPr lang="en-US" dirty="0">
                <a:latin typeface="+mj-lt"/>
              </a:rPr>
              <a:t>Detailed report with comparison between Monty and KGs from many other domains</a:t>
            </a:r>
          </a:p>
          <a:p>
            <a:pPr lvl="1"/>
            <a:r>
              <a:rPr lang="en-US" dirty="0">
                <a:latin typeface="+mj-lt"/>
              </a:rPr>
              <a:t>Model ablation and re-evaluation</a:t>
            </a:r>
          </a:p>
        </p:txBody>
      </p:sp>
      <p:sp>
        <p:nvSpPr>
          <p:cNvPr id="8" name="Title 7">
            <a:extLst>
              <a:ext uri="{FF2B5EF4-FFF2-40B4-BE49-F238E27FC236}">
                <a16:creationId xmlns:a16="http://schemas.microsoft.com/office/drawing/2014/main" id="{6DA7F738-4375-67C1-5DB6-EE361AFBF6E5}"/>
              </a:ext>
            </a:extLst>
          </p:cNvPr>
          <p:cNvSpPr>
            <a:spLocks noGrp="1"/>
          </p:cNvSpPr>
          <p:nvPr>
            <p:ph type="title"/>
          </p:nvPr>
        </p:nvSpPr>
        <p:spPr>
          <a:xfrm>
            <a:off x="904875" y="131032"/>
            <a:ext cx="7726363" cy="1072753"/>
          </a:xfrm>
        </p:spPr>
        <p:txBody>
          <a:bodyPr>
            <a:normAutofit fontScale="90000"/>
          </a:bodyPr>
          <a:lstStyle/>
          <a:p>
            <a:r>
              <a:rPr lang="en-US" dirty="0"/>
              <a:t>3.2	Real-world Application: The Monty Knowledge Base</a:t>
            </a:r>
            <a:br>
              <a:rPr lang="en-US" dirty="0"/>
            </a:br>
            <a:r>
              <a:rPr lang="en-US" sz="2400" b="0" i="1" dirty="0"/>
              <a:t>Motivation - COINs origins</a:t>
            </a:r>
            <a:endParaRPr lang="en-GB" sz="2400" b="0" i="1" dirty="0"/>
          </a:p>
        </p:txBody>
      </p:sp>
      <p:sp>
        <p:nvSpPr>
          <p:cNvPr id="5" name="Date Placeholder 4">
            <a:extLst>
              <a:ext uri="{FF2B5EF4-FFF2-40B4-BE49-F238E27FC236}">
                <a16:creationId xmlns:a16="http://schemas.microsoft.com/office/drawing/2014/main" id="{A3BC50A3-F954-A955-9239-33923111E116}"/>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9F3016CF-A00A-54B3-9869-4024BAE8F5E4}"/>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2E9140BC-9C63-860E-1980-621BDC2FB501}"/>
              </a:ext>
            </a:extLst>
          </p:cNvPr>
          <p:cNvSpPr>
            <a:spLocks noGrp="1"/>
          </p:cNvSpPr>
          <p:nvPr>
            <p:ph type="sldNum" sz="quarter" idx="12"/>
          </p:nvPr>
        </p:nvSpPr>
        <p:spPr/>
        <p:txBody>
          <a:bodyPr/>
          <a:lstStyle/>
          <a:p>
            <a:fld id="{E1E1CD7C-2161-7D43-862E-CE4C333CD873}" type="slidenum">
              <a:rPr lang="fr-FR" smtClean="0"/>
              <a:pPr/>
              <a:t>28</a:t>
            </a:fld>
            <a:endParaRPr lang="fr-FR" dirty="0"/>
          </a:p>
        </p:txBody>
      </p:sp>
      <p:pic>
        <p:nvPicPr>
          <p:cNvPr id="9" name="Content Placeholder 8">
            <a:extLst>
              <a:ext uri="{FF2B5EF4-FFF2-40B4-BE49-F238E27FC236}">
                <a16:creationId xmlns:a16="http://schemas.microsoft.com/office/drawing/2014/main" id="{B9B6C7F7-6992-22AF-6263-A71CAFBB1CCE}"/>
              </a:ext>
            </a:extLst>
          </p:cNvPr>
          <p:cNvPicPr>
            <a:picLocks noGrp="1" noChangeAspect="1" noChangeArrowheads="1"/>
          </p:cNvPicPr>
          <p:nvPr>
            <p:ph sz="half" idx="2"/>
          </p:nvPr>
        </p:nvPicPr>
        <p:blipFill>
          <a:blip r:embed="rId3">
            <a:extLst>
              <a:ext uri="{28A0092B-C50C-407E-A947-70E740481C1C}">
                <a14:useLocalDpi xmlns:a14="http://schemas.microsoft.com/office/drawing/2010/main" val="0"/>
              </a:ext>
            </a:extLst>
          </a:blip>
          <a:srcRect/>
          <a:stretch>
            <a:fillRect/>
          </a:stretch>
        </p:blipFill>
        <p:spPr bwMode="auto">
          <a:xfrm>
            <a:off x="4959350" y="2698403"/>
            <a:ext cx="3671888" cy="99446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490337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randombar(horizontal)">
                                      <p:cBhvr>
                                        <p:cTn id="7" dur="500"/>
                                        <p:tgtEl>
                                          <p:spTgt spid="2">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2">
                                            <p:txEl>
                                              <p:pRg st="1" end="1"/>
                                            </p:txEl>
                                          </p:spTgt>
                                        </p:tgtEl>
                                        <p:attrNameLst>
                                          <p:attrName>style.visibility</p:attrName>
                                        </p:attrNameLst>
                                      </p:cBhvr>
                                      <p:to>
                                        <p:strVal val="visible"/>
                                      </p:to>
                                    </p:set>
                                    <p:animEffect transition="in" filter="randombar(horizontal)">
                                      <p:cBhvr>
                                        <p:cTn id="10" dur="500"/>
                                        <p:tgtEl>
                                          <p:spTgt spid="2">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animEffect transition="in" filter="randombar(horizontal)">
                                      <p:cBhvr>
                                        <p:cTn id="13" dur="500"/>
                                        <p:tgtEl>
                                          <p:spTgt spid="2">
                                            <p:txEl>
                                              <p:pRg st="2" end="2"/>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4" presetClass="entr" presetSubtype="10" fill="hold" nodeType="clickEffect">
                                  <p:stCondLst>
                                    <p:cond delay="0"/>
                                  </p:stCondLst>
                                  <p:childTnLst>
                                    <p:set>
                                      <p:cBhvr>
                                        <p:cTn id="17" dur="1" fill="hold">
                                          <p:stCondLst>
                                            <p:cond delay="0"/>
                                          </p:stCondLst>
                                        </p:cTn>
                                        <p:tgtEl>
                                          <p:spTgt spid="2">
                                            <p:txEl>
                                              <p:pRg st="3" end="3"/>
                                            </p:txEl>
                                          </p:spTgt>
                                        </p:tgtEl>
                                        <p:attrNameLst>
                                          <p:attrName>style.visibility</p:attrName>
                                        </p:attrNameLst>
                                      </p:cBhvr>
                                      <p:to>
                                        <p:strVal val="visible"/>
                                      </p:to>
                                    </p:set>
                                    <p:animEffect transition="in" filter="randombar(horizontal)">
                                      <p:cBhvr>
                                        <p:cTn id="18" dur="500"/>
                                        <p:tgtEl>
                                          <p:spTgt spid="2">
                                            <p:txEl>
                                              <p:pRg st="3" end="3"/>
                                            </p:txEl>
                                          </p:spTgt>
                                        </p:tgtEl>
                                      </p:cBhvr>
                                    </p:animEffect>
                                  </p:childTnLst>
                                </p:cTn>
                              </p:par>
                              <p:par>
                                <p:cTn id="19" presetID="14" presetClass="entr" presetSubtype="10" fill="hold" nodeType="withEffect">
                                  <p:stCondLst>
                                    <p:cond delay="0"/>
                                  </p:stCondLst>
                                  <p:childTnLst>
                                    <p:set>
                                      <p:cBhvr>
                                        <p:cTn id="20" dur="1" fill="hold">
                                          <p:stCondLst>
                                            <p:cond delay="0"/>
                                          </p:stCondLst>
                                        </p:cTn>
                                        <p:tgtEl>
                                          <p:spTgt spid="2">
                                            <p:txEl>
                                              <p:pRg st="4" end="4"/>
                                            </p:txEl>
                                          </p:spTgt>
                                        </p:tgtEl>
                                        <p:attrNameLst>
                                          <p:attrName>style.visibility</p:attrName>
                                        </p:attrNameLst>
                                      </p:cBhvr>
                                      <p:to>
                                        <p:strVal val="visible"/>
                                      </p:to>
                                    </p:set>
                                    <p:animEffect transition="in" filter="randombar(horizontal)">
                                      <p:cBhvr>
                                        <p:cTn id="21" dur="500"/>
                                        <p:tgtEl>
                                          <p:spTgt spid="2">
                                            <p:txEl>
                                              <p:pRg st="4" end="4"/>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2">
                                            <p:txEl>
                                              <p:pRg st="5" end="5"/>
                                            </p:txEl>
                                          </p:spTgt>
                                        </p:tgtEl>
                                        <p:attrNameLst>
                                          <p:attrName>style.visibility</p:attrName>
                                        </p:attrNameLst>
                                      </p:cBhvr>
                                      <p:to>
                                        <p:strVal val="visible"/>
                                      </p:to>
                                    </p:set>
                                    <p:animEffect transition="in" filter="randombar(horizontal)">
                                      <p:cBhvr>
                                        <p:cTn id="24" dur="500"/>
                                        <p:tgtEl>
                                          <p:spTgt spid="2">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80B3FF-F4FA-20F7-62B9-F78C26A7E85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A6D8828-DF76-7D84-601B-DFBB8628E8BA}"/>
              </a:ext>
            </a:extLst>
          </p:cNvPr>
          <p:cNvSpPr>
            <a:spLocks noGrp="1"/>
          </p:cNvSpPr>
          <p:nvPr>
            <p:ph sz="half" idx="1"/>
          </p:nvPr>
        </p:nvSpPr>
        <p:spPr>
          <a:xfrm>
            <a:off x="904874" y="1563688"/>
            <a:ext cx="4054475" cy="3263504"/>
          </a:xfrm>
        </p:spPr>
        <p:txBody>
          <a:bodyPr anchor="ctr">
            <a:normAutofit/>
          </a:bodyPr>
          <a:lstStyle/>
          <a:p>
            <a:pPr marL="342900" indent="-342900">
              <a:buFont typeface="+mj-lt"/>
              <a:buAutoNum type="arabicPeriod"/>
            </a:pPr>
            <a:r>
              <a:rPr lang="en-US" dirty="0">
                <a:latin typeface="+mj-lt"/>
              </a:rPr>
              <a:t>Heterogeneity</a:t>
            </a:r>
          </a:p>
          <a:p>
            <a:pPr lvl="1"/>
            <a:r>
              <a:rPr lang="en-US" dirty="0">
                <a:latin typeface="+mj-lt"/>
              </a:rPr>
              <a:t>Label frequencies &amp; </a:t>
            </a:r>
            <a:r>
              <a:rPr lang="en-US" dirty="0" err="1">
                <a:latin typeface="+mj-lt"/>
              </a:rPr>
              <a:t>assortativity</a:t>
            </a:r>
            <a:endParaRPr lang="en-US" dirty="0">
              <a:latin typeface="+mj-lt"/>
            </a:endParaRPr>
          </a:p>
          <a:p>
            <a:pPr marL="342900" indent="-342900">
              <a:buFont typeface="+mj-lt"/>
              <a:buAutoNum type="arabicPeriod"/>
            </a:pPr>
            <a:r>
              <a:rPr lang="en-US" dirty="0">
                <a:latin typeface="+mj-lt"/>
              </a:rPr>
              <a:t>Connectivity</a:t>
            </a:r>
          </a:p>
          <a:p>
            <a:pPr lvl="1"/>
            <a:r>
              <a:rPr lang="en-US" dirty="0">
                <a:latin typeface="+mj-lt"/>
              </a:rPr>
              <a:t>Sparsity, clustering, components</a:t>
            </a:r>
          </a:p>
          <a:p>
            <a:pPr marL="342900" indent="-342900">
              <a:buFont typeface="+mj-lt"/>
              <a:buAutoNum type="arabicPeriod"/>
            </a:pPr>
            <a:r>
              <a:rPr lang="en-US" dirty="0">
                <a:latin typeface="+mj-lt"/>
              </a:rPr>
              <a:t>Importance</a:t>
            </a:r>
          </a:p>
          <a:p>
            <a:pPr marL="342900" indent="-342900">
              <a:buFont typeface="+mj-lt"/>
              <a:buAutoNum type="arabicPeriod"/>
            </a:pPr>
            <a:r>
              <a:rPr lang="en-US" dirty="0" err="1">
                <a:latin typeface="+mj-lt"/>
              </a:rPr>
              <a:t>Subgraphing</a:t>
            </a:r>
            <a:endParaRPr lang="en-US" dirty="0">
              <a:latin typeface="+mj-lt"/>
            </a:endParaRPr>
          </a:p>
          <a:p>
            <a:pPr lvl="1"/>
            <a:r>
              <a:rPr lang="en-US" dirty="0">
                <a:latin typeface="+mj-lt"/>
              </a:rPr>
              <a:t>Communities</a:t>
            </a:r>
          </a:p>
          <a:p>
            <a:pPr lvl="1"/>
            <a:r>
              <a:rPr lang="en-US" dirty="0">
                <a:latin typeface="+mj-lt"/>
              </a:rPr>
              <a:t>Motifs</a:t>
            </a:r>
          </a:p>
          <a:p>
            <a:pPr marL="342900" indent="-342900">
              <a:buFont typeface="+mj-lt"/>
              <a:buAutoNum type="arabicPeriod"/>
            </a:pPr>
            <a:r>
              <a:rPr lang="en-US" dirty="0">
                <a:latin typeface="+mj-lt"/>
              </a:rPr>
              <a:t>Summarization</a:t>
            </a:r>
          </a:p>
          <a:p>
            <a:pPr lvl="1"/>
            <a:r>
              <a:rPr lang="en-US" dirty="0">
                <a:latin typeface="+mj-lt"/>
              </a:rPr>
              <a:t>Association rules, compression</a:t>
            </a:r>
          </a:p>
        </p:txBody>
      </p:sp>
      <p:sp>
        <p:nvSpPr>
          <p:cNvPr id="8" name="Title 7">
            <a:extLst>
              <a:ext uri="{FF2B5EF4-FFF2-40B4-BE49-F238E27FC236}">
                <a16:creationId xmlns:a16="http://schemas.microsoft.com/office/drawing/2014/main" id="{666D5C40-6EF4-E99B-21A3-CF9DF5083C37}"/>
              </a:ext>
            </a:extLst>
          </p:cNvPr>
          <p:cNvSpPr>
            <a:spLocks noGrp="1"/>
          </p:cNvSpPr>
          <p:nvPr>
            <p:ph type="title"/>
          </p:nvPr>
        </p:nvSpPr>
        <p:spPr>
          <a:xfrm>
            <a:off x="904875" y="131032"/>
            <a:ext cx="7726363" cy="1072753"/>
          </a:xfrm>
        </p:spPr>
        <p:txBody>
          <a:bodyPr>
            <a:normAutofit fontScale="90000"/>
          </a:bodyPr>
          <a:lstStyle/>
          <a:p>
            <a:r>
              <a:rPr lang="en-US" dirty="0"/>
              <a:t>3.2	Real-world Application: The Monty Knowledge Base</a:t>
            </a:r>
            <a:br>
              <a:rPr lang="en-US" dirty="0"/>
            </a:br>
            <a:r>
              <a:rPr lang="en-US" sz="2400" b="0" i="1" dirty="0"/>
              <a:t>Methodology - Feature extraction</a:t>
            </a:r>
            <a:endParaRPr lang="en-GB" sz="2400" b="0" i="1" dirty="0"/>
          </a:p>
        </p:txBody>
      </p:sp>
      <p:sp>
        <p:nvSpPr>
          <p:cNvPr id="5" name="Date Placeholder 4">
            <a:extLst>
              <a:ext uri="{FF2B5EF4-FFF2-40B4-BE49-F238E27FC236}">
                <a16:creationId xmlns:a16="http://schemas.microsoft.com/office/drawing/2014/main" id="{CE0B312E-9E70-CE0E-3575-B67BF4EEB497}"/>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1BA48CDD-A711-6780-68CA-9C6DC559CEB8}"/>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98856E3C-AEB4-C161-916E-A0FB4D3DF4CB}"/>
              </a:ext>
            </a:extLst>
          </p:cNvPr>
          <p:cNvSpPr>
            <a:spLocks noGrp="1"/>
          </p:cNvSpPr>
          <p:nvPr>
            <p:ph type="sldNum" sz="quarter" idx="12"/>
          </p:nvPr>
        </p:nvSpPr>
        <p:spPr/>
        <p:txBody>
          <a:bodyPr/>
          <a:lstStyle/>
          <a:p>
            <a:fld id="{E1E1CD7C-2161-7D43-862E-CE4C333CD873}" type="slidenum">
              <a:rPr lang="fr-FR" smtClean="0"/>
              <a:pPr/>
              <a:t>29</a:t>
            </a:fld>
            <a:endParaRPr lang="fr-FR" dirty="0"/>
          </a:p>
        </p:txBody>
      </p:sp>
      <p:pic>
        <p:nvPicPr>
          <p:cNvPr id="10" name="Content Placeholder 9" descr="A diagram of a graph&#10;&#10;AI-generated content may be incorrect.">
            <a:extLst>
              <a:ext uri="{FF2B5EF4-FFF2-40B4-BE49-F238E27FC236}">
                <a16:creationId xmlns:a16="http://schemas.microsoft.com/office/drawing/2014/main" id="{8503E888-AC45-919D-4932-1EA1875E1E81}"/>
              </a:ext>
            </a:extLst>
          </p:cNvPr>
          <p:cNvPicPr>
            <a:picLocks noGrp="1" noChangeAspect="1"/>
          </p:cNvPicPr>
          <p:nvPr>
            <p:ph sz="half" idx="2"/>
          </p:nvPr>
        </p:nvPicPr>
        <p:blipFill>
          <a:blip r:embed="rId3"/>
          <a:stretch>
            <a:fillRect/>
          </a:stretch>
        </p:blipFill>
        <p:spPr>
          <a:xfrm>
            <a:off x="5579961" y="1563688"/>
            <a:ext cx="2430665" cy="3263900"/>
          </a:xfrm>
        </p:spPr>
      </p:pic>
    </p:spTree>
    <p:extLst>
      <p:ext uri="{BB962C8B-B14F-4D97-AF65-F5344CB8AC3E}">
        <p14:creationId xmlns:p14="http://schemas.microsoft.com/office/powerpoint/2010/main" val="23883164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randombar(horizontal)">
                                      <p:cBhvr>
                                        <p:cTn id="7" dur="500"/>
                                        <p:tgtEl>
                                          <p:spTgt spid="2">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2">
                                            <p:txEl>
                                              <p:pRg st="1" end="1"/>
                                            </p:txEl>
                                          </p:spTgt>
                                        </p:tgtEl>
                                        <p:attrNameLst>
                                          <p:attrName>style.visibility</p:attrName>
                                        </p:attrNameLst>
                                      </p:cBhvr>
                                      <p:to>
                                        <p:strVal val="visible"/>
                                      </p:to>
                                    </p:set>
                                    <p:animEffect transition="in" filter="randombar(horizontal)">
                                      <p:cBhvr>
                                        <p:cTn id="10" dur="500"/>
                                        <p:tgtEl>
                                          <p:spTgt spid="2">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4" presetClass="entr" presetSubtype="1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animEffect transition="in" filter="randombar(horizontal)">
                                      <p:cBhvr>
                                        <p:cTn id="15" dur="500"/>
                                        <p:tgtEl>
                                          <p:spTgt spid="2">
                                            <p:txEl>
                                              <p:pRg st="2" end="2"/>
                                            </p:txEl>
                                          </p:spTgt>
                                        </p:tgtEl>
                                      </p:cBhvr>
                                    </p:animEffect>
                                  </p:childTnLst>
                                </p:cTn>
                              </p:par>
                              <p:par>
                                <p:cTn id="16" presetID="14" presetClass="entr" presetSubtype="10" fill="hold" nodeType="withEffect">
                                  <p:stCondLst>
                                    <p:cond delay="0"/>
                                  </p:stCondLst>
                                  <p:childTnLst>
                                    <p:set>
                                      <p:cBhvr>
                                        <p:cTn id="17" dur="1" fill="hold">
                                          <p:stCondLst>
                                            <p:cond delay="0"/>
                                          </p:stCondLst>
                                        </p:cTn>
                                        <p:tgtEl>
                                          <p:spTgt spid="2">
                                            <p:txEl>
                                              <p:pRg st="3" end="3"/>
                                            </p:txEl>
                                          </p:spTgt>
                                        </p:tgtEl>
                                        <p:attrNameLst>
                                          <p:attrName>style.visibility</p:attrName>
                                        </p:attrNameLst>
                                      </p:cBhvr>
                                      <p:to>
                                        <p:strVal val="visible"/>
                                      </p:to>
                                    </p:set>
                                    <p:animEffect transition="in" filter="randombar(horizontal)">
                                      <p:cBhvr>
                                        <p:cTn id="18" dur="500"/>
                                        <p:tgtEl>
                                          <p:spTgt spid="2">
                                            <p:txEl>
                                              <p:pRg st="3" end="3"/>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4" presetClass="entr" presetSubtype="1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animEffect transition="in" filter="randombar(horizontal)">
                                      <p:cBhvr>
                                        <p:cTn id="23" dur="500"/>
                                        <p:tgtEl>
                                          <p:spTgt spid="2">
                                            <p:txEl>
                                              <p:pRg st="4" end="4"/>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14" presetClass="entr" presetSubtype="10" fill="hold" nodeType="clickEffect">
                                  <p:stCondLst>
                                    <p:cond delay="0"/>
                                  </p:stCondLst>
                                  <p:childTnLst>
                                    <p:set>
                                      <p:cBhvr>
                                        <p:cTn id="27" dur="1" fill="hold">
                                          <p:stCondLst>
                                            <p:cond delay="0"/>
                                          </p:stCondLst>
                                        </p:cTn>
                                        <p:tgtEl>
                                          <p:spTgt spid="2">
                                            <p:txEl>
                                              <p:pRg st="5" end="5"/>
                                            </p:txEl>
                                          </p:spTgt>
                                        </p:tgtEl>
                                        <p:attrNameLst>
                                          <p:attrName>style.visibility</p:attrName>
                                        </p:attrNameLst>
                                      </p:cBhvr>
                                      <p:to>
                                        <p:strVal val="visible"/>
                                      </p:to>
                                    </p:set>
                                    <p:animEffect transition="in" filter="randombar(horizontal)">
                                      <p:cBhvr>
                                        <p:cTn id="28" dur="500"/>
                                        <p:tgtEl>
                                          <p:spTgt spid="2">
                                            <p:txEl>
                                              <p:pRg st="5" end="5"/>
                                            </p:txEl>
                                          </p:spTgt>
                                        </p:tgtEl>
                                      </p:cBhvr>
                                    </p:animEffect>
                                  </p:childTnLst>
                                </p:cTn>
                              </p:par>
                              <p:par>
                                <p:cTn id="29" presetID="14" presetClass="entr" presetSubtype="10" fill="hold" nodeType="with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animEffect transition="in" filter="randombar(horizontal)">
                                      <p:cBhvr>
                                        <p:cTn id="31" dur="500"/>
                                        <p:tgtEl>
                                          <p:spTgt spid="2">
                                            <p:txEl>
                                              <p:pRg st="6" end="6"/>
                                            </p:txEl>
                                          </p:spTgt>
                                        </p:tgtEl>
                                      </p:cBhvr>
                                    </p:animEffect>
                                  </p:childTnLst>
                                </p:cTn>
                              </p:par>
                              <p:par>
                                <p:cTn id="32" presetID="14" presetClass="entr" presetSubtype="10" fill="hold" nodeType="withEffect">
                                  <p:stCondLst>
                                    <p:cond delay="0"/>
                                  </p:stCondLst>
                                  <p:childTnLst>
                                    <p:set>
                                      <p:cBhvr>
                                        <p:cTn id="33" dur="1" fill="hold">
                                          <p:stCondLst>
                                            <p:cond delay="0"/>
                                          </p:stCondLst>
                                        </p:cTn>
                                        <p:tgtEl>
                                          <p:spTgt spid="2">
                                            <p:txEl>
                                              <p:pRg st="7" end="7"/>
                                            </p:txEl>
                                          </p:spTgt>
                                        </p:tgtEl>
                                        <p:attrNameLst>
                                          <p:attrName>style.visibility</p:attrName>
                                        </p:attrNameLst>
                                      </p:cBhvr>
                                      <p:to>
                                        <p:strVal val="visible"/>
                                      </p:to>
                                    </p:set>
                                    <p:animEffect transition="in" filter="randombar(horizontal)">
                                      <p:cBhvr>
                                        <p:cTn id="34" dur="500"/>
                                        <p:tgtEl>
                                          <p:spTgt spid="2">
                                            <p:txEl>
                                              <p:pRg st="7" end="7"/>
                                            </p:txEl>
                                          </p:spTgt>
                                        </p:tgtEl>
                                      </p:cBhvr>
                                    </p:animEffect>
                                  </p:childTnLst>
                                </p:cTn>
                              </p:par>
                              <p:par>
                                <p:cTn id="35" presetID="14" presetClass="entr" presetSubtype="10" fill="hold" nodeType="withEffect">
                                  <p:stCondLst>
                                    <p:cond delay="0"/>
                                  </p:stCondLst>
                                  <p:childTnLst>
                                    <p:set>
                                      <p:cBhvr>
                                        <p:cTn id="36" dur="1" fill="hold">
                                          <p:stCondLst>
                                            <p:cond delay="0"/>
                                          </p:stCondLst>
                                        </p:cTn>
                                        <p:tgtEl>
                                          <p:spTgt spid="10"/>
                                        </p:tgtEl>
                                        <p:attrNameLst>
                                          <p:attrName>style.visibility</p:attrName>
                                        </p:attrNameLst>
                                      </p:cBhvr>
                                      <p:to>
                                        <p:strVal val="visible"/>
                                      </p:to>
                                    </p:set>
                                    <p:animEffect transition="in" filter="randombar(horizontal)">
                                      <p:cBhvr>
                                        <p:cTn id="37" dur="500"/>
                                        <p:tgtEl>
                                          <p:spTgt spid="10"/>
                                        </p:tgtEl>
                                      </p:cBhvr>
                                    </p:animEffect>
                                  </p:childTnLst>
                                </p:cTn>
                              </p:par>
                            </p:childTnLst>
                          </p:cTn>
                        </p:par>
                      </p:childTnLst>
                    </p:cTn>
                  </p:par>
                  <p:par>
                    <p:cTn id="38" fill="hold">
                      <p:stCondLst>
                        <p:cond delay="indefinite"/>
                      </p:stCondLst>
                      <p:childTnLst>
                        <p:par>
                          <p:cTn id="39" fill="hold">
                            <p:stCondLst>
                              <p:cond delay="0"/>
                            </p:stCondLst>
                            <p:childTnLst>
                              <p:par>
                                <p:cTn id="40" presetID="14" presetClass="entr" presetSubtype="10" fill="hold" nodeType="clickEffect">
                                  <p:stCondLst>
                                    <p:cond delay="0"/>
                                  </p:stCondLst>
                                  <p:childTnLst>
                                    <p:set>
                                      <p:cBhvr>
                                        <p:cTn id="41" dur="1" fill="hold">
                                          <p:stCondLst>
                                            <p:cond delay="0"/>
                                          </p:stCondLst>
                                        </p:cTn>
                                        <p:tgtEl>
                                          <p:spTgt spid="2">
                                            <p:txEl>
                                              <p:pRg st="8" end="8"/>
                                            </p:txEl>
                                          </p:spTgt>
                                        </p:tgtEl>
                                        <p:attrNameLst>
                                          <p:attrName>style.visibility</p:attrName>
                                        </p:attrNameLst>
                                      </p:cBhvr>
                                      <p:to>
                                        <p:strVal val="visible"/>
                                      </p:to>
                                    </p:set>
                                    <p:animEffect transition="in" filter="randombar(horizontal)">
                                      <p:cBhvr>
                                        <p:cTn id="42" dur="500"/>
                                        <p:tgtEl>
                                          <p:spTgt spid="2">
                                            <p:txEl>
                                              <p:pRg st="8" end="8"/>
                                            </p:txEl>
                                          </p:spTgt>
                                        </p:tgtEl>
                                      </p:cBhvr>
                                    </p:animEffect>
                                  </p:childTnLst>
                                </p:cTn>
                              </p:par>
                              <p:par>
                                <p:cTn id="43" presetID="14" presetClass="entr" presetSubtype="10" fill="hold" nodeType="withEffect">
                                  <p:stCondLst>
                                    <p:cond delay="0"/>
                                  </p:stCondLst>
                                  <p:childTnLst>
                                    <p:set>
                                      <p:cBhvr>
                                        <p:cTn id="44" dur="1" fill="hold">
                                          <p:stCondLst>
                                            <p:cond delay="0"/>
                                          </p:stCondLst>
                                        </p:cTn>
                                        <p:tgtEl>
                                          <p:spTgt spid="2">
                                            <p:txEl>
                                              <p:pRg st="9" end="9"/>
                                            </p:txEl>
                                          </p:spTgt>
                                        </p:tgtEl>
                                        <p:attrNameLst>
                                          <p:attrName>style.visibility</p:attrName>
                                        </p:attrNameLst>
                                      </p:cBhvr>
                                      <p:to>
                                        <p:strVal val="visible"/>
                                      </p:to>
                                    </p:set>
                                    <p:animEffect transition="in" filter="randombar(horizontal)">
                                      <p:cBhvr>
                                        <p:cTn id="45" dur="500"/>
                                        <p:tgtEl>
                                          <p:spTgt spid="2">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D6E8A4-54BB-8492-5658-E3BDA65E70E8}"/>
            </a:ext>
          </a:extLst>
        </p:cNvPr>
        <p:cNvGrpSpPr/>
        <p:nvPr/>
      </p:nvGrpSpPr>
      <p:grpSpPr>
        <a:xfrm>
          <a:off x="0" y="0"/>
          <a:ext cx="0" cy="0"/>
          <a:chOff x="0" y="0"/>
          <a:chExt cx="0" cy="0"/>
        </a:xfrm>
      </p:grpSpPr>
      <p:sp>
        <p:nvSpPr>
          <p:cNvPr id="9" name="Content Placeholder 8">
            <a:extLst>
              <a:ext uri="{FF2B5EF4-FFF2-40B4-BE49-F238E27FC236}">
                <a16:creationId xmlns:a16="http://schemas.microsoft.com/office/drawing/2014/main" id="{954A354E-74B8-594C-E158-019562C59962}"/>
              </a:ext>
            </a:extLst>
          </p:cNvPr>
          <p:cNvSpPr>
            <a:spLocks noGrp="1"/>
          </p:cNvSpPr>
          <p:nvPr>
            <p:ph idx="1"/>
          </p:nvPr>
        </p:nvSpPr>
        <p:spPr/>
        <p:txBody>
          <a:bodyPr anchor="ctr"/>
          <a:lstStyle/>
          <a:p>
            <a:r>
              <a:rPr lang="en-US" dirty="0">
                <a:latin typeface="+mj-lt"/>
              </a:rPr>
              <a:t>Public data</a:t>
            </a:r>
          </a:p>
          <a:p>
            <a:pPr lvl="1"/>
            <a:r>
              <a:rPr lang="en-US" dirty="0">
                <a:latin typeface="+mj-lt"/>
              </a:rPr>
              <a:t>Freebase, WordNet, NELL</a:t>
            </a:r>
          </a:p>
          <a:p>
            <a:pPr lvl="1"/>
            <a:r>
              <a:rPr lang="en-US" dirty="0">
                <a:latin typeface="+mj-lt"/>
              </a:rPr>
              <a:t>Citation networks: </a:t>
            </a:r>
            <a:r>
              <a:rPr lang="en-US" dirty="0" err="1">
                <a:latin typeface="+mj-lt"/>
              </a:rPr>
              <a:t>redditHyperlinks</a:t>
            </a:r>
            <a:r>
              <a:rPr lang="en-US" dirty="0">
                <a:latin typeface="+mj-lt"/>
              </a:rPr>
              <a:t>, </a:t>
            </a:r>
            <a:r>
              <a:rPr lang="en-US" dirty="0" err="1">
                <a:latin typeface="+mj-lt"/>
              </a:rPr>
              <a:t>HepPh</a:t>
            </a:r>
            <a:r>
              <a:rPr lang="en-US" dirty="0">
                <a:latin typeface="+mj-lt"/>
              </a:rPr>
              <a:t>, </a:t>
            </a:r>
            <a:r>
              <a:rPr lang="en-US" dirty="0" err="1">
                <a:latin typeface="+mj-lt"/>
              </a:rPr>
              <a:t>cit</a:t>
            </a:r>
            <a:r>
              <a:rPr lang="en-US" dirty="0">
                <a:latin typeface="+mj-lt"/>
              </a:rPr>
              <a:t>-patents</a:t>
            </a:r>
          </a:p>
          <a:p>
            <a:pPr lvl="1"/>
            <a:r>
              <a:rPr lang="en-US" dirty="0">
                <a:latin typeface="+mj-lt"/>
              </a:rPr>
              <a:t>Biology: </a:t>
            </a:r>
            <a:r>
              <a:rPr lang="en-US" dirty="0" err="1">
                <a:latin typeface="+mj-lt"/>
              </a:rPr>
              <a:t>ogbl-biokg</a:t>
            </a:r>
            <a:endParaRPr lang="en-US" dirty="0">
              <a:latin typeface="+mj-lt"/>
            </a:endParaRPr>
          </a:p>
          <a:p>
            <a:pPr lvl="1"/>
            <a:r>
              <a:rPr lang="en-US" dirty="0">
                <a:latin typeface="+mj-lt"/>
              </a:rPr>
              <a:t>Transportation networks of 25 cities</a:t>
            </a:r>
          </a:p>
          <a:p>
            <a:r>
              <a:rPr lang="en-US" dirty="0">
                <a:latin typeface="+mj-lt"/>
              </a:rPr>
              <a:t>One-sample hypothesis testing for metric distribution type</a:t>
            </a:r>
          </a:p>
          <a:p>
            <a:pPr lvl="1"/>
            <a:r>
              <a:rPr lang="en-GB" dirty="0">
                <a:latin typeface="+mj-lt"/>
              </a:rPr>
              <a:t>Heavy tails</a:t>
            </a:r>
          </a:p>
          <a:p>
            <a:pPr lvl="1"/>
            <a:r>
              <a:rPr lang="en-GB" dirty="0">
                <a:latin typeface="+mj-lt"/>
              </a:rPr>
              <a:t>Uniformity across subgraphs/communities</a:t>
            </a:r>
          </a:p>
          <a:p>
            <a:r>
              <a:rPr lang="en-GB" dirty="0">
                <a:latin typeface="+mj-lt"/>
              </a:rPr>
              <a:t>Metric distribution comparison</a:t>
            </a:r>
          </a:p>
          <a:p>
            <a:pPr lvl="1"/>
            <a:r>
              <a:rPr lang="en-GB" dirty="0">
                <a:latin typeface="+mj-lt"/>
              </a:rPr>
              <a:t>t-tests for equal means</a:t>
            </a:r>
          </a:p>
          <a:p>
            <a:pPr lvl="1"/>
            <a:r>
              <a:rPr lang="en-GB" dirty="0">
                <a:latin typeface="+mj-lt"/>
              </a:rPr>
              <a:t>Maximum Mean Discrepancy (MMD) tests</a:t>
            </a:r>
          </a:p>
        </p:txBody>
      </p:sp>
      <p:sp>
        <p:nvSpPr>
          <p:cNvPr id="8" name="Title 7">
            <a:extLst>
              <a:ext uri="{FF2B5EF4-FFF2-40B4-BE49-F238E27FC236}">
                <a16:creationId xmlns:a16="http://schemas.microsoft.com/office/drawing/2014/main" id="{2D524572-780A-6ECC-9628-170D00AF59E9}"/>
              </a:ext>
            </a:extLst>
          </p:cNvPr>
          <p:cNvSpPr>
            <a:spLocks noGrp="1"/>
          </p:cNvSpPr>
          <p:nvPr>
            <p:ph type="title"/>
          </p:nvPr>
        </p:nvSpPr>
        <p:spPr>
          <a:xfrm>
            <a:off x="904875" y="131032"/>
            <a:ext cx="7726363" cy="1072753"/>
          </a:xfrm>
        </p:spPr>
        <p:txBody>
          <a:bodyPr>
            <a:normAutofit fontScale="90000"/>
          </a:bodyPr>
          <a:lstStyle/>
          <a:p>
            <a:r>
              <a:rPr lang="en-US" dirty="0"/>
              <a:t>3.2	Real-world Application: The Monty Knowledge Base</a:t>
            </a:r>
            <a:br>
              <a:rPr lang="en-US" dirty="0"/>
            </a:br>
            <a:r>
              <a:rPr lang="en-US" sz="2400" b="0" i="1" dirty="0"/>
              <a:t>Methodology - Statistical comparison</a:t>
            </a:r>
            <a:endParaRPr lang="en-GB" sz="2400" b="0" i="1" dirty="0"/>
          </a:p>
        </p:txBody>
      </p:sp>
      <p:sp>
        <p:nvSpPr>
          <p:cNvPr id="5" name="Date Placeholder 4">
            <a:extLst>
              <a:ext uri="{FF2B5EF4-FFF2-40B4-BE49-F238E27FC236}">
                <a16:creationId xmlns:a16="http://schemas.microsoft.com/office/drawing/2014/main" id="{FBF05FBE-E3FA-D38B-EEF2-D2C76D3F0BCD}"/>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43E8AB6A-6623-3ABD-B569-A22208FAA894}"/>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A5EF99C6-6BB7-514A-689C-3AC5CAC80B8A}"/>
              </a:ext>
            </a:extLst>
          </p:cNvPr>
          <p:cNvSpPr>
            <a:spLocks noGrp="1"/>
          </p:cNvSpPr>
          <p:nvPr>
            <p:ph type="sldNum" sz="quarter" idx="12"/>
          </p:nvPr>
        </p:nvSpPr>
        <p:spPr/>
        <p:txBody>
          <a:bodyPr/>
          <a:lstStyle/>
          <a:p>
            <a:fld id="{E1E1CD7C-2161-7D43-862E-CE4C333CD873}" type="slidenum">
              <a:rPr lang="fr-FR" smtClean="0"/>
              <a:pPr/>
              <a:t>30</a:t>
            </a:fld>
            <a:endParaRPr lang="fr-FR" dirty="0"/>
          </a:p>
        </p:txBody>
      </p:sp>
    </p:spTree>
    <p:extLst>
      <p:ext uri="{BB962C8B-B14F-4D97-AF65-F5344CB8AC3E}">
        <p14:creationId xmlns:p14="http://schemas.microsoft.com/office/powerpoint/2010/main" val="14315042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6" dur="500"/>
                                        <p:tgtEl>
                                          <p:spTgt spid="9">
                                            <p:txEl>
                                              <p:pRg st="3" end="3"/>
                                            </p:txEl>
                                          </p:spTgt>
                                        </p:tgtEl>
                                      </p:cBhvr>
                                    </p:animEffect>
                                  </p:childTnLst>
                                </p:cTn>
                              </p:par>
                              <p:par>
                                <p:cTn id="17" presetID="14" presetClass="entr" presetSubtype="10" fill="hold" nodeType="withEffect">
                                  <p:stCondLst>
                                    <p:cond delay="0"/>
                                  </p:stCondLst>
                                  <p:childTnLst>
                                    <p:set>
                                      <p:cBhvr>
                                        <p:cTn id="18" dur="1" fill="hold">
                                          <p:stCondLst>
                                            <p:cond delay="0"/>
                                          </p:stCondLst>
                                        </p:cTn>
                                        <p:tgtEl>
                                          <p:spTgt spid="9">
                                            <p:txEl>
                                              <p:pRg st="4" end="4"/>
                                            </p:txEl>
                                          </p:spTgt>
                                        </p:tgtEl>
                                        <p:attrNameLst>
                                          <p:attrName>style.visibility</p:attrName>
                                        </p:attrNameLst>
                                      </p:cBhvr>
                                      <p:to>
                                        <p:strVal val="visible"/>
                                      </p:to>
                                    </p:set>
                                    <p:animEffect transition="in" filter="randombar(horizontal)">
                                      <p:cBhvr>
                                        <p:cTn id="19" dur="500"/>
                                        <p:tgtEl>
                                          <p:spTgt spid="9">
                                            <p:txEl>
                                              <p:pRg st="4" end="4"/>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14" presetClass="entr" presetSubtype="10" fill="hold" nodeType="clickEffect">
                                  <p:stCondLst>
                                    <p:cond delay="0"/>
                                  </p:stCondLst>
                                  <p:childTnLst>
                                    <p:set>
                                      <p:cBhvr>
                                        <p:cTn id="23"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4" dur="500"/>
                                        <p:tgtEl>
                                          <p:spTgt spid="9">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9">
                                            <p:txEl>
                                              <p:pRg st="6" end="6"/>
                                            </p:txEl>
                                          </p:spTgt>
                                        </p:tgtEl>
                                        <p:attrNameLst>
                                          <p:attrName>style.visibility</p:attrName>
                                        </p:attrNameLst>
                                      </p:cBhvr>
                                      <p:to>
                                        <p:strVal val="visible"/>
                                      </p:to>
                                    </p:set>
                                    <p:animEffect transition="in" filter="randombar(horizontal)">
                                      <p:cBhvr>
                                        <p:cTn id="27" dur="500"/>
                                        <p:tgtEl>
                                          <p:spTgt spid="9">
                                            <p:txEl>
                                              <p:pRg st="6" end="6"/>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0" dur="500"/>
                                        <p:tgtEl>
                                          <p:spTgt spid="9">
                                            <p:txEl>
                                              <p:pRg st="7" end="7"/>
                                            </p:txEl>
                                          </p:spTgt>
                                        </p:tgtEl>
                                      </p:cBhvr>
                                    </p:animEffect>
                                  </p:childTnLst>
                                </p:cTn>
                              </p:par>
                            </p:childTnLst>
                          </p:cTn>
                        </p:par>
                      </p:childTnLst>
                    </p:cTn>
                  </p:par>
                  <p:par>
                    <p:cTn id="31" fill="hold">
                      <p:stCondLst>
                        <p:cond delay="indefinite"/>
                      </p:stCondLst>
                      <p:childTnLst>
                        <p:par>
                          <p:cTn id="32" fill="hold">
                            <p:stCondLst>
                              <p:cond delay="0"/>
                            </p:stCondLst>
                            <p:childTnLst>
                              <p:par>
                                <p:cTn id="33" presetID="14" presetClass="entr" presetSubtype="10" fill="hold" nodeType="clickEffect">
                                  <p:stCondLst>
                                    <p:cond delay="0"/>
                                  </p:stCondLst>
                                  <p:childTnLst>
                                    <p:set>
                                      <p:cBhvr>
                                        <p:cTn id="34" dur="1" fill="hold">
                                          <p:stCondLst>
                                            <p:cond delay="0"/>
                                          </p:stCondLst>
                                        </p:cTn>
                                        <p:tgtEl>
                                          <p:spTgt spid="9">
                                            <p:txEl>
                                              <p:pRg st="8" end="8"/>
                                            </p:txEl>
                                          </p:spTgt>
                                        </p:tgtEl>
                                        <p:attrNameLst>
                                          <p:attrName>style.visibility</p:attrName>
                                        </p:attrNameLst>
                                      </p:cBhvr>
                                      <p:to>
                                        <p:strVal val="visible"/>
                                      </p:to>
                                    </p:set>
                                    <p:animEffect transition="in" filter="randombar(horizontal)">
                                      <p:cBhvr>
                                        <p:cTn id="35" dur="500"/>
                                        <p:tgtEl>
                                          <p:spTgt spid="9">
                                            <p:txEl>
                                              <p:pRg st="8" end="8"/>
                                            </p:txEl>
                                          </p:spTgt>
                                        </p:tgtEl>
                                      </p:cBhvr>
                                    </p:animEffect>
                                  </p:childTnLst>
                                </p:cTn>
                              </p:par>
                              <p:par>
                                <p:cTn id="36" presetID="14" presetClass="entr" presetSubtype="10" fill="hold" nodeType="withEffect">
                                  <p:stCondLst>
                                    <p:cond delay="0"/>
                                  </p:stCondLst>
                                  <p:childTnLst>
                                    <p:set>
                                      <p:cBhvr>
                                        <p:cTn id="37" dur="1" fill="hold">
                                          <p:stCondLst>
                                            <p:cond delay="0"/>
                                          </p:stCondLst>
                                        </p:cTn>
                                        <p:tgtEl>
                                          <p:spTgt spid="9">
                                            <p:txEl>
                                              <p:pRg st="9" end="9"/>
                                            </p:txEl>
                                          </p:spTgt>
                                        </p:tgtEl>
                                        <p:attrNameLst>
                                          <p:attrName>style.visibility</p:attrName>
                                        </p:attrNameLst>
                                      </p:cBhvr>
                                      <p:to>
                                        <p:strVal val="visible"/>
                                      </p:to>
                                    </p:set>
                                    <p:animEffect transition="in" filter="randombar(horizontal)">
                                      <p:cBhvr>
                                        <p:cTn id="38" dur="500"/>
                                        <p:tgtEl>
                                          <p:spTgt spid="9">
                                            <p:txEl>
                                              <p:pRg st="9" end="9"/>
                                            </p:txEl>
                                          </p:spTgt>
                                        </p:tgtEl>
                                      </p:cBhvr>
                                    </p:animEffect>
                                  </p:childTnLst>
                                </p:cTn>
                              </p:par>
                              <p:par>
                                <p:cTn id="39" presetID="14" presetClass="entr" presetSubtype="10" fill="hold" nodeType="withEffect">
                                  <p:stCondLst>
                                    <p:cond delay="0"/>
                                  </p:stCondLst>
                                  <p:childTnLst>
                                    <p:set>
                                      <p:cBhvr>
                                        <p:cTn id="40" dur="1" fill="hold">
                                          <p:stCondLst>
                                            <p:cond delay="0"/>
                                          </p:stCondLst>
                                        </p:cTn>
                                        <p:tgtEl>
                                          <p:spTgt spid="9">
                                            <p:txEl>
                                              <p:pRg st="10" end="10"/>
                                            </p:txEl>
                                          </p:spTgt>
                                        </p:tgtEl>
                                        <p:attrNameLst>
                                          <p:attrName>style.visibility</p:attrName>
                                        </p:attrNameLst>
                                      </p:cBhvr>
                                      <p:to>
                                        <p:strVal val="visible"/>
                                      </p:to>
                                    </p:set>
                                    <p:animEffect transition="in" filter="randombar(horizontal)">
                                      <p:cBhvr>
                                        <p:cTn id="41" dur="500"/>
                                        <p:tgtEl>
                                          <p:spTgt spid="9">
                                            <p:txEl>
                                              <p:pRg st="10" end="1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CFB051-BEFB-2AEF-419E-BBEBED2918D4}"/>
            </a:ext>
          </a:extLst>
        </p:cNvPr>
        <p:cNvGrpSpPr/>
        <p:nvPr/>
      </p:nvGrpSpPr>
      <p:grpSpPr>
        <a:xfrm>
          <a:off x="0" y="0"/>
          <a:ext cx="0" cy="0"/>
          <a:chOff x="0" y="0"/>
          <a:chExt cx="0" cy="0"/>
        </a:xfrm>
      </p:grpSpPr>
      <p:sp>
        <p:nvSpPr>
          <p:cNvPr id="9" name="Content Placeholder 8">
            <a:extLst>
              <a:ext uri="{FF2B5EF4-FFF2-40B4-BE49-F238E27FC236}">
                <a16:creationId xmlns:a16="http://schemas.microsoft.com/office/drawing/2014/main" id="{E633FC14-39C3-0866-278F-E84499F617E7}"/>
              </a:ext>
            </a:extLst>
          </p:cNvPr>
          <p:cNvSpPr>
            <a:spLocks noGrp="1"/>
          </p:cNvSpPr>
          <p:nvPr>
            <p:ph idx="1"/>
          </p:nvPr>
        </p:nvSpPr>
        <p:spPr>
          <a:xfrm>
            <a:off x="904875" y="1563688"/>
            <a:ext cx="7726363" cy="1926858"/>
          </a:xfrm>
        </p:spPr>
        <p:txBody>
          <a:bodyPr anchor="ctr">
            <a:normAutofit fontScale="70000" lnSpcReduction="20000"/>
          </a:bodyPr>
          <a:lstStyle/>
          <a:p>
            <a:r>
              <a:rPr lang="en-US" dirty="0">
                <a:latin typeface="+mj-lt"/>
              </a:rPr>
              <a:t>Features</a:t>
            </a:r>
          </a:p>
          <a:p>
            <a:pPr lvl="1"/>
            <a:r>
              <a:rPr lang="en-US" dirty="0">
                <a:latin typeface="+mj-lt"/>
              </a:rPr>
              <a:t>Almost no label </a:t>
            </a:r>
            <a:r>
              <a:rPr lang="en-US" dirty="0" err="1">
                <a:latin typeface="+mj-lt"/>
              </a:rPr>
              <a:t>assortativity</a:t>
            </a:r>
            <a:endParaRPr lang="en-US" dirty="0">
              <a:latin typeface="+mj-lt"/>
            </a:endParaRPr>
          </a:p>
          <a:p>
            <a:pPr lvl="1"/>
            <a:r>
              <a:rPr lang="en-US" dirty="0">
                <a:latin typeface="+mj-lt"/>
              </a:rPr>
              <a:t>Sparsest knowledge graph, weekly but not strongly connected, short paths and small diameter, weak clustering (all by design)</a:t>
            </a:r>
          </a:p>
          <a:p>
            <a:pPr lvl="1"/>
            <a:r>
              <a:rPr lang="en-US" dirty="0">
                <a:latin typeface="+mj-lt"/>
              </a:rPr>
              <a:t>Clearly identifiable hubs and authorities</a:t>
            </a:r>
          </a:p>
          <a:p>
            <a:pPr lvl="1"/>
            <a:r>
              <a:rPr lang="en-US" dirty="0">
                <a:latin typeface="+mj-lt"/>
              </a:rPr>
              <a:t>Biggest feature: </a:t>
            </a:r>
            <a:r>
              <a:rPr lang="en-US" i="1" dirty="0">
                <a:latin typeface="+mj-lt"/>
              </a:rPr>
              <a:t>community structure with &gt;99% Leiden modularity</a:t>
            </a:r>
          </a:p>
          <a:p>
            <a:pPr lvl="1"/>
            <a:r>
              <a:rPr lang="en-US" dirty="0">
                <a:latin typeface="+mj-lt"/>
              </a:rPr>
              <a:t>Association rules reverse-engineer schema</a:t>
            </a:r>
          </a:p>
          <a:p>
            <a:r>
              <a:rPr lang="en-US" dirty="0">
                <a:latin typeface="+mj-lt"/>
              </a:rPr>
              <a:t>Metric distributions</a:t>
            </a:r>
          </a:p>
          <a:p>
            <a:pPr lvl="1"/>
            <a:r>
              <a:rPr lang="en-US" dirty="0">
                <a:latin typeface="+mj-lt"/>
              </a:rPr>
              <a:t>Heavy-tailed label frequencies and motifs, uniformity across subgraphs</a:t>
            </a:r>
          </a:p>
          <a:p>
            <a:pPr lvl="1"/>
            <a:r>
              <a:rPr lang="en-US" dirty="0">
                <a:latin typeface="+mj-lt"/>
              </a:rPr>
              <a:t>Most similar to WordNet and transport networks (i.e., unlike random networks)</a:t>
            </a:r>
          </a:p>
          <a:p>
            <a:r>
              <a:rPr lang="en-US" dirty="0">
                <a:latin typeface="+mj-lt"/>
              </a:rPr>
              <a:t>Summary: </a:t>
            </a:r>
            <a:r>
              <a:rPr lang="en-US" i="1" dirty="0">
                <a:latin typeface="+mj-lt"/>
              </a:rPr>
              <a:t>Monty is the easiest dataset for COINs, need to ablate to generalize</a:t>
            </a:r>
          </a:p>
        </p:txBody>
      </p:sp>
      <p:sp>
        <p:nvSpPr>
          <p:cNvPr id="8" name="Title 7">
            <a:extLst>
              <a:ext uri="{FF2B5EF4-FFF2-40B4-BE49-F238E27FC236}">
                <a16:creationId xmlns:a16="http://schemas.microsoft.com/office/drawing/2014/main" id="{2631A99C-0D48-914A-3B8E-87F8AB75C07E}"/>
              </a:ext>
            </a:extLst>
          </p:cNvPr>
          <p:cNvSpPr>
            <a:spLocks noGrp="1"/>
          </p:cNvSpPr>
          <p:nvPr>
            <p:ph type="title"/>
          </p:nvPr>
        </p:nvSpPr>
        <p:spPr>
          <a:xfrm>
            <a:off x="904875" y="131032"/>
            <a:ext cx="7726363" cy="1072753"/>
          </a:xfrm>
        </p:spPr>
        <p:txBody>
          <a:bodyPr>
            <a:normAutofit fontScale="90000"/>
          </a:bodyPr>
          <a:lstStyle/>
          <a:p>
            <a:r>
              <a:rPr lang="en-US" dirty="0"/>
              <a:t>3.2	Real-world Application: The Monty Knowledge Base</a:t>
            </a:r>
            <a:br>
              <a:rPr lang="en-US" dirty="0"/>
            </a:br>
            <a:r>
              <a:rPr lang="en-US" sz="2400" b="0" i="1" dirty="0"/>
              <a:t>Results - Swisscom vs. the world</a:t>
            </a:r>
            <a:endParaRPr lang="en-GB" sz="2400" b="0" i="1" dirty="0"/>
          </a:p>
        </p:txBody>
      </p:sp>
      <p:sp>
        <p:nvSpPr>
          <p:cNvPr id="5" name="Date Placeholder 4">
            <a:extLst>
              <a:ext uri="{FF2B5EF4-FFF2-40B4-BE49-F238E27FC236}">
                <a16:creationId xmlns:a16="http://schemas.microsoft.com/office/drawing/2014/main" id="{0133011F-4AF1-BA72-B366-E096C306E2CC}"/>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63A43BAB-B802-70B3-4DE8-6FF1CE863522}"/>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EB171B61-B5C3-BFE1-0C00-4851D4FDFCCA}"/>
              </a:ext>
            </a:extLst>
          </p:cNvPr>
          <p:cNvSpPr>
            <a:spLocks noGrp="1"/>
          </p:cNvSpPr>
          <p:nvPr>
            <p:ph type="sldNum" sz="quarter" idx="12"/>
          </p:nvPr>
        </p:nvSpPr>
        <p:spPr/>
        <p:txBody>
          <a:bodyPr/>
          <a:lstStyle/>
          <a:p>
            <a:fld id="{E1E1CD7C-2161-7D43-862E-CE4C333CD873}" type="slidenum">
              <a:rPr lang="fr-FR" smtClean="0"/>
              <a:pPr/>
              <a:t>31</a:t>
            </a:fld>
            <a:endParaRPr lang="fr-FR" dirty="0"/>
          </a:p>
        </p:txBody>
      </p:sp>
      <p:pic>
        <p:nvPicPr>
          <p:cNvPr id="3" name="Picture 2" descr="A diagram of a triangle&#10;&#10;AI-generated content may be incorrect.">
            <a:extLst>
              <a:ext uri="{FF2B5EF4-FFF2-40B4-BE49-F238E27FC236}">
                <a16:creationId xmlns:a16="http://schemas.microsoft.com/office/drawing/2014/main" id="{5D9496C7-0F81-C2A0-0E59-0A7448C211FE}"/>
              </a:ext>
            </a:extLst>
          </p:cNvPr>
          <p:cNvPicPr>
            <a:picLocks noChangeAspect="1"/>
          </p:cNvPicPr>
          <p:nvPr/>
        </p:nvPicPr>
        <p:blipFill>
          <a:blip r:embed="rId3"/>
          <a:stretch>
            <a:fillRect/>
          </a:stretch>
        </p:blipFill>
        <p:spPr>
          <a:xfrm>
            <a:off x="1553369" y="3554705"/>
            <a:ext cx="6429375" cy="1285875"/>
          </a:xfrm>
          <a:prstGeom prst="rect">
            <a:avLst/>
          </a:prstGeom>
        </p:spPr>
      </p:pic>
    </p:spTree>
    <p:extLst>
      <p:ext uri="{BB962C8B-B14F-4D97-AF65-F5344CB8AC3E}">
        <p14:creationId xmlns:p14="http://schemas.microsoft.com/office/powerpoint/2010/main" val="4631209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6" dur="500"/>
                                        <p:tgtEl>
                                          <p:spTgt spid="9">
                                            <p:txEl>
                                              <p:pRg st="3" end="3"/>
                                            </p:txEl>
                                          </p:spTgt>
                                        </p:tgtEl>
                                      </p:cBhvr>
                                    </p:animEffect>
                                  </p:childTnLst>
                                </p:cTn>
                              </p:par>
                              <p:par>
                                <p:cTn id="17" presetID="14" presetClass="entr" presetSubtype="10" fill="hold" nodeType="withEffect">
                                  <p:stCondLst>
                                    <p:cond delay="0"/>
                                  </p:stCondLst>
                                  <p:childTnLst>
                                    <p:set>
                                      <p:cBhvr>
                                        <p:cTn id="18" dur="1" fill="hold">
                                          <p:stCondLst>
                                            <p:cond delay="0"/>
                                          </p:stCondLst>
                                        </p:cTn>
                                        <p:tgtEl>
                                          <p:spTgt spid="9">
                                            <p:txEl>
                                              <p:pRg st="4" end="4"/>
                                            </p:txEl>
                                          </p:spTgt>
                                        </p:tgtEl>
                                        <p:attrNameLst>
                                          <p:attrName>style.visibility</p:attrName>
                                        </p:attrNameLst>
                                      </p:cBhvr>
                                      <p:to>
                                        <p:strVal val="visible"/>
                                      </p:to>
                                    </p:set>
                                    <p:animEffect transition="in" filter="randombar(horizontal)">
                                      <p:cBhvr>
                                        <p:cTn id="19" dur="500"/>
                                        <p:tgtEl>
                                          <p:spTgt spid="9">
                                            <p:txEl>
                                              <p:pRg st="4" end="4"/>
                                            </p:txEl>
                                          </p:spTgt>
                                        </p:tgtEl>
                                      </p:cBhvr>
                                    </p:animEffect>
                                  </p:childTnLst>
                                </p:cTn>
                              </p:par>
                              <p:par>
                                <p:cTn id="20" presetID="14" presetClass="entr" presetSubtype="10" fill="hold" nodeType="withEffect">
                                  <p:stCondLst>
                                    <p:cond delay="0"/>
                                  </p:stCondLst>
                                  <p:childTnLst>
                                    <p:set>
                                      <p:cBhvr>
                                        <p:cTn id="21"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2" dur="500"/>
                                        <p:tgtEl>
                                          <p:spTgt spid="9">
                                            <p:txEl>
                                              <p:pRg st="5" end="5"/>
                                            </p:txEl>
                                          </p:spTgt>
                                        </p:tgtEl>
                                      </p:cBhvr>
                                    </p:animEffect>
                                  </p:childTnLst>
                                </p:cTn>
                              </p:par>
                              <p:par>
                                <p:cTn id="23" presetID="14" presetClass="entr" presetSubtype="10" fill="hold" nodeType="withEffect">
                                  <p:stCondLst>
                                    <p:cond delay="0"/>
                                  </p:stCondLst>
                                  <p:childTnLst>
                                    <p:set>
                                      <p:cBhvr>
                                        <p:cTn id="24" dur="1" fill="hold">
                                          <p:stCondLst>
                                            <p:cond delay="0"/>
                                          </p:stCondLst>
                                        </p:cTn>
                                        <p:tgtEl>
                                          <p:spTgt spid="3"/>
                                        </p:tgtEl>
                                        <p:attrNameLst>
                                          <p:attrName>style.visibility</p:attrName>
                                        </p:attrNameLst>
                                      </p:cBhvr>
                                      <p:to>
                                        <p:strVal val="visible"/>
                                      </p:to>
                                    </p:set>
                                    <p:animEffect transition="in" filter="randombar(horizontal)">
                                      <p:cBhvr>
                                        <p:cTn id="25" dur="500"/>
                                        <p:tgtEl>
                                          <p:spTgt spid="3"/>
                                        </p:tgtEl>
                                      </p:cBhvr>
                                    </p:animEffect>
                                  </p:childTnLst>
                                </p:cTn>
                              </p:par>
                            </p:childTnLst>
                          </p:cTn>
                        </p:par>
                      </p:childTnLst>
                    </p:cTn>
                  </p:par>
                  <p:par>
                    <p:cTn id="26" fill="hold">
                      <p:stCondLst>
                        <p:cond delay="indefinite"/>
                      </p:stCondLst>
                      <p:childTnLst>
                        <p:par>
                          <p:cTn id="27" fill="hold">
                            <p:stCondLst>
                              <p:cond delay="0"/>
                            </p:stCondLst>
                            <p:childTnLst>
                              <p:par>
                                <p:cTn id="28" presetID="14" presetClass="entr" presetSubtype="10" fill="hold" nodeType="clickEffect">
                                  <p:stCondLst>
                                    <p:cond delay="0"/>
                                  </p:stCondLst>
                                  <p:childTnLst>
                                    <p:set>
                                      <p:cBhvr>
                                        <p:cTn id="29" dur="1" fill="hold">
                                          <p:stCondLst>
                                            <p:cond delay="0"/>
                                          </p:stCondLst>
                                        </p:cTn>
                                        <p:tgtEl>
                                          <p:spTgt spid="9">
                                            <p:txEl>
                                              <p:pRg st="6" end="6"/>
                                            </p:txEl>
                                          </p:spTgt>
                                        </p:tgtEl>
                                        <p:attrNameLst>
                                          <p:attrName>style.visibility</p:attrName>
                                        </p:attrNameLst>
                                      </p:cBhvr>
                                      <p:to>
                                        <p:strVal val="visible"/>
                                      </p:to>
                                    </p:set>
                                    <p:animEffect transition="in" filter="randombar(horizontal)">
                                      <p:cBhvr>
                                        <p:cTn id="30" dur="500"/>
                                        <p:tgtEl>
                                          <p:spTgt spid="9">
                                            <p:txEl>
                                              <p:pRg st="6" end="6"/>
                                            </p:txEl>
                                          </p:spTgt>
                                        </p:tgtEl>
                                      </p:cBhvr>
                                    </p:animEffect>
                                  </p:childTnLst>
                                </p:cTn>
                              </p:par>
                              <p:par>
                                <p:cTn id="31" presetID="14" presetClass="entr" presetSubtype="10" fill="hold" nodeType="withEffect">
                                  <p:stCondLst>
                                    <p:cond delay="0"/>
                                  </p:stCondLst>
                                  <p:childTnLst>
                                    <p:set>
                                      <p:cBhvr>
                                        <p:cTn id="32"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3" dur="500"/>
                                        <p:tgtEl>
                                          <p:spTgt spid="9">
                                            <p:txEl>
                                              <p:pRg st="7" end="7"/>
                                            </p:txEl>
                                          </p:spTgt>
                                        </p:tgtEl>
                                      </p:cBhvr>
                                    </p:animEffect>
                                  </p:childTnLst>
                                </p:cTn>
                              </p:par>
                              <p:par>
                                <p:cTn id="34" presetID="14" presetClass="entr" presetSubtype="10" fill="hold" nodeType="withEffect">
                                  <p:stCondLst>
                                    <p:cond delay="0"/>
                                  </p:stCondLst>
                                  <p:childTnLst>
                                    <p:set>
                                      <p:cBhvr>
                                        <p:cTn id="35" dur="1" fill="hold">
                                          <p:stCondLst>
                                            <p:cond delay="0"/>
                                          </p:stCondLst>
                                        </p:cTn>
                                        <p:tgtEl>
                                          <p:spTgt spid="9">
                                            <p:txEl>
                                              <p:pRg st="8" end="8"/>
                                            </p:txEl>
                                          </p:spTgt>
                                        </p:tgtEl>
                                        <p:attrNameLst>
                                          <p:attrName>style.visibility</p:attrName>
                                        </p:attrNameLst>
                                      </p:cBhvr>
                                      <p:to>
                                        <p:strVal val="visible"/>
                                      </p:to>
                                    </p:set>
                                    <p:animEffect transition="in" filter="randombar(horizontal)">
                                      <p:cBhvr>
                                        <p:cTn id="36" dur="500"/>
                                        <p:tgtEl>
                                          <p:spTgt spid="9">
                                            <p:txEl>
                                              <p:pRg st="8" end="8"/>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14" presetClass="entr" presetSubtype="10" fill="hold" nodeType="clickEffect">
                                  <p:stCondLst>
                                    <p:cond delay="0"/>
                                  </p:stCondLst>
                                  <p:childTnLst>
                                    <p:set>
                                      <p:cBhvr>
                                        <p:cTn id="40" dur="1" fill="hold">
                                          <p:stCondLst>
                                            <p:cond delay="0"/>
                                          </p:stCondLst>
                                        </p:cTn>
                                        <p:tgtEl>
                                          <p:spTgt spid="9">
                                            <p:txEl>
                                              <p:pRg st="9" end="9"/>
                                            </p:txEl>
                                          </p:spTgt>
                                        </p:tgtEl>
                                        <p:attrNameLst>
                                          <p:attrName>style.visibility</p:attrName>
                                        </p:attrNameLst>
                                      </p:cBhvr>
                                      <p:to>
                                        <p:strVal val="visible"/>
                                      </p:to>
                                    </p:set>
                                    <p:animEffect transition="in" filter="randombar(horizontal)">
                                      <p:cBhvr>
                                        <p:cTn id="41" dur="500"/>
                                        <p:tgtEl>
                                          <p:spTgt spid="9">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1C2602-AC78-017D-7260-2A70AB0908DE}"/>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C693EE83-165E-E4D0-8F53-7E585DF6A34E}"/>
              </a:ext>
            </a:extLst>
          </p:cNvPr>
          <p:cNvSpPr>
            <a:spLocks noGrp="1"/>
          </p:cNvSpPr>
          <p:nvPr>
            <p:ph type="title"/>
          </p:nvPr>
        </p:nvSpPr>
        <p:spPr>
          <a:xfrm>
            <a:off x="904875" y="131032"/>
            <a:ext cx="7726363" cy="1072753"/>
          </a:xfrm>
        </p:spPr>
        <p:txBody>
          <a:bodyPr>
            <a:normAutofit fontScale="90000"/>
          </a:bodyPr>
          <a:lstStyle/>
          <a:p>
            <a:r>
              <a:rPr lang="en-US" dirty="0"/>
              <a:t>3.2	Real-world Application: The Monty Knowledge Base</a:t>
            </a:r>
            <a:br>
              <a:rPr lang="en-US" dirty="0"/>
            </a:br>
            <a:r>
              <a:rPr lang="en-US" sz="2400" b="0" i="1" dirty="0"/>
              <a:t>Results - Re-evaluation on Monty after ablation</a:t>
            </a:r>
            <a:endParaRPr lang="en-GB" sz="2400" b="0" i="1" dirty="0"/>
          </a:p>
        </p:txBody>
      </p:sp>
      <p:sp>
        <p:nvSpPr>
          <p:cNvPr id="5" name="Date Placeholder 4">
            <a:extLst>
              <a:ext uri="{FF2B5EF4-FFF2-40B4-BE49-F238E27FC236}">
                <a16:creationId xmlns:a16="http://schemas.microsoft.com/office/drawing/2014/main" id="{454B3474-BC5A-14D1-1B9C-FA68656C11BA}"/>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41BDD46E-7B25-E7D0-B5E9-715EE55E8A01}"/>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657BB1F8-B000-2B16-FE4D-FCF2117A3DAB}"/>
              </a:ext>
            </a:extLst>
          </p:cNvPr>
          <p:cNvSpPr>
            <a:spLocks noGrp="1"/>
          </p:cNvSpPr>
          <p:nvPr>
            <p:ph type="sldNum" sz="quarter" idx="12"/>
          </p:nvPr>
        </p:nvSpPr>
        <p:spPr/>
        <p:txBody>
          <a:bodyPr/>
          <a:lstStyle/>
          <a:p>
            <a:fld id="{E1E1CD7C-2161-7D43-862E-CE4C333CD873}" type="slidenum">
              <a:rPr lang="fr-FR" smtClean="0"/>
              <a:pPr/>
              <a:t>32</a:t>
            </a:fld>
            <a:endParaRPr lang="fr-FR" dirty="0"/>
          </a:p>
        </p:txBody>
      </p:sp>
      <p:sp>
        <p:nvSpPr>
          <p:cNvPr id="4" name="Content Placeholder 3">
            <a:extLst>
              <a:ext uri="{FF2B5EF4-FFF2-40B4-BE49-F238E27FC236}">
                <a16:creationId xmlns:a16="http://schemas.microsoft.com/office/drawing/2014/main" id="{0660FC9E-7CBB-2586-73BD-7BC541FD342A}"/>
              </a:ext>
            </a:extLst>
          </p:cNvPr>
          <p:cNvSpPr>
            <a:spLocks noGrp="1"/>
          </p:cNvSpPr>
          <p:nvPr>
            <p:ph idx="1"/>
          </p:nvPr>
        </p:nvSpPr>
        <p:spPr>
          <a:xfrm>
            <a:off x="904875" y="4065626"/>
            <a:ext cx="7726363" cy="884833"/>
          </a:xfrm>
        </p:spPr>
        <p:txBody>
          <a:bodyPr anchor="ctr">
            <a:normAutofit/>
          </a:bodyPr>
          <a:lstStyle/>
          <a:p>
            <a:r>
              <a:rPr lang="en-US" dirty="0">
                <a:latin typeface="+mj-lt"/>
              </a:rPr>
              <a:t>x728.7 evaluation acceleration, x228.36 less training memory</a:t>
            </a:r>
          </a:p>
          <a:p>
            <a:r>
              <a:rPr lang="en-GB" dirty="0">
                <a:latin typeface="+mj-lt"/>
              </a:rPr>
              <a:t>Experiments fitting in 64GB RAM, 16GB VRAM</a:t>
            </a:r>
          </a:p>
        </p:txBody>
      </p:sp>
      <p:pic>
        <p:nvPicPr>
          <p:cNvPr id="9" name="Content Placeholder 2" descr="A table with numbers and text&#10;&#10;AI-generated content may be incorrect.">
            <a:extLst>
              <a:ext uri="{FF2B5EF4-FFF2-40B4-BE49-F238E27FC236}">
                <a16:creationId xmlns:a16="http://schemas.microsoft.com/office/drawing/2014/main" id="{5AF16C2B-5DE3-2B7F-19CC-E992FFD201B7}"/>
              </a:ext>
            </a:extLst>
          </p:cNvPr>
          <p:cNvPicPr>
            <a:picLocks noChangeAspect="1"/>
          </p:cNvPicPr>
          <p:nvPr/>
        </p:nvPicPr>
        <p:blipFill>
          <a:blip r:embed="rId3"/>
          <a:stretch>
            <a:fillRect/>
          </a:stretch>
        </p:blipFill>
        <p:spPr>
          <a:xfrm>
            <a:off x="904874" y="1351493"/>
            <a:ext cx="7726363" cy="2566425"/>
          </a:xfrm>
          <a:prstGeom prst="rect">
            <a:avLst/>
          </a:prstGeom>
        </p:spPr>
      </p:pic>
    </p:spTree>
    <p:extLst>
      <p:ext uri="{BB962C8B-B14F-4D97-AF65-F5344CB8AC3E}">
        <p14:creationId xmlns:p14="http://schemas.microsoft.com/office/powerpoint/2010/main" val="9557695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randombar(horizontal)">
                                      <p:cBhvr>
                                        <p:cTn id="7" dur="5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randombar(horizontal)">
                                      <p:cBhvr>
                                        <p:cTn id="12" dur="500"/>
                                        <p:tgtEl>
                                          <p:spTgt spid="4">
                                            <p:txEl>
                                              <p:pRg st="0" end="0"/>
                                            </p:txEl>
                                          </p:spTgt>
                                        </p:tgtEl>
                                      </p:cBhvr>
                                    </p:animEffect>
                                  </p:childTnLst>
                                </p:cTn>
                              </p:par>
                              <p:par>
                                <p:cTn id="13" presetID="14" presetClass="entr" presetSubtype="10" fill="hold" nodeType="withEffect">
                                  <p:stCondLst>
                                    <p:cond delay="0"/>
                                  </p:stCondLst>
                                  <p:childTnLst>
                                    <p:set>
                                      <p:cBhvr>
                                        <p:cTn id="14" dur="1" fill="hold">
                                          <p:stCondLst>
                                            <p:cond delay="0"/>
                                          </p:stCondLst>
                                        </p:cTn>
                                        <p:tgtEl>
                                          <p:spTgt spid="4">
                                            <p:txEl>
                                              <p:pRg st="1" end="1"/>
                                            </p:txEl>
                                          </p:spTgt>
                                        </p:tgtEl>
                                        <p:attrNameLst>
                                          <p:attrName>style.visibility</p:attrName>
                                        </p:attrNameLst>
                                      </p:cBhvr>
                                      <p:to>
                                        <p:strVal val="visible"/>
                                      </p:to>
                                    </p:set>
                                    <p:animEffect transition="in" filter="randombar(horizontal)">
                                      <p:cBhvr>
                                        <p:cTn id="15" dur="500"/>
                                        <p:tgtEl>
                                          <p:spTgt spid="4">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91C77E-5A3B-873C-A193-98CDCCDE81A6}"/>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1DCCDDB5-7C9E-859A-A044-1E22666A87AA}"/>
              </a:ext>
            </a:extLst>
          </p:cNvPr>
          <p:cNvSpPr>
            <a:spLocks noGrp="1"/>
          </p:cNvSpPr>
          <p:nvPr>
            <p:ph type="title"/>
          </p:nvPr>
        </p:nvSpPr>
        <p:spPr/>
        <p:txBody>
          <a:bodyPr/>
          <a:lstStyle/>
          <a:p>
            <a:r>
              <a:rPr lang="en-US" dirty="0"/>
              <a:t>Scalable </a:t>
            </a:r>
            <a:br>
              <a:rPr lang="en-US" dirty="0"/>
            </a:br>
            <a:r>
              <a:rPr lang="en-US" dirty="0"/>
              <a:t>Graph Generation</a:t>
            </a:r>
            <a:endParaRPr lang="en-GB" dirty="0"/>
          </a:p>
        </p:txBody>
      </p:sp>
      <p:sp>
        <p:nvSpPr>
          <p:cNvPr id="8" name="Text Placeholder 7">
            <a:extLst>
              <a:ext uri="{FF2B5EF4-FFF2-40B4-BE49-F238E27FC236}">
                <a16:creationId xmlns:a16="http://schemas.microsoft.com/office/drawing/2014/main" id="{684D5042-6AD6-7890-D1CE-BFF7A26E577B}"/>
              </a:ext>
            </a:extLst>
          </p:cNvPr>
          <p:cNvSpPr>
            <a:spLocks noGrp="1"/>
          </p:cNvSpPr>
          <p:nvPr>
            <p:ph type="body" idx="1"/>
          </p:nvPr>
        </p:nvSpPr>
        <p:spPr/>
        <p:txBody>
          <a:bodyPr>
            <a:normAutofit/>
          </a:bodyPr>
          <a:lstStyle/>
          <a:p>
            <a:r>
              <a:rPr lang="en-US" sz="2400" dirty="0">
                <a:latin typeface="+mj-lt"/>
              </a:rPr>
              <a:t>Chapter 4</a:t>
            </a:r>
            <a:endParaRPr lang="en-GB" sz="2400" dirty="0">
              <a:latin typeface="+mj-lt"/>
            </a:endParaRPr>
          </a:p>
        </p:txBody>
      </p:sp>
      <p:sp>
        <p:nvSpPr>
          <p:cNvPr id="4" name="Date Placeholder 3">
            <a:extLst>
              <a:ext uri="{FF2B5EF4-FFF2-40B4-BE49-F238E27FC236}">
                <a16:creationId xmlns:a16="http://schemas.microsoft.com/office/drawing/2014/main" id="{B5C47343-A44B-577F-432B-5020558DEC3C}"/>
              </a:ext>
            </a:extLst>
          </p:cNvPr>
          <p:cNvSpPr>
            <a:spLocks noGrp="1"/>
          </p:cNvSpPr>
          <p:nvPr>
            <p:ph type="dt" sz="half" idx="14"/>
          </p:nvPr>
        </p:nvSpPr>
        <p:spPr/>
        <p:txBody>
          <a:bodyPr/>
          <a:lstStyle/>
          <a:p>
            <a:r>
              <a:rPr lang="en-US" sz="600" dirty="0">
                <a:latin typeface="+mj-lt"/>
              </a:rPr>
              <a:t>EDIC PhD Private Defense / Scalable Methods for Knowledge Graph Reasoning and Generation</a:t>
            </a:r>
          </a:p>
        </p:txBody>
      </p:sp>
      <p:sp>
        <p:nvSpPr>
          <p:cNvPr id="5" name="Footer Placeholder 4">
            <a:extLst>
              <a:ext uri="{FF2B5EF4-FFF2-40B4-BE49-F238E27FC236}">
                <a16:creationId xmlns:a16="http://schemas.microsoft.com/office/drawing/2014/main" id="{2FE08880-9E9D-D234-1953-7590BB46254A}"/>
              </a:ext>
            </a:extLst>
          </p:cNvPr>
          <p:cNvSpPr>
            <a:spLocks noGrp="1"/>
          </p:cNvSpPr>
          <p:nvPr>
            <p:ph type="ftr" sz="quarter" idx="15"/>
          </p:nvPr>
        </p:nvSpPr>
        <p:spPr/>
        <p:txBody>
          <a:bodyPr/>
          <a:lstStyle/>
          <a:p>
            <a:endParaRPr lang="fr-FR" dirty="0">
              <a:latin typeface="+mj-lt"/>
            </a:endParaRPr>
          </a:p>
          <a:p>
            <a:r>
              <a:rPr lang="fr-FR" dirty="0">
                <a:latin typeface="+mj-lt"/>
              </a:rPr>
              <a:t>Andrej Janchevski, EPFL STI IEM LIONS, Lausanne, </a:t>
            </a:r>
            <a:r>
              <a:rPr lang="fr-FR" dirty="0" err="1">
                <a:latin typeface="+mj-lt"/>
              </a:rPr>
              <a:t>Switzerland</a:t>
            </a:r>
            <a:r>
              <a:rPr lang="fr-FR" dirty="0">
                <a:latin typeface="+mj-lt"/>
              </a:rPr>
              <a:t> </a:t>
            </a:r>
          </a:p>
          <a:p>
            <a:r>
              <a:rPr lang="fr-FR" dirty="0"/>
              <a:t> </a:t>
            </a:r>
          </a:p>
        </p:txBody>
      </p:sp>
      <p:sp>
        <p:nvSpPr>
          <p:cNvPr id="6" name="Slide Number Placeholder 5">
            <a:extLst>
              <a:ext uri="{FF2B5EF4-FFF2-40B4-BE49-F238E27FC236}">
                <a16:creationId xmlns:a16="http://schemas.microsoft.com/office/drawing/2014/main" id="{F0C33636-0989-138A-DACD-7A5DAF97F84C}"/>
              </a:ext>
            </a:extLst>
          </p:cNvPr>
          <p:cNvSpPr>
            <a:spLocks noGrp="1"/>
          </p:cNvSpPr>
          <p:nvPr>
            <p:ph type="sldNum" sz="quarter" idx="16"/>
          </p:nvPr>
        </p:nvSpPr>
        <p:spPr/>
        <p:txBody>
          <a:bodyPr/>
          <a:lstStyle/>
          <a:p>
            <a:fld id="{E1E1CD7C-2161-7D43-862E-CE4C333CD873}" type="slidenum">
              <a:rPr lang="fr-FR" smtClean="0"/>
              <a:pPr/>
              <a:t>33</a:t>
            </a:fld>
            <a:endParaRPr lang="fr-FR" dirty="0"/>
          </a:p>
        </p:txBody>
      </p:sp>
      <p:pic>
        <p:nvPicPr>
          <p:cNvPr id="10" name="Picture Placeholder 11" descr="A city next to the water&#10;&#10;AI-generated content may be incorrect.">
            <a:extLst>
              <a:ext uri="{FF2B5EF4-FFF2-40B4-BE49-F238E27FC236}">
                <a16:creationId xmlns:a16="http://schemas.microsoft.com/office/drawing/2014/main" id="{380CD818-660B-88E8-B5FA-633882680B03}"/>
              </a:ext>
            </a:extLst>
          </p:cNvPr>
          <p:cNvPicPr>
            <a:picLocks noGrp="1" noChangeAspect="1"/>
          </p:cNvPicPr>
          <p:nvPr>
            <p:ph type="pic" sz="quarter" idx="13"/>
          </p:nvPr>
        </p:nvPicPr>
        <p:blipFill>
          <a:blip r:embed="rId3">
            <a:extLst>
              <a:ext uri="{837473B0-CC2E-450A-ABE3-18F120FF3D39}">
                <a1611:picAttrSrcUrl xmlns:a1611="http://schemas.microsoft.com/office/drawing/2016/11/main" r:id="rId4"/>
              </a:ext>
            </a:extLst>
          </a:blip>
          <a:srcRect l="26235" r="26235"/>
          <a:stretch>
            <a:fillRect/>
          </a:stretch>
        </p:blipFill>
        <p:spPr bwMode="auto">
          <a:xfrm>
            <a:off x="904875" y="0"/>
            <a:ext cx="3667125" cy="5143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7155985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443135-8C6E-D323-55BD-D2EFE1477399}"/>
            </a:ext>
          </a:extLst>
        </p:cNvPr>
        <p:cNvGrpSpPr/>
        <p:nvPr/>
      </p:nvGrpSpPr>
      <p:grpSpPr>
        <a:xfrm>
          <a:off x="0" y="0"/>
          <a:ext cx="0" cy="0"/>
          <a:chOff x="0" y="0"/>
          <a:chExt cx="0" cy="0"/>
        </a:xfrm>
      </p:grpSpPr>
      <p:sp>
        <p:nvSpPr>
          <p:cNvPr id="9" name="Content Placeholder 8">
            <a:extLst>
              <a:ext uri="{FF2B5EF4-FFF2-40B4-BE49-F238E27FC236}">
                <a16:creationId xmlns:a16="http://schemas.microsoft.com/office/drawing/2014/main" id="{09A958C0-0792-0ECD-F34F-058F7F147836}"/>
              </a:ext>
            </a:extLst>
          </p:cNvPr>
          <p:cNvSpPr>
            <a:spLocks noGrp="1"/>
          </p:cNvSpPr>
          <p:nvPr>
            <p:ph idx="1"/>
          </p:nvPr>
        </p:nvSpPr>
        <p:spPr/>
        <p:txBody>
          <a:bodyPr anchor="ctr">
            <a:normAutofit/>
          </a:bodyPr>
          <a:lstStyle/>
          <a:p>
            <a:r>
              <a:rPr lang="en-US" dirty="0">
                <a:latin typeface="+mj-lt"/>
              </a:rPr>
              <a:t>Graph generation</a:t>
            </a:r>
          </a:p>
          <a:p>
            <a:pPr lvl="1"/>
            <a:r>
              <a:rPr lang="en-US" dirty="0">
                <a:latin typeface="+mj-lt"/>
              </a:rPr>
              <a:t>Beyond simple edge classification - discrete distribution learning</a:t>
            </a:r>
          </a:p>
          <a:p>
            <a:pPr lvl="1"/>
            <a:r>
              <a:rPr lang="en-US" dirty="0">
                <a:latin typeface="+mj-lt"/>
              </a:rPr>
              <a:t>Dataset of independent graphs instead of an edge subset </a:t>
            </a:r>
          </a:p>
          <a:p>
            <a:pPr lvl="1"/>
            <a:r>
              <a:rPr lang="en-US" dirty="0">
                <a:latin typeface="+mj-lt"/>
              </a:rPr>
              <a:t>Diverse applications, but mainly </a:t>
            </a:r>
            <a:r>
              <a:rPr lang="en-US" i="1" dirty="0">
                <a:latin typeface="+mj-lt"/>
              </a:rPr>
              <a:t>drug discovery - </a:t>
            </a:r>
            <a:r>
              <a:rPr lang="en-US" dirty="0" err="1">
                <a:latin typeface="+mj-lt"/>
              </a:rPr>
              <a:t>biochem</a:t>
            </a:r>
            <a:r>
              <a:rPr lang="en-US" dirty="0">
                <a:latin typeface="+mj-lt"/>
              </a:rPr>
              <a:t> + graph ML</a:t>
            </a:r>
          </a:p>
          <a:p>
            <a:pPr lvl="1"/>
            <a:r>
              <a:rPr lang="en-US" dirty="0">
                <a:latin typeface="+mj-lt"/>
              </a:rPr>
              <a:t>Very difficult task - both scalability and generalization suffer quickly with graph size</a:t>
            </a:r>
          </a:p>
          <a:p>
            <a:r>
              <a:rPr lang="en-US" dirty="0">
                <a:latin typeface="+mj-lt"/>
              </a:rPr>
              <a:t>Desirable model properties</a:t>
            </a:r>
          </a:p>
          <a:p>
            <a:pPr marL="685800" lvl="1" indent="-342900">
              <a:buFont typeface="+mj-lt"/>
              <a:buAutoNum type="arabicPeriod"/>
            </a:pPr>
            <a:r>
              <a:rPr lang="en-US" dirty="0">
                <a:latin typeface="+mj-lt"/>
              </a:rPr>
              <a:t>Expressive power</a:t>
            </a:r>
          </a:p>
          <a:p>
            <a:pPr marL="685800" lvl="1" indent="-342900">
              <a:buFont typeface="+mj-lt"/>
              <a:buAutoNum type="arabicPeriod"/>
            </a:pPr>
            <a:r>
              <a:rPr lang="en-US" dirty="0">
                <a:latin typeface="+mj-lt"/>
              </a:rPr>
              <a:t>Scalability</a:t>
            </a:r>
          </a:p>
          <a:p>
            <a:pPr marL="685800" lvl="1" indent="-342900">
              <a:buFont typeface="+mj-lt"/>
              <a:buAutoNum type="arabicPeriod"/>
            </a:pPr>
            <a:r>
              <a:rPr lang="en-US" dirty="0">
                <a:latin typeface="+mj-lt"/>
              </a:rPr>
              <a:t>Isomorphism consistency</a:t>
            </a:r>
          </a:p>
          <a:p>
            <a:pPr marL="685800" lvl="1" indent="-342900">
              <a:buFont typeface="+mj-lt"/>
              <a:buAutoNum type="arabicPeriod"/>
            </a:pPr>
            <a:r>
              <a:rPr lang="en-US" dirty="0">
                <a:latin typeface="+mj-lt"/>
              </a:rPr>
              <a:t>Novelty</a:t>
            </a:r>
          </a:p>
          <a:p>
            <a:r>
              <a:rPr lang="en-US" i="1" dirty="0">
                <a:latin typeface="+mj-lt"/>
              </a:rPr>
              <a:t>Permutation-equivariant graph GAN with autoregressive sampling?</a:t>
            </a:r>
            <a:endParaRPr lang="en-US" dirty="0">
              <a:latin typeface="+mj-lt"/>
            </a:endParaRPr>
          </a:p>
        </p:txBody>
      </p:sp>
      <p:sp>
        <p:nvSpPr>
          <p:cNvPr id="8" name="Title 7">
            <a:extLst>
              <a:ext uri="{FF2B5EF4-FFF2-40B4-BE49-F238E27FC236}">
                <a16:creationId xmlns:a16="http://schemas.microsoft.com/office/drawing/2014/main" id="{91C12950-B05E-D32E-19F9-C4BC9FCA1DD9}"/>
              </a:ext>
            </a:extLst>
          </p:cNvPr>
          <p:cNvSpPr>
            <a:spLocks noGrp="1"/>
          </p:cNvSpPr>
          <p:nvPr>
            <p:ph type="title"/>
          </p:nvPr>
        </p:nvSpPr>
        <p:spPr>
          <a:xfrm>
            <a:off x="904875" y="131032"/>
            <a:ext cx="7726363" cy="1072753"/>
          </a:xfrm>
        </p:spPr>
        <p:txBody>
          <a:bodyPr>
            <a:normAutofit fontScale="90000"/>
          </a:bodyPr>
          <a:lstStyle/>
          <a:p>
            <a:r>
              <a:rPr lang="en-US" sz="3600" dirty="0"/>
              <a:t>4.1	Geometric Graph Generation with CRPs</a:t>
            </a:r>
            <a:br>
              <a:rPr lang="en-US" sz="3600" dirty="0"/>
            </a:br>
            <a:r>
              <a:rPr lang="en-US" sz="2700" b="0" i="1" dirty="0"/>
              <a:t>Motivation</a:t>
            </a:r>
            <a:br>
              <a:rPr lang="en-US" dirty="0"/>
            </a:br>
            <a:endParaRPr lang="en-GB" sz="2400" b="0" i="1" dirty="0"/>
          </a:p>
        </p:txBody>
      </p:sp>
      <p:sp>
        <p:nvSpPr>
          <p:cNvPr id="5" name="Date Placeholder 4">
            <a:extLst>
              <a:ext uri="{FF2B5EF4-FFF2-40B4-BE49-F238E27FC236}">
                <a16:creationId xmlns:a16="http://schemas.microsoft.com/office/drawing/2014/main" id="{378ED817-B6FD-9B01-A09E-295F7C03BD5B}"/>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B33D32C4-6649-6220-EA62-FB5D756E6C52}"/>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4598FE89-EDAF-66D0-C4F9-717507CF7EA7}"/>
              </a:ext>
            </a:extLst>
          </p:cNvPr>
          <p:cNvSpPr>
            <a:spLocks noGrp="1"/>
          </p:cNvSpPr>
          <p:nvPr>
            <p:ph type="sldNum" sz="quarter" idx="12"/>
          </p:nvPr>
        </p:nvSpPr>
        <p:spPr/>
        <p:txBody>
          <a:bodyPr/>
          <a:lstStyle/>
          <a:p>
            <a:fld id="{E1E1CD7C-2161-7D43-862E-CE4C333CD873}" type="slidenum">
              <a:rPr lang="fr-FR" smtClean="0"/>
              <a:pPr/>
              <a:t>34</a:t>
            </a:fld>
            <a:endParaRPr lang="fr-FR" dirty="0"/>
          </a:p>
        </p:txBody>
      </p:sp>
    </p:spTree>
    <p:extLst>
      <p:ext uri="{BB962C8B-B14F-4D97-AF65-F5344CB8AC3E}">
        <p14:creationId xmlns:p14="http://schemas.microsoft.com/office/powerpoint/2010/main" val="565040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6" dur="500"/>
                                        <p:tgtEl>
                                          <p:spTgt spid="9">
                                            <p:txEl>
                                              <p:pRg st="3" end="3"/>
                                            </p:txEl>
                                          </p:spTgt>
                                        </p:tgtEl>
                                      </p:cBhvr>
                                    </p:animEffect>
                                  </p:childTnLst>
                                </p:cTn>
                              </p:par>
                              <p:par>
                                <p:cTn id="17" presetID="14" presetClass="entr" presetSubtype="10" fill="hold" nodeType="withEffect">
                                  <p:stCondLst>
                                    <p:cond delay="0"/>
                                  </p:stCondLst>
                                  <p:childTnLst>
                                    <p:set>
                                      <p:cBhvr>
                                        <p:cTn id="18" dur="1" fill="hold">
                                          <p:stCondLst>
                                            <p:cond delay="0"/>
                                          </p:stCondLst>
                                        </p:cTn>
                                        <p:tgtEl>
                                          <p:spTgt spid="9">
                                            <p:txEl>
                                              <p:pRg st="4" end="4"/>
                                            </p:txEl>
                                          </p:spTgt>
                                        </p:tgtEl>
                                        <p:attrNameLst>
                                          <p:attrName>style.visibility</p:attrName>
                                        </p:attrNameLst>
                                      </p:cBhvr>
                                      <p:to>
                                        <p:strVal val="visible"/>
                                      </p:to>
                                    </p:set>
                                    <p:animEffect transition="in" filter="randombar(horizontal)">
                                      <p:cBhvr>
                                        <p:cTn id="19" dur="500"/>
                                        <p:tgtEl>
                                          <p:spTgt spid="9">
                                            <p:txEl>
                                              <p:pRg st="4" end="4"/>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14" presetClass="entr" presetSubtype="10" fill="hold" nodeType="clickEffect">
                                  <p:stCondLst>
                                    <p:cond delay="0"/>
                                  </p:stCondLst>
                                  <p:childTnLst>
                                    <p:set>
                                      <p:cBhvr>
                                        <p:cTn id="23"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4" dur="500"/>
                                        <p:tgtEl>
                                          <p:spTgt spid="9">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9">
                                            <p:txEl>
                                              <p:pRg st="6" end="6"/>
                                            </p:txEl>
                                          </p:spTgt>
                                        </p:tgtEl>
                                        <p:attrNameLst>
                                          <p:attrName>style.visibility</p:attrName>
                                        </p:attrNameLst>
                                      </p:cBhvr>
                                      <p:to>
                                        <p:strVal val="visible"/>
                                      </p:to>
                                    </p:set>
                                    <p:animEffect transition="in" filter="randombar(horizontal)">
                                      <p:cBhvr>
                                        <p:cTn id="27" dur="500"/>
                                        <p:tgtEl>
                                          <p:spTgt spid="9">
                                            <p:txEl>
                                              <p:pRg st="6" end="6"/>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0" dur="500"/>
                                        <p:tgtEl>
                                          <p:spTgt spid="9">
                                            <p:txEl>
                                              <p:pRg st="7" end="7"/>
                                            </p:txEl>
                                          </p:spTgt>
                                        </p:tgtEl>
                                      </p:cBhvr>
                                    </p:animEffect>
                                  </p:childTnLst>
                                </p:cTn>
                              </p:par>
                              <p:par>
                                <p:cTn id="31" presetID="14" presetClass="entr" presetSubtype="10" fill="hold" nodeType="withEffect">
                                  <p:stCondLst>
                                    <p:cond delay="0"/>
                                  </p:stCondLst>
                                  <p:childTnLst>
                                    <p:set>
                                      <p:cBhvr>
                                        <p:cTn id="32" dur="1" fill="hold">
                                          <p:stCondLst>
                                            <p:cond delay="0"/>
                                          </p:stCondLst>
                                        </p:cTn>
                                        <p:tgtEl>
                                          <p:spTgt spid="9">
                                            <p:txEl>
                                              <p:pRg st="8" end="8"/>
                                            </p:txEl>
                                          </p:spTgt>
                                        </p:tgtEl>
                                        <p:attrNameLst>
                                          <p:attrName>style.visibility</p:attrName>
                                        </p:attrNameLst>
                                      </p:cBhvr>
                                      <p:to>
                                        <p:strVal val="visible"/>
                                      </p:to>
                                    </p:set>
                                    <p:animEffect transition="in" filter="randombar(horizontal)">
                                      <p:cBhvr>
                                        <p:cTn id="33" dur="500"/>
                                        <p:tgtEl>
                                          <p:spTgt spid="9">
                                            <p:txEl>
                                              <p:pRg st="8" end="8"/>
                                            </p:txEl>
                                          </p:spTgt>
                                        </p:tgtEl>
                                      </p:cBhvr>
                                    </p:animEffect>
                                  </p:childTnLst>
                                </p:cTn>
                              </p:par>
                              <p:par>
                                <p:cTn id="34" presetID="14" presetClass="entr" presetSubtype="10" fill="hold" nodeType="withEffect">
                                  <p:stCondLst>
                                    <p:cond delay="0"/>
                                  </p:stCondLst>
                                  <p:childTnLst>
                                    <p:set>
                                      <p:cBhvr>
                                        <p:cTn id="35" dur="1" fill="hold">
                                          <p:stCondLst>
                                            <p:cond delay="0"/>
                                          </p:stCondLst>
                                        </p:cTn>
                                        <p:tgtEl>
                                          <p:spTgt spid="9">
                                            <p:txEl>
                                              <p:pRg st="9" end="9"/>
                                            </p:txEl>
                                          </p:spTgt>
                                        </p:tgtEl>
                                        <p:attrNameLst>
                                          <p:attrName>style.visibility</p:attrName>
                                        </p:attrNameLst>
                                      </p:cBhvr>
                                      <p:to>
                                        <p:strVal val="visible"/>
                                      </p:to>
                                    </p:set>
                                    <p:animEffect transition="in" filter="randombar(horizontal)">
                                      <p:cBhvr>
                                        <p:cTn id="36" dur="500"/>
                                        <p:tgtEl>
                                          <p:spTgt spid="9">
                                            <p:txEl>
                                              <p:pRg st="9" end="9"/>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14" presetClass="entr" presetSubtype="10" fill="hold" nodeType="clickEffect">
                                  <p:stCondLst>
                                    <p:cond delay="0"/>
                                  </p:stCondLst>
                                  <p:childTnLst>
                                    <p:set>
                                      <p:cBhvr>
                                        <p:cTn id="40" dur="1" fill="hold">
                                          <p:stCondLst>
                                            <p:cond delay="0"/>
                                          </p:stCondLst>
                                        </p:cTn>
                                        <p:tgtEl>
                                          <p:spTgt spid="9">
                                            <p:txEl>
                                              <p:pRg st="10" end="10"/>
                                            </p:txEl>
                                          </p:spTgt>
                                        </p:tgtEl>
                                        <p:attrNameLst>
                                          <p:attrName>style.visibility</p:attrName>
                                        </p:attrNameLst>
                                      </p:cBhvr>
                                      <p:to>
                                        <p:strVal val="visible"/>
                                      </p:to>
                                    </p:set>
                                    <p:animEffect transition="in" filter="randombar(horizontal)">
                                      <p:cBhvr>
                                        <p:cTn id="41" dur="500"/>
                                        <p:tgtEl>
                                          <p:spTgt spid="9">
                                            <p:txEl>
                                              <p:pRg st="10" end="1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AF4103-D43E-7E8A-23F3-0D4851647C79}"/>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9" name="Content Placeholder 8">
                <a:extLst>
                  <a:ext uri="{FF2B5EF4-FFF2-40B4-BE49-F238E27FC236}">
                    <a16:creationId xmlns:a16="http://schemas.microsoft.com/office/drawing/2014/main" id="{152288BF-8539-B841-42B5-27B39398A1DC}"/>
                  </a:ext>
                </a:extLst>
              </p:cNvPr>
              <p:cNvSpPr>
                <a:spLocks noGrp="1"/>
              </p:cNvSpPr>
              <p:nvPr>
                <p:ph idx="1"/>
              </p:nvPr>
            </p:nvSpPr>
            <p:spPr/>
            <p:txBody>
              <a:bodyPr anchor="ctr">
                <a:normAutofit fontScale="92500" lnSpcReduction="10000"/>
              </a:bodyPr>
              <a:lstStyle/>
              <a:p>
                <a:r>
                  <a:rPr lang="en-US" dirty="0">
                    <a:latin typeface="+mj-lt"/>
                  </a:rPr>
                  <a:t>Generative models</a:t>
                </a:r>
              </a:p>
              <a:p>
                <a:pPr lvl="1"/>
                <a:r>
                  <a:rPr lang="en-US" dirty="0">
                    <a:latin typeface="+mj-lt"/>
                  </a:rPr>
                  <a:t>Dataset: </a:t>
                </a:r>
                <a14:m>
                  <m:oMath xmlns:m="http://schemas.openxmlformats.org/officeDocument/2006/math">
                    <m:r>
                      <a:rPr lang="en-US" b="0" i="1" smtClean="0">
                        <a:latin typeface="Cambria Math" panose="02040503050406030204" pitchFamily="18" charset="0"/>
                      </a:rPr>
                      <m:t>𝒟</m:t>
                    </m:r>
                    <m:r>
                      <a:rPr lang="en-US" b="0" i="1" smtClean="0">
                        <a:latin typeface="Cambria Math" panose="02040503050406030204" pitchFamily="18" charset="0"/>
                      </a:rPr>
                      <m:t>=</m:t>
                    </m:r>
                    <m:r>
                      <m:rPr>
                        <m:lit/>
                      </m:rPr>
                      <a:rPr lang="en-US" b="0" i="1" smtClean="0">
                        <a:latin typeface="Cambria Math" panose="02040503050406030204" pitchFamily="18" charset="0"/>
                      </a:rPr>
                      <m:t>{</m:t>
                    </m:r>
                    <m:sSub>
                      <m:sSubPr>
                        <m:ctrlPr>
                          <a:rPr lang="en-US" i="1" smtClean="0">
                            <a:latin typeface="Cambria Math" panose="02040503050406030204" pitchFamily="18" charset="0"/>
                          </a:rPr>
                        </m:ctrlPr>
                      </m:sSubPr>
                      <m:e>
                        <m:r>
                          <a:rPr lang="en-US" b="1" i="1" smtClean="0">
                            <a:latin typeface="Cambria Math" panose="02040503050406030204" pitchFamily="18" charset="0"/>
                          </a:rPr>
                          <m:t>𝑿</m:t>
                        </m:r>
                      </m:e>
                      <m:sub>
                        <m:r>
                          <a:rPr lang="en-US" b="0" i="1" smtClean="0">
                            <a:latin typeface="Cambria Math" panose="02040503050406030204" pitchFamily="18" charset="0"/>
                          </a:rPr>
                          <m:t>𝑖</m:t>
                        </m:r>
                      </m:sub>
                    </m:sSub>
                    <m:sSubSup>
                      <m:sSubSupPr>
                        <m:ctrlPr>
                          <a:rPr lang="en-US" b="0" i="1" smtClean="0">
                            <a:latin typeface="Cambria Math" panose="02040503050406030204" pitchFamily="18" charset="0"/>
                          </a:rPr>
                        </m:ctrlPr>
                      </m:sSubSupPr>
                      <m:e>
                        <m:r>
                          <m:rPr>
                            <m:lit/>
                          </m:rPr>
                          <a:rPr lang="en-US" b="0" i="1" smtClean="0">
                            <a:latin typeface="Cambria Math" panose="02040503050406030204" pitchFamily="18" charset="0"/>
                          </a:rPr>
                          <m:t>}</m:t>
                        </m:r>
                      </m:e>
                      <m:sub>
                        <m:r>
                          <a:rPr lang="en-US" b="0" i="1" smtClean="0">
                            <a:latin typeface="Cambria Math" panose="02040503050406030204" pitchFamily="18" charset="0"/>
                          </a:rPr>
                          <m:t>𝑖</m:t>
                        </m:r>
                        <m:r>
                          <a:rPr lang="en-US" b="0" i="1" smtClean="0">
                            <a:latin typeface="Cambria Math" panose="02040503050406030204" pitchFamily="18" charset="0"/>
                          </a:rPr>
                          <m:t>=1</m:t>
                        </m:r>
                      </m:sub>
                      <m:sup>
                        <m:r>
                          <a:rPr lang="en-US" b="0" i="1" smtClean="0">
                            <a:latin typeface="Cambria Math" panose="02040503050406030204" pitchFamily="18" charset="0"/>
                          </a:rPr>
                          <m:t>𝑁</m:t>
                        </m:r>
                      </m:sup>
                    </m:sSubSup>
                  </m:oMath>
                </a14:m>
                <a:endParaRPr lang="en-US" dirty="0">
                  <a:latin typeface="+mj-lt"/>
                </a:endParaRPr>
              </a:p>
              <a:p>
                <a:pPr lvl="1"/>
                <a:r>
                  <a:rPr lang="en-US" dirty="0">
                    <a:latin typeface="+mj-lt"/>
                  </a:rPr>
                  <a:t>Likelihood estimation with </a:t>
                </a:r>
                <a14:m>
                  <m:oMath xmlns:m="http://schemas.openxmlformats.org/officeDocument/2006/math">
                    <m:r>
                      <a:rPr lang="en-US" b="0" i="1" smtClean="0">
                        <a:latin typeface="Cambria Math" panose="02040503050406030204" pitchFamily="18" charset="0"/>
                      </a:rPr>
                      <m:t>𝑓</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ℝ</m:t>
                        </m:r>
                      </m:e>
                      <m:sup>
                        <m:r>
                          <a:rPr lang="en-US" b="0" i="1" smtClean="0">
                            <a:latin typeface="Cambria Math" panose="02040503050406030204" pitchFamily="18" charset="0"/>
                          </a:rPr>
                          <m:t>𝐹</m:t>
                        </m:r>
                      </m:sup>
                    </m:sSup>
                    <m:r>
                      <a:rPr lang="en-US" b="0" i="1" smtClean="0">
                        <a:latin typeface="Cambria Math" panose="02040503050406030204" pitchFamily="18" charset="0"/>
                      </a:rPr>
                      <m:t>→</m:t>
                    </m:r>
                    <m:r>
                      <a:rPr lang="en-US" b="0" i="1" smtClean="0">
                        <a:latin typeface="Cambria Math" panose="02040503050406030204" pitchFamily="18" charset="0"/>
                      </a:rPr>
                      <m:t>ℝ</m:t>
                    </m:r>
                  </m:oMath>
                </a14:m>
                <a:endParaRPr lang="en-US" b="0" dirty="0">
                  <a:latin typeface="+mj-lt"/>
                </a:endParaRPr>
              </a:p>
              <a:p>
                <a:pPr marL="342900" lvl="1"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ℙ</m:t>
                      </m:r>
                      <m:d>
                        <m:dPr>
                          <m:ctrlPr>
                            <a:rPr lang="en-US" b="0" i="1" smtClean="0">
                              <a:latin typeface="Cambria Math" panose="02040503050406030204" pitchFamily="18" charset="0"/>
                            </a:rPr>
                          </m:ctrlPr>
                        </m:dPr>
                        <m:e>
                          <m:r>
                            <a:rPr lang="en-US" b="1" i="1" smtClean="0">
                              <a:latin typeface="Cambria Math" panose="02040503050406030204" pitchFamily="18" charset="0"/>
                            </a:rPr>
                            <m:t>𝑿</m:t>
                          </m:r>
                          <m:r>
                            <a:rPr lang="en-US" b="0" i="1" smtClean="0">
                              <a:latin typeface="Cambria Math" panose="02040503050406030204" pitchFamily="18" charset="0"/>
                            </a:rPr>
                            <m:t>∈</m:t>
                          </m:r>
                          <m:r>
                            <a:rPr lang="en-US" b="0" i="1" smtClean="0">
                              <a:latin typeface="Cambria Math" panose="02040503050406030204" pitchFamily="18" charset="0"/>
                            </a:rPr>
                            <m:t>𝒟</m:t>
                          </m:r>
                        </m:e>
                      </m:d>
                      <m:r>
                        <a:rPr lang="en-US" b="0" i="1" smtClean="0">
                          <a:latin typeface="Cambria Math" panose="02040503050406030204" pitchFamily="18" charset="0"/>
                        </a:rPr>
                        <m:t>=</m:t>
                      </m:r>
                      <m:r>
                        <a:rPr lang="en-US" b="0" i="1" smtClean="0">
                          <a:latin typeface="Cambria Math" panose="02040503050406030204" pitchFamily="18" charset="0"/>
                        </a:rPr>
                        <m:t>𝜎</m:t>
                      </m:r>
                      <m:d>
                        <m:dPr>
                          <m:ctrlPr>
                            <a:rPr lang="en-US" b="0" i="1" smtClean="0">
                              <a:latin typeface="Cambria Math" panose="02040503050406030204" pitchFamily="18" charset="0"/>
                            </a:rPr>
                          </m:ctrlPr>
                        </m:dPr>
                        <m:e>
                          <m:r>
                            <a:rPr lang="en-US" b="0" i="1" smtClean="0">
                              <a:latin typeface="Cambria Math" panose="02040503050406030204" pitchFamily="18" charset="0"/>
                            </a:rPr>
                            <m:t>𝑓</m:t>
                          </m:r>
                          <m:d>
                            <m:dPr>
                              <m:ctrlPr>
                                <a:rPr lang="en-US" b="0" i="1" smtClean="0">
                                  <a:latin typeface="Cambria Math" panose="02040503050406030204" pitchFamily="18" charset="0"/>
                                </a:rPr>
                              </m:ctrlPr>
                            </m:dPr>
                            <m:e>
                              <m:r>
                                <a:rPr lang="en-US" b="1" i="1">
                                  <a:latin typeface="Cambria Math" panose="02040503050406030204" pitchFamily="18" charset="0"/>
                                </a:rPr>
                                <m:t>𝑿</m:t>
                              </m:r>
                            </m:e>
                          </m:d>
                        </m:e>
                      </m:d>
                    </m:oMath>
                  </m:oMathPara>
                </a14:m>
                <a:endParaRPr lang="en-US" b="0" i="1" dirty="0">
                  <a:latin typeface="+mj-lt"/>
                </a:endParaRPr>
              </a:p>
              <a:p>
                <a:pPr lvl="1"/>
                <a:r>
                  <a:rPr lang="en-US" dirty="0">
                    <a:latin typeface="+mj-lt"/>
                  </a:rPr>
                  <a:t>Sampling from latent noise </a:t>
                </a:r>
                <a14:m>
                  <m:oMath xmlns:m="http://schemas.openxmlformats.org/officeDocument/2006/math">
                    <m:r>
                      <a:rPr lang="en-US" b="0" i="1" smtClean="0">
                        <a:latin typeface="Cambria Math" panose="02040503050406030204" pitchFamily="18" charset="0"/>
                      </a:rPr>
                      <m:t>𝑍</m:t>
                    </m:r>
                  </m:oMath>
                </a14:m>
                <a:r>
                  <a:rPr lang="en-US" b="0" dirty="0">
                    <a:latin typeface="+mj-lt"/>
                  </a:rPr>
                  <a:t> with </a:t>
                </a:r>
                <a14:m>
                  <m:oMath xmlns:m="http://schemas.openxmlformats.org/officeDocument/2006/math">
                    <m:r>
                      <a:rPr lang="en-US" b="0" i="1" smtClean="0">
                        <a:latin typeface="Cambria Math" panose="02040503050406030204" pitchFamily="18" charset="0"/>
                      </a:rPr>
                      <m:t>𝑔</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ℝ</m:t>
                        </m:r>
                      </m:e>
                      <m:sup>
                        <m:r>
                          <a:rPr lang="en-US" b="0" i="1" smtClean="0">
                            <a:latin typeface="Cambria Math" panose="02040503050406030204" pitchFamily="18" charset="0"/>
                          </a:rPr>
                          <m:t>𝐷</m:t>
                        </m:r>
                      </m:sup>
                    </m:sSup>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ℝ</m:t>
                        </m:r>
                      </m:e>
                      <m:sup>
                        <m:r>
                          <a:rPr lang="en-US" b="0" i="1" smtClean="0">
                            <a:latin typeface="Cambria Math" panose="02040503050406030204" pitchFamily="18" charset="0"/>
                          </a:rPr>
                          <m:t>𝐹</m:t>
                        </m:r>
                      </m:sup>
                    </m:sSup>
                  </m:oMath>
                </a14:m>
                <a:endParaRPr lang="en-US" b="0" dirty="0">
                  <a:latin typeface="+mj-lt"/>
                </a:endParaRPr>
              </a:p>
              <a:p>
                <a:pPr marL="342900" lvl="1" indent="0">
                  <a:buNone/>
                </a:pPr>
                <a14:m>
                  <m:oMathPara xmlns:m="http://schemas.openxmlformats.org/officeDocument/2006/math">
                    <m:oMathParaPr>
                      <m:jc m:val="centerGroup"/>
                    </m:oMathParaPr>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𝑔</m:t>
                          </m:r>
                        </m:e>
                        <m:sup>
                          <m:r>
                            <a:rPr lang="en-US" b="0" i="1" smtClean="0">
                              <a:latin typeface="Cambria Math" panose="02040503050406030204" pitchFamily="18" charset="0"/>
                            </a:rPr>
                            <m:t>∗</m:t>
                          </m:r>
                        </m:sup>
                      </m:sSup>
                      <m: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r>
                            <m:rPr>
                              <m:sty m:val="p"/>
                            </m:rPr>
                            <a:rPr lang="en-US" b="0" i="0" smtClean="0">
                              <a:latin typeface="Cambria Math" panose="02040503050406030204" pitchFamily="18" charset="0"/>
                            </a:rPr>
                            <m:t>arg</m:t>
                          </m:r>
                        </m:fName>
                        <m:e>
                          <m:r>
                            <a:rPr lang="en-US" b="0" i="1" smtClean="0">
                              <a:latin typeface="Cambria Math" panose="02040503050406030204" pitchFamily="18" charset="0"/>
                            </a:rPr>
                            <m:t> </m:t>
                          </m:r>
                          <m:func>
                            <m:funcPr>
                              <m:ctrlPr>
                                <a:rPr lang="en-US" b="0" i="1" smtClean="0">
                                  <a:latin typeface="Cambria Math" panose="02040503050406030204" pitchFamily="18" charset="0"/>
                                </a:rPr>
                              </m:ctrlPr>
                            </m:funcPr>
                            <m:fName>
                              <m:limLow>
                                <m:limLowPr>
                                  <m:ctrlPr>
                                    <a:rPr lang="en-US" b="0" i="1" smtClean="0">
                                      <a:latin typeface="Cambria Math" panose="02040503050406030204" pitchFamily="18" charset="0"/>
                                    </a:rPr>
                                  </m:ctrlPr>
                                </m:limLowPr>
                                <m:e>
                                  <m:r>
                                    <m:rPr>
                                      <m:sty m:val="p"/>
                                    </m:rPr>
                                    <a:rPr lang="en-US" b="0" i="0" smtClean="0">
                                      <a:latin typeface="Cambria Math" panose="02040503050406030204" pitchFamily="18" charset="0"/>
                                    </a:rPr>
                                    <m:t>min</m:t>
                                  </m:r>
                                </m:e>
                                <m:lim>
                                  <m:r>
                                    <a:rPr lang="en-US" b="0" i="1" smtClean="0">
                                      <a:latin typeface="Cambria Math" panose="02040503050406030204" pitchFamily="18" charset="0"/>
                                    </a:rPr>
                                    <m:t>𝑔</m:t>
                                  </m:r>
                                </m:lim>
                              </m:limLow>
                            </m:fName>
                            <m:e>
                              <m:sSub>
                                <m:sSubPr>
                                  <m:ctrlPr>
                                    <a:rPr lang="en-US" b="0" i="1" smtClean="0">
                                      <a:latin typeface="Cambria Math" panose="02040503050406030204" pitchFamily="18" charset="0"/>
                                    </a:rPr>
                                  </m:ctrlPr>
                                </m:sSubPr>
                                <m:e>
                                  <m:r>
                                    <a:rPr lang="en-US" b="0" i="1" smtClean="0">
                                      <a:latin typeface="Cambria Math" panose="02040503050406030204" pitchFamily="18" charset="0"/>
                                    </a:rPr>
                                    <m:t>𝔼</m:t>
                                  </m:r>
                                </m:e>
                                <m:sub>
                                  <m:r>
                                    <a:rPr lang="en-US" b="0" i="1" smtClean="0">
                                      <a:latin typeface="Cambria Math" panose="02040503050406030204" pitchFamily="18" charset="0"/>
                                    </a:rPr>
                                    <m:t>𝒟</m:t>
                                  </m:r>
                                  <m:r>
                                    <a:rPr lang="en-US" b="0" i="1" smtClean="0">
                                      <a:latin typeface="Cambria Math" panose="02040503050406030204" pitchFamily="18" charset="0"/>
                                    </a:rPr>
                                    <m:t>,</m:t>
                                  </m:r>
                                  <m:r>
                                    <a:rPr lang="en-US" b="0" i="1" smtClean="0">
                                      <a:latin typeface="Cambria Math" panose="02040503050406030204" pitchFamily="18" charset="0"/>
                                    </a:rPr>
                                    <m:t>𝑍</m:t>
                                  </m:r>
                                </m:sub>
                              </m:sSub>
                            </m:e>
                          </m:func>
                        </m:e>
                      </m:func>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r>
                                <m:rPr>
                                  <m:sty m:val="p"/>
                                </m:rPr>
                                <a:rPr lang="en-US" b="0" i="0" smtClean="0">
                                  <a:latin typeface="Cambria Math" panose="02040503050406030204" pitchFamily="18" charset="0"/>
                                </a:rPr>
                                <m:t>log</m:t>
                              </m:r>
                            </m:fName>
                            <m:e>
                              <m:r>
                                <a:rPr lang="en-US" b="0" i="1" smtClean="0">
                                  <a:latin typeface="Cambria Math" panose="02040503050406030204" pitchFamily="18" charset="0"/>
                                </a:rPr>
                                <m:t>ℙ</m:t>
                              </m:r>
                              <m:d>
                                <m:dPr>
                                  <m:ctrlPr>
                                    <a:rPr lang="en-US" b="0" i="1" smtClean="0">
                                      <a:latin typeface="Cambria Math" panose="02040503050406030204" pitchFamily="18" charset="0"/>
                                    </a:rPr>
                                  </m:ctrlPr>
                                </m:dPr>
                                <m:e>
                                  <m:r>
                                    <a:rPr lang="en-US" b="0" i="1" smtClean="0">
                                      <a:latin typeface="Cambria Math" panose="02040503050406030204" pitchFamily="18" charset="0"/>
                                    </a:rPr>
                                    <m:t>𝑔</m:t>
                                  </m:r>
                                  <m:d>
                                    <m:dPr>
                                      <m:ctrlPr>
                                        <a:rPr lang="en-US" b="0" i="1" smtClean="0">
                                          <a:latin typeface="Cambria Math" panose="02040503050406030204" pitchFamily="18" charset="0"/>
                                        </a:rPr>
                                      </m:ctrlPr>
                                    </m:dPr>
                                    <m:e>
                                      <m:r>
                                        <a:rPr lang="en-US" b="0" i="1" smtClean="0">
                                          <a:latin typeface="Cambria Math" panose="02040503050406030204" pitchFamily="18" charset="0"/>
                                        </a:rPr>
                                        <m:t>𝑍</m:t>
                                      </m:r>
                                    </m:e>
                                  </m:d>
                                  <m:r>
                                    <a:rPr lang="en-US" b="0" i="1" smtClean="0">
                                      <a:latin typeface="Cambria Math" panose="02040503050406030204" pitchFamily="18" charset="0"/>
                                    </a:rPr>
                                    <m:t>∈</m:t>
                                  </m:r>
                                  <m:r>
                                    <a:rPr lang="en-US" b="0" i="1" smtClean="0">
                                      <a:latin typeface="Cambria Math" panose="02040503050406030204" pitchFamily="18" charset="0"/>
                                    </a:rPr>
                                    <m:t>𝒟</m:t>
                                  </m:r>
                                </m:e>
                              </m:d>
                            </m:e>
                          </m:func>
                        </m:e>
                      </m:d>
                      <m:r>
                        <a:rPr lang="en-US" b="0" i="1" smtClean="0">
                          <a:latin typeface="Cambria Math" panose="02040503050406030204" pitchFamily="18" charset="0"/>
                        </a:rPr>
                        <m:t>, </m:t>
                      </m:r>
                      <m:acc>
                        <m:accPr>
                          <m:chr m:val="̂"/>
                          <m:ctrlPr>
                            <a:rPr lang="en-US" b="0" i="1" smtClean="0">
                              <a:latin typeface="Cambria Math" panose="02040503050406030204" pitchFamily="18" charset="0"/>
                            </a:rPr>
                          </m:ctrlPr>
                        </m:accPr>
                        <m:e>
                          <m:r>
                            <a:rPr lang="en-US" b="1" i="1" smtClean="0">
                              <a:latin typeface="Cambria Math" panose="02040503050406030204" pitchFamily="18" charset="0"/>
                            </a:rPr>
                            <m:t>𝑿</m:t>
                          </m:r>
                        </m:e>
                      </m:acc>
                      <m:r>
                        <a:rPr lang="en-US" b="0" i="1" smtClean="0">
                          <a:latin typeface="Cambria Math" panose="02040503050406030204" pitchFamily="18" charset="0"/>
                        </a:rPr>
                        <m:t>=</m:t>
                      </m:r>
                      <m:r>
                        <a:rPr lang="en-US" b="0" i="1" smtClean="0">
                          <a:latin typeface="Cambria Math" panose="02040503050406030204" pitchFamily="18" charset="0"/>
                        </a:rPr>
                        <m:t>𝑔</m:t>
                      </m:r>
                      <m:d>
                        <m:dPr>
                          <m:ctrlPr>
                            <a:rPr lang="en-US" b="0" i="1" smtClean="0">
                              <a:latin typeface="Cambria Math" panose="02040503050406030204" pitchFamily="18" charset="0"/>
                            </a:rPr>
                          </m:ctrlPr>
                        </m:dPr>
                        <m:e>
                          <m:r>
                            <a:rPr lang="en-US" b="0" i="1" smtClean="0">
                              <a:latin typeface="Cambria Math" panose="02040503050406030204" pitchFamily="18" charset="0"/>
                            </a:rPr>
                            <m:t>𝑍</m:t>
                          </m:r>
                        </m:e>
                      </m:d>
                    </m:oMath>
                  </m:oMathPara>
                </a14:m>
                <a:endParaRPr lang="en-US" b="0" dirty="0">
                  <a:latin typeface="+mj-lt"/>
                </a:endParaRPr>
              </a:p>
              <a:p>
                <a:r>
                  <a:rPr lang="en-US" dirty="0">
                    <a:latin typeface="+mj-lt"/>
                  </a:rPr>
                  <a:t>Wasserstein Generative Adversarial Networks (WGANs) </a:t>
                </a:r>
                <a:r>
                  <a:rPr lang="en-US" dirty="0">
                    <a:solidFill>
                      <a:schemeClr val="accent1"/>
                    </a:solidFill>
                    <a:latin typeface="+mj-lt"/>
                  </a:rPr>
                  <a:t>[6]</a:t>
                </a:r>
              </a:p>
              <a:p>
                <a:pPr lvl="1"/>
                <a:r>
                  <a:rPr lang="en-US" b="0" dirty="0">
                    <a:latin typeface="+mj-lt"/>
                  </a:rPr>
                  <a:t>One of the most powerful generative models</a:t>
                </a:r>
              </a:p>
              <a:p>
                <a:pPr lvl="1"/>
                <a:r>
                  <a:rPr lang="en-US" dirty="0">
                    <a:latin typeface="+mj-lt"/>
                  </a:rPr>
                  <a:t>Generator model optimized against the </a:t>
                </a:r>
                <a:r>
                  <a:rPr lang="en-US" i="1" dirty="0">
                    <a:latin typeface="+mj-lt"/>
                  </a:rPr>
                  <a:t>best</a:t>
                </a:r>
                <a:r>
                  <a:rPr lang="en-US" dirty="0">
                    <a:latin typeface="+mj-lt"/>
                  </a:rPr>
                  <a:t> likelihood model</a:t>
                </a:r>
              </a:p>
              <a:p>
                <a:pPr marL="342900" lvl="1" indent="0">
                  <a:buNone/>
                </a:pPr>
                <a14:m>
                  <m:oMathPara xmlns:m="http://schemas.openxmlformats.org/officeDocument/2006/math">
                    <m:oMathParaPr>
                      <m:jc m:val="centerGroup"/>
                    </m:oMathParaPr>
                    <m:oMath xmlns:m="http://schemas.openxmlformats.org/officeDocument/2006/math">
                      <m:sSup>
                        <m:sSupPr>
                          <m:ctrlPr>
                            <a:rPr lang="en-US" i="1">
                              <a:latin typeface="Cambria Math" panose="02040503050406030204" pitchFamily="18" charset="0"/>
                            </a:rPr>
                          </m:ctrlPr>
                        </m:sSupPr>
                        <m:e>
                          <m:r>
                            <a:rPr lang="en-US" i="1">
                              <a:latin typeface="Cambria Math" panose="02040503050406030204" pitchFamily="18" charset="0"/>
                            </a:rPr>
                            <m:t>𝑔</m:t>
                          </m:r>
                        </m:e>
                        <m:sup>
                          <m:r>
                            <a:rPr lang="en-US" i="1">
                              <a:latin typeface="Cambria Math" panose="02040503050406030204" pitchFamily="18" charset="0"/>
                            </a:rPr>
                            <m:t>∗</m:t>
                          </m:r>
                        </m:sup>
                      </m:sSup>
                      <m:r>
                        <a:rPr lang="en-US" i="1">
                          <a:latin typeface="Cambria Math" panose="02040503050406030204" pitchFamily="18" charset="0"/>
                        </a:rPr>
                        <m:t>=</m:t>
                      </m:r>
                      <m:func>
                        <m:funcPr>
                          <m:ctrlPr>
                            <a:rPr lang="en-US" i="1">
                              <a:latin typeface="Cambria Math" panose="02040503050406030204" pitchFamily="18" charset="0"/>
                            </a:rPr>
                          </m:ctrlPr>
                        </m:funcPr>
                        <m:fName>
                          <m:r>
                            <m:rPr>
                              <m:sty m:val="p"/>
                            </m:rPr>
                            <a:rPr lang="en-US">
                              <a:latin typeface="Cambria Math" panose="02040503050406030204" pitchFamily="18" charset="0"/>
                            </a:rPr>
                            <m:t>arg</m:t>
                          </m:r>
                        </m:fName>
                        <m:e>
                          <m:r>
                            <a:rPr lang="en-US" i="1">
                              <a:latin typeface="Cambria Math" panose="02040503050406030204" pitchFamily="18" charset="0"/>
                            </a:rPr>
                            <m:t> </m:t>
                          </m:r>
                          <m:func>
                            <m:funcPr>
                              <m:ctrlPr>
                                <a:rPr lang="en-US" i="1">
                                  <a:latin typeface="Cambria Math" panose="02040503050406030204" pitchFamily="18" charset="0"/>
                                </a:rPr>
                              </m:ctrlPr>
                            </m:funcPr>
                            <m:fName>
                              <m:limLow>
                                <m:limLowPr>
                                  <m:ctrlPr>
                                    <a:rPr lang="en-US" i="1">
                                      <a:latin typeface="Cambria Math" panose="02040503050406030204" pitchFamily="18" charset="0"/>
                                    </a:rPr>
                                  </m:ctrlPr>
                                </m:limLowPr>
                                <m:e>
                                  <m:r>
                                    <m:rPr>
                                      <m:sty m:val="p"/>
                                    </m:rPr>
                                    <a:rPr lang="en-US">
                                      <a:latin typeface="Cambria Math" panose="02040503050406030204" pitchFamily="18" charset="0"/>
                                    </a:rPr>
                                    <m:t>min</m:t>
                                  </m:r>
                                </m:e>
                                <m:lim>
                                  <m:r>
                                    <a:rPr lang="en-US" i="1">
                                      <a:latin typeface="Cambria Math" panose="02040503050406030204" pitchFamily="18" charset="0"/>
                                    </a:rPr>
                                    <m:t>𝑔</m:t>
                                  </m:r>
                                </m:lim>
                              </m:limLow>
                            </m:fName>
                            <m:e>
                              <m:limLow>
                                <m:limLowPr>
                                  <m:ctrlPr>
                                    <a:rPr lang="en-US" b="0" i="1" smtClean="0">
                                      <a:latin typeface="Cambria Math" panose="02040503050406030204" pitchFamily="18" charset="0"/>
                                    </a:rPr>
                                  </m:ctrlPr>
                                </m:limLowPr>
                                <m:e>
                                  <m:r>
                                    <m:rPr>
                                      <m:sty m:val="p"/>
                                    </m:rPr>
                                    <a:rPr lang="en-US" b="0" i="0" smtClean="0">
                                      <a:latin typeface="Cambria Math" panose="02040503050406030204" pitchFamily="18" charset="0"/>
                                    </a:rPr>
                                    <m:t>max</m:t>
                                  </m:r>
                                </m:e>
                                <m:lim>
                                  <m:r>
                                    <a:rPr lang="en-US" b="0" i="0" smtClean="0">
                                      <a:latin typeface="Cambria Math" panose="02040503050406030204" pitchFamily="18" charset="0"/>
                                    </a:rPr>
                                    <m:t>1−</m:t>
                                  </m:r>
                                  <m:r>
                                    <m:rPr>
                                      <m:sty m:val="p"/>
                                    </m:rPr>
                                    <a:rPr lang="en-US" b="0" i="0" smtClean="0">
                                      <a:latin typeface="Cambria Math" panose="02040503050406030204" pitchFamily="18" charset="0"/>
                                    </a:rPr>
                                    <m:t>Lipschitz</m:t>
                                  </m:r>
                                  <m:r>
                                    <a:rPr lang="en-US" b="0" i="0" smtClean="0">
                                      <a:latin typeface="Cambria Math" panose="02040503050406030204" pitchFamily="18" charset="0"/>
                                    </a:rPr>
                                    <m:t> </m:t>
                                  </m:r>
                                  <m:r>
                                    <a:rPr lang="en-US" b="0" i="1" smtClean="0">
                                      <a:latin typeface="Cambria Math" panose="02040503050406030204" pitchFamily="18" charset="0"/>
                                    </a:rPr>
                                    <m:t>𝑓</m:t>
                                  </m:r>
                                </m:lim>
                              </m:limLow>
                              <m:r>
                                <a:rPr lang="en-US" b="0" i="1" smtClean="0">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𝔼</m:t>
                                  </m:r>
                                </m:e>
                                <m:sub>
                                  <m:r>
                                    <a:rPr lang="en-US" b="1" i="1" smtClean="0">
                                      <a:latin typeface="Cambria Math" panose="02040503050406030204" pitchFamily="18" charset="0"/>
                                    </a:rPr>
                                    <m:t>𝑿</m:t>
                                  </m:r>
                                  <m:r>
                                    <a:rPr lang="en-US" b="0" i="1" smtClean="0">
                                      <a:latin typeface="Cambria Math" panose="02040503050406030204" pitchFamily="18" charset="0"/>
                                    </a:rPr>
                                    <m:t>∈</m:t>
                                  </m:r>
                                  <m:r>
                                    <a:rPr lang="en-US" i="1">
                                      <a:latin typeface="Cambria Math" panose="02040503050406030204" pitchFamily="18" charset="0"/>
                                    </a:rPr>
                                    <m:t>𝒟</m:t>
                                  </m:r>
                                  <m:r>
                                    <a:rPr lang="en-US" i="1">
                                      <a:latin typeface="Cambria Math" panose="02040503050406030204" pitchFamily="18" charset="0"/>
                                    </a:rPr>
                                    <m:t>,</m:t>
                                  </m:r>
                                  <m:r>
                                    <a:rPr lang="en-US" i="1">
                                      <a:latin typeface="Cambria Math" panose="02040503050406030204" pitchFamily="18" charset="0"/>
                                    </a:rPr>
                                    <m:t>𝑍</m:t>
                                  </m:r>
                                </m:sub>
                              </m:sSub>
                            </m:e>
                          </m:func>
                        </m:e>
                      </m:func>
                      <m:d>
                        <m:dPr>
                          <m:begChr m:val="["/>
                          <m:endChr m:val="]"/>
                          <m:ctrlPr>
                            <a:rPr lang="en-US" i="1">
                              <a:latin typeface="Cambria Math" panose="02040503050406030204" pitchFamily="18" charset="0"/>
                            </a:rPr>
                          </m:ctrlPr>
                        </m:dPr>
                        <m:e>
                          <m:r>
                            <a:rPr lang="en-US" b="0" i="1" smtClean="0">
                              <a:latin typeface="Cambria Math" panose="02040503050406030204" pitchFamily="18" charset="0"/>
                            </a:rPr>
                            <m:t>𝑓</m:t>
                          </m:r>
                          <m:d>
                            <m:dPr>
                              <m:ctrlPr>
                                <a:rPr lang="en-US" b="0" i="1" smtClean="0">
                                  <a:latin typeface="Cambria Math" panose="02040503050406030204" pitchFamily="18" charset="0"/>
                                </a:rPr>
                              </m:ctrlPr>
                            </m:dPr>
                            <m:e>
                              <m:r>
                                <a:rPr lang="en-US" b="1" i="1" smtClean="0">
                                  <a:latin typeface="Cambria Math" panose="02040503050406030204" pitchFamily="18" charset="0"/>
                                </a:rPr>
                                <m:t>𝑿</m:t>
                              </m:r>
                            </m:e>
                          </m:d>
                          <m:r>
                            <a:rPr lang="en-US" b="0" i="1" smtClean="0">
                              <a:latin typeface="Cambria Math" panose="02040503050406030204" pitchFamily="18" charset="0"/>
                            </a:rPr>
                            <m:t>−</m:t>
                          </m:r>
                          <m:r>
                            <a:rPr lang="en-US" b="0" i="1" smtClean="0">
                              <a:latin typeface="Cambria Math" panose="02040503050406030204" pitchFamily="18" charset="0"/>
                            </a:rPr>
                            <m:t>𝑓</m:t>
                          </m:r>
                          <m:d>
                            <m:dPr>
                              <m:ctrlPr>
                                <a:rPr lang="en-US" b="0" i="1" smtClean="0">
                                  <a:latin typeface="Cambria Math" panose="02040503050406030204" pitchFamily="18" charset="0"/>
                                </a:rPr>
                              </m:ctrlPr>
                            </m:dPr>
                            <m:e>
                              <m:r>
                                <a:rPr lang="en-US" b="0" i="1" smtClean="0">
                                  <a:latin typeface="Cambria Math" panose="02040503050406030204" pitchFamily="18" charset="0"/>
                                </a:rPr>
                                <m:t>𝑔</m:t>
                              </m:r>
                              <m:d>
                                <m:dPr>
                                  <m:ctrlPr>
                                    <a:rPr lang="en-US" b="0" i="1" smtClean="0">
                                      <a:latin typeface="Cambria Math" panose="02040503050406030204" pitchFamily="18" charset="0"/>
                                    </a:rPr>
                                  </m:ctrlPr>
                                </m:dPr>
                                <m:e>
                                  <m:r>
                                    <a:rPr lang="en-US" b="0" i="1" smtClean="0">
                                      <a:latin typeface="Cambria Math" panose="02040503050406030204" pitchFamily="18" charset="0"/>
                                    </a:rPr>
                                    <m:t>𝑍</m:t>
                                  </m:r>
                                </m:e>
                              </m:d>
                            </m:e>
                          </m:d>
                        </m:e>
                      </m:d>
                    </m:oMath>
                  </m:oMathPara>
                </a14:m>
                <a:endParaRPr lang="en-US" b="0" dirty="0">
                  <a:latin typeface="+mj-lt"/>
                </a:endParaRPr>
              </a:p>
              <a:p>
                <a:r>
                  <a:rPr lang="en-US" b="0" dirty="0">
                    <a:latin typeface="+mj-lt"/>
                  </a:rPr>
                  <a:t>Dense graph generation</a:t>
                </a:r>
              </a:p>
              <a:p>
                <a:pPr lvl="1"/>
                <a:r>
                  <a:rPr lang="en-US" dirty="0">
                    <a:latin typeface="+mj-lt"/>
                  </a:rPr>
                  <a:t>Dataset: </a:t>
                </a:r>
                <a14:m>
                  <m:oMath xmlns:m="http://schemas.openxmlformats.org/officeDocument/2006/math">
                    <m:r>
                      <a:rPr lang="en-US" i="1">
                        <a:latin typeface="Cambria Math" panose="02040503050406030204" pitchFamily="18" charset="0"/>
                      </a:rPr>
                      <m:t>𝒟</m:t>
                    </m:r>
                    <m:r>
                      <a:rPr lang="en-US" i="1">
                        <a:latin typeface="Cambria Math" panose="02040503050406030204" pitchFamily="18" charset="0"/>
                      </a:rPr>
                      <m:t>=</m:t>
                    </m:r>
                    <m:r>
                      <m:rPr>
                        <m:lit/>
                      </m:rPr>
                      <a:rPr lang="en-US" i="1">
                        <a:latin typeface="Cambria Math" panose="02040503050406030204" pitchFamily="18" charset="0"/>
                      </a:rPr>
                      <m:t>{</m:t>
                    </m:r>
                    <m:r>
                      <m:rPr>
                        <m:lit/>
                      </m:rP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i="1">
                            <a:latin typeface="Cambria Math" panose="02040503050406030204" pitchFamily="18" charset="0"/>
                          </a:rPr>
                          <m:t>𝑖</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𝑖</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1" i="1" smtClean="0">
                            <a:latin typeface="Cambria Math" panose="02040503050406030204" pitchFamily="18" charset="0"/>
                          </a:rPr>
                          <m:t>𝒚</m:t>
                        </m:r>
                      </m:e>
                      <m:sub>
                        <m:r>
                          <a:rPr lang="en-US" b="0" i="1" smtClean="0">
                            <a:latin typeface="Cambria Math" panose="02040503050406030204" pitchFamily="18" charset="0"/>
                          </a:rPr>
                          <m:t>𝑖</m:t>
                        </m:r>
                      </m:sub>
                    </m:sSub>
                    <m:r>
                      <a:rPr lang="en-US" b="0" i="1" smtClean="0">
                        <a:latin typeface="Cambria Math" panose="02040503050406030204" pitchFamily="18" charset="0"/>
                      </a:rPr>
                      <m:t>)</m:t>
                    </m:r>
                    <m:sSubSup>
                      <m:sSubSupPr>
                        <m:ctrlPr>
                          <a:rPr lang="en-US" i="1">
                            <a:latin typeface="Cambria Math" panose="02040503050406030204" pitchFamily="18" charset="0"/>
                          </a:rPr>
                        </m:ctrlPr>
                      </m:sSubSupPr>
                      <m:e>
                        <m:r>
                          <m:rPr>
                            <m:lit/>
                          </m:rPr>
                          <a:rPr lang="en-US" i="1">
                            <a:latin typeface="Cambria Math" panose="02040503050406030204" pitchFamily="18" charset="0"/>
                          </a:rPr>
                          <m:t>}</m:t>
                        </m:r>
                      </m:e>
                      <m:sub>
                        <m:r>
                          <a:rPr lang="en-US" i="1">
                            <a:latin typeface="Cambria Math" panose="02040503050406030204" pitchFamily="18" charset="0"/>
                          </a:rPr>
                          <m:t>𝑖</m:t>
                        </m:r>
                        <m:r>
                          <a:rPr lang="en-US" i="1">
                            <a:latin typeface="Cambria Math" panose="02040503050406030204" pitchFamily="18" charset="0"/>
                          </a:rPr>
                          <m:t>=1</m:t>
                        </m:r>
                      </m:sub>
                      <m:sup>
                        <m:r>
                          <a:rPr lang="en-US" i="1">
                            <a:latin typeface="Cambria Math" panose="02040503050406030204" pitchFamily="18" charset="0"/>
                          </a:rPr>
                          <m:t>𝑁</m:t>
                        </m:r>
                      </m:sup>
                    </m:sSubSup>
                  </m:oMath>
                </a14:m>
                <a:endParaRPr lang="en-US" b="0" dirty="0">
                  <a:latin typeface="+mj-lt"/>
                </a:endParaRPr>
              </a:p>
            </p:txBody>
          </p:sp>
        </mc:Choice>
        <mc:Fallback>
          <p:sp>
            <p:nvSpPr>
              <p:cNvPr id="9" name="Content Placeholder 8">
                <a:extLst>
                  <a:ext uri="{FF2B5EF4-FFF2-40B4-BE49-F238E27FC236}">
                    <a16:creationId xmlns:a16="http://schemas.microsoft.com/office/drawing/2014/main" id="{152288BF-8539-B841-42B5-27B39398A1DC}"/>
                  </a:ext>
                </a:extLst>
              </p:cNvPr>
              <p:cNvSpPr>
                <a:spLocks noGrp="1" noRot="1" noChangeAspect="1" noMove="1" noResize="1" noEditPoints="1" noAdjustHandles="1" noChangeArrowheads="1" noChangeShapeType="1" noTextEdit="1"/>
              </p:cNvSpPr>
              <p:nvPr>
                <p:ph idx="1"/>
              </p:nvPr>
            </p:nvSpPr>
            <p:spPr>
              <a:blipFill>
                <a:blip r:embed="rId3"/>
                <a:stretch>
                  <a:fillRect/>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C711A9A4-0A62-452A-E92B-B5BF676452F3}"/>
              </a:ext>
            </a:extLst>
          </p:cNvPr>
          <p:cNvSpPr>
            <a:spLocks noGrp="1"/>
          </p:cNvSpPr>
          <p:nvPr>
            <p:ph type="title"/>
          </p:nvPr>
        </p:nvSpPr>
        <p:spPr>
          <a:xfrm>
            <a:off x="904875" y="131032"/>
            <a:ext cx="7207279" cy="1072753"/>
          </a:xfrm>
        </p:spPr>
        <p:txBody>
          <a:bodyPr>
            <a:normAutofit/>
          </a:bodyPr>
          <a:lstStyle/>
          <a:p>
            <a:r>
              <a:rPr lang="en-US" dirty="0"/>
              <a:t>4.1	Geometric Graph Generation with CRPs</a:t>
            </a:r>
            <a:br>
              <a:rPr lang="en-US" dirty="0"/>
            </a:br>
            <a:r>
              <a:rPr lang="en-US" sz="2400" b="0" i="1" dirty="0"/>
              <a:t>Background - Gen AI for graphs</a:t>
            </a:r>
            <a:endParaRPr lang="en-GB" sz="2400" b="0" i="1" dirty="0"/>
          </a:p>
        </p:txBody>
      </p:sp>
      <p:sp>
        <p:nvSpPr>
          <p:cNvPr id="5" name="Date Placeholder 4">
            <a:extLst>
              <a:ext uri="{FF2B5EF4-FFF2-40B4-BE49-F238E27FC236}">
                <a16:creationId xmlns:a16="http://schemas.microsoft.com/office/drawing/2014/main" id="{DA552888-22BC-3F44-1D80-368F03DD0D52}"/>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43C99AD4-52CC-31FD-7DC2-FEED21E4D777}"/>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539A52DF-13CE-1135-BC19-C4AE63691810}"/>
              </a:ext>
            </a:extLst>
          </p:cNvPr>
          <p:cNvSpPr>
            <a:spLocks noGrp="1"/>
          </p:cNvSpPr>
          <p:nvPr>
            <p:ph type="sldNum" sz="quarter" idx="12"/>
          </p:nvPr>
        </p:nvSpPr>
        <p:spPr/>
        <p:txBody>
          <a:bodyPr/>
          <a:lstStyle/>
          <a:p>
            <a:fld id="{E1E1CD7C-2161-7D43-862E-CE4C333CD873}" type="slidenum">
              <a:rPr lang="fr-FR" smtClean="0"/>
              <a:pPr/>
              <a:t>35</a:t>
            </a:fld>
            <a:endParaRPr lang="fr-FR" dirty="0"/>
          </a:p>
        </p:txBody>
      </p:sp>
    </p:spTree>
    <p:extLst>
      <p:ext uri="{BB962C8B-B14F-4D97-AF65-F5344CB8AC3E}">
        <p14:creationId xmlns:p14="http://schemas.microsoft.com/office/powerpoint/2010/main" val="38256205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6" dur="500"/>
                                        <p:tgtEl>
                                          <p:spTgt spid="9">
                                            <p:txEl>
                                              <p:pRg st="3" end="3"/>
                                            </p:txEl>
                                          </p:spTgt>
                                        </p:tgtEl>
                                      </p:cBhvr>
                                    </p:animEffect>
                                  </p:childTnLst>
                                </p:cTn>
                              </p:par>
                              <p:par>
                                <p:cTn id="17" presetID="14" presetClass="entr" presetSubtype="10" fill="hold" nodeType="withEffect">
                                  <p:stCondLst>
                                    <p:cond delay="0"/>
                                  </p:stCondLst>
                                  <p:childTnLst>
                                    <p:set>
                                      <p:cBhvr>
                                        <p:cTn id="18" dur="1" fill="hold">
                                          <p:stCondLst>
                                            <p:cond delay="0"/>
                                          </p:stCondLst>
                                        </p:cTn>
                                        <p:tgtEl>
                                          <p:spTgt spid="9">
                                            <p:txEl>
                                              <p:pRg st="4" end="4"/>
                                            </p:txEl>
                                          </p:spTgt>
                                        </p:tgtEl>
                                        <p:attrNameLst>
                                          <p:attrName>style.visibility</p:attrName>
                                        </p:attrNameLst>
                                      </p:cBhvr>
                                      <p:to>
                                        <p:strVal val="visible"/>
                                      </p:to>
                                    </p:set>
                                    <p:animEffect transition="in" filter="randombar(horizontal)">
                                      <p:cBhvr>
                                        <p:cTn id="19" dur="500"/>
                                        <p:tgtEl>
                                          <p:spTgt spid="9">
                                            <p:txEl>
                                              <p:pRg st="4" end="4"/>
                                            </p:txEl>
                                          </p:spTgt>
                                        </p:tgtEl>
                                      </p:cBhvr>
                                    </p:animEffect>
                                  </p:childTnLst>
                                </p:cTn>
                              </p:par>
                              <p:par>
                                <p:cTn id="20" presetID="14" presetClass="entr" presetSubtype="10" fill="hold" nodeType="withEffect">
                                  <p:stCondLst>
                                    <p:cond delay="0"/>
                                  </p:stCondLst>
                                  <p:childTnLst>
                                    <p:set>
                                      <p:cBhvr>
                                        <p:cTn id="21"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2" dur="500"/>
                                        <p:tgtEl>
                                          <p:spTgt spid="9">
                                            <p:txEl>
                                              <p:pRg st="5" end="5"/>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4" presetClass="entr" presetSubtype="10" fill="hold" nodeType="clickEffect">
                                  <p:stCondLst>
                                    <p:cond delay="0"/>
                                  </p:stCondLst>
                                  <p:childTnLst>
                                    <p:set>
                                      <p:cBhvr>
                                        <p:cTn id="26" dur="1" fill="hold">
                                          <p:stCondLst>
                                            <p:cond delay="0"/>
                                          </p:stCondLst>
                                        </p:cTn>
                                        <p:tgtEl>
                                          <p:spTgt spid="9">
                                            <p:txEl>
                                              <p:pRg st="6" end="6"/>
                                            </p:txEl>
                                          </p:spTgt>
                                        </p:tgtEl>
                                        <p:attrNameLst>
                                          <p:attrName>style.visibility</p:attrName>
                                        </p:attrNameLst>
                                      </p:cBhvr>
                                      <p:to>
                                        <p:strVal val="visible"/>
                                      </p:to>
                                    </p:set>
                                    <p:animEffect transition="in" filter="randombar(horizontal)">
                                      <p:cBhvr>
                                        <p:cTn id="27" dur="500"/>
                                        <p:tgtEl>
                                          <p:spTgt spid="9">
                                            <p:txEl>
                                              <p:pRg st="6" end="6"/>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0" dur="500"/>
                                        <p:tgtEl>
                                          <p:spTgt spid="9">
                                            <p:txEl>
                                              <p:pRg st="7" end="7"/>
                                            </p:txEl>
                                          </p:spTgt>
                                        </p:tgtEl>
                                      </p:cBhvr>
                                    </p:animEffect>
                                  </p:childTnLst>
                                </p:cTn>
                              </p:par>
                              <p:par>
                                <p:cTn id="31" presetID="14" presetClass="entr" presetSubtype="10" fill="hold" nodeType="withEffect">
                                  <p:stCondLst>
                                    <p:cond delay="0"/>
                                  </p:stCondLst>
                                  <p:childTnLst>
                                    <p:set>
                                      <p:cBhvr>
                                        <p:cTn id="32" dur="1" fill="hold">
                                          <p:stCondLst>
                                            <p:cond delay="0"/>
                                          </p:stCondLst>
                                        </p:cTn>
                                        <p:tgtEl>
                                          <p:spTgt spid="9">
                                            <p:txEl>
                                              <p:pRg st="8" end="8"/>
                                            </p:txEl>
                                          </p:spTgt>
                                        </p:tgtEl>
                                        <p:attrNameLst>
                                          <p:attrName>style.visibility</p:attrName>
                                        </p:attrNameLst>
                                      </p:cBhvr>
                                      <p:to>
                                        <p:strVal val="visible"/>
                                      </p:to>
                                    </p:set>
                                    <p:animEffect transition="in" filter="randombar(horizontal)">
                                      <p:cBhvr>
                                        <p:cTn id="33" dur="500"/>
                                        <p:tgtEl>
                                          <p:spTgt spid="9">
                                            <p:txEl>
                                              <p:pRg st="8" end="8"/>
                                            </p:txEl>
                                          </p:spTgt>
                                        </p:tgtEl>
                                      </p:cBhvr>
                                    </p:animEffect>
                                  </p:childTnLst>
                                </p:cTn>
                              </p:par>
                              <p:par>
                                <p:cTn id="34" presetID="14" presetClass="entr" presetSubtype="10" fill="hold" nodeType="withEffect">
                                  <p:stCondLst>
                                    <p:cond delay="0"/>
                                  </p:stCondLst>
                                  <p:childTnLst>
                                    <p:set>
                                      <p:cBhvr>
                                        <p:cTn id="35" dur="1" fill="hold">
                                          <p:stCondLst>
                                            <p:cond delay="0"/>
                                          </p:stCondLst>
                                        </p:cTn>
                                        <p:tgtEl>
                                          <p:spTgt spid="9">
                                            <p:txEl>
                                              <p:pRg st="9" end="9"/>
                                            </p:txEl>
                                          </p:spTgt>
                                        </p:tgtEl>
                                        <p:attrNameLst>
                                          <p:attrName>style.visibility</p:attrName>
                                        </p:attrNameLst>
                                      </p:cBhvr>
                                      <p:to>
                                        <p:strVal val="visible"/>
                                      </p:to>
                                    </p:set>
                                    <p:animEffect transition="in" filter="randombar(horizontal)">
                                      <p:cBhvr>
                                        <p:cTn id="36" dur="500"/>
                                        <p:tgtEl>
                                          <p:spTgt spid="9">
                                            <p:txEl>
                                              <p:pRg st="9" end="9"/>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14" presetClass="entr" presetSubtype="10" fill="hold" nodeType="clickEffect">
                                  <p:stCondLst>
                                    <p:cond delay="0"/>
                                  </p:stCondLst>
                                  <p:childTnLst>
                                    <p:set>
                                      <p:cBhvr>
                                        <p:cTn id="40" dur="1" fill="hold">
                                          <p:stCondLst>
                                            <p:cond delay="0"/>
                                          </p:stCondLst>
                                        </p:cTn>
                                        <p:tgtEl>
                                          <p:spTgt spid="9">
                                            <p:txEl>
                                              <p:pRg st="10" end="10"/>
                                            </p:txEl>
                                          </p:spTgt>
                                        </p:tgtEl>
                                        <p:attrNameLst>
                                          <p:attrName>style.visibility</p:attrName>
                                        </p:attrNameLst>
                                      </p:cBhvr>
                                      <p:to>
                                        <p:strVal val="visible"/>
                                      </p:to>
                                    </p:set>
                                    <p:animEffect transition="in" filter="randombar(horizontal)">
                                      <p:cBhvr>
                                        <p:cTn id="41" dur="500"/>
                                        <p:tgtEl>
                                          <p:spTgt spid="9">
                                            <p:txEl>
                                              <p:pRg st="10" end="10"/>
                                            </p:txEl>
                                          </p:spTgt>
                                        </p:tgtEl>
                                      </p:cBhvr>
                                    </p:animEffect>
                                  </p:childTnLst>
                                </p:cTn>
                              </p:par>
                              <p:par>
                                <p:cTn id="42" presetID="14" presetClass="entr" presetSubtype="10" fill="hold" nodeType="withEffect">
                                  <p:stCondLst>
                                    <p:cond delay="0"/>
                                  </p:stCondLst>
                                  <p:childTnLst>
                                    <p:set>
                                      <p:cBhvr>
                                        <p:cTn id="43" dur="1" fill="hold">
                                          <p:stCondLst>
                                            <p:cond delay="0"/>
                                          </p:stCondLst>
                                        </p:cTn>
                                        <p:tgtEl>
                                          <p:spTgt spid="9">
                                            <p:txEl>
                                              <p:pRg st="11" end="11"/>
                                            </p:txEl>
                                          </p:spTgt>
                                        </p:tgtEl>
                                        <p:attrNameLst>
                                          <p:attrName>style.visibility</p:attrName>
                                        </p:attrNameLst>
                                      </p:cBhvr>
                                      <p:to>
                                        <p:strVal val="visible"/>
                                      </p:to>
                                    </p:set>
                                    <p:animEffect transition="in" filter="randombar(horizontal)">
                                      <p:cBhvr>
                                        <p:cTn id="44" dur="500"/>
                                        <p:tgtEl>
                                          <p:spTgt spid="9">
                                            <p:txEl>
                                              <p:pRg st="11" end="1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730D1D-B2AB-B313-AB65-67CE27644D8E}"/>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9" name="Content Placeholder 8">
                <a:extLst>
                  <a:ext uri="{FF2B5EF4-FFF2-40B4-BE49-F238E27FC236}">
                    <a16:creationId xmlns:a16="http://schemas.microsoft.com/office/drawing/2014/main" id="{6404063F-CBF1-8B58-C4DA-3FF13AA95E3F}"/>
                  </a:ext>
                </a:extLst>
              </p:cNvPr>
              <p:cNvSpPr>
                <a:spLocks noGrp="1"/>
              </p:cNvSpPr>
              <p:nvPr>
                <p:ph sz="half" idx="1"/>
              </p:nvPr>
            </p:nvSpPr>
            <p:spPr/>
            <p:txBody>
              <a:bodyPr anchor="ctr">
                <a:normAutofit/>
              </a:bodyPr>
              <a:lstStyle/>
              <a:p>
                <a:r>
                  <a:rPr lang="en-US" dirty="0">
                    <a:latin typeface="+mj-lt"/>
                  </a:rPr>
                  <a:t>WGAN with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ℓ</m:t>
                        </m:r>
                      </m:e>
                      <m:sub>
                        <m:r>
                          <a:rPr lang="en-US" b="0" i="1" smtClean="0">
                            <a:latin typeface="Cambria Math" panose="02040503050406030204" pitchFamily="18" charset="0"/>
                          </a:rPr>
                          <m:t>𝑝</m:t>
                        </m:r>
                      </m:sub>
                    </m:sSub>
                  </m:oMath>
                </a14:m>
                <a:r>
                  <a:rPr lang="en-US" dirty="0">
                    <a:latin typeface="+mj-lt"/>
                  </a:rPr>
                  <a:t>-penalty Lipschitz regularization</a:t>
                </a:r>
              </a:p>
              <a:p>
                <a:r>
                  <a:rPr lang="en-US" dirty="0">
                    <a:latin typeface="+mj-lt"/>
                  </a:rPr>
                  <a:t>Permutation equivariant</a:t>
                </a:r>
              </a:p>
              <a:p>
                <a:pPr lvl="1"/>
                <a14:m>
                  <m:oMath xmlns:m="http://schemas.openxmlformats.org/officeDocument/2006/math">
                    <m:r>
                      <a:rPr lang="en-US" b="0" i="1" smtClean="0">
                        <a:latin typeface="Cambria Math" panose="02040503050406030204" pitchFamily="18" charset="0"/>
                      </a:rPr>
                      <m:t>𝑃</m:t>
                    </m:r>
                  </m:oMath>
                </a14:m>
                <a:r>
                  <a:rPr lang="en-US" dirty="0">
                    <a:latin typeface="+mj-lt"/>
                  </a:rPr>
                  <a:t> dimensions of latent noise as learnable fixed node features, other </a:t>
                </a:r>
                <a14:m>
                  <m:oMath xmlns:m="http://schemas.openxmlformats.org/officeDocument/2006/math">
                    <m:r>
                      <a:rPr lang="en-US" b="0" i="0" smtClean="0">
                        <a:latin typeface="Cambria Math" panose="02040503050406030204" pitchFamily="18" charset="0"/>
                      </a:rPr>
                      <m:t>𝐷</m:t>
                    </m:r>
                    <m:r>
                      <a:rPr lang="en-US" b="0" i="0" smtClean="0">
                        <a:latin typeface="Cambria Math" panose="02040503050406030204" pitchFamily="18" charset="0"/>
                      </a:rPr>
                      <m:t>−</m:t>
                    </m:r>
                    <m:r>
                      <a:rPr lang="en-US" i="1">
                        <a:latin typeface="Cambria Math" panose="02040503050406030204" pitchFamily="18" charset="0"/>
                      </a:rPr>
                      <m:t>𝑃</m:t>
                    </m:r>
                  </m:oMath>
                </a14:m>
                <a:r>
                  <a:rPr lang="en-US" dirty="0">
                    <a:latin typeface="+mj-lt"/>
                  </a:rPr>
                  <a:t> dimensions a noise vector constant across a single graph</a:t>
                </a:r>
              </a:p>
              <a:p>
                <a:pPr lvl="1"/>
                <a:r>
                  <a:rPr lang="en-US" dirty="0">
                    <a:latin typeface="+mj-lt"/>
                  </a:rPr>
                  <a:t>Network layers only pointwise MLPs or (multi-head) attention</a:t>
                </a:r>
              </a:p>
              <a:p>
                <a:r>
                  <a:rPr lang="en-US" dirty="0">
                    <a:latin typeface="+mj-lt"/>
                  </a:rPr>
                  <a:t>Root, Trunk, Readout - modular generator architecture components </a:t>
                </a:r>
              </a:p>
            </p:txBody>
          </p:sp>
        </mc:Choice>
        <mc:Fallback>
          <p:sp>
            <p:nvSpPr>
              <p:cNvPr id="9" name="Content Placeholder 8">
                <a:extLst>
                  <a:ext uri="{FF2B5EF4-FFF2-40B4-BE49-F238E27FC236}">
                    <a16:creationId xmlns:a16="http://schemas.microsoft.com/office/drawing/2014/main" id="{6404063F-CBF1-8B58-C4DA-3FF13AA95E3F}"/>
                  </a:ext>
                </a:extLst>
              </p:cNvPr>
              <p:cNvSpPr>
                <a:spLocks noGrp="1" noRot="1" noChangeAspect="1" noMove="1" noResize="1" noEditPoints="1" noAdjustHandles="1" noChangeArrowheads="1" noChangeShapeType="1" noTextEdit="1"/>
              </p:cNvSpPr>
              <p:nvPr>
                <p:ph sz="half" idx="1"/>
              </p:nvPr>
            </p:nvSpPr>
            <p:spPr>
              <a:blipFill>
                <a:blip r:embed="rId3"/>
                <a:stretch>
                  <a:fillRect/>
                </a:stretch>
              </a:blipFill>
            </p:spPr>
            <p:txBody>
              <a:bodyPr/>
              <a:lstStyle/>
              <a:p>
                <a:r>
                  <a:rPr lang="en-GB">
                    <a:noFill/>
                  </a:rPr>
                  <a:t> </a:t>
                </a:r>
              </a:p>
            </p:txBody>
          </p:sp>
        </mc:Fallback>
      </mc:AlternateContent>
      <p:pic>
        <p:nvPicPr>
          <p:cNvPr id="4" name="Content Placeholder 3" descr="A diagram of a diagram&#10;&#10;AI-generated content may be incorrect.">
            <a:extLst>
              <a:ext uri="{FF2B5EF4-FFF2-40B4-BE49-F238E27FC236}">
                <a16:creationId xmlns:a16="http://schemas.microsoft.com/office/drawing/2014/main" id="{5D1FD8BC-A804-2EA4-A6E8-2822C353E7DC}"/>
              </a:ext>
            </a:extLst>
          </p:cNvPr>
          <p:cNvPicPr>
            <a:picLocks noGrp="1" noChangeAspect="1"/>
          </p:cNvPicPr>
          <p:nvPr>
            <p:ph sz="half" idx="2"/>
          </p:nvPr>
        </p:nvPicPr>
        <p:blipFill>
          <a:blip r:embed="rId4"/>
          <a:stretch>
            <a:fillRect/>
          </a:stretch>
        </p:blipFill>
        <p:spPr>
          <a:xfrm>
            <a:off x="4959350" y="2182228"/>
            <a:ext cx="3671888" cy="2026819"/>
          </a:xfrm>
        </p:spPr>
      </p:pic>
      <p:sp>
        <p:nvSpPr>
          <p:cNvPr id="8" name="Title 7">
            <a:extLst>
              <a:ext uri="{FF2B5EF4-FFF2-40B4-BE49-F238E27FC236}">
                <a16:creationId xmlns:a16="http://schemas.microsoft.com/office/drawing/2014/main" id="{49038022-3F64-EA3D-AA2C-AE270CD54C27}"/>
              </a:ext>
            </a:extLst>
          </p:cNvPr>
          <p:cNvSpPr>
            <a:spLocks noGrp="1"/>
          </p:cNvSpPr>
          <p:nvPr>
            <p:ph type="title"/>
          </p:nvPr>
        </p:nvSpPr>
        <p:spPr>
          <a:xfrm>
            <a:off x="904875" y="131032"/>
            <a:ext cx="7726363" cy="1072753"/>
          </a:xfrm>
        </p:spPr>
        <p:txBody>
          <a:bodyPr>
            <a:normAutofit/>
          </a:bodyPr>
          <a:lstStyle/>
          <a:p>
            <a:r>
              <a:rPr lang="en-US" dirty="0"/>
              <a:t>4.1	Geometric Graph Generation with CRPs</a:t>
            </a:r>
            <a:br>
              <a:rPr lang="en-US" dirty="0"/>
            </a:br>
            <a:r>
              <a:rPr lang="en-US" sz="2400" b="0" i="1" dirty="0"/>
              <a:t>Background - GG-GAN </a:t>
            </a:r>
            <a:r>
              <a:rPr lang="en-US" sz="2400" b="0" i="1" dirty="0">
                <a:solidFill>
                  <a:schemeClr val="accent1"/>
                </a:solidFill>
              </a:rPr>
              <a:t>[13]</a:t>
            </a:r>
            <a:endParaRPr lang="en-GB" sz="2400" b="0" i="1" dirty="0">
              <a:solidFill>
                <a:schemeClr val="accent1"/>
              </a:solidFill>
            </a:endParaRPr>
          </a:p>
        </p:txBody>
      </p:sp>
      <p:sp>
        <p:nvSpPr>
          <p:cNvPr id="5" name="Date Placeholder 4">
            <a:extLst>
              <a:ext uri="{FF2B5EF4-FFF2-40B4-BE49-F238E27FC236}">
                <a16:creationId xmlns:a16="http://schemas.microsoft.com/office/drawing/2014/main" id="{C9A297DD-A5BC-ACCA-9F47-CCA17738AC1C}"/>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70FE06D1-2534-A1F1-95F6-8EC944620858}"/>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5FAC12B5-6B02-8AD0-FD5C-E29A51D0FCAD}"/>
              </a:ext>
            </a:extLst>
          </p:cNvPr>
          <p:cNvSpPr>
            <a:spLocks noGrp="1"/>
          </p:cNvSpPr>
          <p:nvPr>
            <p:ph type="sldNum" sz="quarter" idx="12"/>
          </p:nvPr>
        </p:nvSpPr>
        <p:spPr/>
        <p:txBody>
          <a:bodyPr/>
          <a:lstStyle/>
          <a:p>
            <a:fld id="{E1E1CD7C-2161-7D43-862E-CE4C333CD873}" type="slidenum">
              <a:rPr lang="fr-FR" smtClean="0"/>
              <a:pPr/>
              <a:t>36</a:t>
            </a:fld>
            <a:endParaRPr lang="fr-FR" dirty="0"/>
          </a:p>
        </p:txBody>
      </p:sp>
    </p:spTree>
    <p:extLst>
      <p:ext uri="{BB962C8B-B14F-4D97-AF65-F5344CB8AC3E}">
        <p14:creationId xmlns:p14="http://schemas.microsoft.com/office/powerpoint/2010/main" val="8729585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2" dur="500"/>
                                        <p:tgtEl>
                                          <p:spTgt spid="9">
                                            <p:txEl>
                                              <p:pRg st="1" end="1"/>
                                            </p:txEl>
                                          </p:spTgt>
                                        </p:tgtEl>
                                      </p:cBhvr>
                                    </p:animEffect>
                                  </p:childTnLst>
                                </p:cTn>
                              </p:par>
                              <p:par>
                                <p:cTn id="13" presetID="14" presetClass="entr" presetSubtype="10" fill="hold" nodeType="withEffect">
                                  <p:stCondLst>
                                    <p:cond delay="0"/>
                                  </p:stCondLst>
                                  <p:childTnLst>
                                    <p:set>
                                      <p:cBhvr>
                                        <p:cTn id="14"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5" dur="500"/>
                                        <p:tgtEl>
                                          <p:spTgt spid="9">
                                            <p:txEl>
                                              <p:pRg st="2" end="2"/>
                                            </p:txEl>
                                          </p:spTgt>
                                        </p:tgtEl>
                                      </p:cBhvr>
                                    </p:animEffect>
                                  </p:childTnLst>
                                </p:cTn>
                              </p:par>
                              <p:par>
                                <p:cTn id="16" presetID="14" presetClass="entr" presetSubtype="10" fill="hold" nodeType="withEffect">
                                  <p:stCondLst>
                                    <p:cond delay="0"/>
                                  </p:stCondLst>
                                  <p:childTnLst>
                                    <p:set>
                                      <p:cBhvr>
                                        <p:cTn id="17"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8" dur="500"/>
                                        <p:tgtEl>
                                          <p:spTgt spid="9">
                                            <p:txEl>
                                              <p:pRg st="3" end="3"/>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4" presetClass="entr" presetSubtype="10" fill="hold" nodeType="clickEffect">
                                  <p:stCondLst>
                                    <p:cond delay="0"/>
                                  </p:stCondLst>
                                  <p:childTnLst>
                                    <p:set>
                                      <p:cBhvr>
                                        <p:cTn id="22" dur="1" fill="hold">
                                          <p:stCondLst>
                                            <p:cond delay="0"/>
                                          </p:stCondLst>
                                        </p:cTn>
                                        <p:tgtEl>
                                          <p:spTgt spid="9">
                                            <p:txEl>
                                              <p:pRg st="4" end="4"/>
                                            </p:txEl>
                                          </p:spTgt>
                                        </p:tgtEl>
                                        <p:attrNameLst>
                                          <p:attrName>style.visibility</p:attrName>
                                        </p:attrNameLst>
                                      </p:cBhvr>
                                      <p:to>
                                        <p:strVal val="visible"/>
                                      </p:to>
                                    </p:set>
                                    <p:animEffect transition="in" filter="randombar(horizontal)">
                                      <p:cBhvr>
                                        <p:cTn id="23" dur="500"/>
                                        <p:tgtEl>
                                          <p:spTgt spid="9">
                                            <p:txEl>
                                              <p:pRg st="4" end="4"/>
                                            </p:txEl>
                                          </p:spTgt>
                                        </p:tgtEl>
                                      </p:cBhvr>
                                    </p:animEffect>
                                  </p:childTnLst>
                                </p:cTn>
                              </p:par>
                              <p:par>
                                <p:cTn id="24" presetID="14" presetClass="entr" presetSubtype="10" fill="hold" nodeType="withEffect">
                                  <p:stCondLst>
                                    <p:cond delay="0"/>
                                  </p:stCondLst>
                                  <p:childTnLst>
                                    <p:set>
                                      <p:cBhvr>
                                        <p:cTn id="25" dur="1" fill="hold">
                                          <p:stCondLst>
                                            <p:cond delay="0"/>
                                          </p:stCondLst>
                                        </p:cTn>
                                        <p:tgtEl>
                                          <p:spTgt spid="4"/>
                                        </p:tgtEl>
                                        <p:attrNameLst>
                                          <p:attrName>style.visibility</p:attrName>
                                        </p:attrNameLst>
                                      </p:cBhvr>
                                      <p:to>
                                        <p:strVal val="visible"/>
                                      </p:to>
                                    </p:set>
                                    <p:animEffect transition="in" filter="randombar(horizontal)">
                                      <p:cBhvr>
                                        <p:cTn id="26"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A4E754-D13D-357B-F5A0-69CD469E722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Content Placeholder 8">
                <a:extLst>
                  <a:ext uri="{FF2B5EF4-FFF2-40B4-BE49-F238E27FC236}">
                    <a16:creationId xmlns:a16="http://schemas.microsoft.com/office/drawing/2014/main" id="{A3F8211D-DF9F-7F41-6F0F-95518073C575}"/>
                  </a:ext>
                </a:extLst>
              </p:cNvPr>
              <p:cNvSpPr>
                <a:spLocks noGrp="1"/>
              </p:cNvSpPr>
              <p:nvPr>
                <p:ph sz="half" idx="1"/>
              </p:nvPr>
            </p:nvSpPr>
            <p:spPr>
              <a:xfrm>
                <a:off x="904874" y="1563688"/>
                <a:ext cx="4194663" cy="3263504"/>
              </a:xfrm>
            </p:spPr>
            <p:txBody>
              <a:bodyPr anchor="ctr">
                <a:normAutofit fontScale="85000" lnSpcReduction="10000"/>
              </a:bodyPr>
              <a:lstStyle/>
              <a:p>
                <a:r>
                  <a:rPr lang="en-US" dirty="0">
                    <a:latin typeface="+mj-lt"/>
                  </a:rPr>
                  <a:t>Stochastic process within the space of integer partitions</a:t>
                </a:r>
              </a:p>
              <a:p>
                <a:pPr lvl="1"/>
                <a14:m>
                  <m:oMath xmlns:m="http://schemas.openxmlformats.org/officeDocument/2006/math">
                    <m:nary>
                      <m:naryPr>
                        <m:chr m:val="∑"/>
                        <m:ctrlPr>
                          <a:rPr lang="en-US" b="0" i="1" smtClean="0">
                            <a:latin typeface="Cambria Math" panose="02040503050406030204" pitchFamily="18" charset="0"/>
                          </a:rPr>
                        </m:ctrlPr>
                      </m:naryPr>
                      <m:sub>
                        <m:r>
                          <a:rPr lang="en-US" b="0" i="1" smtClean="0">
                            <a:latin typeface="Cambria Math" panose="02040503050406030204" pitchFamily="18" charset="0"/>
                          </a:rPr>
                          <m:t>𝑘</m:t>
                        </m:r>
                        <m:r>
                          <a:rPr lang="en-US" b="0" i="1" smtClean="0">
                            <a:latin typeface="Cambria Math" panose="02040503050406030204" pitchFamily="18" charset="0"/>
                          </a:rPr>
                          <m:t>=1</m:t>
                        </m:r>
                      </m:sub>
                      <m:sup>
                        <m:r>
                          <a:rPr lang="en-US" b="0" i="1" smtClean="0">
                            <a:latin typeface="Cambria Math" panose="02040503050406030204" pitchFamily="18" charset="0"/>
                          </a:rPr>
                          <m:t>𝐾</m:t>
                        </m:r>
                      </m:sup>
                      <m:e>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𝑘</m:t>
                            </m:r>
                          </m:sub>
                        </m:sSub>
                      </m:e>
                    </m:nary>
                    <m:r>
                      <a:rPr lang="en-US" b="0" i="1" smtClean="0">
                        <a:latin typeface="Cambria Math" panose="02040503050406030204" pitchFamily="18" charset="0"/>
                      </a:rPr>
                      <m:t>=</m:t>
                    </m:r>
                    <m:r>
                      <a:rPr lang="en-US" b="0" i="1" smtClean="0">
                        <a:latin typeface="Cambria Math" panose="02040503050406030204" pitchFamily="18" charset="0"/>
                      </a:rPr>
                      <m:t>𝑛</m:t>
                    </m:r>
                  </m:oMath>
                </a14:m>
                <a:endParaRPr lang="en-US" dirty="0">
                  <a:latin typeface="+mj-lt"/>
                </a:endParaRPr>
              </a:p>
              <a:p>
                <a:r>
                  <a:rPr lang="en-US" dirty="0">
                    <a:latin typeface="+mj-lt"/>
                  </a:rPr>
                  <a:t>Chinese restaurant analogy</a:t>
                </a:r>
              </a:p>
              <a:p>
                <a:pPr lvl="1"/>
                <a14:m>
                  <m:oMath xmlns:m="http://schemas.openxmlformats.org/officeDocument/2006/math">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𝑘</m:t>
                            </m:r>
                          </m:sub>
                        </m:sSub>
                      </m:num>
                      <m:den>
                        <m:r>
                          <a:rPr lang="en-US" b="0" i="1" smtClean="0">
                            <a:latin typeface="Cambria Math" panose="02040503050406030204" pitchFamily="18" charset="0"/>
                          </a:rPr>
                          <m:t>𝑛</m:t>
                        </m:r>
                      </m:den>
                    </m:f>
                  </m:oMath>
                </a14:m>
                <a:r>
                  <a:rPr lang="en-US" dirty="0">
                    <a:latin typeface="+mj-lt"/>
                  </a:rPr>
                  <a:t>  chance to sit at table </a:t>
                </a:r>
                <a14:m>
                  <m:oMath xmlns:m="http://schemas.openxmlformats.org/officeDocument/2006/math">
                    <m:r>
                      <a:rPr lang="en-US" i="1">
                        <a:latin typeface="Cambria Math" panose="02040503050406030204" pitchFamily="18" charset="0"/>
                      </a:rPr>
                      <m:t>𝑘</m:t>
                    </m:r>
                  </m:oMath>
                </a14:m>
                <a:r>
                  <a:rPr lang="en-US" dirty="0">
                    <a:latin typeface="+mj-lt"/>
                  </a:rPr>
                  <a:t> with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𝑘</m:t>
                        </m:r>
                      </m:sub>
                    </m:sSub>
                  </m:oMath>
                </a14:m>
                <a:r>
                  <a:rPr lang="en-US" dirty="0">
                    <a:latin typeface="+mj-lt"/>
                  </a:rPr>
                  <a:t> customers</a:t>
                </a:r>
              </a:p>
              <a:p>
                <a:pPr lvl="1"/>
                <a14:m>
                  <m:oMath xmlns:m="http://schemas.openxmlformats.org/officeDocument/2006/math">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𝑛</m:t>
                        </m:r>
                      </m:den>
                    </m:f>
                  </m:oMath>
                </a14:m>
                <a:r>
                  <a:rPr lang="en-US" dirty="0">
                    <a:latin typeface="+mj-lt"/>
                  </a:rPr>
                  <a:t> chance to sit alone at a new table labeled </a:t>
                </a:r>
                <a14:m>
                  <m:oMath xmlns:m="http://schemas.openxmlformats.org/officeDocument/2006/math">
                    <m:r>
                      <a:rPr lang="en-US" b="0" i="1" smtClean="0">
                        <a:latin typeface="Cambria Math" panose="02040503050406030204" pitchFamily="18" charset="0"/>
                      </a:rPr>
                      <m:t>𝐾</m:t>
                    </m:r>
                    <m:r>
                      <a:rPr lang="en-US" b="0" i="1" smtClean="0">
                        <a:latin typeface="Cambria Math" panose="02040503050406030204" pitchFamily="18" charset="0"/>
                      </a:rPr>
                      <m:t>+1</m:t>
                    </m:r>
                  </m:oMath>
                </a14:m>
                <a:endParaRPr lang="en-US" dirty="0">
                  <a:latin typeface="+mj-lt"/>
                </a:endParaRPr>
              </a:p>
              <a:p>
                <a:r>
                  <a:rPr lang="en-US" dirty="0">
                    <a:latin typeface="+mj-lt"/>
                  </a:rPr>
                  <a:t>Permutation invariant</a:t>
                </a:r>
              </a:p>
              <a:p>
                <a:pPr marL="342900" lvl="1"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ℙ</m:t>
                      </m:r>
                      <m:d>
                        <m:dPr>
                          <m:ctrlPr>
                            <a:rPr lang="en-US" b="0" i="1" smtClean="0">
                              <a:latin typeface="Cambria Math" panose="02040503050406030204" pitchFamily="18" charset="0"/>
                            </a:rPr>
                          </m:ctrlPr>
                        </m:dPr>
                        <m:e>
                          <m:r>
                            <m:rPr>
                              <m:lit/>
                            </m:rP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𝑘</m:t>
                              </m:r>
                            </m:sub>
                          </m:sSub>
                          <m:sSubSup>
                            <m:sSubSupPr>
                              <m:ctrlPr>
                                <a:rPr lang="en-US" b="0" i="1" smtClean="0">
                                  <a:latin typeface="Cambria Math" panose="02040503050406030204" pitchFamily="18" charset="0"/>
                                </a:rPr>
                              </m:ctrlPr>
                            </m:sSubSupPr>
                            <m:e>
                              <m:r>
                                <m:rPr>
                                  <m:lit/>
                                </m:rPr>
                                <a:rPr lang="en-US" b="0" i="1" smtClean="0">
                                  <a:latin typeface="Cambria Math" panose="02040503050406030204" pitchFamily="18" charset="0"/>
                                </a:rPr>
                                <m:t>}</m:t>
                              </m:r>
                            </m:e>
                            <m:sub>
                              <m:r>
                                <a:rPr lang="en-US" b="0" i="1" smtClean="0">
                                  <a:latin typeface="Cambria Math" panose="02040503050406030204" pitchFamily="18" charset="0"/>
                                </a:rPr>
                                <m:t>𝑘</m:t>
                              </m:r>
                              <m:r>
                                <a:rPr lang="en-US" b="0" i="1" smtClean="0">
                                  <a:latin typeface="Cambria Math" panose="02040503050406030204" pitchFamily="18" charset="0"/>
                                </a:rPr>
                                <m:t>=1</m:t>
                              </m:r>
                            </m:sub>
                            <m:sup>
                              <m:r>
                                <a:rPr lang="en-US" b="0" i="1" smtClean="0">
                                  <a:latin typeface="Cambria Math" panose="02040503050406030204" pitchFamily="18" charset="0"/>
                                </a:rPr>
                                <m:t>𝐾</m:t>
                              </m:r>
                            </m:sup>
                          </m:sSubSup>
                        </m:e>
                      </m:d>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𝑛</m:t>
                          </m:r>
                          <m:r>
                            <a:rPr lang="en-US" b="0" i="1" smtClean="0">
                              <a:latin typeface="Cambria Math" panose="02040503050406030204" pitchFamily="18" charset="0"/>
                            </a:rPr>
                            <m:t>!</m:t>
                          </m:r>
                        </m:den>
                      </m:f>
                      <m:nary>
                        <m:naryPr>
                          <m:chr m:val="∏"/>
                          <m:ctrlPr>
                            <a:rPr lang="en-US" b="0" i="1" smtClean="0">
                              <a:latin typeface="Cambria Math" panose="02040503050406030204" pitchFamily="18" charset="0"/>
                            </a:rPr>
                          </m:ctrlPr>
                        </m:naryPr>
                        <m:sub>
                          <m:r>
                            <a:rPr lang="en-US" b="0" i="1" smtClean="0">
                              <a:latin typeface="Cambria Math" panose="02040503050406030204" pitchFamily="18" charset="0"/>
                            </a:rPr>
                            <m:t>𝑘</m:t>
                          </m:r>
                          <m:r>
                            <a:rPr lang="en-US" b="0" i="1" smtClean="0">
                              <a:latin typeface="Cambria Math" panose="02040503050406030204" pitchFamily="18" charset="0"/>
                            </a:rPr>
                            <m:t>=1</m:t>
                          </m:r>
                        </m:sub>
                        <m:sup>
                          <m:r>
                            <a:rPr lang="en-US" b="0" i="1" smtClean="0">
                              <a:latin typeface="Cambria Math" panose="02040503050406030204" pitchFamily="18" charset="0"/>
                            </a:rPr>
                            <m:t>𝐾</m:t>
                          </m:r>
                        </m:sup>
                        <m:e>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𝑘</m:t>
                                  </m:r>
                                </m:sub>
                              </m:sSub>
                              <m:r>
                                <a:rPr lang="en-US" b="0" i="1" smtClean="0">
                                  <a:latin typeface="Cambria Math" panose="02040503050406030204" pitchFamily="18" charset="0"/>
                                </a:rPr>
                                <m:t>−1</m:t>
                              </m:r>
                            </m:e>
                          </m:d>
                          <m:r>
                            <a:rPr lang="en-US" b="0" i="1" smtClean="0">
                              <a:latin typeface="Cambria Math" panose="02040503050406030204" pitchFamily="18" charset="0"/>
                            </a:rPr>
                            <m:t>!</m:t>
                          </m:r>
                        </m:e>
                      </m:nary>
                    </m:oMath>
                  </m:oMathPara>
                </a14:m>
                <a:endParaRPr lang="en-US" dirty="0">
                  <a:latin typeface="+mj-lt"/>
                </a:endParaRPr>
              </a:p>
              <a:p>
                <a:r>
                  <a:rPr lang="en-US" dirty="0">
                    <a:latin typeface="+mj-lt"/>
                  </a:rPr>
                  <a:t>Graph generation application</a:t>
                </a:r>
              </a:p>
              <a:p>
                <a:pPr lvl="1"/>
                <a:r>
                  <a:rPr lang="en-US" dirty="0">
                    <a:latin typeface="+mj-lt"/>
                  </a:rPr>
                  <a:t>Customers </a:t>
                </a:r>
                <a14:m>
                  <m:oMath xmlns:m="http://schemas.openxmlformats.org/officeDocument/2006/math">
                    <m:r>
                      <a:rPr lang="en-US" b="0" i="1" smtClean="0">
                        <a:latin typeface="Cambria Math" panose="02040503050406030204" pitchFamily="18" charset="0"/>
                      </a:rPr>
                      <m:t>⇔ </m:t>
                    </m:r>
                  </m:oMath>
                </a14:m>
                <a:r>
                  <a:rPr lang="en-US" dirty="0">
                    <a:latin typeface="+mj-lt"/>
                  </a:rPr>
                  <a:t>nodes</a:t>
                </a:r>
              </a:p>
              <a:p>
                <a:pPr lvl="1"/>
                <a:r>
                  <a:rPr lang="en-US" dirty="0">
                    <a:latin typeface="+mj-lt"/>
                  </a:rPr>
                  <a:t>Tables </a:t>
                </a:r>
                <a14:m>
                  <m:oMath xmlns:m="http://schemas.openxmlformats.org/officeDocument/2006/math">
                    <m:r>
                      <a:rPr lang="en-US" i="1">
                        <a:latin typeface="Cambria Math" panose="02040503050406030204" pitchFamily="18" charset="0"/>
                      </a:rPr>
                      <m:t>⇔</m:t>
                    </m:r>
                  </m:oMath>
                </a14:m>
                <a:r>
                  <a:rPr lang="en-US" dirty="0">
                    <a:latin typeface="+mj-lt"/>
                  </a:rPr>
                  <a:t> communities</a:t>
                </a:r>
              </a:p>
            </p:txBody>
          </p:sp>
        </mc:Choice>
        <mc:Fallback xmlns="">
          <p:sp>
            <p:nvSpPr>
              <p:cNvPr id="9" name="Content Placeholder 8">
                <a:extLst>
                  <a:ext uri="{FF2B5EF4-FFF2-40B4-BE49-F238E27FC236}">
                    <a16:creationId xmlns:a16="http://schemas.microsoft.com/office/drawing/2014/main" id="{A3F8211D-DF9F-7F41-6F0F-95518073C575}"/>
                  </a:ext>
                </a:extLst>
              </p:cNvPr>
              <p:cNvSpPr>
                <a:spLocks noGrp="1" noRot="1" noChangeAspect="1" noMove="1" noResize="1" noEditPoints="1" noAdjustHandles="1" noChangeArrowheads="1" noChangeShapeType="1" noTextEdit="1"/>
              </p:cNvSpPr>
              <p:nvPr>
                <p:ph sz="half" idx="1"/>
              </p:nvPr>
            </p:nvSpPr>
            <p:spPr>
              <a:xfrm>
                <a:off x="904874" y="1563688"/>
                <a:ext cx="4194663" cy="3263504"/>
              </a:xfrm>
              <a:blipFill>
                <a:blip r:embed="rId3"/>
                <a:stretch>
                  <a:fillRect/>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6DFE3379-0C66-7A50-AD01-F5BD1549FE35}"/>
              </a:ext>
            </a:extLst>
          </p:cNvPr>
          <p:cNvSpPr>
            <a:spLocks noGrp="1"/>
          </p:cNvSpPr>
          <p:nvPr>
            <p:ph type="title"/>
          </p:nvPr>
        </p:nvSpPr>
        <p:spPr>
          <a:xfrm>
            <a:off x="904875" y="131032"/>
            <a:ext cx="7726363" cy="1072753"/>
          </a:xfrm>
        </p:spPr>
        <p:txBody>
          <a:bodyPr>
            <a:normAutofit/>
          </a:bodyPr>
          <a:lstStyle/>
          <a:p>
            <a:r>
              <a:rPr lang="en-US" dirty="0"/>
              <a:t>4.1	Geometric Graph Generation with CRPs</a:t>
            </a:r>
            <a:br>
              <a:rPr lang="en-US" dirty="0"/>
            </a:br>
            <a:r>
              <a:rPr lang="en-US" sz="2400" b="0" i="1" dirty="0"/>
              <a:t>Background - The Chinese Restaurant Process (CRP)</a:t>
            </a:r>
            <a:r>
              <a:rPr lang="en-US" sz="2400" b="0" dirty="0"/>
              <a:t> </a:t>
            </a:r>
            <a:r>
              <a:rPr lang="en-US" sz="2400" b="0" i="1" dirty="0">
                <a:solidFill>
                  <a:schemeClr val="accent1"/>
                </a:solidFill>
              </a:rPr>
              <a:t>[2]</a:t>
            </a:r>
            <a:r>
              <a:rPr lang="en-US" sz="2400" b="0" i="1" dirty="0"/>
              <a:t> </a:t>
            </a:r>
            <a:endParaRPr lang="en-GB" sz="2400" b="0" i="1" dirty="0"/>
          </a:p>
        </p:txBody>
      </p:sp>
      <p:sp>
        <p:nvSpPr>
          <p:cNvPr id="5" name="Date Placeholder 4">
            <a:extLst>
              <a:ext uri="{FF2B5EF4-FFF2-40B4-BE49-F238E27FC236}">
                <a16:creationId xmlns:a16="http://schemas.microsoft.com/office/drawing/2014/main" id="{D9D77E64-B2B5-B64B-5492-4E8310842BE5}"/>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10914C33-8D37-DDA9-D925-862415E86DC4}"/>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1A0A4DDC-5D12-B829-A6B7-4B7C03EE2E4D}"/>
              </a:ext>
            </a:extLst>
          </p:cNvPr>
          <p:cNvSpPr>
            <a:spLocks noGrp="1"/>
          </p:cNvSpPr>
          <p:nvPr>
            <p:ph type="sldNum" sz="quarter" idx="12"/>
          </p:nvPr>
        </p:nvSpPr>
        <p:spPr/>
        <p:txBody>
          <a:bodyPr/>
          <a:lstStyle/>
          <a:p>
            <a:fld id="{E1E1CD7C-2161-7D43-862E-CE4C333CD873}" type="slidenum">
              <a:rPr lang="fr-FR" smtClean="0"/>
              <a:pPr/>
              <a:t>37</a:t>
            </a:fld>
            <a:endParaRPr lang="fr-FR" dirty="0"/>
          </a:p>
        </p:txBody>
      </p:sp>
      <p:pic>
        <p:nvPicPr>
          <p:cNvPr id="1026" name="Picture 2" descr="Dirichlet processes. Where do people sit in a Chinese… | by Alberto  Arrigoni | Medium">
            <a:extLst>
              <a:ext uri="{FF2B5EF4-FFF2-40B4-BE49-F238E27FC236}">
                <a16:creationId xmlns:a16="http://schemas.microsoft.com/office/drawing/2014/main" id="{A28844D4-99D7-6CF3-EC45-6D38BE66A742}"/>
              </a:ext>
            </a:extLst>
          </p:cNvPr>
          <p:cNvPicPr>
            <a:picLocks noGrp="1" noChangeAspect="1" noChangeArrowheads="1"/>
          </p:cNvPicPr>
          <p:nvPr>
            <p:ph sz="half" idx="2"/>
          </p:nvPr>
        </p:nvPicPr>
        <p:blipFill>
          <a:blip r:embed="rId4">
            <a:extLst>
              <a:ext uri="{28A0092B-C50C-407E-A947-70E740481C1C}">
                <a14:useLocalDpi xmlns:a14="http://schemas.microsoft.com/office/drawing/2010/main" val="0"/>
              </a:ext>
            </a:extLst>
          </a:blip>
          <a:srcRect/>
          <a:stretch>
            <a:fillRect/>
          </a:stretch>
        </p:blipFill>
        <p:spPr bwMode="auto">
          <a:xfrm>
            <a:off x="4959350" y="2282133"/>
            <a:ext cx="3671888" cy="182701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595326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4" presetClass="entr" presetSubtype="10" fill="hold" nodeType="clickEffect">
                                  <p:stCondLst>
                                    <p:cond delay="0"/>
                                  </p:stCondLst>
                                  <p:childTnLst>
                                    <p:set>
                                      <p:cBhvr>
                                        <p:cTn id="14"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5" dur="500"/>
                                        <p:tgtEl>
                                          <p:spTgt spid="9">
                                            <p:txEl>
                                              <p:pRg st="2" end="2"/>
                                            </p:txEl>
                                          </p:spTgt>
                                        </p:tgtEl>
                                      </p:cBhvr>
                                    </p:animEffect>
                                  </p:childTnLst>
                                </p:cTn>
                              </p:par>
                              <p:par>
                                <p:cTn id="16" presetID="14" presetClass="entr" presetSubtype="10" fill="hold" nodeType="withEffect">
                                  <p:stCondLst>
                                    <p:cond delay="0"/>
                                  </p:stCondLst>
                                  <p:childTnLst>
                                    <p:set>
                                      <p:cBhvr>
                                        <p:cTn id="17"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8" dur="500"/>
                                        <p:tgtEl>
                                          <p:spTgt spid="9">
                                            <p:txEl>
                                              <p:pRg st="3" end="3"/>
                                            </p:txEl>
                                          </p:spTgt>
                                        </p:tgtEl>
                                      </p:cBhvr>
                                    </p:animEffect>
                                  </p:childTnLst>
                                </p:cTn>
                              </p:par>
                              <p:par>
                                <p:cTn id="19" presetID="14" presetClass="entr" presetSubtype="10" fill="hold" nodeType="withEffect">
                                  <p:stCondLst>
                                    <p:cond delay="0"/>
                                  </p:stCondLst>
                                  <p:childTnLst>
                                    <p:set>
                                      <p:cBhvr>
                                        <p:cTn id="20" dur="1" fill="hold">
                                          <p:stCondLst>
                                            <p:cond delay="0"/>
                                          </p:stCondLst>
                                        </p:cTn>
                                        <p:tgtEl>
                                          <p:spTgt spid="9">
                                            <p:txEl>
                                              <p:pRg st="4" end="4"/>
                                            </p:txEl>
                                          </p:spTgt>
                                        </p:tgtEl>
                                        <p:attrNameLst>
                                          <p:attrName>style.visibility</p:attrName>
                                        </p:attrNameLst>
                                      </p:cBhvr>
                                      <p:to>
                                        <p:strVal val="visible"/>
                                      </p:to>
                                    </p:set>
                                    <p:animEffect transition="in" filter="randombar(horizontal)">
                                      <p:cBhvr>
                                        <p:cTn id="21" dur="500"/>
                                        <p:tgtEl>
                                          <p:spTgt spid="9">
                                            <p:txEl>
                                              <p:pRg st="4" end="4"/>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1026"/>
                                        </p:tgtEl>
                                        <p:attrNameLst>
                                          <p:attrName>style.visibility</p:attrName>
                                        </p:attrNameLst>
                                      </p:cBhvr>
                                      <p:to>
                                        <p:strVal val="visible"/>
                                      </p:to>
                                    </p:set>
                                    <p:animEffect transition="in" filter="randombar(horizontal)">
                                      <p:cBhvr>
                                        <p:cTn id="24" dur="500"/>
                                        <p:tgtEl>
                                          <p:spTgt spid="1026"/>
                                        </p:tgtEl>
                                      </p:cBhvr>
                                    </p:animEffect>
                                  </p:childTnLst>
                                </p:cTn>
                              </p:par>
                            </p:childTnLst>
                          </p:cTn>
                        </p:par>
                      </p:childTnLst>
                    </p:cTn>
                  </p:par>
                  <p:par>
                    <p:cTn id="25" fill="hold">
                      <p:stCondLst>
                        <p:cond delay="indefinite"/>
                      </p:stCondLst>
                      <p:childTnLst>
                        <p:par>
                          <p:cTn id="26" fill="hold">
                            <p:stCondLst>
                              <p:cond delay="0"/>
                            </p:stCondLst>
                            <p:childTnLst>
                              <p:par>
                                <p:cTn id="27" presetID="14" presetClass="entr" presetSubtype="10" fill="hold" nodeType="clickEffect">
                                  <p:stCondLst>
                                    <p:cond delay="0"/>
                                  </p:stCondLst>
                                  <p:childTnLst>
                                    <p:set>
                                      <p:cBhvr>
                                        <p:cTn id="28"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9" dur="500"/>
                                        <p:tgtEl>
                                          <p:spTgt spid="9">
                                            <p:txEl>
                                              <p:pRg st="5" end="5"/>
                                            </p:txEl>
                                          </p:spTgt>
                                        </p:tgtEl>
                                      </p:cBhvr>
                                    </p:animEffect>
                                  </p:childTnLst>
                                </p:cTn>
                              </p:par>
                              <p:par>
                                <p:cTn id="30" presetID="14" presetClass="entr" presetSubtype="10" fill="hold" nodeType="withEffect">
                                  <p:stCondLst>
                                    <p:cond delay="0"/>
                                  </p:stCondLst>
                                  <p:childTnLst>
                                    <p:set>
                                      <p:cBhvr>
                                        <p:cTn id="31" dur="1" fill="hold">
                                          <p:stCondLst>
                                            <p:cond delay="0"/>
                                          </p:stCondLst>
                                        </p:cTn>
                                        <p:tgtEl>
                                          <p:spTgt spid="9">
                                            <p:txEl>
                                              <p:pRg st="6" end="6"/>
                                            </p:txEl>
                                          </p:spTgt>
                                        </p:tgtEl>
                                        <p:attrNameLst>
                                          <p:attrName>style.visibility</p:attrName>
                                        </p:attrNameLst>
                                      </p:cBhvr>
                                      <p:to>
                                        <p:strVal val="visible"/>
                                      </p:to>
                                    </p:set>
                                    <p:animEffect transition="in" filter="randombar(horizontal)">
                                      <p:cBhvr>
                                        <p:cTn id="32" dur="500"/>
                                        <p:tgtEl>
                                          <p:spTgt spid="9">
                                            <p:txEl>
                                              <p:pRg st="6" end="6"/>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4" presetClass="entr" presetSubtype="10" fill="hold" nodeType="clickEffect">
                                  <p:stCondLst>
                                    <p:cond delay="0"/>
                                  </p:stCondLst>
                                  <p:childTnLst>
                                    <p:set>
                                      <p:cBhvr>
                                        <p:cTn id="36"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7" dur="500"/>
                                        <p:tgtEl>
                                          <p:spTgt spid="9">
                                            <p:txEl>
                                              <p:pRg st="7" end="7"/>
                                            </p:txEl>
                                          </p:spTgt>
                                        </p:tgtEl>
                                      </p:cBhvr>
                                    </p:animEffect>
                                  </p:childTnLst>
                                </p:cTn>
                              </p:par>
                              <p:par>
                                <p:cTn id="38" presetID="14" presetClass="entr" presetSubtype="10" fill="hold" nodeType="withEffect">
                                  <p:stCondLst>
                                    <p:cond delay="0"/>
                                  </p:stCondLst>
                                  <p:childTnLst>
                                    <p:set>
                                      <p:cBhvr>
                                        <p:cTn id="39" dur="1" fill="hold">
                                          <p:stCondLst>
                                            <p:cond delay="0"/>
                                          </p:stCondLst>
                                        </p:cTn>
                                        <p:tgtEl>
                                          <p:spTgt spid="9">
                                            <p:txEl>
                                              <p:pRg st="8" end="8"/>
                                            </p:txEl>
                                          </p:spTgt>
                                        </p:tgtEl>
                                        <p:attrNameLst>
                                          <p:attrName>style.visibility</p:attrName>
                                        </p:attrNameLst>
                                      </p:cBhvr>
                                      <p:to>
                                        <p:strVal val="visible"/>
                                      </p:to>
                                    </p:set>
                                    <p:animEffect transition="in" filter="randombar(horizontal)">
                                      <p:cBhvr>
                                        <p:cTn id="40" dur="500"/>
                                        <p:tgtEl>
                                          <p:spTgt spid="9">
                                            <p:txEl>
                                              <p:pRg st="8" end="8"/>
                                            </p:txEl>
                                          </p:spTgt>
                                        </p:tgtEl>
                                      </p:cBhvr>
                                    </p:animEffect>
                                  </p:childTnLst>
                                </p:cTn>
                              </p:par>
                              <p:par>
                                <p:cTn id="41" presetID="14" presetClass="entr" presetSubtype="10" fill="hold" nodeType="withEffect">
                                  <p:stCondLst>
                                    <p:cond delay="0"/>
                                  </p:stCondLst>
                                  <p:childTnLst>
                                    <p:set>
                                      <p:cBhvr>
                                        <p:cTn id="42" dur="1" fill="hold">
                                          <p:stCondLst>
                                            <p:cond delay="0"/>
                                          </p:stCondLst>
                                        </p:cTn>
                                        <p:tgtEl>
                                          <p:spTgt spid="9">
                                            <p:txEl>
                                              <p:pRg st="9" end="9"/>
                                            </p:txEl>
                                          </p:spTgt>
                                        </p:tgtEl>
                                        <p:attrNameLst>
                                          <p:attrName>style.visibility</p:attrName>
                                        </p:attrNameLst>
                                      </p:cBhvr>
                                      <p:to>
                                        <p:strVal val="visible"/>
                                      </p:to>
                                    </p:set>
                                    <p:animEffect transition="in" filter="randombar(horizontal)">
                                      <p:cBhvr>
                                        <p:cTn id="43" dur="500"/>
                                        <p:tgtEl>
                                          <p:spTgt spid="9">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87C5EA-B415-28EA-62EA-FCE70046AF14}"/>
            </a:ext>
          </a:extLst>
        </p:cNvPr>
        <p:cNvGrpSpPr/>
        <p:nvPr/>
      </p:nvGrpSpPr>
      <p:grpSpPr>
        <a:xfrm>
          <a:off x="0" y="0"/>
          <a:ext cx="0" cy="0"/>
          <a:chOff x="0" y="0"/>
          <a:chExt cx="0" cy="0"/>
        </a:xfrm>
      </p:grpSpPr>
      <p:sp>
        <p:nvSpPr>
          <p:cNvPr id="9" name="Content Placeholder 8">
            <a:extLst>
              <a:ext uri="{FF2B5EF4-FFF2-40B4-BE49-F238E27FC236}">
                <a16:creationId xmlns:a16="http://schemas.microsoft.com/office/drawing/2014/main" id="{D49B4C93-0D7A-357E-BA3F-988CB057B50F}"/>
              </a:ext>
            </a:extLst>
          </p:cNvPr>
          <p:cNvSpPr>
            <a:spLocks noGrp="1"/>
          </p:cNvSpPr>
          <p:nvPr>
            <p:ph idx="1"/>
          </p:nvPr>
        </p:nvSpPr>
        <p:spPr/>
        <p:txBody>
          <a:bodyPr anchor="ctr">
            <a:normAutofit/>
          </a:bodyPr>
          <a:lstStyle/>
          <a:p>
            <a:r>
              <a:rPr lang="en-US" i="1" dirty="0">
                <a:latin typeface="+mj-lt"/>
              </a:rPr>
              <a:t>GGG-CRP: sample node-community assignment, then autoregressively generate graphs with GG-GAN, one community at a time</a:t>
            </a:r>
          </a:p>
          <a:p>
            <a:r>
              <a:rPr lang="en-US" dirty="0">
                <a:latin typeface="+mj-lt"/>
              </a:rPr>
              <a:t>Overlapping community detection</a:t>
            </a:r>
          </a:p>
          <a:p>
            <a:pPr lvl="1"/>
            <a:r>
              <a:rPr lang="en-US" dirty="0">
                <a:latin typeface="+mj-lt"/>
              </a:rPr>
              <a:t>Overlapping regions between communities will be refined multiple times</a:t>
            </a:r>
          </a:p>
          <a:p>
            <a:pPr lvl="1"/>
            <a:r>
              <a:rPr lang="en-US" dirty="0">
                <a:latin typeface="+mj-lt"/>
              </a:rPr>
              <a:t>Heuristic vs. matrix factorization methods</a:t>
            </a:r>
          </a:p>
          <a:p>
            <a:r>
              <a:rPr lang="en-US" dirty="0">
                <a:latin typeface="+mj-lt"/>
              </a:rPr>
              <a:t>Graph meta-variables </a:t>
            </a:r>
          </a:p>
          <a:p>
            <a:pPr lvl="1"/>
            <a:r>
              <a:rPr lang="en-US" dirty="0">
                <a:latin typeface="+mj-lt"/>
              </a:rPr>
              <a:t>Graph sizes, community sizes, overlapping region sizes…</a:t>
            </a:r>
          </a:p>
          <a:p>
            <a:pPr lvl="1"/>
            <a:r>
              <a:rPr lang="en-US" dirty="0">
                <a:latin typeface="+mj-lt"/>
              </a:rPr>
              <a:t>Required for partition sampling</a:t>
            </a:r>
          </a:p>
          <a:p>
            <a:pPr lvl="1"/>
            <a:r>
              <a:rPr lang="en-US" dirty="0">
                <a:latin typeface="+mj-lt"/>
              </a:rPr>
              <a:t>Estimated from data and sampled jointly from a categorical distribution</a:t>
            </a:r>
          </a:p>
        </p:txBody>
      </p:sp>
      <p:sp>
        <p:nvSpPr>
          <p:cNvPr id="8" name="Title 7">
            <a:extLst>
              <a:ext uri="{FF2B5EF4-FFF2-40B4-BE49-F238E27FC236}">
                <a16:creationId xmlns:a16="http://schemas.microsoft.com/office/drawing/2014/main" id="{24A7FF11-794A-9E00-A756-9356BCC3EBB9}"/>
              </a:ext>
            </a:extLst>
          </p:cNvPr>
          <p:cNvSpPr>
            <a:spLocks noGrp="1"/>
          </p:cNvSpPr>
          <p:nvPr>
            <p:ph type="title"/>
          </p:nvPr>
        </p:nvSpPr>
        <p:spPr>
          <a:xfrm>
            <a:off x="904875" y="131032"/>
            <a:ext cx="7207279" cy="1072753"/>
          </a:xfrm>
        </p:spPr>
        <p:txBody>
          <a:bodyPr>
            <a:normAutofit/>
          </a:bodyPr>
          <a:lstStyle/>
          <a:p>
            <a:r>
              <a:rPr lang="en-US" dirty="0"/>
              <a:t>4.1	Geometric Graph Generation with CRPs</a:t>
            </a:r>
            <a:br>
              <a:rPr lang="en-US" dirty="0"/>
            </a:br>
            <a:r>
              <a:rPr lang="en-US" sz="2400" b="0" i="1" dirty="0"/>
              <a:t>Methodology - Idea</a:t>
            </a:r>
            <a:endParaRPr lang="en-GB" sz="2400" b="0" i="1" dirty="0"/>
          </a:p>
        </p:txBody>
      </p:sp>
      <p:sp>
        <p:nvSpPr>
          <p:cNvPr id="5" name="Date Placeholder 4">
            <a:extLst>
              <a:ext uri="{FF2B5EF4-FFF2-40B4-BE49-F238E27FC236}">
                <a16:creationId xmlns:a16="http://schemas.microsoft.com/office/drawing/2014/main" id="{4648DF7A-0CB0-B210-468E-AEC86DA2C6C6}"/>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36BA7917-FCCA-C858-8FA8-7BDCC380B07C}"/>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CA161C4E-52A8-5E2B-C857-36D9EC3C22A4}"/>
              </a:ext>
            </a:extLst>
          </p:cNvPr>
          <p:cNvSpPr>
            <a:spLocks noGrp="1"/>
          </p:cNvSpPr>
          <p:nvPr>
            <p:ph type="sldNum" sz="quarter" idx="12"/>
          </p:nvPr>
        </p:nvSpPr>
        <p:spPr/>
        <p:txBody>
          <a:bodyPr/>
          <a:lstStyle/>
          <a:p>
            <a:fld id="{E1E1CD7C-2161-7D43-862E-CE4C333CD873}" type="slidenum">
              <a:rPr lang="fr-FR" smtClean="0"/>
              <a:pPr/>
              <a:t>38</a:t>
            </a:fld>
            <a:endParaRPr lang="fr-FR" dirty="0"/>
          </a:p>
        </p:txBody>
      </p:sp>
    </p:spTree>
    <p:extLst>
      <p:ext uri="{BB962C8B-B14F-4D97-AF65-F5344CB8AC3E}">
        <p14:creationId xmlns:p14="http://schemas.microsoft.com/office/powerpoint/2010/main" val="9659960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2" dur="500"/>
                                        <p:tgtEl>
                                          <p:spTgt spid="9">
                                            <p:txEl>
                                              <p:pRg st="1" end="1"/>
                                            </p:txEl>
                                          </p:spTgt>
                                        </p:tgtEl>
                                      </p:cBhvr>
                                    </p:animEffect>
                                  </p:childTnLst>
                                </p:cTn>
                              </p:par>
                              <p:par>
                                <p:cTn id="13" presetID="14" presetClass="entr" presetSubtype="10" fill="hold" nodeType="withEffect">
                                  <p:stCondLst>
                                    <p:cond delay="0"/>
                                  </p:stCondLst>
                                  <p:childTnLst>
                                    <p:set>
                                      <p:cBhvr>
                                        <p:cTn id="14"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5" dur="500"/>
                                        <p:tgtEl>
                                          <p:spTgt spid="9">
                                            <p:txEl>
                                              <p:pRg st="2" end="2"/>
                                            </p:txEl>
                                          </p:spTgt>
                                        </p:tgtEl>
                                      </p:cBhvr>
                                    </p:animEffect>
                                  </p:childTnLst>
                                </p:cTn>
                              </p:par>
                              <p:par>
                                <p:cTn id="16" presetID="14" presetClass="entr" presetSubtype="10" fill="hold" nodeType="withEffect">
                                  <p:stCondLst>
                                    <p:cond delay="0"/>
                                  </p:stCondLst>
                                  <p:childTnLst>
                                    <p:set>
                                      <p:cBhvr>
                                        <p:cTn id="17"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8" dur="500"/>
                                        <p:tgtEl>
                                          <p:spTgt spid="9">
                                            <p:txEl>
                                              <p:pRg st="3" end="3"/>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4" presetClass="entr" presetSubtype="10" fill="hold" nodeType="clickEffect">
                                  <p:stCondLst>
                                    <p:cond delay="0"/>
                                  </p:stCondLst>
                                  <p:childTnLst>
                                    <p:set>
                                      <p:cBhvr>
                                        <p:cTn id="22" dur="1" fill="hold">
                                          <p:stCondLst>
                                            <p:cond delay="0"/>
                                          </p:stCondLst>
                                        </p:cTn>
                                        <p:tgtEl>
                                          <p:spTgt spid="9">
                                            <p:txEl>
                                              <p:pRg st="4" end="4"/>
                                            </p:txEl>
                                          </p:spTgt>
                                        </p:tgtEl>
                                        <p:attrNameLst>
                                          <p:attrName>style.visibility</p:attrName>
                                        </p:attrNameLst>
                                      </p:cBhvr>
                                      <p:to>
                                        <p:strVal val="visible"/>
                                      </p:to>
                                    </p:set>
                                    <p:animEffect transition="in" filter="randombar(horizontal)">
                                      <p:cBhvr>
                                        <p:cTn id="23" dur="500"/>
                                        <p:tgtEl>
                                          <p:spTgt spid="9">
                                            <p:txEl>
                                              <p:pRg st="4" end="4"/>
                                            </p:txEl>
                                          </p:spTgt>
                                        </p:tgtEl>
                                      </p:cBhvr>
                                    </p:animEffect>
                                  </p:childTnLst>
                                </p:cTn>
                              </p:par>
                              <p:par>
                                <p:cTn id="24" presetID="14" presetClass="entr" presetSubtype="10" fill="hold" nodeType="withEffect">
                                  <p:stCondLst>
                                    <p:cond delay="0"/>
                                  </p:stCondLst>
                                  <p:childTnLst>
                                    <p:set>
                                      <p:cBhvr>
                                        <p:cTn id="25"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6" dur="500"/>
                                        <p:tgtEl>
                                          <p:spTgt spid="9">
                                            <p:txEl>
                                              <p:pRg st="5" end="5"/>
                                            </p:txEl>
                                          </p:spTgt>
                                        </p:tgtEl>
                                      </p:cBhvr>
                                    </p:animEffect>
                                  </p:childTnLst>
                                </p:cTn>
                              </p:par>
                              <p:par>
                                <p:cTn id="27" presetID="14" presetClass="entr" presetSubtype="10" fill="hold" nodeType="withEffect">
                                  <p:stCondLst>
                                    <p:cond delay="0"/>
                                  </p:stCondLst>
                                  <p:childTnLst>
                                    <p:set>
                                      <p:cBhvr>
                                        <p:cTn id="28" dur="1" fill="hold">
                                          <p:stCondLst>
                                            <p:cond delay="0"/>
                                          </p:stCondLst>
                                        </p:cTn>
                                        <p:tgtEl>
                                          <p:spTgt spid="9">
                                            <p:txEl>
                                              <p:pRg st="6" end="6"/>
                                            </p:txEl>
                                          </p:spTgt>
                                        </p:tgtEl>
                                        <p:attrNameLst>
                                          <p:attrName>style.visibility</p:attrName>
                                        </p:attrNameLst>
                                      </p:cBhvr>
                                      <p:to>
                                        <p:strVal val="visible"/>
                                      </p:to>
                                    </p:set>
                                    <p:animEffect transition="in" filter="randombar(horizontal)">
                                      <p:cBhvr>
                                        <p:cTn id="29" dur="500"/>
                                        <p:tgtEl>
                                          <p:spTgt spid="9">
                                            <p:txEl>
                                              <p:pRg st="6" end="6"/>
                                            </p:txEl>
                                          </p:spTgt>
                                        </p:tgtEl>
                                      </p:cBhvr>
                                    </p:animEffect>
                                  </p:childTnLst>
                                </p:cTn>
                              </p:par>
                              <p:par>
                                <p:cTn id="30" presetID="14" presetClass="entr" presetSubtype="10" fill="hold" nodeType="withEffect">
                                  <p:stCondLst>
                                    <p:cond delay="0"/>
                                  </p:stCondLst>
                                  <p:childTnLst>
                                    <p:set>
                                      <p:cBhvr>
                                        <p:cTn id="31"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2" dur="500"/>
                                        <p:tgtEl>
                                          <p:spTgt spid="9">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04ABB1-1F49-AF2E-710E-42A03D49C4AA}"/>
            </a:ext>
          </a:extLst>
        </p:cNvPr>
        <p:cNvGrpSpPr/>
        <p:nvPr/>
      </p:nvGrpSpPr>
      <p:grpSpPr>
        <a:xfrm>
          <a:off x="0" y="0"/>
          <a:ext cx="0" cy="0"/>
          <a:chOff x="0" y="0"/>
          <a:chExt cx="0" cy="0"/>
        </a:xfrm>
      </p:grpSpPr>
      <p:sp>
        <p:nvSpPr>
          <p:cNvPr id="9" name="Content Placeholder 8">
            <a:extLst>
              <a:ext uri="{FF2B5EF4-FFF2-40B4-BE49-F238E27FC236}">
                <a16:creationId xmlns:a16="http://schemas.microsoft.com/office/drawing/2014/main" id="{06AF33D7-7FA4-B55D-2476-493A468E38DC}"/>
              </a:ext>
            </a:extLst>
          </p:cNvPr>
          <p:cNvSpPr>
            <a:spLocks noGrp="1"/>
          </p:cNvSpPr>
          <p:nvPr>
            <p:ph sz="half" idx="1"/>
          </p:nvPr>
        </p:nvSpPr>
        <p:spPr>
          <a:xfrm>
            <a:off x="904875" y="1563688"/>
            <a:ext cx="3763840" cy="3263504"/>
          </a:xfrm>
        </p:spPr>
        <p:txBody>
          <a:bodyPr anchor="ctr">
            <a:normAutofit/>
          </a:bodyPr>
          <a:lstStyle/>
          <a:p>
            <a:r>
              <a:rPr lang="en-US" dirty="0">
                <a:latin typeface="+mj-lt"/>
              </a:rPr>
              <a:t>Node-to-community assignment matrices viewed as </a:t>
            </a:r>
            <a:r>
              <a:rPr lang="en-US" i="1" dirty="0">
                <a:latin typeface="+mj-lt"/>
              </a:rPr>
              <a:t>bipartite graphs</a:t>
            </a:r>
          </a:p>
          <a:p>
            <a:pPr lvl="1"/>
            <a:r>
              <a:rPr lang="en-US" dirty="0">
                <a:latin typeface="+mj-lt"/>
              </a:rPr>
              <a:t>Estimate separately the two degree distributions</a:t>
            </a:r>
          </a:p>
          <a:p>
            <a:pPr lvl="1"/>
            <a:r>
              <a:rPr lang="en-US" dirty="0">
                <a:latin typeface="+mj-lt"/>
              </a:rPr>
              <a:t>Sample graph then with configuration model, Havel-Hakimi </a:t>
            </a:r>
            <a:r>
              <a:rPr lang="en-US" dirty="0">
                <a:solidFill>
                  <a:schemeClr val="accent1"/>
                </a:solidFill>
                <a:latin typeface="+mj-lt"/>
              </a:rPr>
              <a:t>[1]</a:t>
            </a:r>
          </a:p>
          <a:p>
            <a:r>
              <a:rPr lang="en-US" dirty="0">
                <a:latin typeface="+mj-lt"/>
              </a:rPr>
              <a:t>Weighted integer partition sampling</a:t>
            </a:r>
          </a:p>
          <a:p>
            <a:pPr lvl="1"/>
            <a:r>
              <a:rPr lang="en-US" dirty="0" err="1">
                <a:latin typeface="+mj-lt"/>
              </a:rPr>
              <a:t>Fristedt’s</a:t>
            </a:r>
            <a:r>
              <a:rPr lang="en-US" dirty="0">
                <a:latin typeface="+mj-lt"/>
              </a:rPr>
              <a:t> method </a:t>
            </a:r>
            <a:r>
              <a:rPr lang="en-US" dirty="0">
                <a:solidFill>
                  <a:schemeClr val="accent1"/>
                </a:solidFill>
                <a:latin typeface="+mj-lt"/>
              </a:rPr>
              <a:t>[3]</a:t>
            </a:r>
            <a:r>
              <a:rPr lang="en-US" dirty="0">
                <a:latin typeface="+mj-lt"/>
              </a:rPr>
              <a:t> + rejection</a:t>
            </a:r>
          </a:p>
        </p:txBody>
      </p:sp>
      <p:pic>
        <p:nvPicPr>
          <p:cNvPr id="4" name="Content Placeholder 3" descr="A screenshot of a white sheet with black text&#10;&#10;AI-generated content may be incorrect.">
            <a:extLst>
              <a:ext uri="{FF2B5EF4-FFF2-40B4-BE49-F238E27FC236}">
                <a16:creationId xmlns:a16="http://schemas.microsoft.com/office/drawing/2014/main" id="{D39F9512-0054-0733-8CCF-91AF201E416F}"/>
              </a:ext>
            </a:extLst>
          </p:cNvPr>
          <p:cNvPicPr>
            <a:picLocks noGrp="1" noChangeAspect="1"/>
          </p:cNvPicPr>
          <p:nvPr>
            <p:ph sz="half" idx="2"/>
          </p:nvPr>
        </p:nvPicPr>
        <p:blipFill>
          <a:blip r:embed="rId3"/>
          <a:stretch>
            <a:fillRect/>
          </a:stretch>
        </p:blipFill>
        <p:spPr>
          <a:xfrm>
            <a:off x="4959350" y="2218417"/>
            <a:ext cx="3671888" cy="1954441"/>
          </a:xfrm>
        </p:spPr>
      </p:pic>
      <p:sp>
        <p:nvSpPr>
          <p:cNvPr id="8" name="Title 7">
            <a:extLst>
              <a:ext uri="{FF2B5EF4-FFF2-40B4-BE49-F238E27FC236}">
                <a16:creationId xmlns:a16="http://schemas.microsoft.com/office/drawing/2014/main" id="{9F27A272-8A80-360D-9DC7-1CCEF8B6D1E6}"/>
              </a:ext>
            </a:extLst>
          </p:cNvPr>
          <p:cNvSpPr>
            <a:spLocks noGrp="1"/>
          </p:cNvSpPr>
          <p:nvPr>
            <p:ph type="title"/>
          </p:nvPr>
        </p:nvSpPr>
        <p:spPr>
          <a:xfrm>
            <a:off x="904875" y="131032"/>
            <a:ext cx="7726363" cy="1072753"/>
          </a:xfrm>
        </p:spPr>
        <p:txBody>
          <a:bodyPr>
            <a:normAutofit/>
          </a:bodyPr>
          <a:lstStyle/>
          <a:p>
            <a:r>
              <a:rPr lang="en-US" dirty="0"/>
              <a:t>4.1	Geometric Graph Generation with CRPs</a:t>
            </a:r>
            <a:br>
              <a:rPr lang="en-US" dirty="0"/>
            </a:br>
            <a:r>
              <a:rPr lang="en-US" sz="2400" b="0" i="1" dirty="0"/>
              <a:t>Methodology - Community assignment sampling</a:t>
            </a:r>
            <a:endParaRPr lang="en-GB" sz="2400" b="0" i="1" dirty="0"/>
          </a:p>
        </p:txBody>
      </p:sp>
      <p:sp>
        <p:nvSpPr>
          <p:cNvPr id="5" name="Date Placeholder 4">
            <a:extLst>
              <a:ext uri="{FF2B5EF4-FFF2-40B4-BE49-F238E27FC236}">
                <a16:creationId xmlns:a16="http://schemas.microsoft.com/office/drawing/2014/main" id="{A727E99D-23BC-D360-1CD1-5B3CB06A76D3}"/>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0F523B42-6E45-9BC5-D8FB-F5855BAE194B}"/>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AB959025-CF91-1D88-EC19-CF0F855A303A}"/>
              </a:ext>
            </a:extLst>
          </p:cNvPr>
          <p:cNvSpPr>
            <a:spLocks noGrp="1"/>
          </p:cNvSpPr>
          <p:nvPr>
            <p:ph type="sldNum" sz="quarter" idx="12"/>
          </p:nvPr>
        </p:nvSpPr>
        <p:spPr/>
        <p:txBody>
          <a:bodyPr/>
          <a:lstStyle/>
          <a:p>
            <a:fld id="{E1E1CD7C-2161-7D43-862E-CE4C333CD873}" type="slidenum">
              <a:rPr lang="fr-FR" smtClean="0"/>
              <a:pPr/>
              <a:t>39</a:t>
            </a:fld>
            <a:endParaRPr lang="fr-FR" dirty="0"/>
          </a:p>
        </p:txBody>
      </p:sp>
    </p:spTree>
    <p:extLst>
      <p:ext uri="{BB962C8B-B14F-4D97-AF65-F5344CB8AC3E}">
        <p14:creationId xmlns:p14="http://schemas.microsoft.com/office/powerpoint/2010/main" val="41573390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randombar(horizontal)">
                                      <p:cBhvr>
                                        <p:cTn id="7" dur="500"/>
                                        <p:tgtEl>
                                          <p:spTgt spid="4"/>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0" end="0"/>
                                            </p:txEl>
                                          </p:spTgt>
                                        </p:tgtEl>
                                        <p:attrNameLst>
                                          <p:attrName>style.visibility</p:attrName>
                                        </p:attrNameLst>
                                      </p:cBhvr>
                                      <p:to>
                                        <p:strVal val="visible"/>
                                      </p:to>
                                    </p:set>
                                    <p:animEffect transition="in" filter="randombar(horizontal)">
                                      <p:cBhvr>
                                        <p:cTn id="10" dur="500"/>
                                        <p:tgtEl>
                                          <p:spTgt spid="9">
                                            <p:txEl>
                                              <p:pRg st="0" end="0"/>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3" dur="500"/>
                                        <p:tgtEl>
                                          <p:spTgt spid="9">
                                            <p:txEl>
                                              <p:pRg st="1" end="1"/>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6" dur="500"/>
                                        <p:tgtEl>
                                          <p:spTgt spid="9">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4" presetClass="entr" presetSubtype="10" fill="hold" nodeType="clickEffect">
                                  <p:stCondLst>
                                    <p:cond delay="0"/>
                                  </p:stCondLst>
                                  <p:childTnLst>
                                    <p:set>
                                      <p:cBhvr>
                                        <p:cTn id="20" dur="1" fill="hold">
                                          <p:stCondLst>
                                            <p:cond delay="0"/>
                                          </p:stCondLst>
                                        </p:cTn>
                                        <p:tgtEl>
                                          <p:spTgt spid="9">
                                            <p:txEl>
                                              <p:pRg st="3" end="3"/>
                                            </p:txEl>
                                          </p:spTgt>
                                        </p:tgtEl>
                                        <p:attrNameLst>
                                          <p:attrName>style.visibility</p:attrName>
                                        </p:attrNameLst>
                                      </p:cBhvr>
                                      <p:to>
                                        <p:strVal val="visible"/>
                                      </p:to>
                                    </p:set>
                                    <p:animEffect transition="in" filter="randombar(horizontal)">
                                      <p:cBhvr>
                                        <p:cTn id="21" dur="500"/>
                                        <p:tgtEl>
                                          <p:spTgt spid="9">
                                            <p:txEl>
                                              <p:pRg st="3" end="3"/>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9">
                                            <p:txEl>
                                              <p:pRg st="4" end="4"/>
                                            </p:txEl>
                                          </p:spTgt>
                                        </p:tgtEl>
                                        <p:attrNameLst>
                                          <p:attrName>style.visibility</p:attrName>
                                        </p:attrNameLst>
                                      </p:cBhvr>
                                      <p:to>
                                        <p:strVal val="visible"/>
                                      </p:to>
                                    </p:set>
                                    <p:animEffect transition="in" filter="randombar(horizontal)">
                                      <p:cBhvr>
                                        <p:cTn id="24" dur="500"/>
                                        <p:tgtEl>
                                          <p:spTgt spid="9">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C8A450-6D2E-C968-CA1C-404B9076AAA6}"/>
            </a:ext>
          </a:extLst>
        </p:cNvPr>
        <p:cNvGrpSpPr/>
        <p:nvPr/>
      </p:nvGrpSpPr>
      <p:grpSpPr>
        <a:xfrm>
          <a:off x="0" y="0"/>
          <a:ext cx="0" cy="0"/>
          <a:chOff x="0" y="0"/>
          <a:chExt cx="0" cy="0"/>
        </a:xfrm>
      </p:grpSpPr>
      <p:sp>
        <p:nvSpPr>
          <p:cNvPr id="9" name="Content Placeholder 8">
            <a:extLst>
              <a:ext uri="{FF2B5EF4-FFF2-40B4-BE49-F238E27FC236}">
                <a16:creationId xmlns:a16="http://schemas.microsoft.com/office/drawing/2014/main" id="{B36DD707-9911-BBB9-E500-8E170E2208E7}"/>
              </a:ext>
            </a:extLst>
          </p:cNvPr>
          <p:cNvSpPr>
            <a:spLocks noGrp="1"/>
          </p:cNvSpPr>
          <p:nvPr>
            <p:ph sz="half" idx="1"/>
          </p:nvPr>
        </p:nvSpPr>
        <p:spPr/>
        <p:txBody>
          <a:bodyPr anchor="ctr">
            <a:normAutofit/>
          </a:bodyPr>
          <a:lstStyle/>
          <a:p>
            <a:r>
              <a:rPr lang="en-US" dirty="0">
                <a:latin typeface="+mj-lt"/>
              </a:rPr>
              <a:t>Per-community latent features</a:t>
            </a:r>
          </a:p>
          <a:p>
            <a:r>
              <a:rPr lang="en-US" dirty="0">
                <a:latin typeface="+mj-lt"/>
              </a:rPr>
              <a:t>Autoregressive: edge readout conditioned on discriminator features of the previous graph state</a:t>
            </a:r>
          </a:p>
          <a:p>
            <a:r>
              <a:rPr lang="en-US" dirty="0">
                <a:latin typeface="+mj-lt"/>
              </a:rPr>
              <a:t>Scalable: per-community root, lower memory complexity</a:t>
            </a:r>
          </a:p>
          <a:p>
            <a:r>
              <a:rPr lang="en-US" dirty="0">
                <a:latin typeface="+mj-lt"/>
              </a:rPr>
              <a:t>Multi-level regularization: maximize discriminator’s likelihood for the coarsened graph as well</a:t>
            </a:r>
          </a:p>
        </p:txBody>
      </p:sp>
      <p:sp>
        <p:nvSpPr>
          <p:cNvPr id="8" name="Title 7">
            <a:extLst>
              <a:ext uri="{FF2B5EF4-FFF2-40B4-BE49-F238E27FC236}">
                <a16:creationId xmlns:a16="http://schemas.microsoft.com/office/drawing/2014/main" id="{29E53C64-BA92-230B-C6F1-9921D6B7052F}"/>
              </a:ext>
            </a:extLst>
          </p:cNvPr>
          <p:cNvSpPr>
            <a:spLocks noGrp="1"/>
          </p:cNvSpPr>
          <p:nvPr>
            <p:ph type="title"/>
          </p:nvPr>
        </p:nvSpPr>
        <p:spPr>
          <a:xfrm>
            <a:off x="904875" y="131032"/>
            <a:ext cx="7726363" cy="1072753"/>
          </a:xfrm>
        </p:spPr>
        <p:txBody>
          <a:bodyPr>
            <a:normAutofit/>
          </a:bodyPr>
          <a:lstStyle/>
          <a:p>
            <a:r>
              <a:rPr lang="en-US" dirty="0"/>
              <a:t>4.1	Geometric Graph Generation with CRPs</a:t>
            </a:r>
            <a:br>
              <a:rPr lang="en-US" dirty="0"/>
            </a:br>
            <a:r>
              <a:rPr lang="en-US" sz="2400" b="0" i="1" dirty="0"/>
              <a:t>Methodology - GGG-CRP  autoregressive process</a:t>
            </a:r>
            <a:endParaRPr lang="en-GB" sz="2400" b="0" i="1" dirty="0"/>
          </a:p>
        </p:txBody>
      </p:sp>
      <p:sp>
        <p:nvSpPr>
          <p:cNvPr id="5" name="Date Placeholder 4">
            <a:extLst>
              <a:ext uri="{FF2B5EF4-FFF2-40B4-BE49-F238E27FC236}">
                <a16:creationId xmlns:a16="http://schemas.microsoft.com/office/drawing/2014/main" id="{0068570E-C7C1-5D2D-9CD6-127B0D65583E}"/>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423DDE5B-7BAF-8A1D-1447-934388B1ACE7}"/>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2C54DCF6-86CD-1CD8-97CA-57CBCFC5E3A3}"/>
              </a:ext>
            </a:extLst>
          </p:cNvPr>
          <p:cNvSpPr>
            <a:spLocks noGrp="1"/>
          </p:cNvSpPr>
          <p:nvPr>
            <p:ph type="sldNum" sz="quarter" idx="12"/>
          </p:nvPr>
        </p:nvSpPr>
        <p:spPr/>
        <p:txBody>
          <a:bodyPr/>
          <a:lstStyle/>
          <a:p>
            <a:fld id="{E1E1CD7C-2161-7D43-862E-CE4C333CD873}" type="slidenum">
              <a:rPr lang="fr-FR" smtClean="0"/>
              <a:pPr/>
              <a:t>40</a:t>
            </a:fld>
            <a:endParaRPr lang="fr-FR" dirty="0"/>
          </a:p>
        </p:txBody>
      </p:sp>
      <p:pic>
        <p:nvPicPr>
          <p:cNvPr id="11" name="Content Placeholder 10" descr="A white paper with black text and black text&#10;&#10;AI-generated content may be incorrect.">
            <a:extLst>
              <a:ext uri="{FF2B5EF4-FFF2-40B4-BE49-F238E27FC236}">
                <a16:creationId xmlns:a16="http://schemas.microsoft.com/office/drawing/2014/main" id="{129DEC79-F49B-0CBA-2CA1-C706CD78D9DF}"/>
              </a:ext>
            </a:extLst>
          </p:cNvPr>
          <p:cNvPicPr>
            <a:picLocks noGrp="1" noChangeAspect="1"/>
          </p:cNvPicPr>
          <p:nvPr>
            <p:ph sz="half" idx="2"/>
          </p:nvPr>
        </p:nvPicPr>
        <p:blipFill>
          <a:blip r:embed="rId3"/>
          <a:stretch>
            <a:fillRect/>
          </a:stretch>
        </p:blipFill>
        <p:spPr>
          <a:xfrm>
            <a:off x="4959350" y="2058449"/>
            <a:ext cx="3671888" cy="2274378"/>
          </a:xfrm>
        </p:spPr>
      </p:pic>
    </p:spTree>
    <p:extLst>
      <p:ext uri="{BB962C8B-B14F-4D97-AF65-F5344CB8AC3E}">
        <p14:creationId xmlns:p14="http://schemas.microsoft.com/office/powerpoint/2010/main" val="38864412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randombar(horizontal)">
                                      <p:cBhvr>
                                        <p:cTn id="7" dur="500"/>
                                        <p:tgtEl>
                                          <p:spTgt spid="11"/>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9">
                                            <p:txEl>
                                              <p:pRg st="0" end="0"/>
                                            </p:txEl>
                                          </p:spTgt>
                                        </p:tgtEl>
                                        <p:attrNameLst>
                                          <p:attrName>style.visibility</p:attrName>
                                        </p:attrNameLst>
                                      </p:cBhvr>
                                      <p:to>
                                        <p:strVal val="visible"/>
                                      </p:to>
                                    </p:set>
                                    <p:animEffect transition="in" filter="randombar(horizontal)">
                                      <p:cBhvr>
                                        <p:cTn id="12" dur="500"/>
                                        <p:tgtEl>
                                          <p:spTgt spid="9">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4" presetClass="entr" presetSubtype="10" fill="hold" nodeType="clickEffect">
                                  <p:stCondLst>
                                    <p:cond delay="0"/>
                                  </p:stCondLst>
                                  <p:childTnLst>
                                    <p:set>
                                      <p:cBhvr>
                                        <p:cTn id="16"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7" dur="500"/>
                                        <p:tgtEl>
                                          <p:spTgt spid="9">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4" presetClass="entr" presetSubtype="10" fill="hold" nodeType="clickEffect">
                                  <p:stCondLst>
                                    <p:cond delay="0"/>
                                  </p:stCondLst>
                                  <p:childTnLst>
                                    <p:set>
                                      <p:cBhvr>
                                        <p:cTn id="21" dur="1" fill="hold">
                                          <p:stCondLst>
                                            <p:cond delay="0"/>
                                          </p:stCondLst>
                                        </p:cTn>
                                        <p:tgtEl>
                                          <p:spTgt spid="9">
                                            <p:txEl>
                                              <p:pRg st="2" end="2"/>
                                            </p:txEl>
                                          </p:spTgt>
                                        </p:tgtEl>
                                        <p:attrNameLst>
                                          <p:attrName>style.visibility</p:attrName>
                                        </p:attrNameLst>
                                      </p:cBhvr>
                                      <p:to>
                                        <p:strVal val="visible"/>
                                      </p:to>
                                    </p:set>
                                    <p:animEffect transition="in" filter="randombar(horizontal)">
                                      <p:cBhvr>
                                        <p:cTn id="22" dur="500"/>
                                        <p:tgtEl>
                                          <p:spTgt spid="9">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4" presetClass="entr" presetSubtype="10" fill="hold" nodeType="clickEffect">
                                  <p:stCondLst>
                                    <p:cond delay="0"/>
                                  </p:stCondLst>
                                  <p:childTnLst>
                                    <p:set>
                                      <p:cBhvr>
                                        <p:cTn id="26" dur="1" fill="hold">
                                          <p:stCondLst>
                                            <p:cond delay="0"/>
                                          </p:stCondLst>
                                        </p:cTn>
                                        <p:tgtEl>
                                          <p:spTgt spid="9">
                                            <p:txEl>
                                              <p:pRg st="3" end="3"/>
                                            </p:txEl>
                                          </p:spTgt>
                                        </p:tgtEl>
                                        <p:attrNameLst>
                                          <p:attrName>style.visibility</p:attrName>
                                        </p:attrNameLst>
                                      </p:cBhvr>
                                      <p:to>
                                        <p:strVal val="visible"/>
                                      </p:to>
                                    </p:set>
                                    <p:animEffect transition="in" filter="randombar(horizontal)">
                                      <p:cBhvr>
                                        <p:cTn id="27" dur="500"/>
                                        <p:tgtEl>
                                          <p:spTgt spid="9">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F460D3-3BBE-9BA3-5F92-E029FBA4006C}"/>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AAF42C73-BAE4-BB18-DCEE-78910853A5CA}"/>
              </a:ext>
            </a:extLst>
          </p:cNvPr>
          <p:cNvSpPr>
            <a:spLocks noGrp="1"/>
          </p:cNvSpPr>
          <p:nvPr>
            <p:ph type="title"/>
          </p:nvPr>
        </p:nvSpPr>
        <p:spPr>
          <a:xfrm>
            <a:off x="904875" y="131032"/>
            <a:ext cx="7726363" cy="1072753"/>
          </a:xfrm>
        </p:spPr>
        <p:txBody>
          <a:bodyPr>
            <a:normAutofit/>
          </a:bodyPr>
          <a:lstStyle/>
          <a:p>
            <a:r>
              <a:rPr lang="en-US" dirty="0"/>
              <a:t>4.1	Geometric Graph Generation with CRPs</a:t>
            </a:r>
            <a:br>
              <a:rPr lang="en-US" dirty="0"/>
            </a:br>
            <a:r>
              <a:rPr lang="en-US" sz="2400" b="0" i="1" dirty="0"/>
              <a:t>Results - Expressivity</a:t>
            </a:r>
            <a:endParaRPr lang="en-GB" sz="2400" b="0" i="1" dirty="0"/>
          </a:p>
        </p:txBody>
      </p:sp>
      <p:sp>
        <p:nvSpPr>
          <p:cNvPr id="5" name="Date Placeholder 4">
            <a:extLst>
              <a:ext uri="{FF2B5EF4-FFF2-40B4-BE49-F238E27FC236}">
                <a16:creationId xmlns:a16="http://schemas.microsoft.com/office/drawing/2014/main" id="{927F9BCC-0E11-AF2F-D90B-4C8B9B218B03}"/>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73624098-121E-7176-38F6-E14155BE0059}"/>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39843E42-C3FD-22B2-5F49-1FC4940AC0DC}"/>
              </a:ext>
            </a:extLst>
          </p:cNvPr>
          <p:cNvSpPr>
            <a:spLocks noGrp="1"/>
          </p:cNvSpPr>
          <p:nvPr>
            <p:ph type="sldNum" sz="quarter" idx="12"/>
          </p:nvPr>
        </p:nvSpPr>
        <p:spPr/>
        <p:txBody>
          <a:bodyPr/>
          <a:lstStyle/>
          <a:p>
            <a:fld id="{E1E1CD7C-2161-7D43-862E-CE4C333CD873}" type="slidenum">
              <a:rPr lang="fr-FR" smtClean="0"/>
              <a:pPr/>
              <a:t>41</a:t>
            </a:fld>
            <a:endParaRPr lang="fr-FR" dirty="0"/>
          </a:p>
        </p:txBody>
      </p:sp>
      <p:pic>
        <p:nvPicPr>
          <p:cNvPr id="10" name="Content Placeholder 9" descr="A table of numbers and symbols&#10;&#10;AI-generated content may be incorrect.">
            <a:extLst>
              <a:ext uri="{FF2B5EF4-FFF2-40B4-BE49-F238E27FC236}">
                <a16:creationId xmlns:a16="http://schemas.microsoft.com/office/drawing/2014/main" id="{2D5721ED-DCC6-D97E-AE21-62960B557B4F}"/>
              </a:ext>
            </a:extLst>
          </p:cNvPr>
          <p:cNvPicPr>
            <a:picLocks noGrp="1" noChangeAspect="1"/>
          </p:cNvPicPr>
          <p:nvPr>
            <p:ph idx="1"/>
          </p:nvPr>
        </p:nvPicPr>
        <p:blipFill>
          <a:blip r:embed="rId3"/>
          <a:stretch>
            <a:fillRect/>
          </a:stretch>
        </p:blipFill>
        <p:spPr>
          <a:xfrm>
            <a:off x="904875" y="1837012"/>
            <a:ext cx="7726363" cy="2839488"/>
          </a:xfrm>
        </p:spPr>
      </p:pic>
    </p:spTree>
    <p:extLst>
      <p:ext uri="{BB962C8B-B14F-4D97-AF65-F5344CB8AC3E}">
        <p14:creationId xmlns:p14="http://schemas.microsoft.com/office/powerpoint/2010/main" val="28974941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randombar(horizontal)">
                                      <p:cBhvr>
                                        <p:cTn id="7"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50180D-57E9-E9DE-64B4-6D961A025E9E}"/>
            </a:ext>
          </a:extLst>
        </p:cNvPr>
        <p:cNvGrpSpPr/>
        <p:nvPr/>
      </p:nvGrpSpPr>
      <p:grpSpPr>
        <a:xfrm>
          <a:off x="0" y="0"/>
          <a:ext cx="0" cy="0"/>
          <a:chOff x="0" y="0"/>
          <a:chExt cx="0" cy="0"/>
        </a:xfrm>
      </p:grpSpPr>
      <p:pic>
        <p:nvPicPr>
          <p:cNvPr id="12" name="Content Placeholder 11" descr="A screenshot of a graph&#10;&#10;AI-generated content may be incorrect.">
            <a:extLst>
              <a:ext uri="{FF2B5EF4-FFF2-40B4-BE49-F238E27FC236}">
                <a16:creationId xmlns:a16="http://schemas.microsoft.com/office/drawing/2014/main" id="{13B7E177-9244-DE33-E498-F3A8310C500F}"/>
              </a:ext>
            </a:extLst>
          </p:cNvPr>
          <p:cNvPicPr>
            <a:picLocks noGrp="1" noChangeAspect="1"/>
          </p:cNvPicPr>
          <p:nvPr>
            <p:ph sz="half" idx="1"/>
          </p:nvPr>
        </p:nvPicPr>
        <p:blipFill>
          <a:blip r:embed="rId3"/>
          <a:stretch>
            <a:fillRect/>
          </a:stretch>
        </p:blipFill>
        <p:spPr>
          <a:xfrm>
            <a:off x="904875" y="2194469"/>
            <a:ext cx="3671888" cy="2002338"/>
          </a:xfrm>
        </p:spPr>
      </p:pic>
      <p:pic>
        <p:nvPicPr>
          <p:cNvPr id="14" name="Content Placeholder 13" descr="A screenshot of a computer&#10;&#10;AI-generated content may be incorrect.">
            <a:extLst>
              <a:ext uri="{FF2B5EF4-FFF2-40B4-BE49-F238E27FC236}">
                <a16:creationId xmlns:a16="http://schemas.microsoft.com/office/drawing/2014/main" id="{5A3B1C34-ED60-1CF7-D101-951268727A55}"/>
              </a:ext>
            </a:extLst>
          </p:cNvPr>
          <p:cNvPicPr>
            <a:picLocks noGrp="1" noChangeAspect="1"/>
          </p:cNvPicPr>
          <p:nvPr>
            <p:ph sz="half" idx="2"/>
          </p:nvPr>
        </p:nvPicPr>
        <p:blipFill>
          <a:blip r:embed="rId4"/>
          <a:stretch>
            <a:fillRect/>
          </a:stretch>
        </p:blipFill>
        <p:spPr>
          <a:xfrm>
            <a:off x="4959350" y="2194469"/>
            <a:ext cx="3671888" cy="2002338"/>
          </a:xfrm>
        </p:spPr>
      </p:pic>
      <p:sp>
        <p:nvSpPr>
          <p:cNvPr id="8" name="Title 7">
            <a:extLst>
              <a:ext uri="{FF2B5EF4-FFF2-40B4-BE49-F238E27FC236}">
                <a16:creationId xmlns:a16="http://schemas.microsoft.com/office/drawing/2014/main" id="{B319BCDD-C216-9D3A-E6BD-8B79FAAC69C4}"/>
              </a:ext>
            </a:extLst>
          </p:cNvPr>
          <p:cNvSpPr>
            <a:spLocks noGrp="1"/>
          </p:cNvSpPr>
          <p:nvPr>
            <p:ph type="title"/>
          </p:nvPr>
        </p:nvSpPr>
        <p:spPr>
          <a:xfrm>
            <a:off x="904875" y="131032"/>
            <a:ext cx="7726363" cy="1072753"/>
          </a:xfrm>
        </p:spPr>
        <p:txBody>
          <a:bodyPr>
            <a:normAutofit/>
          </a:bodyPr>
          <a:lstStyle/>
          <a:p>
            <a:r>
              <a:rPr lang="en-US" dirty="0"/>
              <a:t>4.1	Geometric Graph Generation with CRPs</a:t>
            </a:r>
            <a:br>
              <a:rPr lang="en-US" dirty="0"/>
            </a:br>
            <a:r>
              <a:rPr lang="en-US" sz="2400" b="0" i="1" dirty="0"/>
              <a:t>Results - Expressivity</a:t>
            </a:r>
            <a:endParaRPr lang="en-GB" sz="2400" b="0" i="1" dirty="0"/>
          </a:p>
        </p:txBody>
      </p:sp>
      <p:sp>
        <p:nvSpPr>
          <p:cNvPr id="5" name="Date Placeholder 4">
            <a:extLst>
              <a:ext uri="{FF2B5EF4-FFF2-40B4-BE49-F238E27FC236}">
                <a16:creationId xmlns:a16="http://schemas.microsoft.com/office/drawing/2014/main" id="{248BE4E6-1668-150D-4A15-B8555C6843F6}"/>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DCF1394F-D29F-0570-1FC7-AD33F5082250}"/>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CDC89C09-1F9F-C872-14D7-7E11867C95B2}"/>
              </a:ext>
            </a:extLst>
          </p:cNvPr>
          <p:cNvSpPr>
            <a:spLocks noGrp="1"/>
          </p:cNvSpPr>
          <p:nvPr>
            <p:ph type="sldNum" sz="quarter" idx="12"/>
          </p:nvPr>
        </p:nvSpPr>
        <p:spPr/>
        <p:txBody>
          <a:bodyPr/>
          <a:lstStyle/>
          <a:p>
            <a:fld id="{E1E1CD7C-2161-7D43-862E-CE4C333CD873}" type="slidenum">
              <a:rPr lang="fr-FR" smtClean="0"/>
              <a:pPr/>
              <a:t>42</a:t>
            </a:fld>
            <a:endParaRPr lang="fr-FR" dirty="0"/>
          </a:p>
        </p:txBody>
      </p:sp>
    </p:spTree>
    <p:extLst>
      <p:ext uri="{BB962C8B-B14F-4D97-AF65-F5344CB8AC3E}">
        <p14:creationId xmlns:p14="http://schemas.microsoft.com/office/powerpoint/2010/main" val="6780075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randombar(horizontal)">
                                      <p:cBhvr>
                                        <p:cTn id="7" dur="500"/>
                                        <p:tgtEl>
                                          <p:spTgt spid="12"/>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14"/>
                                        </p:tgtEl>
                                        <p:attrNameLst>
                                          <p:attrName>style.visibility</p:attrName>
                                        </p:attrNameLst>
                                      </p:cBhvr>
                                      <p:to>
                                        <p:strVal val="visible"/>
                                      </p:to>
                                    </p:set>
                                    <p:animEffect transition="in" filter="randombar(horizontal)">
                                      <p:cBhvr>
                                        <p:cTn id="12"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739D82-87E7-6B25-EC19-919A86C21CF9}"/>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08251865-2F10-A7BF-2487-FD53C093CF6E}"/>
              </a:ext>
            </a:extLst>
          </p:cNvPr>
          <p:cNvSpPr>
            <a:spLocks noGrp="1"/>
          </p:cNvSpPr>
          <p:nvPr>
            <p:ph type="title"/>
          </p:nvPr>
        </p:nvSpPr>
        <p:spPr>
          <a:xfrm>
            <a:off x="904875" y="131032"/>
            <a:ext cx="7726363" cy="1072753"/>
          </a:xfrm>
        </p:spPr>
        <p:txBody>
          <a:bodyPr>
            <a:normAutofit/>
          </a:bodyPr>
          <a:lstStyle/>
          <a:p>
            <a:r>
              <a:rPr lang="en-US" dirty="0"/>
              <a:t>4.1	Geometric Graph Generation with CRPs</a:t>
            </a:r>
            <a:br>
              <a:rPr lang="en-US" dirty="0"/>
            </a:br>
            <a:r>
              <a:rPr lang="en-US" sz="2400" b="0" i="1" dirty="0"/>
              <a:t>Results - Novelty</a:t>
            </a:r>
            <a:endParaRPr lang="en-GB" sz="2400" b="0" i="1" dirty="0"/>
          </a:p>
        </p:txBody>
      </p:sp>
      <p:sp>
        <p:nvSpPr>
          <p:cNvPr id="5" name="Date Placeholder 4">
            <a:extLst>
              <a:ext uri="{FF2B5EF4-FFF2-40B4-BE49-F238E27FC236}">
                <a16:creationId xmlns:a16="http://schemas.microsoft.com/office/drawing/2014/main" id="{5C5C3173-BF19-7C03-092A-E40DED7E7FBD}"/>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F230CB26-AAB6-B779-235F-60A0FFAA9DFD}"/>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FE3E9311-CE96-A594-D85E-33F4A19249C7}"/>
              </a:ext>
            </a:extLst>
          </p:cNvPr>
          <p:cNvSpPr>
            <a:spLocks noGrp="1"/>
          </p:cNvSpPr>
          <p:nvPr>
            <p:ph type="sldNum" sz="quarter" idx="12"/>
          </p:nvPr>
        </p:nvSpPr>
        <p:spPr/>
        <p:txBody>
          <a:bodyPr/>
          <a:lstStyle/>
          <a:p>
            <a:fld id="{E1E1CD7C-2161-7D43-862E-CE4C333CD873}" type="slidenum">
              <a:rPr lang="fr-FR" smtClean="0"/>
              <a:pPr/>
              <a:t>43</a:t>
            </a:fld>
            <a:endParaRPr lang="fr-FR" dirty="0"/>
          </a:p>
        </p:txBody>
      </p:sp>
      <p:pic>
        <p:nvPicPr>
          <p:cNvPr id="9" name="Content Placeholder 8" descr="A white rectangular object with black text&#10;&#10;AI-generated content may be incorrect.">
            <a:extLst>
              <a:ext uri="{FF2B5EF4-FFF2-40B4-BE49-F238E27FC236}">
                <a16:creationId xmlns:a16="http://schemas.microsoft.com/office/drawing/2014/main" id="{59A27FF2-9FFE-351E-2477-86A07FEBC8EA}"/>
              </a:ext>
            </a:extLst>
          </p:cNvPr>
          <p:cNvPicPr>
            <a:picLocks noGrp="1" noChangeAspect="1"/>
          </p:cNvPicPr>
          <p:nvPr>
            <p:ph idx="1"/>
          </p:nvPr>
        </p:nvPicPr>
        <p:blipFill>
          <a:blip r:embed="rId3"/>
          <a:stretch>
            <a:fillRect/>
          </a:stretch>
        </p:blipFill>
        <p:spPr>
          <a:xfrm>
            <a:off x="1267130" y="1575359"/>
            <a:ext cx="7001852" cy="3362794"/>
          </a:xfrm>
        </p:spPr>
      </p:pic>
    </p:spTree>
    <p:extLst>
      <p:ext uri="{BB962C8B-B14F-4D97-AF65-F5344CB8AC3E}">
        <p14:creationId xmlns:p14="http://schemas.microsoft.com/office/powerpoint/2010/main" val="17032134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randombar(horizontal)">
                                      <p:cBhvr>
                                        <p:cTn id="7"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B15A83-3161-0C46-E17D-50E011330808}"/>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Content Placeholder 8">
                <a:extLst>
                  <a:ext uri="{FF2B5EF4-FFF2-40B4-BE49-F238E27FC236}">
                    <a16:creationId xmlns:a16="http://schemas.microsoft.com/office/drawing/2014/main" id="{21E063BB-3019-5C4C-C68B-6A8B60FA1571}"/>
                  </a:ext>
                </a:extLst>
              </p:cNvPr>
              <p:cNvSpPr>
                <a:spLocks noGrp="1"/>
              </p:cNvSpPr>
              <p:nvPr>
                <p:ph idx="1"/>
              </p:nvPr>
            </p:nvSpPr>
            <p:spPr/>
            <p:txBody>
              <a:bodyPr anchor="ctr">
                <a:normAutofit/>
              </a:bodyPr>
              <a:lstStyle/>
              <a:p>
                <a:r>
                  <a:rPr lang="en-US" dirty="0">
                    <a:latin typeface="+mj-lt"/>
                  </a:rPr>
                  <a:t>Graph GAN with permutation equivariant autoregressive sampling</a:t>
                </a:r>
              </a:p>
              <a:p>
                <a:r>
                  <a:rPr lang="en-US" dirty="0">
                    <a:latin typeface="+mj-lt"/>
                  </a:rPr>
                  <a:t>Retained isomorphism consistency and high novelty properties of GG-GAN</a:t>
                </a:r>
              </a:p>
              <a:p>
                <a:r>
                  <a:rPr lang="en-US" dirty="0">
                    <a:latin typeface="+mj-lt"/>
                  </a:rPr>
                  <a:t>Benefited from the scalability of autoregressive models, but still suffered from their low expressive power (caused by overfitting)</a:t>
                </a:r>
              </a:p>
              <a:p>
                <a:r>
                  <a:rPr lang="en-US" dirty="0">
                    <a:latin typeface="+mj-lt"/>
                  </a:rPr>
                  <a:t>Solutions:</a:t>
                </a:r>
              </a:p>
              <a:p>
                <a:pPr lvl="1"/>
                <a:r>
                  <a:rPr lang="en-US" dirty="0">
                    <a:latin typeface="+mj-lt"/>
                  </a:rPr>
                  <a:t>Sampling community assignments via categorical distribution estimation too holistic </a:t>
                </a:r>
                <a14:m>
                  <m:oMath xmlns:m="http://schemas.openxmlformats.org/officeDocument/2006/math">
                    <m:r>
                      <a:rPr lang="en-US" b="0" i="1" smtClean="0">
                        <a:latin typeface="Cambria Math" panose="02040503050406030204" pitchFamily="18" charset="0"/>
                      </a:rPr>
                      <m:t>⇒</m:t>
                    </m:r>
                  </m:oMath>
                </a14:m>
                <a:r>
                  <a:rPr lang="en-US" dirty="0">
                    <a:latin typeface="+mj-lt"/>
                  </a:rPr>
                  <a:t> </a:t>
                </a:r>
                <a:r>
                  <a:rPr lang="en-US" i="1" dirty="0">
                    <a:latin typeface="+mj-lt"/>
                  </a:rPr>
                  <a:t>full generative modeling for coarsened graphs as well</a:t>
                </a:r>
              </a:p>
              <a:p>
                <a:pPr lvl="1"/>
                <a:r>
                  <a:rPr lang="en-US" dirty="0">
                    <a:latin typeface="+mj-lt"/>
                  </a:rPr>
                  <a:t>GANs are too difficult to train and face difficulties with some graph structures </a:t>
                </a:r>
                <a14:m>
                  <m:oMath xmlns:m="http://schemas.openxmlformats.org/officeDocument/2006/math">
                    <m:r>
                      <a:rPr lang="en-US" i="1">
                        <a:latin typeface="Cambria Math" panose="02040503050406030204" pitchFamily="18" charset="0"/>
                      </a:rPr>
                      <m:t>⇒</m:t>
                    </m:r>
                  </m:oMath>
                </a14:m>
                <a:r>
                  <a:rPr lang="en-US" dirty="0">
                    <a:latin typeface="+mj-lt"/>
                  </a:rPr>
                  <a:t> </a:t>
                </a:r>
                <a:r>
                  <a:rPr lang="en-US" i="1" dirty="0">
                    <a:latin typeface="+mj-lt"/>
                  </a:rPr>
                  <a:t>replace with more powerful generative models</a:t>
                </a:r>
              </a:p>
            </p:txBody>
          </p:sp>
        </mc:Choice>
        <mc:Fallback xmlns="">
          <p:sp>
            <p:nvSpPr>
              <p:cNvPr id="9" name="Content Placeholder 8">
                <a:extLst>
                  <a:ext uri="{FF2B5EF4-FFF2-40B4-BE49-F238E27FC236}">
                    <a16:creationId xmlns:a16="http://schemas.microsoft.com/office/drawing/2014/main" id="{21E063BB-3019-5C4C-C68B-6A8B60FA1571}"/>
                  </a:ext>
                </a:extLst>
              </p:cNvPr>
              <p:cNvSpPr>
                <a:spLocks noGrp="1" noRot="1" noChangeAspect="1" noMove="1" noResize="1" noEditPoints="1" noAdjustHandles="1" noChangeArrowheads="1" noChangeShapeType="1" noTextEdit="1"/>
              </p:cNvSpPr>
              <p:nvPr>
                <p:ph idx="1"/>
              </p:nvPr>
            </p:nvSpPr>
            <p:spPr>
              <a:blipFill>
                <a:blip r:embed="rId3"/>
                <a:stretch>
                  <a:fillRect r="-79"/>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9058575F-250E-762A-84AD-D8B821EB8B00}"/>
              </a:ext>
            </a:extLst>
          </p:cNvPr>
          <p:cNvSpPr>
            <a:spLocks noGrp="1"/>
          </p:cNvSpPr>
          <p:nvPr>
            <p:ph type="title"/>
          </p:nvPr>
        </p:nvSpPr>
        <p:spPr>
          <a:xfrm>
            <a:off x="904875" y="131032"/>
            <a:ext cx="7207279" cy="1072753"/>
          </a:xfrm>
        </p:spPr>
        <p:txBody>
          <a:bodyPr>
            <a:normAutofit fontScale="90000"/>
          </a:bodyPr>
          <a:lstStyle/>
          <a:p>
            <a:r>
              <a:rPr lang="en-US" sz="3600" dirty="0"/>
              <a:t>4.1	Geometric Graph Generation with CRPs</a:t>
            </a:r>
            <a:br>
              <a:rPr lang="en-US" sz="3600" dirty="0"/>
            </a:br>
            <a:r>
              <a:rPr lang="en-US" sz="2700" b="0" i="1" dirty="0"/>
              <a:t>Summary</a:t>
            </a:r>
            <a:br>
              <a:rPr lang="en-US" dirty="0"/>
            </a:br>
            <a:endParaRPr lang="en-GB" sz="2400" b="0" i="1" dirty="0"/>
          </a:p>
        </p:txBody>
      </p:sp>
      <p:sp>
        <p:nvSpPr>
          <p:cNvPr id="5" name="Date Placeholder 4">
            <a:extLst>
              <a:ext uri="{FF2B5EF4-FFF2-40B4-BE49-F238E27FC236}">
                <a16:creationId xmlns:a16="http://schemas.microsoft.com/office/drawing/2014/main" id="{5A3B7800-C04B-B6E5-80A4-877106D9A40B}"/>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4B9CF8DE-83B6-3B47-D0D9-333F3B1750C0}"/>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3E2BCD72-6934-6E9E-2EF3-0F6BAEB86234}"/>
              </a:ext>
            </a:extLst>
          </p:cNvPr>
          <p:cNvSpPr>
            <a:spLocks noGrp="1"/>
          </p:cNvSpPr>
          <p:nvPr>
            <p:ph type="sldNum" sz="quarter" idx="12"/>
          </p:nvPr>
        </p:nvSpPr>
        <p:spPr/>
        <p:txBody>
          <a:bodyPr/>
          <a:lstStyle/>
          <a:p>
            <a:fld id="{E1E1CD7C-2161-7D43-862E-CE4C333CD873}" type="slidenum">
              <a:rPr lang="fr-FR" smtClean="0"/>
              <a:pPr/>
              <a:t>44</a:t>
            </a:fld>
            <a:endParaRPr lang="fr-FR" dirty="0"/>
          </a:p>
        </p:txBody>
      </p:sp>
    </p:spTree>
    <p:extLst>
      <p:ext uri="{BB962C8B-B14F-4D97-AF65-F5344CB8AC3E}">
        <p14:creationId xmlns:p14="http://schemas.microsoft.com/office/powerpoint/2010/main" val="14603291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2" dur="500"/>
                                        <p:tgtEl>
                                          <p:spTgt spid="9">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4" presetClass="entr" presetSubtype="10" fill="hold" nodeType="clickEffect">
                                  <p:stCondLst>
                                    <p:cond delay="0"/>
                                  </p:stCondLst>
                                  <p:childTnLst>
                                    <p:set>
                                      <p:cBhvr>
                                        <p:cTn id="16"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7" dur="500"/>
                                        <p:tgtEl>
                                          <p:spTgt spid="9">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4" presetClass="entr" presetSubtype="10" fill="hold" nodeType="clickEffect">
                                  <p:stCondLst>
                                    <p:cond delay="0"/>
                                  </p:stCondLst>
                                  <p:childTnLst>
                                    <p:set>
                                      <p:cBhvr>
                                        <p:cTn id="21" dur="1" fill="hold">
                                          <p:stCondLst>
                                            <p:cond delay="0"/>
                                          </p:stCondLst>
                                        </p:cTn>
                                        <p:tgtEl>
                                          <p:spTgt spid="9">
                                            <p:txEl>
                                              <p:pRg st="3" end="3"/>
                                            </p:txEl>
                                          </p:spTgt>
                                        </p:tgtEl>
                                        <p:attrNameLst>
                                          <p:attrName>style.visibility</p:attrName>
                                        </p:attrNameLst>
                                      </p:cBhvr>
                                      <p:to>
                                        <p:strVal val="visible"/>
                                      </p:to>
                                    </p:set>
                                    <p:animEffect transition="in" filter="randombar(horizontal)">
                                      <p:cBhvr>
                                        <p:cTn id="22" dur="500"/>
                                        <p:tgtEl>
                                          <p:spTgt spid="9">
                                            <p:txEl>
                                              <p:pRg st="3" end="3"/>
                                            </p:txEl>
                                          </p:spTgt>
                                        </p:tgtEl>
                                      </p:cBhvr>
                                    </p:animEffect>
                                  </p:childTnLst>
                                </p:cTn>
                              </p:par>
                              <p:par>
                                <p:cTn id="23" presetID="14" presetClass="entr" presetSubtype="10" fill="hold" nodeType="withEffect">
                                  <p:stCondLst>
                                    <p:cond delay="0"/>
                                  </p:stCondLst>
                                  <p:childTnLst>
                                    <p:set>
                                      <p:cBhvr>
                                        <p:cTn id="24" dur="1" fill="hold">
                                          <p:stCondLst>
                                            <p:cond delay="0"/>
                                          </p:stCondLst>
                                        </p:cTn>
                                        <p:tgtEl>
                                          <p:spTgt spid="9">
                                            <p:txEl>
                                              <p:pRg st="4" end="4"/>
                                            </p:txEl>
                                          </p:spTgt>
                                        </p:tgtEl>
                                        <p:attrNameLst>
                                          <p:attrName>style.visibility</p:attrName>
                                        </p:attrNameLst>
                                      </p:cBhvr>
                                      <p:to>
                                        <p:strVal val="visible"/>
                                      </p:to>
                                    </p:set>
                                    <p:animEffect transition="in" filter="randombar(horizontal)">
                                      <p:cBhvr>
                                        <p:cTn id="25" dur="500"/>
                                        <p:tgtEl>
                                          <p:spTgt spid="9">
                                            <p:txEl>
                                              <p:pRg st="4" end="4"/>
                                            </p:txEl>
                                          </p:spTgt>
                                        </p:tgtEl>
                                      </p:cBhvr>
                                    </p:animEffect>
                                  </p:childTnLst>
                                </p:cTn>
                              </p:par>
                              <p:par>
                                <p:cTn id="26" presetID="14" presetClass="entr" presetSubtype="10" fill="hold" nodeType="withEffect">
                                  <p:stCondLst>
                                    <p:cond delay="0"/>
                                  </p:stCondLst>
                                  <p:childTnLst>
                                    <p:set>
                                      <p:cBhvr>
                                        <p:cTn id="27"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8" dur="500"/>
                                        <p:tgtEl>
                                          <p:spTgt spid="9">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88B6DF-464C-6B3E-49B0-5C46DE1B03FC}"/>
            </a:ext>
          </a:extLst>
        </p:cNvPr>
        <p:cNvGrpSpPr/>
        <p:nvPr/>
      </p:nvGrpSpPr>
      <p:grpSpPr>
        <a:xfrm>
          <a:off x="0" y="0"/>
          <a:ext cx="0" cy="0"/>
          <a:chOff x="0" y="0"/>
          <a:chExt cx="0" cy="0"/>
        </a:xfrm>
      </p:grpSpPr>
      <p:sp>
        <p:nvSpPr>
          <p:cNvPr id="9" name="Content Placeholder 8">
            <a:extLst>
              <a:ext uri="{FF2B5EF4-FFF2-40B4-BE49-F238E27FC236}">
                <a16:creationId xmlns:a16="http://schemas.microsoft.com/office/drawing/2014/main" id="{8CD8748C-9990-6B98-87B1-437F169E150F}"/>
              </a:ext>
            </a:extLst>
          </p:cNvPr>
          <p:cNvSpPr>
            <a:spLocks noGrp="1"/>
          </p:cNvSpPr>
          <p:nvPr>
            <p:ph idx="1"/>
          </p:nvPr>
        </p:nvSpPr>
        <p:spPr/>
        <p:txBody>
          <a:bodyPr anchor="ctr">
            <a:normAutofit/>
          </a:bodyPr>
          <a:lstStyle/>
          <a:p>
            <a:r>
              <a:rPr lang="en-US" dirty="0">
                <a:latin typeface="+mj-lt"/>
              </a:rPr>
              <a:t>Real-world graph datasets beyond small molecules</a:t>
            </a:r>
          </a:p>
          <a:p>
            <a:pPr lvl="1"/>
            <a:r>
              <a:rPr lang="en-US" dirty="0">
                <a:latin typeface="+mj-lt"/>
              </a:rPr>
              <a:t>Social ego-networks, financial transactions, road infrastructure, electronic circuits…</a:t>
            </a:r>
          </a:p>
          <a:p>
            <a:pPr lvl="1"/>
            <a:r>
              <a:rPr lang="en-US" dirty="0">
                <a:latin typeface="+mj-lt"/>
              </a:rPr>
              <a:t>Scalability issues with performance and complexity</a:t>
            </a:r>
          </a:p>
          <a:p>
            <a:pPr lvl="1"/>
            <a:r>
              <a:rPr lang="en-US" dirty="0">
                <a:latin typeface="+mj-lt"/>
              </a:rPr>
              <a:t>Multi-level heterogeneity, local density vs. global sparsity</a:t>
            </a:r>
          </a:p>
          <a:p>
            <a:r>
              <a:rPr lang="en-US" dirty="0">
                <a:latin typeface="+mj-lt"/>
              </a:rPr>
              <a:t>Hierarchical, multi-resolution graph structure modeling and generation</a:t>
            </a:r>
          </a:p>
          <a:p>
            <a:pPr lvl="1"/>
            <a:r>
              <a:rPr lang="en-US" dirty="0">
                <a:latin typeface="+mj-lt"/>
              </a:rPr>
              <a:t>Fractal model consistency as an inductive bias</a:t>
            </a:r>
          </a:p>
          <a:p>
            <a:pPr lvl="1"/>
            <a:r>
              <a:rPr lang="en-US" dirty="0">
                <a:latin typeface="+mj-lt"/>
              </a:rPr>
              <a:t>Coarser representations followed by finer structure generation pre-conditioned on them</a:t>
            </a:r>
          </a:p>
          <a:p>
            <a:pPr lvl="1"/>
            <a:r>
              <a:rPr lang="en-US" dirty="0">
                <a:latin typeface="+mj-lt"/>
              </a:rPr>
              <a:t>Only </a:t>
            </a:r>
            <a:r>
              <a:rPr lang="en-US" i="1" dirty="0">
                <a:latin typeface="+mj-lt"/>
              </a:rPr>
              <a:t>diffusion</a:t>
            </a:r>
            <a:r>
              <a:rPr lang="en-US" dirty="0">
                <a:latin typeface="+mj-lt"/>
              </a:rPr>
              <a:t> </a:t>
            </a:r>
            <a:r>
              <a:rPr lang="en-US" i="1" dirty="0">
                <a:latin typeface="+mj-lt"/>
              </a:rPr>
              <a:t>models</a:t>
            </a:r>
            <a:r>
              <a:rPr lang="en-US" dirty="0">
                <a:latin typeface="+mj-lt"/>
              </a:rPr>
              <a:t> conjectured to have the sufficient representation power</a:t>
            </a:r>
          </a:p>
          <a:p>
            <a:r>
              <a:rPr lang="en-US" dirty="0" err="1">
                <a:latin typeface="+mj-lt"/>
              </a:rPr>
              <a:t>HiGenDiff</a:t>
            </a:r>
            <a:r>
              <a:rPr lang="en-US" dirty="0">
                <a:latin typeface="+mj-lt"/>
              </a:rPr>
              <a:t> (Hierarchical Generative Diffusion)</a:t>
            </a:r>
          </a:p>
          <a:p>
            <a:pPr lvl="1"/>
            <a:r>
              <a:rPr lang="en-US" dirty="0">
                <a:latin typeface="+mj-lt"/>
              </a:rPr>
              <a:t>Extends work of Karami &amp; Krawczuk et al. </a:t>
            </a:r>
            <a:r>
              <a:rPr lang="en-US" dirty="0">
                <a:solidFill>
                  <a:schemeClr val="accent1"/>
                </a:solidFill>
                <a:latin typeface="+mj-lt"/>
              </a:rPr>
              <a:t>[22, 23, 24]</a:t>
            </a:r>
            <a:r>
              <a:rPr lang="en-US" dirty="0">
                <a:latin typeface="+mj-lt"/>
              </a:rPr>
              <a:t> with new model designs, theoretical analyses and improve experimental results</a:t>
            </a:r>
          </a:p>
        </p:txBody>
      </p:sp>
      <p:sp>
        <p:nvSpPr>
          <p:cNvPr id="8" name="Title 7">
            <a:extLst>
              <a:ext uri="{FF2B5EF4-FFF2-40B4-BE49-F238E27FC236}">
                <a16:creationId xmlns:a16="http://schemas.microsoft.com/office/drawing/2014/main" id="{5846C48E-04F7-A7FB-D832-BEAD444AC327}"/>
              </a:ext>
            </a:extLst>
          </p:cNvPr>
          <p:cNvSpPr>
            <a:spLocks noGrp="1"/>
          </p:cNvSpPr>
          <p:nvPr>
            <p:ph type="title"/>
          </p:nvPr>
        </p:nvSpPr>
        <p:spPr>
          <a:xfrm>
            <a:off x="904875" y="131032"/>
            <a:ext cx="7207279" cy="1072753"/>
          </a:xfrm>
        </p:spPr>
        <p:txBody>
          <a:bodyPr>
            <a:normAutofit/>
          </a:bodyPr>
          <a:lstStyle/>
          <a:p>
            <a:r>
              <a:rPr lang="en-US" dirty="0"/>
              <a:t>4.2	Hierarchical Generative Graph Diffusion</a:t>
            </a:r>
            <a:br>
              <a:rPr lang="en-US" dirty="0"/>
            </a:br>
            <a:r>
              <a:rPr lang="en-US" sz="2400" b="0" i="1" dirty="0"/>
              <a:t>Motivation</a:t>
            </a:r>
            <a:endParaRPr lang="en-GB" sz="2400" b="0" i="1" dirty="0"/>
          </a:p>
        </p:txBody>
      </p:sp>
      <p:sp>
        <p:nvSpPr>
          <p:cNvPr id="5" name="Date Placeholder 4">
            <a:extLst>
              <a:ext uri="{FF2B5EF4-FFF2-40B4-BE49-F238E27FC236}">
                <a16:creationId xmlns:a16="http://schemas.microsoft.com/office/drawing/2014/main" id="{273C1C92-0076-F15E-7A9E-01B4D56D7924}"/>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87213F4E-7CC9-D377-175C-C3493C6E4723}"/>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A3B8AE51-61F8-EA08-053C-D7810CBF4F79}"/>
              </a:ext>
            </a:extLst>
          </p:cNvPr>
          <p:cNvSpPr>
            <a:spLocks noGrp="1"/>
          </p:cNvSpPr>
          <p:nvPr>
            <p:ph type="sldNum" sz="quarter" idx="12"/>
          </p:nvPr>
        </p:nvSpPr>
        <p:spPr/>
        <p:txBody>
          <a:bodyPr/>
          <a:lstStyle/>
          <a:p>
            <a:fld id="{E1E1CD7C-2161-7D43-862E-CE4C333CD873}" type="slidenum">
              <a:rPr lang="fr-FR" smtClean="0"/>
              <a:pPr/>
              <a:t>45</a:t>
            </a:fld>
            <a:endParaRPr lang="fr-FR" dirty="0"/>
          </a:p>
        </p:txBody>
      </p:sp>
    </p:spTree>
    <p:extLst>
      <p:ext uri="{BB962C8B-B14F-4D97-AF65-F5344CB8AC3E}">
        <p14:creationId xmlns:p14="http://schemas.microsoft.com/office/powerpoint/2010/main" val="40897800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6" dur="500"/>
                                        <p:tgtEl>
                                          <p:spTgt spid="9">
                                            <p:txEl>
                                              <p:pRg st="3" end="3"/>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4" presetClass="entr" presetSubtype="10" fill="hold" nodeType="clickEffect">
                                  <p:stCondLst>
                                    <p:cond delay="0"/>
                                  </p:stCondLst>
                                  <p:childTnLst>
                                    <p:set>
                                      <p:cBhvr>
                                        <p:cTn id="20" dur="1" fill="hold">
                                          <p:stCondLst>
                                            <p:cond delay="0"/>
                                          </p:stCondLst>
                                        </p:cTn>
                                        <p:tgtEl>
                                          <p:spTgt spid="9">
                                            <p:txEl>
                                              <p:pRg st="4" end="4"/>
                                            </p:txEl>
                                          </p:spTgt>
                                        </p:tgtEl>
                                        <p:attrNameLst>
                                          <p:attrName>style.visibility</p:attrName>
                                        </p:attrNameLst>
                                      </p:cBhvr>
                                      <p:to>
                                        <p:strVal val="visible"/>
                                      </p:to>
                                    </p:set>
                                    <p:animEffect transition="in" filter="randombar(horizontal)">
                                      <p:cBhvr>
                                        <p:cTn id="21" dur="500"/>
                                        <p:tgtEl>
                                          <p:spTgt spid="9">
                                            <p:txEl>
                                              <p:pRg st="4" end="4"/>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4" dur="500"/>
                                        <p:tgtEl>
                                          <p:spTgt spid="9">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9">
                                            <p:txEl>
                                              <p:pRg st="6" end="6"/>
                                            </p:txEl>
                                          </p:spTgt>
                                        </p:tgtEl>
                                        <p:attrNameLst>
                                          <p:attrName>style.visibility</p:attrName>
                                        </p:attrNameLst>
                                      </p:cBhvr>
                                      <p:to>
                                        <p:strVal val="visible"/>
                                      </p:to>
                                    </p:set>
                                    <p:animEffect transition="in" filter="randombar(horizontal)">
                                      <p:cBhvr>
                                        <p:cTn id="27" dur="500"/>
                                        <p:tgtEl>
                                          <p:spTgt spid="9">
                                            <p:txEl>
                                              <p:pRg st="6" end="6"/>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0" dur="500"/>
                                        <p:tgtEl>
                                          <p:spTgt spid="9">
                                            <p:txEl>
                                              <p:pRg st="7" end="7"/>
                                            </p:txEl>
                                          </p:spTgt>
                                        </p:tgtEl>
                                      </p:cBhvr>
                                    </p:animEffect>
                                  </p:childTnLst>
                                </p:cTn>
                              </p:par>
                            </p:childTnLst>
                          </p:cTn>
                        </p:par>
                      </p:childTnLst>
                    </p:cTn>
                  </p:par>
                  <p:par>
                    <p:cTn id="31" fill="hold">
                      <p:stCondLst>
                        <p:cond delay="indefinite"/>
                      </p:stCondLst>
                      <p:childTnLst>
                        <p:par>
                          <p:cTn id="32" fill="hold">
                            <p:stCondLst>
                              <p:cond delay="0"/>
                            </p:stCondLst>
                            <p:childTnLst>
                              <p:par>
                                <p:cTn id="33" presetID="14" presetClass="entr" presetSubtype="10" fill="hold" nodeType="clickEffect">
                                  <p:stCondLst>
                                    <p:cond delay="0"/>
                                  </p:stCondLst>
                                  <p:childTnLst>
                                    <p:set>
                                      <p:cBhvr>
                                        <p:cTn id="34" dur="1" fill="hold">
                                          <p:stCondLst>
                                            <p:cond delay="0"/>
                                          </p:stCondLst>
                                        </p:cTn>
                                        <p:tgtEl>
                                          <p:spTgt spid="9">
                                            <p:txEl>
                                              <p:pRg st="8" end="8"/>
                                            </p:txEl>
                                          </p:spTgt>
                                        </p:tgtEl>
                                        <p:attrNameLst>
                                          <p:attrName>style.visibility</p:attrName>
                                        </p:attrNameLst>
                                      </p:cBhvr>
                                      <p:to>
                                        <p:strVal val="visible"/>
                                      </p:to>
                                    </p:set>
                                    <p:animEffect transition="in" filter="randombar(horizontal)">
                                      <p:cBhvr>
                                        <p:cTn id="35" dur="500"/>
                                        <p:tgtEl>
                                          <p:spTgt spid="9">
                                            <p:txEl>
                                              <p:pRg st="8" end="8"/>
                                            </p:txEl>
                                          </p:spTgt>
                                        </p:tgtEl>
                                      </p:cBhvr>
                                    </p:animEffect>
                                  </p:childTnLst>
                                </p:cTn>
                              </p:par>
                              <p:par>
                                <p:cTn id="36" presetID="14" presetClass="entr" presetSubtype="10" fill="hold" nodeType="withEffect">
                                  <p:stCondLst>
                                    <p:cond delay="0"/>
                                  </p:stCondLst>
                                  <p:childTnLst>
                                    <p:set>
                                      <p:cBhvr>
                                        <p:cTn id="37" dur="1" fill="hold">
                                          <p:stCondLst>
                                            <p:cond delay="0"/>
                                          </p:stCondLst>
                                        </p:cTn>
                                        <p:tgtEl>
                                          <p:spTgt spid="9">
                                            <p:txEl>
                                              <p:pRg st="9" end="9"/>
                                            </p:txEl>
                                          </p:spTgt>
                                        </p:tgtEl>
                                        <p:attrNameLst>
                                          <p:attrName>style.visibility</p:attrName>
                                        </p:attrNameLst>
                                      </p:cBhvr>
                                      <p:to>
                                        <p:strVal val="visible"/>
                                      </p:to>
                                    </p:set>
                                    <p:animEffect transition="in" filter="randombar(horizontal)">
                                      <p:cBhvr>
                                        <p:cTn id="38" dur="500"/>
                                        <p:tgtEl>
                                          <p:spTgt spid="9">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E484E4-1A13-9DE5-D8A7-FB87F2AE63B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Content Placeholder 8">
                <a:extLst>
                  <a:ext uri="{FF2B5EF4-FFF2-40B4-BE49-F238E27FC236}">
                    <a16:creationId xmlns:a16="http://schemas.microsoft.com/office/drawing/2014/main" id="{DBBB71AA-A60E-AE64-D20E-62E60C50023E}"/>
                  </a:ext>
                </a:extLst>
              </p:cNvPr>
              <p:cNvSpPr>
                <a:spLocks noGrp="1"/>
              </p:cNvSpPr>
              <p:nvPr>
                <p:ph idx="1"/>
              </p:nvPr>
            </p:nvSpPr>
            <p:spPr/>
            <p:txBody>
              <a:bodyPr anchor="ctr">
                <a:normAutofit/>
              </a:bodyPr>
              <a:lstStyle/>
              <a:p>
                <a:r>
                  <a:rPr lang="en-US" dirty="0">
                    <a:latin typeface="+mj-lt"/>
                  </a:rPr>
                  <a:t>Assume a finite </a:t>
                </a:r>
                <a14:m>
                  <m:oMath xmlns:m="http://schemas.openxmlformats.org/officeDocument/2006/math">
                    <m:r>
                      <a:rPr lang="en-US" b="0" i="1" smtClean="0">
                        <a:latin typeface="Cambria Math" panose="02040503050406030204" pitchFamily="18" charset="0"/>
                      </a:rPr>
                      <m:t>𝑇</m:t>
                    </m:r>
                  </m:oMath>
                </a14:m>
                <a:r>
                  <a:rPr lang="en-US" dirty="0">
                    <a:latin typeface="+mj-lt"/>
                  </a:rPr>
                  <a:t>-step Markov chain between any latent noise and true distributions</a:t>
                </a:r>
              </a:p>
              <a:p>
                <a:pPr marL="0" indent="0">
                  <a:buNone/>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m:t>
                      </m:r>
                      <m:r>
                        <a:rPr lang="en-US" i="1">
                          <a:latin typeface="Cambria Math" panose="02040503050406030204" pitchFamily="18" charset="0"/>
                        </a:rPr>
                        <m:t>𝑡</m:t>
                      </m:r>
                      <m:r>
                        <a:rPr lang="en-US" i="1">
                          <a:latin typeface="Cambria Math" panose="02040503050406030204" pitchFamily="18" charset="0"/>
                        </a:rPr>
                        <m:t>∈</m:t>
                      </m:r>
                      <m:r>
                        <m:rPr>
                          <m:lit/>
                        </m:rPr>
                        <a:rPr lang="en-US" i="1">
                          <a:latin typeface="Cambria Math" panose="02040503050406030204" pitchFamily="18" charset="0"/>
                        </a:rPr>
                        <m:t>{</m:t>
                      </m:r>
                      <m:r>
                        <a:rPr lang="en-US" i="1">
                          <a:latin typeface="Cambria Math" panose="02040503050406030204" pitchFamily="18" charset="0"/>
                        </a:rPr>
                        <m:t>0,1,…,</m:t>
                      </m:r>
                      <m:r>
                        <a:rPr lang="en-US" i="1">
                          <a:latin typeface="Cambria Math" panose="02040503050406030204" pitchFamily="18" charset="0"/>
                        </a:rPr>
                        <m:t>𝑇</m:t>
                      </m:r>
                      <m:r>
                        <m:rPr>
                          <m:lit/>
                        </m:rPr>
                        <a:rPr lang="en-US" i="1">
                          <a:latin typeface="Cambria Math" panose="02040503050406030204" pitchFamily="18" charset="0"/>
                        </a:rPr>
                        <m:t>}</m:t>
                      </m:r>
                      <m:r>
                        <a:rPr lang="en-US" i="1">
                          <a:latin typeface="Cambria Math" panose="02040503050406030204" pitchFamily="18" charset="0"/>
                        </a:rPr>
                        <m:t>, </m:t>
                      </m:r>
                      <m:sSub>
                        <m:sSubPr>
                          <m:ctrlPr>
                            <a:rPr lang="en-US" i="1" smtClean="0">
                              <a:latin typeface="Cambria Math" panose="02040503050406030204" pitchFamily="18" charset="0"/>
                            </a:rPr>
                          </m:ctrlPr>
                        </m:sSubPr>
                        <m:e>
                          <m:r>
                            <a:rPr lang="en-US" b="1" i="1">
                              <a:latin typeface="Cambria Math" panose="02040503050406030204" pitchFamily="18" charset="0"/>
                            </a:rPr>
                            <m:t>𝑿</m:t>
                          </m:r>
                        </m:e>
                        <m:sub>
                          <m:r>
                            <a:rPr lang="en-US" i="1">
                              <a:latin typeface="Cambria Math" panose="02040503050406030204" pitchFamily="18" charset="0"/>
                            </a:rPr>
                            <m:t>𝑡</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𝛼</m:t>
                          </m:r>
                        </m:e>
                        <m:sub>
                          <m:r>
                            <a:rPr lang="en-US" i="1">
                              <a:latin typeface="Cambria Math" panose="02040503050406030204" pitchFamily="18" charset="0"/>
                            </a:rPr>
                            <m:t>𝑡</m:t>
                          </m:r>
                        </m:sub>
                      </m:sSub>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i="1">
                              <a:latin typeface="Cambria Math" panose="02040503050406030204" pitchFamily="18" charset="0"/>
                            </a:rPr>
                            <m:t>0</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𝛽</m:t>
                          </m:r>
                        </m:e>
                        <m:sub>
                          <m:r>
                            <a:rPr lang="en-US" i="1">
                              <a:latin typeface="Cambria Math" panose="02040503050406030204" pitchFamily="18" charset="0"/>
                            </a:rPr>
                            <m:t>𝑡</m:t>
                          </m:r>
                        </m:sub>
                      </m:sSub>
                      <m:sSub>
                        <m:sSubPr>
                          <m:ctrlPr>
                            <a:rPr lang="en-US" i="1">
                              <a:latin typeface="Cambria Math" panose="02040503050406030204" pitchFamily="18" charset="0"/>
                            </a:rPr>
                          </m:ctrlPr>
                        </m:sSubPr>
                        <m:e>
                          <m:r>
                            <a:rPr lang="en-US" i="1">
                              <a:latin typeface="Cambria Math" panose="02040503050406030204" pitchFamily="18" charset="0"/>
                            </a:rPr>
                            <m:t>𝜀</m:t>
                          </m:r>
                        </m:e>
                        <m:sub>
                          <m:r>
                            <a:rPr lang="en-US" i="1">
                              <a:latin typeface="Cambria Math" panose="02040503050406030204" pitchFamily="18" charset="0"/>
                            </a:rPr>
                            <m:t>𝑡</m:t>
                          </m:r>
                        </m:sub>
                      </m:sSub>
                      <m:r>
                        <a:rPr lang="en-US" b="0" i="1" smtClean="0">
                          <a:latin typeface="Cambria Math" panose="02040503050406030204" pitchFamily="18" charset="0"/>
                        </a:rPr>
                        <m:t> </m:t>
                      </m:r>
                    </m:oMath>
                  </m:oMathPara>
                </a14:m>
                <a:endParaRPr lang="en-US" b="0"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b="1" i="1">
                              <a:latin typeface="Cambria Math" panose="02040503050406030204" pitchFamily="18" charset="0"/>
                            </a:rPr>
                            <m:t>𝑿</m:t>
                          </m:r>
                        </m:e>
                        <m:sub>
                          <m:r>
                            <a:rPr lang="en-US" b="0" i="1">
                              <a:latin typeface="Cambria Math" panose="02040503050406030204" pitchFamily="18" charset="0"/>
                            </a:rPr>
                            <m:t>0</m:t>
                          </m:r>
                        </m:sub>
                      </m:sSub>
                      <m:r>
                        <a:rPr lang="en-US" i="1">
                          <a:latin typeface="Cambria Math" panose="02040503050406030204" pitchFamily="18" charset="0"/>
                        </a:rPr>
                        <m:t>∈</m:t>
                      </m:r>
                      <m:r>
                        <a:rPr lang="en-US" i="1">
                          <a:latin typeface="Cambria Math" panose="02040503050406030204" pitchFamily="18" charset="0"/>
                        </a:rPr>
                        <m:t>𝒟</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𝜀</m:t>
                          </m:r>
                        </m:e>
                        <m:sub>
                          <m:r>
                            <a:rPr lang="en-US" i="1">
                              <a:latin typeface="Cambria Math" panose="02040503050406030204" pitchFamily="18" charset="0"/>
                            </a:rPr>
                            <m:t>𝑡</m:t>
                          </m:r>
                        </m:sub>
                      </m:sSub>
                      <m:r>
                        <a:rPr lang="en-US" b="0" i="1" smtClean="0">
                          <a:latin typeface="Cambria Math" panose="02040503050406030204" pitchFamily="18" charset="0"/>
                        </a:rPr>
                        <m:t>∼</m:t>
                      </m:r>
                      <m:r>
                        <a:rPr lang="en-US" b="0" i="1" smtClean="0">
                          <a:latin typeface="Cambria Math" panose="02040503050406030204" pitchFamily="18" charset="0"/>
                        </a:rPr>
                        <m:t>𝑍</m:t>
                      </m:r>
                    </m:oMath>
                  </m:oMathPara>
                </a14:m>
                <a:endParaRPr lang="en-US" dirty="0">
                  <a:latin typeface="+mj-lt"/>
                </a:endParaRPr>
              </a:p>
              <a:p>
                <a:r>
                  <a:rPr lang="en-US" dirty="0">
                    <a:latin typeface="+mj-lt"/>
                  </a:rPr>
                  <a:t>Likelihood estimation with Markov property and</a:t>
                </a:r>
                <a14:m>
                  <m:oMath xmlns:m="http://schemas.openxmlformats.org/officeDocument/2006/math">
                    <m:r>
                      <a:rPr lang="en-US" b="0" i="0" smtClean="0">
                        <a:latin typeface="Cambria Math" panose="02040503050406030204" pitchFamily="18" charset="0"/>
                      </a:rPr>
                      <m:t> </m:t>
                    </m:r>
                    <m:r>
                      <a:rPr lang="en-US" i="1">
                        <a:latin typeface="Cambria Math" panose="02040503050406030204" pitchFamily="18" charset="0"/>
                      </a:rPr>
                      <m:t>∀</m:t>
                    </m:r>
                    <m:r>
                      <a:rPr lang="en-US" i="1">
                        <a:latin typeface="Cambria Math" panose="02040503050406030204" pitchFamily="18" charset="0"/>
                      </a:rPr>
                      <m:t>𝑡</m:t>
                    </m:r>
                    <m:r>
                      <a:rPr lang="en-US" i="1">
                        <a:latin typeface="Cambria Math" panose="02040503050406030204" pitchFamily="18" charset="0"/>
                      </a:rPr>
                      <m:t>∈</m:t>
                    </m:r>
                    <m:r>
                      <m:rPr>
                        <m:lit/>
                      </m:rPr>
                      <a:rPr lang="en-US" i="1">
                        <a:latin typeface="Cambria Math" panose="02040503050406030204" pitchFamily="18" charset="0"/>
                      </a:rPr>
                      <m:t>{</m:t>
                    </m:r>
                    <m:r>
                      <a:rPr lang="en-US" i="1">
                        <a:latin typeface="Cambria Math" panose="02040503050406030204" pitchFamily="18" charset="0"/>
                      </a:rPr>
                      <m:t>1,…,</m:t>
                    </m:r>
                    <m:r>
                      <a:rPr lang="en-US" i="1">
                        <a:latin typeface="Cambria Math" panose="02040503050406030204" pitchFamily="18" charset="0"/>
                      </a:rPr>
                      <m:t>𝑇</m:t>
                    </m:r>
                    <m:r>
                      <m:rPr>
                        <m:lit/>
                      </m:rPr>
                      <a:rPr lang="en-US" i="1">
                        <a:latin typeface="Cambria Math" panose="02040503050406030204" pitchFamily="18" charset="0"/>
                      </a:rPr>
                      <m:t>}</m:t>
                    </m:r>
                    <m:r>
                      <a:rPr lang="en-US" i="1">
                        <a:latin typeface="Cambria Math" panose="02040503050406030204" pitchFamily="18" charset="0"/>
                      </a:rPr>
                      <m:t>,</m:t>
                    </m:r>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𝑓</m:t>
                        </m:r>
                      </m:e>
                      <m:sub>
                        <m:r>
                          <a:rPr lang="en-US" b="0" i="1" smtClean="0">
                            <a:latin typeface="Cambria Math" panose="02040503050406030204" pitchFamily="18" charset="0"/>
                          </a:rPr>
                          <m:t>𝑡</m:t>
                        </m:r>
                      </m:sub>
                    </m:sSub>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ℝ</m:t>
                        </m:r>
                      </m:e>
                      <m:sup>
                        <m:r>
                          <a:rPr lang="en-US" b="0" i="1" smtClean="0">
                            <a:latin typeface="Cambria Math" panose="02040503050406030204" pitchFamily="18" charset="0"/>
                          </a:rPr>
                          <m:t>𝐹</m:t>
                        </m:r>
                      </m:sup>
                    </m:sSup>
                    <m:r>
                      <a:rPr lang="en-US" b="0" i="1" smtClean="0">
                        <a:latin typeface="Cambria Math" panose="02040503050406030204" pitchFamily="18" charset="0"/>
                      </a:rPr>
                      <m:t>×</m:t>
                    </m:r>
                    <m:sSup>
                      <m:sSupPr>
                        <m:ctrlPr>
                          <a:rPr lang="en-US" b="0" i="1">
                            <a:latin typeface="Cambria Math" panose="02040503050406030204" pitchFamily="18" charset="0"/>
                          </a:rPr>
                        </m:ctrlPr>
                      </m:sSupPr>
                      <m:e>
                        <m:r>
                          <a:rPr lang="en-US" i="1">
                            <a:latin typeface="Cambria Math" panose="02040503050406030204" pitchFamily="18" charset="0"/>
                          </a:rPr>
                          <m:t>ℝ</m:t>
                        </m:r>
                      </m:e>
                      <m:sup>
                        <m:r>
                          <a:rPr lang="en-US" i="1">
                            <a:latin typeface="Cambria Math" panose="02040503050406030204" pitchFamily="18" charset="0"/>
                          </a:rPr>
                          <m:t>𝐹</m:t>
                        </m:r>
                      </m:sup>
                    </m:sSup>
                    <m:r>
                      <a:rPr lang="en-US" b="0" i="1" smtClean="0">
                        <a:latin typeface="Cambria Math" panose="02040503050406030204" pitchFamily="18" charset="0"/>
                      </a:rPr>
                      <m:t>→</m:t>
                    </m:r>
                    <m:r>
                      <a:rPr lang="en-US" b="0" i="1" smtClean="0">
                        <a:latin typeface="Cambria Math" panose="02040503050406030204" pitchFamily="18" charset="0"/>
                      </a:rPr>
                      <m:t>ℝ</m:t>
                    </m:r>
                  </m:oMath>
                </a14:m>
                <a:endParaRPr lang="en-US" dirty="0">
                  <a:latin typeface="+mj-lt"/>
                </a:endParaRPr>
              </a:p>
              <a:p>
                <a:pPr marL="0" indent="0">
                  <a:buNone/>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ℙ</m:t>
                      </m:r>
                      <m:d>
                        <m:dPr>
                          <m:sep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i="1">
                                  <a:latin typeface="Cambria Math" panose="02040503050406030204" pitchFamily="18" charset="0"/>
                                </a:rPr>
                                <m:t>𝑡</m:t>
                              </m:r>
                              <m:r>
                                <a:rPr lang="en-US" i="1">
                                  <a:latin typeface="Cambria Math" panose="02040503050406030204" pitchFamily="18" charset="0"/>
                                </a:rPr>
                                <m:t>−1</m:t>
                              </m:r>
                            </m:sub>
                          </m:sSub>
                        </m:e>
                        <m:e>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i="1">
                                  <a:latin typeface="Cambria Math" panose="02040503050406030204" pitchFamily="18" charset="0"/>
                                </a:rPr>
                                <m:t>𝑡</m:t>
                              </m:r>
                            </m:sub>
                          </m:sSub>
                        </m:e>
                      </m:d>
                      <m:r>
                        <a:rPr lang="en-US" b="0" i="1" smtClean="0">
                          <a:latin typeface="Cambria Math" panose="02040503050406030204" pitchFamily="18" charset="0"/>
                        </a:rPr>
                        <m:t>=</m:t>
                      </m:r>
                      <m:r>
                        <a:rPr lang="en-US" b="0" i="1" smtClean="0">
                          <a:latin typeface="Cambria Math" panose="02040503050406030204" pitchFamily="18" charset="0"/>
                        </a:rPr>
                        <m:t>𝜎</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𝑓</m:t>
                              </m:r>
                            </m:e>
                            <m:sub>
                              <m:r>
                                <a:rPr lang="en-US" b="0" i="1" smtClean="0">
                                  <a:latin typeface="Cambria Math" panose="02040503050406030204" pitchFamily="18" charset="0"/>
                                </a:rPr>
                                <m:t>𝑡</m:t>
                              </m:r>
                            </m:sub>
                          </m:sSub>
                          <m:d>
                            <m:dPr>
                              <m:ctrlPr>
                                <a:rPr lang="en-US" b="0" i="1" smtClean="0">
                                  <a:latin typeface="Cambria Math" panose="02040503050406030204" pitchFamily="18" charset="0"/>
                                </a:rPr>
                              </m:ctrlPr>
                            </m:dPr>
                            <m:e>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i="1">
                                      <a:latin typeface="Cambria Math" panose="02040503050406030204" pitchFamily="18" charset="0"/>
                                    </a:rPr>
                                    <m:t>𝑡</m:t>
                                  </m:r>
                                  <m:r>
                                    <a:rPr lang="en-US" i="1">
                                      <a:latin typeface="Cambria Math" panose="02040503050406030204" pitchFamily="18" charset="0"/>
                                    </a:rPr>
                                    <m:t>−1</m:t>
                                  </m:r>
                                </m:sub>
                              </m:sSub>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i="1">
                                      <a:latin typeface="Cambria Math" panose="02040503050406030204" pitchFamily="18" charset="0"/>
                                    </a:rPr>
                                    <m:t>𝑡</m:t>
                                  </m:r>
                                </m:sub>
                              </m:sSub>
                            </m:e>
                          </m:d>
                        </m:e>
                      </m:d>
                    </m:oMath>
                  </m:oMathPara>
                </a14:m>
                <a:endParaRPr lang="en-US" b="0"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ℙ</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1" i="1" smtClean="0">
                                  <a:latin typeface="Cambria Math" panose="02040503050406030204" pitchFamily="18" charset="0"/>
                                </a:rPr>
                                <m:t>𝑿</m:t>
                              </m:r>
                            </m:e>
                            <m:sub>
                              <m:r>
                                <a:rPr lang="en-US" b="0" i="1" smtClean="0">
                                  <a:latin typeface="Cambria Math" panose="02040503050406030204" pitchFamily="18" charset="0"/>
                                </a:rPr>
                                <m:t>0</m:t>
                              </m:r>
                            </m:sub>
                          </m:sSub>
                          <m:r>
                            <a:rPr lang="en-US" b="0" i="1" smtClean="0">
                              <a:latin typeface="Cambria Math" panose="02040503050406030204" pitchFamily="18" charset="0"/>
                            </a:rPr>
                            <m:t>∈</m:t>
                          </m:r>
                          <m:r>
                            <a:rPr lang="en-US" b="0" i="1" smtClean="0">
                              <a:latin typeface="Cambria Math" panose="02040503050406030204" pitchFamily="18" charset="0"/>
                            </a:rPr>
                            <m:t>𝒟</m:t>
                          </m:r>
                        </m:e>
                      </m:d>
                      <m:r>
                        <a:rPr lang="en-US" b="0" i="1" smtClean="0">
                          <a:latin typeface="Cambria Math" panose="02040503050406030204" pitchFamily="18" charset="0"/>
                        </a:rPr>
                        <m:t>=</m:t>
                      </m:r>
                      <m:r>
                        <a:rPr lang="en-US" b="0" i="1" smtClean="0">
                          <a:latin typeface="Cambria Math" panose="02040503050406030204" pitchFamily="18" charset="0"/>
                        </a:rPr>
                        <m:t>ℙ</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1" i="1" smtClean="0">
                                  <a:latin typeface="Cambria Math" panose="02040503050406030204" pitchFamily="18" charset="0"/>
                                </a:rPr>
                                <m:t>𝑿</m:t>
                              </m:r>
                            </m:e>
                            <m:sub>
                              <m:r>
                                <a:rPr lang="en-US" b="0" i="1" smtClean="0">
                                  <a:latin typeface="Cambria Math" panose="02040503050406030204" pitchFamily="18" charset="0"/>
                                </a:rPr>
                                <m:t>𝑇</m:t>
                              </m:r>
                            </m:sub>
                          </m:sSub>
                        </m:e>
                      </m:d>
                      <m:nary>
                        <m:naryPr>
                          <m:chr m:val="∏"/>
                          <m:ctrlPr>
                            <a:rPr lang="en-US" b="0" i="1" smtClean="0">
                              <a:latin typeface="Cambria Math" panose="02040503050406030204" pitchFamily="18" charset="0"/>
                            </a:rPr>
                          </m:ctrlPr>
                        </m:naryPr>
                        <m:sub>
                          <m:r>
                            <a:rPr lang="en-US" b="0" i="1" smtClean="0">
                              <a:latin typeface="Cambria Math" panose="02040503050406030204" pitchFamily="18" charset="0"/>
                            </a:rPr>
                            <m:t>𝑡</m:t>
                          </m:r>
                          <m:r>
                            <a:rPr lang="en-US" b="0" i="1" smtClean="0">
                              <a:latin typeface="Cambria Math" panose="02040503050406030204" pitchFamily="18" charset="0"/>
                            </a:rPr>
                            <m:t>=1</m:t>
                          </m:r>
                        </m:sub>
                        <m:sup>
                          <m:r>
                            <a:rPr lang="en-US" b="0" i="1" smtClean="0">
                              <a:latin typeface="Cambria Math" panose="02040503050406030204" pitchFamily="18" charset="0"/>
                            </a:rPr>
                            <m:t>𝑇</m:t>
                          </m:r>
                        </m:sup>
                        <m:e>
                          <m:r>
                            <a:rPr lang="en-US" i="1">
                              <a:latin typeface="Cambria Math" panose="02040503050406030204" pitchFamily="18" charset="0"/>
                            </a:rPr>
                            <m:t>ℙ</m:t>
                          </m:r>
                          <m:d>
                            <m:dPr>
                              <m:sepChr m:val="∣"/>
                              <m:ctrlPr>
                                <a:rPr lang="en-US" i="1">
                                  <a:latin typeface="Cambria Math" panose="02040503050406030204" pitchFamily="18" charset="0"/>
                                </a:rPr>
                              </m:ctrlPr>
                            </m:dPr>
                            <m:e>
                              <m:sSub>
                                <m:sSubPr>
                                  <m:ctrlPr>
                                    <a:rPr lang="en-US" b="0" i="1" smtClean="0">
                                      <a:latin typeface="Cambria Math" panose="02040503050406030204" pitchFamily="18" charset="0"/>
                                    </a:rPr>
                                  </m:ctrlPr>
                                </m:sSubPr>
                                <m:e>
                                  <m:r>
                                    <a:rPr lang="en-US" b="1" i="1" smtClean="0">
                                      <a:latin typeface="Cambria Math" panose="02040503050406030204" pitchFamily="18" charset="0"/>
                                    </a:rPr>
                                    <m:t>𝑿</m:t>
                                  </m:r>
                                </m:e>
                                <m:sub>
                                  <m:r>
                                    <a:rPr lang="en-US" b="0" i="1" smtClean="0">
                                      <a:latin typeface="Cambria Math" panose="02040503050406030204" pitchFamily="18" charset="0"/>
                                    </a:rPr>
                                    <m:t>𝑡</m:t>
                                  </m:r>
                                  <m:r>
                                    <a:rPr lang="en-US" b="0" i="1" smtClean="0">
                                      <a:latin typeface="Cambria Math" panose="02040503050406030204" pitchFamily="18" charset="0"/>
                                    </a:rPr>
                                    <m:t>−1</m:t>
                                  </m:r>
                                </m:sub>
                              </m:sSub>
                            </m:e>
                            <m:e>
                              <m:sSub>
                                <m:sSubPr>
                                  <m:ctrlPr>
                                    <a:rPr lang="en-US" b="0" i="1" smtClean="0">
                                      <a:latin typeface="Cambria Math" panose="02040503050406030204" pitchFamily="18" charset="0"/>
                                    </a:rPr>
                                  </m:ctrlPr>
                                </m:sSubPr>
                                <m:e>
                                  <m:r>
                                    <a:rPr lang="en-US" b="1" i="1" smtClean="0">
                                      <a:latin typeface="Cambria Math" panose="02040503050406030204" pitchFamily="18" charset="0"/>
                                    </a:rPr>
                                    <m:t>𝑿</m:t>
                                  </m:r>
                                </m:e>
                                <m:sub>
                                  <m:r>
                                    <a:rPr lang="en-US" b="0" i="1" smtClean="0">
                                      <a:latin typeface="Cambria Math" panose="02040503050406030204" pitchFamily="18" charset="0"/>
                                    </a:rPr>
                                    <m:t>𝑡</m:t>
                                  </m:r>
                                </m:sub>
                              </m:sSub>
                            </m:e>
                          </m:d>
                        </m:e>
                      </m:nary>
                    </m:oMath>
                  </m:oMathPara>
                </a14:m>
                <a:endParaRPr lang="en-US" dirty="0">
                  <a:latin typeface="+mj-lt"/>
                </a:endParaRPr>
              </a:p>
              <a:p>
                <a:r>
                  <a:rPr lang="en-US" dirty="0">
                    <a:latin typeface="+mj-lt"/>
                  </a:rPr>
                  <a:t>Sampling through step-by-step denoising with </a:t>
                </a:r>
                <a14:m>
                  <m:oMath xmlns:m="http://schemas.openxmlformats.org/officeDocument/2006/math">
                    <m:r>
                      <a:rPr lang="en-US" i="1">
                        <a:latin typeface="Cambria Math" panose="02040503050406030204" pitchFamily="18" charset="0"/>
                      </a:rPr>
                      <m:t>∀</m:t>
                    </m:r>
                    <m:r>
                      <a:rPr lang="en-US" i="1">
                        <a:latin typeface="Cambria Math" panose="02040503050406030204" pitchFamily="18" charset="0"/>
                      </a:rPr>
                      <m:t>𝑡</m:t>
                    </m:r>
                    <m:r>
                      <a:rPr lang="en-US" i="1">
                        <a:latin typeface="Cambria Math" panose="02040503050406030204" pitchFamily="18" charset="0"/>
                      </a:rPr>
                      <m:t>∈</m:t>
                    </m:r>
                    <m:r>
                      <m:rPr>
                        <m:lit/>
                      </m:rPr>
                      <a:rPr lang="en-US" i="1">
                        <a:latin typeface="Cambria Math" panose="02040503050406030204" pitchFamily="18" charset="0"/>
                      </a:rPr>
                      <m:t>{</m:t>
                    </m:r>
                    <m:r>
                      <a:rPr lang="en-US" i="1">
                        <a:latin typeface="Cambria Math" panose="02040503050406030204" pitchFamily="18" charset="0"/>
                      </a:rPr>
                      <m:t>1,…,</m:t>
                    </m:r>
                    <m:r>
                      <a:rPr lang="en-US" i="1">
                        <a:latin typeface="Cambria Math" panose="02040503050406030204" pitchFamily="18" charset="0"/>
                      </a:rPr>
                      <m:t>𝑇</m:t>
                    </m:r>
                    <m:r>
                      <m:rPr>
                        <m:lit/>
                      </m:rPr>
                      <a:rPr lang="en-US" i="1">
                        <a:latin typeface="Cambria Math" panose="02040503050406030204" pitchFamily="18" charset="0"/>
                      </a:rPr>
                      <m:t>}</m:t>
                    </m:r>
                    <m:r>
                      <a:rPr lang="en-US" i="1">
                        <a:latin typeface="Cambria Math" panose="02040503050406030204" pitchFamily="18" charset="0"/>
                      </a:rPr>
                      <m:t>, </m:t>
                    </m:r>
                    <m:sSub>
                      <m:sSubPr>
                        <m:ctrlPr>
                          <a:rPr lang="en-US" i="1">
                            <a:latin typeface="Cambria Math" panose="02040503050406030204" pitchFamily="18" charset="0"/>
                          </a:rPr>
                        </m:ctrlPr>
                      </m:sSubPr>
                      <m:e>
                        <m:r>
                          <a:rPr lang="en-US" b="0" i="1" smtClean="0">
                            <a:latin typeface="Cambria Math" panose="02040503050406030204" pitchFamily="18" charset="0"/>
                          </a:rPr>
                          <m:t>𝑔</m:t>
                        </m:r>
                      </m:e>
                      <m:sub>
                        <m:r>
                          <a:rPr lang="en-US" i="1">
                            <a:latin typeface="Cambria Math" panose="02040503050406030204" pitchFamily="18" charset="0"/>
                          </a:rPr>
                          <m:t>𝑡</m:t>
                        </m:r>
                      </m:sub>
                    </m:sSub>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ℝ</m:t>
                        </m:r>
                      </m:e>
                      <m:sup>
                        <m:r>
                          <a:rPr lang="en-US" i="1">
                            <a:latin typeface="Cambria Math" panose="02040503050406030204" pitchFamily="18" charset="0"/>
                          </a:rPr>
                          <m:t>𝐹</m:t>
                        </m:r>
                      </m:sup>
                    </m:sSup>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ℝ</m:t>
                        </m:r>
                      </m:e>
                      <m:sup>
                        <m:r>
                          <a:rPr lang="en-US" i="1">
                            <a:latin typeface="Cambria Math" panose="02040503050406030204" pitchFamily="18" charset="0"/>
                          </a:rPr>
                          <m:t>𝐹</m:t>
                        </m:r>
                      </m:sup>
                    </m:sSup>
                  </m:oMath>
                </a14:m>
                <a:endParaRPr lang="en-US" i="1" dirty="0">
                  <a:latin typeface="+mj-lt"/>
                </a:endParaRPr>
              </a:p>
              <a:p>
                <a:pPr marL="0" indent="0">
                  <a:buNone/>
                </a:pPr>
                <a14:m>
                  <m:oMathPara xmlns:m="http://schemas.openxmlformats.org/officeDocument/2006/math">
                    <m:oMathParaPr>
                      <m:jc m:val="centerGroup"/>
                    </m:oMathParaPr>
                    <m:oMath xmlns:m="http://schemas.openxmlformats.org/officeDocument/2006/math">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𝑔</m:t>
                          </m:r>
                        </m:e>
                        <m:sub>
                          <m:r>
                            <a:rPr lang="en-US" b="0" i="1" smtClean="0">
                              <a:latin typeface="Cambria Math" panose="02040503050406030204" pitchFamily="18" charset="0"/>
                            </a:rPr>
                            <m:t>𝑡</m:t>
                          </m:r>
                        </m:sub>
                        <m:sup>
                          <m:r>
                            <a:rPr lang="en-US" b="0" i="1" smtClean="0">
                              <a:latin typeface="Cambria Math" panose="02040503050406030204" pitchFamily="18" charset="0"/>
                            </a:rPr>
                            <m:t>∗</m:t>
                          </m:r>
                        </m:sup>
                      </m:sSubSup>
                      <m:r>
                        <a:rPr lang="en-US" i="1">
                          <a:latin typeface="Cambria Math" panose="02040503050406030204" pitchFamily="18" charset="0"/>
                        </a:rPr>
                        <m:t>=</m:t>
                      </m:r>
                      <m:func>
                        <m:funcPr>
                          <m:ctrlPr>
                            <a:rPr lang="en-US" i="1">
                              <a:latin typeface="Cambria Math" panose="02040503050406030204" pitchFamily="18" charset="0"/>
                            </a:rPr>
                          </m:ctrlPr>
                        </m:funcPr>
                        <m:fName>
                          <m:r>
                            <m:rPr>
                              <m:sty m:val="p"/>
                            </m:rPr>
                            <a:rPr lang="en-US">
                              <a:latin typeface="Cambria Math" panose="02040503050406030204" pitchFamily="18" charset="0"/>
                            </a:rPr>
                            <m:t>arg</m:t>
                          </m:r>
                        </m:fName>
                        <m:e>
                          <m:r>
                            <a:rPr lang="en-US" i="1">
                              <a:latin typeface="Cambria Math" panose="02040503050406030204" pitchFamily="18" charset="0"/>
                            </a:rPr>
                            <m:t> </m:t>
                          </m:r>
                          <m:func>
                            <m:funcPr>
                              <m:ctrlPr>
                                <a:rPr lang="en-US" i="1">
                                  <a:latin typeface="Cambria Math" panose="02040503050406030204" pitchFamily="18" charset="0"/>
                                </a:rPr>
                              </m:ctrlPr>
                            </m:funcPr>
                            <m:fName>
                              <m:limLow>
                                <m:limLowPr>
                                  <m:ctrlPr>
                                    <a:rPr lang="en-US" i="1">
                                      <a:latin typeface="Cambria Math" panose="02040503050406030204" pitchFamily="18" charset="0"/>
                                    </a:rPr>
                                  </m:ctrlPr>
                                </m:limLowPr>
                                <m:e>
                                  <m:r>
                                    <m:rPr>
                                      <m:sty m:val="p"/>
                                    </m:rPr>
                                    <a:rPr lang="en-US">
                                      <a:latin typeface="Cambria Math" panose="02040503050406030204" pitchFamily="18" charset="0"/>
                                    </a:rPr>
                                    <m:t>min</m:t>
                                  </m:r>
                                </m:e>
                                <m:lim>
                                  <m:r>
                                    <a:rPr lang="en-US" i="1">
                                      <a:latin typeface="Cambria Math" panose="02040503050406030204" pitchFamily="18" charset="0"/>
                                    </a:rPr>
                                    <m:t>𝑔</m:t>
                                  </m:r>
                                </m:lim>
                              </m:limLow>
                            </m:fName>
                            <m:e>
                              <m:sSub>
                                <m:sSubPr>
                                  <m:ctrlPr>
                                    <a:rPr lang="en-US" i="1">
                                      <a:latin typeface="Cambria Math" panose="02040503050406030204" pitchFamily="18" charset="0"/>
                                    </a:rPr>
                                  </m:ctrlPr>
                                </m:sSubPr>
                                <m:e>
                                  <m:r>
                                    <a:rPr lang="en-US" i="1">
                                      <a:latin typeface="Cambria Math" panose="02040503050406030204" pitchFamily="18" charset="0"/>
                                    </a:rPr>
                                    <m:t>𝔼</m:t>
                                  </m:r>
                                </m:e>
                                <m:sub>
                                  <m:r>
                                    <a:rPr lang="en-US" i="1">
                                      <a:latin typeface="Cambria Math" panose="02040503050406030204" pitchFamily="18" charset="0"/>
                                    </a:rPr>
                                    <m:t>𝒟</m:t>
                                  </m:r>
                                  <m:r>
                                    <a:rPr lang="en-US" i="1">
                                      <a:latin typeface="Cambria Math" panose="02040503050406030204" pitchFamily="18" charset="0"/>
                                    </a:rPr>
                                    <m:t>,</m:t>
                                  </m:r>
                                  <m:r>
                                    <a:rPr lang="en-US" i="1">
                                      <a:latin typeface="Cambria Math" panose="02040503050406030204" pitchFamily="18" charset="0"/>
                                    </a:rPr>
                                    <m:t>𝑍</m:t>
                                  </m:r>
                                </m:sub>
                              </m:sSub>
                            </m:e>
                          </m:func>
                        </m:e>
                      </m:func>
                      <m:d>
                        <m:dPr>
                          <m:begChr m:val="["/>
                          <m:endChr m:val="]"/>
                          <m:ctrlPr>
                            <a:rPr lang="en-US" i="1">
                              <a:latin typeface="Cambria Math" panose="02040503050406030204" pitchFamily="18" charset="0"/>
                            </a:rPr>
                          </m:ctrlPr>
                        </m:dPr>
                        <m:e>
                          <m:r>
                            <a:rPr lang="en-US" i="1">
                              <a:latin typeface="Cambria Math" panose="02040503050406030204" pitchFamily="18" charset="0"/>
                            </a:rPr>
                            <m:t>−</m:t>
                          </m:r>
                          <m:func>
                            <m:funcPr>
                              <m:ctrlPr>
                                <a:rPr lang="en-US" i="1">
                                  <a:latin typeface="Cambria Math" panose="02040503050406030204" pitchFamily="18" charset="0"/>
                                </a:rPr>
                              </m:ctrlPr>
                            </m:funcPr>
                            <m:fName>
                              <m:r>
                                <m:rPr>
                                  <m:sty m:val="p"/>
                                </m:rPr>
                                <a:rPr lang="en-US">
                                  <a:latin typeface="Cambria Math" panose="02040503050406030204" pitchFamily="18" charset="0"/>
                                </a:rPr>
                                <m:t>log</m:t>
                              </m:r>
                            </m:fName>
                            <m:e>
                              <m:r>
                                <a:rPr lang="en-US" i="1">
                                  <a:latin typeface="Cambria Math" panose="02040503050406030204" pitchFamily="18" charset="0"/>
                                </a:rPr>
                                <m:t>ℙ</m:t>
                              </m:r>
                              <m:d>
                                <m:dPr>
                                  <m:ctrlPr>
                                    <a:rPr lang="en-US" i="1">
                                      <a:latin typeface="Cambria Math" panose="02040503050406030204" pitchFamily="18" charset="0"/>
                                    </a:rPr>
                                  </m:ctrlPr>
                                </m:dPr>
                                <m:e>
                                  <m:r>
                                    <a:rPr lang="en-US" i="1">
                                      <a:latin typeface="Cambria Math" panose="02040503050406030204" pitchFamily="18" charset="0"/>
                                    </a:rPr>
                                    <m:t>𝑔</m:t>
                                  </m:r>
                                  <m:d>
                                    <m:dPr>
                                      <m:ctrlPr>
                                        <a:rPr lang="en-US" i="1">
                                          <a:latin typeface="Cambria Math" panose="02040503050406030204" pitchFamily="18" charset="0"/>
                                        </a:rPr>
                                      </m:ctrlPr>
                                    </m:dPr>
                                    <m:e>
                                      <m:sSub>
                                        <m:sSubPr>
                                          <m:ctrlPr>
                                            <a:rPr lang="en-US" b="0" i="1" smtClean="0">
                                              <a:latin typeface="Cambria Math" panose="02040503050406030204" pitchFamily="18" charset="0"/>
                                            </a:rPr>
                                          </m:ctrlPr>
                                        </m:sSubPr>
                                        <m:e>
                                          <m:r>
                                            <a:rPr lang="en-US" b="1" i="1" smtClean="0">
                                              <a:latin typeface="Cambria Math" panose="02040503050406030204" pitchFamily="18" charset="0"/>
                                            </a:rPr>
                                            <m:t>𝑿</m:t>
                                          </m:r>
                                        </m:e>
                                        <m:sub>
                                          <m:r>
                                            <a:rPr lang="en-US" b="0" i="1" smtClean="0">
                                              <a:latin typeface="Cambria Math" panose="02040503050406030204" pitchFamily="18" charset="0"/>
                                            </a:rPr>
                                            <m:t>𝑡</m:t>
                                          </m:r>
                                        </m:sub>
                                      </m:sSub>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1" i="1" smtClean="0">
                                          <a:latin typeface="Cambria Math" panose="02040503050406030204" pitchFamily="18" charset="0"/>
                                        </a:rPr>
                                        <m:t>𝑿</m:t>
                                      </m:r>
                                    </m:e>
                                    <m:sub>
                                      <m:r>
                                        <a:rPr lang="en-US" b="0" i="1" smtClean="0">
                                          <a:latin typeface="Cambria Math" panose="02040503050406030204" pitchFamily="18" charset="0"/>
                                        </a:rPr>
                                        <m:t>𝑡</m:t>
                                      </m:r>
                                    </m:sub>
                                  </m:sSub>
                                </m:e>
                              </m:d>
                            </m:e>
                          </m:func>
                        </m:e>
                      </m:d>
                    </m:oMath>
                  </m:oMathPara>
                </a14:m>
                <a:endParaRPr lang="en-US"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acc>
                            <m:accPr>
                              <m:chr m:val="̂"/>
                              <m:ctrlPr>
                                <a:rPr lang="en-US" i="1">
                                  <a:latin typeface="Cambria Math" panose="02040503050406030204" pitchFamily="18" charset="0"/>
                                </a:rPr>
                              </m:ctrlPr>
                            </m:accPr>
                            <m:e>
                              <m:r>
                                <a:rPr lang="en-US" b="1" i="1">
                                  <a:latin typeface="Cambria Math" panose="02040503050406030204" pitchFamily="18" charset="0"/>
                                </a:rPr>
                                <m:t>𝑿</m:t>
                              </m:r>
                            </m:e>
                          </m:acc>
                        </m:e>
                        <m:sub>
                          <m:r>
                            <a:rPr lang="en-US" b="0" i="1" smtClean="0">
                              <a:latin typeface="Cambria Math" panose="02040503050406030204" pitchFamily="18" charset="0"/>
                            </a:rPr>
                            <m:t>0</m:t>
                          </m:r>
                        </m:sub>
                      </m:sSub>
                      <m:r>
                        <a:rPr lang="en-US" i="1">
                          <a:latin typeface="Cambria Math" panose="02040503050406030204" pitchFamily="18" charset="0"/>
                        </a:rPr>
                        <m:t>=</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i="1">
                                  <a:latin typeface="Cambria Math" panose="02040503050406030204" pitchFamily="18" charset="0"/>
                                </a:rPr>
                                <m:t>𝑔</m:t>
                              </m:r>
                            </m:e>
                            <m:sub>
                              <m:r>
                                <a:rPr lang="en-US" b="0" i="1" smtClean="0">
                                  <a:latin typeface="Cambria Math" panose="02040503050406030204" pitchFamily="18" charset="0"/>
                                </a:rPr>
                                <m:t>𝑇</m:t>
                              </m:r>
                            </m:sub>
                          </m:sSub>
                          <m:r>
                            <a:rPr lang="en-US" b="0" i="1" smtClean="0">
                              <a:latin typeface="Cambria Math" panose="02040503050406030204" pitchFamily="18" charset="0"/>
                            </a:rPr>
                            <m:t>∘…</m:t>
                          </m:r>
                          <m:r>
                            <a:rPr lang="en-US" i="1">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𝑔</m:t>
                              </m:r>
                            </m:e>
                            <m:sub>
                              <m:r>
                                <a:rPr lang="en-US" b="0" i="1" smtClean="0">
                                  <a:latin typeface="Cambria Math" panose="02040503050406030204" pitchFamily="18" charset="0"/>
                                </a:rPr>
                                <m:t>1</m:t>
                              </m:r>
                            </m:sub>
                          </m:sSub>
                        </m:e>
                      </m:d>
                      <m:d>
                        <m:dPr>
                          <m:ctrlPr>
                            <a:rPr lang="en-US" i="1">
                              <a:latin typeface="Cambria Math" panose="02040503050406030204" pitchFamily="18" charset="0"/>
                            </a:rPr>
                          </m:ctrlPr>
                        </m:dPr>
                        <m:e>
                          <m:r>
                            <a:rPr lang="en-US" i="1" smtClean="0">
                              <a:latin typeface="Cambria Math" panose="02040503050406030204" pitchFamily="18" charset="0"/>
                            </a:rPr>
                            <m:t>𝑍</m:t>
                          </m:r>
                        </m:e>
                      </m:d>
                    </m:oMath>
                  </m:oMathPara>
                </a14:m>
                <a:endParaRPr lang="en-US" sz="2000" i="1" dirty="0"/>
              </a:p>
            </p:txBody>
          </p:sp>
        </mc:Choice>
        <mc:Fallback xmlns="">
          <p:sp>
            <p:nvSpPr>
              <p:cNvPr id="9" name="Content Placeholder 8">
                <a:extLst>
                  <a:ext uri="{FF2B5EF4-FFF2-40B4-BE49-F238E27FC236}">
                    <a16:creationId xmlns:a16="http://schemas.microsoft.com/office/drawing/2014/main" id="{DBBB71AA-A60E-AE64-D20E-62E60C50023E}"/>
                  </a:ext>
                </a:extLst>
              </p:cNvPr>
              <p:cNvSpPr>
                <a:spLocks noGrp="1" noRot="1" noChangeAspect="1" noMove="1" noResize="1" noEditPoints="1" noAdjustHandles="1" noChangeArrowheads="1" noChangeShapeType="1" noTextEdit="1"/>
              </p:cNvSpPr>
              <p:nvPr>
                <p:ph idx="1"/>
              </p:nvPr>
            </p:nvSpPr>
            <p:spPr>
              <a:blipFill>
                <a:blip r:embed="rId3"/>
                <a:stretch>
                  <a:fillRect r="-631"/>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CA69C782-92EB-5E89-2A51-3AB081937BAF}"/>
              </a:ext>
            </a:extLst>
          </p:cNvPr>
          <p:cNvSpPr>
            <a:spLocks noGrp="1"/>
          </p:cNvSpPr>
          <p:nvPr>
            <p:ph type="title"/>
          </p:nvPr>
        </p:nvSpPr>
        <p:spPr>
          <a:xfrm>
            <a:off x="904875" y="131032"/>
            <a:ext cx="7207279" cy="1072753"/>
          </a:xfrm>
        </p:spPr>
        <p:txBody>
          <a:bodyPr>
            <a:normAutofit/>
          </a:bodyPr>
          <a:lstStyle/>
          <a:p>
            <a:r>
              <a:rPr lang="en-US" dirty="0"/>
              <a:t>4.2	Hierarchical Generative Graph Diffusion</a:t>
            </a:r>
            <a:br>
              <a:rPr lang="en-US" dirty="0"/>
            </a:br>
            <a:r>
              <a:rPr lang="en-US" sz="2400" b="0" i="1" dirty="0"/>
              <a:t>Background - Diffusion models </a:t>
            </a:r>
            <a:r>
              <a:rPr lang="en-US" sz="2400" b="0" i="1" dirty="0">
                <a:solidFill>
                  <a:schemeClr val="accent1"/>
                </a:solidFill>
              </a:rPr>
              <a:t>[5]</a:t>
            </a:r>
            <a:endParaRPr lang="en-GB" sz="2400" b="0" i="1" dirty="0">
              <a:solidFill>
                <a:schemeClr val="accent1"/>
              </a:solidFill>
            </a:endParaRPr>
          </a:p>
        </p:txBody>
      </p:sp>
      <p:sp>
        <p:nvSpPr>
          <p:cNvPr id="5" name="Date Placeholder 4">
            <a:extLst>
              <a:ext uri="{FF2B5EF4-FFF2-40B4-BE49-F238E27FC236}">
                <a16:creationId xmlns:a16="http://schemas.microsoft.com/office/drawing/2014/main" id="{15E1C889-469C-B264-06B0-8693FEC37DB5}"/>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4F567718-F929-DF3A-1110-4CE7CAE67F0F}"/>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F3035225-1D76-1DC6-C782-09E016470CD9}"/>
              </a:ext>
            </a:extLst>
          </p:cNvPr>
          <p:cNvSpPr>
            <a:spLocks noGrp="1"/>
          </p:cNvSpPr>
          <p:nvPr>
            <p:ph type="sldNum" sz="quarter" idx="12"/>
          </p:nvPr>
        </p:nvSpPr>
        <p:spPr/>
        <p:txBody>
          <a:bodyPr/>
          <a:lstStyle/>
          <a:p>
            <a:fld id="{E1E1CD7C-2161-7D43-862E-CE4C333CD873}" type="slidenum">
              <a:rPr lang="fr-FR" smtClean="0"/>
              <a:pPr/>
              <a:t>46</a:t>
            </a:fld>
            <a:endParaRPr lang="fr-FR" dirty="0"/>
          </a:p>
        </p:txBody>
      </p:sp>
    </p:spTree>
    <p:extLst>
      <p:ext uri="{BB962C8B-B14F-4D97-AF65-F5344CB8AC3E}">
        <p14:creationId xmlns:p14="http://schemas.microsoft.com/office/powerpoint/2010/main" val="41875415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4" presetClass="entr" presetSubtype="10" fill="hold" nodeType="clickEffect">
                                  <p:stCondLst>
                                    <p:cond delay="0"/>
                                  </p:stCondLst>
                                  <p:childTnLst>
                                    <p:set>
                                      <p:cBhvr>
                                        <p:cTn id="17"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8" dur="500"/>
                                        <p:tgtEl>
                                          <p:spTgt spid="9">
                                            <p:txEl>
                                              <p:pRg st="3" end="3"/>
                                            </p:txEl>
                                          </p:spTgt>
                                        </p:tgtEl>
                                      </p:cBhvr>
                                    </p:animEffect>
                                  </p:childTnLst>
                                </p:cTn>
                              </p:par>
                              <p:par>
                                <p:cTn id="19" presetID="14" presetClass="entr" presetSubtype="10" fill="hold" nodeType="withEffect">
                                  <p:stCondLst>
                                    <p:cond delay="0"/>
                                  </p:stCondLst>
                                  <p:childTnLst>
                                    <p:set>
                                      <p:cBhvr>
                                        <p:cTn id="20" dur="1" fill="hold">
                                          <p:stCondLst>
                                            <p:cond delay="0"/>
                                          </p:stCondLst>
                                        </p:cTn>
                                        <p:tgtEl>
                                          <p:spTgt spid="9">
                                            <p:txEl>
                                              <p:pRg st="4" end="4"/>
                                            </p:txEl>
                                          </p:spTgt>
                                        </p:tgtEl>
                                        <p:attrNameLst>
                                          <p:attrName>style.visibility</p:attrName>
                                        </p:attrNameLst>
                                      </p:cBhvr>
                                      <p:to>
                                        <p:strVal val="visible"/>
                                      </p:to>
                                    </p:set>
                                    <p:animEffect transition="in" filter="randombar(horizontal)">
                                      <p:cBhvr>
                                        <p:cTn id="21" dur="500"/>
                                        <p:tgtEl>
                                          <p:spTgt spid="9">
                                            <p:txEl>
                                              <p:pRg st="4" end="4"/>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4" dur="500"/>
                                        <p:tgtEl>
                                          <p:spTgt spid="9">
                                            <p:txEl>
                                              <p:pRg st="5" end="5"/>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14" presetClass="entr" presetSubtype="10" fill="hold" nodeType="clickEffect">
                                  <p:stCondLst>
                                    <p:cond delay="0"/>
                                  </p:stCondLst>
                                  <p:childTnLst>
                                    <p:set>
                                      <p:cBhvr>
                                        <p:cTn id="28" dur="1" fill="hold">
                                          <p:stCondLst>
                                            <p:cond delay="0"/>
                                          </p:stCondLst>
                                        </p:cTn>
                                        <p:tgtEl>
                                          <p:spTgt spid="9">
                                            <p:txEl>
                                              <p:pRg st="6" end="6"/>
                                            </p:txEl>
                                          </p:spTgt>
                                        </p:tgtEl>
                                        <p:attrNameLst>
                                          <p:attrName>style.visibility</p:attrName>
                                        </p:attrNameLst>
                                      </p:cBhvr>
                                      <p:to>
                                        <p:strVal val="visible"/>
                                      </p:to>
                                    </p:set>
                                    <p:animEffect transition="in" filter="randombar(horizontal)">
                                      <p:cBhvr>
                                        <p:cTn id="29" dur="500"/>
                                        <p:tgtEl>
                                          <p:spTgt spid="9">
                                            <p:txEl>
                                              <p:pRg st="6" end="6"/>
                                            </p:txEl>
                                          </p:spTgt>
                                        </p:tgtEl>
                                      </p:cBhvr>
                                    </p:animEffect>
                                  </p:childTnLst>
                                </p:cTn>
                              </p:par>
                              <p:par>
                                <p:cTn id="30" presetID="14" presetClass="entr" presetSubtype="10" fill="hold" nodeType="withEffect">
                                  <p:stCondLst>
                                    <p:cond delay="0"/>
                                  </p:stCondLst>
                                  <p:childTnLst>
                                    <p:set>
                                      <p:cBhvr>
                                        <p:cTn id="31"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2" dur="500"/>
                                        <p:tgtEl>
                                          <p:spTgt spid="9">
                                            <p:txEl>
                                              <p:pRg st="7" end="7"/>
                                            </p:txEl>
                                          </p:spTgt>
                                        </p:tgtEl>
                                      </p:cBhvr>
                                    </p:animEffect>
                                  </p:childTnLst>
                                </p:cTn>
                              </p:par>
                              <p:par>
                                <p:cTn id="33" presetID="14" presetClass="entr" presetSubtype="10" fill="hold" nodeType="withEffect">
                                  <p:stCondLst>
                                    <p:cond delay="0"/>
                                  </p:stCondLst>
                                  <p:childTnLst>
                                    <p:set>
                                      <p:cBhvr>
                                        <p:cTn id="34" dur="1" fill="hold">
                                          <p:stCondLst>
                                            <p:cond delay="0"/>
                                          </p:stCondLst>
                                        </p:cTn>
                                        <p:tgtEl>
                                          <p:spTgt spid="9">
                                            <p:txEl>
                                              <p:pRg st="8" end="8"/>
                                            </p:txEl>
                                          </p:spTgt>
                                        </p:tgtEl>
                                        <p:attrNameLst>
                                          <p:attrName>style.visibility</p:attrName>
                                        </p:attrNameLst>
                                      </p:cBhvr>
                                      <p:to>
                                        <p:strVal val="visible"/>
                                      </p:to>
                                    </p:set>
                                    <p:animEffect transition="in" filter="randombar(horizontal)">
                                      <p:cBhvr>
                                        <p:cTn id="35" dur="500"/>
                                        <p:tgtEl>
                                          <p:spTgt spid="9">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DACBF1-9F7A-2100-3644-473469A432C1}"/>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9" name="Content Placeholder 8">
                <a:extLst>
                  <a:ext uri="{FF2B5EF4-FFF2-40B4-BE49-F238E27FC236}">
                    <a16:creationId xmlns:a16="http://schemas.microsoft.com/office/drawing/2014/main" id="{B1F3BFED-D217-145E-658B-9BF5994151A7}"/>
                  </a:ext>
                </a:extLst>
              </p:cNvPr>
              <p:cNvSpPr>
                <a:spLocks noGrp="1"/>
              </p:cNvSpPr>
              <p:nvPr>
                <p:ph idx="1"/>
              </p:nvPr>
            </p:nvSpPr>
            <p:spPr/>
            <p:txBody>
              <a:bodyPr anchor="ctr">
                <a:normAutofit fontScale="62500" lnSpcReduction="20000"/>
              </a:bodyPr>
              <a:lstStyle/>
              <a:p>
                <a:r>
                  <a:rPr lang="en-US" sz="2100" dirty="0">
                    <a:latin typeface="+mj-lt"/>
                  </a:rPr>
                  <a:t>Discrete diffusion process of </a:t>
                </a:r>
                <a:r>
                  <a:rPr lang="en-US" sz="2100" dirty="0" err="1">
                    <a:latin typeface="+mj-lt"/>
                  </a:rPr>
                  <a:t>DiGress</a:t>
                </a:r>
                <a:r>
                  <a:rPr lang="en-US" sz="2100" dirty="0">
                    <a:latin typeface="+mj-lt"/>
                  </a:rPr>
                  <a:t> </a:t>
                </a:r>
                <a:r>
                  <a:rPr lang="en-US" sz="2100" dirty="0">
                    <a:solidFill>
                      <a:schemeClr val="accent1"/>
                    </a:solidFill>
                    <a:latin typeface="+mj-lt"/>
                  </a:rPr>
                  <a:t>[18]</a:t>
                </a:r>
              </a:p>
              <a:p>
                <a:pPr marL="0" indent="0">
                  <a:buNone/>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𝑖</m:t>
                                  </m:r>
                                  <m:r>
                                    <a:rPr lang="en-US" i="1">
                                      <a:latin typeface="Cambria Math" panose="02040503050406030204" pitchFamily="18" charset="0"/>
                                    </a:rPr>
                                    <m:t>,</m:t>
                                  </m:r>
                                  <m:r>
                                    <a:rPr lang="en-US" i="1">
                                      <a:latin typeface="Cambria Math" panose="02040503050406030204" pitchFamily="18" charset="0"/>
                                    </a:rPr>
                                    <m:t>𝑗</m:t>
                                  </m:r>
                                </m:sub>
                              </m:sSub>
                            </m:e>
                          </m:d>
                        </m:e>
                        <m:sub>
                          <m:r>
                            <a:rPr lang="en-US" i="1">
                              <a:latin typeface="Cambria Math" panose="02040503050406030204" pitchFamily="18" charset="0"/>
                            </a:rPr>
                            <m:t>𝑡</m:t>
                          </m:r>
                        </m:sub>
                      </m:sSub>
                      <m:r>
                        <a:rPr lang="en-US" i="1">
                          <a:latin typeface="Cambria Math" panose="02040503050406030204" pitchFamily="18" charset="0"/>
                        </a:rPr>
                        <m:t>∼</m:t>
                      </m:r>
                      <m:r>
                        <m:rPr>
                          <m:nor/>
                        </m:rPr>
                        <a:rPr lang="en-US">
                          <a:latin typeface="Cambria Math" panose="02040503050406030204" pitchFamily="18" charset="0"/>
                        </a:rPr>
                        <m:t>Categorical</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𝑄</m:t>
                              </m:r>
                            </m:e>
                            <m:sub>
                              <m:r>
                                <a:rPr lang="en-US" i="1">
                                  <a:latin typeface="Cambria Math" panose="02040503050406030204" pitchFamily="18" charset="0"/>
                                </a:rPr>
                                <m:t>𝑡</m:t>
                              </m:r>
                            </m:sub>
                          </m:sSub>
                          <m:r>
                            <a:rPr lang="en-US" i="1">
                              <a:latin typeface="Cambria Math" panose="02040503050406030204" pitchFamily="18" charset="0"/>
                            </a:rPr>
                            <m:t>⋅</m:t>
                          </m:r>
                          <m:r>
                            <m:rPr>
                              <m:nor/>
                            </m:rPr>
                            <a:rPr lang="en-US">
                              <a:latin typeface="Cambria Math" panose="02040503050406030204" pitchFamily="18" charset="0"/>
                            </a:rPr>
                            <m:t>OneHot</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𝑖</m:t>
                                          </m:r>
                                          <m:r>
                                            <a:rPr lang="en-US" i="1">
                                              <a:latin typeface="Cambria Math" panose="02040503050406030204" pitchFamily="18" charset="0"/>
                                            </a:rPr>
                                            <m:t>,</m:t>
                                          </m:r>
                                          <m:r>
                                            <a:rPr lang="en-US" i="1">
                                              <a:latin typeface="Cambria Math" panose="02040503050406030204" pitchFamily="18" charset="0"/>
                                            </a:rPr>
                                            <m:t>𝑗</m:t>
                                          </m:r>
                                        </m:sub>
                                      </m:sSub>
                                    </m:e>
                                  </m:d>
                                </m:e>
                                <m:sub>
                                  <m:r>
                                    <a:rPr lang="en-US" i="1">
                                      <a:latin typeface="Cambria Math" panose="02040503050406030204" pitchFamily="18" charset="0"/>
                                    </a:rPr>
                                    <m:t>0</m:t>
                                  </m:r>
                                </m:sub>
                              </m:sSub>
                            </m:e>
                          </m:d>
                        </m:e>
                      </m:d>
                    </m:oMath>
                  </m:oMathPara>
                </a14:m>
                <a:endParaRPr lang="en-US" i="1" dirty="0">
                  <a:latin typeface="Cambria Math" panose="02040503050406030204" pitchFamily="18" charset="0"/>
                </a:endParaRPr>
              </a:p>
              <a:p>
                <a:pPr marL="0" indent="0" algn="ctr">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𝑄</m:t>
                          </m:r>
                        </m:e>
                        <m:sub>
                          <m:r>
                            <a:rPr lang="en-US" i="1">
                              <a:latin typeface="Cambria Math" panose="02040503050406030204" pitchFamily="18" charset="0"/>
                            </a:rPr>
                            <m:t>𝑡</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𝛼</m:t>
                          </m:r>
                        </m:e>
                        <m:sub>
                          <m:r>
                            <a:rPr lang="en-US" i="1">
                              <a:latin typeface="Cambria Math" panose="02040503050406030204" pitchFamily="18" charset="0"/>
                            </a:rPr>
                            <m:t>𝑡</m:t>
                          </m:r>
                        </m:sub>
                      </m:sSub>
                      <m:r>
                        <a:rPr lang="en-US" i="1">
                          <a:latin typeface="Cambria Math" panose="02040503050406030204" pitchFamily="18" charset="0"/>
                        </a:rPr>
                        <m:t>𝐼</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𝛽</m:t>
                          </m:r>
                        </m:e>
                        <m:sub>
                          <m:r>
                            <a:rPr lang="en-US" i="1">
                              <a:latin typeface="Cambria Math" panose="02040503050406030204" pitchFamily="18" charset="0"/>
                            </a:rPr>
                            <m:t>𝑡</m:t>
                          </m:r>
                        </m:sub>
                      </m:sSub>
                      <m:acc>
                        <m:accPr>
                          <m:chr m:val="̂"/>
                          <m:ctrlPr>
                            <a:rPr lang="en-US" i="1">
                              <a:latin typeface="Cambria Math" panose="02040503050406030204" pitchFamily="18" charset="0"/>
                            </a:rPr>
                          </m:ctrlPr>
                        </m:accPr>
                        <m:e>
                          <m:r>
                            <a:rPr lang="en-US" i="1">
                              <a:latin typeface="Cambria Math" panose="02040503050406030204" pitchFamily="18" charset="0"/>
                            </a:rPr>
                            <m:t>𝑄</m:t>
                          </m:r>
                        </m:e>
                      </m:acc>
                    </m:oMath>
                  </m:oMathPara>
                </a14:m>
                <a:endParaRPr lang="en-US" dirty="0">
                  <a:latin typeface="+mj-lt"/>
                </a:endParaRPr>
              </a:p>
              <a:p>
                <a:r>
                  <a:rPr lang="en-US" sz="2100" dirty="0">
                    <a:latin typeface="+mj-lt"/>
                  </a:rPr>
                  <a:t>Iterative data coarsening with multi-level Louvain</a:t>
                </a:r>
              </a:p>
              <a:p>
                <a:pPr lvl="1"/>
                <a14:m>
                  <m:oMath xmlns:m="http://schemas.openxmlformats.org/officeDocument/2006/math">
                    <m:r>
                      <a:rPr lang="en-US" sz="1800" b="0" i="1" smtClean="0">
                        <a:latin typeface="Cambria Math" panose="02040503050406030204" pitchFamily="18" charset="0"/>
                      </a:rPr>
                      <m:t>𝐺</m:t>
                    </m:r>
                    <m:r>
                      <a:rPr lang="en-US" sz="1800" b="0" i="1" smtClean="0">
                        <a:latin typeface="Cambria Math" panose="02040503050406030204" pitchFamily="18" charset="0"/>
                      </a:rPr>
                      <m:t>=</m:t>
                    </m:r>
                    <m:sSubSup>
                      <m:sSubSupPr>
                        <m:ctrlPr>
                          <a:rPr lang="en-US" sz="1800" i="1">
                            <a:latin typeface="Cambria Math" panose="02040503050406030204" pitchFamily="18" charset="0"/>
                          </a:rPr>
                        </m:ctrlPr>
                      </m:sSubSupPr>
                      <m:e>
                        <m:d>
                          <m:dPr>
                            <m:begChr m:val="["/>
                            <m:endChr m:val="]"/>
                            <m:ctrlPr>
                              <a:rPr lang="en-US" sz="1800" i="1">
                                <a:latin typeface="Cambria Math" panose="02040503050406030204" pitchFamily="18" charset="0"/>
                              </a:rPr>
                            </m:ctrlPr>
                          </m:dPr>
                          <m:e>
                            <m:sSup>
                              <m:sSupPr>
                                <m:ctrlPr>
                                  <a:rPr lang="en-US" sz="1800" b="0" i="1" smtClean="0">
                                    <a:latin typeface="Cambria Math" panose="02040503050406030204" pitchFamily="18" charset="0"/>
                                  </a:rPr>
                                </m:ctrlPr>
                              </m:sSupPr>
                              <m:e>
                                <m:r>
                                  <a:rPr lang="en-US" sz="1800" b="0" i="1" smtClean="0">
                                    <a:latin typeface="Cambria Math" panose="02040503050406030204" pitchFamily="18" charset="0"/>
                                  </a:rPr>
                                  <m:t>𝐺</m:t>
                                </m:r>
                              </m:e>
                              <m:sup>
                                <m:d>
                                  <m:dPr>
                                    <m:ctrlPr>
                                      <a:rPr lang="en-US" sz="1800" b="0" i="1" smtClean="0">
                                        <a:latin typeface="Cambria Math" panose="02040503050406030204" pitchFamily="18" charset="0"/>
                                      </a:rPr>
                                    </m:ctrlPr>
                                  </m:dPr>
                                  <m:e>
                                    <m:r>
                                      <a:rPr lang="en-US" sz="1800" b="0" i="1" smtClean="0">
                                        <a:latin typeface="Cambria Math" panose="02040503050406030204" pitchFamily="18" charset="0"/>
                                      </a:rPr>
                                      <m:t>𝑙</m:t>
                                    </m:r>
                                  </m:e>
                                </m:d>
                              </m:sup>
                            </m:sSup>
                          </m:e>
                        </m:d>
                      </m:e>
                      <m:sub>
                        <m:r>
                          <a:rPr lang="en-US" sz="1800" i="1">
                            <a:latin typeface="Cambria Math" panose="02040503050406030204" pitchFamily="18" charset="0"/>
                          </a:rPr>
                          <m:t>𝑙</m:t>
                        </m:r>
                        <m:r>
                          <a:rPr lang="en-US" sz="1800" i="1">
                            <a:latin typeface="Cambria Math" panose="02040503050406030204" pitchFamily="18" charset="0"/>
                          </a:rPr>
                          <m:t>=1</m:t>
                        </m:r>
                      </m:sub>
                      <m:sup>
                        <m:r>
                          <a:rPr lang="en-US" sz="1800" i="1">
                            <a:latin typeface="Cambria Math" panose="02040503050406030204" pitchFamily="18" charset="0"/>
                          </a:rPr>
                          <m:t>𝐿</m:t>
                        </m:r>
                      </m:sup>
                    </m:sSubSup>
                    <m:r>
                      <a:rPr lang="en-US" sz="1800" b="0" i="1" smtClean="0">
                        <a:latin typeface="Cambria Math" panose="02040503050406030204" pitchFamily="18" charset="0"/>
                      </a:rPr>
                      <m:t>=</m:t>
                    </m:r>
                    <m:sSubSup>
                      <m:sSubSupPr>
                        <m:ctrlPr>
                          <a:rPr lang="en-US" sz="1800" b="0" i="1" smtClean="0">
                            <a:latin typeface="Cambria Math" panose="02040503050406030204" pitchFamily="18" charset="0"/>
                          </a:rPr>
                        </m:ctrlPr>
                      </m:sSubSupPr>
                      <m:e>
                        <m:d>
                          <m:dPr>
                            <m:begChr m:val="["/>
                            <m:endChr m:val="]"/>
                            <m:ctrlPr>
                              <a:rPr lang="en-US" sz="1800" b="0" i="1" smtClean="0">
                                <a:latin typeface="Cambria Math" panose="02040503050406030204" pitchFamily="18" charset="0"/>
                              </a:rPr>
                            </m:ctrlPr>
                          </m:dPr>
                          <m:e>
                            <m:d>
                              <m:dPr>
                                <m:ctrlPr>
                                  <a:rPr lang="en-US" sz="1800" b="0" i="1" smtClean="0">
                                    <a:latin typeface="Cambria Math" panose="02040503050406030204" pitchFamily="18" charset="0"/>
                                  </a:rPr>
                                </m:ctrlPr>
                              </m:dPr>
                              <m:e>
                                <m:sSup>
                                  <m:sSupPr>
                                    <m:ctrlPr>
                                      <a:rPr lang="en-US" sz="1800" b="0" i="1" smtClean="0">
                                        <a:latin typeface="Cambria Math" panose="02040503050406030204" pitchFamily="18" charset="0"/>
                                      </a:rPr>
                                    </m:ctrlPr>
                                  </m:sSupPr>
                                  <m:e>
                                    <m:r>
                                      <a:rPr lang="en-US" sz="1800" b="1" i="1" smtClean="0">
                                        <a:latin typeface="Cambria Math" panose="02040503050406030204" pitchFamily="18" charset="0"/>
                                      </a:rPr>
                                      <m:t>𝑿</m:t>
                                    </m:r>
                                  </m:e>
                                  <m:sup>
                                    <m:d>
                                      <m:dPr>
                                        <m:ctrlPr>
                                          <a:rPr lang="en-US" sz="1800" b="0" i="1" smtClean="0">
                                            <a:latin typeface="Cambria Math" panose="02040503050406030204" pitchFamily="18" charset="0"/>
                                          </a:rPr>
                                        </m:ctrlPr>
                                      </m:dPr>
                                      <m:e>
                                        <m:r>
                                          <a:rPr lang="en-US" sz="1800" b="0" i="1" smtClean="0">
                                            <a:latin typeface="Cambria Math" panose="02040503050406030204" pitchFamily="18" charset="0"/>
                                          </a:rPr>
                                          <m:t>𝑙</m:t>
                                        </m:r>
                                      </m:e>
                                    </m:d>
                                  </m:sup>
                                </m:sSup>
                                <m:r>
                                  <a:rPr lang="en-US" sz="1800" b="0" i="1" smtClean="0">
                                    <a:latin typeface="Cambria Math" panose="02040503050406030204" pitchFamily="18" charset="0"/>
                                  </a:rPr>
                                  <m:t>,</m:t>
                                </m:r>
                                <m:sSup>
                                  <m:sSupPr>
                                    <m:ctrlPr>
                                      <a:rPr lang="en-US" sz="1800" b="0" i="1" smtClean="0">
                                        <a:latin typeface="Cambria Math" panose="02040503050406030204" pitchFamily="18" charset="0"/>
                                      </a:rPr>
                                    </m:ctrlPr>
                                  </m:sSupPr>
                                  <m:e>
                                    <m:r>
                                      <a:rPr lang="en-US" sz="1800" b="0" i="1" smtClean="0">
                                        <a:latin typeface="Cambria Math" panose="02040503050406030204" pitchFamily="18" charset="0"/>
                                      </a:rPr>
                                      <m:t>𝐴</m:t>
                                    </m:r>
                                  </m:e>
                                  <m:sup>
                                    <m:d>
                                      <m:dPr>
                                        <m:ctrlPr>
                                          <a:rPr lang="en-US" sz="1800" b="0" i="1" smtClean="0">
                                            <a:latin typeface="Cambria Math" panose="02040503050406030204" pitchFamily="18" charset="0"/>
                                          </a:rPr>
                                        </m:ctrlPr>
                                      </m:dPr>
                                      <m:e>
                                        <m:r>
                                          <a:rPr lang="en-US" sz="1800" i="1">
                                            <a:latin typeface="Cambria Math" panose="02040503050406030204" pitchFamily="18" charset="0"/>
                                          </a:rPr>
                                          <m:t>𝑙</m:t>
                                        </m:r>
                                      </m:e>
                                    </m:d>
                                  </m:sup>
                                </m:sSup>
                              </m:e>
                            </m:d>
                          </m:e>
                        </m:d>
                      </m:e>
                      <m:sub>
                        <m:r>
                          <a:rPr lang="en-US" sz="1800" b="0" i="1" smtClean="0">
                            <a:latin typeface="Cambria Math" panose="02040503050406030204" pitchFamily="18" charset="0"/>
                          </a:rPr>
                          <m:t>𝑙</m:t>
                        </m:r>
                        <m:r>
                          <a:rPr lang="en-US" sz="1800" b="0" i="1" smtClean="0">
                            <a:latin typeface="Cambria Math" panose="02040503050406030204" pitchFamily="18" charset="0"/>
                          </a:rPr>
                          <m:t>=1</m:t>
                        </m:r>
                      </m:sub>
                      <m:sup>
                        <m:r>
                          <a:rPr lang="en-US" sz="1800" b="0" i="1" smtClean="0">
                            <a:latin typeface="Cambria Math" panose="02040503050406030204" pitchFamily="18" charset="0"/>
                          </a:rPr>
                          <m:t>𝐿</m:t>
                        </m:r>
                      </m:sup>
                    </m:sSubSup>
                  </m:oMath>
                </a14:m>
                <a:r>
                  <a:rPr lang="en-US" sz="1800" dirty="0"/>
                  <a:t> </a:t>
                </a:r>
                <a14:m>
                  <m:oMath xmlns:m="http://schemas.openxmlformats.org/officeDocument/2006/math">
                    <m:r>
                      <a:rPr lang="en-US" sz="1800" i="1" smtClean="0">
                        <a:latin typeface="Cambria Math" panose="02040503050406030204" pitchFamily="18" charset="0"/>
                      </a:rPr>
                      <m:t>∈</m:t>
                    </m:r>
                    <m:r>
                      <a:rPr lang="en-US" sz="1800" i="1" smtClean="0">
                        <a:latin typeface="Cambria Math" panose="02040503050406030204" pitchFamily="18" charset="0"/>
                      </a:rPr>
                      <m:t>𝒟</m:t>
                    </m:r>
                  </m:oMath>
                </a14:m>
                <a:endParaRPr lang="en-US" sz="1800" dirty="0">
                  <a:latin typeface="+mj-lt"/>
                </a:endParaRPr>
              </a:p>
              <a:p>
                <a:pPr lvl="1"/>
                <a:r>
                  <a:rPr lang="en-US" sz="1800" dirty="0">
                    <a:latin typeface="+mj-lt"/>
                  </a:rPr>
                  <a:t>Root graph, per-level communities and </a:t>
                </a:r>
                <a:r>
                  <a:rPr lang="en-US" sz="1800" dirty="0" err="1">
                    <a:latin typeface="+mj-lt"/>
                  </a:rPr>
                  <a:t>bipartites</a:t>
                </a:r>
                <a:r>
                  <a:rPr lang="en-US" sz="1800" dirty="0">
                    <a:latin typeface="+mj-lt"/>
                  </a:rPr>
                  <a:t> </a:t>
                </a:r>
                <a:endParaRPr lang="en-US" sz="1800" i="1" dirty="0">
                  <a:latin typeface="Cambria Math" panose="02040503050406030204" pitchFamily="18" charset="0"/>
                </a:endParaRPr>
              </a:p>
              <a:p>
                <a:pPr marL="342900" lvl="1" indent="0">
                  <a:buNone/>
                </a:pPr>
                <a14:m>
                  <m:oMathPara xmlns:m="http://schemas.openxmlformats.org/officeDocument/2006/math">
                    <m:oMathParaPr>
                      <m:jc m:val="centerGroup"/>
                    </m:oMathParaPr>
                    <m:oMath xmlns:m="http://schemas.openxmlformats.org/officeDocument/2006/math">
                      <m:r>
                        <a:rPr lang="en-US" sz="1800" i="1" smtClean="0">
                          <a:latin typeface="Cambria Math" panose="02040503050406030204" pitchFamily="18" charset="0"/>
                        </a:rPr>
                        <m:t>𝐺</m:t>
                      </m:r>
                      <m:r>
                        <a:rPr lang="en-US" sz="1800" i="1" smtClean="0">
                          <a:latin typeface="Cambria Math" panose="02040503050406030204" pitchFamily="18" charset="0"/>
                        </a:rPr>
                        <m:t>=</m:t>
                      </m:r>
                      <m:d>
                        <m:dPr>
                          <m:ctrlPr>
                            <a:rPr lang="en-US" sz="1800" b="0" i="1" smtClean="0">
                              <a:latin typeface="Cambria Math" panose="02040503050406030204" pitchFamily="18" charset="0"/>
                            </a:rPr>
                          </m:ctrlPr>
                        </m:dPr>
                        <m:e>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𝐺</m:t>
                              </m:r>
                            </m:e>
                            <m:sub>
                              <m:r>
                                <a:rPr lang="en-US" sz="1800" b="0" i="1" smtClean="0">
                                  <a:latin typeface="Cambria Math" panose="02040503050406030204" pitchFamily="18" charset="0"/>
                                </a:rPr>
                                <m:t>𝑅</m:t>
                              </m:r>
                            </m:sub>
                          </m:sSub>
                          <m:r>
                            <a:rPr lang="en-US" sz="1800" b="0" i="1" smtClean="0">
                              <a:latin typeface="Cambria Math" panose="02040503050406030204" pitchFamily="18" charset="0"/>
                            </a:rPr>
                            <m:t>,</m:t>
                          </m:r>
                          <m:sSubSup>
                            <m:sSubSupPr>
                              <m:ctrlPr>
                                <a:rPr lang="en-US" sz="1800" b="0" i="1" smtClean="0">
                                  <a:latin typeface="Cambria Math" panose="02040503050406030204" pitchFamily="18" charset="0"/>
                                </a:rPr>
                              </m:ctrlPr>
                            </m:sSubSupPr>
                            <m:e>
                              <m:d>
                                <m:dPr>
                                  <m:begChr m:val="["/>
                                  <m:endChr m:val="]"/>
                                  <m:ctrlPr>
                                    <a:rPr lang="en-US" sz="1800" b="0" i="1" smtClean="0">
                                      <a:latin typeface="Cambria Math" panose="02040503050406030204" pitchFamily="18" charset="0"/>
                                    </a:rPr>
                                  </m:ctrlPr>
                                </m:dPr>
                                <m:e>
                                  <m:d>
                                    <m:dPr>
                                      <m:ctrlPr>
                                        <a:rPr lang="en-US" sz="1800" b="0" i="1" smtClean="0">
                                          <a:latin typeface="Cambria Math" panose="02040503050406030204" pitchFamily="18" charset="0"/>
                                        </a:rPr>
                                      </m:ctrlPr>
                                    </m:dPr>
                                    <m:e>
                                      <m:r>
                                        <m:rPr>
                                          <m:lit/>
                                        </m:rPr>
                                        <a:rPr lang="en-US" sz="1800" b="0" i="1" smtClean="0">
                                          <a:latin typeface="Cambria Math" panose="02040503050406030204" pitchFamily="18" charset="0"/>
                                        </a:rPr>
                                        <m:t>{</m:t>
                                      </m:r>
                                      <m:sSubSup>
                                        <m:sSubSupPr>
                                          <m:ctrlPr>
                                            <a:rPr lang="en-US" sz="1800" b="0" i="1" smtClean="0">
                                              <a:latin typeface="Cambria Math" panose="02040503050406030204" pitchFamily="18" charset="0"/>
                                            </a:rPr>
                                          </m:ctrlPr>
                                        </m:sSubSupPr>
                                        <m:e>
                                          <m:r>
                                            <a:rPr lang="en-US" sz="1800" b="0" i="1" smtClean="0">
                                              <a:latin typeface="Cambria Math" panose="02040503050406030204" pitchFamily="18" charset="0"/>
                                            </a:rPr>
                                            <m:t>𝐶</m:t>
                                          </m:r>
                                        </m:e>
                                        <m:sub>
                                          <m:r>
                                            <a:rPr lang="en-US" sz="1800" b="0" i="1" smtClean="0">
                                              <a:latin typeface="Cambria Math" panose="02040503050406030204" pitchFamily="18" charset="0"/>
                                            </a:rPr>
                                            <m:t>𝑘</m:t>
                                          </m:r>
                                        </m:sub>
                                        <m:sup>
                                          <m:d>
                                            <m:dPr>
                                              <m:ctrlPr>
                                                <a:rPr lang="en-US" sz="1800" b="0" i="1" smtClean="0">
                                                  <a:latin typeface="Cambria Math" panose="02040503050406030204" pitchFamily="18" charset="0"/>
                                                </a:rPr>
                                              </m:ctrlPr>
                                            </m:dPr>
                                            <m:e>
                                              <m:r>
                                                <a:rPr lang="en-US" sz="1800" i="1">
                                                  <a:latin typeface="Cambria Math" panose="02040503050406030204" pitchFamily="18" charset="0"/>
                                                </a:rPr>
                                                <m:t>𝑙</m:t>
                                              </m:r>
                                            </m:e>
                                          </m:d>
                                        </m:sup>
                                      </m:sSubSup>
                                      <m:sSubSup>
                                        <m:sSubSupPr>
                                          <m:ctrlPr>
                                            <a:rPr lang="en-US" sz="1800" b="0" i="1" smtClean="0">
                                              <a:latin typeface="Cambria Math" panose="02040503050406030204" pitchFamily="18" charset="0"/>
                                            </a:rPr>
                                          </m:ctrlPr>
                                        </m:sSubSupPr>
                                        <m:e>
                                          <m:r>
                                            <m:rPr>
                                              <m:lit/>
                                            </m:rPr>
                                            <a:rPr lang="en-US" sz="1800" b="0" i="1" smtClean="0">
                                              <a:latin typeface="Cambria Math" panose="02040503050406030204" pitchFamily="18" charset="0"/>
                                            </a:rPr>
                                            <m:t>}</m:t>
                                          </m:r>
                                        </m:e>
                                        <m:sub>
                                          <m:r>
                                            <a:rPr lang="en-US" sz="1800" b="0" i="1" smtClean="0">
                                              <a:latin typeface="Cambria Math" panose="02040503050406030204" pitchFamily="18" charset="0"/>
                                            </a:rPr>
                                            <m:t>𝑘</m:t>
                                          </m:r>
                                          <m:r>
                                            <a:rPr lang="en-US" sz="1800" b="0" i="1" smtClean="0">
                                              <a:latin typeface="Cambria Math" panose="02040503050406030204" pitchFamily="18" charset="0"/>
                                            </a:rPr>
                                            <m:t>=1</m:t>
                                          </m:r>
                                        </m:sub>
                                        <m:sup>
                                          <m:sSup>
                                            <m:sSupPr>
                                              <m:ctrlPr>
                                                <a:rPr lang="en-US" sz="1800" b="0" i="1" smtClean="0">
                                                  <a:latin typeface="Cambria Math" panose="02040503050406030204" pitchFamily="18" charset="0"/>
                                                </a:rPr>
                                              </m:ctrlPr>
                                            </m:sSupPr>
                                            <m:e>
                                              <m:r>
                                                <a:rPr lang="en-US" sz="1800" b="0" i="1" smtClean="0">
                                                  <a:latin typeface="Cambria Math" panose="02040503050406030204" pitchFamily="18" charset="0"/>
                                                </a:rPr>
                                                <m:t>𝑛</m:t>
                                              </m:r>
                                            </m:e>
                                            <m:sup>
                                              <m:d>
                                                <m:dPr>
                                                  <m:ctrlPr>
                                                    <a:rPr lang="en-US" sz="1800" b="0" i="1" smtClean="0">
                                                      <a:latin typeface="Cambria Math" panose="02040503050406030204" pitchFamily="18" charset="0"/>
                                                    </a:rPr>
                                                  </m:ctrlPr>
                                                </m:dPr>
                                                <m:e>
                                                  <m:r>
                                                    <a:rPr lang="en-US" sz="1800" b="0" i="1" smtClean="0">
                                                      <a:latin typeface="Cambria Math" panose="02040503050406030204" pitchFamily="18" charset="0"/>
                                                    </a:rPr>
                                                    <m:t>𝑙</m:t>
                                                  </m:r>
                                                  <m:r>
                                                    <a:rPr lang="en-US" sz="1800" b="0" i="1" smtClean="0">
                                                      <a:latin typeface="Cambria Math" panose="02040503050406030204" pitchFamily="18" charset="0"/>
                                                    </a:rPr>
                                                    <m:t>+1</m:t>
                                                  </m:r>
                                                </m:e>
                                              </m:d>
                                            </m:sup>
                                          </m:sSup>
                                        </m:sup>
                                      </m:sSubSup>
                                      <m:r>
                                        <a:rPr lang="en-US" sz="1800" b="0" i="1" smtClean="0">
                                          <a:latin typeface="Cambria Math" panose="02040503050406030204" pitchFamily="18" charset="0"/>
                                        </a:rPr>
                                        <m:t>,</m:t>
                                      </m:r>
                                      <m:r>
                                        <m:rPr>
                                          <m:lit/>
                                        </m:rPr>
                                        <a:rPr lang="en-US" sz="1800" i="1">
                                          <a:latin typeface="Cambria Math" panose="02040503050406030204" pitchFamily="18" charset="0"/>
                                        </a:rPr>
                                        <m:t>{</m:t>
                                      </m:r>
                                      <m:sSubSup>
                                        <m:sSubSupPr>
                                          <m:ctrlPr>
                                            <a:rPr lang="en-US" sz="1800" i="1">
                                              <a:latin typeface="Cambria Math" panose="02040503050406030204" pitchFamily="18" charset="0"/>
                                            </a:rPr>
                                          </m:ctrlPr>
                                        </m:sSubSupPr>
                                        <m:e>
                                          <m:r>
                                            <a:rPr lang="en-US" sz="1800" b="0" i="1" smtClean="0">
                                              <a:latin typeface="Cambria Math" panose="02040503050406030204" pitchFamily="18" charset="0"/>
                                            </a:rPr>
                                            <m:t>𝐵</m:t>
                                          </m:r>
                                        </m:e>
                                        <m:sub>
                                          <m:r>
                                            <a:rPr lang="en-US" sz="1800" b="0" i="1" smtClean="0">
                                              <a:latin typeface="Cambria Math" panose="02040503050406030204" pitchFamily="18" charset="0"/>
                                            </a:rPr>
                                            <m:t>𝑗</m:t>
                                          </m:r>
                                          <m:r>
                                            <a:rPr lang="en-US" sz="1800" b="0" i="1" smtClean="0">
                                              <a:latin typeface="Cambria Math" panose="02040503050406030204" pitchFamily="18" charset="0"/>
                                            </a:rPr>
                                            <m:t>,</m:t>
                                          </m:r>
                                          <m:r>
                                            <a:rPr lang="en-US" sz="1800" b="0" i="1" smtClean="0">
                                              <a:latin typeface="Cambria Math" panose="02040503050406030204" pitchFamily="18" charset="0"/>
                                            </a:rPr>
                                            <m:t>𝑘</m:t>
                                          </m:r>
                                        </m:sub>
                                        <m:sup>
                                          <m:d>
                                            <m:dPr>
                                              <m:ctrlPr>
                                                <a:rPr lang="en-US" sz="1800" b="0" i="1" smtClean="0">
                                                  <a:latin typeface="Cambria Math" panose="02040503050406030204" pitchFamily="18" charset="0"/>
                                                </a:rPr>
                                              </m:ctrlPr>
                                            </m:dPr>
                                            <m:e>
                                              <m:r>
                                                <a:rPr lang="en-US" sz="1800" b="0" i="1" smtClean="0">
                                                  <a:latin typeface="Cambria Math" panose="02040503050406030204" pitchFamily="18" charset="0"/>
                                                </a:rPr>
                                                <m:t>𝑙</m:t>
                                              </m:r>
                                            </m:e>
                                          </m:d>
                                        </m:sup>
                                      </m:sSubSup>
                                      <m:sSub>
                                        <m:sSubPr>
                                          <m:ctrlPr>
                                            <a:rPr lang="en-US" sz="1800" b="0" i="1" smtClean="0">
                                              <a:latin typeface="Cambria Math" panose="02040503050406030204" pitchFamily="18" charset="0"/>
                                            </a:rPr>
                                          </m:ctrlPr>
                                        </m:sSubPr>
                                        <m:e>
                                          <m:r>
                                            <m:rPr>
                                              <m:lit/>
                                            </m:rPr>
                                            <a:rPr lang="en-US" sz="1800" i="1">
                                              <a:latin typeface="Cambria Math" panose="02040503050406030204" pitchFamily="18" charset="0"/>
                                            </a:rPr>
                                            <m:t>}</m:t>
                                          </m:r>
                                        </m:e>
                                        <m:sub>
                                          <m:r>
                                            <a:rPr lang="en-US" sz="1800" b="0" i="1" smtClean="0">
                                              <a:latin typeface="Cambria Math" panose="02040503050406030204" pitchFamily="18" charset="0"/>
                                            </a:rPr>
                                            <m:t>𝑗</m:t>
                                          </m:r>
                                          <m:r>
                                            <a:rPr lang="en-US" sz="1800" b="0" i="1" smtClean="0">
                                              <a:latin typeface="Cambria Math" panose="02040503050406030204" pitchFamily="18" charset="0"/>
                                            </a:rPr>
                                            <m:t>≠</m:t>
                                          </m:r>
                                          <m:r>
                                            <a:rPr lang="en-US" sz="1800" b="0" i="1" smtClean="0">
                                              <a:latin typeface="Cambria Math" panose="02040503050406030204" pitchFamily="18" charset="0"/>
                                            </a:rPr>
                                            <m:t>𝑘</m:t>
                                          </m:r>
                                        </m:sub>
                                      </m:sSub>
                                    </m:e>
                                  </m:d>
                                </m:e>
                              </m:d>
                            </m:e>
                            <m:sub>
                              <m:r>
                                <a:rPr lang="en-US" sz="1800" b="0" i="1" smtClean="0">
                                  <a:latin typeface="Cambria Math" panose="02040503050406030204" pitchFamily="18" charset="0"/>
                                </a:rPr>
                                <m:t>𝑙</m:t>
                              </m:r>
                              <m:r>
                                <a:rPr lang="en-US" sz="1800" b="0" i="1" smtClean="0">
                                  <a:latin typeface="Cambria Math" panose="02040503050406030204" pitchFamily="18" charset="0"/>
                                </a:rPr>
                                <m:t>=1</m:t>
                              </m:r>
                            </m:sub>
                            <m:sup>
                              <m:r>
                                <a:rPr lang="en-US" sz="1800" b="0" i="1" smtClean="0">
                                  <a:latin typeface="Cambria Math" panose="02040503050406030204" pitchFamily="18" charset="0"/>
                                </a:rPr>
                                <m:t>𝐿</m:t>
                              </m:r>
                              <m:r>
                                <a:rPr lang="en-US" sz="1800" b="0" i="1" smtClean="0">
                                  <a:latin typeface="Cambria Math" panose="02040503050406030204" pitchFamily="18" charset="0"/>
                                </a:rPr>
                                <m:t>−1</m:t>
                              </m:r>
                            </m:sup>
                          </m:sSubSup>
                        </m:e>
                      </m:d>
                    </m:oMath>
                  </m:oMathPara>
                </a14:m>
                <a:endParaRPr lang="en-US" sz="1800" dirty="0">
                  <a:latin typeface="+mj-lt"/>
                </a:endParaRPr>
              </a:p>
              <a:p>
                <a:pPr lvl="1"/>
                <a:r>
                  <a:rPr lang="en-US" sz="1800" dirty="0">
                    <a:latin typeface="+mj-lt"/>
                  </a:rPr>
                  <a:t>Graph coarsening between levels with </a:t>
                </a:r>
                <a14:m>
                  <m:oMath xmlns:m="http://schemas.openxmlformats.org/officeDocument/2006/math">
                    <m:sSup>
                      <m:sSupPr>
                        <m:ctrlPr>
                          <a:rPr lang="en-US" sz="1800" b="0" i="1" smtClean="0">
                            <a:latin typeface="Cambria Math" panose="02040503050406030204" pitchFamily="18" charset="0"/>
                          </a:rPr>
                        </m:ctrlPr>
                      </m:sSupPr>
                      <m:e>
                        <m:r>
                          <a:rPr lang="en-US" sz="1800" b="0" i="1" smtClean="0">
                            <a:latin typeface="Cambria Math" panose="02040503050406030204" pitchFamily="18" charset="0"/>
                          </a:rPr>
                          <m:t>𝑀</m:t>
                        </m:r>
                      </m:e>
                      <m:sup>
                        <m:d>
                          <m:dPr>
                            <m:ctrlPr>
                              <a:rPr lang="en-US" sz="1800" b="0" i="1" smtClean="0">
                                <a:latin typeface="Cambria Math" panose="02040503050406030204" pitchFamily="18" charset="0"/>
                              </a:rPr>
                            </m:ctrlPr>
                          </m:dPr>
                          <m:e>
                            <m:r>
                              <a:rPr lang="en-US" sz="1800" b="0" i="1" smtClean="0">
                                <a:latin typeface="Cambria Math" panose="02040503050406030204" pitchFamily="18" charset="0"/>
                              </a:rPr>
                              <m:t>𝑙</m:t>
                            </m:r>
                          </m:e>
                        </m:d>
                      </m:sup>
                    </m:sSup>
                    <m:r>
                      <a:rPr lang="en-US" sz="1800" b="0" i="1" smtClean="0">
                        <a:latin typeface="Cambria Math" panose="02040503050406030204" pitchFamily="18" charset="0"/>
                      </a:rPr>
                      <m:t>∈</m:t>
                    </m:r>
                    <m:r>
                      <m:rPr>
                        <m:lit/>
                      </m:rPr>
                      <a:rPr lang="en-US" sz="1800" b="0" i="1" smtClean="0">
                        <a:latin typeface="Cambria Math" panose="02040503050406030204" pitchFamily="18" charset="0"/>
                      </a:rPr>
                      <m:t>{</m:t>
                    </m:r>
                    <m:r>
                      <a:rPr lang="en-US" sz="1800" b="0" i="1" smtClean="0">
                        <a:latin typeface="Cambria Math" panose="02040503050406030204" pitchFamily="18" charset="0"/>
                      </a:rPr>
                      <m:t>0,1</m:t>
                    </m:r>
                    <m:sSup>
                      <m:sSupPr>
                        <m:ctrlPr>
                          <a:rPr lang="en-US" sz="1800" b="0" i="1" smtClean="0">
                            <a:latin typeface="Cambria Math" panose="02040503050406030204" pitchFamily="18" charset="0"/>
                          </a:rPr>
                        </m:ctrlPr>
                      </m:sSupPr>
                      <m:e>
                        <m:r>
                          <m:rPr>
                            <m:lit/>
                          </m:rPr>
                          <a:rPr lang="en-US" sz="1800" b="0" i="1" smtClean="0">
                            <a:latin typeface="Cambria Math" panose="02040503050406030204" pitchFamily="18" charset="0"/>
                          </a:rPr>
                          <m:t>}</m:t>
                        </m:r>
                      </m:e>
                      <m:sup>
                        <m:sSup>
                          <m:sSupPr>
                            <m:ctrlPr>
                              <a:rPr lang="en-US" sz="1800" b="0" i="1" smtClean="0">
                                <a:latin typeface="Cambria Math" panose="02040503050406030204" pitchFamily="18" charset="0"/>
                              </a:rPr>
                            </m:ctrlPr>
                          </m:sSupPr>
                          <m:e>
                            <m:r>
                              <a:rPr lang="en-US" sz="1800" b="0" i="1" smtClean="0">
                                <a:latin typeface="Cambria Math" panose="02040503050406030204" pitchFamily="18" charset="0"/>
                              </a:rPr>
                              <m:t>𝑛</m:t>
                            </m:r>
                          </m:e>
                          <m:sup>
                            <m:d>
                              <m:dPr>
                                <m:ctrlPr>
                                  <a:rPr lang="en-US" sz="1800" b="0" i="1" smtClean="0">
                                    <a:latin typeface="Cambria Math" panose="02040503050406030204" pitchFamily="18" charset="0"/>
                                  </a:rPr>
                                </m:ctrlPr>
                              </m:dPr>
                              <m:e>
                                <m:r>
                                  <a:rPr lang="en-US" sz="1800" i="1">
                                    <a:latin typeface="Cambria Math" panose="02040503050406030204" pitchFamily="18" charset="0"/>
                                  </a:rPr>
                                  <m:t>𝑙</m:t>
                                </m:r>
                                <m:r>
                                  <a:rPr lang="en-US" sz="1800" b="0" i="1" smtClean="0">
                                    <a:latin typeface="Cambria Math" panose="02040503050406030204" pitchFamily="18" charset="0"/>
                                  </a:rPr>
                                  <m:t>+1</m:t>
                                </m:r>
                              </m:e>
                            </m:d>
                          </m:sup>
                        </m:sSup>
                        <m:r>
                          <a:rPr lang="en-US" sz="1800" b="0" i="1" smtClean="0">
                            <a:latin typeface="Cambria Math" panose="02040503050406030204" pitchFamily="18" charset="0"/>
                          </a:rPr>
                          <m:t>×</m:t>
                        </m:r>
                        <m:sSup>
                          <m:sSupPr>
                            <m:ctrlPr>
                              <a:rPr lang="en-US" sz="1800" b="0" i="1">
                                <a:latin typeface="Cambria Math" panose="02040503050406030204" pitchFamily="18" charset="0"/>
                              </a:rPr>
                            </m:ctrlPr>
                          </m:sSupPr>
                          <m:e>
                            <m:r>
                              <a:rPr lang="en-US" sz="1800" i="1">
                                <a:latin typeface="Cambria Math" panose="02040503050406030204" pitchFamily="18" charset="0"/>
                              </a:rPr>
                              <m:t>𝑛</m:t>
                            </m:r>
                          </m:e>
                          <m:sup>
                            <m:d>
                              <m:dPr>
                                <m:ctrlPr>
                                  <a:rPr lang="en-US" sz="1800" i="1">
                                    <a:latin typeface="Cambria Math" panose="02040503050406030204" pitchFamily="18" charset="0"/>
                                  </a:rPr>
                                </m:ctrlPr>
                              </m:dPr>
                              <m:e>
                                <m:r>
                                  <a:rPr lang="en-US" sz="1800" i="1">
                                    <a:latin typeface="Cambria Math" panose="02040503050406030204" pitchFamily="18" charset="0"/>
                                  </a:rPr>
                                  <m:t>𝑙</m:t>
                                </m:r>
                              </m:e>
                            </m:d>
                          </m:sup>
                        </m:sSup>
                      </m:sup>
                    </m:sSup>
                  </m:oMath>
                </a14:m>
                <a:endParaRPr lang="en-US" sz="1800" dirty="0">
                  <a:latin typeface="+mj-lt"/>
                </a:endParaRPr>
              </a:p>
              <a:p>
                <a:pPr marL="342900" lvl="1" indent="0">
                  <a:buNone/>
                </a:pPr>
                <a14:m>
                  <m:oMathPara xmlns:m="http://schemas.openxmlformats.org/officeDocument/2006/math">
                    <m:oMathParaPr>
                      <m:jc m:val="centerGroup"/>
                    </m:oMathParaPr>
                    <m:oMath xmlns:m="http://schemas.openxmlformats.org/officeDocument/2006/math">
                      <m:sSup>
                        <m:sSupPr>
                          <m:ctrlPr>
                            <a:rPr lang="en-US" sz="1800" i="1">
                              <a:latin typeface="Cambria Math" panose="02040503050406030204" pitchFamily="18" charset="0"/>
                            </a:rPr>
                          </m:ctrlPr>
                        </m:sSupPr>
                        <m:e>
                          <m:r>
                            <a:rPr lang="en-US" sz="1800" b="1" i="1">
                              <a:latin typeface="Cambria Math" panose="02040503050406030204" pitchFamily="18" charset="0"/>
                            </a:rPr>
                            <m:t>𝑿</m:t>
                          </m:r>
                        </m:e>
                        <m:sup>
                          <m:d>
                            <m:dPr>
                              <m:ctrlPr>
                                <a:rPr lang="en-US" sz="1800" i="1">
                                  <a:latin typeface="Cambria Math" panose="02040503050406030204" pitchFamily="18" charset="0"/>
                                </a:rPr>
                              </m:ctrlPr>
                            </m:dPr>
                            <m:e>
                              <m:r>
                                <a:rPr lang="en-US" sz="1800" i="1">
                                  <a:latin typeface="Cambria Math" panose="02040503050406030204" pitchFamily="18" charset="0"/>
                                </a:rPr>
                                <m:t>𝑙</m:t>
                              </m:r>
                              <m:r>
                                <a:rPr lang="en-US" sz="1800" b="0" i="1" smtClean="0">
                                  <a:latin typeface="Cambria Math" panose="02040503050406030204" pitchFamily="18" charset="0"/>
                                </a:rPr>
                                <m:t>+1</m:t>
                              </m:r>
                            </m:e>
                          </m:d>
                        </m:sup>
                      </m:sSup>
                      <m:r>
                        <a:rPr lang="en-US" sz="1800" b="0" i="1" smtClean="0">
                          <a:latin typeface="Cambria Math" panose="02040503050406030204" pitchFamily="18" charset="0"/>
                        </a:rPr>
                        <m:t>=(</m:t>
                      </m:r>
                      <m:sSup>
                        <m:sSupPr>
                          <m:ctrlPr>
                            <a:rPr lang="en-US" sz="1800" i="1">
                              <a:latin typeface="Cambria Math" panose="02040503050406030204" pitchFamily="18" charset="0"/>
                            </a:rPr>
                          </m:ctrlPr>
                        </m:sSupPr>
                        <m:e>
                          <m:r>
                            <a:rPr lang="en-US" sz="1800" i="1">
                              <a:latin typeface="Cambria Math" panose="02040503050406030204" pitchFamily="18" charset="0"/>
                            </a:rPr>
                            <m:t>𝑀</m:t>
                          </m:r>
                        </m:e>
                        <m:sup>
                          <m:d>
                            <m:dPr>
                              <m:ctrlPr>
                                <a:rPr lang="en-US" sz="1800" i="1">
                                  <a:latin typeface="Cambria Math" panose="02040503050406030204" pitchFamily="18" charset="0"/>
                                </a:rPr>
                              </m:ctrlPr>
                            </m:dPr>
                            <m:e>
                              <m:r>
                                <a:rPr lang="en-US" sz="1800" i="1">
                                  <a:latin typeface="Cambria Math" panose="02040503050406030204" pitchFamily="18" charset="0"/>
                                </a:rPr>
                                <m:t>𝑙</m:t>
                              </m:r>
                            </m:e>
                          </m:d>
                        </m:sup>
                      </m:sSup>
                      <m:r>
                        <a:rPr lang="en-US" sz="1800" b="0" i="1" smtClean="0">
                          <a:latin typeface="Cambria Math" panose="02040503050406030204" pitchFamily="18" charset="0"/>
                        </a:rPr>
                        <m:t>⋅</m:t>
                      </m:r>
                      <m:sSup>
                        <m:sSupPr>
                          <m:ctrlPr>
                            <a:rPr lang="en-US" sz="1800" i="1">
                              <a:latin typeface="Cambria Math" panose="02040503050406030204" pitchFamily="18" charset="0"/>
                            </a:rPr>
                          </m:ctrlPr>
                        </m:sSupPr>
                        <m:e>
                          <m:r>
                            <a:rPr lang="en-US" sz="1800" b="1" i="1">
                              <a:latin typeface="Cambria Math" panose="02040503050406030204" pitchFamily="18" charset="0"/>
                            </a:rPr>
                            <m:t>𝑿</m:t>
                          </m:r>
                        </m:e>
                        <m:sup>
                          <m:d>
                            <m:dPr>
                              <m:ctrlPr>
                                <a:rPr lang="en-US" sz="1800" i="1">
                                  <a:latin typeface="Cambria Math" panose="02040503050406030204" pitchFamily="18" charset="0"/>
                                </a:rPr>
                              </m:ctrlPr>
                            </m:dPr>
                            <m:e>
                              <m:r>
                                <a:rPr lang="en-US" sz="1800" i="1">
                                  <a:latin typeface="Cambria Math" panose="02040503050406030204" pitchFamily="18" charset="0"/>
                                </a:rPr>
                                <m:t>𝑙</m:t>
                              </m:r>
                            </m:e>
                          </m:d>
                        </m:sup>
                      </m:sSup>
                      <m:r>
                        <a:rPr lang="en-US" sz="1800" b="0" i="1" smtClean="0">
                          <a:latin typeface="Cambria Math" panose="02040503050406030204" pitchFamily="18" charset="0"/>
                        </a:rPr>
                        <m:t>)⊘(</m:t>
                      </m:r>
                      <m:sSup>
                        <m:sSupPr>
                          <m:ctrlPr>
                            <a:rPr lang="en-US" sz="1800" i="1">
                              <a:latin typeface="Cambria Math" panose="02040503050406030204" pitchFamily="18" charset="0"/>
                            </a:rPr>
                          </m:ctrlPr>
                        </m:sSupPr>
                        <m:e>
                          <m:r>
                            <a:rPr lang="en-US" sz="1800" i="1">
                              <a:latin typeface="Cambria Math" panose="02040503050406030204" pitchFamily="18" charset="0"/>
                            </a:rPr>
                            <m:t>𝑀</m:t>
                          </m:r>
                        </m:e>
                        <m:sup>
                          <m:d>
                            <m:dPr>
                              <m:ctrlPr>
                                <a:rPr lang="en-US" sz="1800" i="1">
                                  <a:latin typeface="Cambria Math" panose="02040503050406030204" pitchFamily="18" charset="0"/>
                                </a:rPr>
                              </m:ctrlPr>
                            </m:dPr>
                            <m:e>
                              <m:r>
                                <a:rPr lang="en-US" sz="1800" i="1">
                                  <a:latin typeface="Cambria Math" panose="02040503050406030204" pitchFamily="18" charset="0"/>
                                </a:rPr>
                                <m:t>𝑙</m:t>
                              </m:r>
                            </m:e>
                          </m:d>
                        </m:sup>
                      </m:sSup>
                      <m:r>
                        <a:rPr lang="en-US" sz="1800" i="1">
                          <a:latin typeface="Cambria Math" panose="02040503050406030204" pitchFamily="18" charset="0"/>
                        </a:rPr>
                        <m:t>⋅</m:t>
                      </m:r>
                      <m:sSub>
                        <m:sSubPr>
                          <m:ctrlPr>
                            <a:rPr lang="en-US" sz="1800" b="0" i="1" smtClean="0">
                              <a:latin typeface="Cambria Math" panose="02040503050406030204" pitchFamily="18" charset="0"/>
                            </a:rPr>
                          </m:ctrlPr>
                        </m:sSubPr>
                        <m:e>
                          <m:r>
                            <a:rPr lang="en-US" sz="1800" b="1" i="1">
                              <a:latin typeface="Cambria Math" panose="02040503050406030204" pitchFamily="18" charset="0"/>
                            </a:rPr>
                            <m:t>𝟏</m:t>
                          </m:r>
                        </m:e>
                        <m:sub>
                          <m:sSup>
                            <m:sSupPr>
                              <m:ctrlPr>
                                <a:rPr lang="en-US" sz="1800" i="1">
                                  <a:latin typeface="Cambria Math" panose="02040503050406030204" pitchFamily="18" charset="0"/>
                                </a:rPr>
                              </m:ctrlPr>
                            </m:sSupPr>
                            <m:e>
                              <m:r>
                                <a:rPr lang="en-US" sz="1800" i="1">
                                  <a:latin typeface="Cambria Math" panose="02040503050406030204" pitchFamily="18" charset="0"/>
                                </a:rPr>
                                <m:t>𝑛</m:t>
                              </m:r>
                            </m:e>
                            <m:sup>
                              <m:d>
                                <m:dPr>
                                  <m:ctrlPr>
                                    <a:rPr lang="en-US" sz="1800" i="1">
                                      <a:latin typeface="Cambria Math" panose="02040503050406030204" pitchFamily="18" charset="0"/>
                                    </a:rPr>
                                  </m:ctrlPr>
                                </m:dPr>
                                <m:e>
                                  <m:r>
                                    <a:rPr lang="en-US" sz="1800" i="1">
                                      <a:latin typeface="Cambria Math" panose="02040503050406030204" pitchFamily="18" charset="0"/>
                                    </a:rPr>
                                    <m:t>𝑙</m:t>
                                  </m:r>
                                </m:e>
                              </m:d>
                            </m:sup>
                          </m:sSup>
                        </m:sub>
                      </m:sSub>
                      <m:r>
                        <a:rPr lang="en-US" sz="1800" b="0" i="1" smtClean="0">
                          <a:latin typeface="Cambria Math" panose="02040503050406030204" pitchFamily="18" charset="0"/>
                        </a:rPr>
                        <m:t>)</m:t>
                      </m:r>
                    </m:oMath>
                  </m:oMathPara>
                </a14:m>
                <a:endParaRPr lang="en-US" sz="1800" dirty="0">
                  <a:latin typeface="+mj-lt"/>
                </a:endParaRPr>
              </a:p>
              <a:p>
                <a:pPr marL="342900" lvl="1" indent="0">
                  <a:buNone/>
                </a:pPr>
                <a14:m>
                  <m:oMathPara xmlns:m="http://schemas.openxmlformats.org/officeDocument/2006/math">
                    <m:oMathParaPr>
                      <m:jc m:val="centerGroup"/>
                    </m:oMathParaPr>
                    <m:oMath xmlns:m="http://schemas.openxmlformats.org/officeDocument/2006/math">
                      <m:sSup>
                        <m:sSupPr>
                          <m:ctrlPr>
                            <a:rPr lang="en-US" sz="1800" i="1">
                              <a:latin typeface="Cambria Math" panose="02040503050406030204" pitchFamily="18" charset="0"/>
                            </a:rPr>
                          </m:ctrlPr>
                        </m:sSupPr>
                        <m:e>
                          <m:r>
                            <m:rPr>
                              <m:sty m:val="p"/>
                            </m:rPr>
                            <a:rPr lang="en-US" sz="1800" b="1" i="1" smtClean="0">
                              <a:latin typeface="Cambria Math" panose="02040503050406030204" pitchFamily="18" charset="0"/>
                            </a:rPr>
                            <m:t>A</m:t>
                          </m:r>
                        </m:e>
                        <m:sup>
                          <m:d>
                            <m:dPr>
                              <m:ctrlPr>
                                <a:rPr lang="en-US" sz="1800" i="1">
                                  <a:latin typeface="Cambria Math" panose="02040503050406030204" pitchFamily="18" charset="0"/>
                                </a:rPr>
                              </m:ctrlPr>
                            </m:dPr>
                            <m:e>
                              <m:r>
                                <a:rPr lang="en-US" sz="1800" i="1">
                                  <a:latin typeface="Cambria Math" panose="02040503050406030204" pitchFamily="18" charset="0"/>
                                </a:rPr>
                                <m:t>𝑙</m:t>
                              </m:r>
                              <m:r>
                                <a:rPr lang="en-US" sz="1800" i="1">
                                  <a:latin typeface="Cambria Math" panose="02040503050406030204" pitchFamily="18" charset="0"/>
                                </a:rPr>
                                <m:t>+1</m:t>
                              </m:r>
                            </m:e>
                          </m:d>
                        </m:sup>
                      </m:sSup>
                      <m:r>
                        <a:rPr lang="en-US" sz="1800" i="1">
                          <a:latin typeface="Cambria Math" panose="02040503050406030204" pitchFamily="18" charset="0"/>
                        </a:rPr>
                        <m:t>=</m:t>
                      </m:r>
                      <m:sSup>
                        <m:sSupPr>
                          <m:ctrlPr>
                            <a:rPr lang="en-US" sz="1800" i="1">
                              <a:latin typeface="Cambria Math" panose="02040503050406030204" pitchFamily="18" charset="0"/>
                            </a:rPr>
                          </m:ctrlPr>
                        </m:sSupPr>
                        <m:e>
                          <m:r>
                            <a:rPr lang="en-US" sz="1800" i="1">
                              <a:latin typeface="Cambria Math" panose="02040503050406030204" pitchFamily="18" charset="0"/>
                            </a:rPr>
                            <m:t>𝑀</m:t>
                          </m:r>
                        </m:e>
                        <m:sup>
                          <m:d>
                            <m:dPr>
                              <m:ctrlPr>
                                <a:rPr lang="en-US" sz="1800" i="1">
                                  <a:latin typeface="Cambria Math" panose="02040503050406030204" pitchFamily="18" charset="0"/>
                                </a:rPr>
                              </m:ctrlPr>
                            </m:dPr>
                            <m:e>
                              <m:r>
                                <a:rPr lang="en-US" sz="1800" i="1">
                                  <a:latin typeface="Cambria Math" panose="02040503050406030204" pitchFamily="18" charset="0"/>
                                </a:rPr>
                                <m:t>𝑙</m:t>
                              </m:r>
                            </m:e>
                          </m:d>
                        </m:sup>
                      </m:sSup>
                      <m:r>
                        <a:rPr lang="en-US" sz="1800" i="1">
                          <a:latin typeface="Cambria Math" panose="02040503050406030204" pitchFamily="18" charset="0"/>
                        </a:rPr>
                        <m:t>⋅</m:t>
                      </m:r>
                      <m:sSup>
                        <m:sSupPr>
                          <m:ctrlPr>
                            <a:rPr lang="en-US" sz="1800" i="1">
                              <a:latin typeface="Cambria Math" panose="02040503050406030204" pitchFamily="18" charset="0"/>
                            </a:rPr>
                          </m:ctrlPr>
                        </m:sSupPr>
                        <m:e>
                          <m:r>
                            <m:rPr>
                              <m:sty m:val="p"/>
                            </m:rPr>
                            <a:rPr lang="en-US" sz="1800" b="1" i="1" smtClean="0">
                              <a:latin typeface="Cambria Math" panose="02040503050406030204" pitchFamily="18" charset="0"/>
                            </a:rPr>
                            <m:t>A</m:t>
                          </m:r>
                        </m:e>
                        <m:sup>
                          <m:d>
                            <m:dPr>
                              <m:ctrlPr>
                                <a:rPr lang="en-US" sz="1800" i="1">
                                  <a:latin typeface="Cambria Math" panose="02040503050406030204" pitchFamily="18" charset="0"/>
                                </a:rPr>
                              </m:ctrlPr>
                            </m:dPr>
                            <m:e>
                              <m:r>
                                <a:rPr lang="en-US" sz="1800" i="1">
                                  <a:latin typeface="Cambria Math" panose="02040503050406030204" pitchFamily="18" charset="0"/>
                                </a:rPr>
                                <m:t>𝑙</m:t>
                              </m:r>
                            </m:e>
                          </m:d>
                        </m:sup>
                      </m:sSup>
                      <m:r>
                        <a:rPr lang="en-US" sz="1800" b="0" i="1" smtClean="0">
                          <a:latin typeface="Cambria Math" panose="02040503050406030204" pitchFamily="18" charset="0"/>
                        </a:rPr>
                        <m:t>⋅</m:t>
                      </m:r>
                      <m:sSup>
                        <m:sSupPr>
                          <m:ctrlPr>
                            <a:rPr lang="en-US" sz="1800" i="1" smtClean="0">
                              <a:latin typeface="Cambria Math" panose="02040503050406030204" pitchFamily="18" charset="0"/>
                            </a:rPr>
                          </m:ctrlPr>
                        </m:sSupPr>
                        <m:e>
                          <m:sSup>
                            <m:sSupPr>
                              <m:ctrlPr>
                                <a:rPr lang="en-US" sz="1800" i="1">
                                  <a:latin typeface="Cambria Math" panose="02040503050406030204" pitchFamily="18" charset="0"/>
                                </a:rPr>
                              </m:ctrlPr>
                            </m:sSupPr>
                            <m:e>
                              <m:r>
                                <a:rPr lang="en-US" sz="1800" i="1">
                                  <a:latin typeface="Cambria Math" panose="02040503050406030204" pitchFamily="18" charset="0"/>
                                </a:rPr>
                                <m:t>𝑀</m:t>
                              </m:r>
                            </m:e>
                            <m:sup>
                              <m:d>
                                <m:dPr>
                                  <m:ctrlPr>
                                    <a:rPr lang="en-US" sz="1800" i="1">
                                      <a:latin typeface="Cambria Math" panose="02040503050406030204" pitchFamily="18" charset="0"/>
                                    </a:rPr>
                                  </m:ctrlPr>
                                </m:dPr>
                                <m:e>
                                  <m:r>
                                    <a:rPr lang="en-US" sz="1800" i="1">
                                      <a:latin typeface="Cambria Math" panose="02040503050406030204" pitchFamily="18" charset="0"/>
                                    </a:rPr>
                                    <m:t>𝑙</m:t>
                                  </m:r>
                                </m:e>
                              </m:d>
                            </m:sup>
                          </m:sSup>
                        </m:e>
                        <m:sup>
                          <m:r>
                            <a:rPr lang="en-US" sz="1800" b="0" i="1" smtClean="0">
                              <a:latin typeface="Cambria Math" panose="02040503050406030204" pitchFamily="18" charset="0"/>
                            </a:rPr>
                            <m:t>𝑇</m:t>
                          </m:r>
                        </m:sup>
                      </m:sSup>
                    </m:oMath>
                  </m:oMathPara>
                </a14:m>
                <a:endParaRPr lang="en-US" sz="1800" b="0" dirty="0">
                  <a:latin typeface="+mj-lt"/>
                </a:endParaRPr>
              </a:p>
              <a:p>
                <a:r>
                  <a:rPr lang="en-US" sz="2100" dirty="0">
                    <a:latin typeface="+mj-lt"/>
                  </a:rPr>
                  <a:t>Bayes’ rule</a:t>
                </a:r>
              </a:p>
              <a:p>
                <a:pPr marL="0" indent="0">
                  <a:buNone/>
                </a:pPr>
                <a14:m>
                  <m:oMathPara xmlns:m="http://schemas.openxmlformats.org/officeDocument/2006/math">
                    <m:oMathParaPr>
                      <m:jc m:val="centerGroup"/>
                    </m:oMathParaPr>
                    <m:oMath xmlns:m="http://schemas.openxmlformats.org/officeDocument/2006/math">
                      <m:r>
                        <a:rPr lang="en-US" sz="2100" b="0" i="1" smtClean="0">
                          <a:latin typeface="Cambria Math" panose="02040503050406030204" pitchFamily="18" charset="0"/>
                        </a:rPr>
                        <m:t>ℙ</m:t>
                      </m:r>
                      <m:d>
                        <m:dPr>
                          <m:ctrlPr>
                            <a:rPr lang="en-US" sz="2100" b="0" i="1" smtClean="0">
                              <a:latin typeface="Cambria Math" panose="02040503050406030204" pitchFamily="18" charset="0"/>
                            </a:rPr>
                          </m:ctrlPr>
                        </m:dPr>
                        <m:e>
                          <m:r>
                            <a:rPr lang="en-US" sz="2100" b="0" i="1" smtClean="0">
                              <a:latin typeface="Cambria Math" panose="02040503050406030204" pitchFamily="18" charset="0"/>
                            </a:rPr>
                            <m:t>𝐺</m:t>
                          </m:r>
                        </m:e>
                      </m:d>
                      <m:r>
                        <a:rPr lang="en-US" sz="2100" b="0" i="1" smtClean="0">
                          <a:latin typeface="Cambria Math" panose="02040503050406030204" pitchFamily="18" charset="0"/>
                        </a:rPr>
                        <m:t>=</m:t>
                      </m:r>
                      <m:r>
                        <a:rPr lang="en-US" sz="2100" b="0" i="1" smtClean="0">
                          <a:latin typeface="Cambria Math" panose="02040503050406030204" pitchFamily="18" charset="0"/>
                        </a:rPr>
                        <m:t>ℙ</m:t>
                      </m:r>
                      <m:d>
                        <m:dPr>
                          <m:ctrlPr>
                            <a:rPr lang="en-US" sz="2100" b="0" i="1" smtClean="0">
                              <a:latin typeface="Cambria Math" panose="02040503050406030204" pitchFamily="18" charset="0"/>
                            </a:rPr>
                          </m:ctrlPr>
                        </m:dPr>
                        <m:e>
                          <m:sSup>
                            <m:sSupPr>
                              <m:ctrlPr>
                                <a:rPr lang="en-US" sz="2100" b="0" i="1" smtClean="0">
                                  <a:latin typeface="Cambria Math" panose="02040503050406030204" pitchFamily="18" charset="0"/>
                                </a:rPr>
                              </m:ctrlPr>
                            </m:sSupPr>
                            <m:e>
                              <m:r>
                                <a:rPr lang="en-US" sz="2100" b="0" i="1" smtClean="0">
                                  <a:latin typeface="Cambria Math" panose="02040503050406030204" pitchFamily="18" charset="0"/>
                                </a:rPr>
                                <m:t>𝐺</m:t>
                              </m:r>
                            </m:e>
                            <m:sup>
                              <m:d>
                                <m:dPr>
                                  <m:ctrlPr>
                                    <a:rPr lang="en-US" sz="2100" b="0" i="1" smtClean="0">
                                      <a:latin typeface="Cambria Math" panose="02040503050406030204" pitchFamily="18" charset="0"/>
                                    </a:rPr>
                                  </m:ctrlPr>
                                </m:dPr>
                                <m:e>
                                  <m:r>
                                    <a:rPr lang="en-US" sz="2100" b="0" i="1" smtClean="0">
                                      <a:latin typeface="Cambria Math" panose="02040503050406030204" pitchFamily="18" charset="0"/>
                                    </a:rPr>
                                    <m:t>𝐿</m:t>
                                  </m:r>
                                </m:e>
                              </m:d>
                            </m:sup>
                          </m:sSup>
                        </m:e>
                      </m:d>
                      <m:nary>
                        <m:naryPr>
                          <m:chr m:val="∏"/>
                          <m:ctrlPr>
                            <a:rPr lang="en-US" sz="2100" b="0" i="1" smtClean="0">
                              <a:latin typeface="Cambria Math" panose="02040503050406030204" pitchFamily="18" charset="0"/>
                            </a:rPr>
                          </m:ctrlPr>
                        </m:naryPr>
                        <m:sub>
                          <m:r>
                            <a:rPr lang="en-US" sz="2100" b="0" i="1" smtClean="0">
                              <a:latin typeface="Cambria Math" panose="02040503050406030204" pitchFamily="18" charset="0"/>
                            </a:rPr>
                            <m:t>𝑙</m:t>
                          </m:r>
                          <m:r>
                            <a:rPr lang="en-US" sz="2100" b="0" i="1" smtClean="0">
                              <a:latin typeface="Cambria Math" panose="02040503050406030204" pitchFamily="18" charset="0"/>
                            </a:rPr>
                            <m:t>=1</m:t>
                          </m:r>
                        </m:sub>
                        <m:sup>
                          <m:r>
                            <a:rPr lang="en-US" sz="2100" b="0" i="1" smtClean="0">
                              <a:latin typeface="Cambria Math" panose="02040503050406030204" pitchFamily="18" charset="0"/>
                            </a:rPr>
                            <m:t>𝐿</m:t>
                          </m:r>
                          <m:r>
                            <a:rPr lang="en-US" sz="2100" b="0" i="1" smtClean="0">
                              <a:latin typeface="Cambria Math" panose="02040503050406030204" pitchFamily="18" charset="0"/>
                            </a:rPr>
                            <m:t>−1</m:t>
                          </m:r>
                        </m:sup>
                        <m:e>
                          <m:r>
                            <a:rPr lang="en-US" sz="2100" b="0" i="1" smtClean="0">
                              <a:latin typeface="Cambria Math" panose="02040503050406030204" pitchFamily="18" charset="0"/>
                            </a:rPr>
                            <m:t>ℙ</m:t>
                          </m:r>
                          <m:d>
                            <m:dPr>
                              <m:sepChr m:val="∣"/>
                              <m:ctrlPr>
                                <a:rPr lang="en-US" sz="2100" b="0" i="1" smtClean="0">
                                  <a:latin typeface="Cambria Math" panose="02040503050406030204" pitchFamily="18" charset="0"/>
                                </a:rPr>
                              </m:ctrlPr>
                            </m:dPr>
                            <m:e>
                              <m:sSup>
                                <m:sSupPr>
                                  <m:ctrlPr>
                                    <a:rPr lang="en-US" sz="2100" b="0" i="1" smtClean="0">
                                      <a:latin typeface="Cambria Math" panose="02040503050406030204" pitchFamily="18" charset="0"/>
                                    </a:rPr>
                                  </m:ctrlPr>
                                </m:sSupPr>
                                <m:e>
                                  <m:r>
                                    <a:rPr lang="en-US" sz="2100" b="0" i="1" smtClean="0">
                                      <a:latin typeface="Cambria Math" panose="02040503050406030204" pitchFamily="18" charset="0"/>
                                    </a:rPr>
                                    <m:t>𝐺</m:t>
                                  </m:r>
                                </m:e>
                                <m:sup>
                                  <m:d>
                                    <m:dPr>
                                      <m:ctrlPr>
                                        <a:rPr lang="en-US" sz="2100" b="0" i="1" smtClean="0">
                                          <a:latin typeface="Cambria Math" panose="02040503050406030204" pitchFamily="18" charset="0"/>
                                        </a:rPr>
                                      </m:ctrlPr>
                                    </m:dPr>
                                    <m:e>
                                      <m:r>
                                        <a:rPr lang="en-US" sz="2100" b="0" i="1" smtClean="0">
                                          <a:latin typeface="Cambria Math" panose="02040503050406030204" pitchFamily="18" charset="0"/>
                                        </a:rPr>
                                        <m:t>𝑙</m:t>
                                      </m:r>
                                    </m:e>
                                  </m:d>
                                </m:sup>
                              </m:sSup>
                            </m:e>
                            <m:e>
                              <m:sSup>
                                <m:sSupPr>
                                  <m:ctrlPr>
                                    <a:rPr lang="en-US" sz="2100" b="0" i="1">
                                      <a:latin typeface="Cambria Math" panose="02040503050406030204" pitchFamily="18" charset="0"/>
                                    </a:rPr>
                                  </m:ctrlPr>
                                </m:sSupPr>
                                <m:e>
                                  <m:r>
                                    <a:rPr lang="en-US" sz="2100" i="1">
                                      <a:latin typeface="Cambria Math" panose="02040503050406030204" pitchFamily="18" charset="0"/>
                                    </a:rPr>
                                    <m:t>𝐺</m:t>
                                  </m:r>
                                </m:e>
                                <m:sup>
                                  <m:d>
                                    <m:dPr>
                                      <m:ctrlPr>
                                        <a:rPr lang="en-US" sz="2100" i="1">
                                          <a:latin typeface="Cambria Math" panose="02040503050406030204" pitchFamily="18" charset="0"/>
                                        </a:rPr>
                                      </m:ctrlPr>
                                    </m:dPr>
                                    <m:e>
                                      <m:r>
                                        <a:rPr lang="en-US" sz="2100" i="1">
                                          <a:latin typeface="Cambria Math" panose="02040503050406030204" pitchFamily="18" charset="0"/>
                                        </a:rPr>
                                        <m:t>𝑙</m:t>
                                      </m:r>
                                      <m:r>
                                        <a:rPr lang="en-US" sz="2100" b="0" i="1" smtClean="0">
                                          <a:latin typeface="Cambria Math" panose="02040503050406030204" pitchFamily="18" charset="0"/>
                                        </a:rPr>
                                        <m:t>+1</m:t>
                                      </m:r>
                                    </m:e>
                                  </m:d>
                                </m:sup>
                              </m:sSup>
                            </m:e>
                          </m:d>
                        </m:e>
                      </m:nary>
                      <m:r>
                        <a:rPr lang="en-US" sz="2100" b="0" i="1" smtClean="0">
                          <a:latin typeface="Cambria Math" panose="02040503050406030204" pitchFamily="18" charset="0"/>
                        </a:rPr>
                        <m:t>=</m:t>
                      </m:r>
                      <m:r>
                        <a:rPr lang="en-US" sz="2100" i="1">
                          <a:latin typeface="Cambria Math" panose="02040503050406030204" pitchFamily="18" charset="0"/>
                        </a:rPr>
                        <m:t>ℙ</m:t>
                      </m:r>
                      <m:d>
                        <m:dPr>
                          <m:ctrlPr>
                            <a:rPr lang="en-US" sz="2100" i="1">
                              <a:latin typeface="Cambria Math" panose="02040503050406030204" pitchFamily="18" charset="0"/>
                            </a:rPr>
                          </m:ctrlPr>
                        </m:dPr>
                        <m:e>
                          <m:sSub>
                            <m:sSubPr>
                              <m:ctrlPr>
                                <a:rPr lang="en-US" sz="2100" b="0" i="1" smtClean="0">
                                  <a:latin typeface="Cambria Math" panose="02040503050406030204" pitchFamily="18" charset="0"/>
                                </a:rPr>
                              </m:ctrlPr>
                            </m:sSubPr>
                            <m:e>
                              <m:r>
                                <a:rPr lang="en-US" sz="2100" b="0" i="1" smtClean="0">
                                  <a:latin typeface="Cambria Math" panose="02040503050406030204" pitchFamily="18" charset="0"/>
                                </a:rPr>
                                <m:t>𝐺</m:t>
                              </m:r>
                            </m:e>
                            <m:sub>
                              <m:r>
                                <a:rPr lang="en-US" sz="2100" b="0" i="1" smtClean="0">
                                  <a:latin typeface="Cambria Math" panose="02040503050406030204" pitchFamily="18" charset="0"/>
                                </a:rPr>
                                <m:t>𝑅</m:t>
                              </m:r>
                            </m:sub>
                          </m:sSub>
                        </m:e>
                      </m:d>
                      <m:nary>
                        <m:naryPr>
                          <m:chr m:val="∏"/>
                          <m:ctrlPr>
                            <a:rPr lang="en-US" sz="2100" i="1">
                              <a:latin typeface="Cambria Math" panose="02040503050406030204" pitchFamily="18" charset="0"/>
                            </a:rPr>
                          </m:ctrlPr>
                        </m:naryPr>
                        <m:sub>
                          <m:r>
                            <a:rPr lang="en-US" sz="2100" i="1">
                              <a:latin typeface="Cambria Math" panose="02040503050406030204" pitchFamily="18" charset="0"/>
                            </a:rPr>
                            <m:t>𝑙</m:t>
                          </m:r>
                          <m:r>
                            <a:rPr lang="en-US" sz="2100" i="1">
                              <a:latin typeface="Cambria Math" panose="02040503050406030204" pitchFamily="18" charset="0"/>
                            </a:rPr>
                            <m:t>=1</m:t>
                          </m:r>
                        </m:sub>
                        <m:sup>
                          <m:r>
                            <a:rPr lang="en-US" sz="2100" i="1">
                              <a:latin typeface="Cambria Math" panose="02040503050406030204" pitchFamily="18" charset="0"/>
                            </a:rPr>
                            <m:t>𝐿</m:t>
                          </m:r>
                          <m:r>
                            <a:rPr lang="en-US" sz="2100" i="1">
                              <a:latin typeface="Cambria Math" panose="02040503050406030204" pitchFamily="18" charset="0"/>
                            </a:rPr>
                            <m:t>−1</m:t>
                          </m:r>
                        </m:sup>
                        <m:e>
                          <m:nary>
                            <m:naryPr>
                              <m:chr m:val="∏"/>
                              <m:ctrlPr>
                                <a:rPr lang="en-US" sz="2100" i="1">
                                  <a:latin typeface="Cambria Math" panose="02040503050406030204" pitchFamily="18" charset="0"/>
                                </a:rPr>
                              </m:ctrlPr>
                            </m:naryPr>
                            <m:sub>
                              <m:r>
                                <a:rPr lang="en-US" sz="2100" b="0" i="1" smtClean="0">
                                  <a:latin typeface="Cambria Math" panose="02040503050406030204" pitchFamily="18" charset="0"/>
                                </a:rPr>
                                <m:t>𝑘</m:t>
                              </m:r>
                              <m:r>
                                <a:rPr lang="en-US" sz="2100" i="1">
                                  <a:latin typeface="Cambria Math" panose="02040503050406030204" pitchFamily="18" charset="0"/>
                                </a:rPr>
                                <m:t>=1</m:t>
                              </m:r>
                            </m:sub>
                            <m:sup>
                              <m:sSup>
                                <m:sSupPr>
                                  <m:ctrlPr>
                                    <a:rPr lang="en-US" sz="2100" b="0" i="1" smtClean="0">
                                      <a:latin typeface="Cambria Math" panose="02040503050406030204" pitchFamily="18" charset="0"/>
                                    </a:rPr>
                                  </m:ctrlPr>
                                </m:sSupPr>
                                <m:e>
                                  <m:r>
                                    <a:rPr lang="en-US" sz="2100" b="0" i="1" smtClean="0">
                                      <a:latin typeface="Cambria Math" panose="02040503050406030204" pitchFamily="18" charset="0"/>
                                    </a:rPr>
                                    <m:t>𝑛</m:t>
                                  </m:r>
                                </m:e>
                                <m:sup>
                                  <m:d>
                                    <m:dPr>
                                      <m:ctrlPr>
                                        <a:rPr lang="en-US" sz="2100" b="0" i="1" smtClean="0">
                                          <a:latin typeface="Cambria Math" panose="02040503050406030204" pitchFamily="18" charset="0"/>
                                        </a:rPr>
                                      </m:ctrlPr>
                                    </m:dPr>
                                    <m:e>
                                      <m:r>
                                        <a:rPr lang="en-US" sz="2100" b="0" i="1" smtClean="0">
                                          <a:latin typeface="Cambria Math" panose="02040503050406030204" pitchFamily="18" charset="0"/>
                                        </a:rPr>
                                        <m:t>𝑙</m:t>
                                      </m:r>
                                      <m:r>
                                        <a:rPr lang="en-US" sz="2100" b="0" i="1" smtClean="0">
                                          <a:latin typeface="Cambria Math" panose="02040503050406030204" pitchFamily="18" charset="0"/>
                                        </a:rPr>
                                        <m:t>+1</m:t>
                                      </m:r>
                                    </m:e>
                                  </m:d>
                                </m:sup>
                              </m:sSup>
                            </m:sup>
                            <m:e>
                              <m:r>
                                <a:rPr lang="en-US" sz="2100" i="1">
                                  <a:latin typeface="Cambria Math" panose="02040503050406030204" pitchFamily="18" charset="0"/>
                                </a:rPr>
                                <m:t>ℙ</m:t>
                              </m:r>
                              <m:d>
                                <m:dPr>
                                  <m:sepChr m:val="∣"/>
                                  <m:ctrlPr>
                                    <a:rPr lang="en-US" sz="2100" i="1">
                                      <a:latin typeface="Cambria Math" panose="02040503050406030204" pitchFamily="18" charset="0"/>
                                    </a:rPr>
                                  </m:ctrlPr>
                                </m:dPr>
                                <m:e>
                                  <m:sSup>
                                    <m:sSupPr>
                                      <m:ctrlPr>
                                        <a:rPr lang="en-US" sz="2100" i="1">
                                          <a:latin typeface="Cambria Math" panose="02040503050406030204" pitchFamily="18" charset="0"/>
                                        </a:rPr>
                                      </m:ctrlPr>
                                    </m:sSupPr>
                                    <m:e>
                                      <m:sSub>
                                        <m:sSubPr>
                                          <m:ctrlPr>
                                            <a:rPr lang="en-US" sz="2100" b="0" i="1" smtClean="0">
                                              <a:latin typeface="Cambria Math" panose="02040503050406030204" pitchFamily="18" charset="0"/>
                                            </a:rPr>
                                          </m:ctrlPr>
                                        </m:sSubPr>
                                        <m:e>
                                          <m:r>
                                            <a:rPr lang="en-US" sz="2100" b="0" i="1" smtClean="0">
                                              <a:latin typeface="Cambria Math" panose="02040503050406030204" pitchFamily="18" charset="0"/>
                                            </a:rPr>
                                            <m:t>𝐶</m:t>
                                          </m:r>
                                        </m:e>
                                        <m:sub>
                                          <m:r>
                                            <a:rPr lang="en-US" sz="2100" b="0" i="1" smtClean="0">
                                              <a:latin typeface="Cambria Math" panose="02040503050406030204" pitchFamily="18" charset="0"/>
                                            </a:rPr>
                                            <m:t>𝑘</m:t>
                                          </m:r>
                                        </m:sub>
                                      </m:sSub>
                                    </m:e>
                                    <m:sup>
                                      <m:d>
                                        <m:dPr>
                                          <m:ctrlPr>
                                            <a:rPr lang="en-US" sz="2100" i="1">
                                              <a:latin typeface="Cambria Math" panose="02040503050406030204" pitchFamily="18" charset="0"/>
                                            </a:rPr>
                                          </m:ctrlPr>
                                        </m:dPr>
                                        <m:e>
                                          <m:r>
                                            <a:rPr lang="en-US" sz="2100" i="1">
                                              <a:latin typeface="Cambria Math" panose="02040503050406030204" pitchFamily="18" charset="0"/>
                                            </a:rPr>
                                            <m:t>𝑙</m:t>
                                          </m:r>
                                        </m:e>
                                      </m:d>
                                    </m:sup>
                                  </m:sSup>
                                </m:e>
                                <m:e>
                                  <m:sSup>
                                    <m:sSupPr>
                                      <m:ctrlPr>
                                        <a:rPr lang="en-US" sz="2100" i="1">
                                          <a:latin typeface="Cambria Math" panose="02040503050406030204" pitchFamily="18" charset="0"/>
                                        </a:rPr>
                                      </m:ctrlPr>
                                    </m:sSupPr>
                                    <m:e>
                                      <m:r>
                                        <a:rPr lang="en-US" sz="2100" i="1">
                                          <a:latin typeface="Cambria Math" panose="02040503050406030204" pitchFamily="18" charset="0"/>
                                        </a:rPr>
                                        <m:t>𝐺</m:t>
                                      </m:r>
                                    </m:e>
                                    <m:sup>
                                      <m:d>
                                        <m:dPr>
                                          <m:ctrlPr>
                                            <a:rPr lang="en-US" sz="2100" i="1">
                                              <a:latin typeface="Cambria Math" panose="02040503050406030204" pitchFamily="18" charset="0"/>
                                            </a:rPr>
                                          </m:ctrlPr>
                                        </m:dPr>
                                        <m:e>
                                          <m:r>
                                            <a:rPr lang="en-US" sz="2100" i="1">
                                              <a:latin typeface="Cambria Math" panose="02040503050406030204" pitchFamily="18" charset="0"/>
                                            </a:rPr>
                                            <m:t>𝑙</m:t>
                                          </m:r>
                                          <m:r>
                                            <a:rPr lang="en-US" sz="2100" i="1">
                                              <a:latin typeface="Cambria Math" panose="02040503050406030204" pitchFamily="18" charset="0"/>
                                            </a:rPr>
                                            <m:t>+1</m:t>
                                          </m:r>
                                        </m:e>
                                      </m:d>
                                    </m:sup>
                                  </m:sSup>
                                </m:e>
                              </m:d>
                            </m:e>
                          </m:nary>
                        </m:e>
                      </m:nary>
                      <m:nary>
                        <m:naryPr>
                          <m:chr m:val="∏"/>
                          <m:supHide m:val="on"/>
                          <m:ctrlPr>
                            <a:rPr lang="en-US" sz="2100" i="1">
                              <a:latin typeface="Cambria Math" panose="02040503050406030204" pitchFamily="18" charset="0"/>
                            </a:rPr>
                          </m:ctrlPr>
                        </m:naryPr>
                        <m:sub>
                          <m:r>
                            <a:rPr lang="en-US" sz="2100" b="0" i="1" smtClean="0">
                              <a:latin typeface="Cambria Math" panose="02040503050406030204" pitchFamily="18" charset="0"/>
                            </a:rPr>
                            <m:t>𝑗</m:t>
                          </m:r>
                          <m:r>
                            <a:rPr lang="en-US" sz="2100" b="0" i="1" smtClean="0">
                              <a:latin typeface="Cambria Math" panose="02040503050406030204" pitchFamily="18" charset="0"/>
                            </a:rPr>
                            <m:t>≠</m:t>
                          </m:r>
                          <m:r>
                            <a:rPr lang="en-US" sz="2100" b="0" i="1" smtClean="0">
                              <a:latin typeface="Cambria Math" panose="02040503050406030204" pitchFamily="18" charset="0"/>
                            </a:rPr>
                            <m:t>𝑘</m:t>
                          </m:r>
                        </m:sub>
                        <m:sup/>
                        <m:e>
                          <m:r>
                            <a:rPr lang="en-US" sz="2100" i="1">
                              <a:latin typeface="Cambria Math" panose="02040503050406030204" pitchFamily="18" charset="0"/>
                            </a:rPr>
                            <m:t>ℙ</m:t>
                          </m:r>
                          <m:d>
                            <m:dPr>
                              <m:sepChr m:val="∣"/>
                              <m:ctrlPr>
                                <a:rPr lang="en-US" sz="2100" i="1">
                                  <a:latin typeface="Cambria Math" panose="02040503050406030204" pitchFamily="18" charset="0"/>
                                </a:rPr>
                              </m:ctrlPr>
                            </m:dPr>
                            <m:e>
                              <m:sSup>
                                <m:sSupPr>
                                  <m:ctrlPr>
                                    <a:rPr lang="en-US" sz="2100" i="1">
                                      <a:latin typeface="Cambria Math" panose="02040503050406030204" pitchFamily="18" charset="0"/>
                                    </a:rPr>
                                  </m:ctrlPr>
                                </m:sSupPr>
                                <m:e>
                                  <m:sSub>
                                    <m:sSubPr>
                                      <m:ctrlPr>
                                        <a:rPr lang="en-US" sz="2100" b="0" i="1" smtClean="0">
                                          <a:latin typeface="Cambria Math" panose="02040503050406030204" pitchFamily="18" charset="0"/>
                                        </a:rPr>
                                      </m:ctrlPr>
                                    </m:sSubPr>
                                    <m:e>
                                      <m:r>
                                        <a:rPr lang="en-US" sz="2100" b="0" i="1" smtClean="0">
                                          <a:latin typeface="Cambria Math" panose="02040503050406030204" pitchFamily="18" charset="0"/>
                                        </a:rPr>
                                        <m:t>𝐵</m:t>
                                      </m:r>
                                    </m:e>
                                    <m:sub>
                                      <m:r>
                                        <a:rPr lang="en-US" sz="2100" b="0" i="1" smtClean="0">
                                          <a:latin typeface="Cambria Math" panose="02040503050406030204" pitchFamily="18" charset="0"/>
                                        </a:rPr>
                                        <m:t>𝑗</m:t>
                                      </m:r>
                                      <m:r>
                                        <a:rPr lang="en-US" sz="2100" b="0" i="1" smtClean="0">
                                          <a:latin typeface="Cambria Math" panose="02040503050406030204" pitchFamily="18" charset="0"/>
                                        </a:rPr>
                                        <m:t>,</m:t>
                                      </m:r>
                                      <m:r>
                                        <a:rPr lang="en-US" sz="2100" b="0" i="1" smtClean="0">
                                          <a:latin typeface="Cambria Math" panose="02040503050406030204" pitchFamily="18" charset="0"/>
                                        </a:rPr>
                                        <m:t>𝑘</m:t>
                                      </m:r>
                                    </m:sub>
                                  </m:sSub>
                                </m:e>
                                <m:sup>
                                  <m:d>
                                    <m:dPr>
                                      <m:ctrlPr>
                                        <a:rPr lang="en-US" sz="2100" i="1">
                                          <a:latin typeface="Cambria Math" panose="02040503050406030204" pitchFamily="18" charset="0"/>
                                        </a:rPr>
                                      </m:ctrlPr>
                                    </m:dPr>
                                    <m:e>
                                      <m:r>
                                        <a:rPr lang="en-US" sz="2100" i="1">
                                          <a:latin typeface="Cambria Math" panose="02040503050406030204" pitchFamily="18" charset="0"/>
                                        </a:rPr>
                                        <m:t>𝑙</m:t>
                                      </m:r>
                                    </m:e>
                                  </m:d>
                                </m:sup>
                              </m:sSup>
                            </m:e>
                            <m:e>
                              <m:sSup>
                                <m:sSupPr>
                                  <m:ctrlPr>
                                    <a:rPr lang="en-US" sz="2100" i="1">
                                      <a:latin typeface="Cambria Math" panose="02040503050406030204" pitchFamily="18" charset="0"/>
                                    </a:rPr>
                                  </m:ctrlPr>
                                </m:sSupPr>
                                <m:e>
                                  <m:r>
                                    <a:rPr lang="en-US" sz="2100" i="1">
                                      <a:latin typeface="Cambria Math" panose="02040503050406030204" pitchFamily="18" charset="0"/>
                                    </a:rPr>
                                    <m:t>𝐺</m:t>
                                  </m:r>
                                </m:e>
                                <m:sup>
                                  <m:d>
                                    <m:dPr>
                                      <m:ctrlPr>
                                        <a:rPr lang="en-US" sz="2100" i="1">
                                          <a:latin typeface="Cambria Math" panose="02040503050406030204" pitchFamily="18" charset="0"/>
                                        </a:rPr>
                                      </m:ctrlPr>
                                    </m:dPr>
                                    <m:e>
                                      <m:r>
                                        <a:rPr lang="en-US" sz="2100" i="1">
                                          <a:latin typeface="Cambria Math" panose="02040503050406030204" pitchFamily="18" charset="0"/>
                                        </a:rPr>
                                        <m:t>𝑙</m:t>
                                      </m:r>
                                      <m:r>
                                        <a:rPr lang="en-US" sz="2100" i="1">
                                          <a:latin typeface="Cambria Math" panose="02040503050406030204" pitchFamily="18" charset="0"/>
                                        </a:rPr>
                                        <m:t>+1</m:t>
                                      </m:r>
                                    </m:e>
                                  </m:d>
                                </m:sup>
                              </m:sSup>
                            </m:e>
                          </m:d>
                        </m:e>
                      </m:nary>
                    </m:oMath>
                  </m:oMathPara>
                </a14:m>
                <a:endParaRPr lang="en-US" dirty="0">
                  <a:latin typeface="+mj-lt"/>
                </a:endParaRPr>
              </a:p>
              <a:p>
                <a:endParaRPr lang="en-US" i="1" dirty="0">
                  <a:latin typeface="+mj-lt"/>
                </a:endParaRPr>
              </a:p>
            </p:txBody>
          </p:sp>
        </mc:Choice>
        <mc:Fallback>
          <p:sp>
            <p:nvSpPr>
              <p:cNvPr id="9" name="Content Placeholder 8">
                <a:extLst>
                  <a:ext uri="{FF2B5EF4-FFF2-40B4-BE49-F238E27FC236}">
                    <a16:creationId xmlns:a16="http://schemas.microsoft.com/office/drawing/2014/main" id="{B1F3BFED-D217-145E-658B-9BF5994151A7}"/>
                  </a:ext>
                </a:extLst>
              </p:cNvPr>
              <p:cNvSpPr>
                <a:spLocks noGrp="1" noRot="1" noChangeAspect="1" noMove="1" noResize="1" noEditPoints="1" noAdjustHandles="1" noChangeArrowheads="1" noChangeShapeType="1" noTextEdit="1"/>
              </p:cNvSpPr>
              <p:nvPr>
                <p:ph idx="1"/>
              </p:nvPr>
            </p:nvSpPr>
            <p:spPr>
              <a:blipFill>
                <a:blip r:embed="rId3"/>
                <a:stretch>
                  <a:fillRect/>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52B3EC53-EE27-DA32-DD8D-8E79F220535A}"/>
              </a:ext>
            </a:extLst>
          </p:cNvPr>
          <p:cNvSpPr>
            <a:spLocks noGrp="1"/>
          </p:cNvSpPr>
          <p:nvPr>
            <p:ph type="title"/>
          </p:nvPr>
        </p:nvSpPr>
        <p:spPr>
          <a:xfrm>
            <a:off x="904875" y="131032"/>
            <a:ext cx="7207279" cy="1072753"/>
          </a:xfrm>
        </p:spPr>
        <p:txBody>
          <a:bodyPr>
            <a:normAutofit/>
          </a:bodyPr>
          <a:lstStyle/>
          <a:p>
            <a:r>
              <a:rPr lang="en-US" dirty="0"/>
              <a:t>4.2	Hierarchical Generative Graph Diffusion</a:t>
            </a:r>
            <a:br>
              <a:rPr lang="en-US" dirty="0"/>
            </a:br>
            <a:r>
              <a:rPr lang="en-US" sz="2400" b="0" i="1" dirty="0"/>
              <a:t>Background - Hierarchical Graph Diffusion of </a:t>
            </a:r>
            <a:r>
              <a:rPr lang="en-US" sz="2400" b="0" i="1" dirty="0" err="1"/>
              <a:t>MRGrad</a:t>
            </a:r>
            <a:r>
              <a:rPr lang="en-US" sz="2400" b="0" dirty="0"/>
              <a:t> </a:t>
            </a:r>
            <a:r>
              <a:rPr lang="en-US" sz="2400" b="0" i="1" dirty="0">
                <a:solidFill>
                  <a:schemeClr val="accent1"/>
                </a:solidFill>
              </a:rPr>
              <a:t>[23]</a:t>
            </a:r>
            <a:endParaRPr lang="en-GB" sz="2400" b="0" i="1" dirty="0">
              <a:solidFill>
                <a:schemeClr val="accent1"/>
              </a:solidFill>
            </a:endParaRPr>
          </a:p>
        </p:txBody>
      </p:sp>
      <p:sp>
        <p:nvSpPr>
          <p:cNvPr id="5" name="Date Placeholder 4">
            <a:extLst>
              <a:ext uri="{FF2B5EF4-FFF2-40B4-BE49-F238E27FC236}">
                <a16:creationId xmlns:a16="http://schemas.microsoft.com/office/drawing/2014/main" id="{FC197AD7-F512-2C75-D5ED-4009D226BFA6}"/>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3182B606-554B-FC63-12BE-A22DEC42E3DD}"/>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DA6810EC-A457-D138-5085-89BB8635E8BD}"/>
              </a:ext>
            </a:extLst>
          </p:cNvPr>
          <p:cNvSpPr>
            <a:spLocks noGrp="1"/>
          </p:cNvSpPr>
          <p:nvPr>
            <p:ph type="sldNum" sz="quarter" idx="12"/>
          </p:nvPr>
        </p:nvSpPr>
        <p:spPr/>
        <p:txBody>
          <a:bodyPr/>
          <a:lstStyle/>
          <a:p>
            <a:fld id="{E1E1CD7C-2161-7D43-862E-CE4C333CD873}" type="slidenum">
              <a:rPr lang="fr-FR" smtClean="0"/>
              <a:pPr/>
              <a:t>47</a:t>
            </a:fld>
            <a:endParaRPr lang="fr-FR" dirty="0"/>
          </a:p>
        </p:txBody>
      </p:sp>
    </p:spTree>
    <p:extLst>
      <p:ext uri="{BB962C8B-B14F-4D97-AF65-F5344CB8AC3E}">
        <p14:creationId xmlns:p14="http://schemas.microsoft.com/office/powerpoint/2010/main" val="8323769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4" presetClass="entr" presetSubtype="10" fill="hold" nodeType="clickEffect">
                                  <p:stCondLst>
                                    <p:cond delay="0"/>
                                  </p:stCondLst>
                                  <p:childTnLst>
                                    <p:set>
                                      <p:cBhvr>
                                        <p:cTn id="17"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8" dur="500"/>
                                        <p:tgtEl>
                                          <p:spTgt spid="9">
                                            <p:txEl>
                                              <p:pRg st="3" end="3"/>
                                            </p:txEl>
                                          </p:spTgt>
                                        </p:tgtEl>
                                      </p:cBhvr>
                                    </p:animEffect>
                                  </p:childTnLst>
                                </p:cTn>
                              </p:par>
                              <p:par>
                                <p:cTn id="19" presetID="14" presetClass="entr" presetSubtype="10" fill="hold" nodeType="withEffect">
                                  <p:stCondLst>
                                    <p:cond delay="0"/>
                                  </p:stCondLst>
                                  <p:childTnLst>
                                    <p:set>
                                      <p:cBhvr>
                                        <p:cTn id="20" dur="1" fill="hold">
                                          <p:stCondLst>
                                            <p:cond delay="0"/>
                                          </p:stCondLst>
                                        </p:cTn>
                                        <p:tgtEl>
                                          <p:spTgt spid="9">
                                            <p:txEl>
                                              <p:pRg st="4" end="4"/>
                                            </p:txEl>
                                          </p:spTgt>
                                        </p:tgtEl>
                                        <p:attrNameLst>
                                          <p:attrName>style.visibility</p:attrName>
                                        </p:attrNameLst>
                                      </p:cBhvr>
                                      <p:to>
                                        <p:strVal val="visible"/>
                                      </p:to>
                                    </p:set>
                                    <p:animEffect transition="in" filter="randombar(horizontal)">
                                      <p:cBhvr>
                                        <p:cTn id="21" dur="500"/>
                                        <p:tgtEl>
                                          <p:spTgt spid="9">
                                            <p:txEl>
                                              <p:pRg st="4" end="4"/>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4" dur="500"/>
                                        <p:tgtEl>
                                          <p:spTgt spid="9">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9">
                                            <p:txEl>
                                              <p:pRg st="6" end="6"/>
                                            </p:txEl>
                                          </p:spTgt>
                                        </p:tgtEl>
                                        <p:attrNameLst>
                                          <p:attrName>style.visibility</p:attrName>
                                        </p:attrNameLst>
                                      </p:cBhvr>
                                      <p:to>
                                        <p:strVal val="visible"/>
                                      </p:to>
                                    </p:set>
                                    <p:animEffect transition="in" filter="randombar(horizontal)">
                                      <p:cBhvr>
                                        <p:cTn id="27" dur="500"/>
                                        <p:tgtEl>
                                          <p:spTgt spid="9">
                                            <p:txEl>
                                              <p:pRg st="6" end="6"/>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0" dur="500"/>
                                        <p:tgtEl>
                                          <p:spTgt spid="9">
                                            <p:txEl>
                                              <p:pRg st="7" end="7"/>
                                            </p:txEl>
                                          </p:spTgt>
                                        </p:tgtEl>
                                      </p:cBhvr>
                                    </p:animEffect>
                                  </p:childTnLst>
                                </p:cTn>
                              </p:par>
                              <p:par>
                                <p:cTn id="31" presetID="14" presetClass="entr" presetSubtype="10" fill="hold" nodeType="withEffect">
                                  <p:stCondLst>
                                    <p:cond delay="0"/>
                                  </p:stCondLst>
                                  <p:childTnLst>
                                    <p:set>
                                      <p:cBhvr>
                                        <p:cTn id="32" dur="1" fill="hold">
                                          <p:stCondLst>
                                            <p:cond delay="0"/>
                                          </p:stCondLst>
                                        </p:cTn>
                                        <p:tgtEl>
                                          <p:spTgt spid="9">
                                            <p:txEl>
                                              <p:pRg st="8" end="8"/>
                                            </p:txEl>
                                          </p:spTgt>
                                        </p:tgtEl>
                                        <p:attrNameLst>
                                          <p:attrName>style.visibility</p:attrName>
                                        </p:attrNameLst>
                                      </p:cBhvr>
                                      <p:to>
                                        <p:strVal val="visible"/>
                                      </p:to>
                                    </p:set>
                                    <p:animEffect transition="in" filter="randombar(horizontal)">
                                      <p:cBhvr>
                                        <p:cTn id="33" dur="500"/>
                                        <p:tgtEl>
                                          <p:spTgt spid="9">
                                            <p:txEl>
                                              <p:pRg st="8" end="8"/>
                                            </p:txEl>
                                          </p:spTgt>
                                        </p:tgtEl>
                                      </p:cBhvr>
                                    </p:animEffect>
                                  </p:childTnLst>
                                </p:cTn>
                              </p:par>
                              <p:par>
                                <p:cTn id="34" presetID="14" presetClass="entr" presetSubtype="10" fill="hold" nodeType="withEffect">
                                  <p:stCondLst>
                                    <p:cond delay="0"/>
                                  </p:stCondLst>
                                  <p:childTnLst>
                                    <p:set>
                                      <p:cBhvr>
                                        <p:cTn id="35" dur="1" fill="hold">
                                          <p:stCondLst>
                                            <p:cond delay="0"/>
                                          </p:stCondLst>
                                        </p:cTn>
                                        <p:tgtEl>
                                          <p:spTgt spid="9">
                                            <p:txEl>
                                              <p:pRg st="9" end="9"/>
                                            </p:txEl>
                                          </p:spTgt>
                                        </p:tgtEl>
                                        <p:attrNameLst>
                                          <p:attrName>style.visibility</p:attrName>
                                        </p:attrNameLst>
                                      </p:cBhvr>
                                      <p:to>
                                        <p:strVal val="visible"/>
                                      </p:to>
                                    </p:set>
                                    <p:animEffect transition="in" filter="randombar(horizontal)">
                                      <p:cBhvr>
                                        <p:cTn id="36" dur="500"/>
                                        <p:tgtEl>
                                          <p:spTgt spid="9">
                                            <p:txEl>
                                              <p:pRg st="9" end="9"/>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14" presetClass="entr" presetSubtype="10" fill="hold" nodeType="clickEffect">
                                  <p:stCondLst>
                                    <p:cond delay="0"/>
                                  </p:stCondLst>
                                  <p:childTnLst>
                                    <p:set>
                                      <p:cBhvr>
                                        <p:cTn id="40" dur="1" fill="hold">
                                          <p:stCondLst>
                                            <p:cond delay="0"/>
                                          </p:stCondLst>
                                        </p:cTn>
                                        <p:tgtEl>
                                          <p:spTgt spid="9">
                                            <p:txEl>
                                              <p:pRg st="10" end="10"/>
                                            </p:txEl>
                                          </p:spTgt>
                                        </p:tgtEl>
                                        <p:attrNameLst>
                                          <p:attrName>style.visibility</p:attrName>
                                        </p:attrNameLst>
                                      </p:cBhvr>
                                      <p:to>
                                        <p:strVal val="visible"/>
                                      </p:to>
                                    </p:set>
                                    <p:animEffect transition="in" filter="randombar(horizontal)">
                                      <p:cBhvr>
                                        <p:cTn id="41" dur="500"/>
                                        <p:tgtEl>
                                          <p:spTgt spid="9">
                                            <p:txEl>
                                              <p:pRg st="10" end="10"/>
                                            </p:txEl>
                                          </p:spTgt>
                                        </p:tgtEl>
                                      </p:cBhvr>
                                    </p:animEffect>
                                  </p:childTnLst>
                                </p:cTn>
                              </p:par>
                              <p:par>
                                <p:cTn id="42" presetID="14" presetClass="entr" presetSubtype="10" fill="hold" nodeType="withEffect">
                                  <p:stCondLst>
                                    <p:cond delay="0"/>
                                  </p:stCondLst>
                                  <p:childTnLst>
                                    <p:set>
                                      <p:cBhvr>
                                        <p:cTn id="43" dur="1" fill="hold">
                                          <p:stCondLst>
                                            <p:cond delay="0"/>
                                          </p:stCondLst>
                                        </p:cTn>
                                        <p:tgtEl>
                                          <p:spTgt spid="9">
                                            <p:txEl>
                                              <p:pRg st="11" end="11"/>
                                            </p:txEl>
                                          </p:spTgt>
                                        </p:tgtEl>
                                        <p:attrNameLst>
                                          <p:attrName>style.visibility</p:attrName>
                                        </p:attrNameLst>
                                      </p:cBhvr>
                                      <p:to>
                                        <p:strVal val="visible"/>
                                      </p:to>
                                    </p:set>
                                    <p:animEffect transition="in" filter="randombar(horizontal)">
                                      <p:cBhvr>
                                        <p:cTn id="44" dur="500"/>
                                        <p:tgtEl>
                                          <p:spTgt spid="9">
                                            <p:txEl>
                                              <p:pRg st="11" end="1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857EC3-0A00-75FD-1B50-AC4F3BA2B98D}"/>
            </a:ext>
          </a:extLst>
        </p:cNvPr>
        <p:cNvGrpSpPr/>
        <p:nvPr/>
      </p:nvGrpSpPr>
      <p:grpSpPr>
        <a:xfrm>
          <a:off x="0" y="0"/>
          <a:ext cx="0" cy="0"/>
          <a:chOff x="0" y="0"/>
          <a:chExt cx="0" cy="0"/>
        </a:xfrm>
      </p:grpSpPr>
      <p:pic>
        <p:nvPicPr>
          <p:cNvPr id="4" name="Content Placeholder 3" descr="A diagram of a triangle with many colored circles and lines&#10;&#10;AI-generated content may be incorrect.">
            <a:extLst>
              <a:ext uri="{FF2B5EF4-FFF2-40B4-BE49-F238E27FC236}">
                <a16:creationId xmlns:a16="http://schemas.microsoft.com/office/drawing/2014/main" id="{5F52F6DA-BB20-90CC-F009-7AD075C8DCDB}"/>
              </a:ext>
            </a:extLst>
          </p:cNvPr>
          <p:cNvPicPr>
            <a:picLocks noGrp="1" noChangeAspect="1"/>
          </p:cNvPicPr>
          <p:nvPr>
            <p:ph sz="half" idx="1"/>
          </p:nvPr>
        </p:nvPicPr>
        <p:blipFill>
          <a:blip r:embed="rId3"/>
          <a:stretch>
            <a:fillRect/>
          </a:stretch>
        </p:blipFill>
        <p:spPr>
          <a:xfrm>
            <a:off x="979759" y="1563688"/>
            <a:ext cx="3522119" cy="3263900"/>
          </a:xfrm>
        </p:spPr>
      </p:pic>
      <p:pic>
        <p:nvPicPr>
          <p:cNvPr id="11" name="Content Placeholder 10" descr="A grid with squares and numbers&#10;&#10;AI-generated content may be incorrect.">
            <a:extLst>
              <a:ext uri="{FF2B5EF4-FFF2-40B4-BE49-F238E27FC236}">
                <a16:creationId xmlns:a16="http://schemas.microsoft.com/office/drawing/2014/main" id="{EEA00160-55DA-64CA-F11A-2B02DB0893F4}"/>
              </a:ext>
            </a:extLst>
          </p:cNvPr>
          <p:cNvPicPr>
            <a:picLocks noGrp="1" noChangeAspect="1"/>
          </p:cNvPicPr>
          <p:nvPr>
            <p:ph sz="half" idx="2"/>
          </p:nvPr>
        </p:nvPicPr>
        <p:blipFill>
          <a:blip r:embed="rId4"/>
          <a:stretch>
            <a:fillRect/>
          </a:stretch>
        </p:blipFill>
        <p:spPr>
          <a:xfrm>
            <a:off x="5226641" y="1563688"/>
            <a:ext cx="3137306" cy="3263900"/>
          </a:xfrm>
        </p:spPr>
      </p:pic>
      <p:sp>
        <p:nvSpPr>
          <p:cNvPr id="8" name="Title 7">
            <a:extLst>
              <a:ext uri="{FF2B5EF4-FFF2-40B4-BE49-F238E27FC236}">
                <a16:creationId xmlns:a16="http://schemas.microsoft.com/office/drawing/2014/main" id="{30A7DBB4-3A44-B3A0-7EA8-0841429A1847}"/>
              </a:ext>
            </a:extLst>
          </p:cNvPr>
          <p:cNvSpPr>
            <a:spLocks noGrp="1"/>
          </p:cNvSpPr>
          <p:nvPr>
            <p:ph type="title"/>
          </p:nvPr>
        </p:nvSpPr>
        <p:spPr>
          <a:xfrm>
            <a:off x="904875" y="131032"/>
            <a:ext cx="7726363" cy="1072753"/>
          </a:xfrm>
        </p:spPr>
        <p:txBody>
          <a:bodyPr>
            <a:normAutofit/>
          </a:bodyPr>
          <a:lstStyle/>
          <a:p>
            <a:r>
              <a:rPr lang="en-US" dirty="0"/>
              <a:t>4.2	Hierarchical Generative Graph Diffusion</a:t>
            </a:r>
            <a:br>
              <a:rPr lang="en-US" dirty="0"/>
            </a:br>
            <a:r>
              <a:rPr lang="en-US" sz="2400" b="0" i="1" dirty="0"/>
              <a:t>Background - Hierarchical Graph Diffusion of </a:t>
            </a:r>
            <a:r>
              <a:rPr lang="en-US" sz="2400" b="0" i="1" dirty="0" err="1"/>
              <a:t>MRGrad</a:t>
            </a:r>
            <a:r>
              <a:rPr lang="en-US" sz="2400" b="0" i="1" dirty="0"/>
              <a:t> </a:t>
            </a:r>
            <a:r>
              <a:rPr lang="en-US" sz="2400" b="0" i="1" dirty="0">
                <a:solidFill>
                  <a:schemeClr val="accent1"/>
                </a:solidFill>
              </a:rPr>
              <a:t>[23]</a:t>
            </a:r>
            <a:endParaRPr lang="en-GB" sz="2400" b="0" i="1" dirty="0">
              <a:solidFill>
                <a:schemeClr val="accent1"/>
              </a:solidFill>
            </a:endParaRPr>
          </a:p>
        </p:txBody>
      </p:sp>
      <p:sp>
        <p:nvSpPr>
          <p:cNvPr id="5" name="Date Placeholder 4">
            <a:extLst>
              <a:ext uri="{FF2B5EF4-FFF2-40B4-BE49-F238E27FC236}">
                <a16:creationId xmlns:a16="http://schemas.microsoft.com/office/drawing/2014/main" id="{28C5BF14-4E7F-06F5-6A5B-12B63EEFD6B6}"/>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3E2AF5C3-D0D8-0E16-909F-BB118198D348}"/>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19AFE27C-0B9C-1AD5-3AFE-FBAA82A7FA58}"/>
              </a:ext>
            </a:extLst>
          </p:cNvPr>
          <p:cNvSpPr>
            <a:spLocks noGrp="1"/>
          </p:cNvSpPr>
          <p:nvPr>
            <p:ph type="sldNum" sz="quarter" idx="12"/>
          </p:nvPr>
        </p:nvSpPr>
        <p:spPr/>
        <p:txBody>
          <a:bodyPr/>
          <a:lstStyle/>
          <a:p>
            <a:fld id="{E1E1CD7C-2161-7D43-862E-CE4C333CD873}" type="slidenum">
              <a:rPr lang="fr-FR" smtClean="0"/>
              <a:pPr/>
              <a:t>48</a:t>
            </a:fld>
            <a:endParaRPr lang="fr-FR" dirty="0"/>
          </a:p>
        </p:txBody>
      </p:sp>
    </p:spTree>
    <p:extLst>
      <p:ext uri="{BB962C8B-B14F-4D97-AF65-F5344CB8AC3E}">
        <p14:creationId xmlns:p14="http://schemas.microsoft.com/office/powerpoint/2010/main" val="32906611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randombar(horizontal)">
                                      <p:cBhvr>
                                        <p:cTn id="7" dur="500"/>
                                        <p:tgtEl>
                                          <p:spTgt spid="4"/>
                                        </p:tgtEl>
                                      </p:cBhvr>
                                    </p:animEffect>
                                  </p:childTnLst>
                                </p:cTn>
                              </p:par>
                            </p:childTnLst>
                          </p:cTn>
                        </p:par>
                        <p:par>
                          <p:cTn id="8" fill="hold">
                            <p:stCondLst>
                              <p:cond delay="500"/>
                            </p:stCondLst>
                            <p:childTnLst>
                              <p:par>
                                <p:cTn id="9" presetID="14" presetClass="entr" presetSubtype="10" fill="hold" nodeType="afterEffect">
                                  <p:stCondLst>
                                    <p:cond delay="0"/>
                                  </p:stCondLst>
                                  <p:childTnLst>
                                    <p:set>
                                      <p:cBhvr>
                                        <p:cTn id="10" dur="1" fill="hold">
                                          <p:stCondLst>
                                            <p:cond delay="0"/>
                                          </p:stCondLst>
                                        </p:cTn>
                                        <p:tgtEl>
                                          <p:spTgt spid="11"/>
                                        </p:tgtEl>
                                        <p:attrNameLst>
                                          <p:attrName>style.visibility</p:attrName>
                                        </p:attrNameLst>
                                      </p:cBhvr>
                                      <p:to>
                                        <p:strVal val="visible"/>
                                      </p:to>
                                    </p:set>
                                    <p:animEffect transition="in" filter="randombar(horizontal)">
                                      <p:cBhvr>
                                        <p:cTn id="11"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E9CA1A-19F3-D519-7767-11BE6596D6C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Content Placeholder 8">
                <a:extLst>
                  <a:ext uri="{FF2B5EF4-FFF2-40B4-BE49-F238E27FC236}">
                    <a16:creationId xmlns:a16="http://schemas.microsoft.com/office/drawing/2014/main" id="{A711A69C-F690-CF27-BE56-0491FDE3B348}"/>
                  </a:ext>
                </a:extLst>
              </p:cNvPr>
              <p:cNvSpPr>
                <a:spLocks noGrp="1"/>
              </p:cNvSpPr>
              <p:nvPr>
                <p:ph idx="1"/>
              </p:nvPr>
            </p:nvSpPr>
            <p:spPr/>
            <p:txBody>
              <a:bodyPr anchor="ctr">
                <a:normAutofit/>
              </a:bodyPr>
              <a:lstStyle/>
              <a:p>
                <a:r>
                  <a:rPr lang="en-US" dirty="0">
                    <a:latin typeface="+mj-lt"/>
                  </a:rPr>
                  <a:t>Ablation of root graph’s edge weight representation</a:t>
                </a:r>
              </a:p>
              <a:p>
                <a:pPr lvl="1"/>
                <a:r>
                  <a:rPr lang="en-US" dirty="0">
                    <a:latin typeface="+mj-lt"/>
                  </a:rPr>
                  <a:t>Simple: </a:t>
                </a:r>
                <a14:m>
                  <m:oMath xmlns:m="http://schemas.openxmlformats.org/officeDocument/2006/math">
                    <m:r>
                      <a:rPr lang="en-US" b="0" i="0" smtClean="0">
                        <a:latin typeface="Cambria Math" panose="02040503050406030204" pitchFamily="18" charset="0"/>
                      </a:rPr>
                      <m:t> </m:t>
                    </m:r>
                    <m:sSup>
                      <m:sSupPr>
                        <m:ctrlPr>
                          <a:rPr lang="en-US" b="0" i="1" smtClean="0">
                            <a:latin typeface="Cambria Math" panose="02040503050406030204" pitchFamily="18" charset="0"/>
                          </a:rPr>
                        </m:ctrlPr>
                      </m:sSupPr>
                      <m:e>
                        <m:r>
                          <a:rPr lang="en-US" b="0" i="0" smtClean="0">
                            <a:latin typeface="Cambria Math" panose="02040503050406030204" pitchFamily="18" charset="0"/>
                          </a:rPr>
                          <m:t>𝐴</m:t>
                        </m:r>
                      </m:e>
                      <m:sup>
                        <m:d>
                          <m:dPr>
                            <m:ctrlPr>
                              <a:rPr lang="en-US" b="0" i="1" smtClean="0">
                                <a:latin typeface="Cambria Math" panose="02040503050406030204" pitchFamily="18" charset="0"/>
                              </a:rPr>
                            </m:ctrlPr>
                          </m:dPr>
                          <m:e>
                            <m:r>
                              <a:rPr lang="en-US" b="0" i="1" smtClean="0">
                                <a:latin typeface="Cambria Math" panose="02040503050406030204" pitchFamily="18" charset="0"/>
                              </a:rPr>
                              <m:t>𝐿</m:t>
                            </m:r>
                          </m:e>
                        </m:d>
                      </m:sup>
                    </m:sSup>
                    <m:r>
                      <a:rPr lang="en-US" b="0" i="1" smtClean="0">
                        <a:latin typeface="Cambria Math" panose="02040503050406030204" pitchFamily="18" charset="0"/>
                      </a:rPr>
                      <m:t>∈</m:t>
                    </m:r>
                    <m:r>
                      <m:rPr>
                        <m:lit/>
                      </m:rPr>
                      <a:rPr lang="en-US" b="0" i="1" smtClean="0">
                        <a:latin typeface="Cambria Math" panose="02040503050406030204" pitchFamily="18" charset="0"/>
                      </a:rPr>
                      <m:t>{</m:t>
                    </m:r>
                    <m:r>
                      <a:rPr lang="en-US" b="0" i="1" smtClean="0">
                        <a:latin typeface="Cambria Math" panose="02040503050406030204" pitchFamily="18" charset="0"/>
                      </a:rPr>
                      <m:t>0,1</m:t>
                    </m:r>
                    <m:sSup>
                      <m:sSupPr>
                        <m:ctrlPr>
                          <a:rPr lang="en-US" b="0" i="1" smtClean="0">
                            <a:latin typeface="Cambria Math" panose="02040503050406030204" pitchFamily="18" charset="0"/>
                          </a:rPr>
                        </m:ctrlPr>
                      </m:sSupPr>
                      <m:e>
                        <m:r>
                          <m:rPr>
                            <m:lit/>
                          </m:rPr>
                          <a:rPr lang="en-US" b="0" i="1" smtClean="0">
                            <a:latin typeface="Cambria Math" panose="02040503050406030204" pitchFamily="18" charset="0"/>
                          </a:rPr>
                          <m:t>}</m:t>
                        </m:r>
                      </m:e>
                      <m:sup>
                        <m:sSup>
                          <m:sSupPr>
                            <m:ctrlPr>
                              <a:rPr lang="en-US" b="0" i="1" smtClean="0">
                                <a:latin typeface="Cambria Math" panose="02040503050406030204" pitchFamily="18" charset="0"/>
                              </a:rPr>
                            </m:ctrlPr>
                          </m:sSupPr>
                          <m:e>
                            <m:r>
                              <a:rPr lang="en-US" b="0" i="1" smtClean="0">
                                <a:latin typeface="Cambria Math" panose="02040503050406030204" pitchFamily="18" charset="0"/>
                              </a:rPr>
                              <m:t>𝑛</m:t>
                            </m:r>
                          </m:e>
                          <m:sup>
                            <m:d>
                              <m:dPr>
                                <m:ctrlPr>
                                  <a:rPr lang="en-US" b="0" i="1" smtClean="0">
                                    <a:latin typeface="Cambria Math" panose="02040503050406030204" pitchFamily="18" charset="0"/>
                                  </a:rPr>
                                </m:ctrlPr>
                              </m:dPr>
                              <m:e>
                                <m:r>
                                  <a:rPr lang="en-US" b="0" i="1" smtClean="0">
                                    <a:latin typeface="Cambria Math" panose="02040503050406030204" pitchFamily="18" charset="0"/>
                                  </a:rPr>
                                  <m:t>𝐿</m:t>
                                </m:r>
                              </m:e>
                            </m:d>
                          </m:sup>
                        </m:sSup>
                        <m:r>
                          <a:rPr lang="en-US" b="0" i="1" smtClean="0">
                            <a:latin typeface="Cambria Math" panose="02040503050406030204" pitchFamily="18" charset="0"/>
                          </a:rPr>
                          <m:t>×</m:t>
                        </m:r>
                        <m:sSup>
                          <m:sSupPr>
                            <m:ctrlPr>
                              <a:rPr lang="en-US" b="0" i="1">
                                <a:latin typeface="Cambria Math" panose="02040503050406030204" pitchFamily="18" charset="0"/>
                              </a:rPr>
                            </m:ctrlPr>
                          </m:sSupPr>
                          <m:e>
                            <m:r>
                              <a:rPr lang="en-US" i="1">
                                <a:latin typeface="Cambria Math" panose="02040503050406030204" pitchFamily="18" charset="0"/>
                              </a:rPr>
                              <m:t>𝑛</m:t>
                            </m:r>
                          </m:e>
                          <m:sup>
                            <m:d>
                              <m:dPr>
                                <m:ctrlPr>
                                  <a:rPr lang="en-US" i="1">
                                    <a:latin typeface="Cambria Math" panose="02040503050406030204" pitchFamily="18" charset="0"/>
                                  </a:rPr>
                                </m:ctrlPr>
                              </m:dPr>
                              <m:e>
                                <m:r>
                                  <a:rPr lang="en-US" i="1">
                                    <a:latin typeface="Cambria Math" panose="02040503050406030204" pitchFamily="18" charset="0"/>
                                  </a:rPr>
                                  <m:t>𝐿</m:t>
                                </m:r>
                              </m:e>
                            </m:d>
                          </m:sup>
                        </m:sSup>
                      </m:sup>
                    </m:sSup>
                    <m:r>
                      <a:rPr lang="en-US" b="0" i="0" smtClean="0">
                        <a:latin typeface="Cambria Math" panose="02040503050406030204" pitchFamily="18" charset="0"/>
                      </a:rPr>
                      <m:t>,</m:t>
                    </m:r>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𝑄</m:t>
                        </m:r>
                      </m:e>
                    </m:acc>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0,1</m:t>
                            </m:r>
                          </m:e>
                        </m:d>
                      </m:e>
                      <m:sup>
                        <m:r>
                          <a:rPr lang="en-US" b="0" i="1" smtClean="0">
                            <a:latin typeface="Cambria Math" panose="02040503050406030204" pitchFamily="18" charset="0"/>
                          </a:rPr>
                          <m:t>2×2</m:t>
                        </m:r>
                      </m:sup>
                    </m:sSup>
                  </m:oMath>
                </a14:m>
                <a:endParaRPr lang="en-US" dirty="0">
                  <a:latin typeface="+mj-lt"/>
                </a:endParaRPr>
              </a:p>
              <a:p>
                <a:pPr lvl="1"/>
                <a:r>
                  <a:rPr lang="en-US" dirty="0">
                    <a:latin typeface="+mj-lt"/>
                  </a:rPr>
                  <a:t>Integer: </a:t>
                </a:r>
                <a14:m>
                  <m:oMath xmlns:m="http://schemas.openxmlformats.org/officeDocument/2006/math">
                    <m:sSup>
                      <m:sSupPr>
                        <m:ctrlPr>
                          <a:rPr lang="en-US" i="1" smtClean="0">
                            <a:latin typeface="Cambria Math" panose="02040503050406030204" pitchFamily="18" charset="0"/>
                          </a:rPr>
                        </m:ctrlPr>
                      </m:sSupPr>
                      <m:e>
                        <m:r>
                          <a:rPr lang="en-US">
                            <a:latin typeface="Cambria Math" panose="02040503050406030204" pitchFamily="18" charset="0"/>
                          </a:rPr>
                          <m:t>𝐴</m:t>
                        </m:r>
                      </m:e>
                      <m:sup>
                        <m:d>
                          <m:dPr>
                            <m:ctrlPr>
                              <a:rPr lang="en-US" i="1">
                                <a:latin typeface="Cambria Math" panose="02040503050406030204" pitchFamily="18" charset="0"/>
                              </a:rPr>
                            </m:ctrlPr>
                          </m:dPr>
                          <m:e>
                            <m:r>
                              <a:rPr lang="en-US" i="1">
                                <a:latin typeface="Cambria Math" panose="02040503050406030204" pitchFamily="18" charset="0"/>
                              </a:rPr>
                              <m:t>𝐿</m:t>
                            </m:r>
                          </m:e>
                        </m:d>
                      </m:sup>
                    </m:sSup>
                    <m:r>
                      <a:rPr lang="en-US" i="1">
                        <a:latin typeface="Cambria Math" panose="02040503050406030204" pitchFamily="18" charset="0"/>
                      </a:rPr>
                      <m:t>∈</m:t>
                    </m:r>
                    <m:r>
                      <m:rPr>
                        <m:lit/>
                      </m:rPr>
                      <a:rPr lang="en-US" i="1">
                        <a:latin typeface="Cambria Math" panose="02040503050406030204" pitchFamily="18" charset="0"/>
                      </a:rPr>
                      <m:t>{</m:t>
                    </m:r>
                    <m:r>
                      <a:rPr lang="en-US" i="1">
                        <a:latin typeface="Cambria Math" panose="02040503050406030204" pitchFamily="18" charset="0"/>
                      </a:rPr>
                      <m:t>0,1</m:t>
                    </m:r>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𝐸</m:t>
                        </m:r>
                      </m:e>
                    </m:d>
                    <m:sSup>
                      <m:sSupPr>
                        <m:ctrlPr>
                          <a:rPr lang="en-US" i="1">
                            <a:latin typeface="Cambria Math" panose="02040503050406030204" pitchFamily="18" charset="0"/>
                          </a:rPr>
                        </m:ctrlPr>
                      </m:sSupPr>
                      <m:e>
                        <m:r>
                          <m:rPr>
                            <m:lit/>
                          </m:rPr>
                          <a:rPr lang="en-US" i="1">
                            <a:latin typeface="Cambria Math" panose="02040503050406030204" pitchFamily="18" charset="0"/>
                          </a:rPr>
                          <m:t>}</m:t>
                        </m:r>
                      </m:e>
                      <m:sup>
                        <m:sSup>
                          <m:sSupPr>
                            <m:ctrlPr>
                              <a:rPr lang="en-US" i="1">
                                <a:latin typeface="Cambria Math" panose="02040503050406030204" pitchFamily="18" charset="0"/>
                              </a:rPr>
                            </m:ctrlPr>
                          </m:sSupPr>
                          <m:e>
                            <m:r>
                              <a:rPr lang="en-US" i="1">
                                <a:latin typeface="Cambria Math" panose="02040503050406030204" pitchFamily="18" charset="0"/>
                              </a:rPr>
                              <m:t>𝑛</m:t>
                            </m:r>
                          </m:e>
                          <m:sup>
                            <m:d>
                              <m:dPr>
                                <m:ctrlPr>
                                  <a:rPr lang="en-US" i="1">
                                    <a:latin typeface="Cambria Math" panose="02040503050406030204" pitchFamily="18" charset="0"/>
                                  </a:rPr>
                                </m:ctrlPr>
                              </m:dPr>
                              <m:e>
                                <m:r>
                                  <a:rPr lang="en-US" i="1">
                                    <a:latin typeface="Cambria Math" panose="02040503050406030204" pitchFamily="18" charset="0"/>
                                  </a:rPr>
                                  <m:t>𝐿</m:t>
                                </m:r>
                              </m:e>
                            </m:d>
                          </m:sup>
                        </m:sSup>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𝑛</m:t>
                            </m:r>
                          </m:e>
                          <m:sup>
                            <m:d>
                              <m:dPr>
                                <m:ctrlPr>
                                  <a:rPr lang="en-US" i="1">
                                    <a:latin typeface="Cambria Math" panose="02040503050406030204" pitchFamily="18" charset="0"/>
                                  </a:rPr>
                                </m:ctrlPr>
                              </m:dPr>
                              <m:e>
                                <m:r>
                                  <a:rPr lang="en-US" i="1">
                                    <a:latin typeface="Cambria Math" panose="02040503050406030204" pitchFamily="18" charset="0"/>
                                  </a:rPr>
                                  <m:t>𝐿</m:t>
                                </m:r>
                              </m:e>
                            </m:d>
                          </m:sup>
                        </m:sSup>
                      </m:sup>
                    </m:sSup>
                    <m:r>
                      <a:rPr lang="en-US">
                        <a:latin typeface="Cambria Math" panose="02040503050406030204" pitchFamily="18" charset="0"/>
                      </a:rPr>
                      <m:t>,</m:t>
                    </m:r>
                    <m:acc>
                      <m:accPr>
                        <m:chr m:val="̂"/>
                        <m:ctrlPr>
                          <a:rPr lang="en-US" i="1">
                            <a:latin typeface="Cambria Math" panose="02040503050406030204" pitchFamily="18" charset="0"/>
                          </a:rPr>
                        </m:ctrlPr>
                      </m:accPr>
                      <m:e>
                        <m:r>
                          <a:rPr lang="en-US" i="1">
                            <a:latin typeface="Cambria Math" panose="02040503050406030204" pitchFamily="18" charset="0"/>
                          </a:rPr>
                          <m:t>𝑄</m:t>
                        </m:r>
                      </m:e>
                    </m:acc>
                    <m:r>
                      <a:rPr lang="en-US" i="1">
                        <a:latin typeface="Cambria Math" panose="02040503050406030204" pitchFamily="18" charset="0"/>
                      </a:rPr>
                      <m:t>∈</m:t>
                    </m:r>
                    <m:sSup>
                      <m:sSupPr>
                        <m:ctrlPr>
                          <a:rPr lang="en-US" i="1">
                            <a:latin typeface="Cambria Math" panose="02040503050406030204" pitchFamily="18" charset="0"/>
                          </a:rPr>
                        </m:ctrlPr>
                      </m:sSupPr>
                      <m:e>
                        <m:d>
                          <m:dPr>
                            <m:begChr m:val="["/>
                            <m:endChr m:val="]"/>
                            <m:ctrlPr>
                              <a:rPr lang="en-US" i="1">
                                <a:latin typeface="Cambria Math" panose="02040503050406030204" pitchFamily="18" charset="0"/>
                              </a:rPr>
                            </m:ctrlPr>
                          </m:dPr>
                          <m:e>
                            <m:r>
                              <a:rPr lang="en-US" i="1">
                                <a:latin typeface="Cambria Math" panose="02040503050406030204" pitchFamily="18" charset="0"/>
                              </a:rPr>
                              <m:t>0,1</m:t>
                            </m:r>
                          </m:e>
                        </m:d>
                      </m:e>
                      <m:sup>
                        <m:d>
                          <m:dPr>
                            <m:ctrlPr>
                              <a:rPr lang="en-US" b="0" i="1" smtClean="0">
                                <a:latin typeface="Cambria Math" panose="02040503050406030204" pitchFamily="18" charset="0"/>
                              </a:rPr>
                            </m:ctrlPr>
                          </m:dPr>
                          <m:e>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𝐸</m:t>
                                </m:r>
                              </m:e>
                            </m:d>
                            <m:r>
                              <a:rPr lang="en-US" b="0" i="1" smtClean="0">
                                <a:latin typeface="Cambria Math" panose="02040503050406030204" pitchFamily="18" charset="0"/>
                              </a:rPr>
                              <m:t>+1</m:t>
                            </m:r>
                          </m:e>
                        </m:d>
                        <m:r>
                          <a:rPr lang="en-US" i="1">
                            <a:latin typeface="Cambria Math" panose="02040503050406030204" pitchFamily="18" charset="0"/>
                          </a:rPr>
                          <m:t>×</m:t>
                        </m:r>
                        <m:d>
                          <m:dPr>
                            <m:ctrlPr>
                              <a:rPr lang="en-US" b="0" i="1" smtClean="0">
                                <a:latin typeface="Cambria Math" panose="02040503050406030204" pitchFamily="18" charset="0"/>
                              </a:rPr>
                            </m:ctrlPr>
                          </m:dPr>
                          <m:e>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𝐸</m:t>
                                </m:r>
                              </m:e>
                            </m:d>
                            <m:r>
                              <a:rPr lang="en-US" b="0" i="1" smtClean="0">
                                <a:latin typeface="Cambria Math" panose="02040503050406030204" pitchFamily="18" charset="0"/>
                              </a:rPr>
                              <m:t>+1</m:t>
                            </m:r>
                          </m:e>
                        </m:d>
                      </m:sup>
                    </m:sSup>
                  </m:oMath>
                </a14:m>
                <a:endParaRPr lang="en-US" dirty="0">
                  <a:latin typeface="+mj-lt"/>
                </a:endParaRPr>
              </a:p>
              <a:p>
                <a:pPr lvl="1"/>
                <a:r>
                  <a:rPr lang="en-US" dirty="0">
                    <a:latin typeface="+mj-lt"/>
                  </a:rPr>
                  <a:t>Ordinal: </a:t>
                </a:r>
                <a14:m>
                  <m:oMath xmlns:m="http://schemas.openxmlformats.org/officeDocument/2006/math">
                    <m:d>
                      <m:dPr>
                        <m:begChr m:val="|"/>
                        <m:endChr m:val="|"/>
                        <m:ctrlPr>
                          <a:rPr lang="en-US" i="1" smtClean="0">
                            <a:latin typeface="Cambria Math" panose="02040503050406030204" pitchFamily="18" charset="0"/>
                          </a:rPr>
                        </m:ctrlPr>
                      </m:dPr>
                      <m:e>
                        <m:r>
                          <a:rPr lang="en-US" i="1">
                            <a:latin typeface="Cambria Math" panose="02040503050406030204" pitchFamily="18" charset="0"/>
                          </a:rPr>
                          <m:t>𝑖</m:t>
                        </m:r>
                        <m:r>
                          <a:rPr lang="en-US" i="1">
                            <a:latin typeface="Cambria Math" panose="02040503050406030204" pitchFamily="18" charset="0"/>
                          </a:rPr>
                          <m:t>−</m:t>
                        </m:r>
                        <m:r>
                          <a:rPr lang="en-US" i="1">
                            <a:latin typeface="Cambria Math" panose="02040503050406030204" pitchFamily="18" charset="0"/>
                          </a:rPr>
                          <m:t>𝑗</m:t>
                        </m:r>
                      </m:e>
                    </m:d>
                    <m:r>
                      <a:rPr lang="en-US" b="0" i="1" smtClean="0">
                        <a:latin typeface="Cambria Math" panose="02040503050406030204" pitchFamily="18" charset="0"/>
                      </a:rPr>
                      <m:t>&gt;</m:t>
                    </m:r>
                    <m:r>
                      <a:rPr lang="en-US" i="1">
                        <a:latin typeface="Cambria Math" panose="02040503050406030204" pitchFamily="18" charset="0"/>
                      </a:rPr>
                      <m:t>1</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acc>
                          <m:accPr>
                            <m:chr m:val="̂"/>
                            <m:ctrlPr>
                              <a:rPr lang="en-US" i="1">
                                <a:latin typeface="Cambria Math" panose="02040503050406030204" pitchFamily="18" charset="0"/>
                              </a:rPr>
                            </m:ctrlPr>
                          </m:accPr>
                          <m:e>
                            <m:r>
                              <a:rPr lang="en-US" i="1">
                                <a:latin typeface="Cambria Math" panose="02040503050406030204" pitchFamily="18" charset="0"/>
                              </a:rPr>
                              <m:t>𝑄</m:t>
                            </m:r>
                          </m:e>
                        </m:acc>
                      </m:e>
                      <m:sub>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𝑗</m:t>
                        </m:r>
                      </m:sub>
                    </m:sSub>
                    <m:r>
                      <a:rPr lang="en-US" b="0" i="1" smtClean="0">
                        <a:latin typeface="Cambria Math" panose="02040503050406030204" pitchFamily="18" charset="0"/>
                      </a:rPr>
                      <m:t>=0</m:t>
                    </m:r>
                  </m:oMath>
                </a14:m>
                <a:endParaRPr lang="en-US" dirty="0">
                  <a:latin typeface="+mj-lt"/>
                </a:endParaRPr>
              </a:p>
              <a:p>
                <a:pPr lvl="1"/>
                <a:r>
                  <a:rPr lang="en-US" dirty="0" err="1">
                    <a:latin typeface="+mj-lt"/>
                  </a:rPr>
                  <a:t>Bucketization</a:t>
                </a:r>
                <a:r>
                  <a:rPr lang="en-US" dirty="0">
                    <a:latin typeface="+mj-lt"/>
                  </a:rPr>
                  <a:t>: </a:t>
                </a:r>
                <a14:m>
                  <m:oMath xmlns:m="http://schemas.openxmlformats.org/officeDocument/2006/math">
                    <m:sSup>
                      <m:sSupPr>
                        <m:ctrlPr>
                          <a:rPr lang="en-US" i="1" smtClean="0">
                            <a:latin typeface="Cambria Math" panose="02040503050406030204" pitchFamily="18" charset="0"/>
                          </a:rPr>
                        </m:ctrlPr>
                      </m:sSupPr>
                      <m:e>
                        <m:r>
                          <a:rPr lang="en-US">
                            <a:latin typeface="Cambria Math" panose="02040503050406030204" pitchFamily="18" charset="0"/>
                          </a:rPr>
                          <m:t>𝐴</m:t>
                        </m:r>
                      </m:e>
                      <m:sup>
                        <m:d>
                          <m:dPr>
                            <m:ctrlPr>
                              <a:rPr lang="en-US" i="1">
                                <a:latin typeface="Cambria Math" panose="02040503050406030204" pitchFamily="18" charset="0"/>
                              </a:rPr>
                            </m:ctrlPr>
                          </m:dPr>
                          <m:e>
                            <m:r>
                              <a:rPr lang="en-US" i="1">
                                <a:latin typeface="Cambria Math" panose="02040503050406030204" pitchFamily="18" charset="0"/>
                              </a:rPr>
                              <m:t>𝐿</m:t>
                            </m:r>
                          </m:e>
                        </m:d>
                      </m:sup>
                    </m:sSup>
                    <m:r>
                      <a:rPr lang="en-US" i="1">
                        <a:latin typeface="Cambria Math" panose="02040503050406030204" pitchFamily="18" charset="0"/>
                      </a:rPr>
                      <m:t>∈</m:t>
                    </m:r>
                    <m:r>
                      <m:rPr>
                        <m:lit/>
                      </m:rPr>
                      <a:rPr lang="en-US" i="1">
                        <a:latin typeface="Cambria Math" panose="02040503050406030204" pitchFamily="18" charset="0"/>
                      </a:rPr>
                      <m:t>{</m:t>
                    </m:r>
                    <m:r>
                      <a:rPr lang="en-US" i="1">
                        <a:latin typeface="Cambria Math" panose="02040503050406030204" pitchFamily="18" charset="0"/>
                      </a:rPr>
                      <m:t>0,1,…,</m:t>
                    </m:r>
                    <m:r>
                      <a:rPr lang="en-US" b="0" i="1" smtClean="0">
                        <a:latin typeface="Cambria Math" panose="02040503050406030204" pitchFamily="18" charset="0"/>
                      </a:rPr>
                      <m:t>𝑊</m:t>
                    </m:r>
                    <m:sSup>
                      <m:sSupPr>
                        <m:ctrlPr>
                          <a:rPr lang="en-US" i="1">
                            <a:latin typeface="Cambria Math" panose="02040503050406030204" pitchFamily="18" charset="0"/>
                          </a:rPr>
                        </m:ctrlPr>
                      </m:sSupPr>
                      <m:e>
                        <m:r>
                          <m:rPr>
                            <m:lit/>
                          </m:rPr>
                          <a:rPr lang="en-US" i="1">
                            <a:latin typeface="Cambria Math" panose="02040503050406030204" pitchFamily="18" charset="0"/>
                          </a:rPr>
                          <m:t>}</m:t>
                        </m:r>
                      </m:e>
                      <m:sup>
                        <m:sSup>
                          <m:sSupPr>
                            <m:ctrlPr>
                              <a:rPr lang="en-US" i="1">
                                <a:latin typeface="Cambria Math" panose="02040503050406030204" pitchFamily="18" charset="0"/>
                              </a:rPr>
                            </m:ctrlPr>
                          </m:sSupPr>
                          <m:e>
                            <m:r>
                              <a:rPr lang="en-US" i="1">
                                <a:latin typeface="Cambria Math" panose="02040503050406030204" pitchFamily="18" charset="0"/>
                              </a:rPr>
                              <m:t>𝑛</m:t>
                            </m:r>
                          </m:e>
                          <m:sup>
                            <m:d>
                              <m:dPr>
                                <m:ctrlPr>
                                  <a:rPr lang="en-US" i="1">
                                    <a:latin typeface="Cambria Math" panose="02040503050406030204" pitchFamily="18" charset="0"/>
                                  </a:rPr>
                                </m:ctrlPr>
                              </m:dPr>
                              <m:e>
                                <m:r>
                                  <a:rPr lang="en-US" i="1">
                                    <a:latin typeface="Cambria Math" panose="02040503050406030204" pitchFamily="18" charset="0"/>
                                  </a:rPr>
                                  <m:t>𝐿</m:t>
                                </m:r>
                              </m:e>
                            </m:d>
                          </m:sup>
                        </m:sSup>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𝑛</m:t>
                            </m:r>
                          </m:e>
                          <m:sup>
                            <m:d>
                              <m:dPr>
                                <m:ctrlPr>
                                  <a:rPr lang="en-US" i="1">
                                    <a:latin typeface="Cambria Math" panose="02040503050406030204" pitchFamily="18" charset="0"/>
                                  </a:rPr>
                                </m:ctrlPr>
                              </m:dPr>
                              <m:e>
                                <m:r>
                                  <a:rPr lang="en-US" i="1">
                                    <a:latin typeface="Cambria Math" panose="02040503050406030204" pitchFamily="18" charset="0"/>
                                  </a:rPr>
                                  <m:t>𝐿</m:t>
                                </m:r>
                              </m:e>
                            </m:d>
                          </m:sup>
                        </m:sSup>
                      </m:sup>
                    </m:sSup>
                    <m:r>
                      <a:rPr lang="en-US">
                        <a:latin typeface="Cambria Math" panose="02040503050406030204" pitchFamily="18" charset="0"/>
                      </a:rPr>
                      <m:t>,</m:t>
                    </m:r>
                    <m:acc>
                      <m:accPr>
                        <m:chr m:val="̂"/>
                        <m:ctrlPr>
                          <a:rPr lang="en-US" i="1">
                            <a:latin typeface="Cambria Math" panose="02040503050406030204" pitchFamily="18" charset="0"/>
                          </a:rPr>
                        </m:ctrlPr>
                      </m:accPr>
                      <m:e>
                        <m:r>
                          <a:rPr lang="en-US" i="1">
                            <a:latin typeface="Cambria Math" panose="02040503050406030204" pitchFamily="18" charset="0"/>
                          </a:rPr>
                          <m:t>𝑄</m:t>
                        </m:r>
                      </m:e>
                    </m:acc>
                    <m:r>
                      <a:rPr lang="en-US" i="1">
                        <a:latin typeface="Cambria Math" panose="02040503050406030204" pitchFamily="18" charset="0"/>
                      </a:rPr>
                      <m:t>∈</m:t>
                    </m:r>
                    <m:sSup>
                      <m:sSupPr>
                        <m:ctrlPr>
                          <a:rPr lang="en-US" i="1">
                            <a:latin typeface="Cambria Math" panose="02040503050406030204" pitchFamily="18" charset="0"/>
                          </a:rPr>
                        </m:ctrlPr>
                      </m:sSupPr>
                      <m:e>
                        <m:d>
                          <m:dPr>
                            <m:begChr m:val="["/>
                            <m:endChr m:val="]"/>
                            <m:ctrlPr>
                              <a:rPr lang="en-US" i="1">
                                <a:latin typeface="Cambria Math" panose="02040503050406030204" pitchFamily="18" charset="0"/>
                              </a:rPr>
                            </m:ctrlPr>
                          </m:dPr>
                          <m:e>
                            <m:r>
                              <a:rPr lang="en-US" i="1">
                                <a:latin typeface="Cambria Math" panose="02040503050406030204" pitchFamily="18" charset="0"/>
                              </a:rPr>
                              <m:t>0,1</m:t>
                            </m:r>
                          </m:e>
                        </m:d>
                      </m:e>
                      <m:sup>
                        <m:d>
                          <m:dPr>
                            <m:ctrlPr>
                              <a:rPr lang="en-US" i="1">
                                <a:latin typeface="Cambria Math" panose="02040503050406030204" pitchFamily="18" charset="0"/>
                              </a:rPr>
                            </m:ctrlPr>
                          </m:dPr>
                          <m:e>
                            <m:r>
                              <m:rPr>
                                <m:sty m:val="p"/>
                              </m:rPr>
                              <a:rPr lang="en-US" b="0" i="1" smtClean="0">
                                <a:latin typeface="Cambria Math" panose="02040503050406030204" pitchFamily="18" charset="0"/>
                              </a:rPr>
                              <m:t>W</m:t>
                            </m:r>
                            <m:r>
                              <a:rPr lang="en-US" i="1">
                                <a:latin typeface="Cambria Math" panose="02040503050406030204" pitchFamily="18" charset="0"/>
                              </a:rPr>
                              <m:t>+1</m:t>
                            </m:r>
                          </m:e>
                        </m:d>
                        <m:r>
                          <a:rPr lang="en-US" i="1">
                            <a:latin typeface="Cambria Math" panose="02040503050406030204" pitchFamily="18" charset="0"/>
                          </a:rPr>
                          <m:t>×</m:t>
                        </m:r>
                        <m:d>
                          <m:dPr>
                            <m:ctrlPr>
                              <a:rPr lang="en-US" i="1">
                                <a:latin typeface="Cambria Math" panose="02040503050406030204" pitchFamily="18" charset="0"/>
                              </a:rPr>
                            </m:ctrlPr>
                          </m:dPr>
                          <m:e>
                            <m:r>
                              <m:rPr>
                                <m:sty m:val="p"/>
                              </m:rPr>
                              <a:rPr lang="en-US" b="0" i="1" smtClean="0">
                                <a:latin typeface="Cambria Math" panose="02040503050406030204" pitchFamily="18" charset="0"/>
                              </a:rPr>
                              <m:t>W</m:t>
                            </m:r>
                            <m:r>
                              <a:rPr lang="en-US" i="1">
                                <a:latin typeface="Cambria Math" panose="02040503050406030204" pitchFamily="18" charset="0"/>
                              </a:rPr>
                              <m:t>+1</m:t>
                            </m:r>
                          </m:e>
                        </m:d>
                      </m:sup>
                    </m:sSup>
                    <m:r>
                      <a:rPr lang="en-US" b="0" i="1" smtClean="0">
                        <a:latin typeface="Cambria Math" panose="02040503050406030204" pitchFamily="18" charset="0"/>
                      </a:rPr>
                      <m:t>,</m:t>
                    </m:r>
                    <m:r>
                      <a:rPr lang="en-US" b="0" i="1" smtClean="0">
                        <a:latin typeface="Cambria Math" panose="02040503050406030204" pitchFamily="18" charset="0"/>
                      </a:rPr>
                      <m:t>𝑊</m:t>
                    </m:r>
                    <m:r>
                      <a:rPr lang="en-US" b="0" i="1" smtClean="0">
                        <a:latin typeface="Cambria Math" panose="02040503050406030204" pitchFamily="18" charset="0"/>
                      </a:rPr>
                      <m:t>&lt;</m:t>
                    </m:r>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𝐸</m:t>
                        </m:r>
                      </m:e>
                    </m:d>
                  </m:oMath>
                </a14:m>
                <a:endParaRPr lang="en-US" dirty="0">
                  <a:latin typeface="+mj-lt"/>
                </a:endParaRPr>
              </a:p>
              <a:p>
                <a:r>
                  <a:rPr lang="en-US" dirty="0">
                    <a:latin typeface="+mj-lt"/>
                  </a:rPr>
                  <a:t>Naïve </a:t>
                </a:r>
                <a:r>
                  <a:rPr lang="en-US" dirty="0" err="1">
                    <a:latin typeface="+mj-lt"/>
                  </a:rPr>
                  <a:t>HiGenDiff</a:t>
                </a:r>
                <a:endParaRPr lang="en-US" dirty="0">
                  <a:latin typeface="+mj-lt"/>
                </a:endParaRPr>
              </a:p>
              <a:p>
                <a:pPr lvl="1"/>
                <a:r>
                  <a:rPr lang="en-US" dirty="0">
                    <a:latin typeface="+mj-lt"/>
                  </a:rPr>
                  <a:t>Question need for conditioning on full parent graph</a:t>
                </a:r>
              </a:p>
              <a:p>
                <a:pPr lvl="1"/>
                <a:r>
                  <a:rPr lang="en-US" dirty="0">
                    <a:latin typeface="+mj-lt"/>
                  </a:rPr>
                  <a:t>Independent </a:t>
                </a:r>
                <a:r>
                  <a:rPr lang="en-US" dirty="0" err="1">
                    <a:latin typeface="+mj-lt"/>
                  </a:rPr>
                  <a:t>DiGress</a:t>
                </a:r>
                <a:r>
                  <a:rPr lang="en-US" dirty="0">
                    <a:latin typeface="+mj-lt"/>
                  </a:rPr>
                  <a:t> instances</a:t>
                </a:r>
              </a:p>
            </p:txBody>
          </p:sp>
        </mc:Choice>
        <mc:Fallback xmlns="">
          <p:sp>
            <p:nvSpPr>
              <p:cNvPr id="9" name="Content Placeholder 8">
                <a:extLst>
                  <a:ext uri="{FF2B5EF4-FFF2-40B4-BE49-F238E27FC236}">
                    <a16:creationId xmlns:a16="http://schemas.microsoft.com/office/drawing/2014/main" id="{A711A69C-F690-CF27-BE56-0491FDE3B348}"/>
                  </a:ext>
                </a:extLst>
              </p:cNvPr>
              <p:cNvSpPr>
                <a:spLocks noGrp="1" noRot="1" noChangeAspect="1" noMove="1" noResize="1" noEditPoints="1" noAdjustHandles="1" noChangeArrowheads="1" noChangeShapeType="1" noTextEdit="1"/>
              </p:cNvSpPr>
              <p:nvPr>
                <p:ph idx="1"/>
              </p:nvPr>
            </p:nvSpPr>
            <p:spPr>
              <a:blipFill>
                <a:blip r:embed="rId3"/>
                <a:stretch>
                  <a:fillRect/>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69E6A701-562E-0988-AA8E-F004E88E1198}"/>
              </a:ext>
            </a:extLst>
          </p:cNvPr>
          <p:cNvSpPr>
            <a:spLocks noGrp="1"/>
          </p:cNvSpPr>
          <p:nvPr>
            <p:ph type="title"/>
          </p:nvPr>
        </p:nvSpPr>
        <p:spPr>
          <a:xfrm>
            <a:off x="904875" y="131032"/>
            <a:ext cx="7207279" cy="1072753"/>
          </a:xfrm>
        </p:spPr>
        <p:txBody>
          <a:bodyPr>
            <a:normAutofit/>
          </a:bodyPr>
          <a:lstStyle/>
          <a:p>
            <a:r>
              <a:rPr lang="en-US" dirty="0"/>
              <a:t>4.2	Hierarchical Generative Graph Diffusion</a:t>
            </a:r>
            <a:br>
              <a:rPr lang="en-US" dirty="0"/>
            </a:br>
            <a:r>
              <a:rPr lang="en-US" sz="2400" b="0" i="1" dirty="0"/>
              <a:t>Contributions - Model designs</a:t>
            </a:r>
            <a:endParaRPr lang="en-GB" sz="2400" b="0" i="1" dirty="0"/>
          </a:p>
        </p:txBody>
      </p:sp>
      <p:sp>
        <p:nvSpPr>
          <p:cNvPr id="5" name="Date Placeholder 4">
            <a:extLst>
              <a:ext uri="{FF2B5EF4-FFF2-40B4-BE49-F238E27FC236}">
                <a16:creationId xmlns:a16="http://schemas.microsoft.com/office/drawing/2014/main" id="{C1F3F2D5-9B35-9198-3207-60C653BE11D3}"/>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45D3A67A-B5C0-05D1-BCCB-99B0FE0A8222}"/>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A8B56E84-DCE5-CFAF-E97F-34D0326EAA5B}"/>
              </a:ext>
            </a:extLst>
          </p:cNvPr>
          <p:cNvSpPr>
            <a:spLocks noGrp="1"/>
          </p:cNvSpPr>
          <p:nvPr>
            <p:ph type="sldNum" sz="quarter" idx="12"/>
          </p:nvPr>
        </p:nvSpPr>
        <p:spPr/>
        <p:txBody>
          <a:bodyPr/>
          <a:lstStyle/>
          <a:p>
            <a:fld id="{E1E1CD7C-2161-7D43-862E-CE4C333CD873}" type="slidenum">
              <a:rPr lang="fr-FR" smtClean="0"/>
              <a:pPr/>
              <a:t>49</a:t>
            </a:fld>
            <a:endParaRPr lang="fr-FR" dirty="0"/>
          </a:p>
        </p:txBody>
      </p:sp>
    </p:spTree>
    <p:extLst>
      <p:ext uri="{BB962C8B-B14F-4D97-AF65-F5344CB8AC3E}">
        <p14:creationId xmlns:p14="http://schemas.microsoft.com/office/powerpoint/2010/main" val="3056963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6" dur="500"/>
                                        <p:tgtEl>
                                          <p:spTgt spid="9">
                                            <p:txEl>
                                              <p:pRg st="3" end="3"/>
                                            </p:txEl>
                                          </p:spTgt>
                                        </p:tgtEl>
                                      </p:cBhvr>
                                    </p:animEffect>
                                  </p:childTnLst>
                                </p:cTn>
                              </p:par>
                              <p:par>
                                <p:cTn id="17" presetID="14" presetClass="entr" presetSubtype="10" fill="hold" nodeType="withEffect">
                                  <p:stCondLst>
                                    <p:cond delay="0"/>
                                  </p:stCondLst>
                                  <p:childTnLst>
                                    <p:set>
                                      <p:cBhvr>
                                        <p:cTn id="18" dur="1" fill="hold">
                                          <p:stCondLst>
                                            <p:cond delay="0"/>
                                          </p:stCondLst>
                                        </p:cTn>
                                        <p:tgtEl>
                                          <p:spTgt spid="9">
                                            <p:txEl>
                                              <p:pRg st="4" end="4"/>
                                            </p:txEl>
                                          </p:spTgt>
                                        </p:tgtEl>
                                        <p:attrNameLst>
                                          <p:attrName>style.visibility</p:attrName>
                                        </p:attrNameLst>
                                      </p:cBhvr>
                                      <p:to>
                                        <p:strVal val="visible"/>
                                      </p:to>
                                    </p:set>
                                    <p:animEffect transition="in" filter="randombar(horizontal)">
                                      <p:cBhvr>
                                        <p:cTn id="19" dur="500"/>
                                        <p:tgtEl>
                                          <p:spTgt spid="9">
                                            <p:txEl>
                                              <p:pRg st="4" end="4"/>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14" presetClass="entr" presetSubtype="10" fill="hold" nodeType="clickEffect">
                                  <p:stCondLst>
                                    <p:cond delay="0"/>
                                  </p:stCondLst>
                                  <p:childTnLst>
                                    <p:set>
                                      <p:cBhvr>
                                        <p:cTn id="23"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4" dur="500"/>
                                        <p:tgtEl>
                                          <p:spTgt spid="9">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9">
                                            <p:txEl>
                                              <p:pRg st="6" end="6"/>
                                            </p:txEl>
                                          </p:spTgt>
                                        </p:tgtEl>
                                        <p:attrNameLst>
                                          <p:attrName>style.visibility</p:attrName>
                                        </p:attrNameLst>
                                      </p:cBhvr>
                                      <p:to>
                                        <p:strVal val="visible"/>
                                      </p:to>
                                    </p:set>
                                    <p:animEffect transition="in" filter="randombar(horizontal)">
                                      <p:cBhvr>
                                        <p:cTn id="27" dur="500"/>
                                        <p:tgtEl>
                                          <p:spTgt spid="9">
                                            <p:txEl>
                                              <p:pRg st="6" end="6"/>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0" dur="500"/>
                                        <p:tgtEl>
                                          <p:spTgt spid="9">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2FDA5E-6CC6-0E8F-38DB-F207490B2D28}"/>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Content Placeholder 8">
                <a:extLst>
                  <a:ext uri="{FF2B5EF4-FFF2-40B4-BE49-F238E27FC236}">
                    <a16:creationId xmlns:a16="http://schemas.microsoft.com/office/drawing/2014/main" id="{7D2D6824-7DCD-5817-DFB5-19F1BD1C6592}"/>
                  </a:ext>
                </a:extLst>
              </p:cNvPr>
              <p:cNvSpPr>
                <a:spLocks noGrp="1"/>
              </p:cNvSpPr>
              <p:nvPr>
                <p:ph idx="1"/>
              </p:nvPr>
            </p:nvSpPr>
            <p:spPr/>
            <p:txBody>
              <a:bodyPr anchor="ctr">
                <a:normAutofit/>
              </a:bodyPr>
              <a:lstStyle/>
              <a:p>
                <a:r>
                  <a:rPr lang="en-US" i="1" dirty="0">
                    <a:latin typeface="+mj-lt"/>
                  </a:rPr>
                  <a:t>What is the computational cost of adding an extra graph coarsening layer on top, and when is this feasibly faster than the standard baseline?</a:t>
                </a:r>
              </a:p>
              <a:p>
                <a:r>
                  <a:rPr lang="en-US" dirty="0">
                    <a:latin typeface="+mj-lt"/>
                  </a:rPr>
                  <a:t>Assumption: </a:t>
                </a:r>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𝐺</m:t>
                        </m:r>
                      </m:e>
                      <m:sup>
                        <m:d>
                          <m:dPr>
                            <m:ctrlPr>
                              <a:rPr lang="en-US" b="0" i="1" smtClean="0">
                                <a:latin typeface="Cambria Math" panose="02040503050406030204" pitchFamily="18" charset="0"/>
                              </a:rPr>
                            </m:ctrlPr>
                          </m:dPr>
                          <m:e>
                            <m:r>
                              <a:rPr lang="en-US" i="1">
                                <a:latin typeface="Cambria Math" panose="02040503050406030204" pitchFamily="18" charset="0"/>
                              </a:rPr>
                              <m:t>𝐿</m:t>
                            </m:r>
                            <m:r>
                              <a:rPr lang="en-US" b="0" i="1" smtClean="0">
                                <a:latin typeface="Cambria Math" panose="02040503050406030204" pitchFamily="18" charset="0"/>
                              </a:rPr>
                              <m:t>+1</m:t>
                            </m:r>
                          </m:e>
                        </m:d>
                      </m:sup>
                    </m:sSup>
                    <m:r>
                      <a:rPr lang="en-US" b="0" i="1" smtClean="0">
                        <a:latin typeface="Cambria Math" panose="02040503050406030204" pitchFamily="18" charset="0"/>
                      </a:rPr>
                      <m:t>∼</m:t>
                    </m:r>
                    <m:r>
                      <m:rPr>
                        <m:sty m:val="p"/>
                      </m:rPr>
                      <a:rPr lang="en-US" b="0" i="0" smtClean="0">
                        <a:latin typeface="Cambria Math" panose="02040503050406030204" pitchFamily="18" charset="0"/>
                      </a:rPr>
                      <m:t>ER</m:t>
                    </m:r>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𝑛</m:t>
                            </m:r>
                          </m:e>
                          <m:sup>
                            <m:d>
                              <m:dPr>
                                <m:ctrlPr>
                                  <a:rPr lang="en-US" b="0" i="1" smtClean="0">
                                    <a:latin typeface="Cambria Math" panose="02040503050406030204" pitchFamily="18" charset="0"/>
                                  </a:rPr>
                                </m:ctrlPr>
                              </m:dPr>
                              <m:e>
                                <m:r>
                                  <a:rPr lang="en-US" i="1">
                                    <a:latin typeface="Cambria Math" panose="02040503050406030204" pitchFamily="18" charset="0"/>
                                  </a:rPr>
                                  <m:t>𝐿</m:t>
                                </m:r>
                                <m:r>
                                  <a:rPr lang="en-US" b="0" i="1" smtClean="0">
                                    <a:latin typeface="Cambria Math" panose="02040503050406030204" pitchFamily="18" charset="0"/>
                                  </a:rPr>
                                  <m:t>+1</m:t>
                                </m:r>
                              </m:e>
                            </m:d>
                          </m:sup>
                        </m:sSup>
                        <m:r>
                          <a:rPr lang="en-US" b="0" i="1" smtClean="0">
                            <a:latin typeface="Cambria Math" panose="02040503050406030204" pitchFamily="18" charset="0"/>
                          </a:rPr>
                          <m:t>,</m:t>
                        </m:r>
                        <m:r>
                          <a:rPr lang="en-US" b="0" i="1" smtClean="0">
                            <a:latin typeface="Cambria Math" panose="02040503050406030204" pitchFamily="18" charset="0"/>
                          </a:rPr>
                          <m:t>𝑝</m:t>
                        </m:r>
                      </m:e>
                    </m:d>
                  </m:oMath>
                </a14:m>
                <a:endParaRPr lang="en-US" dirty="0">
                  <a:latin typeface="+mj-lt"/>
                </a:endParaRPr>
              </a:p>
              <a:p>
                <a:pPr marL="342900" indent="-342900">
                  <a:buFont typeface="+mj-lt"/>
                  <a:buAutoNum type="arabicPeriod"/>
                </a:pPr>
                <a:r>
                  <a:rPr lang="en-US" dirty="0">
                    <a:latin typeface="+mj-lt"/>
                  </a:rPr>
                  <a:t>Complexity and bounds</a:t>
                </a:r>
              </a:p>
              <a:p>
                <a:pPr marL="0" indent="0">
                  <a:buNone/>
                </a:pPr>
                <a14:m>
                  <m:oMathPara xmlns:m="http://schemas.openxmlformats.org/officeDocument/2006/math">
                    <m:oMathParaPr>
                      <m:jc m:val="centerGroup"/>
                    </m:oMathParaPr>
                    <m:oMath xmlns:m="http://schemas.openxmlformats.org/officeDocument/2006/math">
                      <m:f>
                        <m:fPr>
                          <m:ctrlPr>
                            <a:rPr lang="en-US" i="1" smtClean="0">
                              <a:latin typeface="Cambria Math" panose="02040503050406030204" pitchFamily="18" charset="0"/>
                            </a:rPr>
                          </m:ctrlPr>
                        </m:fPr>
                        <m:num>
                          <m:r>
                            <a:rPr lang="en-US" i="1">
                              <a:latin typeface="Cambria Math" panose="02040503050406030204" pitchFamily="18" charset="0"/>
                            </a:rPr>
                            <m:t>3</m:t>
                          </m:r>
                        </m:num>
                        <m:den>
                          <m:r>
                            <a:rPr lang="en-US" i="1">
                              <a:latin typeface="Cambria Math" panose="02040503050406030204" pitchFamily="18" charset="0"/>
                            </a:rPr>
                            <m:t>2</m:t>
                          </m:r>
                        </m:den>
                      </m:f>
                      <m:r>
                        <a:rPr lang="en-US" i="1">
                          <a:latin typeface="Cambria Math" panose="02040503050406030204" pitchFamily="18" charset="0"/>
                        </a:rPr>
                        <m:t>𝔼</m:t>
                      </m:r>
                      <m:d>
                        <m:dPr>
                          <m:begChr m:val="["/>
                          <m:endChr m:val="]"/>
                          <m:ctrlPr>
                            <a:rPr lang="en-US" i="1">
                              <a:latin typeface="Cambria Math" panose="02040503050406030204" pitchFamily="18" charset="0"/>
                            </a:rPr>
                          </m:ctrlPr>
                        </m:dPr>
                        <m:e>
                          <m:rad>
                            <m:radPr>
                              <m:ctrlPr>
                                <a:rPr lang="en-US" i="1" smtClean="0">
                                  <a:latin typeface="Cambria Math" panose="02040503050406030204" pitchFamily="18" charset="0"/>
                                </a:rPr>
                              </m:ctrlPr>
                            </m:radPr>
                            <m:deg>
                              <m:r>
                                <a:rPr lang="en-US" i="1">
                                  <a:latin typeface="Cambria Math" panose="02040503050406030204" pitchFamily="18" charset="0"/>
                                </a:rPr>
                                <m:t>3</m:t>
                              </m:r>
                            </m:deg>
                            <m:e>
                              <m:r>
                                <a:rPr lang="en-US" b="0" i="1" smtClean="0">
                                  <a:latin typeface="Cambria Math" panose="02040503050406030204" pitchFamily="18" charset="0"/>
                                </a:rPr>
                                <m:t>2</m:t>
                              </m:r>
                              <m:sSup>
                                <m:sSupPr>
                                  <m:ctrlPr>
                                    <a:rPr lang="en-US" i="1">
                                      <a:latin typeface="Cambria Math" panose="02040503050406030204" pitchFamily="18" charset="0"/>
                                    </a:rPr>
                                  </m:ctrlPr>
                                </m:sSupPr>
                                <m:e>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𝑛</m:t>
                                          </m:r>
                                        </m:e>
                                        <m:sup>
                                          <m:d>
                                            <m:dPr>
                                              <m:ctrlPr>
                                                <a:rPr lang="en-US" i="1">
                                                  <a:latin typeface="Cambria Math" panose="02040503050406030204" pitchFamily="18" charset="0"/>
                                                </a:rPr>
                                              </m:ctrlPr>
                                            </m:dPr>
                                            <m:e>
                                              <m:r>
                                                <a:rPr lang="en-US" i="1">
                                                  <a:latin typeface="Cambria Math" panose="02040503050406030204" pitchFamily="18" charset="0"/>
                                                </a:rPr>
                                                <m:t>𝐿</m:t>
                                              </m:r>
                                            </m:e>
                                          </m:d>
                                        </m:sup>
                                      </m:sSup>
                                    </m:e>
                                  </m:d>
                                </m:e>
                                <m:sup>
                                  <m:r>
                                    <a:rPr lang="en-US" b="0" i="1" smtClean="0">
                                      <a:latin typeface="Cambria Math" panose="02040503050406030204" pitchFamily="18" charset="0"/>
                                    </a:rPr>
                                    <m:t>4</m:t>
                                  </m:r>
                                </m:sup>
                              </m:sSup>
                            </m:e>
                          </m:rad>
                        </m:e>
                      </m:d>
                      <m:r>
                        <a:rPr lang="en-US" b="0" i="1" smtClean="0">
                          <a:latin typeface="Cambria Math" panose="02040503050406030204" pitchFamily="18" charset="0"/>
                        </a:rPr>
                        <m:t>≤</m:t>
                      </m:r>
                      <m:r>
                        <a:rPr lang="en-US" b="0" i="1" smtClean="0">
                          <a:latin typeface="Cambria Math" panose="02040503050406030204" pitchFamily="18" charset="0"/>
                        </a:rPr>
                        <m:t>𝔼</m:t>
                      </m:r>
                      <m:d>
                        <m:dPr>
                          <m:begChr m:val="["/>
                          <m:endChr m:val="]"/>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𝑛</m:t>
                                      </m:r>
                                    </m:e>
                                    <m:sup>
                                      <m:d>
                                        <m:dPr>
                                          <m:ctrlPr>
                                            <a:rPr lang="en-US" b="0" i="1" smtClean="0">
                                              <a:latin typeface="Cambria Math" panose="02040503050406030204" pitchFamily="18" charset="0"/>
                                            </a:rPr>
                                          </m:ctrlPr>
                                        </m:dPr>
                                        <m:e>
                                          <m:r>
                                            <a:rPr lang="en-US" b="0" i="1" smtClean="0">
                                              <a:latin typeface="Cambria Math" panose="02040503050406030204" pitchFamily="18" charset="0"/>
                                            </a:rPr>
                                            <m:t>𝐿</m:t>
                                          </m:r>
                                          <m:r>
                                            <a:rPr lang="en-US" b="0" i="1" smtClean="0">
                                              <a:latin typeface="Cambria Math" panose="02040503050406030204" pitchFamily="18" charset="0"/>
                                            </a:rPr>
                                            <m:t>+1</m:t>
                                          </m:r>
                                        </m:e>
                                      </m:d>
                                    </m:sup>
                                  </m:sSup>
                                </m:e>
                              </m:d>
                            </m:e>
                            <m:sup>
                              <m:r>
                                <a:rPr lang="en-US" b="0" i="1" smtClean="0">
                                  <a:latin typeface="Cambria Math" panose="02040503050406030204" pitchFamily="18" charset="0"/>
                                </a:rPr>
                                <m:t>2</m:t>
                              </m:r>
                            </m:sup>
                          </m:sSup>
                        </m:e>
                      </m:d>
                      <m:r>
                        <a:rPr lang="en-US" i="1">
                          <a:latin typeface="Cambria Math" panose="02040503050406030204" pitchFamily="18" charset="0"/>
                        </a:rPr>
                        <m:t>+</m:t>
                      </m:r>
                      <m:r>
                        <a:rPr lang="en-US" i="1">
                          <a:latin typeface="Cambria Math" panose="02040503050406030204" pitchFamily="18" charset="0"/>
                        </a:rPr>
                        <m:t>𝑝</m:t>
                      </m:r>
                      <m:r>
                        <a:rPr lang="en-US" i="1">
                          <a:latin typeface="Cambria Math" panose="02040503050406030204" pitchFamily="18" charset="0"/>
                        </a:rPr>
                        <m:t>𝔼</m:t>
                      </m:r>
                      <m:d>
                        <m:dPr>
                          <m:begChr m:val="["/>
                          <m:endChr m:val="]"/>
                          <m:ctrlPr>
                            <a:rPr lang="en-US" i="1">
                              <a:latin typeface="Cambria Math" panose="02040503050406030204" pitchFamily="18" charset="0"/>
                            </a:rPr>
                          </m:ctrlPr>
                        </m:dPr>
                        <m:e>
                          <m:sSup>
                            <m:sSupPr>
                              <m:ctrlPr>
                                <a:rPr lang="en-US" i="1">
                                  <a:latin typeface="Cambria Math" panose="02040503050406030204" pitchFamily="18" charset="0"/>
                                </a:rPr>
                              </m:ctrlPr>
                            </m:sSupPr>
                            <m:e>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𝑛</m:t>
                                      </m:r>
                                    </m:e>
                                    <m:sup>
                                      <m:d>
                                        <m:dPr>
                                          <m:ctrlPr>
                                            <a:rPr lang="en-US" i="1">
                                              <a:latin typeface="Cambria Math" panose="02040503050406030204" pitchFamily="18" charset="0"/>
                                            </a:rPr>
                                          </m:ctrlPr>
                                        </m:dPr>
                                        <m:e>
                                          <m:r>
                                            <a:rPr lang="en-US" b="0" i="1" smtClean="0">
                                              <a:latin typeface="Cambria Math" panose="02040503050406030204" pitchFamily="18" charset="0"/>
                                            </a:rPr>
                                            <m:t>𝐿</m:t>
                                          </m:r>
                                        </m:e>
                                      </m:d>
                                    </m:sup>
                                  </m:sSup>
                                </m:e>
                              </m:d>
                            </m:e>
                            <m:sup>
                              <m:r>
                                <a:rPr lang="en-US" i="1">
                                  <a:latin typeface="Cambria Math" panose="02040503050406030204" pitchFamily="18" charset="0"/>
                                </a:rPr>
                                <m:t>2</m:t>
                              </m:r>
                            </m:sup>
                          </m:sSup>
                        </m:e>
                      </m:d>
                      <m:r>
                        <a:rPr lang="en-US" b="0" i="1" smtClean="0">
                          <a:latin typeface="Cambria Math" panose="02040503050406030204" pitchFamily="18" charset="0"/>
                        </a:rPr>
                        <m:t>≤2</m:t>
                      </m:r>
                      <m:r>
                        <a:rPr lang="en-US" i="1">
                          <a:latin typeface="Cambria Math" panose="02040503050406030204" pitchFamily="18" charset="0"/>
                        </a:rPr>
                        <m:t>𝔼</m:t>
                      </m:r>
                      <m:d>
                        <m:dPr>
                          <m:begChr m:val="["/>
                          <m:endChr m:val="]"/>
                          <m:ctrlPr>
                            <a:rPr lang="en-US" i="1">
                              <a:latin typeface="Cambria Math" panose="02040503050406030204" pitchFamily="18" charset="0"/>
                            </a:rPr>
                          </m:ctrlPr>
                        </m:dPr>
                        <m:e>
                          <m:sSup>
                            <m:sSupPr>
                              <m:ctrlPr>
                                <a:rPr lang="en-US" i="1">
                                  <a:latin typeface="Cambria Math" panose="02040503050406030204" pitchFamily="18" charset="0"/>
                                </a:rPr>
                              </m:ctrlPr>
                            </m:sSupPr>
                            <m:e>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𝑛</m:t>
                                      </m:r>
                                    </m:e>
                                    <m:sup>
                                      <m:d>
                                        <m:dPr>
                                          <m:ctrlPr>
                                            <a:rPr lang="en-US" i="1">
                                              <a:latin typeface="Cambria Math" panose="02040503050406030204" pitchFamily="18" charset="0"/>
                                            </a:rPr>
                                          </m:ctrlPr>
                                        </m:dPr>
                                        <m:e>
                                          <m:r>
                                            <a:rPr lang="en-US" i="1">
                                              <a:latin typeface="Cambria Math" panose="02040503050406030204" pitchFamily="18" charset="0"/>
                                            </a:rPr>
                                            <m:t>𝐿</m:t>
                                          </m:r>
                                        </m:e>
                                      </m:d>
                                    </m:sup>
                                  </m:sSup>
                                </m:e>
                              </m:d>
                            </m:e>
                            <m:sup>
                              <m:r>
                                <a:rPr lang="en-US" i="1">
                                  <a:latin typeface="Cambria Math" panose="02040503050406030204" pitchFamily="18" charset="0"/>
                                </a:rPr>
                                <m:t>2</m:t>
                              </m:r>
                            </m:sup>
                          </m:sSup>
                        </m:e>
                      </m:d>
                    </m:oMath>
                  </m:oMathPara>
                </a14:m>
                <a:endParaRPr lang="en-US" dirty="0">
                  <a:latin typeface="+mj-lt"/>
                </a:endParaRPr>
              </a:p>
              <a:p>
                <a:pPr marL="342900" indent="-342900">
                  <a:buFont typeface="+mj-lt"/>
                  <a:buAutoNum type="arabicPeriod" startAt="2"/>
                </a:pPr>
                <a:r>
                  <a:rPr lang="en-US" dirty="0">
                    <a:latin typeface="+mj-lt"/>
                  </a:rPr>
                  <a:t>Feasibility</a:t>
                </a:r>
              </a:p>
              <a:p>
                <a:pPr marL="0" indent="0">
                  <a:buNone/>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𝑝</m:t>
                      </m:r>
                      <m:r>
                        <a:rPr lang="en-US" b="0" i="1" smtClean="0">
                          <a:latin typeface="Cambria Math" panose="02040503050406030204" pitchFamily="18" charset="0"/>
                        </a:rPr>
                        <m:t> </m:t>
                      </m:r>
                      <m:r>
                        <a:rPr lang="en-US" i="1">
                          <a:latin typeface="Cambria Math" panose="02040503050406030204" pitchFamily="18" charset="0"/>
                        </a:rPr>
                        <m:t>≤</m:t>
                      </m:r>
                      <m:r>
                        <a:rPr lang="en-US" b="0" i="1" smtClean="0">
                          <a:latin typeface="Cambria Math" panose="02040503050406030204" pitchFamily="18" charset="0"/>
                        </a:rPr>
                        <m:t>1−</m:t>
                      </m:r>
                      <m:f>
                        <m:fPr>
                          <m:ctrlPr>
                            <a:rPr lang="en-US" b="0" i="1" smtClean="0">
                              <a:latin typeface="Cambria Math" panose="02040503050406030204" pitchFamily="18" charset="0"/>
                            </a:rPr>
                          </m:ctrlPr>
                        </m:fPr>
                        <m:num>
                          <m:r>
                            <a:rPr lang="en-US" i="1">
                              <a:latin typeface="Cambria Math" panose="02040503050406030204" pitchFamily="18" charset="0"/>
                            </a:rPr>
                            <m:t>𝔼</m:t>
                          </m:r>
                          <m:d>
                            <m:dPr>
                              <m:begChr m:val="["/>
                              <m:endChr m:val="]"/>
                              <m:ctrlPr>
                                <a:rPr lang="en-US" i="1">
                                  <a:latin typeface="Cambria Math" panose="02040503050406030204" pitchFamily="18" charset="0"/>
                                </a:rPr>
                              </m:ctrlPr>
                            </m:dPr>
                            <m:e>
                              <m:sSup>
                                <m:sSupPr>
                                  <m:ctrlPr>
                                    <a:rPr lang="en-US" i="1">
                                      <a:latin typeface="Cambria Math" panose="02040503050406030204" pitchFamily="18" charset="0"/>
                                    </a:rPr>
                                  </m:ctrlPr>
                                </m:sSupPr>
                                <m:e>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𝑛</m:t>
                                          </m:r>
                                        </m:e>
                                        <m:sup>
                                          <m:d>
                                            <m:dPr>
                                              <m:ctrlPr>
                                                <a:rPr lang="en-US" i="1">
                                                  <a:latin typeface="Cambria Math" panose="02040503050406030204" pitchFamily="18" charset="0"/>
                                                </a:rPr>
                                              </m:ctrlPr>
                                            </m:dPr>
                                            <m:e>
                                              <m:r>
                                                <a:rPr lang="en-US" i="1">
                                                  <a:latin typeface="Cambria Math" panose="02040503050406030204" pitchFamily="18" charset="0"/>
                                                </a:rPr>
                                                <m:t>𝐿</m:t>
                                              </m:r>
                                              <m:r>
                                                <a:rPr lang="en-US" i="1">
                                                  <a:latin typeface="Cambria Math" panose="02040503050406030204" pitchFamily="18" charset="0"/>
                                                </a:rPr>
                                                <m:t>+1</m:t>
                                              </m:r>
                                            </m:e>
                                          </m:d>
                                        </m:sup>
                                      </m:sSup>
                                    </m:e>
                                  </m:d>
                                </m:e>
                                <m:sup>
                                  <m:r>
                                    <a:rPr lang="en-US" i="1">
                                      <a:latin typeface="Cambria Math" panose="02040503050406030204" pitchFamily="18" charset="0"/>
                                    </a:rPr>
                                    <m:t>2</m:t>
                                  </m:r>
                                </m:sup>
                              </m:sSup>
                            </m:e>
                          </m:d>
                        </m:num>
                        <m:den>
                          <m:r>
                            <a:rPr lang="en-US" i="1">
                              <a:latin typeface="Cambria Math" panose="02040503050406030204" pitchFamily="18" charset="0"/>
                            </a:rPr>
                            <m:t>𝔼</m:t>
                          </m:r>
                          <m:d>
                            <m:dPr>
                              <m:begChr m:val="["/>
                              <m:endChr m:val="]"/>
                              <m:ctrlPr>
                                <a:rPr lang="en-US" i="1">
                                  <a:latin typeface="Cambria Math" panose="02040503050406030204" pitchFamily="18" charset="0"/>
                                </a:rPr>
                              </m:ctrlPr>
                            </m:dPr>
                            <m:e>
                              <m:sSup>
                                <m:sSupPr>
                                  <m:ctrlPr>
                                    <a:rPr lang="en-US" i="1">
                                      <a:latin typeface="Cambria Math" panose="02040503050406030204" pitchFamily="18" charset="0"/>
                                    </a:rPr>
                                  </m:ctrlPr>
                                </m:sSupPr>
                                <m:e>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𝑛</m:t>
                                          </m:r>
                                        </m:e>
                                        <m:sup>
                                          <m:d>
                                            <m:dPr>
                                              <m:ctrlPr>
                                                <a:rPr lang="en-US" i="1">
                                                  <a:latin typeface="Cambria Math" panose="02040503050406030204" pitchFamily="18" charset="0"/>
                                                </a:rPr>
                                              </m:ctrlPr>
                                            </m:dPr>
                                            <m:e>
                                              <m:r>
                                                <a:rPr lang="en-US" i="1">
                                                  <a:latin typeface="Cambria Math" panose="02040503050406030204" pitchFamily="18" charset="0"/>
                                                </a:rPr>
                                                <m:t>𝐿</m:t>
                                              </m:r>
                                            </m:e>
                                          </m:d>
                                        </m:sup>
                                      </m:sSup>
                                    </m:e>
                                  </m:d>
                                </m:e>
                                <m:sup>
                                  <m:r>
                                    <a:rPr lang="en-US" i="1">
                                      <a:latin typeface="Cambria Math" panose="02040503050406030204" pitchFamily="18" charset="0"/>
                                    </a:rPr>
                                    <m:t>2</m:t>
                                  </m:r>
                                </m:sup>
                              </m:sSup>
                            </m:e>
                          </m:d>
                        </m:den>
                      </m:f>
                    </m:oMath>
                  </m:oMathPara>
                </a14:m>
                <a:endParaRPr lang="en-US" i="1" dirty="0">
                  <a:latin typeface="+mj-lt"/>
                </a:endParaRPr>
              </a:p>
            </p:txBody>
          </p:sp>
        </mc:Choice>
        <mc:Fallback xmlns="">
          <p:sp>
            <p:nvSpPr>
              <p:cNvPr id="9" name="Content Placeholder 8">
                <a:extLst>
                  <a:ext uri="{FF2B5EF4-FFF2-40B4-BE49-F238E27FC236}">
                    <a16:creationId xmlns:a16="http://schemas.microsoft.com/office/drawing/2014/main" id="{7D2D6824-7DCD-5817-DFB5-19F1BD1C6592}"/>
                  </a:ext>
                </a:extLst>
              </p:cNvPr>
              <p:cNvSpPr>
                <a:spLocks noGrp="1" noRot="1" noChangeAspect="1" noMove="1" noResize="1" noEditPoints="1" noAdjustHandles="1" noChangeArrowheads="1" noChangeShapeType="1" noTextEdit="1"/>
              </p:cNvSpPr>
              <p:nvPr>
                <p:ph idx="1"/>
              </p:nvPr>
            </p:nvSpPr>
            <p:spPr>
              <a:blipFill>
                <a:blip r:embed="rId3"/>
                <a:stretch>
                  <a:fillRect/>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A94DAE24-0E79-251A-CD6A-4D852C74DCEE}"/>
              </a:ext>
            </a:extLst>
          </p:cNvPr>
          <p:cNvSpPr>
            <a:spLocks noGrp="1"/>
          </p:cNvSpPr>
          <p:nvPr>
            <p:ph type="title"/>
          </p:nvPr>
        </p:nvSpPr>
        <p:spPr>
          <a:xfrm>
            <a:off x="904875" y="131032"/>
            <a:ext cx="7207279" cy="1072753"/>
          </a:xfrm>
        </p:spPr>
        <p:txBody>
          <a:bodyPr>
            <a:normAutofit/>
          </a:bodyPr>
          <a:lstStyle/>
          <a:p>
            <a:r>
              <a:rPr lang="en-US" dirty="0"/>
              <a:t>4.2	Hierarchical Generative Graph Diffusion</a:t>
            </a:r>
            <a:br>
              <a:rPr lang="en-US" dirty="0"/>
            </a:br>
            <a:r>
              <a:rPr lang="en-US" sz="2400" b="0" i="1" dirty="0"/>
              <a:t>Contributions - Theory</a:t>
            </a:r>
            <a:endParaRPr lang="en-GB" sz="2400" b="0" i="1" dirty="0"/>
          </a:p>
        </p:txBody>
      </p:sp>
      <p:sp>
        <p:nvSpPr>
          <p:cNvPr id="5" name="Date Placeholder 4">
            <a:extLst>
              <a:ext uri="{FF2B5EF4-FFF2-40B4-BE49-F238E27FC236}">
                <a16:creationId xmlns:a16="http://schemas.microsoft.com/office/drawing/2014/main" id="{2B689BDF-B421-9FEB-3C7A-9B3CEDAA34D5}"/>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CC51C8FB-8EA0-9C0D-C5EA-348EA24A6A81}"/>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9C270B47-F86F-1C40-C572-F73FAA24BDAC}"/>
              </a:ext>
            </a:extLst>
          </p:cNvPr>
          <p:cNvSpPr>
            <a:spLocks noGrp="1"/>
          </p:cNvSpPr>
          <p:nvPr>
            <p:ph type="sldNum" sz="quarter" idx="12"/>
          </p:nvPr>
        </p:nvSpPr>
        <p:spPr/>
        <p:txBody>
          <a:bodyPr/>
          <a:lstStyle/>
          <a:p>
            <a:fld id="{E1E1CD7C-2161-7D43-862E-CE4C333CD873}" type="slidenum">
              <a:rPr lang="fr-FR" smtClean="0"/>
              <a:pPr/>
              <a:t>50</a:t>
            </a:fld>
            <a:endParaRPr lang="fr-FR" dirty="0"/>
          </a:p>
        </p:txBody>
      </p:sp>
    </p:spTree>
    <p:extLst>
      <p:ext uri="{BB962C8B-B14F-4D97-AF65-F5344CB8AC3E}">
        <p14:creationId xmlns:p14="http://schemas.microsoft.com/office/powerpoint/2010/main" val="32291582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2" dur="500"/>
                                        <p:tgtEl>
                                          <p:spTgt spid="9">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4" presetClass="entr" presetSubtype="10" fill="hold" nodeType="clickEffect">
                                  <p:stCondLst>
                                    <p:cond delay="0"/>
                                  </p:stCondLst>
                                  <p:childTnLst>
                                    <p:set>
                                      <p:cBhvr>
                                        <p:cTn id="16"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7" dur="500"/>
                                        <p:tgtEl>
                                          <p:spTgt spid="9">
                                            <p:txEl>
                                              <p:pRg st="2" end="2"/>
                                            </p:txEl>
                                          </p:spTgt>
                                        </p:tgtEl>
                                      </p:cBhvr>
                                    </p:animEffect>
                                  </p:childTnLst>
                                </p:cTn>
                              </p:par>
                              <p:par>
                                <p:cTn id="18" presetID="14" presetClass="entr" presetSubtype="10" fill="hold" nodeType="withEffect">
                                  <p:stCondLst>
                                    <p:cond delay="0"/>
                                  </p:stCondLst>
                                  <p:childTnLst>
                                    <p:set>
                                      <p:cBhvr>
                                        <p:cTn id="19" dur="1" fill="hold">
                                          <p:stCondLst>
                                            <p:cond delay="0"/>
                                          </p:stCondLst>
                                        </p:cTn>
                                        <p:tgtEl>
                                          <p:spTgt spid="9">
                                            <p:txEl>
                                              <p:pRg st="3" end="3"/>
                                            </p:txEl>
                                          </p:spTgt>
                                        </p:tgtEl>
                                        <p:attrNameLst>
                                          <p:attrName>style.visibility</p:attrName>
                                        </p:attrNameLst>
                                      </p:cBhvr>
                                      <p:to>
                                        <p:strVal val="visible"/>
                                      </p:to>
                                    </p:set>
                                    <p:animEffect transition="in" filter="randombar(horizontal)">
                                      <p:cBhvr>
                                        <p:cTn id="20" dur="500"/>
                                        <p:tgtEl>
                                          <p:spTgt spid="9">
                                            <p:txEl>
                                              <p:pRg st="3" end="3"/>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14" presetClass="entr" presetSubtype="10" fill="hold" nodeType="clickEffect">
                                  <p:stCondLst>
                                    <p:cond delay="0"/>
                                  </p:stCondLst>
                                  <p:childTnLst>
                                    <p:set>
                                      <p:cBhvr>
                                        <p:cTn id="24" dur="1" fill="hold">
                                          <p:stCondLst>
                                            <p:cond delay="0"/>
                                          </p:stCondLst>
                                        </p:cTn>
                                        <p:tgtEl>
                                          <p:spTgt spid="9">
                                            <p:txEl>
                                              <p:pRg st="4" end="4"/>
                                            </p:txEl>
                                          </p:spTgt>
                                        </p:tgtEl>
                                        <p:attrNameLst>
                                          <p:attrName>style.visibility</p:attrName>
                                        </p:attrNameLst>
                                      </p:cBhvr>
                                      <p:to>
                                        <p:strVal val="visible"/>
                                      </p:to>
                                    </p:set>
                                    <p:animEffect transition="in" filter="randombar(horizontal)">
                                      <p:cBhvr>
                                        <p:cTn id="25" dur="500"/>
                                        <p:tgtEl>
                                          <p:spTgt spid="9">
                                            <p:txEl>
                                              <p:pRg st="4" end="4"/>
                                            </p:txEl>
                                          </p:spTgt>
                                        </p:tgtEl>
                                      </p:cBhvr>
                                    </p:animEffect>
                                  </p:childTnLst>
                                </p:cTn>
                              </p:par>
                              <p:par>
                                <p:cTn id="26" presetID="14" presetClass="entr" presetSubtype="10" fill="hold" nodeType="withEffect">
                                  <p:stCondLst>
                                    <p:cond delay="0"/>
                                  </p:stCondLst>
                                  <p:childTnLst>
                                    <p:set>
                                      <p:cBhvr>
                                        <p:cTn id="27"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8" dur="500"/>
                                        <p:tgtEl>
                                          <p:spTgt spid="9">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67E6BA-560C-D5A3-1A80-376A8E88FA2B}"/>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AA151319-8F9A-E54D-BE06-3162937D4B3B}"/>
              </a:ext>
            </a:extLst>
          </p:cNvPr>
          <p:cNvSpPr>
            <a:spLocks noGrp="1"/>
          </p:cNvSpPr>
          <p:nvPr>
            <p:ph type="title"/>
          </p:nvPr>
        </p:nvSpPr>
        <p:spPr>
          <a:xfrm>
            <a:off x="904875" y="131032"/>
            <a:ext cx="7726363" cy="1072753"/>
          </a:xfrm>
        </p:spPr>
        <p:txBody>
          <a:bodyPr>
            <a:normAutofit/>
          </a:bodyPr>
          <a:lstStyle/>
          <a:p>
            <a:r>
              <a:rPr lang="en-US" dirty="0"/>
              <a:t>4.2	Hierarchical Generative Graph Diffusion</a:t>
            </a:r>
            <a:br>
              <a:rPr lang="en-US" dirty="0"/>
            </a:br>
            <a:r>
              <a:rPr lang="en-US" sz="2400" b="0" i="1" dirty="0"/>
              <a:t>Results - Community detection</a:t>
            </a:r>
            <a:endParaRPr lang="en-GB" sz="2400" b="0" i="1" dirty="0"/>
          </a:p>
        </p:txBody>
      </p:sp>
      <p:sp>
        <p:nvSpPr>
          <p:cNvPr id="5" name="Date Placeholder 4">
            <a:extLst>
              <a:ext uri="{FF2B5EF4-FFF2-40B4-BE49-F238E27FC236}">
                <a16:creationId xmlns:a16="http://schemas.microsoft.com/office/drawing/2014/main" id="{B9F72425-3A5F-68FC-5D90-00A6F4F64C1D}"/>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A3883A30-ECB3-CFD4-A131-2DCABED252D2}"/>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A7FDCE24-DC0D-030C-EEFA-19A826817EE1}"/>
              </a:ext>
            </a:extLst>
          </p:cNvPr>
          <p:cNvSpPr>
            <a:spLocks noGrp="1"/>
          </p:cNvSpPr>
          <p:nvPr>
            <p:ph type="sldNum" sz="quarter" idx="12"/>
          </p:nvPr>
        </p:nvSpPr>
        <p:spPr/>
        <p:txBody>
          <a:bodyPr/>
          <a:lstStyle/>
          <a:p>
            <a:fld id="{E1E1CD7C-2161-7D43-862E-CE4C333CD873}" type="slidenum">
              <a:rPr lang="fr-FR" smtClean="0"/>
              <a:pPr/>
              <a:t>51</a:t>
            </a:fld>
            <a:endParaRPr lang="fr-FR" dirty="0"/>
          </a:p>
        </p:txBody>
      </p:sp>
      <p:pic>
        <p:nvPicPr>
          <p:cNvPr id="9" name="Content Placeholder 8" descr="A table with numbers and symbols&#10;&#10;AI-generated content may be incorrect.">
            <a:extLst>
              <a:ext uri="{FF2B5EF4-FFF2-40B4-BE49-F238E27FC236}">
                <a16:creationId xmlns:a16="http://schemas.microsoft.com/office/drawing/2014/main" id="{49521BCE-E23E-E10C-ED74-ADE87CBB0668}"/>
              </a:ext>
            </a:extLst>
          </p:cNvPr>
          <p:cNvPicPr>
            <a:picLocks noGrp="1" noChangeAspect="1"/>
          </p:cNvPicPr>
          <p:nvPr>
            <p:ph idx="1"/>
          </p:nvPr>
        </p:nvPicPr>
        <p:blipFill>
          <a:blip r:embed="rId3"/>
          <a:stretch>
            <a:fillRect/>
          </a:stretch>
        </p:blipFill>
        <p:spPr>
          <a:xfrm>
            <a:off x="904875" y="2005789"/>
            <a:ext cx="7726363" cy="2501935"/>
          </a:xfrm>
        </p:spPr>
      </p:pic>
    </p:spTree>
    <p:extLst>
      <p:ext uri="{BB962C8B-B14F-4D97-AF65-F5344CB8AC3E}">
        <p14:creationId xmlns:p14="http://schemas.microsoft.com/office/powerpoint/2010/main" val="855317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randombar(horizontal)">
                                      <p:cBhvr>
                                        <p:cTn id="7"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273E46-ABD0-D63B-25AE-64FC68F03703}"/>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8A20CD31-31BD-31E0-6DE1-E4B0B0C2EE46}"/>
              </a:ext>
            </a:extLst>
          </p:cNvPr>
          <p:cNvSpPr>
            <a:spLocks noGrp="1"/>
          </p:cNvSpPr>
          <p:nvPr>
            <p:ph type="title"/>
          </p:nvPr>
        </p:nvSpPr>
        <p:spPr>
          <a:xfrm>
            <a:off x="904875" y="131032"/>
            <a:ext cx="7726363" cy="1072753"/>
          </a:xfrm>
        </p:spPr>
        <p:txBody>
          <a:bodyPr>
            <a:normAutofit/>
          </a:bodyPr>
          <a:lstStyle/>
          <a:p>
            <a:r>
              <a:rPr lang="en-US" dirty="0"/>
              <a:t>4.2	Hierarchical Generative Graph Diffusion</a:t>
            </a:r>
            <a:br>
              <a:rPr lang="en-US" dirty="0"/>
            </a:br>
            <a:r>
              <a:rPr lang="en-US" sz="2400" b="0" i="1" dirty="0"/>
              <a:t>Results - Expressivity</a:t>
            </a:r>
            <a:endParaRPr lang="en-GB" sz="2400" b="0" i="1" dirty="0"/>
          </a:p>
        </p:txBody>
      </p:sp>
      <p:sp>
        <p:nvSpPr>
          <p:cNvPr id="5" name="Date Placeholder 4">
            <a:extLst>
              <a:ext uri="{FF2B5EF4-FFF2-40B4-BE49-F238E27FC236}">
                <a16:creationId xmlns:a16="http://schemas.microsoft.com/office/drawing/2014/main" id="{0C167BFA-06A6-0231-67AB-B044D99A30DA}"/>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143EF8BE-0781-4404-2E25-28D0C434218A}"/>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4F477629-FF5C-E2D2-F0D5-5875CBBC2F65}"/>
              </a:ext>
            </a:extLst>
          </p:cNvPr>
          <p:cNvSpPr>
            <a:spLocks noGrp="1"/>
          </p:cNvSpPr>
          <p:nvPr>
            <p:ph type="sldNum" sz="quarter" idx="12"/>
          </p:nvPr>
        </p:nvSpPr>
        <p:spPr/>
        <p:txBody>
          <a:bodyPr/>
          <a:lstStyle/>
          <a:p>
            <a:fld id="{E1E1CD7C-2161-7D43-862E-CE4C333CD873}" type="slidenum">
              <a:rPr lang="fr-FR" smtClean="0"/>
              <a:pPr/>
              <a:t>52</a:t>
            </a:fld>
            <a:endParaRPr lang="fr-FR" dirty="0"/>
          </a:p>
        </p:txBody>
      </p:sp>
      <p:pic>
        <p:nvPicPr>
          <p:cNvPr id="10" name="Content Placeholder 9" descr="A table with numbers and text&#10;&#10;AI-generated content may be incorrect.">
            <a:extLst>
              <a:ext uri="{FF2B5EF4-FFF2-40B4-BE49-F238E27FC236}">
                <a16:creationId xmlns:a16="http://schemas.microsoft.com/office/drawing/2014/main" id="{1E8C9F95-3655-938B-A793-35AE829636F9}"/>
              </a:ext>
            </a:extLst>
          </p:cNvPr>
          <p:cNvPicPr>
            <a:picLocks noGrp="1" noChangeAspect="1"/>
          </p:cNvPicPr>
          <p:nvPr>
            <p:ph idx="1"/>
          </p:nvPr>
        </p:nvPicPr>
        <p:blipFill>
          <a:blip r:embed="rId3"/>
          <a:stretch>
            <a:fillRect/>
          </a:stretch>
        </p:blipFill>
        <p:spPr>
          <a:xfrm>
            <a:off x="904875" y="1859436"/>
            <a:ext cx="7726363" cy="2794641"/>
          </a:xfrm>
        </p:spPr>
      </p:pic>
    </p:spTree>
    <p:extLst>
      <p:ext uri="{BB962C8B-B14F-4D97-AF65-F5344CB8AC3E}">
        <p14:creationId xmlns:p14="http://schemas.microsoft.com/office/powerpoint/2010/main" val="29909498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randombar(horizontal)">
                                      <p:cBhvr>
                                        <p:cTn id="7"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453EFA-BE9C-CDA8-2556-6BC36185C44C}"/>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2593E9A2-E291-EFE0-F482-1F5B1B4CF910}"/>
              </a:ext>
            </a:extLst>
          </p:cNvPr>
          <p:cNvSpPr>
            <a:spLocks noGrp="1"/>
          </p:cNvSpPr>
          <p:nvPr>
            <p:ph type="title"/>
          </p:nvPr>
        </p:nvSpPr>
        <p:spPr>
          <a:xfrm>
            <a:off x="904875" y="131032"/>
            <a:ext cx="7726363" cy="1072753"/>
          </a:xfrm>
        </p:spPr>
        <p:txBody>
          <a:bodyPr>
            <a:normAutofit/>
          </a:bodyPr>
          <a:lstStyle/>
          <a:p>
            <a:r>
              <a:rPr lang="en-US" dirty="0"/>
              <a:t>4.2	Hierarchical Generative Graph Diffusion</a:t>
            </a:r>
            <a:br>
              <a:rPr lang="en-US" dirty="0"/>
            </a:br>
            <a:r>
              <a:rPr lang="en-US" sz="2400" b="0" i="1" dirty="0"/>
              <a:t>Results - Real vs. fake graphs</a:t>
            </a:r>
            <a:endParaRPr lang="en-GB" sz="2400" b="0" i="1" dirty="0"/>
          </a:p>
        </p:txBody>
      </p:sp>
      <p:sp>
        <p:nvSpPr>
          <p:cNvPr id="5" name="Date Placeholder 4">
            <a:extLst>
              <a:ext uri="{FF2B5EF4-FFF2-40B4-BE49-F238E27FC236}">
                <a16:creationId xmlns:a16="http://schemas.microsoft.com/office/drawing/2014/main" id="{D4F549FE-6790-BE92-3A6F-200ED47D76C2}"/>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C0BCAD6F-9BAB-9EE2-F2C9-E930D9E94E19}"/>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700F6E3E-313A-BB99-B84A-87EC296AEEC5}"/>
              </a:ext>
            </a:extLst>
          </p:cNvPr>
          <p:cNvSpPr>
            <a:spLocks noGrp="1"/>
          </p:cNvSpPr>
          <p:nvPr>
            <p:ph type="sldNum" sz="quarter" idx="12"/>
          </p:nvPr>
        </p:nvSpPr>
        <p:spPr/>
        <p:txBody>
          <a:bodyPr/>
          <a:lstStyle/>
          <a:p>
            <a:fld id="{E1E1CD7C-2161-7D43-862E-CE4C333CD873}" type="slidenum">
              <a:rPr lang="fr-FR" smtClean="0"/>
              <a:pPr/>
              <a:t>53</a:t>
            </a:fld>
            <a:endParaRPr lang="fr-FR" dirty="0"/>
          </a:p>
        </p:txBody>
      </p:sp>
      <p:pic>
        <p:nvPicPr>
          <p:cNvPr id="9" name="Content Placeholder 8" descr="A group of different shapes and colors&#10;&#10;AI-generated content may be incorrect.">
            <a:extLst>
              <a:ext uri="{FF2B5EF4-FFF2-40B4-BE49-F238E27FC236}">
                <a16:creationId xmlns:a16="http://schemas.microsoft.com/office/drawing/2014/main" id="{B6AC4CE1-93E4-E96B-C166-BE21257660F9}"/>
              </a:ext>
            </a:extLst>
          </p:cNvPr>
          <p:cNvPicPr>
            <a:picLocks noGrp="1" noChangeAspect="1"/>
          </p:cNvPicPr>
          <p:nvPr>
            <p:ph idx="1"/>
          </p:nvPr>
        </p:nvPicPr>
        <p:blipFill>
          <a:blip r:embed="rId3"/>
          <a:stretch>
            <a:fillRect/>
          </a:stretch>
        </p:blipFill>
        <p:spPr>
          <a:xfrm>
            <a:off x="1995225" y="1563688"/>
            <a:ext cx="5545663" cy="3386137"/>
          </a:xfrm>
        </p:spPr>
      </p:pic>
    </p:spTree>
    <p:extLst>
      <p:ext uri="{BB962C8B-B14F-4D97-AF65-F5344CB8AC3E}">
        <p14:creationId xmlns:p14="http://schemas.microsoft.com/office/powerpoint/2010/main" val="6068610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randombar(horizontal)">
                                      <p:cBhvr>
                                        <p:cTn id="7"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74233D-78D8-2659-4032-33B9608ACEFF}"/>
            </a:ext>
          </a:extLst>
        </p:cNvPr>
        <p:cNvGrpSpPr/>
        <p:nvPr/>
      </p:nvGrpSpPr>
      <p:grpSpPr>
        <a:xfrm>
          <a:off x="0" y="0"/>
          <a:ext cx="0" cy="0"/>
          <a:chOff x="0" y="0"/>
          <a:chExt cx="0" cy="0"/>
        </a:xfrm>
      </p:grpSpPr>
      <p:pic>
        <p:nvPicPr>
          <p:cNvPr id="13" name="Content Placeholder 12" descr="A graph of different colored bars&#10;&#10;AI-generated content may be incorrect.">
            <a:extLst>
              <a:ext uri="{FF2B5EF4-FFF2-40B4-BE49-F238E27FC236}">
                <a16:creationId xmlns:a16="http://schemas.microsoft.com/office/drawing/2014/main" id="{82D73969-35F8-BB9A-E758-FA15397FBE63}"/>
              </a:ext>
            </a:extLst>
          </p:cNvPr>
          <p:cNvPicPr>
            <a:picLocks noGrp="1" noChangeAspect="1"/>
          </p:cNvPicPr>
          <p:nvPr>
            <p:ph sz="half" idx="2"/>
          </p:nvPr>
        </p:nvPicPr>
        <p:blipFill>
          <a:blip r:embed="rId3"/>
          <a:stretch>
            <a:fillRect/>
          </a:stretch>
        </p:blipFill>
        <p:spPr>
          <a:xfrm>
            <a:off x="4959350" y="1940292"/>
            <a:ext cx="3671888" cy="2510692"/>
          </a:xfrm>
        </p:spPr>
      </p:pic>
      <p:sp>
        <p:nvSpPr>
          <p:cNvPr id="8" name="Title 7">
            <a:extLst>
              <a:ext uri="{FF2B5EF4-FFF2-40B4-BE49-F238E27FC236}">
                <a16:creationId xmlns:a16="http://schemas.microsoft.com/office/drawing/2014/main" id="{619A3E27-C8EB-1682-36C1-50A1F003BDBC}"/>
              </a:ext>
            </a:extLst>
          </p:cNvPr>
          <p:cNvSpPr>
            <a:spLocks noGrp="1"/>
          </p:cNvSpPr>
          <p:nvPr>
            <p:ph type="title"/>
          </p:nvPr>
        </p:nvSpPr>
        <p:spPr>
          <a:xfrm>
            <a:off x="904875" y="131032"/>
            <a:ext cx="7726363" cy="1072753"/>
          </a:xfrm>
        </p:spPr>
        <p:txBody>
          <a:bodyPr>
            <a:normAutofit/>
          </a:bodyPr>
          <a:lstStyle/>
          <a:p>
            <a:r>
              <a:rPr lang="en-US" dirty="0"/>
              <a:t>4.2	Hierarchical Generative Graph Diffusion</a:t>
            </a:r>
            <a:br>
              <a:rPr lang="en-US" dirty="0"/>
            </a:br>
            <a:r>
              <a:rPr lang="en-US" sz="2400" b="0" i="1" dirty="0"/>
              <a:t>Results - Ablation</a:t>
            </a:r>
            <a:endParaRPr lang="en-GB" sz="2400" b="0" i="1" dirty="0"/>
          </a:p>
        </p:txBody>
      </p:sp>
      <p:sp>
        <p:nvSpPr>
          <p:cNvPr id="5" name="Date Placeholder 4">
            <a:extLst>
              <a:ext uri="{FF2B5EF4-FFF2-40B4-BE49-F238E27FC236}">
                <a16:creationId xmlns:a16="http://schemas.microsoft.com/office/drawing/2014/main" id="{03B24B9C-FCAE-1CAC-6EC3-2F5229C64C9E}"/>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1B3F7852-93BE-959C-FA9C-01AA5C9331F5}"/>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848EEB33-69F8-7025-83DD-869C0309E9CB}"/>
              </a:ext>
            </a:extLst>
          </p:cNvPr>
          <p:cNvSpPr>
            <a:spLocks noGrp="1"/>
          </p:cNvSpPr>
          <p:nvPr>
            <p:ph type="sldNum" sz="quarter" idx="12"/>
          </p:nvPr>
        </p:nvSpPr>
        <p:spPr/>
        <p:txBody>
          <a:bodyPr/>
          <a:lstStyle/>
          <a:p>
            <a:fld id="{E1E1CD7C-2161-7D43-862E-CE4C333CD873}" type="slidenum">
              <a:rPr lang="fr-FR" smtClean="0"/>
              <a:pPr/>
              <a:t>54</a:t>
            </a:fld>
            <a:endParaRPr lang="fr-FR" dirty="0"/>
          </a:p>
        </p:txBody>
      </p:sp>
      <p:pic>
        <p:nvPicPr>
          <p:cNvPr id="11" name="Content Placeholder 10" descr="A graph of different colored bars&#10;&#10;AI-generated content may be incorrect.">
            <a:extLst>
              <a:ext uri="{FF2B5EF4-FFF2-40B4-BE49-F238E27FC236}">
                <a16:creationId xmlns:a16="http://schemas.microsoft.com/office/drawing/2014/main" id="{F60C06C2-DBBE-0DC4-0788-F9A23646111D}"/>
              </a:ext>
            </a:extLst>
          </p:cNvPr>
          <p:cNvPicPr>
            <a:picLocks noGrp="1" noChangeAspect="1"/>
          </p:cNvPicPr>
          <p:nvPr>
            <p:ph sz="half" idx="1"/>
          </p:nvPr>
        </p:nvPicPr>
        <p:blipFill>
          <a:blip r:embed="rId4"/>
          <a:stretch>
            <a:fillRect/>
          </a:stretch>
        </p:blipFill>
        <p:spPr>
          <a:xfrm>
            <a:off x="904875" y="1918460"/>
            <a:ext cx="3671888" cy="2554356"/>
          </a:xfrm>
        </p:spPr>
      </p:pic>
    </p:spTree>
    <p:extLst>
      <p:ext uri="{BB962C8B-B14F-4D97-AF65-F5344CB8AC3E}">
        <p14:creationId xmlns:p14="http://schemas.microsoft.com/office/powerpoint/2010/main" val="36143557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randombar(horizontal)">
                                      <p:cBhvr>
                                        <p:cTn id="7" dur="500"/>
                                        <p:tgtEl>
                                          <p:spTgt spid="11"/>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13"/>
                                        </p:tgtEl>
                                        <p:attrNameLst>
                                          <p:attrName>style.visibility</p:attrName>
                                        </p:attrNameLst>
                                      </p:cBhvr>
                                      <p:to>
                                        <p:strVal val="visible"/>
                                      </p:to>
                                    </p:set>
                                    <p:animEffect transition="in" filter="randombar(horizontal)">
                                      <p:cBhvr>
                                        <p:cTn id="12"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28BFBD-ED45-9E79-ACF3-DFE44F50FFC6}"/>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8D0E7D85-E9D5-8A64-AEA7-9D330B3569BD}"/>
              </a:ext>
            </a:extLst>
          </p:cNvPr>
          <p:cNvSpPr>
            <a:spLocks noGrp="1"/>
          </p:cNvSpPr>
          <p:nvPr>
            <p:ph type="title"/>
          </p:nvPr>
        </p:nvSpPr>
        <p:spPr>
          <a:xfrm>
            <a:off x="904875" y="131032"/>
            <a:ext cx="7726363" cy="1072753"/>
          </a:xfrm>
        </p:spPr>
        <p:txBody>
          <a:bodyPr>
            <a:normAutofit/>
          </a:bodyPr>
          <a:lstStyle/>
          <a:p>
            <a:r>
              <a:rPr lang="en-US" dirty="0"/>
              <a:t>4.2	Hierarchical Generative Graph Diffusion</a:t>
            </a:r>
            <a:br>
              <a:rPr lang="en-US" dirty="0"/>
            </a:br>
            <a:r>
              <a:rPr lang="en-US" sz="2400" b="0" i="1" dirty="0"/>
              <a:t>Results - Performance vs. baselines</a:t>
            </a:r>
            <a:endParaRPr lang="en-GB" sz="2400" b="0" i="1" dirty="0"/>
          </a:p>
        </p:txBody>
      </p:sp>
      <p:sp>
        <p:nvSpPr>
          <p:cNvPr id="5" name="Date Placeholder 4">
            <a:extLst>
              <a:ext uri="{FF2B5EF4-FFF2-40B4-BE49-F238E27FC236}">
                <a16:creationId xmlns:a16="http://schemas.microsoft.com/office/drawing/2014/main" id="{90A60856-E224-14D3-9364-FFE2FDF22AA4}"/>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1E779D57-E2F6-1884-03BD-805D5ED6E26D}"/>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77B9AD69-914F-9EA3-BBCA-70D717E2D48F}"/>
              </a:ext>
            </a:extLst>
          </p:cNvPr>
          <p:cNvSpPr>
            <a:spLocks noGrp="1"/>
          </p:cNvSpPr>
          <p:nvPr>
            <p:ph type="sldNum" sz="quarter" idx="12"/>
          </p:nvPr>
        </p:nvSpPr>
        <p:spPr/>
        <p:txBody>
          <a:bodyPr/>
          <a:lstStyle/>
          <a:p>
            <a:fld id="{E1E1CD7C-2161-7D43-862E-CE4C333CD873}" type="slidenum">
              <a:rPr lang="fr-FR" smtClean="0"/>
              <a:pPr/>
              <a:t>55</a:t>
            </a:fld>
            <a:endParaRPr lang="fr-FR" dirty="0"/>
          </a:p>
        </p:txBody>
      </p:sp>
      <p:pic>
        <p:nvPicPr>
          <p:cNvPr id="9" name="Content Placeholder 8" descr="A table of numbers and symbols&#10;&#10;AI-generated content may be incorrect.">
            <a:extLst>
              <a:ext uri="{FF2B5EF4-FFF2-40B4-BE49-F238E27FC236}">
                <a16:creationId xmlns:a16="http://schemas.microsoft.com/office/drawing/2014/main" id="{7308ABCB-2E51-81E3-9A6D-3640A1080BED}"/>
              </a:ext>
            </a:extLst>
          </p:cNvPr>
          <p:cNvPicPr>
            <a:picLocks noGrp="1" noChangeAspect="1"/>
          </p:cNvPicPr>
          <p:nvPr>
            <p:ph idx="1"/>
          </p:nvPr>
        </p:nvPicPr>
        <p:blipFill>
          <a:blip r:embed="rId3"/>
          <a:stretch>
            <a:fillRect/>
          </a:stretch>
        </p:blipFill>
        <p:spPr>
          <a:xfrm>
            <a:off x="2962912" y="1563688"/>
            <a:ext cx="3610289" cy="3386137"/>
          </a:xfrm>
        </p:spPr>
      </p:pic>
    </p:spTree>
    <p:extLst>
      <p:ext uri="{BB962C8B-B14F-4D97-AF65-F5344CB8AC3E}">
        <p14:creationId xmlns:p14="http://schemas.microsoft.com/office/powerpoint/2010/main" val="10653622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randombar(horizontal)">
                                      <p:cBhvr>
                                        <p:cTn id="7"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E3CF50-17C6-7052-A1B6-B30D61FC5155}"/>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F9CDB704-23E2-3AB0-B79B-FCEBE5CC0997}"/>
              </a:ext>
            </a:extLst>
          </p:cNvPr>
          <p:cNvSpPr>
            <a:spLocks noGrp="1"/>
          </p:cNvSpPr>
          <p:nvPr>
            <p:ph type="title"/>
          </p:nvPr>
        </p:nvSpPr>
        <p:spPr>
          <a:xfrm>
            <a:off x="904875" y="130271"/>
            <a:ext cx="7726363" cy="1072753"/>
          </a:xfrm>
        </p:spPr>
        <p:txBody>
          <a:bodyPr>
            <a:normAutofit/>
          </a:bodyPr>
          <a:lstStyle/>
          <a:p>
            <a:r>
              <a:rPr lang="en-US" dirty="0"/>
              <a:t>4.2	Hierarchical Generative Graph Diffusion</a:t>
            </a:r>
            <a:br>
              <a:rPr lang="en-US" dirty="0"/>
            </a:br>
            <a:r>
              <a:rPr lang="en-US" sz="2400" b="0" i="1" dirty="0"/>
              <a:t>Summary</a:t>
            </a:r>
            <a:endParaRPr lang="en-GB" sz="2400" b="0" i="1" dirty="0"/>
          </a:p>
        </p:txBody>
      </p:sp>
      <p:sp>
        <p:nvSpPr>
          <p:cNvPr id="5" name="Date Placeholder 4">
            <a:extLst>
              <a:ext uri="{FF2B5EF4-FFF2-40B4-BE49-F238E27FC236}">
                <a16:creationId xmlns:a16="http://schemas.microsoft.com/office/drawing/2014/main" id="{788283D4-DD4F-881C-4A62-EFD17C65F155}"/>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0ECAB548-436F-AA04-D4AF-AB29EC543817}"/>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6FE05411-908A-ED04-1F80-A8F9FA03BC2E}"/>
              </a:ext>
            </a:extLst>
          </p:cNvPr>
          <p:cNvSpPr>
            <a:spLocks noGrp="1"/>
          </p:cNvSpPr>
          <p:nvPr>
            <p:ph type="sldNum" sz="quarter" idx="12"/>
          </p:nvPr>
        </p:nvSpPr>
        <p:spPr/>
        <p:txBody>
          <a:bodyPr/>
          <a:lstStyle/>
          <a:p>
            <a:fld id="{E1E1CD7C-2161-7D43-862E-CE4C333CD873}" type="slidenum">
              <a:rPr lang="fr-FR" smtClean="0"/>
              <a:pPr/>
              <a:t>56</a:t>
            </a:fld>
            <a:endParaRPr lang="fr-FR" dirty="0"/>
          </a:p>
        </p:txBody>
      </p:sp>
      <p:sp>
        <p:nvSpPr>
          <p:cNvPr id="3" name="Content Placeholder 2">
            <a:extLst>
              <a:ext uri="{FF2B5EF4-FFF2-40B4-BE49-F238E27FC236}">
                <a16:creationId xmlns:a16="http://schemas.microsoft.com/office/drawing/2014/main" id="{5510D3B2-39FD-3BC0-011E-3560F919B43D}"/>
              </a:ext>
            </a:extLst>
          </p:cNvPr>
          <p:cNvSpPr>
            <a:spLocks noGrp="1"/>
          </p:cNvSpPr>
          <p:nvPr>
            <p:ph idx="1"/>
          </p:nvPr>
        </p:nvSpPr>
        <p:spPr/>
        <p:txBody>
          <a:bodyPr anchor="ctr"/>
          <a:lstStyle/>
          <a:p>
            <a:r>
              <a:rPr lang="en-CH" dirty="0">
                <a:latin typeface="+mj-lt"/>
              </a:rPr>
              <a:t>Leveraged inherent modularity in real-world graph data to model and sample from complex distributions of graphs</a:t>
            </a:r>
          </a:p>
          <a:p>
            <a:r>
              <a:rPr lang="en-CH" dirty="0">
                <a:latin typeface="+mj-lt"/>
              </a:rPr>
              <a:t>Mirror image of COINs onto the graph generation domain </a:t>
            </a:r>
            <a:r>
              <a:rPr lang="en-GB" dirty="0">
                <a:latin typeface="+mj-lt"/>
              </a:rPr>
              <a:t>with further generalization</a:t>
            </a:r>
            <a:endParaRPr lang="en-CH" dirty="0">
              <a:latin typeface="+mj-lt"/>
            </a:endParaRPr>
          </a:p>
          <a:p>
            <a:r>
              <a:rPr lang="en-CH" dirty="0">
                <a:latin typeface="+mj-lt"/>
              </a:rPr>
              <a:t>Showed </a:t>
            </a:r>
            <a:r>
              <a:rPr lang="en-GB" dirty="0">
                <a:latin typeface="+mj-lt"/>
              </a:rPr>
              <a:t>promise</a:t>
            </a:r>
            <a:r>
              <a:rPr lang="en-CH" dirty="0">
                <a:latin typeface="+mj-lt"/>
              </a:rPr>
              <a:t> but some effort remains</a:t>
            </a:r>
          </a:p>
          <a:p>
            <a:pPr lvl="1"/>
            <a:r>
              <a:rPr lang="en-CH" dirty="0">
                <a:latin typeface="+mj-lt"/>
              </a:rPr>
              <a:t>Overtaking remaining strong baselines</a:t>
            </a:r>
          </a:p>
          <a:p>
            <a:pPr lvl="1"/>
            <a:r>
              <a:rPr lang="en-CH" dirty="0">
                <a:latin typeface="+mj-lt"/>
              </a:rPr>
              <a:t>Further architecture tuning</a:t>
            </a:r>
          </a:p>
          <a:p>
            <a:pPr lvl="1"/>
            <a:r>
              <a:rPr lang="en-CH" dirty="0">
                <a:latin typeface="+mj-lt"/>
              </a:rPr>
              <a:t>Broader dataset and baseline selection</a:t>
            </a:r>
          </a:p>
        </p:txBody>
      </p:sp>
    </p:spTree>
    <p:extLst>
      <p:ext uri="{BB962C8B-B14F-4D97-AF65-F5344CB8AC3E}">
        <p14:creationId xmlns:p14="http://schemas.microsoft.com/office/powerpoint/2010/main" val="39206433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randombar(horizontal)">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randombar(horizontal)">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4" presetClass="entr" presetSubtype="10" fill="hold"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randombar(horizontal)">
                                      <p:cBhvr>
                                        <p:cTn id="17" dur="500"/>
                                        <p:tgtEl>
                                          <p:spTgt spid="3">
                                            <p:txEl>
                                              <p:pRg st="2" end="2"/>
                                            </p:txEl>
                                          </p:spTgt>
                                        </p:tgtEl>
                                      </p:cBhvr>
                                    </p:animEffect>
                                  </p:childTnLst>
                                </p:cTn>
                              </p:par>
                              <p:par>
                                <p:cTn id="18" presetID="14" presetClass="entr" presetSubtype="10" fill="hold" nodeType="with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randombar(horizontal)">
                                      <p:cBhvr>
                                        <p:cTn id="20" dur="500"/>
                                        <p:tgtEl>
                                          <p:spTgt spid="3">
                                            <p:txEl>
                                              <p:pRg st="3" end="3"/>
                                            </p:txEl>
                                          </p:spTgt>
                                        </p:tgtEl>
                                      </p:cBhvr>
                                    </p:animEffect>
                                  </p:childTnLst>
                                </p:cTn>
                              </p:par>
                              <p:par>
                                <p:cTn id="21" presetID="14" presetClass="entr" presetSubtype="10" fill="hold" nodeType="with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animEffect transition="in" filter="randombar(horizontal)">
                                      <p:cBhvr>
                                        <p:cTn id="23" dur="500"/>
                                        <p:tgtEl>
                                          <p:spTgt spid="3">
                                            <p:txEl>
                                              <p:pRg st="4" end="4"/>
                                            </p:txEl>
                                          </p:spTgt>
                                        </p:tgtEl>
                                      </p:cBhvr>
                                    </p:animEffect>
                                  </p:childTnLst>
                                </p:cTn>
                              </p:par>
                              <p:par>
                                <p:cTn id="24" presetID="14" presetClass="entr" presetSubtype="10" fill="hold" nodeType="withEffect">
                                  <p:stCondLst>
                                    <p:cond delay="0"/>
                                  </p:stCondLst>
                                  <p:childTnLst>
                                    <p:set>
                                      <p:cBhvr>
                                        <p:cTn id="25" dur="1" fill="hold">
                                          <p:stCondLst>
                                            <p:cond delay="0"/>
                                          </p:stCondLst>
                                        </p:cTn>
                                        <p:tgtEl>
                                          <p:spTgt spid="3">
                                            <p:txEl>
                                              <p:pRg st="5" end="5"/>
                                            </p:txEl>
                                          </p:spTgt>
                                        </p:tgtEl>
                                        <p:attrNameLst>
                                          <p:attrName>style.visibility</p:attrName>
                                        </p:attrNameLst>
                                      </p:cBhvr>
                                      <p:to>
                                        <p:strVal val="visible"/>
                                      </p:to>
                                    </p:set>
                                    <p:animEffect transition="in" filter="randombar(horizontal)">
                                      <p:cBhvr>
                                        <p:cTn id="26" dur="5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3731A9-B8A8-E3BD-C586-8EEEF1F6BE66}"/>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4B7CF88D-ED8A-99FD-E844-90DF361227AC}"/>
              </a:ext>
            </a:extLst>
          </p:cNvPr>
          <p:cNvSpPr>
            <a:spLocks noGrp="1"/>
          </p:cNvSpPr>
          <p:nvPr>
            <p:ph type="title"/>
          </p:nvPr>
        </p:nvSpPr>
        <p:spPr>
          <a:xfrm>
            <a:off x="904875" y="131032"/>
            <a:ext cx="7726363" cy="1072753"/>
          </a:xfrm>
        </p:spPr>
        <p:txBody>
          <a:bodyPr>
            <a:noAutofit/>
          </a:bodyPr>
          <a:lstStyle/>
          <a:p>
            <a:r>
              <a:rPr lang="en-US" dirty="0"/>
              <a:t>4.3	Multi-measurement Diffusion Methods</a:t>
            </a:r>
            <a:br>
              <a:rPr lang="en-US" dirty="0"/>
            </a:br>
            <a:r>
              <a:rPr lang="en-US" sz="2400" b="0" i="1" dirty="0"/>
              <a:t>Motivation</a:t>
            </a:r>
            <a:endParaRPr lang="en-GB" sz="2400" b="0" i="1" dirty="0"/>
          </a:p>
        </p:txBody>
      </p:sp>
      <p:sp>
        <p:nvSpPr>
          <p:cNvPr id="5" name="Date Placeholder 4">
            <a:extLst>
              <a:ext uri="{FF2B5EF4-FFF2-40B4-BE49-F238E27FC236}">
                <a16:creationId xmlns:a16="http://schemas.microsoft.com/office/drawing/2014/main" id="{602E51B5-001E-F2AA-66C0-5CCB5B7E10D7}"/>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1E916153-5408-EB5B-4D5D-73EFBA2A4C7F}"/>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CE689A15-E9E5-F818-D9EF-73281B66F5EA}"/>
              </a:ext>
            </a:extLst>
          </p:cNvPr>
          <p:cNvSpPr>
            <a:spLocks noGrp="1"/>
          </p:cNvSpPr>
          <p:nvPr>
            <p:ph type="sldNum" sz="quarter" idx="12"/>
          </p:nvPr>
        </p:nvSpPr>
        <p:spPr/>
        <p:txBody>
          <a:bodyPr/>
          <a:lstStyle/>
          <a:p>
            <a:fld id="{E1E1CD7C-2161-7D43-862E-CE4C333CD873}" type="slidenum">
              <a:rPr lang="fr-FR" smtClean="0"/>
              <a:pPr/>
              <a:t>57</a:t>
            </a:fld>
            <a:endParaRPr lang="fr-FR"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B16B4D97-FE0E-D561-0065-60F2904757A5}"/>
                  </a:ext>
                </a:extLst>
              </p:cNvPr>
              <p:cNvSpPr>
                <a:spLocks noGrp="1"/>
              </p:cNvSpPr>
              <p:nvPr>
                <p:ph idx="1"/>
              </p:nvPr>
            </p:nvSpPr>
            <p:spPr/>
            <p:txBody>
              <a:bodyPr anchor="ctr"/>
              <a:lstStyle/>
              <a:p>
                <a:r>
                  <a:rPr lang="en-US" dirty="0">
                    <a:latin typeface="+mj-lt"/>
                  </a:rPr>
                  <a:t>The graph diffusion trade-off</a:t>
                </a:r>
              </a:p>
              <a:p>
                <a:pPr lvl="1"/>
                <a:r>
                  <a:rPr lang="en-US" dirty="0">
                    <a:latin typeface="+mj-lt"/>
                  </a:rPr>
                  <a:t>Improved generalization</a:t>
                </a:r>
              </a:p>
              <a:p>
                <a:pPr lvl="1"/>
                <a:r>
                  <a:rPr lang="en-US" dirty="0">
                    <a:latin typeface="+mj-lt"/>
                  </a:rPr>
                  <a:t>Can use </a:t>
                </a:r>
                <a:r>
                  <a:rPr lang="en-US" dirty="0" err="1">
                    <a:latin typeface="+mj-lt"/>
                  </a:rPr>
                  <a:t>HiGenDiff</a:t>
                </a:r>
                <a:r>
                  <a:rPr lang="en-US" dirty="0">
                    <a:latin typeface="+mj-lt"/>
                  </a:rPr>
                  <a:t> to reduce the number of edge probabilities to compute</a:t>
                </a:r>
              </a:p>
              <a:p>
                <a:pPr lvl="1"/>
                <a:r>
                  <a:rPr lang="en-US" dirty="0">
                    <a:latin typeface="+mj-lt"/>
                  </a:rPr>
                  <a:t>But the total complexity increased by a factor of </a:t>
                </a:r>
                <a14:m>
                  <m:oMath xmlns:m="http://schemas.openxmlformats.org/officeDocument/2006/math">
                    <m:r>
                      <a:rPr lang="en-US" b="0" i="1" smtClean="0">
                        <a:latin typeface="Cambria Math" panose="02040503050406030204" pitchFamily="18" charset="0"/>
                      </a:rPr>
                      <m:t>𝑇</m:t>
                    </m:r>
                  </m:oMath>
                </a14:m>
                <a:r>
                  <a:rPr lang="en-US" dirty="0">
                    <a:latin typeface="+mj-lt"/>
                  </a:rPr>
                  <a:t>…</a:t>
                </a:r>
              </a:p>
              <a:p>
                <a:r>
                  <a:rPr lang="en-US" dirty="0">
                    <a:latin typeface="+mj-lt"/>
                  </a:rPr>
                  <a:t>Do we </a:t>
                </a:r>
                <a:r>
                  <a:rPr lang="en-US" i="1" dirty="0">
                    <a:latin typeface="+mj-lt"/>
                  </a:rPr>
                  <a:t>really</a:t>
                </a:r>
                <a:r>
                  <a:rPr lang="en-US" dirty="0">
                    <a:latin typeface="+mj-lt"/>
                  </a:rPr>
                  <a:t> need </a:t>
                </a:r>
                <a14:m>
                  <m:oMath xmlns:m="http://schemas.openxmlformats.org/officeDocument/2006/math">
                    <m:r>
                      <a:rPr lang="en-US" i="1">
                        <a:latin typeface="Cambria Math" panose="02040503050406030204" pitchFamily="18" charset="0"/>
                      </a:rPr>
                      <m:t>𝑇</m:t>
                    </m:r>
                  </m:oMath>
                </a14:m>
                <a:r>
                  <a:rPr lang="en-US" dirty="0">
                    <a:latin typeface="+mj-lt"/>
                  </a:rPr>
                  <a:t> denoising steps?</a:t>
                </a:r>
              </a:p>
              <a:p>
                <a:pPr lvl="1"/>
                <a:r>
                  <a:rPr lang="en-US" dirty="0">
                    <a:latin typeface="+mj-lt"/>
                  </a:rPr>
                  <a:t>Why is </a:t>
                </a:r>
                <a:r>
                  <a:rPr lang="en-US" i="1" dirty="0">
                    <a:latin typeface="+mj-lt"/>
                  </a:rPr>
                  <a:t>annealing</a:t>
                </a:r>
                <a:r>
                  <a:rPr lang="en-US" dirty="0">
                    <a:latin typeface="+mj-lt"/>
                  </a:rPr>
                  <a:t> (gradual removal of noise) necessary?</a:t>
                </a:r>
              </a:p>
              <a:p>
                <a:pPr lvl="1"/>
                <a:r>
                  <a:rPr lang="en-US" dirty="0">
                    <a:latin typeface="+mj-lt"/>
                  </a:rPr>
                  <a:t>Why not transform latent noise into a distribution sample in one step?</a:t>
                </a:r>
              </a:p>
              <a:p>
                <a:pPr lvl="1"/>
                <a:r>
                  <a:rPr lang="en-US" i="1" dirty="0">
                    <a:latin typeface="+mj-lt"/>
                  </a:rPr>
                  <a:t>Single-noise-level log-concave sampling framework for any multi-modal real-world data?</a:t>
                </a:r>
              </a:p>
            </p:txBody>
          </p:sp>
        </mc:Choice>
        <mc:Fallback xmlns="">
          <p:sp>
            <p:nvSpPr>
              <p:cNvPr id="3" name="Content Placeholder 2">
                <a:extLst>
                  <a:ext uri="{FF2B5EF4-FFF2-40B4-BE49-F238E27FC236}">
                    <a16:creationId xmlns:a16="http://schemas.microsoft.com/office/drawing/2014/main" id="{B16B4D97-FE0E-D561-0065-60F2904757A5}"/>
                  </a:ext>
                </a:extLst>
              </p:cNvPr>
              <p:cNvSpPr>
                <a:spLocks noGrp="1" noRot="1" noChangeAspect="1" noMove="1" noResize="1" noEditPoints="1" noAdjustHandles="1" noChangeArrowheads="1" noChangeShapeType="1" noTextEdit="1"/>
              </p:cNvSpPr>
              <p:nvPr>
                <p:ph idx="1"/>
              </p:nvPr>
            </p:nvSpPr>
            <p:spPr>
              <a:blipFill>
                <a:blip r:embed="rId3"/>
                <a:stretch>
                  <a:fillRect/>
                </a:stretch>
              </a:blipFill>
            </p:spPr>
            <p:txBody>
              <a:bodyPr/>
              <a:lstStyle/>
              <a:p>
                <a:r>
                  <a:rPr lang="en-GB">
                    <a:noFill/>
                  </a:rPr>
                  <a:t> </a:t>
                </a:r>
              </a:p>
            </p:txBody>
          </p:sp>
        </mc:Fallback>
      </mc:AlternateContent>
    </p:spTree>
    <p:extLst>
      <p:ext uri="{BB962C8B-B14F-4D97-AF65-F5344CB8AC3E}">
        <p14:creationId xmlns:p14="http://schemas.microsoft.com/office/powerpoint/2010/main" val="31110382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randombar(horizontal)">
                                      <p:cBhvr>
                                        <p:cTn id="7" dur="500"/>
                                        <p:tgtEl>
                                          <p:spTgt spid="3">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randombar(horizontal)">
                                      <p:cBhvr>
                                        <p:cTn id="10" dur="500"/>
                                        <p:tgtEl>
                                          <p:spTgt spid="3">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Effect transition="in" filter="randombar(horizontal)">
                                      <p:cBhvr>
                                        <p:cTn id="13" dur="500"/>
                                        <p:tgtEl>
                                          <p:spTgt spid="3">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3">
                                            <p:txEl>
                                              <p:pRg st="3" end="3"/>
                                            </p:txEl>
                                          </p:spTgt>
                                        </p:tgtEl>
                                        <p:attrNameLst>
                                          <p:attrName>style.visibility</p:attrName>
                                        </p:attrNameLst>
                                      </p:cBhvr>
                                      <p:to>
                                        <p:strVal val="visible"/>
                                      </p:to>
                                    </p:set>
                                    <p:animEffect transition="in" filter="randombar(horizontal)">
                                      <p:cBhvr>
                                        <p:cTn id="16" dur="500"/>
                                        <p:tgtEl>
                                          <p:spTgt spid="3">
                                            <p:txEl>
                                              <p:pRg st="3" end="3"/>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4" presetClass="entr" presetSubtype="10" fill="hold" nodeType="click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animEffect transition="in" filter="randombar(horizontal)">
                                      <p:cBhvr>
                                        <p:cTn id="21" dur="500"/>
                                        <p:tgtEl>
                                          <p:spTgt spid="3">
                                            <p:txEl>
                                              <p:pRg st="4" end="4"/>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3">
                                            <p:txEl>
                                              <p:pRg st="5" end="5"/>
                                            </p:txEl>
                                          </p:spTgt>
                                        </p:tgtEl>
                                        <p:attrNameLst>
                                          <p:attrName>style.visibility</p:attrName>
                                        </p:attrNameLst>
                                      </p:cBhvr>
                                      <p:to>
                                        <p:strVal val="visible"/>
                                      </p:to>
                                    </p:set>
                                    <p:animEffect transition="in" filter="randombar(horizontal)">
                                      <p:cBhvr>
                                        <p:cTn id="24" dur="500"/>
                                        <p:tgtEl>
                                          <p:spTgt spid="3">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animEffect transition="in" filter="randombar(horizontal)">
                                      <p:cBhvr>
                                        <p:cTn id="27" dur="500"/>
                                        <p:tgtEl>
                                          <p:spTgt spid="3">
                                            <p:txEl>
                                              <p:pRg st="6" end="6"/>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4" presetClass="entr" presetSubtype="10" fill="hold" nodeType="clickEffect">
                                  <p:stCondLst>
                                    <p:cond delay="0"/>
                                  </p:stCondLst>
                                  <p:childTnLst>
                                    <p:set>
                                      <p:cBhvr>
                                        <p:cTn id="31" dur="1" fill="hold">
                                          <p:stCondLst>
                                            <p:cond delay="0"/>
                                          </p:stCondLst>
                                        </p:cTn>
                                        <p:tgtEl>
                                          <p:spTgt spid="3">
                                            <p:txEl>
                                              <p:pRg st="7" end="7"/>
                                            </p:txEl>
                                          </p:spTgt>
                                        </p:tgtEl>
                                        <p:attrNameLst>
                                          <p:attrName>style.visibility</p:attrName>
                                        </p:attrNameLst>
                                      </p:cBhvr>
                                      <p:to>
                                        <p:strVal val="visible"/>
                                      </p:to>
                                    </p:set>
                                    <p:animEffect transition="in" filter="randombar(horizontal)">
                                      <p:cBhvr>
                                        <p:cTn id="32" dur="50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41C2F8-BB7F-F2F7-FF3C-9B894E6938E9}"/>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C0C1FA0C-CAE7-9D6B-BFD6-511C6CC7CA5B}"/>
              </a:ext>
            </a:extLst>
          </p:cNvPr>
          <p:cNvSpPr>
            <a:spLocks noGrp="1"/>
          </p:cNvSpPr>
          <p:nvPr>
            <p:ph type="title"/>
          </p:nvPr>
        </p:nvSpPr>
        <p:spPr>
          <a:xfrm>
            <a:off x="904875" y="131032"/>
            <a:ext cx="7726363" cy="1072753"/>
          </a:xfrm>
        </p:spPr>
        <p:txBody>
          <a:bodyPr>
            <a:normAutofit/>
          </a:bodyPr>
          <a:lstStyle/>
          <a:p>
            <a:r>
              <a:rPr lang="en-US" dirty="0"/>
              <a:t>4.3	Multi-measurement Diffusion Methods</a:t>
            </a:r>
            <a:br>
              <a:rPr lang="en-US" dirty="0"/>
            </a:br>
            <a:r>
              <a:rPr lang="en-US" sz="2400" b="0" i="1" dirty="0"/>
              <a:t>Background - The reason for time annealing</a:t>
            </a:r>
            <a:endParaRPr lang="en-GB" sz="2400" b="0" i="1" dirty="0"/>
          </a:p>
        </p:txBody>
      </p:sp>
      <p:sp>
        <p:nvSpPr>
          <p:cNvPr id="5" name="Date Placeholder 4">
            <a:extLst>
              <a:ext uri="{FF2B5EF4-FFF2-40B4-BE49-F238E27FC236}">
                <a16:creationId xmlns:a16="http://schemas.microsoft.com/office/drawing/2014/main" id="{7C756B67-A904-C97C-223C-EEEF3272DDA2}"/>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CC811AEC-00FE-D7CC-596D-A30CAEB5CF6D}"/>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557D2C4E-72A1-3376-D7FE-398CF9458CFC}"/>
              </a:ext>
            </a:extLst>
          </p:cNvPr>
          <p:cNvSpPr>
            <a:spLocks noGrp="1"/>
          </p:cNvSpPr>
          <p:nvPr>
            <p:ph type="sldNum" sz="quarter" idx="12"/>
          </p:nvPr>
        </p:nvSpPr>
        <p:spPr/>
        <p:txBody>
          <a:bodyPr/>
          <a:lstStyle/>
          <a:p>
            <a:fld id="{E1E1CD7C-2161-7D43-862E-CE4C333CD873}" type="slidenum">
              <a:rPr lang="fr-FR" smtClean="0"/>
              <a:pPr/>
              <a:t>58</a:t>
            </a:fld>
            <a:endParaRPr lang="fr-FR"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FCFE711B-A0CC-419E-943A-AB60D77DBC11}"/>
                  </a:ext>
                </a:extLst>
              </p:cNvPr>
              <p:cNvSpPr>
                <a:spLocks noGrp="1"/>
              </p:cNvSpPr>
              <p:nvPr>
                <p:ph idx="1"/>
              </p:nvPr>
            </p:nvSpPr>
            <p:spPr>
              <a:xfrm>
                <a:off x="904874" y="1057112"/>
                <a:ext cx="7726363" cy="2319134"/>
              </a:xfrm>
            </p:spPr>
            <p:txBody>
              <a:bodyPr anchor="ctr">
                <a:normAutofit fontScale="85000" lnSpcReduction="20000"/>
              </a:bodyPr>
              <a:lstStyle/>
              <a:p>
                <a:r>
                  <a:rPr lang="en-US" dirty="0">
                    <a:latin typeface="+mj-lt"/>
                  </a:rPr>
                  <a:t>Effect of the diffusion assumption</a:t>
                </a:r>
              </a:p>
              <a:p>
                <a:pPr lvl="1"/>
                <a14:m>
                  <m:oMath xmlns:m="http://schemas.openxmlformats.org/officeDocument/2006/math">
                    <m:sSub>
                      <m:sSubPr>
                        <m:ctrlPr>
                          <a:rPr lang="en-US" b="0" i="1" smtClean="0">
                            <a:latin typeface="Cambria Math" panose="02040503050406030204" pitchFamily="18" charset="0"/>
                          </a:rPr>
                        </m:ctrlPr>
                      </m:sSubPr>
                      <m:e>
                        <m:r>
                          <a:rPr lang="en-US" b="1" i="1" smtClean="0">
                            <a:latin typeface="Cambria Math" panose="02040503050406030204" pitchFamily="18" charset="0"/>
                          </a:rPr>
                          <m:t>𝑿</m:t>
                        </m:r>
                      </m:e>
                      <m:sub>
                        <m:r>
                          <a:rPr lang="en-US" b="0" i="1" smtClean="0">
                            <a:latin typeface="Cambria Math" panose="02040503050406030204" pitchFamily="18" charset="0"/>
                          </a:rPr>
                          <m:t>𝑡</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𝛼</m:t>
                        </m:r>
                      </m:e>
                      <m:sub>
                        <m:r>
                          <a:rPr lang="en-US" b="0" i="1" smtClean="0">
                            <a:latin typeface="Cambria Math" panose="02040503050406030204" pitchFamily="18" charset="0"/>
                          </a:rPr>
                          <m:t>𝑡</m:t>
                        </m:r>
                      </m:sub>
                    </m:sSub>
                    <m:sSub>
                      <m:sSubPr>
                        <m:ctrlPr>
                          <a:rPr lang="en-US" b="0" i="1" smtClean="0">
                            <a:latin typeface="Cambria Math" panose="02040503050406030204" pitchFamily="18" charset="0"/>
                          </a:rPr>
                        </m:ctrlPr>
                      </m:sSubPr>
                      <m:e>
                        <m:r>
                          <a:rPr lang="en-US" b="1" i="1" smtClean="0">
                            <a:latin typeface="Cambria Math" panose="02040503050406030204" pitchFamily="18" charset="0"/>
                          </a:rPr>
                          <m:t>𝑿</m:t>
                        </m:r>
                      </m:e>
                      <m:sub>
                        <m:r>
                          <a:rPr lang="en-US" b="0" i="1" smtClean="0">
                            <a:latin typeface="Cambria Math" panose="02040503050406030204" pitchFamily="18" charset="0"/>
                          </a:rPr>
                          <m:t>0</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𝛽</m:t>
                        </m:r>
                      </m:e>
                      <m:sub>
                        <m:r>
                          <a:rPr lang="en-US" b="0" i="1" smtClean="0">
                            <a:latin typeface="Cambria Math" panose="02040503050406030204" pitchFamily="18" charset="0"/>
                          </a:rPr>
                          <m:t>𝑡</m:t>
                        </m:r>
                      </m:sub>
                    </m:sSub>
                    <m:sSub>
                      <m:sSubPr>
                        <m:ctrlPr>
                          <a:rPr lang="en-US" b="0" i="1" smtClean="0">
                            <a:latin typeface="Cambria Math" panose="02040503050406030204" pitchFamily="18" charset="0"/>
                          </a:rPr>
                        </m:ctrlPr>
                      </m:sSubPr>
                      <m:e>
                        <m:r>
                          <a:rPr lang="en-US" b="0" i="1" smtClean="0">
                            <a:latin typeface="Cambria Math" panose="02040503050406030204" pitchFamily="18" charset="0"/>
                          </a:rPr>
                          <m:t>𝜀</m:t>
                        </m:r>
                      </m:e>
                      <m:sub>
                        <m:r>
                          <a:rPr lang="en-US" b="0" i="1" smtClean="0">
                            <a:latin typeface="Cambria Math" panose="02040503050406030204" pitchFamily="18" charset="0"/>
                          </a:rPr>
                          <m:t>𝑡</m:t>
                        </m:r>
                      </m:sub>
                    </m:sSub>
                  </m:oMath>
                </a14:m>
                <a:endParaRPr lang="en-US" dirty="0">
                  <a:latin typeface="+mj-lt"/>
                </a:endParaRPr>
              </a:p>
              <a:p>
                <a:pPr lvl="1"/>
                <a14:m>
                  <m:oMath xmlns:m="http://schemas.openxmlformats.org/officeDocument/2006/math">
                    <m:r>
                      <a:rPr lang="en-US" b="0" i="1" smtClean="0">
                        <a:latin typeface="Cambria Math" panose="02040503050406030204" pitchFamily="18" charset="0"/>
                      </a:rPr>
                      <m:t>𝑔</m:t>
                    </m:r>
                    <m:d>
                      <m:dPr>
                        <m:ctrlPr>
                          <a:rPr lang="en-US" b="0" i="1" smtClean="0">
                            <a:latin typeface="Cambria Math" panose="02040503050406030204" pitchFamily="18" charset="0"/>
                          </a:rPr>
                        </m:ctrlPr>
                      </m:dPr>
                      <m:e>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b="0" i="1" smtClean="0">
                                <a:latin typeface="Cambria Math" panose="02040503050406030204" pitchFamily="18" charset="0"/>
                              </a:rPr>
                              <m:t>𝑇</m:t>
                            </m:r>
                          </m:sub>
                        </m:sSub>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1" i="1" smtClean="0">
                            <a:latin typeface="Cambria Math" panose="02040503050406030204" pitchFamily="18" charset="0"/>
                          </a:rPr>
                          <m:t>𝑿</m:t>
                        </m:r>
                      </m:e>
                      <m:sub>
                        <m:r>
                          <a:rPr lang="en-US" b="0" i="1" smtClean="0">
                            <a:latin typeface="Cambria Math" panose="02040503050406030204" pitchFamily="18" charset="0"/>
                          </a:rPr>
                          <m:t>0</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sSub>
                          <m:sSubPr>
                            <m:ctrlPr>
                              <a:rPr lang="en-US" b="0" i="1" smtClean="0">
                                <a:latin typeface="Cambria Math" panose="02040503050406030204" pitchFamily="18" charset="0"/>
                              </a:rPr>
                            </m:ctrlPr>
                          </m:sSubPr>
                          <m:e>
                            <m:r>
                              <a:rPr lang="en-US" b="0" i="1" smtClean="0">
                                <a:latin typeface="Cambria Math" panose="02040503050406030204" pitchFamily="18" charset="0"/>
                              </a:rPr>
                              <m:t>𝛼</m:t>
                            </m:r>
                          </m:e>
                          <m:sub>
                            <m:r>
                              <a:rPr lang="en-US" b="0" i="1" smtClean="0">
                                <a:latin typeface="Cambria Math" panose="02040503050406030204" pitchFamily="18" charset="0"/>
                              </a:rPr>
                              <m:t>𝑡</m:t>
                            </m:r>
                          </m:sub>
                        </m:sSub>
                      </m:den>
                    </m:f>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1" i="1" smtClean="0">
                                <a:latin typeface="Cambria Math" panose="02040503050406030204" pitchFamily="18" charset="0"/>
                              </a:rPr>
                              <m:t>𝑿</m:t>
                            </m:r>
                          </m:e>
                          <m:sub>
                            <m:r>
                              <a:rPr lang="en-US" b="0" i="1" smtClean="0">
                                <a:latin typeface="Cambria Math" panose="02040503050406030204" pitchFamily="18" charset="0"/>
                              </a:rPr>
                              <m:t>𝑡</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𝛽</m:t>
                            </m:r>
                          </m:e>
                          <m:sub>
                            <m:r>
                              <a:rPr lang="en-US" b="0" i="1" smtClean="0">
                                <a:latin typeface="Cambria Math" panose="02040503050406030204" pitchFamily="18" charset="0"/>
                              </a:rPr>
                              <m:t>𝑡</m:t>
                            </m:r>
                          </m:sub>
                        </m:sSub>
                        <m:sSub>
                          <m:sSubPr>
                            <m:ctrlPr>
                              <a:rPr lang="en-US" b="0" i="1" smtClean="0">
                                <a:latin typeface="Cambria Math" panose="02040503050406030204" pitchFamily="18" charset="0"/>
                              </a:rPr>
                            </m:ctrlPr>
                          </m:sSubPr>
                          <m:e>
                            <m:r>
                              <a:rPr lang="en-US" b="0" i="1" smtClean="0">
                                <a:latin typeface="Cambria Math" panose="02040503050406030204" pitchFamily="18" charset="0"/>
                              </a:rPr>
                              <m:t>𝜀</m:t>
                            </m:r>
                          </m:e>
                          <m:sub>
                            <m:r>
                              <a:rPr lang="en-US" b="0" i="1" smtClean="0">
                                <a:latin typeface="Cambria Math" panose="02040503050406030204" pitchFamily="18" charset="0"/>
                              </a:rPr>
                              <m:t>𝑡</m:t>
                            </m:r>
                          </m:sub>
                        </m:sSub>
                      </m:e>
                    </m:d>
                  </m:oMath>
                </a14:m>
                <a:endParaRPr lang="en-US" dirty="0">
                  <a:latin typeface="+mj-lt"/>
                </a:endParaRPr>
              </a:p>
              <a:p>
                <a:pPr lvl="1"/>
                <a14:m>
                  <m:oMath xmlns:m="http://schemas.openxmlformats.org/officeDocument/2006/math">
                    <m:sSup>
                      <m:sSupPr>
                        <m:ctrlPr>
                          <a:rPr lang="en-US" b="0" i="1" smtClean="0">
                            <a:latin typeface="Cambria Math" panose="02040503050406030204" pitchFamily="18" charset="0"/>
                          </a:rPr>
                        </m:ctrlPr>
                      </m:sSupPr>
                      <m:e>
                        <m:r>
                          <a:rPr lang="en-US" i="1" smtClean="0">
                            <a:latin typeface="Cambria Math" panose="02040503050406030204" pitchFamily="18" charset="0"/>
                          </a:rPr>
                          <m:t>𝑔</m:t>
                        </m:r>
                      </m:e>
                      <m:sup>
                        <m:r>
                          <a:rPr lang="en-US" b="0" i="1" smtClean="0">
                            <a:latin typeface="Cambria Math" panose="02040503050406030204" pitchFamily="18" charset="0"/>
                          </a:rPr>
                          <m:t>∗</m:t>
                        </m:r>
                      </m:sup>
                    </m:sSup>
                    <m:d>
                      <m:dPr>
                        <m:ctrlPr>
                          <a:rPr lang="en-US" i="1" smtClean="0">
                            <a:latin typeface="Cambria Math" panose="02040503050406030204" pitchFamily="18" charset="0"/>
                          </a:rPr>
                        </m:ctrlPr>
                      </m:dPr>
                      <m:e>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i="1">
                                <a:latin typeface="Cambria Math" panose="02040503050406030204" pitchFamily="18" charset="0"/>
                              </a:rPr>
                              <m:t>𝑇</m:t>
                            </m:r>
                          </m:sub>
                        </m:sSub>
                      </m:e>
                    </m:d>
                    <m:r>
                      <a:rPr lang="en-US" b="0" i="1" smtClean="0">
                        <a:latin typeface="Cambria Math" panose="02040503050406030204" pitchFamily="18" charset="0"/>
                      </a:rPr>
                      <m:t>∼</m:t>
                    </m:r>
                    <m:r>
                      <a:rPr lang="en-US" b="0" i="1" smtClean="0">
                        <a:latin typeface="Cambria Math" panose="02040503050406030204" pitchFamily="18" charset="0"/>
                      </a:rPr>
                      <m:t>𝔼</m:t>
                    </m:r>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1" i="1" smtClean="0">
                                <a:latin typeface="Cambria Math" panose="02040503050406030204" pitchFamily="18" charset="0"/>
                              </a:rPr>
                              <m:t>𝑿</m:t>
                            </m:r>
                          </m:e>
                          <m:sub>
                            <m:r>
                              <a:rPr lang="en-US" b="0" i="1" smtClean="0">
                                <a:latin typeface="Cambria Math" panose="02040503050406030204" pitchFamily="18" charset="0"/>
                              </a:rPr>
                              <m:t>0</m:t>
                            </m:r>
                          </m:sub>
                        </m:sSub>
                      </m:e>
                      <m:e>
                        <m:sSub>
                          <m:sSubPr>
                            <m:ctrlPr>
                              <a:rPr lang="en-US" b="0" i="1" smtClean="0">
                                <a:latin typeface="Cambria Math" panose="02040503050406030204" pitchFamily="18" charset="0"/>
                              </a:rPr>
                            </m:ctrlPr>
                          </m:sSubPr>
                          <m:e>
                            <m:r>
                              <a:rPr lang="en-US" b="1" i="1" smtClean="0">
                                <a:latin typeface="Cambria Math" panose="02040503050406030204" pitchFamily="18" charset="0"/>
                              </a:rPr>
                              <m:t>𝑿</m:t>
                            </m:r>
                          </m:e>
                          <m:sub>
                            <m:r>
                              <a:rPr lang="en-US" b="0" i="1" smtClean="0">
                                <a:latin typeface="Cambria Math" panose="02040503050406030204" pitchFamily="18" charset="0"/>
                              </a:rPr>
                              <m:t>𝑇</m:t>
                            </m:r>
                          </m:sub>
                        </m:sSub>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𝜎</m:t>
                        </m:r>
                      </m:e>
                      <m:sub>
                        <m:r>
                          <a:rPr lang="en-US" b="0" i="1" smtClean="0">
                            <a:latin typeface="Cambria Math" panose="02040503050406030204" pitchFamily="18" charset="0"/>
                          </a:rPr>
                          <m:t>𝑇</m:t>
                        </m:r>
                      </m:sub>
                    </m:sSub>
                    <m:r>
                      <a:rPr lang="en-US" b="0" i="1" smtClean="0">
                        <a:latin typeface="Cambria Math" panose="02040503050406030204" pitchFamily="18" charset="0"/>
                      </a:rPr>
                      <m:t>𝑍</m:t>
                    </m:r>
                  </m:oMath>
                </a14:m>
                <a:r>
                  <a:rPr lang="en-US" b="0" dirty="0">
                    <a:latin typeface="+mj-lt"/>
                  </a:rPr>
                  <a:t>, for Gaussian latent noise</a:t>
                </a:r>
              </a:p>
              <a:p>
                <a:pPr lvl="1"/>
                <a:r>
                  <a:rPr lang="en-US" dirty="0">
                    <a:latin typeface="+mj-lt"/>
                  </a:rPr>
                  <a:t>For the often multi-modal</a:t>
                </a:r>
                <a:r>
                  <a:rPr lang="en-US" dirty="0"/>
                  <a:t> </a:t>
                </a:r>
                <a14:m>
                  <m:oMath xmlns:m="http://schemas.openxmlformats.org/officeDocument/2006/math">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i="1">
                            <a:latin typeface="Cambria Math" panose="02040503050406030204" pitchFamily="18" charset="0"/>
                          </a:rPr>
                          <m:t>0</m:t>
                        </m:r>
                      </m:sub>
                    </m:sSub>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b="0" i="1" smtClean="0">
                            <a:latin typeface="Cambria Math" panose="02040503050406030204" pitchFamily="18" charset="0"/>
                          </a:rPr>
                          <m:t>𝑇</m:t>
                        </m:r>
                      </m:sub>
                    </m:sSub>
                  </m:oMath>
                </a14:m>
                <a:r>
                  <a:rPr lang="en-US" dirty="0">
                    <a:latin typeface="+mj-lt"/>
                  </a:rPr>
                  <a:t>, </a:t>
                </a:r>
                <a14:m>
                  <m:oMath xmlns:m="http://schemas.openxmlformats.org/officeDocument/2006/math">
                    <m:r>
                      <a:rPr lang="en-US" i="1">
                        <a:latin typeface="Cambria Math" panose="02040503050406030204" pitchFamily="18" charset="0"/>
                      </a:rPr>
                      <m:t>𝔼</m:t>
                    </m:r>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i="1">
                                <a:latin typeface="Cambria Math" panose="02040503050406030204" pitchFamily="18" charset="0"/>
                              </a:rPr>
                              <m:t>0</m:t>
                            </m:r>
                          </m:sub>
                        </m:sSub>
                      </m:e>
                      <m:e>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i="1">
                                <a:latin typeface="Cambria Math" panose="02040503050406030204" pitchFamily="18" charset="0"/>
                              </a:rPr>
                              <m:t>𝑇</m:t>
                            </m:r>
                          </m:sub>
                        </m:sSub>
                      </m:e>
                    </m:d>
                  </m:oMath>
                </a14:m>
                <a:r>
                  <a:rPr lang="en-US" b="0" dirty="0">
                    <a:latin typeface="+mj-lt"/>
                  </a:rPr>
                  <a:t> can be the least likely sample…</a:t>
                </a:r>
              </a:p>
              <a:p>
                <a:r>
                  <a:rPr lang="en-US" dirty="0">
                    <a:latin typeface="+mj-lt"/>
                  </a:rPr>
                  <a:t>Benefit of annealing</a:t>
                </a:r>
              </a:p>
              <a:p>
                <a:pPr lvl="1"/>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𝑔</m:t>
                        </m:r>
                      </m:e>
                      <m:sub>
                        <m:r>
                          <a:rPr lang="en-US" b="0" i="1" smtClean="0">
                            <a:latin typeface="Cambria Math" panose="02040503050406030204" pitchFamily="18" charset="0"/>
                          </a:rPr>
                          <m:t>𝑡</m:t>
                        </m:r>
                      </m:sub>
                    </m:sSub>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1" i="1" smtClean="0">
                                <a:latin typeface="Cambria Math" panose="02040503050406030204" pitchFamily="18" charset="0"/>
                              </a:rPr>
                              <m:t>𝑿</m:t>
                            </m:r>
                          </m:e>
                          <m:sub>
                            <m:r>
                              <a:rPr lang="en-US" b="0" i="1" smtClean="0">
                                <a:latin typeface="Cambria Math" panose="02040503050406030204" pitchFamily="18" charset="0"/>
                              </a:rPr>
                              <m:t>𝑡</m:t>
                            </m:r>
                          </m:sub>
                        </m:sSub>
                      </m:e>
                    </m:d>
                    <m:r>
                      <a:rPr lang="en-US" i="1">
                        <a:latin typeface="Cambria Math" panose="02040503050406030204" pitchFamily="18" charset="0"/>
                      </a:rPr>
                      <m:t>≈</m:t>
                    </m:r>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a:rPr lang="en-US" i="1">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1</m:t>
                        </m:r>
                      </m:num>
                      <m:den>
                        <m:sSub>
                          <m:sSubPr>
                            <m:ctrlPr>
                              <a:rPr lang="en-US" i="1">
                                <a:latin typeface="Cambria Math" panose="02040503050406030204" pitchFamily="18" charset="0"/>
                              </a:rPr>
                            </m:ctrlPr>
                          </m:sSubPr>
                          <m:e>
                            <m:r>
                              <a:rPr lang="en-US" i="1">
                                <a:latin typeface="Cambria Math" panose="02040503050406030204" pitchFamily="18" charset="0"/>
                              </a:rPr>
                              <m:t>𝛼</m:t>
                            </m:r>
                          </m:e>
                          <m:sub>
                            <m:r>
                              <a:rPr lang="en-US" i="1">
                                <a:latin typeface="Cambria Math" panose="02040503050406030204" pitchFamily="18" charset="0"/>
                              </a:rPr>
                              <m:t>𝑡</m:t>
                            </m:r>
                          </m:sub>
                        </m:sSub>
                      </m:den>
                    </m:f>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i="1">
                                <a:latin typeface="Cambria Math" panose="02040503050406030204" pitchFamily="18" charset="0"/>
                              </a:rPr>
                              <m:t>𝑡</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𝛽</m:t>
                            </m:r>
                          </m:e>
                          <m:sub>
                            <m:r>
                              <a:rPr lang="en-US" i="1">
                                <a:latin typeface="Cambria Math" panose="02040503050406030204" pitchFamily="18" charset="0"/>
                              </a:rPr>
                              <m:t>𝑡</m:t>
                            </m:r>
                          </m:sub>
                        </m:sSub>
                        <m:sSub>
                          <m:sSubPr>
                            <m:ctrlPr>
                              <a:rPr lang="en-US" i="1">
                                <a:latin typeface="Cambria Math" panose="02040503050406030204" pitchFamily="18" charset="0"/>
                              </a:rPr>
                            </m:ctrlPr>
                          </m:sSubPr>
                          <m:e>
                            <m:r>
                              <a:rPr lang="en-US" i="1">
                                <a:latin typeface="Cambria Math" panose="02040503050406030204" pitchFamily="18" charset="0"/>
                              </a:rPr>
                              <m:t>𝜀</m:t>
                            </m:r>
                          </m:e>
                          <m:sub>
                            <m:r>
                              <a:rPr lang="en-US" i="1">
                                <a:latin typeface="Cambria Math" panose="02040503050406030204" pitchFamily="18" charset="0"/>
                              </a:rPr>
                              <m:t>𝑡</m:t>
                            </m:r>
                          </m:sub>
                        </m:sSub>
                      </m:e>
                    </m:d>
                  </m:oMath>
                </a14:m>
                <a:endParaRPr lang="en-US" dirty="0">
                  <a:latin typeface="+mj-lt"/>
                </a:endParaRPr>
              </a:p>
              <a:p>
                <a:pPr lvl="1"/>
                <a14:m>
                  <m:oMath xmlns:m="http://schemas.openxmlformats.org/officeDocument/2006/math">
                    <m:sSup>
                      <m:sSupPr>
                        <m:ctrlPr>
                          <a:rPr lang="en-US" i="1">
                            <a:latin typeface="Cambria Math" panose="02040503050406030204" pitchFamily="18" charset="0"/>
                          </a:rPr>
                        </m:ctrlPr>
                      </m:sSupPr>
                      <m:e>
                        <m:r>
                          <a:rPr lang="en-US" i="1">
                            <a:latin typeface="Cambria Math" panose="02040503050406030204" pitchFamily="18" charset="0"/>
                          </a:rPr>
                          <m:t>𝑔</m:t>
                        </m:r>
                      </m:e>
                      <m:sup>
                        <m:r>
                          <a:rPr lang="en-US" i="1">
                            <a:latin typeface="Cambria Math" panose="02040503050406030204" pitchFamily="18" charset="0"/>
                          </a:rPr>
                          <m:t>∗</m:t>
                        </m:r>
                      </m:sup>
                    </m:sSup>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i="1">
                                <a:latin typeface="Cambria Math" panose="02040503050406030204" pitchFamily="18" charset="0"/>
                              </a:rPr>
                              <m:t>𝑡</m:t>
                            </m:r>
                          </m:sub>
                        </m:sSub>
                      </m:e>
                    </m:d>
                    <m:r>
                      <a:rPr lang="en-US" i="1">
                        <a:latin typeface="Cambria Math" panose="02040503050406030204" pitchFamily="18" charset="0"/>
                      </a:rPr>
                      <m:t>∼</m:t>
                    </m:r>
                    <m:r>
                      <a:rPr lang="en-US" i="1">
                        <a:latin typeface="Cambria Math" panose="02040503050406030204" pitchFamily="18" charset="0"/>
                      </a:rPr>
                      <m:t>𝔼</m:t>
                    </m:r>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i="1" smtClean="0">
                                <a:latin typeface="Cambria Math" panose="02040503050406030204" pitchFamily="18" charset="0"/>
                              </a:rPr>
                              <m:t>𝑡</m:t>
                            </m:r>
                            <m:r>
                              <a:rPr lang="en-US" b="0" i="1" smtClean="0">
                                <a:latin typeface="Cambria Math" panose="02040503050406030204" pitchFamily="18" charset="0"/>
                              </a:rPr>
                              <m:t>−1</m:t>
                            </m:r>
                          </m:sub>
                        </m:sSub>
                      </m:e>
                      <m:e>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i="1">
                                <a:latin typeface="Cambria Math" panose="02040503050406030204" pitchFamily="18" charset="0"/>
                              </a:rPr>
                              <m:t>𝑡</m:t>
                            </m:r>
                          </m:sub>
                        </m:sSub>
                      </m:e>
                    </m:d>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𝜎</m:t>
                        </m:r>
                      </m:e>
                      <m:sub>
                        <m:r>
                          <a:rPr lang="en-US" b="0" i="1" smtClean="0">
                            <a:latin typeface="Cambria Math" panose="02040503050406030204" pitchFamily="18" charset="0"/>
                          </a:rPr>
                          <m:t>𝑡</m:t>
                        </m:r>
                      </m:sub>
                    </m:sSub>
                    <m:r>
                      <a:rPr lang="en-US" b="0" i="1" smtClean="0">
                        <a:latin typeface="Cambria Math" panose="02040503050406030204" pitchFamily="18" charset="0"/>
                      </a:rPr>
                      <m:t>𝑍</m:t>
                    </m:r>
                  </m:oMath>
                </a14:m>
                <a:endParaRPr lang="en-US" b="0" dirty="0">
                  <a:latin typeface="+mj-lt"/>
                </a:endParaRPr>
              </a:p>
              <a:p>
                <a:pPr lvl="1"/>
                <a14:m>
                  <m:oMath xmlns:m="http://schemas.openxmlformats.org/officeDocument/2006/math">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b="0" i="1" smtClean="0">
                            <a:latin typeface="Cambria Math" panose="02040503050406030204" pitchFamily="18" charset="0"/>
                          </a:rPr>
                          <m:t>𝑡</m:t>
                        </m:r>
                      </m:sub>
                    </m:sSub>
                  </m:oMath>
                </a14:m>
                <a:r>
                  <a:rPr lang="en-US" b="0" dirty="0">
                    <a:latin typeface="+mj-lt"/>
                  </a:rPr>
                  <a:t> more likely to be a single mode Gaussian as we increase </a:t>
                </a:r>
                <a14:m>
                  <m:oMath xmlns:m="http://schemas.openxmlformats.org/officeDocument/2006/math">
                    <m:r>
                      <a:rPr lang="en-US" i="1" smtClean="0">
                        <a:latin typeface="Cambria Math" panose="02040503050406030204" pitchFamily="18" charset="0"/>
                      </a:rPr>
                      <m:t>𝑇</m:t>
                    </m:r>
                  </m:oMath>
                </a14:m>
                <a:r>
                  <a:rPr lang="en-US" b="0" dirty="0">
                    <a:latin typeface="+mj-lt"/>
                  </a:rPr>
                  <a:t>!</a:t>
                </a:r>
                <a:endParaRPr lang="en-US" dirty="0">
                  <a:latin typeface="+mj-lt"/>
                </a:endParaRPr>
              </a:p>
            </p:txBody>
          </p:sp>
        </mc:Choice>
        <mc:Fallback xmlns="">
          <p:sp>
            <p:nvSpPr>
              <p:cNvPr id="3" name="Content Placeholder 2">
                <a:extLst>
                  <a:ext uri="{FF2B5EF4-FFF2-40B4-BE49-F238E27FC236}">
                    <a16:creationId xmlns:a16="http://schemas.microsoft.com/office/drawing/2014/main" id="{FCFE711B-A0CC-419E-943A-AB60D77DBC11}"/>
                  </a:ext>
                </a:extLst>
              </p:cNvPr>
              <p:cNvSpPr>
                <a:spLocks noGrp="1" noRot="1" noChangeAspect="1" noMove="1" noResize="1" noEditPoints="1" noAdjustHandles="1" noChangeArrowheads="1" noChangeShapeType="1" noTextEdit="1"/>
              </p:cNvSpPr>
              <p:nvPr>
                <p:ph idx="1"/>
              </p:nvPr>
            </p:nvSpPr>
            <p:spPr>
              <a:xfrm>
                <a:off x="904874" y="1057112"/>
                <a:ext cx="7726363" cy="2319134"/>
              </a:xfrm>
              <a:blipFill>
                <a:blip r:embed="rId3"/>
                <a:stretch>
                  <a:fillRect t="-2625" b="-2100"/>
                </a:stretch>
              </a:blipFill>
            </p:spPr>
            <p:txBody>
              <a:bodyPr/>
              <a:lstStyle/>
              <a:p>
                <a:r>
                  <a:rPr lang="en-GB">
                    <a:noFill/>
                  </a:rPr>
                  <a:t> </a:t>
                </a:r>
              </a:p>
            </p:txBody>
          </p:sp>
        </mc:Fallback>
      </mc:AlternateContent>
      <p:pic>
        <p:nvPicPr>
          <p:cNvPr id="4" name="Picture 3" descr="A graph on a white sheet&#10;&#10;AI-generated content may be incorrect.">
            <a:extLst>
              <a:ext uri="{FF2B5EF4-FFF2-40B4-BE49-F238E27FC236}">
                <a16:creationId xmlns:a16="http://schemas.microsoft.com/office/drawing/2014/main" id="{75202612-5D6E-61BF-B57C-51D931C2B844}"/>
              </a:ext>
            </a:extLst>
          </p:cNvPr>
          <p:cNvPicPr>
            <a:picLocks noChangeAspect="1"/>
          </p:cNvPicPr>
          <p:nvPr/>
        </p:nvPicPr>
        <p:blipFill>
          <a:blip r:embed="rId4"/>
          <a:stretch>
            <a:fillRect/>
          </a:stretch>
        </p:blipFill>
        <p:spPr>
          <a:xfrm>
            <a:off x="1025642" y="3466447"/>
            <a:ext cx="7484825" cy="1438293"/>
          </a:xfrm>
          <a:prstGeom prst="rect">
            <a:avLst/>
          </a:prstGeom>
        </p:spPr>
      </p:pic>
    </p:spTree>
    <p:extLst>
      <p:ext uri="{BB962C8B-B14F-4D97-AF65-F5344CB8AC3E}">
        <p14:creationId xmlns:p14="http://schemas.microsoft.com/office/powerpoint/2010/main" val="13591270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randombar(horizontal)">
                                      <p:cBhvr>
                                        <p:cTn id="7" dur="500"/>
                                        <p:tgtEl>
                                          <p:spTgt spid="3">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randombar(horizontal)">
                                      <p:cBhvr>
                                        <p:cTn id="10" dur="500"/>
                                        <p:tgtEl>
                                          <p:spTgt spid="3">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Effect transition="in" filter="randombar(horizontal)">
                                      <p:cBhvr>
                                        <p:cTn id="13" dur="500"/>
                                        <p:tgtEl>
                                          <p:spTgt spid="3">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3">
                                            <p:txEl>
                                              <p:pRg st="3" end="3"/>
                                            </p:txEl>
                                          </p:spTgt>
                                        </p:tgtEl>
                                        <p:attrNameLst>
                                          <p:attrName>style.visibility</p:attrName>
                                        </p:attrNameLst>
                                      </p:cBhvr>
                                      <p:to>
                                        <p:strVal val="visible"/>
                                      </p:to>
                                    </p:set>
                                    <p:animEffect transition="in" filter="randombar(horizontal)">
                                      <p:cBhvr>
                                        <p:cTn id="16" dur="500"/>
                                        <p:tgtEl>
                                          <p:spTgt spid="3">
                                            <p:txEl>
                                              <p:pRg st="3" end="3"/>
                                            </p:txEl>
                                          </p:spTgt>
                                        </p:tgtEl>
                                      </p:cBhvr>
                                    </p:animEffect>
                                  </p:childTnLst>
                                </p:cTn>
                              </p:par>
                              <p:par>
                                <p:cTn id="17" presetID="14" presetClass="entr" presetSubtype="10" fill="hold"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animEffect transition="in" filter="randombar(horizontal)">
                                      <p:cBhvr>
                                        <p:cTn id="19" dur="500"/>
                                        <p:tgtEl>
                                          <p:spTgt spid="3">
                                            <p:txEl>
                                              <p:pRg st="4" end="4"/>
                                            </p:txEl>
                                          </p:spTgt>
                                        </p:tgtEl>
                                      </p:cBhvr>
                                    </p:animEffect>
                                  </p:childTnLst>
                                </p:cTn>
                              </p:par>
                              <p:par>
                                <p:cTn id="20" presetID="14" presetClass="entr" presetSubtype="10" fill="hold" nodeType="with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randombar(horizontal)">
                                      <p:cBhvr>
                                        <p:cTn id="22" dur="5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14" presetClass="entr" presetSubtype="10" fill="hold"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animEffect transition="in" filter="randombar(horizontal)">
                                      <p:cBhvr>
                                        <p:cTn id="27" dur="500"/>
                                        <p:tgtEl>
                                          <p:spTgt spid="3">
                                            <p:txEl>
                                              <p:pRg st="5" end="5"/>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3">
                                            <p:txEl>
                                              <p:pRg st="6" end="6"/>
                                            </p:txEl>
                                          </p:spTgt>
                                        </p:tgtEl>
                                        <p:attrNameLst>
                                          <p:attrName>style.visibility</p:attrName>
                                        </p:attrNameLst>
                                      </p:cBhvr>
                                      <p:to>
                                        <p:strVal val="visible"/>
                                      </p:to>
                                    </p:set>
                                    <p:animEffect transition="in" filter="randombar(horizontal)">
                                      <p:cBhvr>
                                        <p:cTn id="30" dur="500"/>
                                        <p:tgtEl>
                                          <p:spTgt spid="3">
                                            <p:txEl>
                                              <p:pRg st="6" end="6"/>
                                            </p:txEl>
                                          </p:spTgt>
                                        </p:tgtEl>
                                      </p:cBhvr>
                                    </p:animEffect>
                                  </p:childTnLst>
                                </p:cTn>
                              </p:par>
                              <p:par>
                                <p:cTn id="31" presetID="14" presetClass="entr" presetSubtype="10" fill="hold" nodeType="withEffect">
                                  <p:stCondLst>
                                    <p:cond delay="0"/>
                                  </p:stCondLst>
                                  <p:childTnLst>
                                    <p:set>
                                      <p:cBhvr>
                                        <p:cTn id="32" dur="1" fill="hold">
                                          <p:stCondLst>
                                            <p:cond delay="0"/>
                                          </p:stCondLst>
                                        </p:cTn>
                                        <p:tgtEl>
                                          <p:spTgt spid="3">
                                            <p:txEl>
                                              <p:pRg st="7" end="7"/>
                                            </p:txEl>
                                          </p:spTgt>
                                        </p:tgtEl>
                                        <p:attrNameLst>
                                          <p:attrName>style.visibility</p:attrName>
                                        </p:attrNameLst>
                                      </p:cBhvr>
                                      <p:to>
                                        <p:strVal val="visible"/>
                                      </p:to>
                                    </p:set>
                                    <p:animEffect transition="in" filter="randombar(horizontal)">
                                      <p:cBhvr>
                                        <p:cTn id="33" dur="500"/>
                                        <p:tgtEl>
                                          <p:spTgt spid="3">
                                            <p:txEl>
                                              <p:pRg st="7" end="7"/>
                                            </p:txEl>
                                          </p:spTgt>
                                        </p:tgtEl>
                                      </p:cBhvr>
                                    </p:animEffect>
                                  </p:childTnLst>
                                </p:cTn>
                              </p:par>
                              <p:par>
                                <p:cTn id="34" presetID="14" presetClass="entr" presetSubtype="10" fill="hold" nodeType="withEffect">
                                  <p:stCondLst>
                                    <p:cond delay="0"/>
                                  </p:stCondLst>
                                  <p:childTnLst>
                                    <p:set>
                                      <p:cBhvr>
                                        <p:cTn id="35" dur="1" fill="hold">
                                          <p:stCondLst>
                                            <p:cond delay="0"/>
                                          </p:stCondLst>
                                        </p:cTn>
                                        <p:tgtEl>
                                          <p:spTgt spid="3">
                                            <p:txEl>
                                              <p:pRg st="8" end="8"/>
                                            </p:txEl>
                                          </p:spTgt>
                                        </p:tgtEl>
                                        <p:attrNameLst>
                                          <p:attrName>style.visibility</p:attrName>
                                        </p:attrNameLst>
                                      </p:cBhvr>
                                      <p:to>
                                        <p:strVal val="visible"/>
                                      </p:to>
                                    </p:set>
                                    <p:animEffect transition="in" filter="randombar(horizontal)">
                                      <p:cBhvr>
                                        <p:cTn id="36" dur="500"/>
                                        <p:tgtEl>
                                          <p:spTgt spid="3">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7DCAF5-32E4-6800-B484-8EEAC122318A}"/>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5E081805-6D4F-EC49-30E3-A964736CC411}"/>
              </a:ext>
            </a:extLst>
          </p:cNvPr>
          <p:cNvSpPr>
            <a:spLocks noGrp="1"/>
          </p:cNvSpPr>
          <p:nvPr>
            <p:ph type="title"/>
          </p:nvPr>
        </p:nvSpPr>
        <p:spPr>
          <a:xfrm>
            <a:off x="904875" y="131032"/>
            <a:ext cx="7726363" cy="1072753"/>
          </a:xfrm>
        </p:spPr>
        <p:txBody>
          <a:bodyPr>
            <a:normAutofit/>
          </a:bodyPr>
          <a:lstStyle/>
          <a:p>
            <a:r>
              <a:rPr lang="en-US" dirty="0"/>
              <a:t>4.3	Multi-measurement Diffusion Methods</a:t>
            </a:r>
            <a:br>
              <a:rPr lang="en-US" dirty="0"/>
            </a:br>
            <a:r>
              <a:rPr lang="en-US" sz="2400" b="0" i="1" dirty="0"/>
              <a:t>Background - The disadvantages of time annealing</a:t>
            </a:r>
            <a:endParaRPr lang="en-GB" sz="2400" b="0" i="1" dirty="0"/>
          </a:p>
        </p:txBody>
      </p:sp>
      <p:sp>
        <p:nvSpPr>
          <p:cNvPr id="5" name="Date Placeholder 4">
            <a:extLst>
              <a:ext uri="{FF2B5EF4-FFF2-40B4-BE49-F238E27FC236}">
                <a16:creationId xmlns:a16="http://schemas.microsoft.com/office/drawing/2014/main" id="{AA9FDDC5-3583-4EA2-ABA4-2489B15146C4}"/>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3EE7839A-D9AE-1783-B153-4DD496836964}"/>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1F7FAA3E-ED30-2B72-EF82-4DA779D5D528}"/>
              </a:ext>
            </a:extLst>
          </p:cNvPr>
          <p:cNvSpPr>
            <a:spLocks noGrp="1"/>
          </p:cNvSpPr>
          <p:nvPr>
            <p:ph type="sldNum" sz="quarter" idx="12"/>
          </p:nvPr>
        </p:nvSpPr>
        <p:spPr/>
        <p:txBody>
          <a:bodyPr/>
          <a:lstStyle/>
          <a:p>
            <a:fld id="{E1E1CD7C-2161-7D43-862E-CE4C333CD873}" type="slidenum">
              <a:rPr lang="fr-FR" smtClean="0"/>
              <a:pPr/>
              <a:t>59</a:t>
            </a:fld>
            <a:endParaRPr lang="fr-FR" dirty="0"/>
          </a:p>
        </p:txBody>
      </p:sp>
      <p:sp>
        <p:nvSpPr>
          <p:cNvPr id="3" name="Content Placeholder 2">
            <a:extLst>
              <a:ext uri="{FF2B5EF4-FFF2-40B4-BE49-F238E27FC236}">
                <a16:creationId xmlns:a16="http://schemas.microsoft.com/office/drawing/2014/main" id="{754CC029-2A24-F64A-A490-8F75931FCFD0}"/>
              </a:ext>
            </a:extLst>
          </p:cNvPr>
          <p:cNvSpPr>
            <a:spLocks noGrp="1"/>
          </p:cNvSpPr>
          <p:nvPr>
            <p:ph idx="1"/>
          </p:nvPr>
        </p:nvSpPr>
        <p:spPr/>
        <p:txBody>
          <a:bodyPr anchor="ctr"/>
          <a:lstStyle/>
          <a:p>
            <a:r>
              <a:rPr lang="en-US" b="0" dirty="0">
                <a:latin typeface="+mj-lt"/>
              </a:rPr>
              <a:t>A collection of generators </a:t>
            </a:r>
            <a:r>
              <a:rPr lang="en-US" dirty="0">
                <a:latin typeface="+mj-lt"/>
              </a:rPr>
              <a:t>only conceptually</a:t>
            </a:r>
          </a:p>
          <a:p>
            <a:pPr lvl="1"/>
            <a:r>
              <a:rPr lang="en-US" b="0" dirty="0">
                <a:latin typeface="+mj-lt"/>
              </a:rPr>
              <a:t>In practice, only one neural networ</a:t>
            </a:r>
            <a:r>
              <a:rPr lang="en-US" dirty="0">
                <a:latin typeface="+mj-lt"/>
              </a:rPr>
              <a:t>k taking the time step as additional input</a:t>
            </a:r>
          </a:p>
          <a:p>
            <a:pPr lvl="1"/>
            <a:r>
              <a:rPr lang="en-US" b="0" dirty="0">
                <a:latin typeface="+mj-lt"/>
              </a:rPr>
              <a:t>Positional time embeddings, noise schedules…</a:t>
            </a:r>
          </a:p>
          <a:p>
            <a:r>
              <a:rPr lang="en-US" dirty="0">
                <a:latin typeface="+mj-lt"/>
              </a:rPr>
              <a:t>Very difficult training and hyperparameter tuning process</a:t>
            </a:r>
          </a:p>
          <a:p>
            <a:pPr lvl="1"/>
            <a:r>
              <a:rPr lang="en-US" dirty="0">
                <a:latin typeface="+mj-lt"/>
              </a:rPr>
              <a:t>Multi-task learning for the denoiser network</a:t>
            </a:r>
          </a:p>
          <a:p>
            <a:pPr lvl="1"/>
            <a:r>
              <a:rPr lang="en-US" dirty="0">
                <a:latin typeface="+mj-lt"/>
              </a:rPr>
              <a:t>At high noise levels, the denoiser must introduce novel signal components</a:t>
            </a:r>
          </a:p>
          <a:p>
            <a:pPr lvl="1"/>
            <a:r>
              <a:rPr lang="en-US" dirty="0">
                <a:latin typeface="+mj-lt"/>
              </a:rPr>
              <a:t>At low noise levels, the denoiser must solely use high-frequency noise</a:t>
            </a:r>
          </a:p>
          <a:p>
            <a:pPr lvl="1"/>
            <a:r>
              <a:rPr lang="en-US" dirty="0">
                <a:latin typeface="+mj-lt"/>
              </a:rPr>
              <a:t>Many steps adding minimal structural detail</a:t>
            </a:r>
          </a:p>
        </p:txBody>
      </p:sp>
    </p:spTree>
    <p:extLst>
      <p:ext uri="{BB962C8B-B14F-4D97-AF65-F5344CB8AC3E}">
        <p14:creationId xmlns:p14="http://schemas.microsoft.com/office/powerpoint/2010/main" val="640387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randombar(horizontal)">
                                      <p:cBhvr>
                                        <p:cTn id="7" dur="500"/>
                                        <p:tgtEl>
                                          <p:spTgt spid="3">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randombar(horizontal)">
                                      <p:cBhvr>
                                        <p:cTn id="10" dur="500"/>
                                        <p:tgtEl>
                                          <p:spTgt spid="3">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Effect transition="in" filter="randombar(horizontal)">
                                      <p:cBhvr>
                                        <p:cTn id="13" dur="500"/>
                                        <p:tgtEl>
                                          <p:spTgt spid="3">
                                            <p:txEl>
                                              <p:pRg st="2" end="2"/>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4" presetClass="entr" presetSubtype="10" fill="hold" nodeType="clickEffect">
                                  <p:stCondLst>
                                    <p:cond delay="0"/>
                                  </p:stCondLst>
                                  <p:childTnLst>
                                    <p:set>
                                      <p:cBhvr>
                                        <p:cTn id="17" dur="1" fill="hold">
                                          <p:stCondLst>
                                            <p:cond delay="0"/>
                                          </p:stCondLst>
                                        </p:cTn>
                                        <p:tgtEl>
                                          <p:spTgt spid="3">
                                            <p:txEl>
                                              <p:pRg st="3" end="3"/>
                                            </p:txEl>
                                          </p:spTgt>
                                        </p:tgtEl>
                                        <p:attrNameLst>
                                          <p:attrName>style.visibility</p:attrName>
                                        </p:attrNameLst>
                                      </p:cBhvr>
                                      <p:to>
                                        <p:strVal val="visible"/>
                                      </p:to>
                                    </p:set>
                                    <p:animEffect transition="in" filter="randombar(horizontal)">
                                      <p:cBhvr>
                                        <p:cTn id="18" dur="500"/>
                                        <p:tgtEl>
                                          <p:spTgt spid="3">
                                            <p:txEl>
                                              <p:pRg st="3" end="3"/>
                                            </p:txEl>
                                          </p:spTgt>
                                        </p:tgtEl>
                                      </p:cBhvr>
                                    </p:animEffect>
                                  </p:childTnLst>
                                </p:cTn>
                              </p:par>
                              <p:par>
                                <p:cTn id="19" presetID="14" presetClass="entr" presetSubtype="10" fill="hold" nodeType="with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animEffect transition="in" filter="randombar(horizontal)">
                                      <p:cBhvr>
                                        <p:cTn id="21" dur="500"/>
                                        <p:tgtEl>
                                          <p:spTgt spid="3">
                                            <p:txEl>
                                              <p:pRg st="4" end="4"/>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3">
                                            <p:txEl>
                                              <p:pRg st="5" end="5"/>
                                            </p:txEl>
                                          </p:spTgt>
                                        </p:tgtEl>
                                        <p:attrNameLst>
                                          <p:attrName>style.visibility</p:attrName>
                                        </p:attrNameLst>
                                      </p:cBhvr>
                                      <p:to>
                                        <p:strVal val="visible"/>
                                      </p:to>
                                    </p:set>
                                    <p:animEffect transition="in" filter="randombar(horizontal)">
                                      <p:cBhvr>
                                        <p:cTn id="24" dur="500"/>
                                        <p:tgtEl>
                                          <p:spTgt spid="3">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animEffect transition="in" filter="randombar(horizontal)">
                                      <p:cBhvr>
                                        <p:cTn id="27" dur="500"/>
                                        <p:tgtEl>
                                          <p:spTgt spid="3">
                                            <p:txEl>
                                              <p:pRg st="6" end="6"/>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3">
                                            <p:txEl>
                                              <p:pRg st="7" end="7"/>
                                            </p:txEl>
                                          </p:spTgt>
                                        </p:tgtEl>
                                        <p:attrNameLst>
                                          <p:attrName>style.visibility</p:attrName>
                                        </p:attrNameLst>
                                      </p:cBhvr>
                                      <p:to>
                                        <p:strVal val="visible"/>
                                      </p:to>
                                    </p:set>
                                    <p:animEffect transition="in" filter="randombar(horizontal)">
                                      <p:cBhvr>
                                        <p:cTn id="30" dur="50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06A151-DA37-1FE9-3109-2B8F8A78CD60}"/>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4813255-1BC5-D972-832B-DE5B0C0F3BBB}"/>
              </a:ext>
            </a:extLst>
          </p:cNvPr>
          <p:cNvSpPr>
            <a:spLocks noGrp="1"/>
          </p:cNvSpPr>
          <p:nvPr>
            <p:ph sz="half" idx="1"/>
          </p:nvPr>
        </p:nvSpPr>
        <p:spPr>
          <a:xfrm>
            <a:off x="904875" y="1563688"/>
            <a:ext cx="4221040" cy="3263504"/>
          </a:xfrm>
        </p:spPr>
        <p:txBody>
          <a:bodyPr anchor="ctr">
            <a:normAutofit fontScale="92500" lnSpcReduction="10000"/>
          </a:bodyPr>
          <a:lstStyle/>
          <a:p>
            <a:r>
              <a:rPr lang="en-US" b="0" dirty="0">
                <a:latin typeface="+mj-lt"/>
              </a:rPr>
              <a:t>Related work - multi-measurements + proximal sampling</a:t>
            </a:r>
          </a:p>
          <a:p>
            <a:r>
              <a:rPr lang="en-US" dirty="0">
                <a:latin typeface="+mj-lt"/>
              </a:rPr>
              <a:t>Multi-measurements of Saremi et al. </a:t>
            </a:r>
            <a:r>
              <a:rPr lang="en-US" dirty="0">
                <a:solidFill>
                  <a:schemeClr val="accent1"/>
                </a:solidFill>
                <a:latin typeface="+mj-lt"/>
              </a:rPr>
              <a:t>[25]</a:t>
            </a:r>
          </a:p>
          <a:p>
            <a:pPr lvl="1"/>
            <a:r>
              <a:rPr lang="en-US" dirty="0">
                <a:latin typeface="+mj-lt"/>
              </a:rPr>
              <a:t>Building sample chains from an e</a:t>
            </a:r>
            <a:r>
              <a:rPr lang="en-US" b="0" dirty="0">
                <a:latin typeface="+mj-lt"/>
              </a:rPr>
              <a:t>nsemble of correlated measurements</a:t>
            </a:r>
          </a:p>
          <a:p>
            <a:pPr lvl="1"/>
            <a:r>
              <a:rPr lang="en-US" dirty="0">
                <a:latin typeface="+mj-lt"/>
              </a:rPr>
              <a:t>Only </a:t>
            </a:r>
            <a:r>
              <a:rPr lang="en-US" i="1" dirty="0">
                <a:latin typeface="+mj-lt"/>
              </a:rPr>
              <a:t>increasingly</a:t>
            </a:r>
            <a:r>
              <a:rPr lang="en-US" dirty="0">
                <a:latin typeface="+mj-lt"/>
              </a:rPr>
              <a:t> log-concave </a:t>
            </a:r>
            <a:r>
              <a:rPr lang="en-US" b="0" dirty="0">
                <a:latin typeface="+mj-lt"/>
              </a:rPr>
              <a:t>over time</a:t>
            </a:r>
          </a:p>
          <a:p>
            <a:r>
              <a:rPr lang="en-US" dirty="0">
                <a:latin typeface="+mj-lt"/>
              </a:rPr>
              <a:t>Proximal sampler of Shen et al. </a:t>
            </a:r>
            <a:r>
              <a:rPr lang="en-US" dirty="0">
                <a:solidFill>
                  <a:schemeClr val="accent1"/>
                </a:solidFill>
                <a:latin typeface="+mj-lt"/>
              </a:rPr>
              <a:t>[11]</a:t>
            </a:r>
          </a:p>
          <a:p>
            <a:pPr lvl="1"/>
            <a:r>
              <a:rPr lang="en-US" dirty="0">
                <a:latin typeface="+mj-lt"/>
              </a:rPr>
              <a:t>Reducing the difficulty of sampling at high noise levels</a:t>
            </a:r>
          </a:p>
          <a:p>
            <a:pPr lvl="1"/>
            <a:r>
              <a:rPr lang="en-US" b="0" i="1" dirty="0">
                <a:latin typeface="+mj-lt"/>
              </a:rPr>
              <a:t>Heuristics</a:t>
            </a:r>
          </a:p>
          <a:p>
            <a:r>
              <a:rPr lang="en-US" dirty="0">
                <a:latin typeface="+mj-lt"/>
              </a:rPr>
              <a:t>The </a:t>
            </a:r>
            <a:r>
              <a:rPr lang="en-US" dirty="0" err="1">
                <a:latin typeface="+mj-lt"/>
              </a:rPr>
              <a:t>MultiProx</a:t>
            </a:r>
            <a:r>
              <a:rPr lang="en-US" dirty="0">
                <a:latin typeface="+mj-lt"/>
              </a:rPr>
              <a:t> sampler </a:t>
            </a:r>
            <a:r>
              <a:rPr lang="en-US" dirty="0">
                <a:solidFill>
                  <a:schemeClr val="accent1"/>
                </a:solidFill>
                <a:latin typeface="+mj-lt"/>
              </a:rPr>
              <a:t>[27]</a:t>
            </a:r>
          </a:p>
          <a:p>
            <a:pPr lvl="1"/>
            <a:r>
              <a:rPr lang="en-US" dirty="0">
                <a:latin typeface="+mj-lt"/>
              </a:rPr>
              <a:t>Theoretically fully log-concave</a:t>
            </a:r>
          </a:p>
          <a:p>
            <a:pPr lvl="1"/>
            <a:r>
              <a:rPr lang="en-US" i="1" dirty="0">
                <a:latin typeface="+mj-lt"/>
              </a:rPr>
              <a:t>Gibbs sampling</a:t>
            </a:r>
          </a:p>
        </p:txBody>
      </p:sp>
      <p:pic>
        <p:nvPicPr>
          <p:cNvPr id="10" name="Content Placeholder 9" descr="A screenshot of a computer program&#10;&#10;AI-generated content may be incorrect.">
            <a:extLst>
              <a:ext uri="{FF2B5EF4-FFF2-40B4-BE49-F238E27FC236}">
                <a16:creationId xmlns:a16="http://schemas.microsoft.com/office/drawing/2014/main" id="{6FF9799D-27E1-D18B-86D5-F263E4873CE3}"/>
              </a:ext>
            </a:extLst>
          </p:cNvPr>
          <p:cNvPicPr>
            <a:picLocks noGrp="1" noChangeAspect="1"/>
          </p:cNvPicPr>
          <p:nvPr>
            <p:ph sz="half" idx="2"/>
          </p:nvPr>
        </p:nvPicPr>
        <p:blipFill>
          <a:blip r:embed="rId3"/>
          <a:stretch>
            <a:fillRect/>
          </a:stretch>
        </p:blipFill>
        <p:spPr>
          <a:xfrm>
            <a:off x="4959350" y="2222894"/>
            <a:ext cx="3671888" cy="1945487"/>
          </a:xfrm>
        </p:spPr>
      </p:pic>
      <p:sp>
        <p:nvSpPr>
          <p:cNvPr id="8" name="Title 7">
            <a:extLst>
              <a:ext uri="{FF2B5EF4-FFF2-40B4-BE49-F238E27FC236}">
                <a16:creationId xmlns:a16="http://schemas.microsoft.com/office/drawing/2014/main" id="{7B5B8BBC-58B4-B863-C654-711DF1062598}"/>
              </a:ext>
            </a:extLst>
          </p:cNvPr>
          <p:cNvSpPr>
            <a:spLocks noGrp="1"/>
          </p:cNvSpPr>
          <p:nvPr>
            <p:ph type="title"/>
          </p:nvPr>
        </p:nvSpPr>
        <p:spPr>
          <a:xfrm>
            <a:off x="904875" y="131032"/>
            <a:ext cx="7726363" cy="1072753"/>
          </a:xfrm>
        </p:spPr>
        <p:txBody>
          <a:bodyPr>
            <a:normAutofit/>
          </a:bodyPr>
          <a:lstStyle/>
          <a:p>
            <a:r>
              <a:rPr lang="en-US" dirty="0"/>
              <a:t>4.3	Multi-measurement Diffusion Methods</a:t>
            </a:r>
            <a:br>
              <a:rPr lang="en-US" dirty="0"/>
            </a:br>
            <a:r>
              <a:rPr lang="en-US" sz="2400" b="0" i="1" dirty="0"/>
              <a:t>The </a:t>
            </a:r>
            <a:r>
              <a:rPr lang="en-US" sz="2400" b="0" i="1" dirty="0" err="1"/>
              <a:t>MultiProx</a:t>
            </a:r>
            <a:r>
              <a:rPr lang="en-US" sz="2400" b="0" i="1" dirty="0"/>
              <a:t> sampler - Theory</a:t>
            </a:r>
            <a:endParaRPr lang="en-GB" sz="2400" b="0" i="1" dirty="0"/>
          </a:p>
        </p:txBody>
      </p:sp>
      <p:sp>
        <p:nvSpPr>
          <p:cNvPr id="5" name="Date Placeholder 4">
            <a:extLst>
              <a:ext uri="{FF2B5EF4-FFF2-40B4-BE49-F238E27FC236}">
                <a16:creationId xmlns:a16="http://schemas.microsoft.com/office/drawing/2014/main" id="{C91AB68E-411B-95F7-2CE2-01298E9A0185}"/>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0EE2539C-7CC9-4A8F-4E05-87C9CE1B05AE}"/>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023CB6E2-0108-ECA2-93EA-C5DCA1C96B35}"/>
              </a:ext>
            </a:extLst>
          </p:cNvPr>
          <p:cNvSpPr>
            <a:spLocks noGrp="1"/>
          </p:cNvSpPr>
          <p:nvPr>
            <p:ph type="sldNum" sz="quarter" idx="12"/>
          </p:nvPr>
        </p:nvSpPr>
        <p:spPr/>
        <p:txBody>
          <a:bodyPr/>
          <a:lstStyle/>
          <a:p>
            <a:fld id="{E1E1CD7C-2161-7D43-862E-CE4C333CD873}" type="slidenum">
              <a:rPr lang="fr-FR" smtClean="0"/>
              <a:pPr/>
              <a:t>60</a:t>
            </a:fld>
            <a:endParaRPr lang="fr-FR" dirty="0"/>
          </a:p>
        </p:txBody>
      </p:sp>
    </p:spTree>
    <p:extLst>
      <p:ext uri="{BB962C8B-B14F-4D97-AF65-F5344CB8AC3E}">
        <p14:creationId xmlns:p14="http://schemas.microsoft.com/office/powerpoint/2010/main" val="30052196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randombar(horizontal)">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randombar(horizontal)">
                                      <p:cBhvr>
                                        <p:cTn id="12" dur="500"/>
                                        <p:tgtEl>
                                          <p:spTgt spid="3">
                                            <p:txEl>
                                              <p:pRg st="1" end="1"/>
                                            </p:txEl>
                                          </p:spTgt>
                                        </p:tgtEl>
                                      </p:cBhvr>
                                    </p:animEffect>
                                  </p:childTnLst>
                                </p:cTn>
                              </p:par>
                              <p:par>
                                <p:cTn id="13" presetID="14" presetClass="entr" presetSubtype="10" fill="hold" nodeType="with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randombar(horizontal)">
                                      <p:cBhvr>
                                        <p:cTn id="15" dur="500"/>
                                        <p:tgtEl>
                                          <p:spTgt spid="3">
                                            <p:txEl>
                                              <p:pRg st="2" end="2"/>
                                            </p:txEl>
                                          </p:spTgt>
                                        </p:tgtEl>
                                      </p:cBhvr>
                                    </p:animEffect>
                                  </p:childTnLst>
                                </p:cTn>
                              </p:par>
                              <p:par>
                                <p:cTn id="16" presetID="14" presetClass="entr" presetSubtype="10" fill="hold" nodeType="withEffect">
                                  <p:stCondLst>
                                    <p:cond delay="0"/>
                                  </p:stCondLst>
                                  <p:childTnLst>
                                    <p:set>
                                      <p:cBhvr>
                                        <p:cTn id="17" dur="1" fill="hold">
                                          <p:stCondLst>
                                            <p:cond delay="0"/>
                                          </p:stCondLst>
                                        </p:cTn>
                                        <p:tgtEl>
                                          <p:spTgt spid="3">
                                            <p:txEl>
                                              <p:pRg st="3" end="3"/>
                                            </p:txEl>
                                          </p:spTgt>
                                        </p:tgtEl>
                                        <p:attrNameLst>
                                          <p:attrName>style.visibility</p:attrName>
                                        </p:attrNameLst>
                                      </p:cBhvr>
                                      <p:to>
                                        <p:strVal val="visible"/>
                                      </p:to>
                                    </p:set>
                                    <p:animEffect transition="in" filter="randombar(horizontal)">
                                      <p:cBhvr>
                                        <p:cTn id="18" dur="500"/>
                                        <p:tgtEl>
                                          <p:spTgt spid="3">
                                            <p:txEl>
                                              <p:pRg st="3" end="3"/>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4" presetClass="entr" presetSubtype="10" fill="hold"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animEffect transition="in" filter="randombar(horizontal)">
                                      <p:cBhvr>
                                        <p:cTn id="23" dur="500"/>
                                        <p:tgtEl>
                                          <p:spTgt spid="3">
                                            <p:txEl>
                                              <p:pRg st="4" end="4"/>
                                            </p:txEl>
                                          </p:spTgt>
                                        </p:tgtEl>
                                      </p:cBhvr>
                                    </p:animEffect>
                                  </p:childTnLst>
                                </p:cTn>
                              </p:par>
                              <p:par>
                                <p:cTn id="24" presetID="14" presetClass="entr" presetSubtype="10" fill="hold" nodeType="withEffect">
                                  <p:stCondLst>
                                    <p:cond delay="0"/>
                                  </p:stCondLst>
                                  <p:childTnLst>
                                    <p:set>
                                      <p:cBhvr>
                                        <p:cTn id="25" dur="1" fill="hold">
                                          <p:stCondLst>
                                            <p:cond delay="0"/>
                                          </p:stCondLst>
                                        </p:cTn>
                                        <p:tgtEl>
                                          <p:spTgt spid="3">
                                            <p:txEl>
                                              <p:pRg st="5" end="5"/>
                                            </p:txEl>
                                          </p:spTgt>
                                        </p:tgtEl>
                                        <p:attrNameLst>
                                          <p:attrName>style.visibility</p:attrName>
                                        </p:attrNameLst>
                                      </p:cBhvr>
                                      <p:to>
                                        <p:strVal val="visible"/>
                                      </p:to>
                                    </p:set>
                                    <p:animEffect transition="in" filter="randombar(horizontal)">
                                      <p:cBhvr>
                                        <p:cTn id="26" dur="500"/>
                                        <p:tgtEl>
                                          <p:spTgt spid="3">
                                            <p:txEl>
                                              <p:pRg st="5" end="5"/>
                                            </p:txEl>
                                          </p:spTgt>
                                        </p:tgtEl>
                                      </p:cBhvr>
                                    </p:animEffect>
                                  </p:childTnLst>
                                </p:cTn>
                              </p:par>
                              <p:par>
                                <p:cTn id="27" presetID="14" presetClass="entr" presetSubtype="10" fill="hold" nodeType="withEffect">
                                  <p:stCondLst>
                                    <p:cond delay="0"/>
                                  </p:stCondLst>
                                  <p:childTnLst>
                                    <p:set>
                                      <p:cBhvr>
                                        <p:cTn id="28" dur="1" fill="hold">
                                          <p:stCondLst>
                                            <p:cond delay="0"/>
                                          </p:stCondLst>
                                        </p:cTn>
                                        <p:tgtEl>
                                          <p:spTgt spid="3">
                                            <p:txEl>
                                              <p:pRg st="6" end="6"/>
                                            </p:txEl>
                                          </p:spTgt>
                                        </p:tgtEl>
                                        <p:attrNameLst>
                                          <p:attrName>style.visibility</p:attrName>
                                        </p:attrNameLst>
                                      </p:cBhvr>
                                      <p:to>
                                        <p:strVal val="visible"/>
                                      </p:to>
                                    </p:set>
                                    <p:animEffect transition="in" filter="randombar(horizontal)">
                                      <p:cBhvr>
                                        <p:cTn id="29" dur="500"/>
                                        <p:tgtEl>
                                          <p:spTgt spid="3">
                                            <p:txEl>
                                              <p:pRg st="6" end="6"/>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14" presetClass="entr" presetSubtype="10" fill="hold" nodeType="clickEffect">
                                  <p:stCondLst>
                                    <p:cond delay="0"/>
                                  </p:stCondLst>
                                  <p:childTnLst>
                                    <p:set>
                                      <p:cBhvr>
                                        <p:cTn id="33" dur="1" fill="hold">
                                          <p:stCondLst>
                                            <p:cond delay="0"/>
                                          </p:stCondLst>
                                        </p:cTn>
                                        <p:tgtEl>
                                          <p:spTgt spid="3">
                                            <p:txEl>
                                              <p:pRg st="7" end="7"/>
                                            </p:txEl>
                                          </p:spTgt>
                                        </p:tgtEl>
                                        <p:attrNameLst>
                                          <p:attrName>style.visibility</p:attrName>
                                        </p:attrNameLst>
                                      </p:cBhvr>
                                      <p:to>
                                        <p:strVal val="visible"/>
                                      </p:to>
                                    </p:set>
                                    <p:animEffect transition="in" filter="randombar(horizontal)">
                                      <p:cBhvr>
                                        <p:cTn id="34" dur="500"/>
                                        <p:tgtEl>
                                          <p:spTgt spid="3">
                                            <p:txEl>
                                              <p:pRg st="7" end="7"/>
                                            </p:txEl>
                                          </p:spTgt>
                                        </p:tgtEl>
                                      </p:cBhvr>
                                    </p:animEffect>
                                  </p:childTnLst>
                                </p:cTn>
                              </p:par>
                              <p:par>
                                <p:cTn id="35" presetID="14" presetClass="entr" presetSubtype="10" fill="hold" nodeType="withEffect">
                                  <p:stCondLst>
                                    <p:cond delay="0"/>
                                  </p:stCondLst>
                                  <p:childTnLst>
                                    <p:set>
                                      <p:cBhvr>
                                        <p:cTn id="36" dur="1" fill="hold">
                                          <p:stCondLst>
                                            <p:cond delay="0"/>
                                          </p:stCondLst>
                                        </p:cTn>
                                        <p:tgtEl>
                                          <p:spTgt spid="3">
                                            <p:txEl>
                                              <p:pRg st="8" end="8"/>
                                            </p:txEl>
                                          </p:spTgt>
                                        </p:tgtEl>
                                        <p:attrNameLst>
                                          <p:attrName>style.visibility</p:attrName>
                                        </p:attrNameLst>
                                      </p:cBhvr>
                                      <p:to>
                                        <p:strVal val="visible"/>
                                      </p:to>
                                    </p:set>
                                    <p:animEffect transition="in" filter="randombar(horizontal)">
                                      <p:cBhvr>
                                        <p:cTn id="37" dur="500"/>
                                        <p:tgtEl>
                                          <p:spTgt spid="3">
                                            <p:txEl>
                                              <p:pRg st="8" end="8"/>
                                            </p:txEl>
                                          </p:spTgt>
                                        </p:tgtEl>
                                      </p:cBhvr>
                                    </p:animEffect>
                                  </p:childTnLst>
                                </p:cTn>
                              </p:par>
                              <p:par>
                                <p:cTn id="38" presetID="14" presetClass="entr" presetSubtype="10" fill="hold" nodeType="withEffect">
                                  <p:stCondLst>
                                    <p:cond delay="0"/>
                                  </p:stCondLst>
                                  <p:childTnLst>
                                    <p:set>
                                      <p:cBhvr>
                                        <p:cTn id="39" dur="1" fill="hold">
                                          <p:stCondLst>
                                            <p:cond delay="0"/>
                                          </p:stCondLst>
                                        </p:cTn>
                                        <p:tgtEl>
                                          <p:spTgt spid="3">
                                            <p:txEl>
                                              <p:pRg st="9" end="9"/>
                                            </p:txEl>
                                          </p:spTgt>
                                        </p:tgtEl>
                                        <p:attrNameLst>
                                          <p:attrName>style.visibility</p:attrName>
                                        </p:attrNameLst>
                                      </p:cBhvr>
                                      <p:to>
                                        <p:strVal val="visible"/>
                                      </p:to>
                                    </p:set>
                                    <p:animEffect transition="in" filter="randombar(horizontal)">
                                      <p:cBhvr>
                                        <p:cTn id="40" dur="500"/>
                                        <p:tgtEl>
                                          <p:spTgt spid="3">
                                            <p:txEl>
                                              <p:pRg st="9" end="9"/>
                                            </p:txEl>
                                          </p:spTgt>
                                        </p:tgtEl>
                                      </p:cBhvr>
                                    </p:animEffect>
                                  </p:childTnLst>
                                </p:cTn>
                              </p:par>
                              <p:par>
                                <p:cTn id="41" presetID="14" presetClass="entr" presetSubtype="10" fill="hold" nodeType="withEffect">
                                  <p:stCondLst>
                                    <p:cond delay="0"/>
                                  </p:stCondLst>
                                  <p:childTnLst>
                                    <p:set>
                                      <p:cBhvr>
                                        <p:cTn id="42" dur="1" fill="hold">
                                          <p:stCondLst>
                                            <p:cond delay="0"/>
                                          </p:stCondLst>
                                        </p:cTn>
                                        <p:tgtEl>
                                          <p:spTgt spid="10"/>
                                        </p:tgtEl>
                                        <p:attrNameLst>
                                          <p:attrName>style.visibility</p:attrName>
                                        </p:attrNameLst>
                                      </p:cBhvr>
                                      <p:to>
                                        <p:strVal val="visible"/>
                                      </p:to>
                                    </p:set>
                                    <p:animEffect transition="in" filter="randombar(horizontal)">
                                      <p:cBhvr>
                                        <p:cTn id="43"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738AF1-EC31-28FC-0A7E-879159E9844B}"/>
            </a:ext>
          </a:extLst>
        </p:cNvPr>
        <p:cNvGrpSpPr/>
        <p:nvPr/>
      </p:nvGrpSpPr>
      <p:grpSpPr>
        <a:xfrm>
          <a:off x="0" y="0"/>
          <a:ext cx="0" cy="0"/>
          <a:chOff x="0" y="0"/>
          <a:chExt cx="0" cy="0"/>
        </a:xfrm>
      </p:grpSpPr>
      <p:pic>
        <p:nvPicPr>
          <p:cNvPr id="11" name="Content Placeholder 10" descr="A screenshot of a computer&#10;&#10;AI-generated content may be incorrect.">
            <a:extLst>
              <a:ext uri="{FF2B5EF4-FFF2-40B4-BE49-F238E27FC236}">
                <a16:creationId xmlns:a16="http://schemas.microsoft.com/office/drawing/2014/main" id="{E65E644D-FE8E-F167-CA85-7F3EF66244A2}"/>
              </a:ext>
            </a:extLst>
          </p:cNvPr>
          <p:cNvPicPr>
            <a:picLocks noGrp="1" noChangeAspect="1"/>
          </p:cNvPicPr>
          <p:nvPr>
            <p:ph idx="1"/>
          </p:nvPr>
        </p:nvPicPr>
        <p:blipFill>
          <a:blip r:embed="rId3"/>
          <a:stretch>
            <a:fillRect/>
          </a:stretch>
        </p:blipFill>
        <p:spPr>
          <a:xfrm>
            <a:off x="1163713" y="1563688"/>
            <a:ext cx="7208686" cy="3386137"/>
          </a:xfrm>
        </p:spPr>
      </p:pic>
      <p:sp>
        <p:nvSpPr>
          <p:cNvPr id="8" name="Title 7">
            <a:extLst>
              <a:ext uri="{FF2B5EF4-FFF2-40B4-BE49-F238E27FC236}">
                <a16:creationId xmlns:a16="http://schemas.microsoft.com/office/drawing/2014/main" id="{2B09D6B3-367E-2E07-F704-F1BD3669E91E}"/>
              </a:ext>
            </a:extLst>
          </p:cNvPr>
          <p:cNvSpPr>
            <a:spLocks noGrp="1"/>
          </p:cNvSpPr>
          <p:nvPr>
            <p:ph type="title"/>
          </p:nvPr>
        </p:nvSpPr>
        <p:spPr>
          <a:xfrm>
            <a:off x="904875" y="131032"/>
            <a:ext cx="7726363" cy="1072753"/>
          </a:xfrm>
        </p:spPr>
        <p:txBody>
          <a:bodyPr>
            <a:normAutofit/>
          </a:bodyPr>
          <a:lstStyle/>
          <a:p>
            <a:r>
              <a:rPr lang="en-US" dirty="0"/>
              <a:t>4.3	Multi-measurement Diffusion Methods</a:t>
            </a:r>
            <a:br>
              <a:rPr lang="en-US" dirty="0"/>
            </a:br>
            <a:r>
              <a:rPr lang="en-US" sz="2400" b="0" i="1" dirty="0"/>
              <a:t>The </a:t>
            </a:r>
            <a:r>
              <a:rPr lang="en-US" sz="2400" b="0" i="1" dirty="0" err="1"/>
              <a:t>MultiProx</a:t>
            </a:r>
            <a:r>
              <a:rPr lang="en-US" sz="2400" b="0" i="1" dirty="0"/>
              <a:t> sampler - Visually</a:t>
            </a:r>
            <a:endParaRPr lang="en-GB" sz="2400" b="0" i="1" dirty="0"/>
          </a:p>
        </p:txBody>
      </p:sp>
      <p:sp>
        <p:nvSpPr>
          <p:cNvPr id="5" name="Date Placeholder 4">
            <a:extLst>
              <a:ext uri="{FF2B5EF4-FFF2-40B4-BE49-F238E27FC236}">
                <a16:creationId xmlns:a16="http://schemas.microsoft.com/office/drawing/2014/main" id="{75E4D8B4-EEB7-D373-E488-8547930D1A4F}"/>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639B5DD0-2BDB-A2C5-6EC5-B3D542A8A518}"/>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6DE9ED87-EA19-C4F5-3E73-9E7F26E4E04A}"/>
              </a:ext>
            </a:extLst>
          </p:cNvPr>
          <p:cNvSpPr>
            <a:spLocks noGrp="1"/>
          </p:cNvSpPr>
          <p:nvPr>
            <p:ph type="sldNum" sz="quarter" idx="12"/>
          </p:nvPr>
        </p:nvSpPr>
        <p:spPr/>
        <p:txBody>
          <a:bodyPr/>
          <a:lstStyle/>
          <a:p>
            <a:fld id="{E1E1CD7C-2161-7D43-862E-CE4C333CD873}" type="slidenum">
              <a:rPr lang="fr-FR" smtClean="0"/>
              <a:pPr/>
              <a:t>61</a:t>
            </a:fld>
            <a:endParaRPr lang="fr-FR" dirty="0"/>
          </a:p>
        </p:txBody>
      </p:sp>
    </p:spTree>
    <p:extLst>
      <p:ext uri="{BB962C8B-B14F-4D97-AF65-F5344CB8AC3E}">
        <p14:creationId xmlns:p14="http://schemas.microsoft.com/office/powerpoint/2010/main" val="40747747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randombar(horizontal)">
                                      <p:cBhvr>
                                        <p:cTn id="7"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20C6A0-4170-401E-9445-224817B8430C}"/>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281F8992-A08E-89F7-E2CA-D3CA1B716776}"/>
              </a:ext>
            </a:extLst>
          </p:cNvPr>
          <p:cNvSpPr>
            <a:spLocks noGrp="1"/>
          </p:cNvSpPr>
          <p:nvPr>
            <p:ph type="title"/>
          </p:nvPr>
        </p:nvSpPr>
        <p:spPr>
          <a:xfrm>
            <a:off x="904875" y="131032"/>
            <a:ext cx="7726363" cy="1072753"/>
          </a:xfrm>
        </p:spPr>
        <p:txBody>
          <a:bodyPr>
            <a:normAutofit/>
          </a:bodyPr>
          <a:lstStyle/>
          <a:p>
            <a:r>
              <a:rPr lang="en-US" dirty="0"/>
              <a:t>4.3	Multi-measurement Diffusion Methods</a:t>
            </a:r>
            <a:br>
              <a:rPr lang="en-US" dirty="0"/>
            </a:br>
            <a:r>
              <a:rPr lang="en-US" sz="2400" b="0" i="1" dirty="0"/>
              <a:t>Results - Images</a:t>
            </a:r>
            <a:endParaRPr lang="en-GB" sz="2400" b="0" i="1" dirty="0"/>
          </a:p>
        </p:txBody>
      </p:sp>
      <p:sp>
        <p:nvSpPr>
          <p:cNvPr id="5" name="Date Placeholder 4">
            <a:extLst>
              <a:ext uri="{FF2B5EF4-FFF2-40B4-BE49-F238E27FC236}">
                <a16:creationId xmlns:a16="http://schemas.microsoft.com/office/drawing/2014/main" id="{93ED1352-8782-A155-ADE1-B4B6BEB26E77}"/>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A9BB4942-4404-81B0-C25A-DFD519325C4E}"/>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F4D03E0A-DBF2-83A5-6529-BDA4F639E726}"/>
              </a:ext>
            </a:extLst>
          </p:cNvPr>
          <p:cNvSpPr>
            <a:spLocks noGrp="1"/>
          </p:cNvSpPr>
          <p:nvPr>
            <p:ph type="sldNum" sz="quarter" idx="12"/>
          </p:nvPr>
        </p:nvSpPr>
        <p:spPr/>
        <p:txBody>
          <a:bodyPr/>
          <a:lstStyle/>
          <a:p>
            <a:fld id="{E1E1CD7C-2161-7D43-862E-CE4C333CD873}" type="slidenum">
              <a:rPr lang="fr-FR" smtClean="0"/>
              <a:pPr/>
              <a:t>62</a:t>
            </a:fld>
            <a:endParaRPr lang="fr-FR" dirty="0"/>
          </a:p>
        </p:txBody>
      </p:sp>
      <p:pic>
        <p:nvPicPr>
          <p:cNvPr id="9" name="Content Placeholder 8" descr="A collage of images of birds&#10;&#10;AI-generated content may be incorrect.">
            <a:extLst>
              <a:ext uri="{FF2B5EF4-FFF2-40B4-BE49-F238E27FC236}">
                <a16:creationId xmlns:a16="http://schemas.microsoft.com/office/drawing/2014/main" id="{A4C5D4EA-3244-AA5A-F9F8-DBFB9E624429}"/>
              </a:ext>
            </a:extLst>
          </p:cNvPr>
          <p:cNvPicPr>
            <a:picLocks noGrp="1" noChangeAspect="1"/>
          </p:cNvPicPr>
          <p:nvPr>
            <p:ph idx="1"/>
          </p:nvPr>
        </p:nvPicPr>
        <p:blipFill>
          <a:blip r:embed="rId3"/>
          <a:stretch>
            <a:fillRect/>
          </a:stretch>
        </p:blipFill>
        <p:spPr>
          <a:xfrm>
            <a:off x="2287740" y="945587"/>
            <a:ext cx="4960630" cy="793701"/>
          </a:xfrm>
        </p:spPr>
      </p:pic>
      <p:pic>
        <p:nvPicPr>
          <p:cNvPr id="12" name="Picture 11" descr="A collage of different cats&#10;&#10;AI-generated content may be incorrect.">
            <a:extLst>
              <a:ext uri="{FF2B5EF4-FFF2-40B4-BE49-F238E27FC236}">
                <a16:creationId xmlns:a16="http://schemas.microsoft.com/office/drawing/2014/main" id="{48077CDF-5D40-38D5-2D6D-73790C6089B1}"/>
              </a:ext>
            </a:extLst>
          </p:cNvPr>
          <p:cNvPicPr>
            <a:picLocks noChangeAspect="1"/>
          </p:cNvPicPr>
          <p:nvPr/>
        </p:nvPicPr>
        <p:blipFill>
          <a:blip r:embed="rId4"/>
          <a:stretch>
            <a:fillRect/>
          </a:stretch>
        </p:blipFill>
        <p:spPr>
          <a:xfrm>
            <a:off x="2554060" y="1844960"/>
            <a:ext cx="4427991" cy="1106426"/>
          </a:xfrm>
          <a:prstGeom prst="rect">
            <a:avLst/>
          </a:prstGeom>
        </p:spPr>
      </p:pic>
      <p:pic>
        <p:nvPicPr>
          <p:cNvPr id="14" name="Picture 13" descr="A collage of a group of people&#10;&#10;AI-generated content may be incorrect.">
            <a:extLst>
              <a:ext uri="{FF2B5EF4-FFF2-40B4-BE49-F238E27FC236}">
                <a16:creationId xmlns:a16="http://schemas.microsoft.com/office/drawing/2014/main" id="{8677BB90-D35F-8BEF-7065-990DD626681F}"/>
              </a:ext>
            </a:extLst>
          </p:cNvPr>
          <p:cNvPicPr>
            <a:picLocks noChangeAspect="1"/>
          </p:cNvPicPr>
          <p:nvPr/>
        </p:nvPicPr>
        <p:blipFill>
          <a:blip r:embed="rId5"/>
          <a:stretch>
            <a:fillRect/>
          </a:stretch>
        </p:blipFill>
        <p:spPr>
          <a:xfrm>
            <a:off x="2941292" y="3016477"/>
            <a:ext cx="3543307" cy="1771196"/>
          </a:xfrm>
          <a:prstGeom prst="rect">
            <a:avLst/>
          </a:prstGeom>
        </p:spPr>
      </p:pic>
    </p:spTree>
    <p:extLst>
      <p:ext uri="{BB962C8B-B14F-4D97-AF65-F5344CB8AC3E}">
        <p14:creationId xmlns:p14="http://schemas.microsoft.com/office/powerpoint/2010/main" val="22535924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randombar(horizontal)">
                                      <p:cBhvr>
                                        <p:cTn id="7" dur="500"/>
                                        <p:tgtEl>
                                          <p:spTgt spid="9"/>
                                        </p:tgtEl>
                                      </p:cBhvr>
                                    </p:animEffect>
                                  </p:childTnLst>
                                </p:cTn>
                              </p:par>
                            </p:childTnLst>
                          </p:cTn>
                        </p:par>
                        <p:par>
                          <p:cTn id="8" fill="hold">
                            <p:stCondLst>
                              <p:cond delay="500"/>
                            </p:stCondLst>
                            <p:childTnLst>
                              <p:par>
                                <p:cTn id="9" presetID="14" presetClass="entr" presetSubtype="10" fill="hold" nodeType="afterEffect">
                                  <p:stCondLst>
                                    <p:cond delay="0"/>
                                  </p:stCondLst>
                                  <p:childTnLst>
                                    <p:set>
                                      <p:cBhvr>
                                        <p:cTn id="10" dur="1" fill="hold">
                                          <p:stCondLst>
                                            <p:cond delay="0"/>
                                          </p:stCondLst>
                                        </p:cTn>
                                        <p:tgtEl>
                                          <p:spTgt spid="12"/>
                                        </p:tgtEl>
                                        <p:attrNameLst>
                                          <p:attrName>style.visibility</p:attrName>
                                        </p:attrNameLst>
                                      </p:cBhvr>
                                      <p:to>
                                        <p:strVal val="visible"/>
                                      </p:to>
                                    </p:set>
                                    <p:animEffect transition="in" filter="randombar(horizontal)">
                                      <p:cBhvr>
                                        <p:cTn id="11" dur="500"/>
                                        <p:tgtEl>
                                          <p:spTgt spid="12"/>
                                        </p:tgtEl>
                                      </p:cBhvr>
                                    </p:animEffect>
                                  </p:childTnLst>
                                </p:cTn>
                              </p:par>
                            </p:childTnLst>
                          </p:cTn>
                        </p:par>
                        <p:par>
                          <p:cTn id="12" fill="hold">
                            <p:stCondLst>
                              <p:cond delay="1000"/>
                            </p:stCondLst>
                            <p:childTnLst>
                              <p:par>
                                <p:cTn id="13" presetID="14" presetClass="entr" presetSubtype="10" fill="hold" nodeType="afterEffect">
                                  <p:stCondLst>
                                    <p:cond delay="0"/>
                                  </p:stCondLst>
                                  <p:childTnLst>
                                    <p:set>
                                      <p:cBhvr>
                                        <p:cTn id="14" dur="1" fill="hold">
                                          <p:stCondLst>
                                            <p:cond delay="0"/>
                                          </p:stCondLst>
                                        </p:cTn>
                                        <p:tgtEl>
                                          <p:spTgt spid="14"/>
                                        </p:tgtEl>
                                        <p:attrNameLst>
                                          <p:attrName>style.visibility</p:attrName>
                                        </p:attrNameLst>
                                      </p:cBhvr>
                                      <p:to>
                                        <p:strVal val="visible"/>
                                      </p:to>
                                    </p:set>
                                    <p:animEffect transition="in" filter="randombar(horizontal)">
                                      <p:cBhvr>
                                        <p:cTn id="15"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4563BE-C9A3-F024-2F7E-A1CB3A86904A}"/>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6E082EBE-43B8-98A3-6E2B-7D55F0E23F63}"/>
              </a:ext>
            </a:extLst>
          </p:cNvPr>
          <p:cNvSpPr>
            <a:spLocks noGrp="1"/>
          </p:cNvSpPr>
          <p:nvPr>
            <p:ph type="title"/>
          </p:nvPr>
        </p:nvSpPr>
        <p:spPr>
          <a:xfrm>
            <a:off x="904875" y="131032"/>
            <a:ext cx="7726363" cy="1072753"/>
          </a:xfrm>
        </p:spPr>
        <p:txBody>
          <a:bodyPr>
            <a:normAutofit/>
          </a:bodyPr>
          <a:lstStyle/>
          <a:p>
            <a:r>
              <a:rPr lang="en-US" dirty="0"/>
              <a:t>4.3	Multi-measurement Diffusion Methods</a:t>
            </a:r>
            <a:br>
              <a:rPr lang="en-US" dirty="0"/>
            </a:br>
            <a:r>
              <a:rPr lang="en-US" sz="2400" b="0" i="1" dirty="0"/>
              <a:t>Results - QM9 graphs with Gaussian </a:t>
            </a:r>
            <a:r>
              <a:rPr lang="en-US" sz="2400" b="0" i="1" dirty="0" err="1"/>
              <a:t>DiGress</a:t>
            </a:r>
            <a:r>
              <a:rPr lang="en-US" sz="2400" b="0" i="1" dirty="0"/>
              <a:t> </a:t>
            </a:r>
            <a:r>
              <a:rPr lang="en-US" sz="2400" b="0" i="1" dirty="0">
                <a:solidFill>
                  <a:schemeClr val="accent1"/>
                </a:solidFill>
              </a:rPr>
              <a:t>[18]</a:t>
            </a:r>
            <a:r>
              <a:rPr lang="en-US" sz="2400" b="0" i="1" dirty="0"/>
              <a:t> and </a:t>
            </a:r>
            <a:r>
              <a:rPr lang="en-US" sz="2400" b="0" i="1" dirty="0" err="1"/>
              <a:t>MultiProx</a:t>
            </a:r>
            <a:endParaRPr lang="en-GB" sz="2400" b="0" i="1" dirty="0"/>
          </a:p>
        </p:txBody>
      </p:sp>
      <p:sp>
        <p:nvSpPr>
          <p:cNvPr id="5" name="Date Placeholder 4">
            <a:extLst>
              <a:ext uri="{FF2B5EF4-FFF2-40B4-BE49-F238E27FC236}">
                <a16:creationId xmlns:a16="http://schemas.microsoft.com/office/drawing/2014/main" id="{9AED6044-95DF-1888-D2EB-6A845A2BAE66}"/>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C1E26E09-846A-76C7-24EC-EB05183BAE09}"/>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4546033A-3D6A-51A2-3BE3-53AEFB7C2F8D}"/>
              </a:ext>
            </a:extLst>
          </p:cNvPr>
          <p:cNvSpPr>
            <a:spLocks noGrp="1"/>
          </p:cNvSpPr>
          <p:nvPr>
            <p:ph type="sldNum" sz="quarter" idx="12"/>
          </p:nvPr>
        </p:nvSpPr>
        <p:spPr/>
        <p:txBody>
          <a:bodyPr/>
          <a:lstStyle/>
          <a:p>
            <a:fld id="{E1E1CD7C-2161-7D43-862E-CE4C333CD873}" type="slidenum">
              <a:rPr lang="fr-FR" smtClean="0"/>
              <a:pPr/>
              <a:t>63</a:t>
            </a:fld>
            <a:endParaRPr lang="fr-FR" dirty="0"/>
          </a:p>
        </p:txBody>
      </p:sp>
      <p:sp>
        <p:nvSpPr>
          <p:cNvPr id="3" name="Content Placeholder 2">
            <a:extLst>
              <a:ext uri="{FF2B5EF4-FFF2-40B4-BE49-F238E27FC236}">
                <a16:creationId xmlns:a16="http://schemas.microsoft.com/office/drawing/2014/main" id="{36B70827-C777-361B-FC5C-279A21FA0CE6}"/>
              </a:ext>
            </a:extLst>
          </p:cNvPr>
          <p:cNvSpPr>
            <a:spLocks noGrp="1"/>
          </p:cNvSpPr>
          <p:nvPr>
            <p:ph idx="1"/>
          </p:nvPr>
        </p:nvSpPr>
        <p:spPr>
          <a:xfrm>
            <a:off x="904875" y="3068514"/>
            <a:ext cx="7726363" cy="1881945"/>
          </a:xfrm>
        </p:spPr>
        <p:txBody>
          <a:bodyPr anchor="ctr"/>
          <a:lstStyle/>
          <a:p>
            <a:r>
              <a:rPr lang="en-US" dirty="0">
                <a:latin typeface="Franklin Gothic Demi Cond" panose="020B0706030402020204" pitchFamily="34" charset="0"/>
              </a:rPr>
              <a:t>Longer warm-up period</a:t>
            </a:r>
          </a:p>
          <a:p>
            <a:r>
              <a:rPr lang="en-US" dirty="0">
                <a:latin typeface="Franklin Gothic Demi Cond" panose="020B0706030402020204" pitchFamily="34" charset="0"/>
              </a:rPr>
              <a:t>Expressive, but sample uniqueness falls across chains (mode collapse)</a:t>
            </a:r>
          </a:p>
          <a:p>
            <a:r>
              <a:rPr lang="en-US" dirty="0">
                <a:latin typeface="Franklin Gothic Demi Cond" panose="020B0706030402020204" pitchFamily="34" charset="0"/>
              </a:rPr>
              <a:t>Discreteness of distribution violates assumptions</a:t>
            </a:r>
          </a:p>
          <a:p>
            <a:pPr lvl="1"/>
            <a:r>
              <a:rPr lang="en-US" dirty="0">
                <a:latin typeface="Franklin Gothic Demi Cond" panose="020B0706030402020204" pitchFamily="34" charset="0"/>
              </a:rPr>
              <a:t>Conjecture: noise reduction via graph averaging is less reliable</a:t>
            </a:r>
            <a:endParaRPr lang="en-GB" dirty="0">
              <a:latin typeface="Franklin Gothic Demi Cond" panose="020B0706030402020204" pitchFamily="34" charset="0"/>
            </a:endParaRPr>
          </a:p>
        </p:txBody>
      </p:sp>
      <p:pic>
        <p:nvPicPr>
          <p:cNvPr id="18" name="Picture 17" descr="A group of small black and red symbols&#10;&#10;AI-generated content may be incorrect.">
            <a:extLst>
              <a:ext uri="{FF2B5EF4-FFF2-40B4-BE49-F238E27FC236}">
                <a16:creationId xmlns:a16="http://schemas.microsoft.com/office/drawing/2014/main" id="{36FC7E3C-715E-4733-D618-C74D022A1C61}"/>
              </a:ext>
            </a:extLst>
          </p:cNvPr>
          <p:cNvPicPr>
            <a:picLocks noChangeAspect="1"/>
          </p:cNvPicPr>
          <p:nvPr/>
        </p:nvPicPr>
        <p:blipFill>
          <a:blip r:embed="rId3"/>
          <a:stretch>
            <a:fillRect/>
          </a:stretch>
        </p:blipFill>
        <p:spPr>
          <a:xfrm>
            <a:off x="1339056" y="1107450"/>
            <a:ext cx="6858000" cy="2057400"/>
          </a:xfrm>
          <a:prstGeom prst="rect">
            <a:avLst/>
          </a:prstGeom>
        </p:spPr>
      </p:pic>
    </p:spTree>
    <p:extLst>
      <p:ext uri="{BB962C8B-B14F-4D97-AF65-F5344CB8AC3E}">
        <p14:creationId xmlns:p14="http://schemas.microsoft.com/office/powerpoint/2010/main" val="30964264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randombar(horizontal)">
                                      <p:cBhvr>
                                        <p:cTn id="7" dur="5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Effect transition="in" filter="randombar(horizontal)">
                                      <p:cBhvr>
                                        <p:cTn id="12" dur="500"/>
                                        <p:tgtEl>
                                          <p:spTgt spid="3">
                                            <p:txEl>
                                              <p:pRg st="0" end="0"/>
                                            </p:txEl>
                                          </p:spTgt>
                                        </p:tgtEl>
                                      </p:cBhvr>
                                    </p:animEffect>
                                  </p:childTnLst>
                                </p:cTn>
                              </p:par>
                              <p:par>
                                <p:cTn id="13" presetID="14" presetClass="entr" presetSubtype="10" fill="hold" nodeType="with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randombar(horizontal)">
                                      <p:cBhvr>
                                        <p:cTn id="15" dur="500"/>
                                        <p:tgtEl>
                                          <p:spTgt spid="3">
                                            <p:txEl>
                                              <p:pRg st="1" end="1"/>
                                            </p:txEl>
                                          </p:spTgt>
                                        </p:tgtEl>
                                      </p:cBhvr>
                                    </p:animEffect>
                                  </p:childTnLst>
                                </p:cTn>
                              </p:par>
                              <p:par>
                                <p:cTn id="16" presetID="14" presetClass="entr" presetSubtype="10" fill="hold" nodeType="withEffect">
                                  <p:stCondLst>
                                    <p:cond delay="0"/>
                                  </p:stCondLst>
                                  <p:childTnLst>
                                    <p:set>
                                      <p:cBhvr>
                                        <p:cTn id="17" dur="1" fill="hold">
                                          <p:stCondLst>
                                            <p:cond delay="0"/>
                                          </p:stCondLst>
                                        </p:cTn>
                                        <p:tgtEl>
                                          <p:spTgt spid="3">
                                            <p:txEl>
                                              <p:pRg st="2" end="2"/>
                                            </p:txEl>
                                          </p:spTgt>
                                        </p:tgtEl>
                                        <p:attrNameLst>
                                          <p:attrName>style.visibility</p:attrName>
                                        </p:attrNameLst>
                                      </p:cBhvr>
                                      <p:to>
                                        <p:strVal val="visible"/>
                                      </p:to>
                                    </p:set>
                                    <p:animEffect transition="in" filter="randombar(horizontal)">
                                      <p:cBhvr>
                                        <p:cTn id="18" dur="500"/>
                                        <p:tgtEl>
                                          <p:spTgt spid="3">
                                            <p:txEl>
                                              <p:pRg st="2" end="2"/>
                                            </p:txEl>
                                          </p:spTgt>
                                        </p:tgtEl>
                                      </p:cBhvr>
                                    </p:animEffect>
                                  </p:childTnLst>
                                </p:cTn>
                              </p:par>
                              <p:par>
                                <p:cTn id="19" presetID="14" presetClass="entr" presetSubtype="10" fill="hold" nodeType="withEffect">
                                  <p:stCondLst>
                                    <p:cond delay="0"/>
                                  </p:stCondLst>
                                  <p:childTnLst>
                                    <p:set>
                                      <p:cBhvr>
                                        <p:cTn id="20" dur="1" fill="hold">
                                          <p:stCondLst>
                                            <p:cond delay="0"/>
                                          </p:stCondLst>
                                        </p:cTn>
                                        <p:tgtEl>
                                          <p:spTgt spid="3">
                                            <p:txEl>
                                              <p:pRg st="3" end="3"/>
                                            </p:txEl>
                                          </p:spTgt>
                                        </p:tgtEl>
                                        <p:attrNameLst>
                                          <p:attrName>style.visibility</p:attrName>
                                        </p:attrNameLst>
                                      </p:cBhvr>
                                      <p:to>
                                        <p:strVal val="visible"/>
                                      </p:to>
                                    </p:set>
                                    <p:animEffect transition="in" filter="randombar(horizontal)">
                                      <p:cBhvr>
                                        <p:cTn id="21" dur="5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1AE76E-F7BA-E437-A674-5681DC3AE0F4}"/>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88C3BF72-0D0B-9D65-7ECC-EE7815C0812D}"/>
              </a:ext>
            </a:extLst>
          </p:cNvPr>
          <p:cNvSpPr>
            <a:spLocks noGrp="1"/>
          </p:cNvSpPr>
          <p:nvPr>
            <p:ph type="title"/>
          </p:nvPr>
        </p:nvSpPr>
        <p:spPr>
          <a:xfrm>
            <a:off x="904875" y="131032"/>
            <a:ext cx="7726363" cy="1072753"/>
          </a:xfrm>
        </p:spPr>
        <p:txBody>
          <a:bodyPr>
            <a:normAutofit fontScale="90000"/>
          </a:bodyPr>
          <a:lstStyle/>
          <a:p>
            <a:r>
              <a:rPr lang="en-US" sz="3600" dirty="0"/>
              <a:t>4.3	Multi-measurement Diffusion Methods</a:t>
            </a:r>
            <a:br>
              <a:rPr lang="en-US" sz="3600" dirty="0"/>
            </a:br>
            <a:r>
              <a:rPr lang="en-US" sz="2700" b="0" i="1" dirty="0"/>
              <a:t>*The </a:t>
            </a:r>
            <a:r>
              <a:rPr lang="en-US" sz="2700" b="0" i="1" dirty="0" err="1"/>
              <a:t>MultiProxAn</a:t>
            </a:r>
            <a:r>
              <a:rPr lang="en-US" sz="2700" b="0" i="1" dirty="0"/>
              <a:t> sampler</a:t>
            </a:r>
            <a:br>
              <a:rPr lang="en-US" dirty="0"/>
            </a:br>
            <a:endParaRPr lang="en-GB" sz="2400" b="0" i="1" dirty="0"/>
          </a:p>
        </p:txBody>
      </p:sp>
      <p:sp>
        <p:nvSpPr>
          <p:cNvPr id="5" name="Date Placeholder 4">
            <a:extLst>
              <a:ext uri="{FF2B5EF4-FFF2-40B4-BE49-F238E27FC236}">
                <a16:creationId xmlns:a16="http://schemas.microsoft.com/office/drawing/2014/main" id="{EC16BEFD-0EFD-453F-56CD-EBAEBB88453C}"/>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B75ECCDC-1B2C-7C46-1732-1A0000F610AA}"/>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E4FC1F00-5404-B24E-E581-5ADC7AFDFD4B}"/>
              </a:ext>
            </a:extLst>
          </p:cNvPr>
          <p:cNvSpPr>
            <a:spLocks noGrp="1"/>
          </p:cNvSpPr>
          <p:nvPr>
            <p:ph type="sldNum" sz="quarter" idx="12"/>
          </p:nvPr>
        </p:nvSpPr>
        <p:spPr/>
        <p:txBody>
          <a:bodyPr/>
          <a:lstStyle/>
          <a:p>
            <a:fld id="{E1E1CD7C-2161-7D43-862E-CE4C333CD873}" type="slidenum">
              <a:rPr lang="fr-FR" smtClean="0"/>
              <a:pPr/>
              <a:t>64</a:t>
            </a:fld>
            <a:endParaRPr lang="fr-FR" dirty="0"/>
          </a:p>
        </p:txBody>
      </p:sp>
      <p:pic>
        <p:nvPicPr>
          <p:cNvPr id="9" name="Content Placeholder 8" descr="A screenshot of a computer&#10;&#10;AI-generated content may be incorrect.">
            <a:extLst>
              <a:ext uri="{FF2B5EF4-FFF2-40B4-BE49-F238E27FC236}">
                <a16:creationId xmlns:a16="http://schemas.microsoft.com/office/drawing/2014/main" id="{5F1B94FA-5D63-7110-F6AB-8680EE5ACDC7}"/>
              </a:ext>
            </a:extLst>
          </p:cNvPr>
          <p:cNvPicPr>
            <a:picLocks noGrp="1" noChangeAspect="1"/>
          </p:cNvPicPr>
          <p:nvPr>
            <p:ph idx="1"/>
          </p:nvPr>
        </p:nvPicPr>
        <p:blipFill>
          <a:blip r:embed="rId3"/>
          <a:stretch>
            <a:fillRect/>
          </a:stretch>
        </p:blipFill>
        <p:spPr>
          <a:xfrm>
            <a:off x="1218074" y="1563688"/>
            <a:ext cx="7099964" cy="3386137"/>
          </a:xfrm>
        </p:spPr>
      </p:pic>
    </p:spTree>
    <p:extLst>
      <p:ext uri="{BB962C8B-B14F-4D97-AF65-F5344CB8AC3E}">
        <p14:creationId xmlns:p14="http://schemas.microsoft.com/office/powerpoint/2010/main" val="25688166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randombar(horizontal)">
                                      <p:cBhvr>
                                        <p:cTn id="7"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13642A-2864-4A19-B86B-F59002DC055B}"/>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3700FCC7-CC09-F3FD-30C9-405E88829D55}"/>
              </a:ext>
            </a:extLst>
          </p:cNvPr>
          <p:cNvSpPr>
            <a:spLocks noGrp="1"/>
          </p:cNvSpPr>
          <p:nvPr>
            <p:ph type="title"/>
          </p:nvPr>
        </p:nvSpPr>
        <p:spPr>
          <a:xfrm>
            <a:off x="904875" y="131032"/>
            <a:ext cx="7726363" cy="1072753"/>
          </a:xfrm>
        </p:spPr>
        <p:txBody>
          <a:bodyPr>
            <a:normAutofit/>
          </a:bodyPr>
          <a:lstStyle/>
          <a:p>
            <a:r>
              <a:rPr lang="en-US" dirty="0"/>
              <a:t>4.3	Multi-measurement Diffusion Methods</a:t>
            </a:r>
            <a:br>
              <a:rPr lang="en-US" dirty="0"/>
            </a:br>
            <a:r>
              <a:rPr lang="en-US" sz="2400" b="0" i="1" dirty="0"/>
              <a:t>Results - QM9 graphs with Gaussian </a:t>
            </a:r>
            <a:r>
              <a:rPr lang="en-US" sz="2400" b="0" i="1" dirty="0" err="1"/>
              <a:t>DiGress</a:t>
            </a:r>
            <a:r>
              <a:rPr lang="en-US" sz="2400" b="0" i="1" dirty="0"/>
              <a:t> </a:t>
            </a:r>
            <a:r>
              <a:rPr lang="en-US" sz="2400" b="0" i="1" dirty="0">
                <a:solidFill>
                  <a:schemeClr val="accent1"/>
                </a:solidFill>
              </a:rPr>
              <a:t>[18]</a:t>
            </a:r>
            <a:r>
              <a:rPr lang="en-US" sz="2400" b="0" i="1" dirty="0"/>
              <a:t> and </a:t>
            </a:r>
            <a:r>
              <a:rPr lang="en-US" sz="2400" b="0" i="1" dirty="0" err="1"/>
              <a:t>MultiProxAn</a:t>
            </a:r>
            <a:endParaRPr lang="en-GB" sz="2400" b="0" i="1" dirty="0"/>
          </a:p>
        </p:txBody>
      </p:sp>
      <p:sp>
        <p:nvSpPr>
          <p:cNvPr id="5" name="Date Placeholder 4">
            <a:extLst>
              <a:ext uri="{FF2B5EF4-FFF2-40B4-BE49-F238E27FC236}">
                <a16:creationId xmlns:a16="http://schemas.microsoft.com/office/drawing/2014/main" id="{D943D5D1-8AA2-A8E0-A17A-8FFBE4FAFE34}"/>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8E85A50D-1517-E079-0C7C-E9CC549CD3BA}"/>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54E88A44-9F95-2294-F296-B594DDFAC6D3}"/>
              </a:ext>
            </a:extLst>
          </p:cNvPr>
          <p:cNvSpPr>
            <a:spLocks noGrp="1"/>
          </p:cNvSpPr>
          <p:nvPr>
            <p:ph type="sldNum" sz="quarter" idx="12"/>
          </p:nvPr>
        </p:nvSpPr>
        <p:spPr/>
        <p:txBody>
          <a:bodyPr/>
          <a:lstStyle/>
          <a:p>
            <a:fld id="{E1E1CD7C-2161-7D43-862E-CE4C333CD873}" type="slidenum">
              <a:rPr lang="fr-FR" smtClean="0"/>
              <a:pPr/>
              <a:t>65</a:t>
            </a:fld>
            <a:endParaRPr lang="fr-FR" dirty="0"/>
          </a:p>
        </p:txBody>
      </p:sp>
      <p:pic>
        <p:nvPicPr>
          <p:cNvPr id="4" name="Content Placeholder 3" descr="A group of symbols on a white background&#10;&#10;AI-generated content may be incorrect.">
            <a:extLst>
              <a:ext uri="{FF2B5EF4-FFF2-40B4-BE49-F238E27FC236}">
                <a16:creationId xmlns:a16="http://schemas.microsoft.com/office/drawing/2014/main" id="{F122E852-B0B8-D10B-A6E0-E1EABF437765}"/>
              </a:ext>
            </a:extLst>
          </p:cNvPr>
          <p:cNvPicPr>
            <a:picLocks noGrp="1" noChangeAspect="1"/>
          </p:cNvPicPr>
          <p:nvPr>
            <p:ph idx="1"/>
          </p:nvPr>
        </p:nvPicPr>
        <p:blipFill>
          <a:blip r:embed="rId3"/>
          <a:stretch>
            <a:fillRect/>
          </a:stretch>
        </p:blipFill>
        <p:spPr>
          <a:xfrm>
            <a:off x="904875" y="2097802"/>
            <a:ext cx="7726363" cy="2317908"/>
          </a:xfrm>
        </p:spPr>
      </p:pic>
    </p:spTree>
    <p:extLst>
      <p:ext uri="{BB962C8B-B14F-4D97-AF65-F5344CB8AC3E}">
        <p14:creationId xmlns:p14="http://schemas.microsoft.com/office/powerpoint/2010/main" val="20640298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randombar(horizontal)">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EADCB2-FCA7-7902-9CF8-E55AF5BCB758}"/>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Content Placeholder 8">
                <a:extLst>
                  <a:ext uri="{FF2B5EF4-FFF2-40B4-BE49-F238E27FC236}">
                    <a16:creationId xmlns:a16="http://schemas.microsoft.com/office/drawing/2014/main" id="{9F688284-CF1E-E466-AE2A-DD2BE6CA6383}"/>
                  </a:ext>
                </a:extLst>
              </p:cNvPr>
              <p:cNvSpPr>
                <a:spLocks noGrp="1"/>
              </p:cNvSpPr>
              <p:nvPr>
                <p:ph sz="half" idx="1"/>
              </p:nvPr>
            </p:nvSpPr>
            <p:spPr>
              <a:xfrm>
                <a:off x="904875" y="1563688"/>
                <a:ext cx="3886934" cy="3263504"/>
              </a:xfrm>
            </p:spPr>
            <p:txBody>
              <a:bodyPr anchor="ctr"/>
              <a:lstStyle/>
              <a:p>
                <a:r>
                  <a:rPr lang="en-US" dirty="0">
                    <a:latin typeface="+mj-lt"/>
                  </a:rPr>
                  <a:t>Comparison to baseline in generating 100k molecules</a:t>
                </a:r>
              </a:p>
              <a:p>
                <a:r>
                  <a:rPr lang="en-US" dirty="0">
                    <a:latin typeface="+mj-lt"/>
                  </a:rPr>
                  <a:t>More annealing steps always allow to match baseline performance closer, but for a computational cost</a:t>
                </a:r>
              </a:p>
              <a:p>
                <a14:m>
                  <m:oMath xmlns:m="http://schemas.openxmlformats.org/officeDocument/2006/math">
                    <m:f>
                      <m:fPr>
                        <m:ctrlPr>
                          <a:rPr lang="en-US" b="0" i="1" smtClean="0">
                            <a:latin typeface="Cambria Math" panose="02040503050406030204" pitchFamily="18" charset="0"/>
                          </a:rPr>
                        </m:ctrlPr>
                      </m:fPr>
                      <m:num>
                        <m:r>
                          <a:rPr lang="en-US" b="0" i="1" smtClean="0">
                            <a:latin typeface="Cambria Math" panose="02040503050406030204" pitchFamily="18" charset="0"/>
                          </a:rPr>
                          <m:t>𝑇</m:t>
                        </m:r>
                      </m:num>
                      <m:den>
                        <m:r>
                          <a:rPr lang="en-US" b="0" i="1" smtClean="0">
                            <a:latin typeface="Cambria Math" panose="02040503050406030204" pitchFamily="18" charset="0"/>
                          </a:rPr>
                          <m:t>𝑡</m:t>
                        </m:r>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’+1</m:t>
                        </m:r>
                      </m:den>
                    </m:f>
                  </m:oMath>
                </a14:m>
                <a:r>
                  <a:rPr lang="en-GB" dirty="0">
                    <a:latin typeface="+mj-lt"/>
                  </a:rPr>
                  <a:t> acceleration factor for a memory complexity increase by a factor of </a:t>
                </a:r>
                <a14:m>
                  <m:oMath xmlns:m="http://schemas.openxmlformats.org/officeDocument/2006/math">
                    <m:r>
                      <a:rPr lang="en-US" b="0" i="1" smtClean="0">
                        <a:latin typeface="Cambria Math" panose="02040503050406030204" pitchFamily="18" charset="0"/>
                      </a:rPr>
                      <m:t>𝑚</m:t>
                    </m:r>
                  </m:oMath>
                </a14:m>
                <a:endParaRPr lang="en-GB" dirty="0">
                  <a:latin typeface="+mj-lt"/>
                </a:endParaRPr>
              </a:p>
            </p:txBody>
          </p:sp>
        </mc:Choice>
        <mc:Fallback xmlns="">
          <p:sp>
            <p:nvSpPr>
              <p:cNvPr id="9" name="Content Placeholder 8">
                <a:extLst>
                  <a:ext uri="{FF2B5EF4-FFF2-40B4-BE49-F238E27FC236}">
                    <a16:creationId xmlns:a16="http://schemas.microsoft.com/office/drawing/2014/main" id="{9F688284-CF1E-E466-AE2A-DD2BE6CA6383}"/>
                  </a:ext>
                </a:extLst>
              </p:cNvPr>
              <p:cNvSpPr>
                <a:spLocks noGrp="1" noRot="1" noChangeAspect="1" noMove="1" noResize="1" noEditPoints="1" noAdjustHandles="1" noChangeArrowheads="1" noChangeShapeType="1" noTextEdit="1"/>
              </p:cNvSpPr>
              <p:nvPr>
                <p:ph sz="half" idx="1"/>
              </p:nvPr>
            </p:nvSpPr>
            <p:spPr>
              <a:xfrm>
                <a:off x="904875" y="1563688"/>
                <a:ext cx="3886934" cy="3263504"/>
              </a:xfrm>
              <a:blipFill>
                <a:blip r:embed="rId3"/>
                <a:stretch>
                  <a:fillRect r="-1254"/>
                </a:stretch>
              </a:blipFill>
            </p:spPr>
            <p:txBody>
              <a:bodyPr/>
              <a:lstStyle/>
              <a:p>
                <a:r>
                  <a:rPr lang="en-GB">
                    <a:noFill/>
                  </a:rPr>
                  <a:t> </a:t>
                </a:r>
              </a:p>
            </p:txBody>
          </p:sp>
        </mc:Fallback>
      </mc:AlternateContent>
      <p:pic>
        <p:nvPicPr>
          <p:cNvPr id="12" name="Content Placeholder 11" descr="A table with numbers and text&#10;&#10;AI-generated content may be incorrect.">
            <a:extLst>
              <a:ext uri="{FF2B5EF4-FFF2-40B4-BE49-F238E27FC236}">
                <a16:creationId xmlns:a16="http://schemas.microsoft.com/office/drawing/2014/main" id="{B02DDB34-93E5-7B29-AD0C-EC517F2B4654}"/>
              </a:ext>
            </a:extLst>
          </p:cNvPr>
          <p:cNvPicPr>
            <a:picLocks noGrp="1" noChangeAspect="1"/>
          </p:cNvPicPr>
          <p:nvPr>
            <p:ph sz="half" idx="2"/>
          </p:nvPr>
        </p:nvPicPr>
        <p:blipFill>
          <a:blip r:embed="rId4"/>
          <a:stretch>
            <a:fillRect/>
          </a:stretch>
        </p:blipFill>
        <p:spPr>
          <a:xfrm>
            <a:off x="4959350" y="2205487"/>
            <a:ext cx="3671888" cy="1980302"/>
          </a:xfrm>
        </p:spPr>
      </p:pic>
      <p:sp>
        <p:nvSpPr>
          <p:cNvPr id="8" name="Title 7">
            <a:extLst>
              <a:ext uri="{FF2B5EF4-FFF2-40B4-BE49-F238E27FC236}">
                <a16:creationId xmlns:a16="http://schemas.microsoft.com/office/drawing/2014/main" id="{28DBAFDF-1817-5602-3BD4-83C4E41A28BD}"/>
              </a:ext>
            </a:extLst>
          </p:cNvPr>
          <p:cNvSpPr>
            <a:spLocks noGrp="1"/>
          </p:cNvSpPr>
          <p:nvPr>
            <p:ph type="title"/>
          </p:nvPr>
        </p:nvSpPr>
        <p:spPr>
          <a:xfrm>
            <a:off x="904875" y="131032"/>
            <a:ext cx="7726363" cy="1072753"/>
          </a:xfrm>
        </p:spPr>
        <p:txBody>
          <a:bodyPr>
            <a:normAutofit/>
          </a:bodyPr>
          <a:lstStyle/>
          <a:p>
            <a:r>
              <a:rPr lang="en-US" dirty="0"/>
              <a:t>4.3	Multi-measurement Diffusion Methods</a:t>
            </a:r>
            <a:br>
              <a:rPr lang="en-US" dirty="0"/>
            </a:br>
            <a:r>
              <a:rPr lang="en-US" sz="2400" b="0" i="1" dirty="0"/>
              <a:t>Results - QM9 graphs with Gaussian </a:t>
            </a:r>
            <a:r>
              <a:rPr lang="en-US" sz="2400" b="0" i="1" dirty="0" err="1"/>
              <a:t>DiGress</a:t>
            </a:r>
            <a:r>
              <a:rPr lang="en-US" sz="2400" b="0" i="1" dirty="0"/>
              <a:t> </a:t>
            </a:r>
            <a:r>
              <a:rPr lang="en-US" sz="2400" b="0" i="1" dirty="0">
                <a:solidFill>
                  <a:schemeClr val="accent1"/>
                </a:solidFill>
              </a:rPr>
              <a:t>[18]</a:t>
            </a:r>
            <a:r>
              <a:rPr lang="en-US" sz="2400" b="0" i="1" dirty="0"/>
              <a:t> and </a:t>
            </a:r>
            <a:r>
              <a:rPr lang="en-US" sz="2400" b="0" i="1" dirty="0" err="1"/>
              <a:t>MultiProxAn</a:t>
            </a:r>
            <a:endParaRPr lang="en-GB" sz="2400" b="0" i="1" dirty="0"/>
          </a:p>
        </p:txBody>
      </p:sp>
      <p:sp>
        <p:nvSpPr>
          <p:cNvPr id="5" name="Date Placeholder 4">
            <a:extLst>
              <a:ext uri="{FF2B5EF4-FFF2-40B4-BE49-F238E27FC236}">
                <a16:creationId xmlns:a16="http://schemas.microsoft.com/office/drawing/2014/main" id="{73F2B06D-EDCD-A5E0-ED71-C1320C037D56}"/>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88C41FE6-3A61-CBCC-9C07-F49B4807010A}"/>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A14102AD-CF5C-A386-000B-14909BFDF3C6}"/>
              </a:ext>
            </a:extLst>
          </p:cNvPr>
          <p:cNvSpPr>
            <a:spLocks noGrp="1"/>
          </p:cNvSpPr>
          <p:nvPr>
            <p:ph type="sldNum" sz="quarter" idx="12"/>
          </p:nvPr>
        </p:nvSpPr>
        <p:spPr/>
        <p:txBody>
          <a:bodyPr/>
          <a:lstStyle/>
          <a:p>
            <a:fld id="{E1E1CD7C-2161-7D43-862E-CE4C333CD873}" type="slidenum">
              <a:rPr lang="fr-FR" smtClean="0"/>
              <a:pPr/>
              <a:t>66</a:t>
            </a:fld>
            <a:endParaRPr lang="fr-FR" dirty="0"/>
          </a:p>
        </p:txBody>
      </p:sp>
    </p:spTree>
    <p:extLst>
      <p:ext uri="{BB962C8B-B14F-4D97-AF65-F5344CB8AC3E}">
        <p14:creationId xmlns:p14="http://schemas.microsoft.com/office/powerpoint/2010/main" val="30595390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randombar(horizontal)">
                                      <p:cBhvr>
                                        <p:cTn id="7" dur="500"/>
                                        <p:tgtEl>
                                          <p:spTgt spid="12"/>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9">
                                            <p:txEl>
                                              <p:pRg st="0" end="0"/>
                                            </p:txEl>
                                          </p:spTgt>
                                        </p:tgtEl>
                                        <p:attrNameLst>
                                          <p:attrName>style.visibility</p:attrName>
                                        </p:attrNameLst>
                                      </p:cBhvr>
                                      <p:to>
                                        <p:strVal val="visible"/>
                                      </p:to>
                                    </p:set>
                                    <p:animEffect transition="in" filter="randombar(horizontal)">
                                      <p:cBhvr>
                                        <p:cTn id="12" dur="500"/>
                                        <p:tgtEl>
                                          <p:spTgt spid="9">
                                            <p:txEl>
                                              <p:pRg st="0" end="0"/>
                                            </p:txEl>
                                          </p:spTgt>
                                        </p:tgtEl>
                                      </p:cBhvr>
                                    </p:animEffect>
                                  </p:childTnLst>
                                </p:cTn>
                              </p:par>
                              <p:par>
                                <p:cTn id="13" presetID="14" presetClass="entr" presetSubtype="10" fill="hold" nodeType="withEffect">
                                  <p:stCondLst>
                                    <p:cond delay="0"/>
                                  </p:stCondLst>
                                  <p:childTnLst>
                                    <p:set>
                                      <p:cBhvr>
                                        <p:cTn id="14"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5" dur="500"/>
                                        <p:tgtEl>
                                          <p:spTgt spid="9">
                                            <p:txEl>
                                              <p:pRg st="1" end="1"/>
                                            </p:txEl>
                                          </p:spTgt>
                                        </p:tgtEl>
                                      </p:cBhvr>
                                    </p:animEffect>
                                  </p:childTnLst>
                                </p:cTn>
                              </p:par>
                              <p:par>
                                <p:cTn id="16" presetID="14" presetClass="entr" presetSubtype="10" fill="hold" nodeType="withEffect">
                                  <p:stCondLst>
                                    <p:cond delay="0"/>
                                  </p:stCondLst>
                                  <p:childTnLst>
                                    <p:set>
                                      <p:cBhvr>
                                        <p:cTn id="17"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8" dur="500"/>
                                        <p:tgtEl>
                                          <p:spTgt spid="9">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E16C58-B13A-6D70-7E1B-16E347AFB280}"/>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C2B1F8ED-A635-26A4-FBD9-A0DDFCDCCCDD}"/>
                  </a:ext>
                </a:extLst>
              </p:cNvPr>
              <p:cNvSpPr>
                <a:spLocks noGrp="1"/>
              </p:cNvSpPr>
              <p:nvPr>
                <p:ph idx="1"/>
              </p:nvPr>
            </p:nvSpPr>
            <p:spPr/>
            <p:txBody>
              <a:bodyPr anchor="ctr"/>
              <a:lstStyle/>
              <a:p>
                <a:r>
                  <a:rPr lang="en-US" dirty="0">
                    <a:latin typeface="+mj-lt"/>
                  </a:rPr>
                  <a:t>Why no generation experiments for knowledge graphs?</a:t>
                </a:r>
              </a:p>
              <a:p>
                <a:pPr lvl="1"/>
                <a:r>
                  <a:rPr lang="en-US" dirty="0">
                    <a:latin typeface="+mj-lt"/>
                  </a:rPr>
                  <a:t>Knowledge base data is curated and follows schemas</a:t>
                </a:r>
              </a:p>
              <a:p>
                <a:pPr lvl="1"/>
                <a:r>
                  <a:rPr lang="en-US" dirty="0">
                    <a:latin typeface="+mj-lt"/>
                  </a:rPr>
                  <a:t>No inherent stochasticity, thus no distribution of graph structures to learn</a:t>
                </a:r>
              </a:p>
              <a:p>
                <a:pPr lvl="1"/>
                <a:r>
                  <a:rPr lang="en-US" dirty="0">
                    <a:latin typeface="+mj-lt"/>
                  </a:rPr>
                  <a:t>Focus on reasoning for new real knowledge instead of generating fake facts</a:t>
                </a:r>
              </a:p>
              <a:p>
                <a:r>
                  <a:rPr lang="en-GB" dirty="0">
                    <a:latin typeface="+mj-lt"/>
                  </a:rPr>
                  <a:t>“No stochasticity”, well…</a:t>
                </a:r>
              </a:p>
              <a:p>
                <a:pPr lvl="1"/>
                <a:r>
                  <a:rPr lang="en-GB" dirty="0">
                    <a:latin typeface="+mj-lt"/>
                  </a:rPr>
                  <a:t>In practice many anomalies are present in knowledge bases</a:t>
                </a:r>
              </a:p>
              <a:p>
                <a:pPr lvl="1"/>
                <a:r>
                  <a:rPr lang="en-GB" dirty="0">
                    <a:latin typeface="+mj-lt"/>
                  </a:rPr>
                  <a:t>False positive and false negative relation triplets</a:t>
                </a:r>
              </a:p>
              <a:p>
                <a:pPr lvl="1"/>
                <a:r>
                  <a:rPr lang="en-GB" dirty="0">
                    <a:latin typeface="+mj-lt"/>
                  </a:rPr>
                  <a:t>Causes: merging heterogeneous knowledge sources and AI-guided data injection</a:t>
                </a:r>
              </a:p>
              <a:p>
                <a:r>
                  <a:rPr lang="en-GB" dirty="0">
                    <a:latin typeface="+mj-lt"/>
                  </a:rPr>
                  <a:t>Setting - set of </a:t>
                </a:r>
                <a14:m>
                  <m:oMath xmlns:m="http://schemas.openxmlformats.org/officeDocument/2006/math">
                    <m:r>
                      <a:rPr lang="en-US" b="0" i="1" smtClean="0">
                        <a:latin typeface="Cambria Math" panose="02040503050406030204" pitchFamily="18" charset="0"/>
                      </a:rPr>
                      <m:t>𝑛</m:t>
                    </m:r>
                    <m:r>
                      <a:rPr lang="en-US" b="0" i="1" smtClean="0">
                        <a:latin typeface="Cambria Math" panose="02040503050406030204" pitchFamily="18" charset="0"/>
                      </a:rPr>
                      <m:t>×</m:t>
                    </m:r>
                    <m:r>
                      <a:rPr lang="en-US" b="0" i="1" smtClean="0">
                        <a:latin typeface="Cambria Math" panose="02040503050406030204" pitchFamily="18" charset="0"/>
                      </a:rPr>
                      <m:t>𝑛</m:t>
                    </m:r>
                  </m:oMath>
                </a14:m>
                <a:r>
                  <a:rPr lang="en-US" dirty="0">
                    <a:latin typeface="+mj-lt"/>
                  </a:rPr>
                  <a:t> blocks of the KG adjacency matrix as noisy subgraph input</a:t>
                </a:r>
              </a:p>
            </p:txBody>
          </p:sp>
        </mc:Choice>
        <mc:Fallback xmlns="">
          <p:sp>
            <p:nvSpPr>
              <p:cNvPr id="4" name="Content Placeholder 3">
                <a:extLst>
                  <a:ext uri="{FF2B5EF4-FFF2-40B4-BE49-F238E27FC236}">
                    <a16:creationId xmlns:a16="http://schemas.microsoft.com/office/drawing/2014/main" id="{C2B1F8ED-A635-26A4-FBD9-A0DDFCDCCCDD}"/>
                  </a:ext>
                </a:extLst>
              </p:cNvPr>
              <p:cNvSpPr>
                <a:spLocks noGrp="1" noRot="1" noChangeAspect="1" noMove="1" noResize="1" noEditPoints="1" noAdjustHandles="1" noChangeArrowheads="1" noChangeShapeType="1" noTextEdit="1"/>
              </p:cNvSpPr>
              <p:nvPr>
                <p:ph idx="1"/>
              </p:nvPr>
            </p:nvSpPr>
            <p:spPr>
              <a:blipFill>
                <a:blip r:embed="rId3"/>
                <a:stretch>
                  <a:fillRect/>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E313BCF4-9868-6122-66AF-3B9B006FCE04}"/>
              </a:ext>
            </a:extLst>
          </p:cNvPr>
          <p:cNvSpPr>
            <a:spLocks noGrp="1"/>
          </p:cNvSpPr>
          <p:nvPr>
            <p:ph type="title"/>
          </p:nvPr>
        </p:nvSpPr>
        <p:spPr>
          <a:xfrm>
            <a:off x="904875" y="131032"/>
            <a:ext cx="7726363" cy="1072753"/>
          </a:xfrm>
        </p:spPr>
        <p:txBody>
          <a:bodyPr>
            <a:normAutofit/>
          </a:bodyPr>
          <a:lstStyle/>
          <a:p>
            <a:r>
              <a:rPr lang="en-US" dirty="0"/>
              <a:t>4.4	Generative KG Anomaly Correction</a:t>
            </a:r>
            <a:br>
              <a:rPr lang="en-US" sz="2400" b="0" i="1" dirty="0"/>
            </a:br>
            <a:r>
              <a:rPr lang="en-US" sz="2400" b="0" i="1" dirty="0"/>
              <a:t>Motivation - Anomalous knowledge</a:t>
            </a:r>
            <a:endParaRPr lang="en-GB" sz="2400" b="0" i="1" dirty="0"/>
          </a:p>
        </p:txBody>
      </p:sp>
      <p:sp>
        <p:nvSpPr>
          <p:cNvPr id="5" name="Date Placeholder 4">
            <a:extLst>
              <a:ext uri="{FF2B5EF4-FFF2-40B4-BE49-F238E27FC236}">
                <a16:creationId xmlns:a16="http://schemas.microsoft.com/office/drawing/2014/main" id="{6C0602F6-B1B9-968E-0DFD-B0EA05ED4C13}"/>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5FB08F74-4264-62A8-51C2-020080A48713}"/>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7CEF5403-D916-624A-23C9-10F78A62C8F8}"/>
              </a:ext>
            </a:extLst>
          </p:cNvPr>
          <p:cNvSpPr>
            <a:spLocks noGrp="1"/>
          </p:cNvSpPr>
          <p:nvPr>
            <p:ph type="sldNum" sz="quarter" idx="12"/>
          </p:nvPr>
        </p:nvSpPr>
        <p:spPr/>
        <p:txBody>
          <a:bodyPr/>
          <a:lstStyle/>
          <a:p>
            <a:fld id="{E1E1CD7C-2161-7D43-862E-CE4C333CD873}" type="slidenum">
              <a:rPr lang="fr-FR" smtClean="0"/>
              <a:pPr/>
              <a:t>67</a:t>
            </a:fld>
            <a:endParaRPr lang="fr-FR" dirty="0"/>
          </a:p>
        </p:txBody>
      </p:sp>
    </p:spTree>
    <p:extLst>
      <p:ext uri="{BB962C8B-B14F-4D97-AF65-F5344CB8AC3E}">
        <p14:creationId xmlns:p14="http://schemas.microsoft.com/office/powerpoint/2010/main" val="39686699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randombar(horizontal)">
                                      <p:cBhvr>
                                        <p:cTn id="7" dur="500"/>
                                        <p:tgtEl>
                                          <p:spTgt spid="4">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4">
                                            <p:txEl>
                                              <p:pRg st="1" end="1"/>
                                            </p:txEl>
                                          </p:spTgt>
                                        </p:tgtEl>
                                        <p:attrNameLst>
                                          <p:attrName>style.visibility</p:attrName>
                                        </p:attrNameLst>
                                      </p:cBhvr>
                                      <p:to>
                                        <p:strVal val="visible"/>
                                      </p:to>
                                    </p:set>
                                    <p:animEffect transition="in" filter="randombar(horizontal)">
                                      <p:cBhvr>
                                        <p:cTn id="10" dur="500"/>
                                        <p:tgtEl>
                                          <p:spTgt spid="4">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4">
                                            <p:txEl>
                                              <p:pRg st="2" end="2"/>
                                            </p:txEl>
                                          </p:spTgt>
                                        </p:tgtEl>
                                        <p:attrNameLst>
                                          <p:attrName>style.visibility</p:attrName>
                                        </p:attrNameLst>
                                      </p:cBhvr>
                                      <p:to>
                                        <p:strVal val="visible"/>
                                      </p:to>
                                    </p:set>
                                    <p:animEffect transition="in" filter="randombar(horizontal)">
                                      <p:cBhvr>
                                        <p:cTn id="13" dur="500"/>
                                        <p:tgtEl>
                                          <p:spTgt spid="4">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4">
                                            <p:txEl>
                                              <p:pRg st="3" end="3"/>
                                            </p:txEl>
                                          </p:spTgt>
                                        </p:tgtEl>
                                        <p:attrNameLst>
                                          <p:attrName>style.visibility</p:attrName>
                                        </p:attrNameLst>
                                      </p:cBhvr>
                                      <p:to>
                                        <p:strVal val="visible"/>
                                      </p:to>
                                    </p:set>
                                    <p:animEffect transition="in" filter="randombar(horizontal)">
                                      <p:cBhvr>
                                        <p:cTn id="16" dur="500"/>
                                        <p:tgtEl>
                                          <p:spTgt spid="4">
                                            <p:txEl>
                                              <p:pRg st="3" end="3"/>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4" presetClass="entr" presetSubtype="10" fill="hold" nodeType="clickEffect">
                                  <p:stCondLst>
                                    <p:cond delay="0"/>
                                  </p:stCondLst>
                                  <p:childTnLst>
                                    <p:set>
                                      <p:cBhvr>
                                        <p:cTn id="20" dur="1" fill="hold">
                                          <p:stCondLst>
                                            <p:cond delay="0"/>
                                          </p:stCondLst>
                                        </p:cTn>
                                        <p:tgtEl>
                                          <p:spTgt spid="4">
                                            <p:txEl>
                                              <p:pRg st="4" end="4"/>
                                            </p:txEl>
                                          </p:spTgt>
                                        </p:tgtEl>
                                        <p:attrNameLst>
                                          <p:attrName>style.visibility</p:attrName>
                                        </p:attrNameLst>
                                      </p:cBhvr>
                                      <p:to>
                                        <p:strVal val="visible"/>
                                      </p:to>
                                    </p:set>
                                    <p:animEffect transition="in" filter="randombar(horizontal)">
                                      <p:cBhvr>
                                        <p:cTn id="21" dur="500"/>
                                        <p:tgtEl>
                                          <p:spTgt spid="4">
                                            <p:txEl>
                                              <p:pRg st="4" end="4"/>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4">
                                            <p:txEl>
                                              <p:pRg st="5" end="5"/>
                                            </p:txEl>
                                          </p:spTgt>
                                        </p:tgtEl>
                                        <p:attrNameLst>
                                          <p:attrName>style.visibility</p:attrName>
                                        </p:attrNameLst>
                                      </p:cBhvr>
                                      <p:to>
                                        <p:strVal val="visible"/>
                                      </p:to>
                                    </p:set>
                                    <p:animEffect transition="in" filter="randombar(horizontal)">
                                      <p:cBhvr>
                                        <p:cTn id="24" dur="500"/>
                                        <p:tgtEl>
                                          <p:spTgt spid="4">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4">
                                            <p:txEl>
                                              <p:pRg st="6" end="6"/>
                                            </p:txEl>
                                          </p:spTgt>
                                        </p:tgtEl>
                                        <p:attrNameLst>
                                          <p:attrName>style.visibility</p:attrName>
                                        </p:attrNameLst>
                                      </p:cBhvr>
                                      <p:to>
                                        <p:strVal val="visible"/>
                                      </p:to>
                                    </p:set>
                                    <p:animEffect transition="in" filter="randombar(horizontal)">
                                      <p:cBhvr>
                                        <p:cTn id="27" dur="500"/>
                                        <p:tgtEl>
                                          <p:spTgt spid="4">
                                            <p:txEl>
                                              <p:pRg st="6" end="6"/>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4">
                                            <p:txEl>
                                              <p:pRg st="7" end="7"/>
                                            </p:txEl>
                                          </p:spTgt>
                                        </p:tgtEl>
                                        <p:attrNameLst>
                                          <p:attrName>style.visibility</p:attrName>
                                        </p:attrNameLst>
                                      </p:cBhvr>
                                      <p:to>
                                        <p:strVal val="visible"/>
                                      </p:to>
                                    </p:set>
                                    <p:animEffect transition="in" filter="randombar(horizontal)">
                                      <p:cBhvr>
                                        <p:cTn id="30" dur="500"/>
                                        <p:tgtEl>
                                          <p:spTgt spid="4">
                                            <p:txEl>
                                              <p:pRg st="7" end="7"/>
                                            </p:txEl>
                                          </p:spTgt>
                                        </p:tgtEl>
                                      </p:cBhvr>
                                    </p:animEffect>
                                  </p:childTnLst>
                                </p:cTn>
                              </p:par>
                            </p:childTnLst>
                          </p:cTn>
                        </p:par>
                      </p:childTnLst>
                    </p:cTn>
                  </p:par>
                  <p:par>
                    <p:cTn id="31" fill="hold">
                      <p:stCondLst>
                        <p:cond delay="indefinite"/>
                      </p:stCondLst>
                      <p:childTnLst>
                        <p:par>
                          <p:cTn id="32" fill="hold">
                            <p:stCondLst>
                              <p:cond delay="0"/>
                            </p:stCondLst>
                            <p:childTnLst>
                              <p:par>
                                <p:cTn id="33" presetID="14" presetClass="entr" presetSubtype="10" fill="hold" nodeType="clickEffect">
                                  <p:stCondLst>
                                    <p:cond delay="0"/>
                                  </p:stCondLst>
                                  <p:childTnLst>
                                    <p:set>
                                      <p:cBhvr>
                                        <p:cTn id="34" dur="1" fill="hold">
                                          <p:stCondLst>
                                            <p:cond delay="0"/>
                                          </p:stCondLst>
                                        </p:cTn>
                                        <p:tgtEl>
                                          <p:spTgt spid="4">
                                            <p:txEl>
                                              <p:pRg st="8" end="8"/>
                                            </p:txEl>
                                          </p:spTgt>
                                        </p:tgtEl>
                                        <p:attrNameLst>
                                          <p:attrName>style.visibility</p:attrName>
                                        </p:attrNameLst>
                                      </p:cBhvr>
                                      <p:to>
                                        <p:strVal val="visible"/>
                                      </p:to>
                                    </p:set>
                                    <p:animEffect transition="in" filter="randombar(horizontal)">
                                      <p:cBhvr>
                                        <p:cTn id="35" dur="500"/>
                                        <p:tgtEl>
                                          <p:spTgt spid="4">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92EA4F-76E6-3BC1-E2D3-8C35485C368F}"/>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8DA12107-02DD-4BCA-423C-7AE5A408D401}"/>
                  </a:ext>
                </a:extLst>
              </p:cNvPr>
              <p:cNvSpPr>
                <a:spLocks noGrp="1"/>
              </p:cNvSpPr>
              <p:nvPr>
                <p:ph idx="1"/>
              </p:nvPr>
            </p:nvSpPr>
            <p:spPr/>
            <p:txBody>
              <a:bodyPr anchor="ctr">
                <a:normAutofit/>
              </a:bodyPr>
              <a:lstStyle/>
              <a:p>
                <a:r>
                  <a:rPr lang="en-US" dirty="0">
                    <a:latin typeface="+mj-lt"/>
                  </a:rPr>
                  <a:t>Assume we have trained perfect link prediction and query answering models</a:t>
                </a:r>
              </a:p>
              <a:p>
                <a:r>
                  <a:rPr lang="en-US" dirty="0">
                    <a:latin typeface="+mj-lt"/>
                  </a:rPr>
                  <a:t>Let’s try to correct KG anomalies with reasoning</a:t>
                </a:r>
              </a:p>
              <a:p>
                <a:pPr marL="685800" lvl="1" indent="-342900">
                  <a:buFont typeface="+mj-lt"/>
                  <a:buAutoNum type="arabicPeriod"/>
                </a:pPr>
                <a:r>
                  <a:rPr lang="en-US" dirty="0">
                    <a:latin typeface="+mj-lt"/>
                  </a:rPr>
                  <a:t>Perform link prediction on the </a:t>
                </a:r>
                <a14:m>
                  <m:oMath xmlns:m="http://schemas.openxmlformats.org/officeDocument/2006/math">
                    <m:r>
                      <a:rPr lang="en-US" i="1">
                        <a:latin typeface="Cambria Math" panose="02040503050406030204" pitchFamily="18" charset="0"/>
                      </a:rPr>
                      <m:t>𝑛</m:t>
                    </m:r>
                    <m:r>
                      <a:rPr lang="en-US" i="1">
                        <a:latin typeface="Cambria Math" panose="02040503050406030204" pitchFamily="18" charset="0"/>
                      </a:rPr>
                      <m:t>×</m:t>
                    </m:r>
                    <m:r>
                      <a:rPr lang="en-US" i="1">
                        <a:latin typeface="Cambria Math" panose="02040503050406030204" pitchFamily="18" charset="0"/>
                      </a:rPr>
                      <m:t>𝑛</m:t>
                    </m:r>
                  </m:oMath>
                </a14:m>
                <a:r>
                  <a:rPr lang="en-US" dirty="0">
                    <a:latin typeface="+mj-lt"/>
                  </a:rPr>
                  <a:t> block, if no false entries stop; otherwise:</a:t>
                </a:r>
              </a:p>
              <a:p>
                <a:pPr marL="685800" lvl="1" indent="-342900">
                  <a:buFont typeface="+mj-lt"/>
                  <a:buAutoNum type="arabicPeriod"/>
                </a:pPr>
                <a:r>
                  <a:rPr lang="en-US" dirty="0">
                    <a:latin typeface="+mj-lt"/>
                  </a:rPr>
                  <a:t>Perform query answering to replace the incorrect entries with correct values, but now:</a:t>
                </a:r>
              </a:p>
              <a:p>
                <a:pPr marL="685800" lvl="1" indent="-342900">
                  <a:buFont typeface="+mj-lt"/>
                  <a:buAutoNum type="arabicPeriod"/>
                </a:pPr>
                <a:r>
                  <a:rPr lang="en-US" dirty="0">
                    <a:latin typeface="+mj-lt"/>
                  </a:rPr>
                  <a:t>Need to re-train the models on the block, requiring restarting everything from step 1</a:t>
                </a:r>
              </a:p>
              <a:p>
                <a:r>
                  <a:rPr lang="en-US" dirty="0">
                    <a:latin typeface="+mj-lt"/>
                  </a:rPr>
                  <a:t>Naïve idea with </a:t>
                </a:r>
                <a14:m>
                  <m:oMath xmlns:m="http://schemas.openxmlformats.org/officeDocument/2006/math">
                    <m:r>
                      <a:rPr lang="en-US" b="0" i="1" smtClean="0">
                        <a:latin typeface="Cambria Math" panose="02040503050406030204" pitchFamily="18" charset="0"/>
                      </a:rPr>
                      <m:t>𝑂</m:t>
                    </m:r>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𝑛</m:t>
                            </m:r>
                          </m:e>
                          <m:sup>
                            <m:r>
                              <a:rPr lang="en-US" b="0" i="1" smtClean="0">
                                <a:latin typeface="Cambria Math" panose="02040503050406030204" pitchFamily="18" charset="0"/>
                              </a:rPr>
                              <m:t>4</m:t>
                            </m:r>
                          </m:sup>
                        </m:sSup>
                        <m:d>
                          <m:dPr>
                            <m:ctrlPr>
                              <a:rPr lang="en-US" b="0" i="1" smtClean="0">
                                <a:latin typeface="Cambria Math" panose="02040503050406030204" pitchFamily="18" charset="0"/>
                              </a:rPr>
                            </m:ctrlPr>
                          </m:dPr>
                          <m:e>
                            <m:r>
                              <a:rPr lang="en-US" b="0" i="1" smtClean="0">
                                <a:latin typeface="Cambria Math" panose="02040503050406030204" pitchFamily="18" charset="0"/>
                              </a:rPr>
                              <m:t>1+</m:t>
                            </m:r>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𝑉</m:t>
                                </m:r>
                              </m:e>
                            </m:d>
                            <m:r>
                              <a:rPr lang="en-US" b="0" i="1" smtClean="0">
                                <a:latin typeface="Cambria Math" panose="02040503050406030204" pitchFamily="18" charset="0"/>
                              </a:rPr>
                              <m:t>+</m:t>
                            </m:r>
                            <m:d>
                              <m:dPr>
                                <m:ctrlPr>
                                  <a:rPr lang="en-US" b="0" i="1" smtClean="0">
                                    <a:latin typeface="Cambria Math" panose="02040503050406030204" pitchFamily="18" charset="0"/>
                                  </a:rPr>
                                </m:ctrlPr>
                              </m:dPr>
                              <m:e>
                                <m:r>
                                  <a:rPr lang="en-US" b="0" i="1" smtClean="0">
                                    <a:latin typeface="Cambria Math" panose="02040503050406030204" pitchFamily="18" charset="0"/>
                                  </a:rPr>
                                  <m:t>𝑚</m:t>
                                </m:r>
                                <m:r>
                                  <a:rPr lang="en-US" b="0" i="1" smtClean="0">
                                    <a:latin typeface="Cambria Math" panose="02040503050406030204" pitchFamily="18" charset="0"/>
                                  </a:rPr>
                                  <m:t>+1</m:t>
                                </m:r>
                              </m:e>
                            </m:d>
                            <m:sSub>
                              <m:sSubPr>
                                <m:ctrlPr>
                                  <a:rPr lang="en-US" b="0" i="1" smtClean="0">
                                    <a:latin typeface="Cambria Math" panose="02040503050406030204" pitchFamily="18" charset="0"/>
                                  </a:rPr>
                                </m:ctrlPr>
                              </m:sSubPr>
                              <m:e>
                                <m:r>
                                  <a:rPr lang="en-US" b="0" i="1" smtClean="0">
                                    <a:latin typeface="Cambria Math" panose="02040503050406030204" pitchFamily="18" charset="0"/>
                                  </a:rPr>
                                  <m:t>𝑛</m:t>
                                </m:r>
                              </m:e>
                              <m:sub>
                                <m:r>
                                  <a:rPr lang="en-US" b="0" i="1" smtClean="0">
                                    <a:latin typeface="Cambria Math" panose="02040503050406030204" pitchFamily="18" charset="0"/>
                                  </a:rPr>
                                  <m:t>𝑒</m:t>
                                </m:r>
                              </m:sub>
                            </m:sSub>
                          </m:e>
                        </m:d>
                      </m:e>
                    </m:d>
                  </m:oMath>
                </a14:m>
                <a:r>
                  <a:rPr lang="en-US" dirty="0">
                    <a:latin typeface="+mj-lt"/>
                  </a:rPr>
                  <a:t> cost…</a:t>
                </a:r>
              </a:p>
              <a:p>
                <a:pPr lvl="1"/>
                <a:r>
                  <a:rPr lang="en-US" dirty="0">
                    <a:latin typeface="+mj-lt"/>
                  </a:rPr>
                  <a:t>Only classification and ranking power over edges</a:t>
                </a:r>
              </a:p>
              <a:p>
                <a:pPr lvl="1"/>
                <a:r>
                  <a:rPr lang="en-US" dirty="0">
                    <a:latin typeface="+mj-lt"/>
                  </a:rPr>
                  <a:t>No estimation of noise level of the data</a:t>
                </a:r>
              </a:p>
              <a:p>
                <a:r>
                  <a:rPr lang="en-US" dirty="0">
                    <a:latin typeface="+mj-lt"/>
                  </a:rPr>
                  <a:t>Generative diffusion models</a:t>
                </a:r>
              </a:p>
              <a:p>
                <a:pPr lvl="1"/>
                <a:r>
                  <a:rPr lang="en-US" dirty="0">
                    <a:latin typeface="+mj-lt"/>
                  </a:rPr>
                  <a:t>Trained with data from diverse noise levels</a:t>
                </a:r>
              </a:p>
              <a:p>
                <a:pPr lvl="1"/>
                <a:r>
                  <a:rPr lang="en-US" dirty="0">
                    <a:latin typeface="+mj-lt"/>
                  </a:rPr>
                  <a:t>Structure matching only in expectation, but more scalable with </a:t>
                </a:r>
                <a14:m>
                  <m:oMath xmlns:m="http://schemas.openxmlformats.org/officeDocument/2006/math">
                    <m:r>
                      <a:rPr lang="en-US" i="1">
                        <a:latin typeface="Cambria Math" panose="02040503050406030204" pitchFamily="18" charset="0"/>
                      </a:rPr>
                      <m:t>𝑂</m:t>
                    </m:r>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b="0" i="1" smtClean="0">
                                <a:latin typeface="Cambria Math" panose="02040503050406030204" pitchFamily="18" charset="0"/>
                              </a:rPr>
                              <m:t>𝑇</m:t>
                            </m:r>
                            <m:r>
                              <a:rPr lang="en-US" i="1">
                                <a:latin typeface="Cambria Math" panose="02040503050406030204" pitchFamily="18" charset="0"/>
                              </a:rPr>
                              <m:t>𝑛</m:t>
                            </m:r>
                          </m:e>
                          <m:sup>
                            <m:r>
                              <a:rPr lang="en-US" b="0" i="1" smtClean="0">
                                <a:latin typeface="Cambria Math" panose="02040503050406030204" pitchFamily="18" charset="0"/>
                              </a:rPr>
                              <m:t>2</m:t>
                            </m:r>
                          </m:sup>
                        </m:sSup>
                      </m:e>
                    </m:d>
                  </m:oMath>
                </a14:m>
                <a:r>
                  <a:rPr lang="en-US" dirty="0">
                    <a:latin typeface="+mj-lt"/>
                  </a:rPr>
                  <a:t> cost</a:t>
                </a:r>
              </a:p>
            </p:txBody>
          </p:sp>
        </mc:Choice>
        <mc:Fallback xmlns="">
          <p:sp>
            <p:nvSpPr>
              <p:cNvPr id="4" name="Content Placeholder 3">
                <a:extLst>
                  <a:ext uri="{FF2B5EF4-FFF2-40B4-BE49-F238E27FC236}">
                    <a16:creationId xmlns:a16="http://schemas.microsoft.com/office/drawing/2014/main" id="{8DA12107-02DD-4BCA-423C-7AE5A408D401}"/>
                  </a:ext>
                </a:extLst>
              </p:cNvPr>
              <p:cNvSpPr>
                <a:spLocks noGrp="1" noRot="1" noChangeAspect="1" noMove="1" noResize="1" noEditPoints="1" noAdjustHandles="1" noChangeArrowheads="1" noChangeShapeType="1" noTextEdit="1"/>
              </p:cNvSpPr>
              <p:nvPr>
                <p:ph idx="1"/>
              </p:nvPr>
            </p:nvSpPr>
            <p:spPr>
              <a:blipFill>
                <a:blip r:embed="rId3"/>
                <a:stretch>
                  <a:fillRect t="-541" b="-1261"/>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F34E8B9B-7545-2889-2CC1-BE976B398E39}"/>
              </a:ext>
            </a:extLst>
          </p:cNvPr>
          <p:cNvSpPr>
            <a:spLocks noGrp="1"/>
          </p:cNvSpPr>
          <p:nvPr>
            <p:ph type="title"/>
          </p:nvPr>
        </p:nvSpPr>
        <p:spPr>
          <a:xfrm>
            <a:off x="904875" y="131032"/>
            <a:ext cx="7726363" cy="1072753"/>
          </a:xfrm>
        </p:spPr>
        <p:txBody>
          <a:bodyPr>
            <a:normAutofit/>
          </a:bodyPr>
          <a:lstStyle/>
          <a:p>
            <a:r>
              <a:rPr lang="en-US" dirty="0"/>
              <a:t>4.4	Generative KG Anomaly Correction</a:t>
            </a:r>
            <a:br>
              <a:rPr lang="en-US" sz="2400" b="0" i="1" dirty="0"/>
            </a:br>
            <a:r>
              <a:rPr lang="en-US" sz="2400" b="0" i="1" dirty="0"/>
              <a:t>Motivation - Naïve ideas will not work</a:t>
            </a:r>
            <a:endParaRPr lang="en-GB" sz="2400" b="0" i="1" dirty="0"/>
          </a:p>
        </p:txBody>
      </p:sp>
      <p:sp>
        <p:nvSpPr>
          <p:cNvPr id="5" name="Date Placeholder 4">
            <a:extLst>
              <a:ext uri="{FF2B5EF4-FFF2-40B4-BE49-F238E27FC236}">
                <a16:creationId xmlns:a16="http://schemas.microsoft.com/office/drawing/2014/main" id="{767855A7-1476-594A-794C-E5822F4A8258}"/>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A3705BB9-06E4-E011-E963-5F2BC9310093}"/>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F8C4F0C9-E8AE-265E-B943-204F6E44D447}"/>
              </a:ext>
            </a:extLst>
          </p:cNvPr>
          <p:cNvSpPr>
            <a:spLocks noGrp="1"/>
          </p:cNvSpPr>
          <p:nvPr>
            <p:ph type="sldNum" sz="quarter" idx="12"/>
          </p:nvPr>
        </p:nvSpPr>
        <p:spPr/>
        <p:txBody>
          <a:bodyPr/>
          <a:lstStyle/>
          <a:p>
            <a:fld id="{E1E1CD7C-2161-7D43-862E-CE4C333CD873}" type="slidenum">
              <a:rPr lang="fr-FR" smtClean="0"/>
              <a:pPr/>
              <a:t>68</a:t>
            </a:fld>
            <a:endParaRPr lang="fr-FR" dirty="0"/>
          </a:p>
        </p:txBody>
      </p:sp>
    </p:spTree>
    <p:extLst>
      <p:ext uri="{BB962C8B-B14F-4D97-AF65-F5344CB8AC3E}">
        <p14:creationId xmlns:p14="http://schemas.microsoft.com/office/powerpoint/2010/main" val="34102933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randombar(horizontal)">
                                      <p:cBhvr>
                                        <p:cTn id="7" dur="500"/>
                                        <p:tgtEl>
                                          <p:spTgt spid="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4">
                                            <p:txEl>
                                              <p:pRg st="1" end="1"/>
                                            </p:txEl>
                                          </p:spTgt>
                                        </p:tgtEl>
                                        <p:attrNameLst>
                                          <p:attrName>style.visibility</p:attrName>
                                        </p:attrNameLst>
                                      </p:cBhvr>
                                      <p:to>
                                        <p:strVal val="visible"/>
                                      </p:to>
                                    </p:set>
                                    <p:animEffect transition="in" filter="randombar(horizontal)">
                                      <p:cBhvr>
                                        <p:cTn id="12" dur="500"/>
                                        <p:tgtEl>
                                          <p:spTgt spid="4">
                                            <p:txEl>
                                              <p:pRg st="1" end="1"/>
                                            </p:txEl>
                                          </p:spTgt>
                                        </p:tgtEl>
                                      </p:cBhvr>
                                    </p:animEffect>
                                  </p:childTnLst>
                                </p:cTn>
                              </p:par>
                              <p:par>
                                <p:cTn id="13" presetID="14" presetClass="entr" presetSubtype="10" fill="hold" nodeType="with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animEffect transition="in" filter="randombar(horizontal)">
                                      <p:cBhvr>
                                        <p:cTn id="15" dur="500"/>
                                        <p:tgtEl>
                                          <p:spTgt spid="4">
                                            <p:txEl>
                                              <p:pRg st="2" end="2"/>
                                            </p:txEl>
                                          </p:spTgt>
                                        </p:tgtEl>
                                      </p:cBhvr>
                                    </p:animEffect>
                                  </p:childTnLst>
                                </p:cTn>
                              </p:par>
                              <p:par>
                                <p:cTn id="16" presetID="14" presetClass="entr" presetSubtype="10" fill="hold" nodeType="withEffect">
                                  <p:stCondLst>
                                    <p:cond delay="0"/>
                                  </p:stCondLst>
                                  <p:childTnLst>
                                    <p:set>
                                      <p:cBhvr>
                                        <p:cTn id="17" dur="1" fill="hold">
                                          <p:stCondLst>
                                            <p:cond delay="0"/>
                                          </p:stCondLst>
                                        </p:cTn>
                                        <p:tgtEl>
                                          <p:spTgt spid="4">
                                            <p:txEl>
                                              <p:pRg st="3" end="3"/>
                                            </p:txEl>
                                          </p:spTgt>
                                        </p:tgtEl>
                                        <p:attrNameLst>
                                          <p:attrName>style.visibility</p:attrName>
                                        </p:attrNameLst>
                                      </p:cBhvr>
                                      <p:to>
                                        <p:strVal val="visible"/>
                                      </p:to>
                                    </p:set>
                                    <p:animEffect transition="in" filter="randombar(horizontal)">
                                      <p:cBhvr>
                                        <p:cTn id="18" dur="500"/>
                                        <p:tgtEl>
                                          <p:spTgt spid="4">
                                            <p:txEl>
                                              <p:pRg st="3" end="3"/>
                                            </p:txEl>
                                          </p:spTgt>
                                        </p:tgtEl>
                                      </p:cBhvr>
                                    </p:animEffect>
                                  </p:childTnLst>
                                </p:cTn>
                              </p:par>
                              <p:par>
                                <p:cTn id="19" presetID="14" presetClass="entr" presetSubtype="10" fill="hold" nodeType="withEffect">
                                  <p:stCondLst>
                                    <p:cond delay="0"/>
                                  </p:stCondLst>
                                  <p:childTnLst>
                                    <p:set>
                                      <p:cBhvr>
                                        <p:cTn id="20" dur="1" fill="hold">
                                          <p:stCondLst>
                                            <p:cond delay="0"/>
                                          </p:stCondLst>
                                        </p:cTn>
                                        <p:tgtEl>
                                          <p:spTgt spid="4">
                                            <p:txEl>
                                              <p:pRg st="4" end="4"/>
                                            </p:txEl>
                                          </p:spTgt>
                                        </p:tgtEl>
                                        <p:attrNameLst>
                                          <p:attrName>style.visibility</p:attrName>
                                        </p:attrNameLst>
                                      </p:cBhvr>
                                      <p:to>
                                        <p:strVal val="visible"/>
                                      </p:to>
                                    </p:set>
                                    <p:animEffect transition="in" filter="randombar(horizontal)">
                                      <p:cBhvr>
                                        <p:cTn id="21" dur="500"/>
                                        <p:tgtEl>
                                          <p:spTgt spid="4">
                                            <p:txEl>
                                              <p:pRg st="4" end="4"/>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4" presetClass="entr" presetSubtype="10" fill="hold" nodeType="clickEffect">
                                  <p:stCondLst>
                                    <p:cond delay="0"/>
                                  </p:stCondLst>
                                  <p:childTnLst>
                                    <p:set>
                                      <p:cBhvr>
                                        <p:cTn id="25" dur="1" fill="hold">
                                          <p:stCondLst>
                                            <p:cond delay="0"/>
                                          </p:stCondLst>
                                        </p:cTn>
                                        <p:tgtEl>
                                          <p:spTgt spid="4">
                                            <p:txEl>
                                              <p:pRg st="5" end="5"/>
                                            </p:txEl>
                                          </p:spTgt>
                                        </p:tgtEl>
                                        <p:attrNameLst>
                                          <p:attrName>style.visibility</p:attrName>
                                        </p:attrNameLst>
                                      </p:cBhvr>
                                      <p:to>
                                        <p:strVal val="visible"/>
                                      </p:to>
                                    </p:set>
                                    <p:animEffect transition="in" filter="randombar(horizontal)">
                                      <p:cBhvr>
                                        <p:cTn id="26" dur="500"/>
                                        <p:tgtEl>
                                          <p:spTgt spid="4">
                                            <p:txEl>
                                              <p:pRg st="5" end="5"/>
                                            </p:txEl>
                                          </p:spTgt>
                                        </p:tgtEl>
                                      </p:cBhvr>
                                    </p:animEffect>
                                  </p:childTnLst>
                                </p:cTn>
                              </p:par>
                              <p:par>
                                <p:cTn id="27" presetID="14" presetClass="entr" presetSubtype="10" fill="hold" nodeType="withEffect">
                                  <p:stCondLst>
                                    <p:cond delay="0"/>
                                  </p:stCondLst>
                                  <p:childTnLst>
                                    <p:set>
                                      <p:cBhvr>
                                        <p:cTn id="28" dur="1" fill="hold">
                                          <p:stCondLst>
                                            <p:cond delay="0"/>
                                          </p:stCondLst>
                                        </p:cTn>
                                        <p:tgtEl>
                                          <p:spTgt spid="4">
                                            <p:txEl>
                                              <p:pRg st="6" end="6"/>
                                            </p:txEl>
                                          </p:spTgt>
                                        </p:tgtEl>
                                        <p:attrNameLst>
                                          <p:attrName>style.visibility</p:attrName>
                                        </p:attrNameLst>
                                      </p:cBhvr>
                                      <p:to>
                                        <p:strVal val="visible"/>
                                      </p:to>
                                    </p:set>
                                    <p:animEffect transition="in" filter="randombar(horizontal)">
                                      <p:cBhvr>
                                        <p:cTn id="29" dur="500"/>
                                        <p:tgtEl>
                                          <p:spTgt spid="4">
                                            <p:txEl>
                                              <p:pRg st="6" end="6"/>
                                            </p:txEl>
                                          </p:spTgt>
                                        </p:tgtEl>
                                      </p:cBhvr>
                                    </p:animEffect>
                                  </p:childTnLst>
                                </p:cTn>
                              </p:par>
                              <p:par>
                                <p:cTn id="30" presetID="14" presetClass="entr" presetSubtype="10" fill="hold" nodeType="withEffect">
                                  <p:stCondLst>
                                    <p:cond delay="0"/>
                                  </p:stCondLst>
                                  <p:childTnLst>
                                    <p:set>
                                      <p:cBhvr>
                                        <p:cTn id="31" dur="1" fill="hold">
                                          <p:stCondLst>
                                            <p:cond delay="0"/>
                                          </p:stCondLst>
                                        </p:cTn>
                                        <p:tgtEl>
                                          <p:spTgt spid="4">
                                            <p:txEl>
                                              <p:pRg st="7" end="7"/>
                                            </p:txEl>
                                          </p:spTgt>
                                        </p:tgtEl>
                                        <p:attrNameLst>
                                          <p:attrName>style.visibility</p:attrName>
                                        </p:attrNameLst>
                                      </p:cBhvr>
                                      <p:to>
                                        <p:strVal val="visible"/>
                                      </p:to>
                                    </p:set>
                                    <p:animEffect transition="in" filter="randombar(horizontal)">
                                      <p:cBhvr>
                                        <p:cTn id="32" dur="500"/>
                                        <p:tgtEl>
                                          <p:spTgt spid="4">
                                            <p:txEl>
                                              <p:pRg st="7" end="7"/>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4" presetClass="entr" presetSubtype="10" fill="hold" nodeType="clickEffect">
                                  <p:stCondLst>
                                    <p:cond delay="0"/>
                                  </p:stCondLst>
                                  <p:childTnLst>
                                    <p:set>
                                      <p:cBhvr>
                                        <p:cTn id="36" dur="1" fill="hold">
                                          <p:stCondLst>
                                            <p:cond delay="0"/>
                                          </p:stCondLst>
                                        </p:cTn>
                                        <p:tgtEl>
                                          <p:spTgt spid="4">
                                            <p:txEl>
                                              <p:pRg st="8" end="8"/>
                                            </p:txEl>
                                          </p:spTgt>
                                        </p:tgtEl>
                                        <p:attrNameLst>
                                          <p:attrName>style.visibility</p:attrName>
                                        </p:attrNameLst>
                                      </p:cBhvr>
                                      <p:to>
                                        <p:strVal val="visible"/>
                                      </p:to>
                                    </p:set>
                                    <p:animEffect transition="in" filter="randombar(horizontal)">
                                      <p:cBhvr>
                                        <p:cTn id="37" dur="500"/>
                                        <p:tgtEl>
                                          <p:spTgt spid="4">
                                            <p:txEl>
                                              <p:pRg st="8" end="8"/>
                                            </p:txEl>
                                          </p:spTgt>
                                        </p:tgtEl>
                                      </p:cBhvr>
                                    </p:animEffect>
                                  </p:childTnLst>
                                </p:cTn>
                              </p:par>
                              <p:par>
                                <p:cTn id="38" presetID="14" presetClass="entr" presetSubtype="10" fill="hold" nodeType="withEffect">
                                  <p:stCondLst>
                                    <p:cond delay="0"/>
                                  </p:stCondLst>
                                  <p:childTnLst>
                                    <p:set>
                                      <p:cBhvr>
                                        <p:cTn id="39" dur="1" fill="hold">
                                          <p:stCondLst>
                                            <p:cond delay="0"/>
                                          </p:stCondLst>
                                        </p:cTn>
                                        <p:tgtEl>
                                          <p:spTgt spid="4">
                                            <p:txEl>
                                              <p:pRg st="9" end="9"/>
                                            </p:txEl>
                                          </p:spTgt>
                                        </p:tgtEl>
                                        <p:attrNameLst>
                                          <p:attrName>style.visibility</p:attrName>
                                        </p:attrNameLst>
                                      </p:cBhvr>
                                      <p:to>
                                        <p:strVal val="visible"/>
                                      </p:to>
                                    </p:set>
                                    <p:animEffect transition="in" filter="randombar(horizontal)">
                                      <p:cBhvr>
                                        <p:cTn id="40" dur="500"/>
                                        <p:tgtEl>
                                          <p:spTgt spid="4">
                                            <p:txEl>
                                              <p:pRg st="9" end="9"/>
                                            </p:txEl>
                                          </p:spTgt>
                                        </p:tgtEl>
                                      </p:cBhvr>
                                    </p:animEffect>
                                  </p:childTnLst>
                                </p:cTn>
                              </p:par>
                              <p:par>
                                <p:cTn id="41" presetID="14" presetClass="entr" presetSubtype="10" fill="hold" nodeType="withEffect">
                                  <p:stCondLst>
                                    <p:cond delay="0"/>
                                  </p:stCondLst>
                                  <p:childTnLst>
                                    <p:set>
                                      <p:cBhvr>
                                        <p:cTn id="42" dur="1" fill="hold">
                                          <p:stCondLst>
                                            <p:cond delay="0"/>
                                          </p:stCondLst>
                                        </p:cTn>
                                        <p:tgtEl>
                                          <p:spTgt spid="4">
                                            <p:txEl>
                                              <p:pRg st="10" end="10"/>
                                            </p:txEl>
                                          </p:spTgt>
                                        </p:tgtEl>
                                        <p:attrNameLst>
                                          <p:attrName>style.visibility</p:attrName>
                                        </p:attrNameLst>
                                      </p:cBhvr>
                                      <p:to>
                                        <p:strVal val="visible"/>
                                      </p:to>
                                    </p:set>
                                    <p:animEffect transition="in" filter="randombar(horizontal)">
                                      <p:cBhvr>
                                        <p:cTn id="43" dur="500"/>
                                        <p:tgtEl>
                                          <p:spTgt spid="4">
                                            <p:txEl>
                                              <p:pRg st="10" end="1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8D7520-3AFD-DBF0-1BBF-351FC363F459}"/>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6620F9E6-C031-41D3-AADE-200493A73122}"/>
              </a:ext>
            </a:extLst>
          </p:cNvPr>
          <p:cNvSpPr>
            <a:spLocks noGrp="1"/>
          </p:cNvSpPr>
          <p:nvPr>
            <p:ph idx="1"/>
          </p:nvPr>
        </p:nvSpPr>
        <p:spPr/>
        <p:txBody>
          <a:bodyPr anchor="ctr">
            <a:normAutofit/>
          </a:bodyPr>
          <a:lstStyle/>
          <a:p>
            <a:r>
              <a:rPr lang="en-US" dirty="0" err="1">
                <a:latin typeface="+mj-lt"/>
              </a:rPr>
              <a:t>IntelliGraphs</a:t>
            </a:r>
            <a:r>
              <a:rPr lang="en-US" dirty="0">
                <a:latin typeface="+mj-lt"/>
              </a:rPr>
              <a:t> - </a:t>
            </a:r>
            <a:r>
              <a:rPr lang="en-US" dirty="0" err="1">
                <a:latin typeface="+mj-lt"/>
              </a:rPr>
              <a:t>Thanapalasingam</a:t>
            </a:r>
            <a:r>
              <a:rPr lang="en-US" dirty="0">
                <a:latin typeface="+mj-lt"/>
              </a:rPr>
              <a:t> et al. </a:t>
            </a:r>
            <a:r>
              <a:rPr lang="en-US" dirty="0">
                <a:solidFill>
                  <a:schemeClr val="accent1"/>
                </a:solidFill>
                <a:latin typeface="+mj-lt"/>
              </a:rPr>
              <a:t>[21]</a:t>
            </a:r>
          </a:p>
          <a:p>
            <a:pPr lvl="1"/>
            <a:r>
              <a:rPr lang="en-US" dirty="0">
                <a:latin typeface="+mj-lt"/>
              </a:rPr>
              <a:t>First approach in extending knowledge graph structure likelihood estimation from edges to whole subgraphs</a:t>
            </a:r>
          </a:p>
          <a:p>
            <a:pPr lvl="1"/>
            <a:r>
              <a:rPr lang="en-US" dirty="0">
                <a:latin typeface="+mj-lt"/>
              </a:rPr>
              <a:t>Negative result, provides some benchmarking datasets</a:t>
            </a:r>
          </a:p>
          <a:p>
            <a:r>
              <a:rPr lang="en-US" dirty="0">
                <a:latin typeface="+mj-lt"/>
              </a:rPr>
              <a:t>VGAEs - </a:t>
            </a:r>
            <a:r>
              <a:rPr lang="en-US" dirty="0" err="1">
                <a:latin typeface="+mj-lt"/>
              </a:rPr>
              <a:t>Mahmoudzadeh</a:t>
            </a:r>
            <a:r>
              <a:rPr lang="en-US" dirty="0">
                <a:latin typeface="+mj-lt"/>
              </a:rPr>
              <a:t> et al. </a:t>
            </a:r>
            <a:r>
              <a:rPr lang="en-US" dirty="0">
                <a:solidFill>
                  <a:schemeClr val="accent1"/>
                </a:solidFill>
                <a:latin typeface="+mj-lt"/>
              </a:rPr>
              <a:t>[26]</a:t>
            </a:r>
          </a:p>
          <a:p>
            <a:pPr lvl="1"/>
            <a:r>
              <a:rPr lang="en-US" dirty="0">
                <a:latin typeface="+mj-lt"/>
              </a:rPr>
              <a:t>VAEs for subgraph generation</a:t>
            </a:r>
          </a:p>
          <a:p>
            <a:pPr lvl="1"/>
            <a:r>
              <a:rPr lang="en-US" dirty="0">
                <a:latin typeface="+mj-lt"/>
              </a:rPr>
              <a:t>Still only evaluated for query answering without denoising experiments</a:t>
            </a:r>
          </a:p>
          <a:p>
            <a:r>
              <a:rPr lang="en-US" dirty="0" err="1">
                <a:latin typeface="+mj-lt"/>
              </a:rPr>
              <a:t>LLMsim</a:t>
            </a:r>
            <a:r>
              <a:rPr lang="en-US" dirty="0">
                <a:latin typeface="+mj-lt"/>
              </a:rPr>
              <a:t> - Dong et al. </a:t>
            </a:r>
            <a:r>
              <a:rPr lang="en-US" dirty="0">
                <a:solidFill>
                  <a:schemeClr val="accent1"/>
                </a:solidFill>
                <a:latin typeface="+mj-lt"/>
              </a:rPr>
              <a:t>[29]</a:t>
            </a:r>
          </a:p>
          <a:p>
            <a:pPr lvl="1"/>
            <a:r>
              <a:rPr lang="en-US" dirty="0">
                <a:latin typeface="+mj-lt"/>
              </a:rPr>
              <a:t>LLM-as-a-judge for knowledge triplet consistency across graph paths</a:t>
            </a:r>
          </a:p>
          <a:p>
            <a:pPr lvl="1"/>
            <a:r>
              <a:rPr lang="en-US" dirty="0">
                <a:latin typeface="+mj-lt"/>
              </a:rPr>
              <a:t>Requires textual entity and relation names, ignores graph structure checks</a:t>
            </a:r>
          </a:p>
        </p:txBody>
      </p:sp>
      <p:sp>
        <p:nvSpPr>
          <p:cNvPr id="8" name="Title 7">
            <a:extLst>
              <a:ext uri="{FF2B5EF4-FFF2-40B4-BE49-F238E27FC236}">
                <a16:creationId xmlns:a16="http://schemas.microsoft.com/office/drawing/2014/main" id="{79FA36B1-439B-9F0F-09F9-29BA9E5C5CF3}"/>
              </a:ext>
            </a:extLst>
          </p:cNvPr>
          <p:cNvSpPr>
            <a:spLocks noGrp="1"/>
          </p:cNvSpPr>
          <p:nvPr>
            <p:ph type="title"/>
          </p:nvPr>
        </p:nvSpPr>
        <p:spPr>
          <a:xfrm>
            <a:off x="904875" y="131032"/>
            <a:ext cx="7726363" cy="1072753"/>
          </a:xfrm>
        </p:spPr>
        <p:txBody>
          <a:bodyPr>
            <a:normAutofit/>
          </a:bodyPr>
          <a:lstStyle/>
          <a:p>
            <a:r>
              <a:rPr lang="en-US" dirty="0"/>
              <a:t>4.4	Generative KG Anomaly Correction</a:t>
            </a:r>
            <a:br>
              <a:rPr lang="en-US" sz="2400" b="0" i="1" dirty="0"/>
            </a:br>
            <a:r>
              <a:rPr lang="en-US" sz="2400" b="0" i="1" dirty="0"/>
              <a:t>Related work</a:t>
            </a:r>
            <a:endParaRPr lang="en-GB" sz="2400" b="0" i="1" dirty="0"/>
          </a:p>
        </p:txBody>
      </p:sp>
      <p:sp>
        <p:nvSpPr>
          <p:cNvPr id="5" name="Date Placeholder 4">
            <a:extLst>
              <a:ext uri="{FF2B5EF4-FFF2-40B4-BE49-F238E27FC236}">
                <a16:creationId xmlns:a16="http://schemas.microsoft.com/office/drawing/2014/main" id="{773E2C7E-96F6-FC0D-B93B-57923276862C}"/>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999B5910-1A7C-034C-C2A6-9E049E79F397}"/>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4ABABD2F-6D95-01F4-DF44-29920734D227}"/>
              </a:ext>
            </a:extLst>
          </p:cNvPr>
          <p:cNvSpPr>
            <a:spLocks noGrp="1"/>
          </p:cNvSpPr>
          <p:nvPr>
            <p:ph type="sldNum" sz="quarter" idx="12"/>
          </p:nvPr>
        </p:nvSpPr>
        <p:spPr/>
        <p:txBody>
          <a:bodyPr/>
          <a:lstStyle/>
          <a:p>
            <a:fld id="{E1E1CD7C-2161-7D43-862E-CE4C333CD873}" type="slidenum">
              <a:rPr lang="fr-FR" smtClean="0"/>
              <a:pPr/>
              <a:t>69</a:t>
            </a:fld>
            <a:endParaRPr lang="fr-FR" dirty="0"/>
          </a:p>
        </p:txBody>
      </p:sp>
    </p:spTree>
    <p:extLst>
      <p:ext uri="{BB962C8B-B14F-4D97-AF65-F5344CB8AC3E}">
        <p14:creationId xmlns:p14="http://schemas.microsoft.com/office/powerpoint/2010/main" val="34165923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randombar(horizontal)">
                                      <p:cBhvr>
                                        <p:cTn id="7" dur="500"/>
                                        <p:tgtEl>
                                          <p:spTgt spid="4">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4">
                                            <p:txEl>
                                              <p:pRg st="1" end="1"/>
                                            </p:txEl>
                                          </p:spTgt>
                                        </p:tgtEl>
                                        <p:attrNameLst>
                                          <p:attrName>style.visibility</p:attrName>
                                        </p:attrNameLst>
                                      </p:cBhvr>
                                      <p:to>
                                        <p:strVal val="visible"/>
                                      </p:to>
                                    </p:set>
                                    <p:animEffect transition="in" filter="randombar(horizontal)">
                                      <p:cBhvr>
                                        <p:cTn id="10" dur="500"/>
                                        <p:tgtEl>
                                          <p:spTgt spid="4">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4">
                                            <p:txEl>
                                              <p:pRg st="2" end="2"/>
                                            </p:txEl>
                                          </p:spTgt>
                                        </p:tgtEl>
                                        <p:attrNameLst>
                                          <p:attrName>style.visibility</p:attrName>
                                        </p:attrNameLst>
                                      </p:cBhvr>
                                      <p:to>
                                        <p:strVal val="visible"/>
                                      </p:to>
                                    </p:set>
                                    <p:animEffect transition="in" filter="randombar(horizontal)">
                                      <p:cBhvr>
                                        <p:cTn id="13" dur="500"/>
                                        <p:tgtEl>
                                          <p:spTgt spid="4">
                                            <p:txEl>
                                              <p:pRg st="2" end="2"/>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4" presetClass="entr" presetSubtype="10" fill="hold" nodeType="clickEffect">
                                  <p:stCondLst>
                                    <p:cond delay="0"/>
                                  </p:stCondLst>
                                  <p:childTnLst>
                                    <p:set>
                                      <p:cBhvr>
                                        <p:cTn id="17" dur="1" fill="hold">
                                          <p:stCondLst>
                                            <p:cond delay="0"/>
                                          </p:stCondLst>
                                        </p:cTn>
                                        <p:tgtEl>
                                          <p:spTgt spid="4">
                                            <p:txEl>
                                              <p:pRg st="3" end="3"/>
                                            </p:txEl>
                                          </p:spTgt>
                                        </p:tgtEl>
                                        <p:attrNameLst>
                                          <p:attrName>style.visibility</p:attrName>
                                        </p:attrNameLst>
                                      </p:cBhvr>
                                      <p:to>
                                        <p:strVal val="visible"/>
                                      </p:to>
                                    </p:set>
                                    <p:animEffect transition="in" filter="randombar(horizontal)">
                                      <p:cBhvr>
                                        <p:cTn id="18" dur="500"/>
                                        <p:tgtEl>
                                          <p:spTgt spid="4">
                                            <p:txEl>
                                              <p:pRg st="3" end="3"/>
                                            </p:txEl>
                                          </p:spTgt>
                                        </p:tgtEl>
                                      </p:cBhvr>
                                    </p:animEffect>
                                  </p:childTnLst>
                                </p:cTn>
                              </p:par>
                              <p:par>
                                <p:cTn id="19" presetID="14" presetClass="entr" presetSubtype="10" fill="hold" nodeType="withEffect">
                                  <p:stCondLst>
                                    <p:cond delay="0"/>
                                  </p:stCondLst>
                                  <p:childTnLst>
                                    <p:set>
                                      <p:cBhvr>
                                        <p:cTn id="20" dur="1" fill="hold">
                                          <p:stCondLst>
                                            <p:cond delay="0"/>
                                          </p:stCondLst>
                                        </p:cTn>
                                        <p:tgtEl>
                                          <p:spTgt spid="4">
                                            <p:txEl>
                                              <p:pRg st="4" end="4"/>
                                            </p:txEl>
                                          </p:spTgt>
                                        </p:tgtEl>
                                        <p:attrNameLst>
                                          <p:attrName>style.visibility</p:attrName>
                                        </p:attrNameLst>
                                      </p:cBhvr>
                                      <p:to>
                                        <p:strVal val="visible"/>
                                      </p:to>
                                    </p:set>
                                    <p:animEffect transition="in" filter="randombar(horizontal)">
                                      <p:cBhvr>
                                        <p:cTn id="21" dur="500"/>
                                        <p:tgtEl>
                                          <p:spTgt spid="4">
                                            <p:txEl>
                                              <p:pRg st="4" end="4"/>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4">
                                            <p:txEl>
                                              <p:pRg st="5" end="5"/>
                                            </p:txEl>
                                          </p:spTgt>
                                        </p:tgtEl>
                                        <p:attrNameLst>
                                          <p:attrName>style.visibility</p:attrName>
                                        </p:attrNameLst>
                                      </p:cBhvr>
                                      <p:to>
                                        <p:strVal val="visible"/>
                                      </p:to>
                                    </p:set>
                                    <p:animEffect transition="in" filter="randombar(horizontal)">
                                      <p:cBhvr>
                                        <p:cTn id="24" dur="500"/>
                                        <p:tgtEl>
                                          <p:spTgt spid="4">
                                            <p:txEl>
                                              <p:pRg st="5" end="5"/>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14" presetClass="entr" presetSubtype="10" fill="hold" nodeType="clickEffect">
                                  <p:stCondLst>
                                    <p:cond delay="0"/>
                                  </p:stCondLst>
                                  <p:childTnLst>
                                    <p:set>
                                      <p:cBhvr>
                                        <p:cTn id="28" dur="1" fill="hold">
                                          <p:stCondLst>
                                            <p:cond delay="0"/>
                                          </p:stCondLst>
                                        </p:cTn>
                                        <p:tgtEl>
                                          <p:spTgt spid="4">
                                            <p:txEl>
                                              <p:pRg st="6" end="6"/>
                                            </p:txEl>
                                          </p:spTgt>
                                        </p:tgtEl>
                                        <p:attrNameLst>
                                          <p:attrName>style.visibility</p:attrName>
                                        </p:attrNameLst>
                                      </p:cBhvr>
                                      <p:to>
                                        <p:strVal val="visible"/>
                                      </p:to>
                                    </p:set>
                                    <p:animEffect transition="in" filter="randombar(horizontal)">
                                      <p:cBhvr>
                                        <p:cTn id="29" dur="500"/>
                                        <p:tgtEl>
                                          <p:spTgt spid="4">
                                            <p:txEl>
                                              <p:pRg st="6" end="6"/>
                                            </p:txEl>
                                          </p:spTgt>
                                        </p:tgtEl>
                                      </p:cBhvr>
                                    </p:animEffect>
                                  </p:childTnLst>
                                </p:cTn>
                              </p:par>
                              <p:par>
                                <p:cTn id="30" presetID="14" presetClass="entr" presetSubtype="10" fill="hold" nodeType="withEffect">
                                  <p:stCondLst>
                                    <p:cond delay="0"/>
                                  </p:stCondLst>
                                  <p:childTnLst>
                                    <p:set>
                                      <p:cBhvr>
                                        <p:cTn id="31" dur="1" fill="hold">
                                          <p:stCondLst>
                                            <p:cond delay="0"/>
                                          </p:stCondLst>
                                        </p:cTn>
                                        <p:tgtEl>
                                          <p:spTgt spid="4">
                                            <p:txEl>
                                              <p:pRg st="7" end="7"/>
                                            </p:txEl>
                                          </p:spTgt>
                                        </p:tgtEl>
                                        <p:attrNameLst>
                                          <p:attrName>style.visibility</p:attrName>
                                        </p:attrNameLst>
                                      </p:cBhvr>
                                      <p:to>
                                        <p:strVal val="visible"/>
                                      </p:to>
                                    </p:set>
                                    <p:animEffect transition="in" filter="randombar(horizontal)">
                                      <p:cBhvr>
                                        <p:cTn id="32" dur="500"/>
                                        <p:tgtEl>
                                          <p:spTgt spid="4">
                                            <p:txEl>
                                              <p:pRg st="7" end="7"/>
                                            </p:txEl>
                                          </p:spTgt>
                                        </p:tgtEl>
                                      </p:cBhvr>
                                    </p:animEffect>
                                  </p:childTnLst>
                                </p:cTn>
                              </p:par>
                              <p:par>
                                <p:cTn id="33" presetID="14" presetClass="entr" presetSubtype="10" fill="hold" nodeType="withEffect">
                                  <p:stCondLst>
                                    <p:cond delay="0"/>
                                  </p:stCondLst>
                                  <p:childTnLst>
                                    <p:set>
                                      <p:cBhvr>
                                        <p:cTn id="34" dur="1" fill="hold">
                                          <p:stCondLst>
                                            <p:cond delay="0"/>
                                          </p:stCondLst>
                                        </p:cTn>
                                        <p:tgtEl>
                                          <p:spTgt spid="4">
                                            <p:txEl>
                                              <p:pRg st="8" end="8"/>
                                            </p:txEl>
                                          </p:spTgt>
                                        </p:tgtEl>
                                        <p:attrNameLst>
                                          <p:attrName>style.visibility</p:attrName>
                                        </p:attrNameLst>
                                      </p:cBhvr>
                                      <p:to>
                                        <p:strVal val="visible"/>
                                      </p:to>
                                    </p:set>
                                    <p:animEffect transition="in" filter="randombar(horizontal)">
                                      <p:cBhvr>
                                        <p:cTn id="35" dur="500"/>
                                        <p:tgtEl>
                                          <p:spTgt spid="4">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7423CA-72E8-9A67-8E11-0D67E728D22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Content Placeholder 1">
                <a:extLst>
                  <a:ext uri="{FF2B5EF4-FFF2-40B4-BE49-F238E27FC236}">
                    <a16:creationId xmlns:a16="http://schemas.microsoft.com/office/drawing/2014/main" id="{01A7199E-7E77-4F8E-9F48-813E349EAF28}"/>
                  </a:ext>
                </a:extLst>
              </p:cNvPr>
              <p:cNvSpPr>
                <a:spLocks noGrp="1"/>
              </p:cNvSpPr>
              <p:nvPr>
                <p:ph sz="half" idx="1"/>
              </p:nvPr>
            </p:nvSpPr>
            <p:spPr/>
            <p:txBody>
              <a:bodyPr anchor="ctr">
                <a:normAutofit/>
              </a:bodyPr>
              <a:lstStyle/>
              <a:p>
                <a:r>
                  <a:rPr lang="en-US" dirty="0">
                    <a:latin typeface="+mj-lt"/>
                  </a:rPr>
                  <a:t>KG subgraph sources</a:t>
                </a:r>
              </a:p>
              <a:p>
                <a:pPr lvl="1"/>
                <a:r>
                  <a:rPr lang="en-US" dirty="0">
                    <a:latin typeface="+mj-lt"/>
                  </a:rPr>
                  <a:t>Freebase, WordNet, NELL (again)</a:t>
                </a:r>
              </a:p>
              <a:p>
                <a:pPr lvl="1"/>
                <a14:m>
                  <m:oMath xmlns:m="http://schemas.openxmlformats.org/officeDocument/2006/math">
                    <m:r>
                      <a:rPr lang="en-US" b="0" i="1" smtClean="0">
                        <a:latin typeface="Cambria Math" panose="02040503050406030204" pitchFamily="18" charset="0"/>
                      </a:rPr>
                      <m:t>𝒟</m:t>
                    </m:r>
                    <m:r>
                      <a:rPr lang="en-US" b="0" i="1" smtClean="0">
                        <a:latin typeface="Cambria Math" panose="02040503050406030204" pitchFamily="18" charset="0"/>
                      </a:rPr>
                      <m:t>=</m:t>
                    </m:r>
                    <m:r>
                      <m:rPr>
                        <m:lit/>
                      </m:rPr>
                      <a:rPr lang="en-US" b="0" i="1" smtClean="0">
                        <a:latin typeface="Cambria Math" panose="02040503050406030204" pitchFamily="18" charset="0"/>
                      </a:rPr>
                      <m:t>{</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1" i="1" smtClean="0">
                                <a:latin typeface="Cambria Math" panose="02040503050406030204" pitchFamily="18" charset="0"/>
                              </a:rPr>
                              <m:t>𝒙</m:t>
                            </m:r>
                          </m:e>
                          <m:sub>
                            <m:r>
                              <a:rPr lang="en-US" b="0" i="1" smtClean="0">
                                <a:latin typeface="Cambria Math" panose="02040503050406030204" pitchFamily="18" charset="0"/>
                              </a:rPr>
                              <m:t>𝑖</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𝑖</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1" i="1" smtClean="0">
                                <a:latin typeface="Cambria Math" panose="02040503050406030204" pitchFamily="18" charset="0"/>
                              </a:rPr>
                              <m:t>𝒗</m:t>
                            </m:r>
                          </m:e>
                          <m:sub>
                            <m:r>
                              <a:rPr lang="en-US" b="0" i="1" smtClean="0">
                                <a:latin typeface="Cambria Math" panose="02040503050406030204" pitchFamily="18" charset="0"/>
                              </a:rPr>
                              <m:t>𝑖</m:t>
                            </m:r>
                          </m:sub>
                        </m:sSub>
                      </m:e>
                    </m:d>
                    <m:sSubSup>
                      <m:sSubSupPr>
                        <m:ctrlPr>
                          <a:rPr lang="en-US" b="0" i="1" smtClean="0">
                            <a:latin typeface="Cambria Math" panose="02040503050406030204" pitchFamily="18" charset="0"/>
                          </a:rPr>
                        </m:ctrlPr>
                      </m:sSubSupPr>
                      <m:e>
                        <m:r>
                          <m:rPr>
                            <m:lit/>
                          </m:rPr>
                          <a:rPr lang="en-US" b="0" i="1" smtClean="0">
                            <a:latin typeface="Cambria Math" panose="02040503050406030204" pitchFamily="18" charset="0"/>
                          </a:rPr>
                          <m:t>}</m:t>
                        </m:r>
                      </m:e>
                      <m:sub>
                        <m:r>
                          <a:rPr lang="en-US" b="0" i="1" smtClean="0">
                            <a:latin typeface="Cambria Math" panose="02040503050406030204" pitchFamily="18" charset="0"/>
                          </a:rPr>
                          <m:t>𝑖</m:t>
                        </m:r>
                        <m:r>
                          <a:rPr lang="en-US" b="0" i="1" smtClean="0">
                            <a:latin typeface="Cambria Math" panose="02040503050406030204" pitchFamily="18" charset="0"/>
                          </a:rPr>
                          <m:t>=1</m:t>
                        </m:r>
                      </m:sub>
                      <m:sup>
                        <m:r>
                          <a:rPr lang="en-US" b="0" i="1" smtClean="0">
                            <a:latin typeface="Cambria Math" panose="02040503050406030204" pitchFamily="18" charset="0"/>
                          </a:rPr>
                          <m:t>𝑁</m:t>
                        </m:r>
                      </m:sup>
                    </m:sSubSup>
                  </m:oMath>
                </a14:m>
                <a:endParaRPr lang="en-US" dirty="0">
                  <a:latin typeface="+mj-lt"/>
                </a:endParaRPr>
              </a:p>
              <a:p>
                <a:pPr lvl="1"/>
                <a:r>
                  <a:rPr lang="en-US" dirty="0">
                    <a:latin typeface="+mj-lt"/>
                  </a:rPr>
                  <a:t>Entity-labeled subgraphs of a large adjacency matrix</a:t>
                </a:r>
              </a:p>
              <a:p>
                <a:r>
                  <a:rPr lang="en-US" dirty="0">
                    <a:latin typeface="+mj-lt"/>
                  </a:rPr>
                  <a:t>Subgraph sampling</a:t>
                </a:r>
              </a:p>
              <a:p>
                <a:pPr lvl="1"/>
                <a:r>
                  <a:rPr lang="en-US" dirty="0">
                    <a:latin typeface="+mj-lt"/>
                  </a:rPr>
                  <a:t>DFS topological sorting</a:t>
                </a:r>
              </a:p>
              <a:p>
                <a:pPr lvl="1"/>
                <a:r>
                  <a:rPr lang="en-US" dirty="0">
                    <a:latin typeface="+mj-lt"/>
                  </a:rPr>
                  <a:t>Spanning tree splitting</a:t>
                </a:r>
              </a:p>
            </p:txBody>
          </p:sp>
        </mc:Choice>
        <mc:Fallback xmlns="">
          <p:sp>
            <p:nvSpPr>
              <p:cNvPr id="2" name="Content Placeholder 1">
                <a:extLst>
                  <a:ext uri="{FF2B5EF4-FFF2-40B4-BE49-F238E27FC236}">
                    <a16:creationId xmlns:a16="http://schemas.microsoft.com/office/drawing/2014/main" id="{01A7199E-7E77-4F8E-9F48-813E349EAF28}"/>
                  </a:ext>
                </a:extLst>
              </p:cNvPr>
              <p:cNvSpPr>
                <a:spLocks noGrp="1" noRot="1" noChangeAspect="1" noMove="1" noResize="1" noEditPoints="1" noAdjustHandles="1" noChangeArrowheads="1" noChangeShapeType="1" noTextEdit="1"/>
              </p:cNvSpPr>
              <p:nvPr>
                <p:ph sz="half" idx="1"/>
              </p:nvPr>
            </p:nvSpPr>
            <p:spPr>
              <a:blipFill>
                <a:blip r:embed="rId3"/>
                <a:stretch>
                  <a:fillRect/>
                </a:stretch>
              </a:blipFill>
            </p:spPr>
            <p:txBody>
              <a:bodyPr/>
              <a:lstStyle/>
              <a:p>
                <a:r>
                  <a:rPr lang="en-GB">
                    <a:noFill/>
                  </a:rPr>
                  <a:t> </a:t>
                </a:r>
              </a:p>
            </p:txBody>
          </p:sp>
        </mc:Fallback>
      </mc:AlternateContent>
      <p:pic>
        <p:nvPicPr>
          <p:cNvPr id="10" name="Content Placeholder 9" descr="A grid of colored lines and dots&#10;&#10;AI-generated content may be incorrect.">
            <a:extLst>
              <a:ext uri="{FF2B5EF4-FFF2-40B4-BE49-F238E27FC236}">
                <a16:creationId xmlns:a16="http://schemas.microsoft.com/office/drawing/2014/main" id="{1276975A-4FF2-494A-FBD1-8FB69BACF44E}"/>
              </a:ext>
            </a:extLst>
          </p:cNvPr>
          <p:cNvPicPr>
            <a:picLocks noGrp="1" noChangeAspect="1"/>
          </p:cNvPicPr>
          <p:nvPr>
            <p:ph sz="half" idx="2"/>
          </p:nvPr>
        </p:nvPicPr>
        <p:blipFill>
          <a:blip r:embed="rId4"/>
          <a:stretch>
            <a:fillRect/>
          </a:stretch>
        </p:blipFill>
        <p:spPr>
          <a:xfrm>
            <a:off x="5163344" y="1563688"/>
            <a:ext cx="3263900" cy="3263900"/>
          </a:xfrm>
        </p:spPr>
      </p:pic>
      <p:sp>
        <p:nvSpPr>
          <p:cNvPr id="8" name="Title 7">
            <a:extLst>
              <a:ext uri="{FF2B5EF4-FFF2-40B4-BE49-F238E27FC236}">
                <a16:creationId xmlns:a16="http://schemas.microsoft.com/office/drawing/2014/main" id="{4EB192D1-2F12-8D5D-A8D9-16C0DAEF3833}"/>
              </a:ext>
            </a:extLst>
          </p:cNvPr>
          <p:cNvSpPr>
            <a:spLocks noGrp="1"/>
          </p:cNvSpPr>
          <p:nvPr>
            <p:ph type="title"/>
          </p:nvPr>
        </p:nvSpPr>
        <p:spPr>
          <a:xfrm>
            <a:off x="904875" y="131032"/>
            <a:ext cx="7726363" cy="1072753"/>
          </a:xfrm>
        </p:spPr>
        <p:txBody>
          <a:bodyPr>
            <a:normAutofit/>
          </a:bodyPr>
          <a:lstStyle/>
          <a:p>
            <a:r>
              <a:rPr lang="en-US" dirty="0"/>
              <a:t>4.4	Generative KG Anomaly Correction</a:t>
            </a:r>
            <a:br>
              <a:rPr lang="en-US" sz="2400" b="0" i="1" dirty="0"/>
            </a:br>
            <a:r>
              <a:rPr lang="en-US" sz="2400" b="0" i="1" dirty="0"/>
              <a:t>Experiment setup - Data</a:t>
            </a:r>
            <a:endParaRPr lang="en-GB" sz="2400" b="0" i="1" dirty="0"/>
          </a:p>
        </p:txBody>
      </p:sp>
      <p:sp>
        <p:nvSpPr>
          <p:cNvPr id="5" name="Date Placeholder 4">
            <a:extLst>
              <a:ext uri="{FF2B5EF4-FFF2-40B4-BE49-F238E27FC236}">
                <a16:creationId xmlns:a16="http://schemas.microsoft.com/office/drawing/2014/main" id="{1D0E5E8F-145F-764B-77A6-9023BB1C56EB}"/>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6339DA48-3B00-BEF0-83A8-AA695C24C3D3}"/>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8241943F-F1CD-3DC2-45F5-70F98F6A2FDB}"/>
              </a:ext>
            </a:extLst>
          </p:cNvPr>
          <p:cNvSpPr>
            <a:spLocks noGrp="1"/>
          </p:cNvSpPr>
          <p:nvPr>
            <p:ph type="sldNum" sz="quarter" idx="12"/>
          </p:nvPr>
        </p:nvSpPr>
        <p:spPr/>
        <p:txBody>
          <a:bodyPr/>
          <a:lstStyle/>
          <a:p>
            <a:fld id="{E1E1CD7C-2161-7D43-862E-CE4C333CD873}" type="slidenum">
              <a:rPr lang="fr-FR" smtClean="0"/>
              <a:pPr/>
              <a:t>70</a:t>
            </a:fld>
            <a:endParaRPr lang="fr-FR" dirty="0"/>
          </a:p>
        </p:txBody>
      </p:sp>
    </p:spTree>
    <p:extLst>
      <p:ext uri="{BB962C8B-B14F-4D97-AF65-F5344CB8AC3E}">
        <p14:creationId xmlns:p14="http://schemas.microsoft.com/office/powerpoint/2010/main" val="34907955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randombar(horizontal)">
                                      <p:cBhvr>
                                        <p:cTn id="7" dur="500"/>
                                        <p:tgtEl>
                                          <p:spTgt spid="2">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2">
                                            <p:txEl>
                                              <p:pRg st="1" end="1"/>
                                            </p:txEl>
                                          </p:spTgt>
                                        </p:tgtEl>
                                        <p:attrNameLst>
                                          <p:attrName>style.visibility</p:attrName>
                                        </p:attrNameLst>
                                      </p:cBhvr>
                                      <p:to>
                                        <p:strVal val="visible"/>
                                      </p:to>
                                    </p:set>
                                    <p:animEffect transition="in" filter="randombar(horizontal)">
                                      <p:cBhvr>
                                        <p:cTn id="10" dur="500"/>
                                        <p:tgtEl>
                                          <p:spTgt spid="2">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animEffect transition="in" filter="randombar(horizontal)">
                                      <p:cBhvr>
                                        <p:cTn id="13" dur="500"/>
                                        <p:tgtEl>
                                          <p:spTgt spid="2">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2">
                                            <p:txEl>
                                              <p:pRg st="3" end="3"/>
                                            </p:txEl>
                                          </p:spTgt>
                                        </p:tgtEl>
                                        <p:attrNameLst>
                                          <p:attrName>style.visibility</p:attrName>
                                        </p:attrNameLst>
                                      </p:cBhvr>
                                      <p:to>
                                        <p:strVal val="visible"/>
                                      </p:to>
                                    </p:set>
                                    <p:animEffect transition="in" filter="randombar(horizontal)">
                                      <p:cBhvr>
                                        <p:cTn id="16" dur="500"/>
                                        <p:tgtEl>
                                          <p:spTgt spid="2">
                                            <p:txEl>
                                              <p:pRg st="3" end="3"/>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4" presetClass="entr" presetSubtype="10" fill="hold" nodeType="clickEffect">
                                  <p:stCondLst>
                                    <p:cond delay="0"/>
                                  </p:stCondLst>
                                  <p:childTnLst>
                                    <p:set>
                                      <p:cBhvr>
                                        <p:cTn id="20" dur="1" fill="hold">
                                          <p:stCondLst>
                                            <p:cond delay="0"/>
                                          </p:stCondLst>
                                        </p:cTn>
                                        <p:tgtEl>
                                          <p:spTgt spid="2">
                                            <p:txEl>
                                              <p:pRg st="4" end="4"/>
                                            </p:txEl>
                                          </p:spTgt>
                                        </p:tgtEl>
                                        <p:attrNameLst>
                                          <p:attrName>style.visibility</p:attrName>
                                        </p:attrNameLst>
                                      </p:cBhvr>
                                      <p:to>
                                        <p:strVal val="visible"/>
                                      </p:to>
                                    </p:set>
                                    <p:animEffect transition="in" filter="randombar(horizontal)">
                                      <p:cBhvr>
                                        <p:cTn id="21" dur="500"/>
                                        <p:tgtEl>
                                          <p:spTgt spid="2">
                                            <p:txEl>
                                              <p:pRg st="4" end="4"/>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2">
                                            <p:txEl>
                                              <p:pRg st="5" end="5"/>
                                            </p:txEl>
                                          </p:spTgt>
                                        </p:tgtEl>
                                        <p:attrNameLst>
                                          <p:attrName>style.visibility</p:attrName>
                                        </p:attrNameLst>
                                      </p:cBhvr>
                                      <p:to>
                                        <p:strVal val="visible"/>
                                      </p:to>
                                    </p:set>
                                    <p:animEffect transition="in" filter="randombar(horizontal)">
                                      <p:cBhvr>
                                        <p:cTn id="24" dur="500"/>
                                        <p:tgtEl>
                                          <p:spTgt spid="2">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2">
                                            <p:txEl>
                                              <p:pRg st="6" end="6"/>
                                            </p:txEl>
                                          </p:spTgt>
                                        </p:tgtEl>
                                        <p:attrNameLst>
                                          <p:attrName>style.visibility</p:attrName>
                                        </p:attrNameLst>
                                      </p:cBhvr>
                                      <p:to>
                                        <p:strVal val="visible"/>
                                      </p:to>
                                    </p:set>
                                    <p:animEffect transition="in" filter="randombar(horizontal)">
                                      <p:cBhvr>
                                        <p:cTn id="27" dur="500"/>
                                        <p:tgtEl>
                                          <p:spTgt spid="2">
                                            <p:txEl>
                                              <p:pRg st="6" end="6"/>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10"/>
                                        </p:tgtEl>
                                        <p:attrNameLst>
                                          <p:attrName>style.visibility</p:attrName>
                                        </p:attrNameLst>
                                      </p:cBhvr>
                                      <p:to>
                                        <p:strVal val="visible"/>
                                      </p:to>
                                    </p:set>
                                    <p:animEffect transition="in" filter="randombar(horizontal)">
                                      <p:cBhvr>
                                        <p:cTn id="30"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3C8EA7-BFD2-5E43-BFE6-AF46B413272C}"/>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 name="Content Placeholder 1">
                <a:extLst>
                  <a:ext uri="{FF2B5EF4-FFF2-40B4-BE49-F238E27FC236}">
                    <a16:creationId xmlns:a16="http://schemas.microsoft.com/office/drawing/2014/main" id="{AB975C25-1285-19DF-5C51-EF889169D3E3}"/>
                  </a:ext>
                </a:extLst>
              </p:cNvPr>
              <p:cNvSpPr>
                <a:spLocks noGrp="1"/>
              </p:cNvSpPr>
              <p:nvPr>
                <p:ph sz="half" idx="1"/>
              </p:nvPr>
            </p:nvSpPr>
            <p:spPr>
              <a:xfrm>
                <a:off x="904875" y="1563688"/>
                <a:ext cx="4493602" cy="3263504"/>
              </a:xfrm>
            </p:spPr>
            <p:txBody>
              <a:bodyPr anchor="ctr">
                <a:normAutofit/>
              </a:bodyPr>
              <a:lstStyle/>
              <a:p>
                <a:r>
                  <a:rPr lang="en-US" dirty="0">
                    <a:latin typeface="+mj-lt"/>
                  </a:rPr>
                  <a:t>Conditional edge diffusion</a:t>
                </a:r>
              </a:p>
              <a:p>
                <a:pPr lvl="1"/>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𝑓</m:t>
                        </m:r>
                      </m:e>
                      <m:sub>
                        <m:r>
                          <a:rPr lang="en-US" b="0" i="1" smtClean="0">
                            <a:latin typeface="Cambria Math" panose="02040503050406030204" pitchFamily="18" charset="0"/>
                          </a:rPr>
                          <m:t>𝑡</m:t>
                        </m:r>
                      </m:sub>
                    </m:sSub>
                    <m:r>
                      <a:rPr lang="en-US" b="0" i="1" smtClean="0">
                        <a:latin typeface="Cambria Math" panose="02040503050406030204" pitchFamily="18" charset="0"/>
                      </a:rPr>
                      <m:t> </m:t>
                    </m:r>
                  </m:oMath>
                </a14:m>
                <a:r>
                  <a:rPr lang="en-US" dirty="0">
                    <a:latin typeface="+mj-lt"/>
                  </a:rPr>
                  <a:t>as models of </a:t>
                </a:r>
                <a14:m>
                  <m:oMath xmlns:m="http://schemas.openxmlformats.org/officeDocument/2006/math">
                    <m:r>
                      <a:rPr lang="en-US" b="0" i="1" smtClean="0">
                        <a:latin typeface="Cambria Math" panose="02040503050406030204" pitchFamily="18" charset="0"/>
                      </a:rPr>
                      <m:t>ℙ</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𝑡</m:t>
                            </m:r>
                            <m:r>
                              <a:rPr lang="en-US" b="0" i="1" smtClean="0">
                                <a:latin typeface="Cambria Math" panose="02040503050406030204" pitchFamily="18" charset="0"/>
                              </a:rPr>
                              <m:t>−1</m:t>
                            </m:r>
                          </m:sub>
                        </m:sSub>
                      </m:e>
                      <m:e>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𝑡</m:t>
                            </m:r>
                          </m:sub>
                        </m:sSub>
                        <m:r>
                          <a:rPr lang="en-US" b="0" i="1" smtClean="0">
                            <a:latin typeface="Cambria Math" panose="02040503050406030204" pitchFamily="18" charset="0"/>
                          </a:rPr>
                          <m:t>,</m:t>
                        </m:r>
                        <m:r>
                          <a:rPr lang="en-US" b="1" i="1" smtClean="0">
                            <a:latin typeface="Cambria Math" panose="02040503050406030204" pitchFamily="18" charset="0"/>
                          </a:rPr>
                          <m:t>𝒙</m:t>
                        </m:r>
                        <m:r>
                          <a:rPr lang="en-US" b="0" i="1" smtClean="0">
                            <a:latin typeface="Cambria Math" panose="02040503050406030204" pitchFamily="18" charset="0"/>
                          </a:rPr>
                          <m:t>,</m:t>
                        </m:r>
                        <m:r>
                          <a:rPr lang="en-US" b="1" i="1" smtClean="0">
                            <a:latin typeface="Cambria Math" panose="02040503050406030204" pitchFamily="18" charset="0"/>
                          </a:rPr>
                          <m:t>𝒗</m:t>
                        </m:r>
                      </m:e>
                    </m:d>
                  </m:oMath>
                </a14:m>
                <a:endParaRPr lang="en-GB" dirty="0">
                  <a:latin typeface="+mj-lt"/>
                </a:endParaRPr>
              </a:p>
              <a:p>
                <a:pPr lvl="1"/>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𝑔</m:t>
                        </m:r>
                      </m:e>
                      <m:sub>
                        <m:r>
                          <a:rPr lang="en-US" b="0" i="1" smtClean="0">
                            <a:latin typeface="Cambria Math" panose="02040503050406030204" pitchFamily="18" charset="0"/>
                          </a:rPr>
                          <m:t>𝑡</m:t>
                        </m:r>
                      </m:sub>
                    </m:sSub>
                    <m: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r>
                          <m:rPr>
                            <m:sty m:val="p"/>
                          </m:rPr>
                          <a:rPr lang="en-US" b="0" i="0" smtClean="0">
                            <a:latin typeface="Cambria Math" panose="02040503050406030204" pitchFamily="18" charset="0"/>
                          </a:rPr>
                          <m:t>arg</m:t>
                        </m:r>
                      </m:fName>
                      <m:e>
                        <m:func>
                          <m:funcPr>
                            <m:ctrlPr>
                              <a:rPr lang="en-US" b="0" i="1" smtClean="0">
                                <a:latin typeface="Cambria Math" panose="02040503050406030204" pitchFamily="18" charset="0"/>
                              </a:rPr>
                            </m:ctrlPr>
                          </m:funcPr>
                          <m:fName>
                            <m:r>
                              <m:rPr>
                                <m:sty m:val="p"/>
                              </m:rPr>
                              <a:rPr lang="en-US" b="0" i="0" smtClean="0">
                                <a:latin typeface="Cambria Math" panose="02040503050406030204" pitchFamily="18" charset="0"/>
                              </a:rPr>
                              <m:t>min</m:t>
                            </m:r>
                          </m:fName>
                          <m:e>
                            <m:sSub>
                              <m:sSubPr>
                                <m:ctrlPr>
                                  <a:rPr lang="en-US" b="0" i="1" smtClean="0">
                                    <a:latin typeface="Cambria Math" panose="02040503050406030204" pitchFamily="18" charset="0"/>
                                  </a:rPr>
                                </m:ctrlPr>
                              </m:sSubPr>
                              <m:e>
                                <m:r>
                                  <a:rPr lang="en-US" b="0" i="1" smtClean="0">
                                    <a:latin typeface="Cambria Math" panose="02040503050406030204" pitchFamily="18" charset="0"/>
                                  </a:rPr>
                                  <m:t>𝔼</m:t>
                                </m:r>
                              </m:e>
                              <m:sub>
                                <m:r>
                                  <a:rPr lang="en-US" b="0" i="1" smtClean="0">
                                    <a:latin typeface="Cambria Math" panose="02040503050406030204" pitchFamily="18" charset="0"/>
                                  </a:rPr>
                                  <m:t>𝒟</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𝑍</m:t>
                                    </m:r>
                                  </m:e>
                                  <m:sub>
                                    <m:r>
                                      <a:rPr lang="en-US" b="0" i="1" smtClean="0">
                                        <a:latin typeface="Cambria Math" panose="02040503050406030204" pitchFamily="18" charset="0"/>
                                      </a:rPr>
                                      <m:t>𝐴</m:t>
                                    </m:r>
                                  </m:sub>
                                </m:sSub>
                              </m:sub>
                            </m:sSub>
                          </m:e>
                        </m:func>
                      </m:e>
                    </m:func>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r>
                              <m:rPr>
                                <m:sty m:val="p"/>
                              </m:rPr>
                              <a:rPr lang="en-US" b="0" i="0" smtClean="0">
                                <a:latin typeface="Cambria Math" panose="02040503050406030204" pitchFamily="18" charset="0"/>
                              </a:rPr>
                              <m:t>log</m:t>
                            </m:r>
                          </m:fName>
                          <m:e>
                            <m:r>
                              <a:rPr lang="en-US" i="1">
                                <a:latin typeface="Cambria Math" panose="02040503050406030204" pitchFamily="18" charset="0"/>
                              </a:rPr>
                              <m:t>ℙ</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𝑡</m:t>
                                    </m:r>
                                    <m:r>
                                      <a:rPr lang="en-US" i="1">
                                        <a:latin typeface="Cambria Math" panose="02040503050406030204" pitchFamily="18" charset="0"/>
                                      </a:rPr>
                                      <m:t>−1</m:t>
                                    </m:r>
                                  </m:sub>
                                </m:sSub>
                              </m:e>
                              <m:e>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𝑡</m:t>
                                    </m:r>
                                  </m:sub>
                                </m:sSub>
                                <m:r>
                                  <a:rPr lang="en-US" i="1">
                                    <a:latin typeface="Cambria Math" panose="02040503050406030204" pitchFamily="18" charset="0"/>
                                  </a:rPr>
                                  <m:t>,</m:t>
                                </m:r>
                                <m:r>
                                  <a:rPr lang="en-US" b="1" i="1">
                                    <a:latin typeface="Cambria Math" panose="02040503050406030204" pitchFamily="18" charset="0"/>
                                  </a:rPr>
                                  <m:t>𝒙</m:t>
                                </m:r>
                                <m:r>
                                  <a:rPr lang="en-US" i="1">
                                    <a:latin typeface="Cambria Math" panose="02040503050406030204" pitchFamily="18" charset="0"/>
                                  </a:rPr>
                                  <m:t>,</m:t>
                                </m:r>
                                <m:r>
                                  <a:rPr lang="en-US" b="1" i="1">
                                    <a:latin typeface="Cambria Math" panose="02040503050406030204" pitchFamily="18" charset="0"/>
                                  </a:rPr>
                                  <m:t>𝒗</m:t>
                                </m:r>
                              </m:e>
                            </m:d>
                          </m:e>
                        </m:func>
                      </m:e>
                    </m:d>
                  </m:oMath>
                </a14:m>
                <a:endParaRPr lang="en-GB" dirty="0">
                  <a:latin typeface="+mj-lt"/>
                </a:endParaRPr>
              </a:p>
              <a:p>
                <a:r>
                  <a:rPr lang="en-GB" dirty="0">
                    <a:latin typeface="+mj-lt"/>
                  </a:rPr>
                  <a:t>Optional masking for context conditioning</a:t>
                </a:r>
              </a:p>
              <a:p>
                <a:pPr lvl="1"/>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𝑡</m:t>
                        </m:r>
                      </m:sub>
                    </m:sSub>
                    <m:r>
                      <a:rPr lang="en-US" b="0" i="1" smtClean="0">
                        <a:latin typeface="Cambria Math" panose="02040503050406030204" pitchFamily="18" charset="0"/>
                      </a:rPr>
                      <m:t>=</m:t>
                    </m:r>
                    <m:r>
                      <a:rPr lang="en-US" b="1" i="1" smtClean="0">
                        <a:latin typeface="Cambria Math" panose="02040503050406030204" pitchFamily="18" charset="0"/>
                      </a:rPr>
                      <m:t>𝑴</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𝐴</m:t>
                            </m:r>
                          </m:e>
                        </m:acc>
                      </m:e>
                      <m:sub>
                        <m:r>
                          <a:rPr lang="en-US" b="0" i="1" smtClean="0">
                            <a:latin typeface="Cambria Math" panose="02040503050406030204" pitchFamily="18" charset="0"/>
                          </a:rPr>
                          <m:t>𝑡</m:t>
                        </m:r>
                      </m:sub>
                    </m:sSub>
                    <m:r>
                      <a:rPr lang="en-US" b="0" i="1" smtClean="0">
                        <a:latin typeface="Cambria Math" panose="02040503050406030204" pitchFamily="18" charset="0"/>
                      </a:rPr>
                      <m:t>+</m:t>
                    </m:r>
                    <m:d>
                      <m:dPr>
                        <m:ctrlPr>
                          <a:rPr lang="en-US" b="0" i="1" smtClean="0">
                            <a:latin typeface="Cambria Math" panose="02040503050406030204" pitchFamily="18" charset="0"/>
                          </a:rPr>
                        </m:ctrlPr>
                      </m:dPr>
                      <m:e>
                        <m:r>
                          <a:rPr lang="en-US" b="0" i="1" smtClean="0">
                            <a:latin typeface="Cambria Math" panose="02040503050406030204" pitchFamily="18" charset="0"/>
                          </a:rPr>
                          <m:t>1−</m:t>
                        </m:r>
                        <m:r>
                          <a:rPr lang="en-US" b="1" i="1" smtClean="0">
                            <a:latin typeface="Cambria Math" panose="02040503050406030204" pitchFamily="18" charset="0"/>
                          </a:rPr>
                          <m:t>𝑴</m:t>
                        </m:r>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0</m:t>
                        </m:r>
                      </m:sub>
                    </m:sSub>
                  </m:oMath>
                </a14:m>
                <a:endParaRPr lang="en-US" b="0" i="1" dirty="0">
                  <a:latin typeface="Cambria Math" panose="02040503050406030204" pitchFamily="18" charset="0"/>
                </a:endParaRPr>
              </a:p>
              <a:p>
                <a:pPr lvl="1"/>
                <a14:m>
                  <m:oMath xmlns:m="http://schemas.openxmlformats.org/officeDocument/2006/math">
                    <m:r>
                      <a:rPr lang="en-US" b="0" i="1" smtClean="0">
                        <a:latin typeface="Cambria Math" panose="02040503050406030204" pitchFamily="18" charset="0"/>
                      </a:rPr>
                      <m:t> </m:t>
                    </m:r>
                    <m:sSub>
                      <m:sSubPr>
                        <m:ctrlPr>
                          <a:rPr lang="en-US" i="1">
                            <a:latin typeface="Cambria Math" panose="02040503050406030204" pitchFamily="18" charset="0"/>
                          </a:rPr>
                        </m:ctrlPr>
                      </m:sSubPr>
                      <m:e>
                        <m:acc>
                          <m:accPr>
                            <m:chr m:val="̂"/>
                            <m:ctrlPr>
                              <a:rPr lang="en-US" i="1">
                                <a:latin typeface="Cambria Math" panose="02040503050406030204" pitchFamily="18" charset="0"/>
                              </a:rPr>
                            </m:ctrlPr>
                          </m:accPr>
                          <m:e>
                            <m:r>
                              <a:rPr lang="en-US" i="1">
                                <a:latin typeface="Cambria Math" panose="02040503050406030204" pitchFamily="18" charset="0"/>
                              </a:rPr>
                              <m:t>𝐴</m:t>
                            </m:r>
                          </m:e>
                        </m:acc>
                      </m:e>
                      <m:sub>
                        <m:r>
                          <a:rPr lang="en-US" i="1">
                            <a:latin typeface="Cambria Math" panose="02040503050406030204" pitchFamily="18" charset="0"/>
                          </a:rPr>
                          <m:t>𝑡</m:t>
                        </m:r>
                      </m:sub>
                    </m:sSub>
                    <m:r>
                      <a:rPr lang="en-US" i="1">
                        <a:latin typeface="Cambria Math" panose="02040503050406030204" pitchFamily="18" charset="0"/>
                      </a:rPr>
                      <m:t>=</m:t>
                    </m:r>
                    <m:r>
                      <a:rPr lang="en-US" b="1" i="1">
                        <a:latin typeface="Cambria Math" panose="02040503050406030204" pitchFamily="18" charset="0"/>
                      </a:rPr>
                      <m:t>𝑴</m:t>
                    </m:r>
                    <m:r>
                      <a:rPr lang="en-US" i="1">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𝑔</m:t>
                        </m:r>
                      </m:e>
                      <m:sub>
                        <m:r>
                          <a:rPr lang="en-US" b="0" i="1" smtClean="0">
                            <a:latin typeface="Cambria Math" panose="02040503050406030204" pitchFamily="18" charset="0"/>
                          </a:rPr>
                          <m:t>𝑡</m:t>
                        </m:r>
                      </m:sub>
                    </m:sSub>
                    <m:r>
                      <a:rPr lang="en-US" b="0" i="1" smtClean="0">
                        <a:latin typeface="Cambria Math" panose="02040503050406030204" pitchFamily="18" charset="0"/>
                      </a:rPr>
                      <m:t>(</m:t>
                    </m:r>
                    <m:sSub>
                      <m:sSubPr>
                        <m:ctrlPr>
                          <a:rPr lang="en-US" i="1">
                            <a:latin typeface="Cambria Math" panose="02040503050406030204" pitchFamily="18" charset="0"/>
                          </a:rPr>
                        </m:ctrlPr>
                      </m:sSubPr>
                      <m:e>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𝐴</m:t>
                            </m:r>
                          </m:e>
                        </m:acc>
                      </m:e>
                      <m:sub>
                        <m:r>
                          <a:rPr lang="en-US" i="1">
                            <a:latin typeface="Cambria Math" panose="02040503050406030204" pitchFamily="18" charset="0"/>
                          </a:rPr>
                          <m:t>𝑡</m:t>
                        </m:r>
                        <m:r>
                          <a:rPr lang="en-US" b="0" i="1" smtClean="0">
                            <a:latin typeface="Cambria Math" panose="02040503050406030204" pitchFamily="18" charset="0"/>
                          </a:rPr>
                          <m:t>−1</m:t>
                        </m:r>
                      </m:sub>
                    </m:sSub>
                    <m:r>
                      <a:rPr lang="en-US" b="0" i="1" smtClean="0">
                        <a:latin typeface="Cambria Math" panose="02040503050406030204" pitchFamily="18" charset="0"/>
                      </a:rPr>
                      <m:t>)</m:t>
                    </m:r>
                    <m:r>
                      <a:rPr lang="en-US" i="1">
                        <a:latin typeface="Cambria Math" panose="02040503050406030204" pitchFamily="18" charset="0"/>
                      </a:rPr>
                      <m:t>+</m:t>
                    </m:r>
                    <m:d>
                      <m:dPr>
                        <m:ctrlPr>
                          <a:rPr lang="en-US" i="1">
                            <a:latin typeface="Cambria Math" panose="02040503050406030204" pitchFamily="18" charset="0"/>
                          </a:rPr>
                        </m:ctrlPr>
                      </m:dPr>
                      <m:e>
                        <m:r>
                          <a:rPr lang="en-US" i="1">
                            <a:latin typeface="Cambria Math" panose="02040503050406030204" pitchFamily="18" charset="0"/>
                          </a:rPr>
                          <m:t>1−</m:t>
                        </m:r>
                        <m:r>
                          <a:rPr lang="en-US" b="1" i="1">
                            <a:latin typeface="Cambria Math" panose="02040503050406030204" pitchFamily="18" charset="0"/>
                          </a:rPr>
                          <m:t>𝑴</m:t>
                        </m:r>
                      </m:e>
                    </m:d>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0</m:t>
                        </m:r>
                      </m:sub>
                    </m:sSub>
                  </m:oMath>
                </a14:m>
                <a:endParaRPr lang="en-GB" dirty="0"/>
              </a:p>
              <a:p>
                <a:r>
                  <a:rPr lang="en-GB" dirty="0">
                    <a:latin typeface="+mj-lt"/>
                  </a:rPr>
                  <a:t>Modified </a:t>
                </a:r>
                <a:r>
                  <a:rPr lang="en-GB" dirty="0" err="1">
                    <a:latin typeface="+mj-lt"/>
                  </a:rPr>
                  <a:t>DiGress</a:t>
                </a:r>
                <a:r>
                  <a:rPr lang="en-GB" dirty="0">
                    <a:latin typeface="+mj-lt"/>
                  </a:rPr>
                  <a:t> </a:t>
                </a:r>
                <a:r>
                  <a:rPr lang="en-GB" dirty="0">
                    <a:solidFill>
                      <a:schemeClr val="accent1"/>
                    </a:solidFill>
                    <a:latin typeface="+mj-lt"/>
                  </a:rPr>
                  <a:t>[18]</a:t>
                </a:r>
                <a:r>
                  <a:rPr lang="en-GB" dirty="0">
                    <a:latin typeface="+mj-lt"/>
                  </a:rPr>
                  <a:t> ♥</a:t>
                </a:r>
              </a:p>
            </p:txBody>
          </p:sp>
        </mc:Choice>
        <mc:Fallback>
          <p:sp>
            <p:nvSpPr>
              <p:cNvPr id="2" name="Content Placeholder 1">
                <a:extLst>
                  <a:ext uri="{FF2B5EF4-FFF2-40B4-BE49-F238E27FC236}">
                    <a16:creationId xmlns:a16="http://schemas.microsoft.com/office/drawing/2014/main" id="{AB975C25-1285-19DF-5C51-EF889169D3E3}"/>
                  </a:ext>
                </a:extLst>
              </p:cNvPr>
              <p:cNvSpPr>
                <a:spLocks noGrp="1" noRot="1" noChangeAspect="1" noMove="1" noResize="1" noEditPoints="1" noAdjustHandles="1" noChangeArrowheads="1" noChangeShapeType="1" noTextEdit="1"/>
              </p:cNvSpPr>
              <p:nvPr>
                <p:ph sz="half" idx="1"/>
              </p:nvPr>
            </p:nvSpPr>
            <p:spPr>
              <a:xfrm>
                <a:off x="904875" y="1563688"/>
                <a:ext cx="4493602" cy="3263504"/>
              </a:xfrm>
              <a:blipFill>
                <a:blip r:embed="rId3"/>
                <a:stretch>
                  <a:fillRect/>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BC55FC76-8FD1-48AC-AB8B-65DD872267DD}"/>
              </a:ext>
            </a:extLst>
          </p:cNvPr>
          <p:cNvSpPr>
            <a:spLocks noGrp="1"/>
          </p:cNvSpPr>
          <p:nvPr>
            <p:ph type="title"/>
          </p:nvPr>
        </p:nvSpPr>
        <p:spPr>
          <a:xfrm>
            <a:off x="904875" y="131032"/>
            <a:ext cx="7726363" cy="1072753"/>
          </a:xfrm>
        </p:spPr>
        <p:txBody>
          <a:bodyPr>
            <a:normAutofit/>
          </a:bodyPr>
          <a:lstStyle/>
          <a:p>
            <a:r>
              <a:rPr lang="en-US" dirty="0"/>
              <a:t>4.4	Generative KG Anomaly Correction</a:t>
            </a:r>
            <a:br>
              <a:rPr lang="en-US" sz="2400" b="0" i="1" dirty="0"/>
            </a:br>
            <a:r>
              <a:rPr lang="en-US" sz="2400" b="0" i="1" dirty="0"/>
              <a:t>Experiment setup - Model</a:t>
            </a:r>
            <a:endParaRPr lang="en-GB" sz="2400" b="0" i="1" dirty="0"/>
          </a:p>
        </p:txBody>
      </p:sp>
      <p:sp>
        <p:nvSpPr>
          <p:cNvPr id="5" name="Date Placeholder 4">
            <a:extLst>
              <a:ext uri="{FF2B5EF4-FFF2-40B4-BE49-F238E27FC236}">
                <a16:creationId xmlns:a16="http://schemas.microsoft.com/office/drawing/2014/main" id="{E735382D-70DF-0569-D76F-56D9707FD9EA}"/>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94E1B12C-D86F-B05B-B54E-93F55D82CBB3}"/>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4167B8DA-B395-8979-4E26-C817AAC2DF85}"/>
              </a:ext>
            </a:extLst>
          </p:cNvPr>
          <p:cNvSpPr>
            <a:spLocks noGrp="1"/>
          </p:cNvSpPr>
          <p:nvPr>
            <p:ph type="sldNum" sz="quarter" idx="12"/>
          </p:nvPr>
        </p:nvSpPr>
        <p:spPr/>
        <p:txBody>
          <a:bodyPr/>
          <a:lstStyle/>
          <a:p>
            <a:fld id="{E1E1CD7C-2161-7D43-862E-CE4C333CD873}" type="slidenum">
              <a:rPr lang="fr-FR" smtClean="0"/>
              <a:pPr/>
              <a:t>71</a:t>
            </a:fld>
            <a:endParaRPr lang="fr-FR" dirty="0"/>
          </a:p>
        </p:txBody>
      </p:sp>
      <p:sp>
        <p:nvSpPr>
          <p:cNvPr id="4" name="Content Placeholder 3">
            <a:extLst>
              <a:ext uri="{FF2B5EF4-FFF2-40B4-BE49-F238E27FC236}">
                <a16:creationId xmlns:a16="http://schemas.microsoft.com/office/drawing/2014/main" id="{356780A1-815E-1EC4-1173-6B285614FA50}"/>
              </a:ext>
            </a:extLst>
          </p:cNvPr>
          <p:cNvSpPr>
            <a:spLocks noGrp="1"/>
          </p:cNvSpPr>
          <p:nvPr>
            <p:ph sz="half" idx="2"/>
          </p:nvPr>
        </p:nvSpPr>
        <p:spPr>
          <a:xfrm>
            <a:off x="5653454" y="1563688"/>
            <a:ext cx="2977784" cy="3263504"/>
          </a:xfrm>
        </p:spPr>
        <p:txBody>
          <a:bodyPr/>
          <a:lstStyle/>
          <a:p>
            <a:endParaRPr lang="en-GB" dirty="0"/>
          </a:p>
        </p:txBody>
      </p:sp>
      <p:sp>
        <p:nvSpPr>
          <p:cNvPr id="9" name="Rectangle 8">
            <a:extLst>
              <a:ext uri="{FF2B5EF4-FFF2-40B4-BE49-F238E27FC236}">
                <a16:creationId xmlns:a16="http://schemas.microsoft.com/office/drawing/2014/main" id="{16D14244-C4B5-CE25-7356-761D9FB33517}"/>
              </a:ext>
            </a:extLst>
          </p:cNvPr>
          <p:cNvSpPr/>
          <p:nvPr/>
        </p:nvSpPr>
        <p:spPr>
          <a:xfrm>
            <a:off x="6062346" y="1794214"/>
            <a:ext cx="2160000" cy="2880000"/>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10">
            <a:extLst>
              <a:ext uri="{FF2B5EF4-FFF2-40B4-BE49-F238E27FC236}">
                <a16:creationId xmlns:a16="http://schemas.microsoft.com/office/drawing/2014/main" id="{6611A88C-F676-1D31-B63B-07C5708616B9}"/>
              </a:ext>
            </a:extLst>
          </p:cNvPr>
          <p:cNvSpPr>
            <a:spLocks noChangeAspect="1"/>
          </p:cNvSpPr>
          <p:nvPr/>
        </p:nvSpPr>
        <p:spPr>
          <a:xfrm>
            <a:off x="7163945" y="3263014"/>
            <a:ext cx="1058401" cy="141120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8673547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randombar(horizontal)">
                                      <p:cBhvr>
                                        <p:cTn id="7" dur="500"/>
                                        <p:tgtEl>
                                          <p:spTgt spid="2">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2">
                                            <p:txEl>
                                              <p:pRg st="1" end="1"/>
                                            </p:txEl>
                                          </p:spTgt>
                                        </p:tgtEl>
                                        <p:attrNameLst>
                                          <p:attrName>style.visibility</p:attrName>
                                        </p:attrNameLst>
                                      </p:cBhvr>
                                      <p:to>
                                        <p:strVal val="visible"/>
                                      </p:to>
                                    </p:set>
                                    <p:animEffect transition="in" filter="randombar(horizontal)">
                                      <p:cBhvr>
                                        <p:cTn id="10" dur="500"/>
                                        <p:tgtEl>
                                          <p:spTgt spid="2">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animEffect transition="in" filter="randombar(horizontal)">
                                      <p:cBhvr>
                                        <p:cTn id="13" dur="500"/>
                                        <p:tgtEl>
                                          <p:spTgt spid="2">
                                            <p:txEl>
                                              <p:pRg st="2" end="2"/>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4" presetClass="entr" presetSubtype="10" fill="hold" nodeType="clickEffect">
                                  <p:stCondLst>
                                    <p:cond delay="0"/>
                                  </p:stCondLst>
                                  <p:childTnLst>
                                    <p:set>
                                      <p:cBhvr>
                                        <p:cTn id="17" dur="1" fill="hold">
                                          <p:stCondLst>
                                            <p:cond delay="0"/>
                                          </p:stCondLst>
                                        </p:cTn>
                                        <p:tgtEl>
                                          <p:spTgt spid="2">
                                            <p:txEl>
                                              <p:pRg st="3" end="3"/>
                                            </p:txEl>
                                          </p:spTgt>
                                        </p:tgtEl>
                                        <p:attrNameLst>
                                          <p:attrName>style.visibility</p:attrName>
                                        </p:attrNameLst>
                                      </p:cBhvr>
                                      <p:to>
                                        <p:strVal val="visible"/>
                                      </p:to>
                                    </p:set>
                                    <p:animEffect transition="in" filter="randombar(horizontal)">
                                      <p:cBhvr>
                                        <p:cTn id="18" dur="500"/>
                                        <p:tgtEl>
                                          <p:spTgt spid="2">
                                            <p:txEl>
                                              <p:pRg st="3" end="3"/>
                                            </p:txEl>
                                          </p:spTgt>
                                        </p:tgtEl>
                                      </p:cBhvr>
                                    </p:animEffect>
                                  </p:childTnLst>
                                </p:cTn>
                              </p:par>
                              <p:par>
                                <p:cTn id="19" presetID="14" presetClass="entr" presetSubtype="10" fill="hold" nodeType="withEffect">
                                  <p:stCondLst>
                                    <p:cond delay="0"/>
                                  </p:stCondLst>
                                  <p:childTnLst>
                                    <p:set>
                                      <p:cBhvr>
                                        <p:cTn id="20" dur="1" fill="hold">
                                          <p:stCondLst>
                                            <p:cond delay="0"/>
                                          </p:stCondLst>
                                        </p:cTn>
                                        <p:tgtEl>
                                          <p:spTgt spid="2">
                                            <p:txEl>
                                              <p:pRg st="4" end="4"/>
                                            </p:txEl>
                                          </p:spTgt>
                                        </p:tgtEl>
                                        <p:attrNameLst>
                                          <p:attrName>style.visibility</p:attrName>
                                        </p:attrNameLst>
                                      </p:cBhvr>
                                      <p:to>
                                        <p:strVal val="visible"/>
                                      </p:to>
                                    </p:set>
                                    <p:animEffect transition="in" filter="randombar(horizontal)">
                                      <p:cBhvr>
                                        <p:cTn id="21" dur="500"/>
                                        <p:tgtEl>
                                          <p:spTgt spid="2">
                                            <p:txEl>
                                              <p:pRg st="4" end="4"/>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2">
                                            <p:txEl>
                                              <p:pRg st="5" end="5"/>
                                            </p:txEl>
                                          </p:spTgt>
                                        </p:tgtEl>
                                        <p:attrNameLst>
                                          <p:attrName>style.visibility</p:attrName>
                                        </p:attrNameLst>
                                      </p:cBhvr>
                                      <p:to>
                                        <p:strVal val="visible"/>
                                      </p:to>
                                    </p:set>
                                    <p:animEffect transition="in" filter="randombar(horizontal)">
                                      <p:cBhvr>
                                        <p:cTn id="24" dur="500"/>
                                        <p:tgtEl>
                                          <p:spTgt spid="2">
                                            <p:txEl>
                                              <p:pRg st="5" end="5"/>
                                            </p:txEl>
                                          </p:spTgt>
                                        </p:tgtEl>
                                      </p:cBhvr>
                                    </p:animEffect>
                                  </p:childTnLst>
                                </p:cTn>
                              </p:par>
                              <p:par>
                                <p:cTn id="25" presetID="14" presetClass="entr" presetSubtype="10" fill="hold" grpId="0" nodeType="with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randombar(horizontal)">
                                      <p:cBhvr>
                                        <p:cTn id="27" dur="500"/>
                                        <p:tgtEl>
                                          <p:spTgt spid="9"/>
                                        </p:tgtEl>
                                      </p:cBhvr>
                                    </p:animEffect>
                                  </p:childTnLst>
                                </p:cTn>
                              </p:par>
                              <p:par>
                                <p:cTn id="28" presetID="14" presetClass="entr" presetSubtype="10" fill="hold" grpId="0" nodeType="with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randombar(horizontal)">
                                      <p:cBhvr>
                                        <p:cTn id="30" dur="500"/>
                                        <p:tgtEl>
                                          <p:spTgt spid="11"/>
                                        </p:tgtEl>
                                      </p:cBhvr>
                                    </p:animEffect>
                                  </p:childTnLst>
                                </p:cTn>
                              </p:par>
                            </p:childTnLst>
                          </p:cTn>
                        </p:par>
                      </p:childTnLst>
                    </p:cTn>
                  </p:par>
                  <p:par>
                    <p:cTn id="31" fill="hold">
                      <p:stCondLst>
                        <p:cond delay="indefinite"/>
                      </p:stCondLst>
                      <p:childTnLst>
                        <p:par>
                          <p:cTn id="32" fill="hold">
                            <p:stCondLst>
                              <p:cond delay="0"/>
                            </p:stCondLst>
                            <p:childTnLst>
                              <p:par>
                                <p:cTn id="33" presetID="14" presetClass="entr" presetSubtype="10" fill="hold" nodeType="clickEffect">
                                  <p:stCondLst>
                                    <p:cond delay="0"/>
                                  </p:stCondLst>
                                  <p:childTnLst>
                                    <p:set>
                                      <p:cBhvr>
                                        <p:cTn id="34" dur="1" fill="hold">
                                          <p:stCondLst>
                                            <p:cond delay="0"/>
                                          </p:stCondLst>
                                        </p:cTn>
                                        <p:tgtEl>
                                          <p:spTgt spid="2">
                                            <p:txEl>
                                              <p:pRg st="6" end="6"/>
                                            </p:txEl>
                                          </p:spTgt>
                                        </p:tgtEl>
                                        <p:attrNameLst>
                                          <p:attrName>style.visibility</p:attrName>
                                        </p:attrNameLst>
                                      </p:cBhvr>
                                      <p:to>
                                        <p:strVal val="visible"/>
                                      </p:to>
                                    </p:set>
                                    <p:animEffect transition="in" filter="randombar(horizontal)">
                                      <p:cBhvr>
                                        <p:cTn id="35" dur="500"/>
                                        <p:tgtEl>
                                          <p:spTgt spid="2">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E43724-49EA-47A3-4D29-B701CDF63241}"/>
            </a:ext>
          </a:extLst>
        </p:cNvPr>
        <p:cNvGrpSpPr/>
        <p:nvPr/>
      </p:nvGrpSpPr>
      <p:grpSpPr>
        <a:xfrm>
          <a:off x="0" y="0"/>
          <a:ext cx="0" cy="0"/>
          <a:chOff x="0" y="0"/>
          <a:chExt cx="0" cy="0"/>
        </a:xfrm>
      </p:grpSpPr>
      <p:pic>
        <p:nvPicPr>
          <p:cNvPr id="3" name="Content Placeholder 2">
            <a:extLst>
              <a:ext uri="{FF2B5EF4-FFF2-40B4-BE49-F238E27FC236}">
                <a16:creationId xmlns:a16="http://schemas.microsoft.com/office/drawing/2014/main" id="{0164CE5E-46E9-1E3E-08A2-58D9487CC7B8}"/>
              </a:ext>
            </a:extLst>
          </p:cNvPr>
          <p:cNvPicPr>
            <a:picLocks noGrp="1" noChangeAspect="1"/>
          </p:cNvPicPr>
          <p:nvPr>
            <p:ph idx="1"/>
          </p:nvPr>
        </p:nvPicPr>
        <p:blipFill>
          <a:blip r:embed="rId3"/>
          <a:stretch>
            <a:fillRect/>
          </a:stretch>
        </p:blipFill>
        <p:spPr>
          <a:xfrm>
            <a:off x="1295453" y="1563688"/>
            <a:ext cx="6945206" cy="3386137"/>
          </a:xfrm>
          <a:prstGeom prst="rect">
            <a:avLst/>
          </a:prstGeom>
        </p:spPr>
      </p:pic>
      <p:sp>
        <p:nvSpPr>
          <p:cNvPr id="8" name="Title 7">
            <a:extLst>
              <a:ext uri="{FF2B5EF4-FFF2-40B4-BE49-F238E27FC236}">
                <a16:creationId xmlns:a16="http://schemas.microsoft.com/office/drawing/2014/main" id="{72F817A3-022D-51C0-6FB2-722E2547B61E}"/>
              </a:ext>
            </a:extLst>
          </p:cNvPr>
          <p:cNvSpPr>
            <a:spLocks noGrp="1"/>
          </p:cNvSpPr>
          <p:nvPr>
            <p:ph type="title"/>
          </p:nvPr>
        </p:nvSpPr>
        <p:spPr>
          <a:xfrm>
            <a:off x="904875" y="131032"/>
            <a:ext cx="7726363" cy="1072753"/>
          </a:xfrm>
        </p:spPr>
        <p:txBody>
          <a:bodyPr>
            <a:normAutofit/>
          </a:bodyPr>
          <a:lstStyle/>
          <a:p>
            <a:r>
              <a:rPr lang="en-US" dirty="0"/>
              <a:t>4.4	Generative KG Anomaly Correction</a:t>
            </a:r>
            <a:br>
              <a:rPr lang="en-US" sz="2400" b="0" i="1" dirty="0"/>
            </a:br>
            <a:r>
              <a:rPr lang="en-US" sz="2400" b="0" i="1" dirty="0"/>
              <a:t>Results - Metrics</a:t>
            </a:r>
            <a:endParaRPr lang="en-GB" sz="2400" b="0" i="1" dirty="0"/>
          </a:p>
        </p:txBody>
      </p:sp>
      <p:sp>
        <p:nvSpPr>
          <p:cNvPr id="5" name="Date Placeholder 4">
            <a:extLst>
              <a:ext uri="{FF2B5EF4-FFF2-40B4-BE49-F238E27FC236}">
                <a16:creationId xmlns:a16="http://schemas.microsoft.com/office/drawing/2014/main" id="{28D71620-3765-9F17-2A51-C64A521DF88E}"/>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6870C3DF-2351-D8AC-80C7-BFC52A764962}"/>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C2EE4479-F0E0-A209-C787-74C5FE4F3894}"/>
              </a:ext>
            </a:extLst>
          </p:cNvPr>
          <p:cNvSpPr>
            <a:spLocks noGrp="1"/>
          </p:cNvSpPr>
          <p:nvPr>
            <p:ph type="sldNum" sz="quarter" idx="12"/>
          </p:nvPr>
        </p:nvSpPr>
        <p:spPr/>
        <p:txBody>
          <a:bodyPr/>
          <a:lstStyle/>
          <a:p>
            <a:fld id="{E1E1CD7C-2161-7D43-862E-CE4C333CD873}" type="slidenum">
              <a:rPr lang="fr-FR" smtClean="0"/>
              <a:pPr/>
              <a:t>72</a:t>
            </a:fld>
            <a:endParaRPr lang="fr-FR" dirty="0"/>
          </a:p>
        </p:txBody>
      </p:sp>
    </p:spTree>
    <p:extLst>
      <p:ext uri="{BB962C8B-B14F-4D97-AF65-F5344CB8AC3E}">
        <p14:creationId xmlns:p14="http://schemas.microsoft.com/office/powerpoint/2010/main" val="29696710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randombar(horizontal)">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5732C3-E04B-52D4-C2F2-ACA9BEA5A244}"/>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5C4E6391-2343-89DD-C955-2191712848DA}"/>
              </a:ext>
            </a:extLst>
          </p:cNvPr>
          <p:cNvSpPr>
            <a:spLocks noGrp="1"/>
          </p:cNvSpPr>
          <p:nvPr>
            <p:ph type="title"/>
          </p:nvPr>
        </p:nvSpPr>
        <p:spPr>
          <a:xfrm>
            <a:off x="904875" y="131032"/>
            <a:ext cx="7726363" cy="1072753"/>
          </a:xfrm>
        </p:spPr>
        <p:txBody>
          <a:bodyPr>
            <a:normAutofit/>
          </a:bodyPr>
          <a:lstStyle/>
          <a:p>
            <a:r>
              <a:rPr lang="en-US" dirty="0"/>
              <a:t>4.4	Generative KG Anomaly Correction</a:t>
            </a:r>
            <a:br>
              <a:rPr lang="en-US" sz="2400" b="0" i="1" dirty="0"/>
            </a:br>
            <a:r>
              <a:rPr lang="en-US" sz="2400" b="0" i="1" dirty="0"/>
              <a:t>Results - Contrastive Loss across denoising steps</a:t>
            </a:r>
            <a:endParaRPr lang="en-GB" sz="2400" b="0" i="1" dirty="0"/>
          </a:p>
        </p:txBody>
      </p:sp>
      <p:sp>
        <p:nvSpPr>
          <p:cNvPr id="5" name="Date Placeholder 4">
            <a:extLst>
              <a:ext uri="{FF2B5EF4-FFF2-40B4-BE49-F238E27FC236}">
                <a16:creationId xmlns:a16="http://schemas.microsoft.com/office/drawing/2014/main" id="{9B0972A0-C21F-132D-E013-AC5C4284A481}"/>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13FBC04E-DFF5-00D7-EF76-0D7378DAFD9A}"/>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E67E1DAC-B078-0576-06A7-989F14FAB20D}"/>
              </a:ext>
            </a:extLst>
          </p:cNvPr>
          <p:cNvSpPr>
            <a:spLocks noGrp="1"/>
          </p:cNvSpPr>
          <p:nvPr>
            <p:ph type="sldNum" sz="quarter" idx="12"/>
          </p:nvPr>
        </p:nvSpPr>
        <p:spPr/>
        <p:txBody>
          <a:bodyPr/>
          <a:lstStyle/>
          <a:p>
            <a:fld id="{E1E1CD7C-2161-7D43-862E-CE4C333CD873}" type="slidenum">
              <a:rPr lang="fr-FR" smtClean="0"/>
              <a:pPr/>
              <a:t>73</a:t>
            </a:fld>
            <a:endParaRPr lang="fr-FR" dirty="0"/>
          </a:p>
        </p:txBody>
      </p:sp>
      <p:pic>
        <p:nvPicPr>
          <p:cNvPr id="10" name="Content Placeholder 9">
            <a:extLst>
              <a:ext uri="{FF2B5EF4-FFF2-40B4-BE49-F238E27FC236}">
                <a16:creationId xmlns:a16="http://schemas.microsoft.com/office/drawing/2014/main" id="{5022E84B-A5F9-AFE7-A5D6-8C590678351F}"/>
              </a:ext>
            </a:extLst>
          </p:cNvPr>
          <p:cNvPicPr>
            <a:picLocks noGrp="1" noChangeAspect="1"/>
          </p:cNvPicPr>
          <p:nvPr>
            <p:ph idx="1"/>
          </p:nvPr>
        </p:nvPicPr>
        <p:blipFill>
          <a:blip r:embed="rId3"/>
          <a:stretch>
            <a:fillRect/>
          </a:stretch>
        </p:blipFill>
        <p:spPr>
          <a:xfrm>
            <a:off x="1178397" y="1563688"/>
            <a:ext cx="7179318" cy="3386137"/>
          </a:xfrm>
          <a:prstGeom prst="rect">
            <a:avLst/>
          </a:prstGeom>
        </p:spPr>
      </p:pic>
    </p:spTree>
    <p:extLst>
      <p:ext uri="{BB962C8B-B14F-4D97-AF65-F5344CB8AC3E}">
        <p14:creationId xmlns:p14="http://schemas.microsoft.com/office/powerpoint/2010/main" val="17836793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randombar(horizontal)">
                                      <p:cBhvr>
                                        <p:cTn id="7"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15FD59-BD2F-C562-6D41-C0880BD8F52E}"/>
            </a:ext>
          </a:extLst>
        </p:cNvPr>
        <p:cNvGrpSpPr/>
        <p:nvPr/>
      </p:nvGrpSpPr>
      <p:grpSpPr>
        <a:xfrm>
          <a:off x="0" y="0"/>
          <a:ext cx="0" cy="0"/>
          <a:chOff x="0" y="0"/>
          <a:chExt cx="0" cy="0"/>
        </a:xfrm>
      </p:grpSpPr>
      <p:pic>
        <p:nvPicPr>
          <p:cNvPr id="12" name="Content Placeholder 11" descr="A diagram of a diagram&#10;&#10;AI-generated content may be incorrect.">
            <a:extLst>
              <a:ext uri="{FF2B5EF4-FFF2-40B4-BE49-F238E27FC236}">
                <a16:creationId xmlns:a16="http://schemas.microsoft.com/office/drawing/2014/main" id="{AB9F265D-EEB7-F8E5-2347-0402591FCCC3}"/>
              </a:ext>
            </a:extLst>
          </p:cNvPr>
          <p:cNvPicPr>
            <a:picLocks noGrp="1" noChangeAspect="1"/>
          </p:cNvPicPr>
          <p:nvPr>
            <p:ph sz="half" idx="1"/>
          </p:nvPr>
        </p:nvPicPr>
        <p:blipFill>
          <a:blip r:embed="rId3"/>
          <a:stretch>
            <a:fillRect/>
          </a:stretch>
        </p:blipFill>
        <p:spPr>
          <a:xfrm>
            <a:off x="904875" y="1818680"/>
            <a:ext cx="3671888" cy="2753916"/>
          </a:xfrm>
        </p:spPr>
      </p:pic>
      <p:pic>
        <p:nvPicPr>
          <p:cNvPr id="14" name="Content Placeholder 13" descr="A diagram of a diagram&#10;&#10;AI-generated content may be incorrect.">
            <a:extLst>
              <a:ext uri="{FF2B5EF4-FFF2-40B4-BE49-F238E27FC236}">
                <a16:creationId xmlns:a16="http://schemas.microsoft.com/office/drawing/2014/main" id="{78D52841-6D20-3B8C-3BEC-F1292C83322C}"/>
              </a:ext>
            </a:extLst>
          </p:cNvPr>
          <p:cNvPicPr>
            <a:picLocks noGrp="1" noChangeAspect="1"/>
          </p:cNvPicPr>
          <p:nvPr>
            <p:ph sz="half" idx="2"/>
          </p:nvPr>
        </p:nvPicPr>
        <p:blipFill>
          <a:blip r:embed="rId4"/>
          <a:stretch>
            <a:fillRect/>
          </a:stretch>
        </p:blipFill>
        <p:spPr>
          <a:xfrm>
            <a:off x="4959350" y="1818680"/>
            <a:ext cx="3671888" cy="2753916"/>
          </a:xfrm>
        </p:spPr>
      </p:pic>
      <p:sp>
        <p:nvSpPr>
          <p:cNvPr id="8" name="Title 7">
            <a:extLst>
              <a:ext uri="{FF2B5EF4-FFF2-40B4-BE49-F238E27FC236}">
                <a16:creationId xmlns:a16="http://schemas.microsoft.com/office/drawing/2014/main" id="{D5D739A1-DA29-CF5B-B95F-16B082268982}"/>
              </a:ext>
            </a:extLst>
          </p:cNvPr>
          <p:cNvSpPr>
            <a:spLocks noGrp="1"/>
          </p:cNvSpPr>
          <p:nvPr>
            <p:ph type="title"/>
          </p:nvPr>
        </p:nvSpPr>
        <p:spPr>
          <a:xfrm>
            <a:off x="904875" y="131032"/>
            <a:ext cx="7726363" cy="1072753"/>
          </a:xfrm>
        </p:spPr>
        <p:txBody>
          <a:bodyPr>
            <a:normAutofit/>
          </a:bodyPr>
          <a:lstStyle/>
          <a:p>
            <a:r>
              <a:rPr lang="en-US" dirty="0"/>
              <a:t>4.4	Generative KG Anomaly Correction</a:t>
            </a:r>
            <a:br>
              <a:rPr lang="en-US" sz="2400" b="0" i="1" dirty="0"/>
            </a:br>
            <a:r>
              <a:rPr lang="en-US" sz="2400" b="0" i="1" dirty="0"/>
              <a:t>Results - Dense subgraph correction visually</a:t>
            </a:r>
            <a:endParaRPr lang="en-GB" sz="2400" b="0" i="1" dirty="0"/>
          </a:p>
        </p:txBody>
      </p:sp>
      <p:sp>
        <p:nvSpPr>
          <p:cNvPr id="5" name="Date Placeholder 4">
            <a:extLst>
              <a:ext uri="{FF2B5EF4-FFF2-40B4-BE49-F238E27FC236}">
                <a16:creationId xmlns:a16="http://schemas.microsoft.com/office/drawing/2014/main" id="{91EF6C5B-5DE6-F620-6CE6-9B7EC788B686}"/>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A551CCCB-2CEA-AC39-931F-EF860B9C1141}"/>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A05D7FC0-1E82-59FE-60B6-6200D3DA6DCE}"/>
              </a:ext>
            </a:extLst>
          </p:cNvPr>
          <p:cNvSpPr>
            <a:spLocks noGrp="1"/>
          </p:cNvSpPr>
          <p:nvPr>
            <p:ph type="sldNum" sz="quarter" idx="12"/>
          </p:nvPr>
        </p:nvSpPr>
        <p:spPr/>
        <p:txBody>
          <a:bodyPr/>
          <a:lstStyle/>
          <a:p>
            <a:fld id="{E1E1CD7C-2161-7D43-862E-CE4C333CD873}" type="slidenum">
              <a:rPr lang="fr-FR" smtClean="0"/>
              <a:pPr/>
              <a:t>74</a:t>
            </a:fld>
            <a:endParaRPr lang="fr-FR" dirty="0"/>
          </a:p>
        </p:txBody>
      </p:sp>
    </p:spTree>
    <p:extLst>
      <p:ext uri="{BB962C8B-B14F-4D97-AF65-F5344CB8AC3E}">
        <p14:creationId xmlns:p14="http://schemas.microsoft.com/office/powerpoint/2010/main" val="10123045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randombar(horizontal)">
                                      <p:cBhvr>
                                        <p:cTn id="7" dur="500"/>
                                        <p:tgtEl>
                                          <p:spTgt spid="12"/>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14"/>
                                        </p:tgtEl>
                                        <p:attrNameLst>
                                          <p:attrName>style.visibility</p:attrName>
                                        </p:attrNameLst>
                                      </p:cBhvr>
                                      <p:to>
                                        <p:strVal val="visible"/>
                                      </p:to>
                                    </p:set>
                                    <p:animEffect transition="in" filter="randombar(horizontal)">
                                      <p:cBhvr>
                                        <p:cTn id="12"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828EE6-6A22-3C4C-20A9-8B3801ED33AA}"/>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3DB2C80D-2533-80CB-F6FD-ABC561465F6E}"/>
              </a:ext>
            </a:extLst>
          </p:cNvPr>
          <p:cNvSpPr>
            <a:spLocks noGrp="1"/>
          </p:cNvSpPr>
          <p:nvPr>
            <p:ph type="title"/>
          </p:nvPr>
        </p:nvSpPr>
        <p:spPr>
          <a:xfrm>
            <a:off x="904875" y="131032"/>
            <a:ext cx="7726363" cy="1072753"/>
          </a:xfrm>
        </p:spPr>
        <p:txBody>
          <a:bodyPr>
            <a:normAutofit/>
          </a:bodyPr>
          <a:lstStyle/>
          <a:p>
            <a:r>
              <a:rPr lang="en-US" dirty="0"/>
              <a:t>4.4	Generative KG Anomaly Correction</a:t>
            </a:r>
            <a:br>
              <a:rPr lang="en-US" sz="2400" b="0" i="1" dirty="0"/>
            </a:br>
            <a:r>
              <a:rPr lang="en-US" sz="2400" b="0" i="1" dirty="0"/>
              <a:t>Results - Bipartite subgraph correction visually</a:t>
            </a:r>
            <a:endParaRPr lang="en-GB" sz="2400" b="0" i="1" dirty="0"/>
          </a:p>
        </p:txBody>
      </p:sp>
      <p:sp>
        <p:nvSpPr>
          <p:cNvPr id="5" name="Date Placeholder 4">
            <a:extLst>
              <a:ext uri="{FF2B5EF4-FFF2-40B4-BE49-F238E27FC236}">
                <a16:creationId xmlns:a16="http://schemas.microsoft.com/office/drawing/2014/main" id="{31304D93-5A13-6EF9-5F80-A0538C1EA77A}"/>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94763DCF-3116-18AA-5852-4B7EBB2D601C}"/>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4AF60288-57FB-34A4-75B1-DD307C58BCD1}"/>
              </a:ext>
            </a:extLst>
          </p:cNvPr>
          <p:cNvSpPr>
            <a:spLocks noGrp="1"/>
          </p:cNvSpPr>
          <p:nvPr>
            <p:ph type="sldNum" sz="quarter" idx="12"/>
          </p:nvPr>
        </p:nvSpPr>
        <p:spPr/>
        <p:txBody>
          <a:bodyPr/>
          <a:lstStyle/>
          <a:p>
            <a:fld id="{E1E1CD7C-2161-7D43-862E-CE4C333CD873}" type="slidenum">
              <a:rPr lang="fr-FR" smtClean="0"/>
              <a:pPr/>
              <a:t>75</a:t>
            </a:fld>
            <a:endParaRPr lang="fr-FR" dirty="0"/>
          </a:p>
        </p:txBody>
      </p:sp>
      <p:pic>
        <p:nvPicPr>
          <p:cNvPr id="11" name="Content Placeholder 10" descr="A diagram of a network&#10;&#10;AI-generated content may be incorrect.">
            <a:extLst>
              <a:ext uri="{FF2B5EF4-FFF2-40B4-BE49-F238E27FC236}">
                <a16:creationId xmlns:a16="http://schemas.microsoft.com/office/drawing/2014/main" id="{E365FF56-9B17-DC36-BC27-F6A6A9455C88}"/>
              </a:ext>
            </a:extLst>
          </p:cNvPr>
          <p:cNvPicPr>
            <a:picLocks noGrp="1" noChangeAspect="1"/>
          </p:cNvPicPr>
          <p:nvPr>
            <p:ph sz="half" idx="1"/>
          </p:nvPr>
        </p:nvPicPr>
        <p:blipFill>
          <a:blip r:embed="rId3"/>
          <a:stretch>
            <a:fillRect/>
          </a:stretch>
        </p:blipFill>
        <p:spPr>
          <a:xfrm>
            <a:off x="904875" y="1818680"/>
            <a:ext cx="3671888" cy="2753916"/>
          </a:xfrm>
        </p:spPr>
      </p:pic>
      <p:pic>
        <p:nvPicPr>
          <p:cNvPr id="15" name="Content Placeholder 14" descr="A diagram of a number of lines&#10;&#10;AI-generated content may be incorrect.">
            <a:extLst>
              <a:ext uri="{FF2B5EF4-FFF2-40B4-BE49-F238E27FC236}">
                <a16:creationId xmlns:a16="http://schemas.microsoft.com/office/drawing/2014/main" id="{E3A479B1-F356-61B6-5DBD-3BE3D4C8342D}"/>
              </a:ext>
            </a:extLst>
          </p:cNvPr>
          <p:cNvPicPr>
            <a:picLocks noGrp="1" noChangeAspect="1"/>
          </p:cNvPicPr>
          <p:nvPr>
            <p:ph sz="half" idx="2"/>
          </p:nvPr>
        </p:nvPicPr>
        <p:blipFill>
          <a:blip r:embed="rId4"/>
          <a:stretch>
            <a:fillRect/>
          </a:stretch>
        </p:blipFill>
        <p:spPr>
          <a:xfrm>
            <a:off x="4959350" y="1818680"/>
            <a:ext cx="3671888" cy="2753916"/>
          </a:xfrm>
        </p:spPr>
      </p:pic>
    </p:spTree>
    <p:extLst>
      <p:ext uri="{BB962C8B-B14F-4D97-AF65-F5344CB8AC3E}">
        <p14:creationId xmlns:p14="http://schemas.microsoft.com/office/powerpoint/2010/main" val="23063652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randombar(horizontal)">
                                      <p:cBhvr>
                                        <p:cTn id="7" dur="500"/>
                                        <p:tgtEl>
                                          <p:spTgt spid="11"/>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15"/>
                                        </p:tgtEl>
                                        <p:attrNameLst>
                                          <p:attrName>style.visibility</p:attrName>
                                        </p:attrNameLst>
                                      </p:cBhvr>
                                      <p:to>
                                        <p:strVal val="visible"/>
                                      </p:to>
                                    </p:set>
                                    <p:animEffect transition="in" filter="randombar(horizontal)">
                                      <p:cBhvr>
                                        <p:cTn id="12"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A378D2-8E40-127B-7AE9-82D452C65216}"/>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FA8C7DE6-5847-E8BF-5489-C5872031A078}"/>
              </a:ext>
            </a:extLst>
          </p:cNvPr>
          <p:cNvSpPr>
            <a:spLocks noGrp="1"/>
          </p:cNvSpPr>
          <p:nvPr>
            <p:ph type="title"/>
          </p:nvPr>
        </p:nvSpPr>
        <p:spPr>
          <a:xfrm>
            <a:off x="904875" y="131032"/>
            <a:ext cx="7726363" cy="1072753"/>
          </a:xfrm>
        </p:spPr>
        <p:txBody>
          <a:bodyPr>
            <a:normAutofit/>
          </a:bodyPr>
          <a:lstStyle/>
          <a:p>
            <a:r>
              <a:rPr lang="en-US" dirty="0"/>
              <a:t>4.4	Generative KG Anomaly Correction</a:t>
            </a:r>
            <a:br>
              <a:rPr lang="en-US" sz="2400" b="0" i="1" dirty="0"/>
            </a:br>
            <a:r>
              <a:rPr lang="en-US" sz="2400" b="0" i="1" dirty="0"/>
              <a:t>Summary</a:t>
            </a:r>
            <a:endParaRPr lang="en-GB" sz="2400" b="0" i="1" dirty="0"/>
          </a:p>
        </p:txBody>
      </p:sp>
      <p:sp>
        <p:nvSpPr>
          <p:cNvPr id="5" name="Date Placeholder 4">
            <a:extLst>
              <a:ext uri="{FF2B5EF4-FFF2-40B4-BE49-F238E27FC236}">
                <a16:creationId xmlns:a16="http://schemas.microsoft.com/office/drawing/2014/main" id="{9C291193-F757-B705-7698-D5C713582EF4}"/>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35F439DA-80D6-0C5F-FECE-791D6F2D5AD2}"/>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CCB1B96B-647D-2A3A-0844-45A963361FB6}"/>
              </a:ext>
            </a:extLst>
          </p:cNvPr>
          <p:cNvSpPr>
            <a:spLocks noGrp="1"/>
          </p:cNvSpPr>
          <p:nvPr>
            <p:ph type="sldNum" sz="quarter" idx="12"/>
          </p:nvPr>
        </p:nvSpPr>
        <p:spPr/>
        <p:txBody>
          <a:bodyPr/>
          <a:lstStyle/>
          <a:p>
            <a:fld id="{E1E1CD7C-2161-7D43-862E-CE4C333CD873}" type="slidenum">
              <a:rPr lang="fr-FR" smtClean="0"/>
              <a:pPr/>
              <a:t>76</a:t>
            </a:fld>
            <a:endParaRPr lang="fr-FR" dirty="0"/>
          </a:p>
        </p:txBody>
      </p:sp>
      <p:graphicFrame>
        <p:nvGraphicFramePr>
          <p:cNvPr id="9" name="Content Placeholder 8">
            <a:extLst>
              <a:ext uri="{FF2B5EF4-FFF2-40B4-BE49-F238E27FC236}">
                <a16:creationId xmlns:a16="http://schemas.microsoft.com/office/drawing/2014/main" id="{8F55DD72-14FF-F2EC-FCBD-CE214A7045DB}"/>
              </a:ext>
            </a:extLst>
          </p:cNvPr>
          <p:cNvGraphicFramePr>
            <a:graphicFrameLocks noGrp="1"/>
          </p:cNvGraphicFramePr>
          <p:nvPr>
            <p:ph idx="1"/>
            <p:extLst>
              <p:ext uri="{D42A27DB-BD31-4B8C-83A1-F6EECF244321}">
                <p14:modId xmlns:p14="http://schemas.microsoft.com/office/powerpoint/2010/main" val="598907529"/>
              </p:ext>
            </p:extLst>
          </p:nvPr>
        </p:nvGraphicFramePr>
        <p:xfrm>
          <a:off x="904875" y="1563688"/>
          <a:ext cx="7726363" cy="338613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10" name="TextBox 9">
            <a:extLst>
              <a:ext uri="{FF2B5EF4-FFF2-40B4-BE49-F238E27FC236}">
                <a16:creationId xmlns:a16="http://schemas.microsoft.com/office/drawing/2014/main" id="{56848C00-7EFC-FB31-7232-9B73F3791AD6}"/>
              </a:ext>
            </a:extLst>
          </p:cNvPr>
          <p:cNvSpPr txBox="1"/>
          <p:nvPr/>
        </p:nvSpPr>
        <p:spPr>
          <a:xfrm>
            <a:off x="4199640" y="2933590"/>
            <a:ext cx="1136832" cy="646331"/>
          </a:xfrm>
          <a:prstGeom prst="rect">
            <a:avLst/>
          </a:prstGeom>
          <a:noFill/>
        </p:spPr>
        <p:txBody>
          <a:bodyPr wrap="square" rtlCol="0">
            <a:spAutoFit/>
          </a:bodyPr>
          <a:lstStyle/>
          <a:p>
            <a:pPr algn="ctr"/>
            <a:r>
              <a:rPr lang="en-US" sz="1800" dirty="0">
                <a:latin typeface="+mj-lt"/>
              </a:rPr>
              <a:t>Edge</a:t>
            </a:r>
          </a:p>
          <a:p>
            <a:pPr algn="ctr"/>
            <a:r>
              <a:rPr lang="en-US" sz="1800" dirty="0">
                <a:latin typeface="+mj-lt"/>
              </a:rPr>
              <a:t>likelihood</a:t>
            </a:r>
            <a:endParaRPr lang="en-GB" sz="1800" dirty="0">
              <a:latin typeface="+mj-lt"/>
            </a:endParaRPr>
          </a:p>
        </p:txBody>
      </p:sp>
    </p:spTree>
    <p:extLst>
      <p:ext uri="{BB962C8B-B14F-4D97-AF65-F5344CB8AC3E}">
        <p14:creationId xmlns:p14="http://schemas.microsoft.com/office/powerpoint/2010/main" val="25670094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randombar(horizontal)">
                                      <p:cBhvr>
                                        <p:cTn id="7" dur="500"/>
                                        <p:tgtEl>
                                          <p:spTgt spid="9"/>
                                        </p:tgtEl>
                                      </p:cBhvr>
                                    </p:animEffect>
                                  </p:childTnLst>
                                </p:cTn>
                              </p:par>
                              <p:par>
                                <p:cTn id="8" presetID="14" presetClass="entr" presetSubtype="1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randombar(horizontal)">
                                      <p:cBhvr>
                                        <p:cTn id="10"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9" grpId="0">
        <p:bldAsOne/>
      </p:bldGraphic>
      <p:bldP spid="10" grpId="0"/>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D75FDB-1F03-44B4-8F5D-CE55B51AAC73}"/>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8F8776BE-2B73-5F9D-7173-A7B579B6F113}"/>
              </a:ext>
            </a:extLst>
          </p:cNvPr>
          <p:cNvSpPr>
            <a:spLocks noGrp="1"/>
          </p:cNvSpPr>
          <p:nvPr>
            <p:ph type="title"/>
          </p:nvPr>
        </p:nvSpPr>
        <p:spPr/>
        <p:txBody>
          <a:bodyPr/>
          <a:lstStyle/>
          <a:p>
            <a:r>
              <a:rPr lang="en-US" dirty="0"/>
              <a:t>Conclusion</a:t>
            </a:r>
            <a:endParaRPr lang="en-GB" dirty="0"/>
          </a:p>
        </p:txBody>
      </p:sp>
      <p:sp>
        <p:nvSpPr>
          <p:cNvPr id="8" name="Text Placeholder 7">
            <a:extLst>
              <a:ext uri="{FF2B5EF4-FFF2-40B4-BE49-F238E27FC236}">
                <a16:creationId xmlns:a16="http://schemas.microsoft.com/office/drawing/2014/main" id="{38661638-78F6-68AF-A1C8-241628263577}"/>
              </a:ext>
            </a:extLst>
          </p:cNvPr>
          <p:cNvSpPr>
            <a:spLocks noGrp="1"/>
          </p:cNvSpPr>
          <p:nvPr>
            <p:ph type="body" idx="1"/>
          </p:nvPr>
        </p:nvSpPr>
        <p:spPr/>
        <p:txBody>
          <a:bodyPr>
            <a:normAutofit/>
          </a:bodyPr>
          <a:lstStyle/>
          <a:p>
            <a:r>
              <a:rPr lang="en-US" sz="2400" dirty="0">
                <a:latin typeface="+mj-lt"/>
              </a:rPr>
              <a:t>Chapter 5</a:t>
            </a:r>
            <a:endParaRPr lang="en-GB" sz="2400" dirty="0">
              <a:latin typeface="+mj-lt"/>
            </a:endParaRPr>
          </a:p>
        </p:txBody>
      </p:sp>
      <p:sp>
        <p:nvSpPr>
          <p:cNvPr id="4" name="Date Placeholder 3">
            <a:extLst>
              <a:ext uri="{FF2B5EF4-FFF2-40B4-BE49-F238E27FC236}">
                <a16:creationId xmlns:a16="http://schemas.microsoft.com/office/drawing/2014/main" id="{7993C00B-7548-9DD9-A133-DE4C246D13CA}"/>
              </a:ext>
            </a:extLst>
          </p:cNvPr>
          <p:cNvSpPr>
            <a:spLocks noGrp="1"/>
          </p:cNvSpPr>
          <p:nvPr>
            <p:ph type="dt" sz="half" idx="14"/>
          </p:nvPr>
        </p:nvSpPr>
        <p:spPr/>
        <p:txBody>
          <a:bodyPr/>
          <a:lstStyle/>
          <a:p>
            <a:r>
              <a:rPr lang="en-US" sz="600" dirty="0">
                <a:latin typeface="+mj-lt"/>
              </a:rPr>
              <a:t>EDIC PhD Private Defense / Scalable Methods for Knowledge Graph Reasoning and Generation</a:t>
            </a:r>
          </a:p>
        </p:txBody>
      </p:sp>
      <p:sp>
        <p:nvSpPr>
          <p:cNvPr id="5" name="Footer Placeholder 4">
            <a:extLst>
              <a:ext uri="{FF2B5EF4-FFF2-40B4-BE49-F238E27FC236}">
                <a16:creationId xmlns:a16="http://schemas.microsoft.com/office/drawing/2014/main" id="{27A488C4-61C2-04C9-C181-93C212A4620A}"/>
              </a:ext>
            </a:extLst>
          </p:cNvPr>
          <p:cNvSpPr>
            <a:spLocks noGrp="1"/>
          </p:cNvSpPr>
          <p:nvPr>
            <p:ph type="ftr" sz="quarter" idx="15"/>
          </p:nvPr>
        </p:nvSpPr>
        <p:spPr/>
        <p:txBody>
          <a:bodyPr/>
          <a:lstStyle/>
          <a:p>
            <a:endParaRPr lang="fr-FR" dirty="0">
              <a:latin typeface="+mj-lt"/>
            </a:endParaRPr>
          </a:p>
          <a:p>
            <a:r>
              <a:rPr lang="fr-FR" dirty="0">
                <a:latin typeface="+mj-lt"/>
              </a:rPr>
              <a:t>Andrej Janchevski, EPFL STI IEM LIONS, Lausanne, </a:t>
            </a:r>
            <a:r>
              <a:rPr lang="fr-FR" dirty="0" err="1">
                <a:latin typeface="+mj-lt"/>
              </a:rPr>
              <a:t>Switzerland</a:t>
            </a:r>
            <a:r>
              <a:rPr lang="fr-FR" dirty="0">
                <a:latin typeface="+mj-lt"/>
              </a:rPr>
              <a:t> </a:t>
            </a:r>
          </a:p>
          <a:p>
            <a:r>
              <a:rPr lang="fr-FR" dirty="0"/>
              <a:t> </a:t>
            </a:r>
          </a:p>
        </p:txBody>
      </p:sp>
      <p:sp>
        <p:nvSpPr>
          <p:cNvPr id="6" name="Slide Number Placeholder 5">
            <a:extLst>
              <a:ext uri="{FF2B5EF4-FFF2-40B4-BE49-F238E27FC236}">
                <a16:creationId xmlns:a16="http://schemas.microsoft.com/office/drawing/2014/main" id="{A9202647-7004-E62F-0D8D-D06A73B5A11B}"/>
              </a:ext>
            </a:extLst>
          </p:cNvPr>
          <p:cNvSpPr>
            <a:spLocks noGrp="1"/>
          </p:cNvSpPr>
          <p:nvPr>
            <p:ph type="sldNum" sz="quarter" idx="16"/>
          </p:nvPr>
        </p:nvSpPr>
        <p:spPr/>
        <p:txBody>
          <a:bodyPr/>
          <a:lstStyle/>
          <a:p>
            <a:fld id="{E1E1CD7C-2161-7D43-862E-CE4C333CD873}" type="slidenum">
              <a:rPr lang="fr-FR" smtClean="0"/>
              <a:pPr/>
              <a:t>77</a:t>
            </a:fld>
            <a:endParaRPr lang="fr-FR" dirty="0"/>
          </a:p>
        </p:txBody>
      </p:sp>
      <p:pic>
        <p:nvPicPr>
          <p:cNvPr id="10" name="Picture Placeholder 11" descr="A city next to the water&#10;&#10;AI-generated content may be incorrect.">
            <a:extLst>
              <a:ext uri="{FF2B5EF4-FFF2-40B4-BE49-F238E27FC236}">
                <a16:creationId xmlns:a16="http://schemas.microsoft.com/office/drawing/2014/main" id="{C272525B-5472-033A-5F67-09B84032E075}"/>
              </a:ext>
            </a:extLst>
          </p:cNvPr>
          <p:cNvPicPr>
            <a:picLocks noGrp="1" noChangeAspect="1"/>
          </p:cNvPicPr>
          <p:nvPr>
            <p:ph type="pic" sz="quarter" idx="13"/>
          </p:nvPr>
        </p:nvPicPr>
        <p:blipFill>
          <a:blip r:embed="rId3">
            <a:extLst>
              <a:ext uri="{837473B0-CC2E-450A-ABE3-18F120FF3D39}">
                <a1611:picAttrSrcUrl xmlns:a1611="http://schemas.microsoft.com/office/drawing/2016/11/main" r:id="rId4"/>
              </a:ext>
            </a:extLst>
          </a:blip>
          <a:srcRect l="26235" r="26235"/>
          <a:stretch>
            <a:fillRect/>
          </a:stretch>
        </p:blipFill>
        <p:spPr bwMode="auto">
          <a:xfrm>
            <a:off x="904875" y="0"/>
            <a:ext cx="3667125" cy="5143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39076800"/>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149310-151B-44AA-666E-D38F85BDCCC5}"/>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29F3F367-8524-CADF-D69A-0477FB4FCC49}"/>
              </a:ext>
            </a:extLst>
          </p:cNvPr>
          <p:cNvSpPr>
            <a:spLocks noGrp="1"/>
          </p:cNvSpPr>
          <p:nvPr>
            <p:ph idx="1"/>
          </p:nvPr>
        </p:nvSpPr>
        <p:spPr/>
        <p:txBody>
          <a:bodyPr anchor="ctr">
            <a:normAutofit/>
          </a:bodyPr>
          <a:lstStyle/>
          <a:p>
            <a:r>
              <a:rPr lang="en-US" dirty="0">
                <a:latin typeface="+mj-lt"/>
              </a:rPr>
              <a:t>Scalability = holism + reductionism</a:t>
            </a:r>
          </a:p>
          <a:p>
            <a:r>
              <a:rPr lang="en-US" dirty="0">
                <a:latin typeface="+mj-lt"/>
              </a:rPr>
              <a:t>Balance of abstraction and fine-grained detail</a:t>
            </a:r>
          </a:p>
          <a:p>
            <a:r>
              <a:rPr lang="en-US" dirty="0">
                <a:latin typeface="+mj-lt"/>
              </a:rPr>
              <a:t>Promising future: unifying reasoning and generation</a:t>
            </a:r>
          </a:p>
          <a:p>
            <a:pPr lvl="1"/>
            <a:r>
              <a:rPr lang="en-US" dirty="0">
                <a:latin typeface="+mj-lt"/>
              </a:rPr>
              <a:t>Predicting and generating correct facts</a:t>
            </a:r>
          </a:p>
          <a:p>
            <a:pPr lvl="1"/>
            <a:r>
              <a:rPr lang="en-US" dirty="0">
                <a:latin typeface="+mj-lt"/>
              </a:rPr>
              <a:t>Controllable abstraction level</a:t>
            </a:r>
          </a:p>
          <a:p>
            <a:pPr lvl="1"/>
            <a:r>
              <a:rPr lang="en-US" dirty="0">
                <a:latin typeface="+mj-lt"/>
              </a:rPr>
              <a:t>Treating graphs as an evolving knowledge system</a:t>
            </a:r>
          </a:p>
          <a:p>
            <a:r>
              <a:rPr lang="en-US" dirty="0">
                <a:latin typeface="+mj-lt"/>
              </a:rPr>
              <a:t>Go solve that 5x5 Rubik’s cube, it’s worth it, you know how to do it now…</a:t>
            </a:r>
          </a:p>
        </p:txBody>
      </p:sp>
      <p:sp>
        <p:nvSpPr>
          <p:cNvPr id="8" name="Title 7">
            <a:extLst>
              <a:ext uri="{FF2B5EF4-FFF2-40B4-BE49-F238E27FC236}">
                <a16:creationId xmlns:a16="http://schemas.microsoft.com/office/drawing/2014/main" id="{655496E2-D7DB-45C4-0FA3-59549B67DC43}"/>
              </a:ext>
            </a:extLst>
          </p:cNvPr>
          <p:cNvSpPr>
            <a:spLocks noGrp="1"/>
          </p:cNvSpPr>
          <p:nvPr>
            <p:ph type="title"/>
          </p:nvPr>
        </p:nvSpPr>
        <p:spPr>
          <a:xfrm>
            <a:off x="904875" y="131032"/>
            <a:ext cx="7726363" cy="1072753"/>
          </a:xfrm>
        </p:spPr>
        <p:txBody>
          <a:bodyPr>
            <a:normAutofit/>
          </a:bodyPr>
          <a:lstStyle/>
          <a:p>
            <a:r>
              <a:rPr lang="en-US" dirty="0"/>
              <a:t>5.	Conclusions &amp; Future Directions</a:t>
            </a:r>
            <a:endParaRPr lang="en-GB" sz="2400" b="0" i="1" dirty="0"/>
          </a:p>
        </p:txBody>
      </p:sp>
      <p:sp>
        <p:nvSpPr>
          <p:cNvPr id="5" name="Date Placeholder 4">
            <a:extLst>
              <a:ext uri="{FF2B5EF4-FFF2-40B4-BE49-F238E27FC236}">
                <a16:creationId xmlns:a16="http://schemas.microsoft.com/office/drawing/2014/main" id="{0BA782D4-5C49-F93F-5D38-79DA9C5D7652}"/>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CDD1A488-8374-E126-A750-FD553E40E9EB}"/>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124C5A4D-F755-E6CF-82B5-91F2A00FD635}"/>
              </a:ext>
            </a:extLst>
          </p:cNvPr>
          <p:cNvSpPr>
            <a:spLocks noGrp="1"/>
          </p:cNvSpPr>
          <p:nvPr>
            <p:ph type="sldNum" sz="quarter" idx="12"/>
          </p:nvPr>
        </p:nvSpPr>
        <p:spPr/>
        <p:txBody>
          <a:bodyPr/>
          <a:lstStyle/>
          <a:p>
            <a:fld id="{E1E1CD7C-2161-7D43-862E-CE4C333CD873}" type="slidenum">
              <a:rPr lang="fr-FR" smtClean="0"/>
              <a:pPr/>
              <a:t>78</a:t>
            </a:fld>
            <a:endParaRPr lang="fr-FR" dirty="0"/>
          </a:p>
        </p:txBody>
      </p:sp>
    </p:spTree>
    <p:extLst>
      <p:ext uri="{BB962C8B-B14F-4D97-AF65-F5344CB8AC3E}">
        <p14:creationId xmlns:p14="http://schemas.microsoft.com/office/powerpoint/2010/main" val="11360587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randombar(horizontal)">
                                      <p:cBhvr>
                                        <p:cTn id="7" dur="500"/>
                                        <p:tgtEl>
                                          <p:spTgt spid="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4">
                                            <p:txEl>
                                              <p:pRg st="1" end="1"/>
                                            </p:txEl>
                                          </p:spTgt>
                                        </p:tgtEl>
                                        <p:attrNameLst>
                                          <p:attrName>style.visibility</p:attrName>
                                        </p:attrNameLst>
                                      </p:cBhvr>
                                      <p:to>
                                        <p:strVal val="visible"/>
                                      </p:to>
                                    </p:set>
                                    <p:animEffect transition="in" filter="randombar(horizontal)">
                                      <p:cBhvr>
                                        <p:cTn id="12" dur="500"/>
                                        <p:tgtEl>
                                          <p:spTgt spid="4">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4" presetClass="entr" presetSubtype="10" fill="hold" nodeType="clickEffect">
                                  <p:stCondLst>
                                    <p:cond delay="0"/>
                                  </p:stCondLst>
                                  <p:childTnLst>
                                    <p:set>
                                      <p:cBhvr>
                                        <p:cTn id="16" dur="1" fill="hold">
                                          <p:stCondLst>
                                            <p:cond delay="0"/>
                                          </p:stCondLst>
                                        </p:cTn>
                                        <p:tgtEl>
                                          <p:spTgt spid="4">
                                            <p:txEl>
                                              <p:pRg st="2" end="2"/>
                                            </p:txEl>
                                          </p:spTgt>
                                        </p:tgtEl>
                                        <p:attrNameLst>
                                          <p:attrName>style.visibility</p:attrName>
                                        </p:attrNameLst>
                                      </p:cBhvr>
                                      <p:to>
                                        <p:strVal val="visible"/>
                                      </p:to>
                                    </p:set>
                                    <p:animEffect transition="in" filter="randombar(horizontal)">
                                      <p:cBhvr>
                                        <p:cTn id="17" dur="500"/>
                                        <p:tgtEl>
                                          <p:spTgt spid="4">
                                            <p:txEl>
                                              <p:pRg st="2" end="2"/>
                                            </p:txEl>
                                          </p:spTgt>
                                        </p:tgtEl>
                                      </p:cBhvr>
                                    </p:animEffect>
                                  </p:childTnLst>
                                </p:cTn>
                              </p:par>
                              <p:par>
                                <p:cTn id="18" presetID="14" presetClass="entr" presetSubtype="10" fill="hold" nodeType="withEffect">
                                  <p:stCondLst>
                                    <p:cond delay="0"/>
                                  </p:stCondLst>
                                  <p:childTnLst>
                                    <p:set>
                                      <p:cBhvr>
                                        <p:cTn id="19" dur="1" fill="hold">
                                          <p:stCondLst>
                                            <p:cond delay="0"/>
                                          </p:stCondLst>
                                        </p:cTn>
                                        <p:tgtEl>
                                          <p:spTgt spid="4">
                                            <p:txEl>
                                              <p:pRg st="3" end="3"/>
                                            </p:txEl>
                                          </p:spTgt>
                                        </p:tgtEl>
                                        <p:attrNameLst>
                                          <p:attrName>style.visibility</p:attrName>
                                        </p:attrNameLst>
                                      </p:cBhvr>
                                      <p:to>
                                        <p:strVal val="visible"/>
                                      </p:to>
                                    </p:set>
                                    <p:animEffect transition="in" filter="randombar(horizontal)">
                                      <p:cBhvr>
                                        <p:cTn id="20" dur="500"/>
                                        <p:tgtEl>
                                          <p:spTgt spid="4">
                                            <p:txEl>
                                              <p:pRg st="3" end="3"/>
                                            </p:txEl>
                                          </p:spTgt>
                                        </p:tgtEl>
                                      </p:cBhvr>
                                    </p:animEffect>
                                  </p:childTnLst>
                                </p:cTn>
                              </p:par>
                              <p:par>
                                <p:cTn id="21" presetID="14" presetClass="entr" presetSubtype="10" fill="hold" nodeType="with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animEffect transition="in" filter="randombar(horizontal)">
                                      <p:cBhvr>
                                        <p:cTn id="23" dur="500"/>
                                        <p:tgtEl>
                                          <p:spTgt spid="4">
                                            <p:txEl>
                                              <p:pRg st="4" end="4"/>
                                            </p:txEl>
                                          </p:spTgt>
                                        </p:tgtEl>
                                      </p:cBhvr>
                                    </p:animEffect>
                                  </p:childTnLst>
                                </p:cTn>
                              </p:par>
                              <p:par>
                                <p:cTn id="24" presetID="14" presetClass="entr" presetSubtype="10" fill="hold" nodeType="withEffect">
                                  <p:stCondLst>
                                    <p:cond delay="0"/>
                                  </p:stCondLst>
                                  <p:childTnLst>
                                    <p:set>
                                      <p:cBhvr>
                                        <p:cTn id="25" dur="1" fill="hold">
                                          <p:stCondLst>
                                            <p:cond delay="0"/>
                                          </p:stCondLst>
                                        </p:cTn>
                                        <p:tgtEl>
                                          <p:spTgt spid="4">
                                            <p:txEl>
                                              <p:pRg st="5" end="5"/>
                                            </p:txEl>
                                          </p:spTgt>
                                        </p:tgtEl>
                                        <p:attrNameLst>
                                          <p:attrName>style.visibility</p:attrName>
                                        </p:attrNameLst>
                                      </p:cBhvr>
                                      <p:to>
                                        <p:strVal val="visible"/>
                                      </p:to>
                                    </p:set>
                                    <p:animEffect transition="in" filter="randombar(horizontal)">
                                      <p:cBhvr>
                                        <p:cTn id="26" dur="500"/>
                                        <p:tgtEl>
                                          <p:spTgt spid="4">
                                            <p:txEl>
                                              <p:pRg st="5" end="5"/>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14" presetClass="entr" presetSubtype="10"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animEffect transition="in" filter="randombar(horizontal)">
                                      <p:cBhvr>
                                        <p:cTn id="31" dur="500"/>
                                        <p:tgtEl>
                                          <p:spTgt spid="4">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46693C0-AF06-D2CE-9C54-B57B5D571F4D}"/>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F0A597E4-55F2-9A9B-9168-87016B651EA7}"/>
              </a:ext>
            </a:extLst>
          </p:cNvPr>
          <p:cNvSpPr>
            <a:spLocks noGrp="1"/>
          </p:cNvSpPr>
          <p:nvPr>
            <p:ph idx="1"/>
          </p:nvPr>
        </p:nvSpPr>
        <p:spPr/>
        <p:txBody>
          <a:bodyPr anchor="ctr">
            <a:normAutofit fontScale="62500" lnSpcReduction="20000"/>
          </a:bodyPr>
          <a:lstStyle/>
          <a:p>
            <a:pPr marL="342900" indent="-342900">
              <a:buFont typeface="+mj-lt"/>
              <a:buAutoNum type="arabicPeriod"/>
            </a:pPr>
            <a:r>
              <a:rPr lang="en-GB" dirty="0">
                <a:latin typeface="+mj-lt"/>
              </a:rPr>
              <a:t>S. L. Hakimi, “On Realizability of a Set of Integers as Degrees of the Vertices of a Linear Graph II. Uniqueness,” </a:t>
            </a:r>
            <a:r>
              <a:rPr lang="en-GB" i="1" dirty="0">
                <a:latin typeface="+mj-lt"/>
              </a:rPr>
              <a:t>Journal of the Society for Industrial and Applied Mathematics</a:t>
            </a:r>
            <a:r>
              <a:rPr lang="en-GB" dirty="0">
                <a:latin typeface="+mj-lt"/>
              </a:rPr>
              <a:t>, vol. 11, no. 1, pp. 135–147, Mar. 1963, </a:t>
            </a:r>
            <a:r>
              <a:rPr lang="en-GB" dirty="0" err="1">
                <a:latin typeface="+mj-lt"/>
              </a:rPr>
              <a:t>doi</a:t>
            </a:r>
            <a:r>
              <a:rPr lang="en-GB" dirty="0">
                <a:latin typeface="+mj-lt"/>
              </a:rPr>
              <a:t>: </a:t>
            </a:r>
            <a:r>
              <a:rPr lang="en-GB" dirty="0">
                <a:latin typeface="+mj-lt"/>
                <a:hlinkClick r:id="rId3"/>
              </a:rPr>
              <a:t>10.1137/0111010</a:t>
            </a:r>
            <a:r>
              <a:rPr lang="en-GB" dirty="0">
                <a:latin typeface="+mj-lt"/>
              </a:rPr>
              <a:t>.</a:t>
            </a:r>
          </a:p>
          <a:p>
            <a:pPr marL="342900" indent="-342900">
              <a:buFont typeface="+mj-lt"/>
              <a:buAutoNum type="arabicPeriod"/>
            </a:pPr>
            <a:r>
              <a:rPr lang="en-GB" dirty="0">
                <a:latin typeface="+mj-lt"/>
              </a:rPr>
              <a:t>D. J. Aldous, “Exchangeability and related topics,” in </a:t>
            </a:r>
            <a:r>
              <a:rPr lang="en-GB" i="1" dirty="0">
                <a:latin typeface="+mj-lt"/>
              </a:rPr>
              <a:t>École </a:t>
            </a:r>
            <a:r>
              <a:rPr lang="en-GB" i="1" dirty="0" err="1">
                <a:latin typeface="+mj-lt"/>
              </a:rPr>
              <a:t>d’Été</a:t>
            </a:r>
            <a:r>
              <a:rPr lang="en-GB" i="1" dirty="0">
                <a:latin typeface="+mj-lt"/>
              </a:rPr>
              <a:t> de </a:t>
            </a:r>
            <a:r>
              <a:rPr lang="en-GB" i="1" dirty="0" err="1">
                <a:latin typeface="+mj-lt"/>
              </a:rPr>
              <a:t>Probabilités</a:t>
            </a:r>
            <a:r>
              <a:rPr lang="en-GB" i="1" dirty="0">
                <a:latin typeface="+mj-lt"/>
              </a:rPr>
              <a:t> de Saint-Flour XIII — 1983</a:t>
            </a:r>
            <a:r>
              <a:rPr lang="en-GB" dirty="0">
                <a:latin typeface="+mj-lt"/>
              </a:rPr>
              <a:t>, D. J. Aldous, I. A. Ibragimov, J. </a:t>
            </a:r>
            <a:r>
              <a:rPr lang="en-GB" dirty="0" err="1">
                <a:latin typeface="+mj-lt"/>
              </a:rPr>
              <a:t>Jacod</a:t>
            </a:r>
            <a:r>
              <a:rPr lang="en-GB" dirty="0">
                <a:latin typeface="+mj-lt"/>
              </a:rPr>
              <a:t>, and P. L. </a:t>
            </a:r>
            <a:r>
              <a:rPr lang="en-GB" dirty="0" err="1">
                <a:latin typeface="+mj-lt"/>
              </a:rPr>
              <a:t>Hennequin</a:t>
            </a:r>
            <a:r>
              <a:rPr lang="en-GB" dirty="0">
                <a:latin typeface="+mj-lt"/>
              </a:rPr>
              <a:t>, Eds., in Lecture Notes in Mathematics. Berlin, Heidelberg: Springer, 1985, pp. 1–198. </a:t>
            </a:r>
            <a:r>
              <a:rPr lang="en-GB" dirty="0" err="1">
                <a:latin typeface="+mj-lt"/>
              </a:rPr>
              <a:t>doi</a:t>
            </a:r>
            <a:r>
              <a:rPr lang="en-GB" dirty="0">
                <a:latin typeface="+mj-lt"/>
              </a:rPr>
              <a:t>: </a:t>
            </a:r>
            <a:r>
              <a:rPr lang="en-GB" dirty="0">
                <a:latin typeface="+mj-lt"/>
                <a:hlinkClick r:id="rId4"/>
              </a:rPr>
              <a:t>10.1007/BFb0099421</a:t>
            </a:r>
            <a:r>
              <a:rPr lang="en-GB" dirty="0">
                <a:latin typeface="+mj-lt"/>
              </a:rPr>
              <a:t>.</a:t>
            </a:r>
          </a:p>
          <a:p>
            <a:pPr marL="342900" indent="-342900">
              <a:buFont typeface="+mj-lt"/>
              <a:buAutoNum type="arabicPeriod"/>
            </a:pPr>
            <a:r>
              <a:rPr lang="en-GB" dirty="0">
                <a:latin typeface="+mj-lt"/>
              </a:rPr>
              <a:t>B. </a:t>
            </a:r>
            <a:r>
              <a:rPr lang="en-GB" dirty="0" err="1">
                <a:latin typeface="+mj-lt"/>
              </a:rPr>
              <a:t>Fristedt</a:t>
            </a:r>
            <a:r>
              <a:rPr lang="en-GB" dirty="0">
                <a:latin typeface="+mj-lt"/>
              </a:rPr>
              <a:t>, “The structure of random partitions of large integers,” </a:t>
            </a:r>
            <a:r>
              <a:rPr lang="en-GB" i="1" dirty="0">
                <a:latin typeface="+mj-lt"/>
              </a:rPr>
              <a:t>Transactions of the American Mathematical Society</a:t>
            </a:r>
            <a:r>
              <a:rPr lang="en-GB" dirty="0">
                <a:latin typeface="+mj-lt"/>
              </a:rPr>
              <a:t>, vol. 337, no. 2, pp. 703–735, 1993, </a:t>
            </a:r>
            <a:r>
              <a:rPr lang="en-GB" dirty="0" err="1">
                <a:latin typeface="+mj-lt"/>
              </a:rPr>
              <a:t>doi</a:t>
            </a:r>
            <a:r>
              <a:rPr lang="en-GB" dirty="0">
                <a:latin typeface="+mj-lt"/>
              </a:rPr>
              <a:t>: </a:t>
            </a:r>
            <a:r>
              <a:rPr lang="en-GB" dirty="0">
                <a:latin typeface="+mj-lt"/>
                <a:hlinkClick r:id="rId5"/>
              </a:rPr>
              <a:t>10.1090/S0002-9947-1993-1094553-1</a:t>
            </a:r>
            <a:r>
              <a:rPr lang="en-GB" dirty="0">
                <a:latin typeface="+mj-lt"/>
              </a:rPr>
              <a:t>.</a:t>
            </a:r>
          </a:p>
          <a:p>
            <a:pPr marL="342900" indent="-342900">
              <a:buFont typeface="+mj-lt"/>
              <a:buAutoNum type="arabicPeriod"/>
            </a:pPr>
            <a:r>
              <a:rPr lang="en-GB" dirty="0">
                <a:latin typeface="+mj-lt"/>
              </a:rPr>
              <a:t>I. B. Boneva, A. Rensink, M. E. Kurban, and J. Bauer, “Graph Abstraction and Abstract Graph Transformation,” July 2007, Accessed: Aug. 20, 2025. [Online]. Available: </a:t>
            </a:r>
            <a:r>
              <a:rPr lang="en-GB" dirty="0">
                <a:latin typeface="+mj-lt"/>
                <a:hlinkClick r:id="rId6"/>
              </a:rPr>
              <a:t>https://research.utwente.nl/en/publications/graph-abstraction-and-abstract-graph-transformation</a:t>
            </a:r>
            <a:endParaRPr lang="en-GB" dirty="0">
              <a:latin typeface="+mj-lt"/>
            </a:endParaRPr>
          </a:p>
          <a:p>
            <a:pPr marL="342900" indent="-342900">
              <a:buFont typeface="+mj-lt"/>
              <a:buAutoNum type="arabicPeriod"/>
            </a:pPr>
            <a:r>
              <a:rPr lang="en-GB" dirty="0">
                <a:latin typeface="+mj-lt"/>
              </a:rPr>
              <a:t>J. Sohl-Dickstein, E. Weiss, N. </a:t>
            </a:r>
            <a:r>
              <a:rPr lang="en-GB" dirty="0" err="1">
                <a:latin typeface="+mj-lt"/>
              </a:rPr>
              <a:t>Maheswaranathan</a:t>
            </a:r>
            <a:r>
              <a:rPr lang="en-GB" dirty="0">
                <a:latin typeface="+mj-lt"/>
              </a:rPr>
              <a:t>, and S. Ganguli, “Deep Unsupervised Learning using Nonequilibrium Thermodynamics,” in </a:t>
            </a:r>
            <a:r>
              <a:rPr lang="en-GB" i="1" dirty="0">
                <a:latin typeface="+mj-lt"/>
              </a:rPr>
              <a:t>Proceedings of the 32nd International Conference on Machine Learning</a:t>
            </a:r>
            <a:r>
              <a:rPr lang="en-GB" dirty="0">
                <a:latin typeface="+mj-lt"/>
              </a:rPr>
              <a:t>, PMLR, June 2015, pp. 2256–2265. Accessed: Aug. 28, 2025. [Online]. Available: </a:t>
            </a:r>
            <a:r>
              <a:rPr lang="en-GB" dirty="0">
                <a:latin typeface="+mj-lt"/>
                <a:hlinkClick r:id="rId7"/>
              </a:rPr>
              <a:t>https://proceedings.mlr.press/v37/sohl-dickstein15.html</a:t>
            </a:r>
            <a:endParaRPr lang="en-GB" dirty="0">
              <a:latin typeface="+mj-lt"/>
            </a:endParaRPr>
          </a:p>
          <a:p>
            <a:pPr marL="342900" indent="-342900">
              <a:buFont typeface="+mj-lt"/>
              <a:buAutoNum type="arabicPeriod"/>
            </a:pPr>
            <a:r>
              <a:rPr lang="en-GB" dirty="0">
                <a:latin typeface="+mj-lt"/>
              </a:rPr>
              <a:t>M. </a:t>
            </a:r>
            <a:r>
              <a:rPr lang="en-GB" dirty="0" err="1">
                <a:latin typeface="+mj-lt"/>
              </a:rPr>
              <a:t>Arjovsky</a:t>
            </a:r>
            <a:r>
              <a:rPr lang="en-GB" dirty="0">
                <a:latin typeface="+mj-lt"/>
              </a:rPr>
              <a:t>, S. Chintala, and L. </a:t>
            </a:r>
            <a:r>
              <a:rPr lang="en-GB" dirty="0" err="1">
                <a:latin typeface="+mj-lt"/>
              </a:rPr>
              <a:t>Bottou</a:t>
            </a:r>
            <a:r>
              <a:rPr lang="en-GB" dirty="0">
                <a:latin typeface="+mj-lt"/>
              </a:rPr>
              <a:t>, “Wasserstein Generative Adversarial Networks,” in </a:t>
            </a:r>
            <a:r>
              <a:rPr lang="en-GB" i="1" dirty="0">
                <a:latin typeface="+mj-lt"/>
              </a:rPr>
              <a:t>Proceedings of the 34th International Conference on Machine Learning</a:t>
            </a:r>
            <a:r>
              <a:rPr lang="en-GB" dirty="0">
                <a:latin typeface="+mj-lt"/>
              </a:rPr>
              <a:t>, PMLR, July 2017, pp. 214–223. Accessed: Aug. 27, 2025. [Online]. Available: </a:t>
            </a:r>
            <a:r>
              <a:rPr lang="en-GB" dirty="0">
                <a:latin typeface="+mj-lt"/>
                <a:hlinkClick r:id="rId8"/>
              </a:rPr>
              <a:t>https://proceedings.mlr.press/v70/arjovsky17a.html</a:t>
            </a:r>
            <a:endParaRPr lang="en-GB" dirty="0">
              <a:latin typeface="+mj-lt"/>
            </a:endParaRPr>
          </a:p>
          <a:p>
            <a:pPr marL="342900" indent="-342900">
              <a:buFont typeface="+mj-lt"/>
              <a:buAutoNum type="arabicPeriod"/>
            </a:pPr>
            <a:r>
              <a:rPr lang="en-GB" dirty="0">
                <a:latin typeface="+mj-lt"/>
              </a:rPr>
              <a:t>P. W. Battaglia </a:t>
            </a:r>
            <a:r>
              <a:rPr lang="en-GB" i="1" dirty="0">
                <a:latin typeface="+mj-lt"/>
              </a:rPr>
              <a:t>et al.</a:t>
            </a:r>
            <a:r>
              <a:rPr lang="en-GB" dirty="0">
                <a:latin typeface="+mj-lt"/>
              </a:rPr>
              <a:t>, “Relational inductive biases, deep learning, and graph networks,” </a:t>
            </a:r>
            <a:r>
              <a:rPr lang="en-GB" i="1" dirty="0">
                <a:latin typeface="+mj-lt"/>
              </a:rPr>
              <a:t>arXiv:1806.01261 [cs, stat]</a:t>
            </a:r>
            <a:r>
              <a:rPr lang="en-GB" dirty="0">
                <a:latin typeface="+mj-lt"/>
              </a:rPr>
              <a:t>, Oct. 2018, Accessed: Oct. 08, 2021. [Online]. Available: </a:t>
            </a:r>
            <a:r>
              <a:rPr lang="en-GB" dirty="0">
                <a:latin typeface="+mj-lt"/>
                <a:hlinkClick r:id="rId9"/>
              </a:rPr>
              <a:t>http://arxiv.org/abs/1806.01261</a:t>
            </a:r>
            <a:endParaRPr lang="en-GB" dirty="0">
              <a:latin typeface="+mj-lt"/>
            </a:endParaRPr>
          </a:p>
        </p:txBody>
      </p:sp>
      <p:sp>
        <p:nvSpPr>
          <p:cNvPr id="8" name="Title 7">
            <a:extLst>
              <a:ext uri="{FF2B5EF4-FFF2-40B4-BE49-F238E27FC236}">
                <a16:creationId xmlns:a16="http://schemas.microsoft.com/office/drawing/2014/main" id="{0946A676-F14A-7753-E20E-70A147E873B5}"/>
              </a:ext>
            </a:extLst>
          </p:cNvPr>
          <p:cNvSpPr>
            <a:spLocks noGrp="1"/>
          </p:cNvSpPr>
          <p:nvPr>
            <p:ph type="title"/>
          </p:nvPr>
        </p:nvSpPr>
        <p:spPr>
          <a:xfrm>
            <a:off x="904875" y="131032"/>
            <a:ext cx="7726363" cy="1072753"/>
          </a:xfrm>
        </p:spPr>
        <p:txBody>
          <a:bodyPr>
            <a:normAutofit/>
          </a:bodyPr>
          <a:lstStyle/>
          <a:p>
            <a:r>
              <a:rPr lang="en-US" dirty="0"/>
              <a:t>References</a:t>
            </a:r>
            <a:endParaRPr lang="en-GB" sz="2400" b="0" i="1" dirty="0"/>
          </a:p>
        </p:txBody>
      </p:sp>
      <p:sp>
        <p:nvSpPr>
          <p:cNvPr id="5" name="Date Placeholder 4">
            <a:extLst>
              <a:ext uri="{FF2B5EF4-FFF2-40B4-BE49-F238E27FC236}">
                <a16:creationId xmlns:a16="http://schemas.microsoft.com/office/drawing/2014/main" id="{703B1A90-61FC-E780-AB63-844619D3048A}"/>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9DBB4688-EC04-2DFE-CB21-9F6A9757C04A}"/>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22A8F5F0-ADEF-9104-0A95-076F1003CD5B}"/>
              </a:ext>
            </a:extLst>
          </p:cNvPr>
          <p:cNvSpPr>
            <a:spLocks noGrp="1"/>
          </p:cNvSpPr>
          <p:nvPr>
            <p:ph type="sldNum" sz="quarter" idx="12"/>
          </p:nvPr>
        </p:nvSpPr>
        <p:spPr/>
        <p:txBody>
          <a:bodyPr/>
          <a:lstStyle/>
          <a:p>
            <a:fld id="{E1E1CD7C-2161-7D43-862E-CE4C333CD873}" type="slidenum">
              <a:rPr lang="fr-FR" smtClean="0"/>
              <a:pPr/>
              <a:t>79</a:t>
            </a:fld>
            <a:endParaRPr lang="fr-FR" dirty="0"/>
          </a:p>
        </p:txBody>
      </p:sp>
    </p:spTree>
    <p:extLst>
      <p:ext uri="{BB962C8B-B14F-4D97-AF65-F5344CB8AC3E}">
        <p14:creationId xmlns:p14="http://schemas.microsoft.com/office/powerpoint/2010/main" val="3465794595"/>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46693C0-AF06-D2CE-9C54-B57B5D571F4D}"/>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F0A597E4-55F2-9A9B-9168-87016B651EA7}"/>
              </a:ext>
            </a:extLst>
          </p:cNvPr>
          <p:cNvSpPr>
            <a:spLocks noGrp="1"/>
          </p:cNvSpPr>
          <p:nvPr>
            <p:ph idx="1"/>
          </p:nvPr>
        </p:nvSpPr>
        <p:spPr/>
        <p:txBody>
          <a:bodyPr anchor="ctr">
            <a:normAutofit fontScale="62500" lnSpcReduction="20000"/>
          </a:bodyPr>
          <a:lstStyle/>
          <a:p>
            <a:pPr marL="342900" indent="-342900">
              <a:buFont typeface="+mj-lt"/>
              <a:buAutoNum type="arabicPeriod" startAt="8"/>
            </a:pPr>
            <a:r>
              <a:rPr lang="en-GB" dirty="0">
                <a:latin typeface="+mj-lt"/>
              </a:rPr>
              <a:t>A. Lerer </a:t>
            </a:r>
            <a:r>
              <a:rPr lang="en-GB" i="1" dirty="0">
                <a:latin typeface="+mj-lt"/>
              </a:rPr>
              <a:t>et al.</a:t>
            </a:r>
            <a:r>
              <a:rPr lang="en-GB" dirty="0">
                <a:latin typeface="+mj-lt"/>
              </a:rPr>
              <a:t>, “</a:t>
            </a:r>
            <a:r>
              <a:rPr lang="en-GB" dirty="0" err="1">
                <a:latin typeface="+mj-lt"/>
              </a:rPr>
              <a:t>Pytorch-BigGraph</a:t>
            </a:r>
            <a:r>
              <a:rPr lang="en-GB" dirty="0">
                <a:latin typeface="+mj-lt"/>
              </a:rPr>
              <a:t>: A Large Scale Graph Embedding System,” </a:t>
            </a:r>
            <a:r>
              <a:rPr lang="en-GB" i="1" dirty="0">
                <a:latin typeface="+mj-lt"/>
              </a:rPr>
              <a:t>Proceedings of Machine Learning and Systems</a:t>
            </a:r>
            <a:r>
              <a:rPr lang="en-GB" dirty="0">
                <a:latin typeface="+mj-lt"/>
              </a:rPr>
              <a:t>, vol. 1, pp. 120–131, Apr. 2019, Accessed: Sept. 20, 2022. [Online]. Available: </a:t>
            </a:r>
            <a:r>
              <a:rPr lang="en-GB" dirty="0">
                <a:latin typeface="+mj-lt"/>
                <a:hlinkClick r:id="rId3"/>
              </a:rPr>
              <a:t>https://proceedings.mlsys.org/paper/2019/hash/e2c420d928d4bf8ce0ff2ec19b371514-Abstract.html</a:t>
            </a:r>
            <a:endParaRPr lang="en-GB" dirty="0">
              <a:latin typeface="+mj-lt"/>
            </a:endParaRPr>
          </a:p>
          <a:p>
            <a:pPr marL="342900" indent="-342900">
              <a:buFont typeface="+mj-lt"/>
              <a:buAutoNum type="arabicPeriod" startAt="8"/>
            </a:pPr>
            <a:r>
              <a:rPr lang="en-GB" dirty="0">
                <a:latin typeface="+mj-lt"/>
              </a:rPr>
              <a:t>D. Nathani, J. Chauhan, C. Sharma, and M. Kaul, “Learning Attention-based Embeddings for Relation Prediction in Knowledge Graphs,” in </a:t>
            </a:r>
            <a:r>
              <a:rPr lang="en-GB" i="1" dirty="0">
                <a:latin typeface="+mj-lt"/>
              </a:rPr>
              <a:t>Proceedings of the 57th Annual Meeting of the Association for Computational Linguistics</a:t>
            </a:r>
            <a:r>
              <a:rPr lang="en-GB" dirty="0">
                <a:latin typeface="+mj-lt"/>
              </a:rPr>
              <a:t>, Florence, Italy: Association for Computational Linguistics, July 2019, pp. 4710–4723. </a:t>
            </a:r>
            <a:r>
              <a:rPr lang="en-GB" dirty="0" err="1">
                <a:latin typeface="+mj-lt"/>
              </a:rPr>
              <a:t>doi</a:t>
            </a:r>
            <a:r>
              <a:rPr lang="en-GB" dirty="0">
                <a:latin typeface="+mj-lt"/>
              </a:rPr>
              <a:t>: </a:t>
            </a:r>
            <a:r>
              <a:rPr lang="en-GB" dirty="0">
                <a:latin typeface="+mj-lt"/>
                <a:hlinkClick r:id="rId4"/>
              </a:rPr>
              <a:t>10.18653/v1/P19-1466</a:t>
            </a:r>
            <a:r>
              <a:rPr lang="en-GB" dirty="0">
                <a:latin typeface="+mj-lt"/>
              </a:rPr>
              <a:t>.</a:t>
            </a:r>
          </a:p>
          <a:p>
            <a:pPr marL="342900" indent="-342900">
              <a:buFont typeface="+mj-lt"/>
              <a:buAutoNum type="arabicPeriod" startAt="8"/>
            </a:pPr>
            <a:r>
              <a:rPr lang="en-GB" dirty="0">
                <a:latin typeface="+mj-lt"/>
              </a:rPr>
              <a:t>H. Ren, W. Hu, and J. Leskovec, “Query2box: Reasoning over Knowledge Graphs in Vector Space Using Box Embeddings,” in </a:t>
            </a:r>
            <a:r>
              <a:rPr lang="en-GB" i="1" dirty="0">
                <a:latin typeface="+mj-lt"/>
              </a:rPr>
              <a:t>8th International Conference on Learning Representations, ICLR 2020, Addis Ababa, Ethiopia, April 26-30, 2020</a:t>
            </a:r>
            <a:r>
              <a:rPr lang="en-GB" dirty="0">
                <a:latin typeface="+mj-lt"/>
              </a:rPr>
              <a:t>, OpenReview.net, 2020. [Online]. Available: </a:t>
            </a:r>
            <a:r>
              <a:rPr lang="en-GB" dirty="0">
                <a:latin typeface="+mj-lt"/>
                <a:hlinkClick r:id="rId5"/>
              </a:rPr>
              <a:t>https://openreview.net/forum?id=BJgr4kSFDS</a:t>
            </a:r>
            <a:endParaRPr lang="en-GB" dirty="0">
              <a:latin typeface="+mj-lt"/>
            </a:endParaRPr>
          </a:p>
          <a:p>
            <a:pPr marL="342900" indent="-342900">
              <a:buFont typeface="+mj-lt"/>
              <a:buAutoNum type="arabicPeriod" startAt="8"/>
            </a:pPr>
            <a:r>
              <a:rPr lang="en-GB" dirty="0">
                <a:latin typeface="+mj-lt"/>
              </a:rPr>
              <a:t>R. Shen, K. Tian, and Y. Tat Lee, “Composite </a:t>
            </a:r>
            <a:r>
              <a:rPr lang="en-GB" dirty="0" err="1">
                <a:latin typeface="+mj-lt"/>
              </a:rPr>
              <a:t>Logconcave</a:t>
            </a:r>
            <a:r>
              <a:rPr lang="en-GB" dirty="0">
                <a:latin typeface="+mj-lt"/>
              </a:rPr>
              <a:t> Sampling with a Restricted Gaussian Oracle,” June 01, 2020, </a:t>
            </a:r>
            <a:r>
              <a:rPr lang="en-GB" i="1" dirty="0" err="1">
                <a:latin typeface="+mj-lt"/>
              </a:rPr>
              <a:t>arXiv</a:t>
            </a:r>
            <a:r>
              <a:rPr lang="en-GB" dirty="0">
                <a:latin typeface="+mj-lt"/>
              </a:rPr>
              <a:t>. </a:t>
            </a:r>
            <a:r>
              <a:rPr lang="en-GB" dirty="0" err="1">
                <a:latin typeface="+mj-lt"/>
              </a:rPr>
              <a:t>doi</a:t>
            </a:r>
            <a:r>
              <a:rPr lang="en-GB" dirty="0">
                <a:latin typeface="+mj-lt"/>
              </a:rPr>
              <a:t>: </a:t>
            </a:r>
            <a:r>
              <a:rPr lang="en-GB" dirty="0">
                <a:latin typeface="+mj-lt"/>
                <a:hlinkClick r:id="rId6"/>
              </a:rPr>
              <a:t>10.48550/arXiv.2006.05976</a:t>
            </a:r>
            <a:r>
              <a:rPr lang="en-GB" dirty="0">
                <a:latin typeface="+mj-lt"/>
              </a:rPr>
              <a:t>.</a:t>
            </a:r>
          </a:p>
          <a:p>
            <a:pPr marL="342900" indent="-342900">
              <a:buFont typeface="+mj-lt"/>
              <a:buAutoNum type="arabicPeriod" startAt="8"/>
            </a:pPr>
            <a:r>
              <a:rPr lang="en-GB" dirty="0">
                <a:latin typeface="+mj-lt"/>
              </a:rPr>
              <a:t>D. Zheng </a:t>
            </a:r>
            <a:r>
              <a:rPr lang="en-GB" i="1" dirty="0">
                <a:latin typeface="+mj-lt"/>
              </a:rPr>
              <a:t>et al.</a:t>
            </a:r>
            <a:r>
              <a:rPr lang="en-GB" dirty="0">
                <a:latin typeface="+mj-lt"/>
              </a:rPr>
              <a:t>, “DGL-KE: Training Knowledge Graph Embeddings at Scale,” in </a:t>
            </a:r>
            <a:r>
              <a:rPr lang="en-GB" i="1" dirty="0">
                <a:latin typeface="+mj-lt"/>
              </a:rPr>
              <a:t>Proceedings of the 43rd International ACM SIGIR Conference on Research and Development in Information Retrieval</a:t>
            </a:r>
            <a:r>
              <a:rPr lang="en-GB" dirty="0">
                <a:latin typeface="+mj-lt"/>
              </a:rPr>
              <a:t>, in SIGIR ’20. New York, NY, USA: Association for Computing Machinery, July 2020, pp. 739–748. </a:t>
            </a:r>
            <a:r>
              <a:rPr lang="en-GB" dirty="0" err="1">
                <a:latin typeface="+mj-lt"/>
              </a:rPr>
              <a:t>doi</a:t>
            </a:r>
            <a:r>
              <a:rPr lang="en-GB" dirty="0">
                <a:latin typeface="+mj-lt"/>
              </a:rPr>
              <a:t>: </a:t>
            </a:r>
            <a:r>
              <a:rPr lang="en-GB" dirty="0">
                <a:latin typeface="+mj-lt"/>
                <a:hlinkClick r:id="rId7"/>
              </a:rPr>
              <a:t>10.1145/3397271.3401172</a:t>
            </a:r>
            <a:r>
              <a:rPr lang="en-GB" dirty="0">
                <a:latin typeface="+mj-lt"/>
              </a:rPr>
              <a:t>.</a:t>
            </a:r>
          </a:p>
          <a:p>
            <a:pPr marL="342900" indent="-342900">
              <a:buFont typeface="+mj-lt"/>
              <a:buAutoNum type="arabicPeriod" startAt="8"/>
            </a:pPr>
            <a:r>
              <a:rPr lang="en-GB" dirty="0">
                <a:latin typeface="+mj-lt"/>
              </a:rPr>
              <a:t>I. Krawczuk, P. Abranches, A. Loukas, and V. Cevher, “GG-GAN: A Geometric Graph Generative Adversarial Network,” Sept. 2020, Accessed: Sept. 12, 2021. [Online]. Available: </a:t>
            </a:r>
            <a:r>
              <a:rPr lang="en-GB" dirty="0">
                <a:latin typeface="+mj-lt"/>
                <a:hlinkClick r:id="rId8"/>
              </a:rPr>
              <a:t>https://openreview.net/forum?id=qiAxL3Xqx1o</a:t>
            </a:r>
            <a:endParaRPr lang="en-GB" dirty="0">
              <a:latin typeface="+mj-lt"/>
            </a:endParaRPr>
          </a:p>
          <a:p>
            <a:pPr marL="342900" indent="-342900">
              <a:buFont typeface="+mj-lt"/>
              <a:buAutoNum type="arabicPeriod" startAt="8"/>
            </a:pPr>
            <a:r>
              <a:rPr lang="en-GB" dirty="0">
                <a:latin typeface="+mj-lt"/>
              </a:rPr>
              <a:t>A. Hogan </a:t>
            </a:r>
            <a:r>
              <a:rPr lang="en-GB" i="1" dirty="0">
                <a:latin typeface="+mj-lt"/>
              </a:rPr>
              <a:t>et al.</a:t>
            </a:r>
            <a:r>
              <a:rPr lang="en-GB" dirty="0">
                <a:latin typeface="+mj-lt"/>
              </a:rPr>
              <a:t>, “Knowledge Graphs,” </a:t>
            </a:r>
            <a:r>
              <a:rPr lang="en-GB" i="1" dirty="0">
                <a:latin typeface="+mj-lt"/>
              </a:rPr>
              <a:t>ACM Comput. </a:t>
            </a:r>
            <a:r>
              <a:rPr lang="en-GB" i="1" dirty="0" err="1">
                <a:latin typeface="+mj-lt"/>
              </a:rPr>
              <a:t>Surv</a:t>
            </a:r>
            <a:r>
              <a:rPr lang="en-GB" i="1" dirty="0">
                <a:latin typeface="+mj-lt"/>
              </a:rPr>
              <a:t>.</a:t>
            </a:r>
            <a:r>
              <a:rPr lang="en-GB" dirty="0">
                <a:latin typeface="+mj-lt"/>
              </a:rPr>
              <a:t>, vol. 54, no. 4, p. 71:1-71:37, July 2021, </a:t>
            </a:r>
            <a:r>
              <a:rPr lang="en-GB" dirty="0" err="1">
                <a:latin typeface="+mj-lt"/>
              </a:rPr>
              <a:t>doi</a:t>
            </a:r>
            <a:r>
              <a:rPr lang="en-GB" dirty="0">
                <a:latin typeface="+mj-lt"/>
              </a:rPr>
              <a:t>: </a:t>
            </a:r>
            <a:r>
              <a:rPr lang="en-GB" dirty="0">
                <a:latin typeface="+mj-lt"/>
                <a:hlinkClick r:id="rId9"/>
              </a:rPr>
              <a:t>10.1145/3447772</a:t>
            </a:r>
            <a:r>
              <a:rPr lang="en-GB" dirty="0">
                <a:latin typeface="+mj-lt"/>
              </a:rPr>
              <a:t>.</a:t>
            </a:r>
          </a:p>
        </p:txBody>
      </p:sp>
      <p:sp>
        <p:nvSpPr>
          <p:cNvPr id="8" name="Title 7">
            <a:extLst>
              <a:ext uri="{FF2B5EF4-FFF2-40B4-BE49-F238E27FC236}">
                <a16:creationId xmlns:a16="http://schemas.microsoft.com/office/drawing/2014/main" id="{0946A676-F14A-7753-E20E-70A147E873B5}"/>
              </a:ext>
            </a:extLst>
          </p:cNvPr>
          <p:cNvSpPr>
            <a:spLocks noGrp="1"/>
          </p:cNvSpPr>
          <p:nvPr>
            <p:ph type="title"/>
          </p:nvPr>
        </p:nvSpPr>
        <p:spPr>
          <a:xfrm>
            <a:off x="904875" y="131032"/>
            <a:ext cx="7726363" cy="1072753"/>
          </a:xfrm>
        </p:spPr>
        <p:txBody>
          <a:bodyPr>
            <a:normAutofit/>
          </a:bodyPr>
          <a:lstStyle/>
          <a:p>
            <a:r>
              <a:rPr lang="en-US" dirty="0"/>
              <a:t>References</a:t>
            </a:r>
            <a:endParaRPr lang="en-GB" sz="2400" b="0" i="1" dirty="0"/>
          </a:p>
        </p:txBody>
      </p:sp>
      <p:sp>
        <p:nvSpPr>
          <p:cNvPr id="5" name="Date Placeholder 4">
            <a:extLst>
              <a:ext uri="{FF2B5EF4-FFF2-40B4-BE49-F238E27FC236}">
                <a16:creationId xmlns:a16="http://schemas.microsoft.com/office/drawing/2014/main" id="{703B1A90-61FC-E780-AB63-844619D3048A}"/>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9DBB4688-EC04-2DFE-CB21-9F6A9757C04A}"/>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22A8F5F0-ADEF-9104-0A95-076F1003CD5B}"/>
              </a:ext>
            </a:extLst>
          </p:cNvPr>
          <p:cNvSpPr>
            <a:spLocks noGrp="1"/>
          </p:cNvSpPr>
          <p:nvPr>
            <p:ph type="sldNum" sz="quarter" idx="12"/>
          </p:nvPr>
        </p:nvSpPr>
        <p:spPr/>
        <p:txBody>
          <a:bodyPr/>
          <a:lstStyle/>
          <a:p>
            <a:fld id="{E1E1CD7C-2161-7D43-862E-CE4C333CD873}" type="slidenum">
              <a:rPr lang="fr-FR" smtClean="0"/>
              <a:pPr/>
              <a:t>80</a:t>
            </a:fld>
            <a:endParaRPr lang="fr-FR" dirty="0"/>
          </a:p>
        </p:txBody>
      </p:sp>
    </p:spTree>
    <p:extLst>
      <p:ext uri="{BB962C8B-B14F-4D97-AF65-F5344CB8AC3E}">
        <p14:creationId xmlns:p14="http://schemas.microsoft.com/office/powerpoint/2010/main" val="29891787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46693C0-AF06-D2CE-9C54-B57B5D571F4D}"/>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F0A597E4-55F2-9A9B-9168-87016B651EA7}"/>
              </a:ext>
            </a:extLst>
          </p:cNvPr>
          <p:cNvSpPr>
            <a:spLocks noGrp="1"/>
          </p:cNvSpPr>
          <p:nvPr>
            <p:ph idx="1"/>
          </p:nvPr>
        </p:nvSpPr>
        <p:spPr/>
        <p:txBody>
          <a:bodyPr anchor="ctr">
            <a:normAutofit fontScale="62500" lnSpcReduction="20000"/>
          </a:bodyPr>
          <a:lstStyle/>
          <a:p>
            <a:pPr marL="342900" indent="-342900">
              <a:buFont typeface="+mj-lt"/>
              <a:buAutoNum type="arabicPeriod" startAt="15"/>
            </a:pPr>
            <a:r>
              <a:rPr lang="en-GB" dirty="0">
                <a:latin typeface="+mj-lt"/>
              </a:rPr>
              <a:t>A. Janchevski, “Graph Embedding Methods for Graph Completion,” Master’s Thesis, EPFL, Lausanne, 2021. [Online]. Available: </a:t>
            </a:r>
            <a:r>
              <a:rPr lang="en-GB" dirty="0">
                <a:latin typeface="+mj-lt"/>
                <a:hlinkClick r:id="rId3"/>
              </a:rPr>
              <a:t>https://infoscience.epfl.ch/handle/20.500.14299/253964</a:t>
            </a:r>
            <a:endParaRPr lang="en-GB" dirty="0">
              <a:latin typeface="+mj-lt"/>
            </a:endParaRPr>
          </a:p>
          <a:p>
            <a:pPr marL="342900" indent="-342900">
              <a:buFont typeface="+mj-lt"/>
              <a:buAutoNum type="arabicPeriod" startAt="15"/>
            </a:pPr>
            <a:r>
              <a:rPr lang="en-GB" dirty="0">
                <a:latin typeface="+mj-lt"/>
              </a:rPr>
              <a:t>H. Ren </a:t>
            </a:r>
            <a:r>
              <a:rPr lang="en-GB" i="1" dirty="0">
                <a:latin typeface="+mj-lt"/>
              </a:rPr>
              <a:t>et al.</a:t>
            </a:r>
            <a:r>
              <a:rPr lang="en-GB" dirty="0">
                <a:latin typeface="+mj-lt"/>
              </a:rPr>
              <a:t>, “SMORE: Knowledge Graph Completion and Multi-hop Reasoning in Massive Knowledge Graphs,” Nov. 01, 2021, </a:t>
            </a:r>
            <a:r>
              <a:rPr lang="en-GB" i="1" dirty="0" err="1">
                <a:latin typeface="+mj-lt"/>
              </a:rPr>
              <a:t>arXiv</a:t>
            </a:r>
            <a:r>
              <a:rPr lang="en-GB" dirty="0">
                <a:latin typeface="+mj-lt"/>
              </a:rPr>
              <a:t>: arXiv:2110.14890. </a:t>
            </a:r>
            <a:r>
              <a:rPr lang="en-GB" dirty="0" err="1">
                <a:latin typeface="+mj-lt"/>
              </a:rPr>
              <a:t>doi</a:t>
            </a:r>
            <a:r>
              <a:rPr lang="en-GB" dirty="0">
                <a:latin typeface="+mj-lt"/>
              </a:rPr>
              <a:t>: </a:t>
            </a:r>
            <a:r>
              <a:rPr lang="en-GB" dirty="0">
                <a:latin typeface="+mj-lt"/>
                <a:hlinkClick r:id="rId4"/>
              </a:rPr>
              <a:t>10.48550/arXiv.2110.14890</a:t>
            </a:r>
            <a:r>
              <a:rPr lang="en-GB" dirty="0">
                <a:latin typeface="+mj-lt"/>
              </a:rPr>
              <a:t>.</a:t>
            </a:r>
          </a:p>
          <a:p>
            <a:pPr marL="342900" indent="-342900">
              <a:buFont typeface="+mj-lt"/>
              <a:buAutoNum type="arabicPeriod" startAt="15"/>
            </a:pPr>
            <a:r>
              <a:rPr lang="en-GB" dirty="0">
                <a:latin typeface="+mj-lt"/>
              </a:rPr>
              <a:t>M. Galkin, E. G. Denis, J. Wu, and W. L. Hamilton, “</a:t>
            </a:r>
            <a:r>
              <a:rPr lang="en-GB" dirty="0" err="1">
                <a:latin typeface="+mj-lt"/>
              </a:rPr>
              <a:t>NodePiece</a:t>
            </a:r>
            <a:r>
              <a:rPr lang="en-GB" dirty="0">
                <a:latin typeface="+mj-lt"/>
              </a:rPr>
              <a:t>: Compositional and Parameter-Efficient Representations of Large Knowledge Graphs,” in </a:t>
            </a:r>
            <a:r>
              <a:rPr lang="en-GB" i="1" dirty="0">
                <a:latin typeface="+mj-lt"/>
              </a:rPr>
              <a:t>The Tenth International Conference on Learning Representations, ICLR 2022, Virtual Event, April 25-29, 2022</a:t>
            </a:r>
            <a:r>
              <a:rPr lang="en-GB" dirty="0">
                <a:latin typeface="+mj-lt"/>
              </a:rPr>
              <a:t>, OpenReview.net, 2022. [Online]. Available: </a:t>
            </a:r>
            <a:r>
              <a:rPr lang="en-GB" dirty="0">
                <a:latin typeface="+mj-lt"/>
                <a:hlinkClick r:id="rId5"/>
              </a:rPr>
              <a:t>https://openreview.net/forum?id=xMJWUKJnFSw</a:t>
            </a:r>
            <a:endParaRPr lang="en-GB" dirty="0">
              <a:latin typeface="+mj-lt"/>
            </a:endParaRPr>
          </a:p>
          <a:p>
            <a:pPr marL="342900" indent="-342900">
              <a:buFont typeface="+mj-lt"/>
              <a:buAutoNum type="arabicPeriod" startAt="15"/>
            </a:pPr>
            <a:r>
              <a:rPr lang="en-GB" dirty="0">
                <a:latin typeface="+mj-lt"/>
              </a:rPr>
              <a:t>C. </a:t>
            </a:r>
            <a:r>
              <a:rPr lang="en-GB" dirty="0" err="1">
                <a:latin typeface="+mj-lt"/>
              </a:rPr>
              <a:t>Vignac</a:t>
            </a:r>
            <a:r>
              <a:rPr lang="en-GB" dirty="0">
                <a:latin typeface="+mj-lt"/>
              </a:rPr>
              <a:t>, I. Krawczuk, A. </a:t>
            </a:r>
            <a:r>
              <a:rPr lang="en-GB" dirty="0" err="1">
                <a:latin typeface="+mj-lt"/>
              </a:rPr>
              <a:t>Siraudin</a:t>
            </a:r>
            <a:r>
              <a:rPr lang="en-GB" dirty="0">
                <a:latin typeface="+mj-lt"/>
              </a:rPr>
              <a:t>, B. Wang, V. Cevher, and P. Frossard, “</a:t>
            </a:r>
            <a:r>
              <a:rPr lang="en-GB" dirty="0" err="1">
                <a:latin typeface="+mj-lt"/>
              </a:rPr>
              <a:t>DiGress</a:t>
            </a:r>
            <a:r>
              <a:rPr lang="en-GB" dirty="0">
                <a:latin typeface="+mj-lt"/>
              </a:rPr>
              <a:t>: Discrete Denoising diffusion for graph generation,” presented at the </a:t>
            </a:r>
            <a:r>
              <a:rPr lang="en-GB" dirty="0" err="1">
                <a:latin typeface="+mj-lt"/>
              </a:rPr>
              <a:t>The</a:t>
            </a:r>
            <a:r>
              <a:rPr lang="en-GB" dirty="0">
                <a:latin typeface="+mj-lt"/>
              </a:rPr>
              <a:t> Eleventh International Conference on Learning Representations, Sept. 2022. Accessed: Jan. 30, 2025. [Online]. Available: </a:t>
            </a:r>
            <a:r>
              <a:rPr lang="en-GB" dirty="0">
                <a:latin typeface="+mj-lt"/>
                <a:hlinkClick r:id="rId6"/>
              </a:rPr>
              <a:t>https://openreview.net/forum?id=UaAD-Nu86WX</a:t>
            </a:r>
            <a:endParaRPr lang="en-GB" dirty="0">
              <a:latin typeface="+mj-lt"/>
            </a:endParaRPr>
          </a:p>
          <a:p>
            <a:pPr marL="342900" indent="-342900">
              <a:buFont typeface="+mj-lt"/>
              <a:buAutoNum type="arabicPeriod" startAt="15"/>
            </a:pPr>
            <a:r>
              <a:rPr lang="en-GB" dirty="0">
                <a:latin typeface="+mj-lt"/>
              </a:rPr>
              <a:t>M. Chen </a:t>
            </a:r>
            <a:r>
              <a:rPr lang="en-GB" i="1" dirty="0">
                <a:latin typeface="+mj-lt"/>
              </a:rPr>
              <a:t>et al.</a:t>
            </a:r>
            <a:r>
              <a:rPr lang="en-GB" dirty="0">
                <a:latin typeface="+mj-lt"/>
              </a:rPr>
              <a:t>, “Entity-Agnostic Representation Learning for Parameter-Efficient Knowledge Graph Embedding,” </a:t>
            </a:r>
            <a:r>
              <a:rPr lang="en-GB" i="1" dirty="0">
                <a:latin typeface="+mj-lt"/>
              </a:rPr>
              <a:t>Proceedings of the AAAI Conference on Artificial Intelligence</a:t>
            </a:r>
            <a:r>
              <a:rPr lang="en-GB" dirty="0">
                <a:latin typeface="+mj-lt"/>
              </a:rPr>
              <a:t>, vol. 37, no. 4, Art. no. 4, June 2023, </a:t>
            </a:r>
            <a:r>
              <a:rPr lang="en-GB" dirty="0" err="1">
                <a:latin typeface="+mj-lt"/>
              </a:rPr>
              <a:t>doi</a:t>
            </a:r>
            <a:r>
              <a:rPr lang="en-GB" dirty="0">
                <a:latin typeface="+mj-lt"/>
              </a:rPr>
              <a:t>: </a:t>
            </a:r>
            <a:r>
              <a:rPr lang="en-GB" dirty="0">
                <a:latin typeface="+mj-lt"/>
                <a:hlinkClick r:id="rId7"/>
              </a:rPr>
              <a:t>10.1609/aaai.v37i4.25535</a:t>
            </a:r>
            <a:r>
              <a:rPr lang="en-GB" dirty="0">
                <a:latin typeface="+mj-lt"/>
              </a:rPr>
              <a:t>.</a:t>
            </a:r>
          </a:p>
          <a:p>
            <a:pPr marL="342900" indent="-342900">
              <a:buFont typeface="+mj-lt"/>
              <a:buAutoNum type="arabicPeriod" startAt="15"/>
            </a:pPr>
            <a:r>
              <a:rPr lang="en-GB" dirty="0">
                <a:latin typeface="+mj-lt"/>
              </a:rPr>
              <a:t>W. Shiao, U. S. Saini, Y. Liu, T. Zhao, N. Shah, and E. E. </a:t>
            </a:r>
            <a:r>
              <a:rPr lang="en-GB" dirty="0" err="1">
                <a:latin typeface="+mj-lt"/>
              </a:rPr>
              <a:t>Papalexakis</a:t>
            </a:r>
            <a:r>
              <a:rPr lang="en-GB" dirty="0">
                <a:latin typeface="+mj-lt"/>
              </a:rPr>
              <a:t>, “CARL-G: Clustering-Accelerated Representation Learning on Graphs,” in </a:t>
            </a:r>
            <a:r>
              <a:rPr lang="en-GB" i="1" dirty="0">
                <a:latin typeface="+mj-lt"/>
              </a:rPr>
              <a:t>Proceedings of the 29th ACM SIGKDD Conference on Knowledge Discovery and Data Mining</a:t>
            </a:r>
            <a:r>
              <a:rPr lang="en-GB" dirty="0">
                <a:latin typeface="+mj-lt"/>
              </a:rPr>
              <a:t>, Aug. 2023, pp. 2036–2048. </a:t>
            </a:r>
            <a:r>
              <a:rPr lang="en-GB" dirty="0" err="1">
                <a:latin typeface="+mj-lt"/>
              </a:rPr>
              <a:t>doi</a:t>
            </a:r>
            <a:r>
              <a:rPr lang="en-GB" dirty="0">
                <a:latin typeface="+mj-lt"/>
              </a:rPr>
              <a:t>: </a:t>
            </a:r>
            <a:r>
              <a:rPr lang="en-GB" dirty="0">
                <a:latin typeface="+mj-lt"/>
                <a:hlinkClick r:id="rId8"/>
              </a:rPr>
              <a:t>10.1145/3580305.3599268</a:t>
            </a:r>
            <a:r>
              <a:rPr lang="en-GB" dirty="0">
                <a:latin typeface="+mj-lt"/>
              </a:rPr>
              <a:t>.</a:t>
            </a:r>
          </a:p>
          <a:p>
            <a:pPr marL="342900" indent="-342900">
              <a:buFont typeface="+mj-lt"/>
              <a:buAutoNum type="arabicPeriod" startAt="15"/>
            </a:pPr>
            <a:r>
              <a:rPr lang="en-GB" dirty="0">
                <a:latin typeface="+mj-lt"/>
              </a:rPr>
              <a:t>T. </a:t>
            </a:r>
            <a:r>
              <a:rPr lang="en-GB" dirty="0" err="1">
                <a:latin typeface="+mj-lt"/>
              </a:rPr>
              <a:t>Thanapalasingam</a:t>
            </a:r>
            <a:r>
              <a:rPr lang="en-GB" dirty="0">
                <a:latin typeface="+mj-lt"/>
              </a:rPr>
              <a:t>, E. van Krieken, P. Bloem, and P. </a:t>
            </a:r>
            <a:r>
              <a:rPr lang="en-GB" dirty="0" err="1">
                <a:latin typeface="+mj-lt"/>
              </a:rPr>
              <a:t>Groth</a:t>
            </a:r>
            <a:r>
              <a:rPr lang="en-GB" dirty="0">
                <a:latin typeface="+mj-lt"/>
              </a:rPr>
              <a:t>, “</a:t>
            </a:r>
            <a:r>
              <a:rPr lang="en-GB" dirty="0" err="1">
                <a:latin typeface="+mj-lt"/>
              </a:rPr>
              <a:t>IntelliGraphs</a:t>
            </a:r>
            <a:r>
              <a:rPr lang="en-GB" dirty="0">
                <a:latin typeface="+mj-lt"/>
              </a:rPr>
              <a:t>: Datasets for Benchmarking Knowledge Graph Generation,” Aug. 25, 2023, </a:t>
            </a:r>
            <a:r>
              <a:rPr lang="en-GB" i="1" dirty="0" err="1">
                <a:latin typeface="+mj-lt"/>
              </a:rPr>
              <a:t>arXiv</a:t>
            </a:r>
            <a:r>
              <a:rPr lang="en-GB" dirty="0">
                <a:latin typeface="+mj-lt"/>
              </a:rPr>
              <a:t>: arXiv:2307.06698. </a:t>
            </a:r>
            <a:r>
              <a:rPr lang="en-GB" dirty="0" err="1">
                <a:latin typeface="+mj-lt"/>
              </a:rPr>
              <a:t>doi</a:t>
            </a:r>
            <a:r>
              <a:rPr lang="en-GB" dirty="0">
                <a:latin typeface="+mj-lt"/>
              </a:rPr>
              <a:t>: </a:t>
            </a:r>
            <a:r>
              <a:rPr lang="en-GB" dirty="0">
                <a:latin typeface="+mj-lt"/>
                <a:hlinkClick r:id="rId9"/>
              </a:rPr>
              <a:t>10.48550/arXiv.2307.06698</a:t>
            </a:r>
            <a:r>
              <a:rPr lang="en-GB" dirty="0">
                <a:latin typeface="+mj-lt"/>
              </a:rPr>
              <a:t>.</a:t>
            </a:r>
          </a:p>
          <a:p>
            <a:pPr marL="342900" indent="-342900">
              <a:buFont typeface="+mj-lt"/>
              <a:buAutoNum type="arabicPeriod" startAt="15"/>
            </a:pPr>
            <a:r>
              <a:rPr lang="en-GB" dirty="0">
                <a:latin typeface="+mj-lt"/>
              </a:rPr>
              <a:t>M. Karami, “</a:t>
            </a:r>
            <a:r>
              <a:rPr lang="en-GB" dirty="0" err="1">
                <a:latin typeface="+mj-lt"/>
              </a:rPr>
              <a:t>HiGen</a:t>
            </a:r>
            <a:r>
              <a:rPr lang="en-GB" dirty="0">
                <a:latin typeface="+mj-lt"/>
              </a:rPr>
              <a:t>: Hierarchical Graph Generative Networks,” in </a:t>
            </a:r>
            <a:r>
              <a:rPr lang="en-GB" i="1" dirty="0">
                <a:latin typeface="+mj-lt"/>
              </a:rPr>
              <a:t>The Twelfth International Conference on Learning Representations</a:t>
            </a:r>
            <a:r>
              <a:rPr lang="en-GB" dirty="0">
                <a:latin typeface="+mj-lt"/>
              </a:rPr>
              <a:t>, 2024. [Online]. Available: </a:t>
            </a:r>
            <a:r>
              <a:rPr lang="en-GB" dirty="0">
                <a:latin typeface="+mj-lt"/>
                <a:hlinkClick r:id="rId10"/>
              </a:rPr>
              <a:t>https://openreview.net/forum?id=KNvubydSB5</a:t>
            </a:r>
            <a:endParaRPr lang="en-GB" dirty="0">
              <a:latin typeface="+mj-lt"/>
            </a:endParaRPr>
          </a:p>
        </p:txBody>
      </p:sp>
      <p:sp>
        <p:nvSpPr>
          <p:cNvPr id="8" name="Title 7">
            <a:extLst>
              <a:ext uri="{FF2B5EF4-FFF2-40B4-BE49-F238E27FC236}">
                <a16:creationId xmlns:a16="http://schemas.microsoft.com/office/drawing/2014/main" id="{0946A676-F14A-7753-E20E-70A147E873B5}"/>
              </a:ext>
            </a:extLst>
          </p:cNvPr>
          <p:cNvSpPr>
            <a:spLocks noGrp="1"/>
          </p:cNvSpPr>
          <p:nvPr>
            <p:ph type="title"/>
          </p:nvPr>
        </p:nvSpPr>
        <p:spPr>
          <a:xfrm>
            <a:off x="904875" y="131032"/>
            <a:ext cx="7726363" cy="1072753"/>
          </a:xfrm>
        </p:spPr>
        <p:txBody>
          <a:bodyPr>
            <a:normAutofit/>
          </a:bodyPr>
          <a:lstStyle/>
          <a:p>
            <a:r>
              <a:rPr lang="en-US" dirty="0"/>
              <a:t>References</a:t>
            </a:r>
            <a:endParaRPr lang="en-GB" sz="2400" b="0" i="1" dirty="0"/>
          </a:p>
        </p:txBody>
      </p:sp>
      <p:sp>
        <p:nvSpPr>
          <p:cNvPr id="5" name="Date Placeholder 4">
            <a:extLst>
              <a:ext uri="{FF2B5EF4-FFF2-40B4-BE49-F238E27FC236}">
                <a16:creationId xmlns:a16="http://schemas.microsoft.com/office/drawing/2014/main" id="{703B1A90-61FC-E780-AB63-844619D3048A}"/>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9DBB4688-EC04-2DFE-CB21-9F6A9757C04A}"/>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22A8F5F0-ADEF-9104-0A95-076F1003CD5B}"/>
              </a:ext>
            </a:extLst>
          </p:cNvPr>
          <p:cNvSpPr>
            <a:spLocks noGrp="1"/>
          </p:cNvSpPr>
          <p:nvPr>
            <p:ph type="sldNum" sz="quarter" idx="12"/>
          </p:nvPr>
        </p:nvSpPr>
        <p:spPr/>
        <p:txBody>
          <a:bodyPr/>
          <a:lstStyle/>
          <a:p>
            <a:fld id="{E1E1CD7C-2161-7D43-862E-CE4C333CD873}" type="slidenum">
              <a:rPr lang="fr-FR" smtClean="0"/>
              <a:pPr/>
              <a:t>81</a:t>
            </a:fld>
            <a:endParaRPr lang="fr-FR" dirty="0"/>
          </a:p>
        </p:txBody>
      </p:sp>
    </p:spTree>
    <p:extLst>
      <p:ext uri="{BB962C8B-B14F-4D97-AF65-F5344CB8AC3E}">
        <p14:creationId xmlns:p14="http://schemas.microsoft.com/office/powerpoint/2010/main" val="142479171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46693C0-AF06-D2CE-9C54-B57B5D571F4D}"/>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F0A597E4-55F2-9A9B-9168-87016B651EA7}"/>
              </a:ext>
            </a:extLst>
          </p:cNvPr>
          <p:cNvSpPr>
            <a:spLocks noGrp="1"/>
          </p:cNvSpPr>
          <p:nvPr>
            <p:ph idx="1"/>
          </p:nvPr>
        </p:nvSpPr>
        <p:spPr/>
        <p:txBody>
          <a:bodyPr anchor="ctr">
            <a:normAutofit fontScale="62500" lnSpcReduction="20000"/>
          </a:bodyPr>
          <a:lstStyle/>
          <a:p>
            <a:pPr marL="342900" indent="-342900">
              <a:buFont typeface="+mj-lt"/>
              <a:buAutoNum type="arabicPeriod" startAt="22"/>
            </a:pPr>
            <a:r>
              <a:rPr lang="en-GB" dirty="0">
                <a:latin typeface="+mj-lt"/>
              </a:rPr>
              <a:t>M. Karami, I. Krawczuk, and V. Cevher, “Multi-Resolution Graph Diffusion,” in </a:t>
            </a:r>
            <a:r>
              <a:rPr lang="en-GB" i="1" dirty="0">
                <a:latin typeface="+mj-lt"/>
              </a:rPr>
              <a:t>ICLR 2024 Workshop on Machine Learning for Genomics Explorations</a:t>
            </a:r>
            <a:r>
              <a:rPr lang="en-GB" dirty="0">
                <a:latin typeface="+mj-lt"/>
              </a:rPr>
              <a:t>, 2024. [Online]. Available: </a:t>
            </a:r>
            <a:r>
              <a:rPr lang="en-GB" dirty="0">
                <a:latin typeface="+mj-lt"/>
                <a:hlinkClick r:id="rId3"/>
              </a:rPr>
              <a:t>https://openreview.net/forum?id=0rZiMEOzh0</a:t>
            </a:r>
            <a:endParaRPr lang="en-GB" dirty="0">
              <a:latin typeface="+mj-lt"/>
            </a:endParaRPr>
          </a:p>
          <a:p>
            <a:pPr marL="342900" indent="-342900">
              <a:buFont typeface="+mj-lt"/>
              <a:buAutoNum type="arabicPeriod" startAt="22"/>
            </a:pPr>
            <a:r>
              <a:rPr lang="en-GB" dirty="0">
                <a:latin typeface="+mj-lt"/>
              </a:rPr>
              <a:t>I. Krawczuk, “Graph generative deep learning models with an application to circuit topologies,” PhD Thesis, EPFL, Lausanne, 2024. </a:t>
            </a:r>
            <a:r>
              <a:rPr lang="en-GB" dirty="0" err="1">
                <a:latin typeface="+mj-lt"/>
              </a:rPr>
              <a:t>doi</a:t>
            </a:r>
            <a:r>
              <a:rPr lang="en-GB" dirty="0">
                <a:latin typeface="+mj-lt"/>
              </a:rPr>
              <a:t>: </a:t>
            </a:r>
            <a:r>
              <a:rPr lang="en-GB" dirty="0">
                <a:latin typeface="+mj-lt"/>
                <a:hlinkClick r:id="rId4"/>
              </a:rPr>
              <a:t>10.5075/epfl-thesis-9020</a:t>
            </a:r>
            <a:r>
              <a:rPr lang="en-GB" dirty="0">
                <a:latin typeface="+mj-lt"/>
              </a:rPr>
              <a:t>.</a:t>
            </a:r>
          </a:p>
          <a:p>
            <a:pPr marL="342900" indent="-342900">
              <a:buFont typeface="+mj-lt"/>
              <a:buAutoNum type="arabicPeriod" startAt="22"/>
            </a:pPr>
            <a:r>
              <a:rPr lang="en-GB" dirty="0">
                <a:latin typeface="+mj-lt"/>
              </a:rPr>
              <a:t>S. Saremi, J. W. Park, and F. Bach, “Chain of Log-Concave Markov Chains,” in </a:t>
            </a:r>
            <a:r>
              <a:rPr lang="en-GB" i="1" dirty="0">
                <a:latin typeface="+mj-lt"/>
              </a:rPr>
              <a:t>The Twelfth International Conference on Learning Representations</a:t>
            </a:r>
            <a:r>
              <a:rPr lang="en-GB" dirty="0">
                <a:latin typeface="+mj-lt"/>
              </a:rPr>
              <a:t>, 2024. [Online]. Available: </a:t>
            </a:r>
            <a:r>
              <a:rPr lang="en-GB" dirty="0">
                <a:latin typeface="+mj-lt"/>
                <a:hlinkClick r:id="rId5"/>
              </a:rPr>
              <a:t>https://openreview.net/forum?id=yiMB2DOjsR</a:t>
            </a:r>
            <a:endParaRPr lang="en-GB" dirty="0">
              <a:latin typeface="+mj-lt"/>
            </a:endParaRPr>
          </a:p>
          <a:p>
            <a:pPr marL="342900" indent="-342900">
              <a:buFont typeface="+mj-lt"/>
              <a:buAutoNum type="arabicPeriod" startAt="22"/>
            </a:pPr>
            <a:r>
              <a:rPr lang="en-GB" dirty="0">
                <a:latin typeface="+mj-lt"/>
              </a:rPr>
              <a:t>E. </a:t>
            </a:r>
            <a:r>
              <a:rPr lang="en-GB" dirty="0" err="1">
                <a:latin typeface="+mj-lt"/>
              </a:rPr>
              <a:t>Mahmoudzadeh</a:t>
            </a:r>
            <a:r>
              <a:rPr lang="en-GB" dirty="0">
                <a:latin typeface="+mj-lt"/>
              </a:rPr>
              <a:t>, P. Naddaf, K. </a:t>
            </a:r>
            <a:r>
              <a:rPr lang="en-GB" dirty="0" err="1">
                <a:latin typeface="+mj-lt"/>
              </a:rPr>
              <a:t>Zahirnia</a:t>
            </a:r>
            <a:r>
              <a:rPr lang="en-GB" dirty="0">
                <a:latin typeface="+mj-lt"/>
              </a:rPr>
              <a:t>, and O. Schulte, “Deep Generative Models for Subgraph Prediction,” Aug. 07, 2024, </a:t>
            </a:r>
            <a:r>
              <a:rPr lang="en-GB" i="1" dirty="0" err="1">
                <a:latin typeface="+mj-lt"/>
              </a:rPr>
              <a:t>arXiv</a:t>
            </a:r>
            <a:r>
              <a:rPr lang="en-GB" dirty="0">
                <a:latin typeface="+mj-lt"/>
              </a:rPr>
              <a:t>: arXiv:2408.04053. </a:t>
            </a:r>
            <a:r>
              <a:rPr lang="en-GB" dirty="0" err="1">
                <a:latin typeface="+mj-lt"/>
              </a:rPr>
              <a:t>doi</a:t>
            </a:r>
            <a:r>
              <a:rPr lang="en-GB" dirty="0">
                <a:latin typeface="+mj-lt"/>
              </a:rPr>
              <a:t>: </a:t>
            </a:r>
            <a:r>
              <a:rPr lang="en-GB" dirty="0">
                <a:latin typeface="+mj-lt"/>
                <a:hlinkClick r:id="rId6"/>
              </a:rPr>
              <a:t>10.48550/arXiv.2408.04053</a:t>
            </a:r>
            <a:r>
              <a:rPr lang="en-GB" dirty="0">
                <a:latin typeface="+mj-lt"/>
              </a:rPr>
              <a:t>.</a:t>
            </a:r>
          </a:p>
          <a:p>
            <a:pPr marL="342900" indent="-342900">
              <a:buFont typeface="+mj-lt"/>
              <a:buAutoNum type="arabicPeriod" startAt="22"/>
            </a:pPr>
            <a:r>
              <a:rPr lang="en-GB" dirty="0">
                <a:latin typeface="+mj-lt"/>
              </a:rPr>
              <a:t>L. T. Dadi, A. Janchevski, and V. Cevher, “Improving Single Noise Level Denoising Samplers with Restricted Gaussian Oracles,” in </a:t>
            </a:r>
            <a:r>
              <a:rPr lang="en-GB" i="1" dirty="0">
                <a:latin typeface="+mj-lt"/>
              </a:rPr>
              <a:t>ICLR 2025 Workshop on Deep Generative Model in Machine Learning: Theory, Principle and Efficacy</a:t>
            </a:r>
            <a:r>
              <a:rPr lang="en-GB" dirty="0">
                <a:latin typeface="+mj-lt"/>
              </a:rPr>
              <a:t>, 2025. [Online]. Available: </a:t>
            </a:r>
            <a:r>
              <a:rPr lang="en-GB" dirty="0">
                <a:latin typeface="+mj-lt"/>
                <a:hlinkClick r:id="rId7"/>
              </a:rPr>
              <a:t>https://openreview.net/forum?id=xkiI5tou6J</a:t>
            </a:r>
            <a:endParaRPr lang="en-GB" dirty="0">
              <a:latin typeface="+mj-lt"/>
            </a:endParaRPr>
          </a:p>
          <a:p>
            <a:pPr marL="342900" indent="-342900">
              <a:buFont typeface="+mj-lt"/>
              <a:buAutoNum type="arabicPeriod" startAt="22"/>
            </a:pPr>
            <a:r>
              <a:rPr lang="en-GB" dirty="0">
                <a:latin typeface="+mj-lt"/>
              </a:rPr>
              <a:t>A. Janchevski, V. </a:t>
            </a:r>
            <a:r>
              <a:rPr lang="en-GB" dirty="0" err="1">
                <a:latin typeface="+mj-lt"/>
              </a:rPr>
              <a:t>Coriou</a:t>
            </a:r>
            <a:r>
              <a:rPr lang="en-GB" dirty="0">
                <a:latin typeface="+mj-lt"/>
              </a:rPr>
              <a:t>, and V. Cevher, “COINs: Knowledge Graph Inference with Model-based Acceleration,” in </a:t>
            </a:r>
            <a:r>
              <a:rPr lang="en-GB" i="1" dirty="0">
                <a:latin typeface="+mj-lt"/>
              </a:rPr>
              <a:t>ICT Innovations 2025. AI and the Digital Frontier: Reshaping Modern Society Through Technology and Computer Science</a:t>
            </a:r>
            <a:r>
              <a:rPr lang="en-GB" dirty="0">
                <a:latin typeface="+mj-lt"/>
              </a:rPr>
              <a:t>, I. </a:t>
            </a:r>
            <a:r>
              <a:rPr lang="en-GB" dirty="0" err="1">
                <a:latin typeface="+mj-lt"/>
              </a:rPr>
              <a:t>Chorbev</a:t>
            </a:r>
            <a:r>
              <a:rPr lang="en-GB" dirty="0">
                <a:latin typeface="+mj-lt"/>
              </a:rPr>
              <a:t>, D. Spasov, and B. R. </a:t>
            </a:r>
            <a:r>
              <a:rPr lang="en-GB" dirty="0" err="1">
                <a:latin typeface="+mj-lt"/>
              </a:rPr>
              <a:t>Stojkovska</a:t>
            </a:r>
            <a:r>
              <a:rPr lang="en-GB" dirty="0">
                <a:latin typeface="+mj-lt"/>
              </a:rPr>
              <a:t>, Eds., in Communications in Computer and Information Science. Cham: Springer International Publishing, 2025.</a:t>
            </a:r>
          </a:p>
          <a:p>
            <a:pPr marL="342900" indent="-342900">
              <a:buFont typeface="+mj-lt"/>
              <a:buAutoNum type="arabicPeriod" startAt="22"/>
            </a:pPr>
            <a:r>
              <a:rPr lang="en-GB" dirty="0">
                <a:latin typeface="+mj-lt"/>
              </a:rPr>
              <a:t>N. Dong, N. </a:t>
            </a:r>
            <a:r>
              <a:rPr lang="en-GB" dirty="0" err="1">
                <a:latin typeface="+mj-lt"/>
              </a:rPr>
              <a:t>Kertkeidkachorn</a:t>
            </a:r>
            <a:r>
              <a:rPr lang="en-GB" dirty="0">
                <a:latin typeface="+mj-lt"/>
              </a:rPr>
              <a:t>, X. Liu, and K. Shirai, “Refining Noisy Knowledge Graph with Large Language Models,” in </a:t>
            </a:r>
            <a:r>
              <a:rPr lang="en-GB" i="1" dirty="0">
                <a:latin typeface="+mj-lt"/>
              </a:rPr>
              <a:t>Proceedings of the Workshop on Generative AI and Knowledge Graphs (</a:t>
            </a:r>
            <a:r>
              <a:rPr lang="en-GB" i="1" dirty="0" err="1">
                <a:latin typeface="+mj-lt"/>
              </a:rPr>
              <a:t>GenAIK</a:t>
            </a:r>
            <a:r>
              <a:rPr lang="en-GB" i="1" dirty="0">
                <a:latin typeface="+mj-lt"/>
              </a:rPr>
              <a:t>)</a:t>
            </a:r>
            <a:r>
              <a:rPr lang="en-GB" dirty="0">
                <a:latin typeface="+mj-lt"/>
              </a:rPr>
              <a:t>, G. A. </a:t>
            </a:r>
            <a:r>
              <a:rPr lang="en-GB" dirty="0" err="1">
                <a:latin typeface="+mj-lt"/>
              </a:rPr>
              <a:t>Gesese</a:t>
            </a:r>
            <a:r>
              <a:rPr lang="en-GB" dirty="0">
                <a:latin typeface="+mj-lt"/>
              </a:rPr>
              <a:t>, H. Sack, H. Paulheim, A. </a:t>
            </a:r>
            <a:r>
              <a:rPr lang="en-GB" dirty="0" err="1">
                <a:latin typeface="+mj-lt"/>
              </a:rPr>
              <a:t>Merono</a:t>
            </a:r>
            <a:r>
              <a:rPr lang="en-GB" dirty="0">
                <a:latin typeface="+mj-lt"/>
              </a:rPr>
              <a:t>-Penuela, and L. Chen, Eds., Abu Dhabi, UAE: International Committee on Computational Linguistics, Jan. 2025, pp. 78–86. [Online]. Available: </a:t>
            </a:r>
            <a:r>
              <a:rPr lang="en-GB" dirty="0">
                <a:latin typeface="+mj-lt"/>
                <a:hlinkClick r:id="rId8"/>
              </a:rPr>
              <a:t>https://aclanthology.org/2025.genaik-1.9/</a:t>
            </a:r>
            <a:endParaRPr lang="en-GB" dirty="0">
              <a:latin typeface="+mj-lt"/>
            </a:endParaRPr>
          </a:p>
          <a:p>
            <a:pPr marL="342900" indent="-342900">
              <a:buFont typeface="+mj-lt"/>
              <a:buAutoNum type="arabicPeriod" startAt="22"/>
            </a:pPr>
            <a:endParaRPr lang="en-US" dirty="0">
              <a:latin typeface="+mj-lt"/>
            </a:endParaRPr>
          </a:p>
        </p:txBody>
      </p:sp>
      <p:sp>
        <p:nvSpPr>
          <p:cNvPr id="8" name="Title 7">
            <a:extLst>
              <a:ext uri="{FF2B5EF4-FFF2-40B4-BE49-F238E27FC236}">
                <a16:creationId xmlns:a16="http://schemas.microsoft.com/office/drawing/2014/main" id="{0946A676-F14A-7753-E20E-70A147E873B5}"/>
              </a:ext>
            </a:extLst>
          </p:cNvPr>
          <p:cNvSpPr>
            <a:spLocks noGrp="1"/>
          </p:cNvSpPr>
          <p:nvPr>
            <p:ph type="title"/>
          </p:nvPr>
        </p:nvSpPr>
        <p:spPr>
          <a:xfrm>
            <a:off x="904875" y="131032"/>
            <a:ext cx="7726363" cy="1072753"/>
          </a:xfrm>
        </p:spPr>
        <p:txBody>
          <a:bodyPr>
            <a:normAutofit/>
          </a:bodyPr>
          <a:lstStyle/>
          <a:p>
            <a:r>
              <a:rPr lang="en-US" dirty="0"/>
              <a:t>References</a:t>
            </a:r>
            <a:endParaRPr lang="en-GB" sz="2400" b="0" i="1" dirty="0"/>
          </a:p>
        </p:txBody>
      </p:sp>
      <p:sp>
        <p:nvSpPr>
          <p:cNvPr id="5" name="Date Placeholder 4">
            <a:extLst>
              <a:ext uri="{FF2B5EF4-FFF2-40B4-BE49-F238E27FC236}">
                <a16:creationId xmlns:a16="http://schemas.microsoft.com/office/drawing/2014/main" id="{703B1A90-61FC-E780-AB63-844619D3048A}"/>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9DBB4688-EC04-2DFE-CB21-9F6A9757C04A}"/>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22A8F5F0-ADEF-9104-0A95-076F1003CD5B}"/>
              </a:ext>
            </a:extLst>
          </p:cNvPr>
          <p:cNvSpPr>
            <a:spLocks noGrp="1"/>
          </p:cNvSpPr>
          <p:nvPr>
            <p:ph type="sldNum" sz="quarter" idx="12"/>
          </p:nvPr>
        </p:nvSpPr>
        <p:spPr/>
        <p:txBody>
          <a:bodyPr/>
          <a:lstStyle/>
          <a:p>
            <a:fld id="{E1E1CD7C-2161-7D43-862E-CE4C333CD873}" type="slidenum">
              <a:rPr lang="fr-FR" smtClean="0"/>
              <a:pPr/>
              <a:t>82</a:t>
            </a:fld>
            <a:endParaRPr lang="fr-FR" dirty="0"/>
          </a:p>
        </p:txBody>
      </p:sp>
    </p:spTree>
    <p:extLst>
      <p:ext uri="{BB962C8B-B14F-4D97-AF65-F5344CB8AC3E}">
        <p14:creationId xmlns:p14="http://schemas.microsoft.com/office/powerpoint/2010/main" val="966511318"/>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72E795-8669-0E65-4C23-D751FA436CBA}"/>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ACF68771-4E07-F643-A8D1-2955191DCC39}"/>
              </a:ext>
            </a:extLst>
          </p:cNvPr>
          <p:cNvSpPr>
            <a:spLocks noGrp="1"/>
          </p:cNvSpPr>
          <p:nvPr>
            <p:ph type="title"/>
          </p:nvPr>
        </p:nvSpPr>
        <p:spPr/>
        <p:txBody>
          <a:bodyPr>
            <a:normAutofit/>
          </a:bodyPr>
          <a:lstStyle/>
          <a:p>
            <a:r>
              <a:rPr lang="en-US" dirty="0"/>
              <a:t>Thank you </a:t>
            </a:r>
            <a:br>
              <a:rPr lang="en-US" dirty="0"/>
            </a:br>
            <a:r>
              <a:rPr lang="en-US" dirty="0"/>
              <a:t>for your attention ♥</a:t>
            </a:r>
            <a:endParaRPr lang="en-GB" sz="2400" b="0" i="1" dirty="0"/>
          </a:p>
        </p:txBody>
      </p:sp>
      <p:sp>
        <p:nvSpPr>
          <p:cNvPr id="2" name="Text Placeholder 1">
            <a:extLst>
              <a:ext uri="{FF2B5EF4-FFF2-40B4-BE49-F238E27FC236}">
                <a16:creationId xmlns:a16="http://schemas.microsoft.com/office/drawing/2014/main" id="{2ABC41C9-0A07-65AB-AE1B-D21E8DC506DB}"/>
              </a:ext>
            </a:extLst>
          </p:cNvPr>
          <p:cNvSpPr>
            <a:spLocks noGrp="1"/>
          </p:cNvSpPr>
          <p:nvPr>
            <p:ph type="body" idx="1"/>
          </p:nvPr>
        </p:nvSpPr>
        <p:spPr/>
        <p:txBody>
          <a:bodyPr>
            <a:normAutofit/>
          </a:bodyPr>
          <a:lstStyle/>
          <a:p>
            <a:r>
              <a:rPr lang="en-US" sz="2400" dirty="0">
                <a:latin typeface="+mj-lt"/>
              </a:rPr>
              <a:t>Any questions?</a:t>
            </a:r>
            <a:endParaRPr lang="en-GB" sz="2400" dirty="0">
              <a:latin typeface="+mj-lt"/>
            </a:endParaRPr>
          </a:p>
        </p:txBody>
      </p:sp>
      <p:sp>
        <p:nvSpPr>
          <p:cNvPr id="5" name="Date Placeholder 4">
            <a:extLst>
              <a:ext uri="{FF2B5EF4-FFF2-40B4-BE49-F238E27FC236}">
                <a16:creationId xmlns:a16="http://schemas.microsoft.com/office/drawing/2014/main" id="{A6FF7C4E-AD72-2C35-9B0A-2CE954FBE207}"/>
              </a:ext>
            </a:extLst>
          </p:cNvPr>
          <p:cNvSpPr>
            <a:spLocks noGrp="1"/>
          </p:cNvSpPr>
          <p:nvPr>
            <p:ph type="dt" sz="half" idx="14"/>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B10B3BD9-641B-C99A-334F-5C47DB213424}"/>
              </a:ext>
            </a:extLst>
          </p:cNvPr>
          <p:cNvSpPr>
            <a:spLocks noGrp="1"/>
          </p:cNvSpPr>
          <p:nvPr>
            <p:ph type="ftr" sz="quarter" idx="15"/>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E9C208E3-B033-7319-D8AA-A74F2A4F1445}"/>
              </a:ext>
            </a:extLst>
          </p:cNvPr>
          <p:cNvSpPr>
            <a:spLocks noGrp="1"/>
          </p:cNvSpPr>
          <p:nvPr>
            <p:ph type="sldNum" sz="quarter" idx="16"/>
          </p:nvPr>
        </p:nvSpPr>
        <p:spPr/>
        <p:txBody>
          <a:bodyPr/>
          <a:lstStyle/>
          <a:p>
            <a:fld id="{E1E1CD7C-2161-7D43-862E-CE4C333CD873}" type="slidenum">
              <a:rPr lang="fr-FR" smtClean="0"/>
              <a:pPr/>
              <a:t>83</a:t>
            </a:fld>
            <a:endParaRPr lang="fr-FR" dirty="0"/>
          </a:p>
        </p:txBody>
      </p:sp>
      <p:pic>
        <p:nvPicPr>
          <p:cNvPr id="12" name="Picture Placeholder 11" descr="A city next to the water&#10;&#10;AI-generated content may be incorrect.">
            <a:extLst>
              <a:ext uri="{FF2B5EF4-FFF2-40B4-BE49-F238E27FC236}">
                <a16:creationId xmlns:a16="http://schemas.microsoft.com/office/drawing/2014/main" id="{587521C1-EF81-0EF1-1FC7-14405F3AECDD}"/>
              </a:ext>
            </a:extLst>
          </p:cNvPr>
          <p:cNvPicPr>
            <a:picLocks noGrp="1" noChangeAspect="1"/>
          </p:cNvPicPr>
          <p:nvPr>
            <p:ph type="pic" sz="quarter" idx="13"/>
          </p:nvPr>
        </p:nvPicPr>
        <p:blipFill>
          <a:blip r:embed="rId3">
            <a:extLst>
              <a:ext uri="{837473B0-CC2E-450A-ABE3-18F120FF3D39}">
                <a1611:picAttrSrcUrl xmlns:a1611="http://schemas.microsoft.com/office/drawing/2016/11/main" r:id="rId4"/>
              </a:ext>
            </a:extLst>
          </a:blip>
          <a:srcRect l="26235" r="26235"/>
          <a:stretch>
            <a:fillRect/>
          </a:stretch>
        </p:blipFill>
        <p:spPr bwMode="auto">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20843079"/>
      </p:ext>
    </p:extLst>
  </p:cSld>
  <p:clrMapOvr>
    <a:masterClrMapping/>
  </p:clrMapOvr>
</p:sld>
</file>

<file path=ppt/theme/theme1.xml><?xml version="1.0" encoding="utf-8"?>
<a:theme xmlns:a="http://schemas.openxmlformats.org/drawingml/2006/main" name="Thème Office">
  <a:themeElements>
    <a:clrScheme name="EPFL - New Colors 2019">
      <a:dk1>
        <a:srgbClr val="413C3A"/>
      </a:dk1>
      <a:lt1>
        <a:srgbClr val="FFFFFF"/>
      </a:lt1>
      <a:dk2>
        <a:srgbClr val="413C3A"/>
      </a:dk2>
      <a:lt2>
        <a:srgbClr val="CAC7C7"/>
      </a:lt2>
      <a:accent1>
        <a:srgbClr val="E30613"/>
      </a:accent1>
      <a:accent2>
        <a:srgbClr val="00A79F"/>
      </a:accent2>
      <a:accent3>
        <a:srgbClr val="413C3A"/>
      </a:accent3>
      <a:accent4>
        <a:srgbClr val="007480"/>
      </a:accent4>
      <a:accent5>
        <a:srgbClr val="F39869"/>
      </a:accent5>
      <a:accent6>
        <a:srgbClr val="B51F1F"/>
      </a:accent6>
      <a:hlink>
        <a:srgbClr val="ED6E9C"/>
      </a:hlink>
      <a:folHlink>
        <a:srgbClr val="4F8FCC"/>
      </a:folHlink>
    </a:clrScheme>
    <a:fontScheme name="EPFL_Beta2">
      <a:majorFont>
        <a:latin typeface="Franklin Gothic Demi Cond"/>
        <a:ea typeface=""/>
        <a:cs typeface=""/>
      </a:majorFont>
      <a:minorFont>
        <a:latin typeface="Arial"/>
        <a:ea typeface=""/>
        <a:cs typeface=""/>
      </a:minorFont>
    </a:fontScheme>
    <a:fmtScheme name="Thèm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Template_EPFL_Beta2" id="{6A525B41-3E68-491F-A6C9-0B15EA1321FE}" vid="{993E2952-EB5D-4425-8012-1B04381EBC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1BFC127AB4946248A5685C1F92D54FFE" ma:contentTypeVersion="0" ma:contentTypeDescription="Crée un document." ma:contentTypeScope="" ma:versionID="ef3ff242486930b75c69099c0dd02c57">
  <xsd:schema xmlns:xsd="http://www.w3.org/2001/XMLSchema" xmlns:xs="http://www.w3.org/2001/XMLSchema" xmlns:p="http://schemas.microsoft.com/office/2006/metadata/properties" targetNamespace="http://schemas.microsoft.com/office/2006/metadata/properties" ma:root="true" ma:fieldsID="ab09c1ba23edfaa45a5e9d385267c9b5">
    <xsd:element name="properties">
      <xsd:complexType>
        <xsd:sequence>
          <xsd:element name="documentManagement">
            <xsd:complexType>
              <xsd:all/>
            </xsd:complexType>
          </xsd:element>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ype de contenu"/>
        <xsd:element ref="dc:title" minOccurs="0" maxOccurs="1" ma:index="4" ma:displayName="Titr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266205E9-12FC-4D6C-B0C7-1E9025EEB158}">
  <ds:schemaRefs>
    <ds:schemaRef ds:uri="http://schemas.microsoft.com/sharepoint/v3/contenttype/forms"/>
  </ds:schemaRefs>
</ds:datastoreItem>
</file>

<file path=customXml/itemProps2.xml><?xml version="1.0" encoding="utf-8"?>
<ds:datastoreItem xmlns:ds="http://schemas.openxmlformats.org/officeDocument/2006/customXml" ds:itemID="{8F8CE09B-89B1-4B5D-BED2-87C84F077711}">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openxmlformats.org/package/2006/metadata/core-properties"/>
    <ds:schemaRef ds:uri="http://purl.org/dc/elements/1.1/"/>
    <ds:schemaRef ds:uri="http://purl.org/dc/terms/"/>
    <ds:schemaRef ds:uri="http://schemas.microsoft.com/internal/obd"/>
    <ds:schemaRef ds:uri="http://schemas.microsoft.com/office/infopath/2007/PartnerControls"/>
  </ds:schemaRefs>
</ds:datastoreItem>
</file>

<file path=customXml/itemProps3.xml><?xml version="1.0" encoding="utf-8"?>
<ds:datastoreItem xmlns:ds="http://schemas.openxmlformats.org/officeDocument/2006/customXml" ds:itemID="{348A6C70-7FF5-480A-B09B-7D0A19B2F431}">
  <ds:schemaRefs>
    <ds:schemaRef ds:uri="http://purl.org/dc/terms/"/>
    <ds:schemaRef ds:uri="http://schemas.microsoft.com/office/2006/metadata/properties"/>
    <ds:schemaRef ds:uri="http://www.w3.org/XML/1998/namespace"/>
    <ds:schemaRef ds:uri="http://purl.org/dc/elements/1.1/"/>
    <ds:schemaRef ds:uri="http://purl.org/dc/dcmitype/"/>
    <ds:schemaRef ds:uri="http://schemas.openxmlformats.org/package/2006/metadata/core-properties"/>
    <ds:schemaRef ds:uri="http://schemas.microsoft.com/office/2006/documentManagement/types"/>
    <ds:schemaRef ds:uri="http://schemas.microsoft.com/office/infopath/2007/PartnerControls"/>
  </ds:schemaRefs>
</ds:datastoreItem>
</file>

<file path=docProps/app.xml><?xml version="1.0" encoding="utf-8"?>
<Properties xmlns="http://schemas.openxmlformats.org/officeDocument/2006/extended-properties" xmlns:vt="http://schemas.openxmlformats.org/officeDocument/2006/docPropsVTypes">
  <Template>Thème Office</Template>
  <TotalTime>7949</TotalTime>
  <Words>9129</Words>
  <Application>Microsoft Office PowerPoint</Application>
  <PresentationFormat>On-screen Show (16:9)</PresentationFormat>
  <Paragraphs>962</Paragraphs>
  <Slides>83</Slides>
  <Notes>83</Notes>
  <HiddenSlides>6</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83</vt:i4>
      </vt:variant>
    </vt:vector>
  </HeadingPairs>
  <TitlesOfParts>
    <vt:vector size="88" baseType="lpstr">
      <vt:lpstr>Arial</vt:lpstr>
      <vt:lpstr>Cambria Math</vt:lpstr>
      <vt:lpstr>Franklin Gothic Demi Cond</vt:lpstr>
      <vt:lpstr>Wingdings</vt:lpstr>
      <vt:lpstr>Thème Office</vt:lpstr>
      <vt:lpstr> Scalable Methods  for Knowledge Graph Reasoning  and Generation</vt:lpstr>
      <vt:lpstr>Agenda</vt:lpstr>
      <vt:lpstr>Introduction</vt:lpstr>
      <vt:lpstr>1. Introduction</vt:lpstr>
      <vt:lpstr>Background</vt:lpstr>
      <vt:lpstr>2.1 Graph Theory &amp; Network Science</vt:lpstr>
      <vt:lpstr>2.2 Graph Machine Learning</vt:lpstr>
      <vt:lpstr>Scalable  Knowledge Graph Reasoning</vt:lpstr>
      <vt:lpstr>3.1 Community-Informed Graph Embeddings Problem &amp; Challenges - Setting</vt:lpstr>
      <vt:lpstr>3.1 Community-Informed Graph Embeddings Problem &amp; Challenges - Related work</vt:lpstr>
      <vt:lpstr>3.1 Community-Informed Graph Embeddings Background - Graph theory of Knowledge Graph Reasoning</vt:lpstr>
      <vt:lpstr>3.1 Community-Informed Graph Embeddings Background - Optimization problems of Knowledge Graph Reasoning</vt:lpstr>
      <vt:lpstr>3.1 Community-Informed Graph Embeddings Background - Representation theory of Knowledge Graph Reasoning</vt:lpstr>
      <vt:lpstr>3.1 Community-Informed Graph Embeddings Contributions - Idea</vt:lpstr>
      <vt:lpstr>3.1 Community-Informed Graph Embeddings Contributions - Theory</vt:lpstr>
      <vt:lpstr>3.1 Community-Informed Graph Embeddings Methodology - The COINs architecture</vt:lpstr>
      <vt:lpstr>3.1 Community-Informed Graph Embeddings Methodology - The COINs KG representation process</vt:lpstr>
      <vt:lpstr>3.1 Community-Informed Graph Embeddings Methodology - Algorithm and  properties</vt:lpstr>
      <vt:lpstr>3.1 Community-Informed Graph Embeddings Methodology - Experiments</vt:lpstr>
      <vt:lpstr>3.1 Community-Informed Graph Embeddings Results - Community quality</vt:lpstr>
      <vt:lpstr>3.1 Community-Informed Graph Embeddings Results - Query answering MRR</vt:lpstr>
      <vt:lpstr>3.1 Community-Informed Graph Embeddings Results - Comparison to related work on KG scalability</vt:lpstr>
      <vt:lpstr>3.1 Community-Informed Graph Embeddings Results - Feasibility</vt:lpstr>
      <vt:lpstr>3.1 Community-Informed Graph Embeddings Summary </vt:lpstr>
      <vt:lpstr>3.1 Community-Informed Graph Embeddings *Distributed extension - Idea</vt:lpstr>
      <vt:lpstr>3.1 Community-Informed Graph Embeddings *Distributed extension - Outcomes</vt:lpstr>
      <vt:lpstr>3.2 Real-world Application: The Monty Knowledge Base Motivation - Knowledge Graph Reasoning in Industry</vt:lpstr>
      <vt:lpstr>3.2 Real-world Application: The Monty Knowledge Base Motivation - COINs origins</vt:lpstr>
      <vt:lpstr>3.2 Real-world Application: The Monty Knowledge Base Methodology - Feature extraction</vt:lpstr>
      <vt:lpstr>3.2 Real-world Application: The Monty Knowledge Base Methodology - Statistical comparison</vt:lpstr>
      <vt:lpstr>3.2 Real-world Application: The Monty Knowledge Base Results - Swisscom vs. the world</vt:lpstr>
      <vt:lpstr>3.2 Real-world Application: The Monty Knowledge Base Results - Re-evaluation on Monty after ablation</vt:lpstr>
      <vt:lpstr>Scalable  Graph Generation</vt:lpstr>
      <vt:lpstr>4.1 Geometric Graph Generation with CRPs Motivation </vt:lpstr>
      <vt:lpstr>4.1 Geometric Graph Generation with CRPs Background - Gen AI for graphs</vt:lpstr>
      <vt:lpstr>4.1 Geometric Graph Generation with CRPs Background - GG-GAN [13]</vt:lpstr>
      <vt:lpstr>4.1 Geometric Graph Generation with CRPs Background - The Chinese Restaurant Process (CRP) [2] </vt:lpstr>
      <vt:lpstr>4.1 Geometric Graph Generation with CRPs Methodology - Idea</vt:lpstr>
      <vt:lpstr>4.1 Geometric Graph Generation with CRPs Methodology - Community assignment sampling</vt:lpstr>
      <vt:lpstr>4.1 Geometric Graph Generation with CRPs Methodology - GGG-CRP  autoregressive process</vt:lpstr>
      <vt:lpstr>4.1 Geometric Graph Generation with CRPs Results - Expressivity</vt:lpstr>
      <vt:lpstr>4.1 Geometric Graph Generation with CRPs Results - Expressivity</vt:lpstr>
      <vt:lpstr>4.1 Geometric Graph Generation with CRPs Results - Novelty</vt:lpstr>
      <vt:lpstr>4.1 Geometric Graph Generation with CRPs Summary </vt:lpstr>
      <vt:lpstr>4.2 Hierarchical Generative Graph Diffusion Motivation</vt:lpstr>
      <vt:lpstr>4.2 Hierarchical Generative Graph Diffusion Background - Diffusion models [5]</vt:lpstr>
      <vt:lpstr>4.2 Hierarchical Generative Graph Diffusion Background - Hierarchical Graph Diffusion of MRGrad [23]</vt:lpstr>
      <vt:lpstr>4.2 Hierarchical Generative Graph Diffusion Background - Hierarchical Graph Diffusion of MRGrad [23]</vt:lpstr>
      <vt:lpstr>4.2 Hierarchical Generative Graph Diffusion Contributions - Model designs</vt:lpstr>
      <vt:lpstr>4.2 Hierarchical Generative Graph Diffusion Contributions - Theory</vt:lpstr>
      <vt:lpstr>4.2 Hierarchical Generative Graph Diffusion Results - Community detection</vt:lpstr>
      <vt:lpstr>4.2 Hierarchical Generative Graph Diffusion Results - Expressivity</vt:lpstr>
      <vt:lpstr>4.2 Hierarchical Generative Graph Diffusion Results - Real vs. fake graphs</vt:lpstr>
      <vt:lpstr>4.2 Hierarchical Generative Graph Diffusion Results - Ablation</vt:lpstr>
      <vt:lpstr>4.2 Hierarchical Generative Graph Diffusion Results - Performance vs. baselines</vt:lpstr>
      <vt:lpstr>4.2 Hierarchical Generative Graph Diffusion Summary</vt:lpstr>
      <vt:lpstr>4.3 Multi-measurement Diffusion Methods Motivation</vt:lpstr>
      <vt:lpstr>4.3 Multi-measurement Diffusion Methods Background - The reason for time annealing</vt:lpstr>
      <vt:lpstr>4.3 Multi-measurement Diffusion Methods Background - The disadvantages of time annealing</vt:lpstr>
      <vt:lpstr>4.3 Multi-measurement Diffusion Methods The MultiProx sampler - Theory</vt:lpstr>
      <vt:lpstr>4.3 Multi-measurement Diffusion Methods The MultiProx sampler - Visually</vt:lpstr>
      <vt:lpstr>4.3 Multi-measurement Diffusion Methods Results - Images</vt:lpstr>
      <vt:lpstr>4.3 Multi-measurement Diffusion Methods Results - QM9 graphs with Gaussian DiGress [18] and MultiProx</vt:lpstr>
      <vt:lpstr>4.3 Multi-measurement Diffusion Methods *The MultiProxAn sampler </vt:lpstr>
      <vt:lpstr>4.3 Multi-measurement Diffusion Methods Results - QM9 graphs with Gaussian DiGress [18] and MultiProxAn</vt:lpstr>
      <vt:lpstr>4.3 Multi-measurement Diffusion Methods Results - QM9 graphs with Gaussian DiGress [18] and MultiProxAn</vt:lpstr>
      <vt:lpstr>4.4 Generative KG Anomaly Correction Motivation - Anomalous knowledge</vt:lpstr>
      <vt:lpstr>4.4 Generative KG Anomaly Correction Motivation - Naïve ideas will not work</vt:lpstr>
      <vt:lpstr>4.4 Generative KG Anomaly Correction Related work</vt:lpstr>
      <vt:lpstr>4.4 Generative KG Anomaly Correction Experiment setup - Data</vt:lpstr>
      <vt:lpstr>4.4 Generative KG Anomaly Correction Experiment setup - Model</vt:lpstr>
      <vt:lpstr>4.4 Generative KG Anomaly Correction Results - Metrics</vt:lpstr>
      <vt:lpstr>4.4 Generative KG Anomaly Correction Results - Contrastive Loss across denoising steps</vt:lpstr>
      <vt:lpstr>4.4 Generative KG Anomaly Correction Results - Dense subgraph correction visually</vt:lpstr>
      <vt:lpstr>4.4 Generative KG Anomaly Correction Results - Bipartite subgraph correction visually</vt:lpstr>
      <vt:lpstr>4.4 Generative KG Anomaly Correction Summary</vt:lpstr>
      <vt:lpstr>Conclusion</vt:lpstr>
      <vt:lpstr>5. Conclusions &amp; Future Directions</vt:lpstr>
      <vt:lpstr>References</vt:lpstr>
      <vt:lpstr>References</vt:lpstr>
      <vt:lpstr>References</vt:lpstr>
      <vt:lpstr>References</vt:lpstr>
      <vt:lpstr>Thank you  for your attention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Welcome to EPFL</dc:title>
  <dc:creator>Utilisateur Microsoft Office</dc:creator>
  <cp:lastModifiedBy>Andrej Janchevski</cp:lastModifiedBy>
  <cp:revision>386</cp:revision>
  <dcterms:created xsi:type="dcterms:W3CDTF">2019-04-02T06:24:35Z</dcterms:created>
  <dcterms:modified xsi:type="dcterms:W3CDTF">2025-10-21T23:07:21Z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0x0101001BFC127AB4946248A5685C1F92D54FFE</vt:lpwstr>
  </property>
</Properties>
</file>