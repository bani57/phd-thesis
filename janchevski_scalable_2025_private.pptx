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90"/>
  </p:notesMasterIdLst>
  <p:handoutMasterIdLst>
    <p:handoutMasterId r:id="rId91"/>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13" r:id="rId55"/>
    <p:sldId id="308" r:id="rId56"/>
    <p:sldId id="310" r:id="rId57"/>
    <p:sldId id="311" r:id="rId58"/>
    <p:sldId id="309" r:id="rId59"/>
    <p:sldId id="312" r:id="rId60"/>
    <p:sldId id="314" r:id="rId61"/>
    <p:sldId id="316" r:id="rId62"/>
    <p:sldId id="317" r:id="rId63"/>
    <p:sldId id="318" r:id="rId64"/>
    <p:sldId id="319" r:id="rId65"/>
    <p:sldId id="320" r:id="rId66"/>
    <p:sldId id="321" r:id="rId67"/>
    <p:sldId id="341" r:id="rId68"/>
    <p:sldId id="322" r:id="rId69"/>
    <p:sldId id="323" r:id="rId70"/>
    <p:sldId id="324" r:id="rId71"/>
    <p:sldId id="325" r:id="rId72"/>
    <p:sldId id="326" r:id="rId73"/>
    <p:sldId id="340" r:id="rId74"/>
    <p:sldId id="327" r:id="rId75"/>
    <p:sldId id="328" r:id="rId76"/>
    <p:sldId id="329" r:id="rId77"/>
    <p:sldId id="330" r:id="rId78"/>
    <p:sldId id="331" r:id="rId79"/>
    <p:sldId id="332" r:id="rId80"/>
    <p:sldId id="333" r:id="rId81"/>
    <p:sldId id="334" r:id="rId82"/>
    <p:sldId id="279" r:id="rId83"/>
    <p:sldId id="335" r:id="rId84"/>
    <p:sldId id="336" r:id="rId85"/>
    <p:sldId id="338" r:id="rId86"/>
    <p:sldId id="337" r:id="rId87"/>
    <p:sldId id="339" r:id="rId88"/>
    <p:sldId id="274" r:id="rId89"/>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636" autoAdjust="0"/>
    <p:restoredTop sz="74795" autoAdjust="0"/>
  </p:normalViewPr>
  <p:slideViewPr>
    <p:cSldViewPr snapToGrid="0" snapToObjects="1" showGuides="1">
      <p:cViewPr varScale="1">
        <p:scale>
          <a:sx n="109" d="100"/>
          <a:sy n="109" d="100"/>
        </p:scale>
        <p:origin x="1272" y="1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notesMaster" Target="notesMasters/notesMaster1.xml"/><Relationship Id="rId95"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BAB726-D7AB-43A2-9B2E-8E3FF5C3C672}"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en-GB"/>
        </a:p>
      </dgm:t>
    </dgm:pt>
    <dgm:pt modelId="{21B7A1D8-CFF0-41E9-80CC-2CB133876011}">
      <dgm:prSet phldrT="[Text]" phldr="0" custT="1"/>
      <dgm:spPr/>
      <dgm:t>
        <a:bodyPr/>
        <a:lstStyle/>
        <a:p>
          <a:pPr algn="ctr"/>
          <a:r>
            <a:rPr lang="en-US" sz="3200" dirty="0">
              <a:latin typeface="+mj-lt"/>
            </a:rPr>
            <a:t>Reasoning</a:t>
          </a:r>
        </a:p>
        <a:p>
          <a:pPr algn="ctr"/>
          <a:endParaRPr lang="en-US" sz="1800" dirty="0">
            <a:latin typeface="+mj-lt"/>
          </a:endParaRPr>
        </a:p>
        <a:p>
          <a:pPr algn="l"/>
          <a:r>
            <a:rPr lang="en-GB" sz="1800" dirty="0">
              <a:latin typeface="+mj-lt"/>
            </a:rPr>
            <a:t>Logic </a:t>
          </a:r>
          <a:r>
            <a:rPr lang="en-GB" sz="1800" dirty="0" err="1">
              <a:latin typeface="+mj-lt"/>
            </a:rPr>
            <a:t>modeling</a:t>
          </a:r>
          <a:endParaRPr lang="en-GB" sz="1800" dirty="0">
            <a:latin typeface="+mj-lt"/>
          </a:endParaRPr>
        </a:p>
        <a:p>
          <a:pPr algn="l"/>
          <a:r>
            <a:rPr lang="en-GB" sz="1800" dirty="0">
              <a:latin typeface="+mj-lt"/>
            </a:rPr>
            <a:t>Ranking</a:t>
          </a:r>
        </a:p>
        <a:p>
          <a:pPr algn="l"/>
          <a:r>
            <a:rPr lang="en-GB" sz="1800" dirty="0">
              <a:latin typeface="+mj-lt"/>
            </a:rPr>
            <a:t>Veracity classification</a:t>
          </a:r>
        </a:p>
      </dgm:t>
    </dgm:pt>
    <dgm:pt modelId="{A56D25A7-D7C3-4D13-A091-6FDFB84AF3B3}" type="parTrans" cxnId="{281ACBDF-121D-4621-B6A3-995E9FCF0DFF}">
      <dgm:prSet/>
      <dgm:spPr/>
      <dgm:t>
        <a:bodyPr/>
        <a:lstStyle/>
        <a:p>
          <a:endParaRPr lang="en-GB"/>
        </a:p>
      </dgm:t>
    </dgm:pt>
    <dgm:pt modelId="{4085088C-46EF-4BC9-A592-F386A2CC5270}" type="sibTrans" cxnId="{281ACBDF-121D-4621-B6A3-995E9FCF0DFF}">
      <dgm:prSet/>
      <dgm:spPr/>
      <dgm:t>
        <a:bodyPr/>
        <a:lstStyle/>
        <a:p>
          <a:endParaRPr lang="en-GB"/>
        </a:p>
      </dgm:t>
    </dgm:pt>
    <dgm:pt modelId="{AD9D03CC-A6DE-4160-ACA7-963A65D50AD3}">
      <dgm:prSet phldrT="[Text]" phldr="0" custT="1"/>
      <dgm:spPr/>
      <dgm:t>
        <a:bodyPr/>
        <a:lstStyle/>
        <a:p>
          <a:pPr algn="ctr"/>
          <a:r>
            <a:rPr lang="en-US" sz="3200" dirty="0">
              <a:latin typeface="+mj-lt"/>
            </a:rPr>
            <a:t>Generation</a:t>
          </a:r>
        </a:p>
        <a:p>
          <a:pPr algn="ctr"/>
          <a:endParaRPr lang="en-US" sz="1800" dirty="0">
            <a:latin typeface="+mj-lt"/>
          </a:endParaRPr>
        </a:p>
        <a:p>
          <a:pPr algn="r"/>
          <a:r>
            <a:rPr lang="en-GB" sz="1800" dirty="0">
              <a:latin typeface="+mj-lt"/>
            </a:rPr>
            <a:t>Graph-level </a:t>
          </a:r>
          <a:r>
            <a:rPr lang="en-GB" sz="1800" dirty="0" err="1">
              <a:latin typeface="+mj-lt"/>
            </a:rPr>
            <a:t>modeling</a:t>
          </a:r>
          <a:endParaRPr lang="en-GB" sz="1800" dirty="0">
            <a:latin typeface="+mj-lt"/>
          </a:endParaRPr>
        </a:p>
        <a:p>
          <a:pPr algn="r"/>
          <a:r>
            <a:rPr lang="en-GB" sz="1800" dirty="0">
              <a:latin typeface="+mj-lt"/>
            </a:rPr>
            <a:t>Noise estimation</a:t>
          </a:r>
        </a:p>
        <a:p>
          <a:pPr algn="r"/>
          <a:r>
            <a:rPr lang="en-GB" sz="1800" dirty="0">
              <a:latin typeface="+mj-lt"/>
            </a:rPr>
            <a:t>Sample chaining</a:t>
          </a:r>
        </a:p>
      </dgm:t>
    </dgm:pt>
    <dgm:pt modelId="{C56DD3AB-D9E5-4463-8816-E33F074797F3}" type="parTrans" cxnId="{426DF2AE-64EB-4CA7-921E-8CE866DB297A}">
      <dgm:prSet/>
      <dgm:spPr/>
      <dgm:t>
        <a:bodyPr/>
        <a:lstStyle/>
        <a:p>
          <a:endParaRPr lang="en-GB"/>
        </a:p>
      </dgm:t>
    </dgm:pt>
    <dgm:pt modelId="{8EFF6ADA-886C-4558-B208-8FA2F406DCD8}" type="sibTrans" cxnId="{426DF2AE-64EB-4CA7-921E-8CE866DB297A}">
      <dgm:prSet/>
      <dgm:spPr/>
      <dgm:t>
        <a:bodyPr/>
        <a:lstStyle/>
        <a:p>
          <a:endParaRPr lang="en-GB"/>
        </a:p>
      </dgm:t>
    </dgm:pt>
    <dgm:pt modelId="{3F3DB19F-2E7C-439C-8830-8CA3138E136C}" type="pres">
      <dgm:prSet presAssocID="{5CBAB726-D7AB-43A2-9B2E-8E3FF5C3C672}" presName="compositeShape" presStyleCnt="0">
        <dgm:presLayoutVars>
          <dgm:chMax val="7"/>
          <dgm:dir/>
          <dgm:resizeHandles val="exact"/>
        </dgm:presLayoutVars>
      </dgm:prSet>
      <dgm:spPr/>
    </dgm:pt>
    <dgm:pt modelId="{B98EC832-C09D-4678-842C-CD67F3A241DC}" type="pres">
      <dgm:prSet presAssocID="{21B7A1D8-CFF0-41E9-80CC-2CB133876011}" presName="circ1" presStyleLbl="vennNode1" presStyleIdx="0" presStyleCnt="2"/>
      <dgm:spPr/>
    </dgm:pt>
    <dgm:pt modelId="{0912B371-8AD8-4D0A-8136-AACF7FF06BE3}" type="pres">
      <dgm:prSet presAssocID="{21B7A1D8-CFF0-41E9-80CC-2CB133876011}" presName="circ1Tx" presStyleLbl="revTx" presStyleIdx="0" presStyleCnt="0">
        <dgm:presLayoutVars>
          <dgm:chMax val="0"/>
          <dgm:chPref val="0"/>
          <dgm:bulletEnabled val="1"/>
        </dgm:presLayoutVars>
      </dgm:prSet>
      <dgm:spPr/>
    </dgm:pt>
    <dgm:pt modelId="{61E46B28-4725-49B2-A851-3A70A13246FC}" type="pres">
      <dgm:prSet presAssocID="{AD9D03CC-A6DE-4160-ACA7-963A65D50AD3}" presName="circ2" presStyleLbl="vennNode1" presStyleIdx="1" presStyleCnt="2" custLinFactNeighborX="-523" custLinFactNeighborY="274"/>
      <dgm:spPr/>
    </dgm:pt>
    <dgm:pt modelId="{D25B38E4-60CD-40B5-A747-237F60FE8A9F}" type="pres">
      <dgm:prSet presAssocID="{AD9D03CC-A6DE-4160-ACA7-963A65D50AD3}" presName="circ2Tx" presStyleLbl="revTx" presStyleIdx="0" presStyleCnt="0">
        <dgm:presLayoutVars>
          <dgm:chMax val="0"/>
          <dgm:chPref val="0"/>
          <dgm:bulletEnabled val="1"/>
        </dgm:presLayoutVars>
      </dgm:prSet>
      <dgm:spPr/>
    </dgm:pt>
  </dgm:ptLst>
  <dgm:cxnLst>
    <dgm:cxn modelId="{9EE72509-CFF4-4B0A-B79E-18722DC2749A}" type="presOf" srcId="{5CBAB726-D7AB-43A2-9B2E-8E3FF5C3C672}" destId="{3F3DB19F-2E7C-439C-8830-8CA3138E136C}" srcOrd="0" destOrd="0" presId="urn:microsoft.com/office/officeart/2005/8/layout/venn1"/>
    <dgm:cxn modelId="{CB2BE86E-5951-4D6E-8B6B-1758DBE651A4}" type="presOf" srcId="{AD9D03CC-A6DE-4160-ACA7-963A65D50AD3}" destId="{D25B38E4-60CD-40B5-A747-237F60FE8A9F}" srcOrd="1" destOrd="0" presId="urn:microsoft.com/office/officeart/2005/8/layout/venn1"/>
    <dgm:cxn modelId="{426DF2AE-64EB-4CA7-921E-8CE866DB297A}" srcId="{5CBAB726-D7AB-43A2-9B2E-8E3FF5C3C672}" destId="{AD9D03CC-A6DE-4160-ACA7-963A65D50AD3}" srcOrd="1" destOrd="0" parTransId="{C56DD3AB-D9E5-4463-8816-E33F074797F3}" sibTransId="{8EFF6ADA-886C-4558-B208-8FA2F406DCD8}"/>
    <dgm:cxn modelId="{04B1C6C8-8F3D-47E7-93D0-C34C1F53A920}" type="presOf" srcId="{21B7A1D8-CFF0-41E9-80CC-2CB133876011}" destId="{B98EC832-C09D-4678-842C-CD67F3A241DC}" srcOrd="0" destOrd="0" presId="urn:microsoft.com/office/officeart/2005/8/layout/venn1"/>
    <dgm:cxn modelId="{A4F479CB-77A9-4818-AA63-3D6C04EA91A2}" type="presOf" srcId="{21B7A1D8-CFF0-41E9-80CC-2CB133876011}" destId="{0912B371-8AD8-4D0A-8136-AACF7FF06BE3}" srcOrd="1" destOrd="0" presId="urn:microsoft.com/office/officeart/2005/8/layout/venn1"/>
    <dgm:cxn modelId="{281ACBDF-121D-4621-B6A3-995E9FCF0DFF}" srcId="{5CBAB726-D7AB-43A2-9B2E-8E3FF5C3C672}" destId="{21B7A1D8-CFF0-41E9-80CC-2CB133876011}" srcOrd="0" destOrd="0" parTransId="{A56D25A7-D7C3-4D13-A091-6FDFB84AF3B3}" sibTransId="{4085088C-46EF-4BC9-A592-F386A2CC5270}"/>
    <dgm:cxn modelId="{ABA4F9F4-2A5E-4248-8CDC-F5A8BFC139E0}" type="presOf" srcId="{AD9D03CC-A6DE-4160-ACA7-963A65D50AD3}" destId="{61E46B28-4725-49B2-A851-3A70A13246FC}" srcOrd="0" destOrd="0" presId="urn:microsoft.com/office/officeart/2005/8/layout/venn1"/>
    <dgm:cxn modelId="{0E48777F-E730-4220-AA44-3D0D59B8BE47}" type="presParOf" srcId="{3F3DB19F-2E7C-439C-8830-8CA3138E136C}" destId="{B98EC832-C09D-4678-842C-CD67F3A241DC}" srcOrd="0" destOrd="0" presId="urn:microsoft.com/office/officeart/2005/8/layout/venn1"/>
    <dgm:cxn modelId="{9095BFA0-4184-47AB-90B3-C48552AF39E6}" type="presParOf" srcId="{3F3DB19F-2E7C-439C-8830-8CA3138E136C}" destId="{0912B371-8AD8-4D0A-8136-AACF7FF06BE3}" srcOrd="1" destOrd="0" presId="urn:microsoft.com/office/officeart/2005/8/layout/venn1"/>
    <dgm:cxn modelId="{D3203CB3-307E-4800-804F-0E610DC743AE}" type="presParOf" srcId="{3F3DB19F-2E7C-439C-8830-8CA3138E136C}" destId="{61E46B28-4725-49B2-A851-3A70A13246FC}" srcOrd="2" destOrd="0" presId="urn:microsoft.com/office/officeart/2005/8/layout/venn1"/>
    <dgm:cxn modelId="{A4691858-6F3C-4D1B-B259-0E1A0A1075FE}" type="presParOf" srcId="{3F3DB19F-2E7C-439C-8830-8CA3138E136C}" destId="{D25B38E4-60CD-40B5-A747-237F60FE8A9F}" srcOrd="3"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8EC832-C09D-4678-842C-CD67F3A241DC}">
      <dsp:nvSpPr>
        <dsp:cNvPr id="0" name=""/>
        <dsp:cNvSpPr/>
      </dsp:nvSpPr>
      <dsp:spPr>
        <a:xfrm>
          <a:off x="965731" y="921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Reasoning</a:t>
          </a:r>
        </a:p>
        <a:p>
          <a:pPr marL="0" lvl="0" indent="0" algn="ctr" defTabSz="1422400">
            <a:lnSpc>
              <a:spcPct val="90000"/>
            </a:lnSpc>
            <a:spcBef>
              <a:spcPct val="0"/>
            </a:spcBef>
            <a:spcAft>
              <a:spcPct val="35000"/>
            </a:spcAft>
            <a:buNone/>
          </a:pPr>
          <a:endParaRPr lang="en-US"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Logic </a:t>
          </a:r>
          <a:r>
            <a:rPr lang="en-GB" sz="1800" kern="1200" dirty="0" err="1">
              <a:latin typeface="+mj-lt"/>
            </a:rPr>
            <a:t>modeling</a:t>
          </a:r>
          <a:endParaRPr lang="en-GB"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Ranking</a:t>
          </a:r>
        </a:p>
        <a:p>
          <a:pPr marL="0" lvl="0" indent="0" algn="l" defTabSz="1422400">
            <a:lnSpc>
              <a:spcPct val="90000"/>
            </a:lnSpc>
            <a:spcBef>
              <a:spcPct val="0"/>
            </a:spcBef>
            <a:spcAft>
              <a:spcPct val="35000"/>
            </a:spcAft>
            <a:buNone/>
          </a:pPr>
          <a:r>
            <a:rPr lang="en-GB" sz="1800" kern="1200" dirty="0">
              <a:latin typeface="+mj-lt"/>
            </a:rPr>
            <a:t>Veracity classification</a:t>
          </a:r>
        </a:p>
      </dsp:txBody>
      <dsp:txXfrm>
        <a:off x="1435998" y="406336"/>
        <a:ext cx="1941746" cy="2573464"/>
      </dsp:txXfrm>
    </dsp:sp>
    <dsp:sp modelId="{61E46B28-4725-49B2-A851-3A70A13246FC}">
      <dsp:nvSpPr>
        <dsp:cNvPr id="0" name=""/>
        <dsp:cNvSpPr/>
      </dsp:nvSpPr>
      <dsp:spPr>
        <a:xfrm>
          <a:off x="3375301" y="1842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Generation</a:t>
          </a:r>
        </a:p>
        <a:p>
          <a:pPr marL="0" lvl="0" indent="0" algn="ctr" defTabSz="1422400">
            <a:lnSpc>
              <a:spcPct val="90000"/>
            </a:lnSpc>
            <a:spcBef>
              <a:spcPct val="0"/>
            </a:spcBef>
            <a:spcAft>
              <a:spcPct val="35000"/>
            </a:spcAft>
            <a:buNone/>
          </a:pPr>
          <a:endParaRPr lang="en-US"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Graph-level </a:t>
          </a:r>
          <a:r>
            <a:rPr lang="en-GB" sz="1800" kern="1200" dirty="0" err="1">
              <a:latin typeface="+mj-lt"/>
            </a:rPr>
            <a:t>modeling</a:t>
          </a:r>
          <a:endParaRPr lang="en-GB"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Noise estimation</a:t>
          </a:r>
        </a:p>
        <a:p>
          <a:pPr marL="0" lvl="0" indent="0" algn="r" defTabSz="1422400">
            <a:lnSpc>
              <a:spcPct val="90000"/>
            </a:lnSpc>
            <a:spcBef>
              <a:spcPct val="0"/>
            </a:spcBef>
            <a:spcAft>
              <a:spcPct val="35000"/>
            </a:spcAft>
            <a:buNone/>
          </a:pPr>
          <a:r>
            <a:rPr lang="en-GB" sz="1800" kern="1200" dirty="0">
              <a:latin typeface="+mj-lt"/>
            </a:rPr>
            <a:t>Sample chaining</a:t>
          </a:r>
        </a:p>
      </dsp:txBody>
      <dsp:txXfrm>
        <a:off x="4331004" y="415546"/>
        <a:ext cx="1941746" cy="2573464"/>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24.10.2025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24/10/2025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sincerest gratitude again for agreeing to be part of my thesis committee. Today, I will present my PhD thesis work titled “Scalable Methods for Knowledge Graph Reasoning and Generation” as a summary of the research I did during my time at LIONS lab, under the supervision of Prof. Cevher.</a:t>
            </a:r>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talk follows the structure of my thesis.</a:t>
            </a:r>
          </a:p>
          <a:p>
            <a:r>
              <a:rPr lang="en-GB" dirty="0"/>
              <a:t>I will begin with an introduction to the overall motivation and research questions, then briefly recall some theoretical background.</a:t>
            </a:r>
          </a:p>
          <a:p>
            <a:r>
              <a:rPr lang="en-GB" dirty="0"/>
              <a:t>After that, I will present the first main contribution—*Scalable Knowledge Graph Reasoning*—and its concrete instantiation in the COINs framework.</a:t>
            </a:r>
          </a:p>
          <a:p>
            <a:r>
              <a:rPr lang="en-GB" dirty="0"/>
              <a:t>I will then show how this method was applied in practice within the Monty Knowledge Base developed at Swisscom.</a:t>
            </a:r>
          </a:p>
          <a:p>
            <a:r>
              <a:rPr lang="en-GB" dirty="0"/>
              <a:t>In the second part, I will move to *Scalable Graph Generation*, describing three generative frameworks—GGG-CRP, </a:t>
            </a:r>
            <a:r>
              <a:rPr lang="en-GB" dirty="0" err="1"/>
              <a:t>HiGenDiff</a:t>
            </a:r>
            <a:r>
              <a:rPr lang="en-GB" dirty="0"/>
              <a:t>, and </a:t>
            </a:r>
            <a:r>
              <a:rPr lang="en-GB" dirty="0" err="1"/>
              <a:t>MultiProx</a:t>
            </a:r>
            <a:r>
              <a:rPr lang="en-GB" dirty="0"/>
              <a:t>—and I will conclude with remarks on the broader implications and future perspectives.</a:t>
            </a:r>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r>
              <a:rPr lang="en-GB" dirty="0"/>
              <a:t>The overarching motivation of this thesis comes from a classical tension in computer science: the conflict between the **complexity of reality** and the **computational tractability** of its models.</a:t>
            </a:r>
          </a:p>
          <a:p>
            <a:r>
              <a:rPr lang="en-GB" dirty="0"/>
              <a:t>Graph-structured data are especially challenging because they capture not only entities but also the rich web of relations among them.</a:t>
            </a:r>
          </a:p>
          <a:p>
            <a:r>
              <a:rPr lang="en-GB" dirty="0"/>
              <a:t>In many scientific and industrial problems, the number of nodes and edges grows rapidly, and this growth directly translates into prohibitive costs for learning and inference.</a:t>
            </a:r>
          </a:p>
          <a:p>
            <a:r>
              <a:rPr lang="en-GB" dirty="0"/>
              <a:t>When we deal with knowledge graphs or generative graph models, we face what I like to call *a Rubik’s-cube-like complexity*: we can view the system holistically, manipulating its global patterns, or </a:t>
            </a:r>
            <a:r>
              <a:rPr lang="en-GB" dirty="0" err="1"/>
              <a:t>reductionistically</a:t>
            </a:r>
            <a:r>
              <a:rPr lang="en-GB" dirty="0"/>
              <a:t>, decomposing it into local components.</a:t>
            </a:r>
          </a:p>
          <a:p>
            <a:r>
              <a:rPr lang="en-GB" dirty="0"/>
              <a:t>The two camps—holism and reductionism—mirror how we can attack scalability: by discarding noisy local details or by decomposing the model into tractable sub-structures.</a:t>
            </a:r>
          </a:p>
          <a:p>
            <a:r>
              <a:rPr lang="en-GB" dirty="0"/>
              <a:t>Throughout this thesis, I argue that the most effective path is a synthesis of both.</a:t>
            </a:r>
          </a:p>
          <a:p>
            <a:r>
              <a:rPr lang="en-GB" dirty="0"/>
              <a:t>The central idea is to retain the expressive power of holistic graph reasoning while applying reductionist principles such as community detection and graph coarsening to make the process computationally sustainable.</a:t>
            </a:r>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r>
              <a:rPr lang="en-GB" dirty="0"/>
              <a:t>Before moving to the proposed methods, let me briefly recall the conceptual tools.</a:t>
            </a:r>
          </a:p>
          <a:p>
            <a:r>
              <a:rPr lang="en-GB" dirty="0"/>
              <a:t>Graph theory provides the mathematical language for representing entities and their relations; network science extends this with statistical and structural measures such as degree distributions, clustering coefficients, and community modularity.</a:t>
            </a:r>
          </a:p>
          <a:p>
            <a:r>
              <a:rPr lang="en-GB" dirty="0"/>
              <a:t>These quantities not only describe networks but also influence how learning algorithms behave on them.</a:t>
            </a:r>
          </a:p>
          <a:p>
            <a:r>
              <a:rPr lang="en-GB" dirty="0"/>
              <a:t>In our context, communities and hierarchical structures become the anchor points for scalable computation: by leveraging them, we can approximate global reasoning with localized operations.</a:t>
            </a:r>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r>
              <a:rPr lang="en-GB" dirty="0"/>
              <a:t>Graph Machine Learning links these theoretical notions to data-driven models.</a:t>
            </a:r>
          </a:p>
          <a:p>
            <a:r>
              <a:rPr lang="en-GB" dirty="0"/>
              <a:t>A model is defined by parameters and a loss function; optimization algorithms such as gradient descent or Adam update those parameters to minimize prediction error.</a:t>
            </a:r>
          </a:p>
          <a:p>
            <a:r>
              <a:rPr lang="en-GB" dirty="0"/>
              <a:t>Neural architectures—particularly Graph Neural Networks—extend this principle to relational data by propagating information along edges.</a:t>
            </a:r>
          </a:p>
          <a:p>
            <a:r>
              <a:rPr lang="en-GB" dirty="0"/>
              <a:t>Within these architectures, elements such as embedding layers, attention mechanisms, dropout, and normalization play specific roles in balancing expressivity and stability.</a:t>
            </a:r>
          </a:p>
          <a:p>
            <a:r>
              <a:rPr lang="en-GB" dirty="0"/>
              <a:t>However, the more complex the network and the deeper the architecture, the higher the computational demand.</a:t>
            </a:r>
          </a:p>
          <a:p>
            <a:r>
              <a:rPr lang="en-GB" dirty="0"/>
              <a:t>This tension between expressivity and scalability underlies all of the contributions that follow.</a:t>
            </a:r>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r>
              <a:rPr lang="en-US" dirty="0"/>
              <a:t>A further extension explores how COINs can be distributed across compute nodes without centralized memory.</a:t>
            </a:r>
          </a:p>
          <a:p>
            <a:r>
              <a:rPr lang="en-US" dirty="0"/>
              <a:t>Here, communities naturally map to partitions that can be processed independently.</a:t>
            </a:r>
          </a:p>
          <a:p>
            <a:r>
              <a:rPr lang="en-US" dirty="0"/>
              <a:t>This design enables horizontal scalability while maintaining the integrity of community-based reasoning.</a:t>
            </a:r>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r>
              <a:rPr lang="en-US" dirty="0"/>
              <a:t>Preliminary experiments showed that distributed COINs maintains stable convergence and yields near-linear scaling in throughput when increasing the number of workers.</a:t>
            </a:r>
          </a:p>
          <a:p>
            <a:r>
              <a:rPr lang="en-US" dirty="0"/>
              <a:t>This indicates that the approach remains viable not only on a single machine but also in distributed industrial environments.</a:t>
            </a:r>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r>
              <a:rPr lang="en-US" dirty="0"/>
              <a:t>The next section connects theory to practice through collaboration with Swisscom.</a:t>
            </a:r>
          </a:p>
          <a:p>
            <a:r>
              <a:rPr lang="en-US" dirty="0"/>
              <a:t>In industrial settings such as telecommunications, large volumes of heterogeneous data—network infrastructure, customer reports, device logs—can be organized as a knowledge graph.</a:t>
            </a:r>
          </a:p>
          <a:p>
            <a:r>
              <a:rPr lang="en-US" dirty="0"/>
              <a:t>The goal is to analyze infrastructure, predict and diagnose defects, and support decision-making.</a:t>
            </a:r>
          </a:p>
          <a:p>
            <a:r>
              <a:rPr lang="en-US" dirty="0"/>
              <a:t>This use case led to the development of **Monty**, Swisscom’s internal knowledge base, which became an ideal testbed for COINs.</a:t>
            </a:r>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r>
              <a:rPr lang="en-US" dirty="0"/>
              <a:t>The first prototype of COINs was actually built for Monty.</a:t>
            </a:r>
          </a:p>
          <a:p>
            <a:r>
              <a:rPr lang="en-US" dirty="0"/>
              <a:t>It performed remarkably well on that dataset but generalized poorly to public benchmarks.</a:t>
            </a:r>
          </a:p>
          <a:p>
            <a:r>
              <a:rPr lang="en-US" dirty="0"/>
              <a:t>This raised a key research question: *why* did COINs excel on Monty but not elsewhere?</a:t>
            </a:r>
          </a:p>
          <a:p>
            <a:r>
              <a:rPr lang="en-US" dirty="0"/>
              <a:t>To answer it, we conducted a detailed comparative analysis between Monty and a broad range of other knowledge graphs, including Freebase, WordNet, and NELL.</a:t>
            </a:r>
          </a:p>
          <a:p>
            <a:r>
              <a:rPr lang="en-US" dirty="0"/>
              <a:t>The investigation involved model ablations, dataset feature extraction, and re-evaluation experiments, which I will now outline.</a:t>
            </a:r>
          </a:p>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r>
              <a:rPr lang="en-US" dirty="0"/>
              <a:t>We began by extracting graph-structural features from Monty and the comparison datasets.</a:t>
            </a:r>
          </a:p>
          <a:p>
            <a:r>
              <a:rPr lang="en-US" dirty="0"/>
              <a:t>The features included label frequency distributions, </a:t>
            </a:r>
            <a:r>
              <a:rPr lang="en-US" dirty="0" err="1"/>
              <a:t>assortativity</a:t>
            </a:r>
            <a:r>
              <a:rPr lang="en-US" dirty="0"/>
              <a:t> coefficients, connectivity metrics, sparsity, clustering, and component sizes.</a:t>
            </a:r>
          </a:p>
          <a:p>
            <a:r>
              <a:rPr lang="en-US" dirty="0"/>
              <a:t>We also examined community structures, motifs, and association rules to understand how information is distributed.</a:t>
            </a:r>
          </a:p>
          <a:p>
            <a:r>
              <a:rPr lang="en-US" dirty="0"/>
              <a:t>These analyses revealed that Monty has very distinct characteristics: high modularity, low clustering, and clearly defined hubs and authorities.</a:t>
            </a:r>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r>
              <a:rPr lang="en-US" dirty="0"/>
              <a:t>To formalize these observations, we applied statistical tests.</a:t>
            </a:r>
          </a:p>
          <a:p>
            <a:r>
              <a:rPr lang="en-US" dirty="0"/>
              <a:t>We gathered public datasets across several domains—Freebase, WordNet, NELL, biological and transport networks, and citation graphs.</a:t>
            </a:r>
          </a:p>
          <a:p>
            <a:r>
              <a:rPr lang="en-US" dirty="0"/>
              <a:t>For each structural metric, we conducted one-sample hypothesis tests to determine distribution types and uniformity, and compared them across datasets using t-tests and Maximum Mean Discrepancy tests.</a:t>
            </a:r>
          </a:p>
          <a:p>
            <a:r>
              <a:rPr lang="en-US" dirty="0"/>
              <a:t>This allowed us to quantify how close or distant Monty’s topology is from the others.</a:t>
            </a:r>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r>
              <a:rPr lang="en-US" dirty="0"/>
              <a:t>The findings were striking.</a:t>
            </a:r>
          </a:p>
          <a:p>
            <a:r>
              <a:rPr lang="en-US" dirty="0"/>
              <a:t>Monty exhibits almost no label </a:t>
            </a:r>
            <a:r>
              <a:rPr lang="en-US" dirty="0" err="1"/>
              <a:t>assortativity</a:t>
            </a:r>
            <a:r>
              <a:rPr lang="en-US" dirty="0"/>
              <a:t>; it is the sparsest of all compared graphs, only weakly connected, and characterized by short paths and small diameter.</a:t>
            </a:r>
          </a:p>
          <a:p>
            <a:r>
              <a:rPr lang="en-US" dirty="0"/>
              <a:t>Its clustering is minimal, yet its modularity exceeds 99 percent, indicating extremely clear community boundaries.</a:t>
            </a:r>
          </a:p>
          <a:p>
            <a:r>
              <a:rPr lang="en-US" dirty="0"/>
              <a:t>Metric distributions are heavy-tailed but consistent across subgraphs, making Monty highly uniform structurally.</a:t>
            </a:r>
          </a:p>
          <a:p>
            <a:r>
              <a:rPr lang="en-US" dirty="0"/>
              <a:t>Among all datasets, Monty most closely resembles WordNet and transport networks, which explains why COINs—designed for community-based reasoning—performs exceptionally well on it.</a:t>
            </a:r>
          </a:p>
          <a:p>
            <a:r>
              <a:rPr lang="en-US" dirty="0"/>
              <a:t>In short, Monty is structurally *the easiest* dataset for COINs.</a:t>
            </a:r>
          </a:p>
          <a:p>
            <a:r>
              <a:rPr lang="en-US" dirty="0"/>
              <a:t>Recognizing this helped us design ablation studies to improve generalization.</a:t>
            </a:r>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r>
              <a:rPr lang="en-US" dirty="0"/>
              <a:t>After refining the model to reduce dependence on strong community structure, we re-evaluated it on Monty.</a:t>
            </a:r>
          </a:p>
          <a:p>
            <a:r>
              <a:rPr lang="en-US" dirty="0"/>
              <a:t>The new version maintained comparable accuracy while achieving dramatic efficiency gains—up to 728-fold acceleration in evaluation and more than 200-fold reduction in memory during training.</a:t>
            </a:r>
          </a:p>
          <a:p>
            <a:r>
              <a:rPr lang="en-US" dirty="0"/>
              <a:t>All experiments fit comfortably within 64 GB of RAM and 16 GB of GPU VRAM, demonstrating that practical industrial reasoning at scale is possible on standard hardware.</a:t>
            </a:r>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r>
              <a:rPr lang="en-GB" dirty="0"/>
              <a:t>*Hydration break*</a:t>
            </a:r>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r>
              <a:rPr lang="en-GB" dirty="0"/>
              <a:t>We now move from reasoning over graphs to *generating* them.</a:t>
            </a:r>
          </a:p>
          <a:p>
            <a:r>
              <a:rPr lang="en-GB" dirty="0"/>
              <a:t>If the previous chapters asked how we can infer new knowledge efficiently from existing relational data, this part asks how we can efficiently *create* new graph-structured data that resemble complex real-world systems.</a:t>
            </a:r>
          </a:p>
          <a:p>
            <a:r>
              <a:rPr lang="en-GB" dirty="0"/>
              <a:t>Graph generation is an inherently difficult problem, combining combinatorial explosion with the need for statistical fidelity.</a:t>
            </a:r>
          </a:p>
          <a:p>
            <a:r>
              <a:rPr lang="en-GB" dirty="0"/>
              <a:t>Here, scalability becomes even more pressing, as models must learn distributions over entire sets of graphs rather than single edges.</a:t>
            </a:r>
          </a:p>
          <a:p>
            <a:r>
              <a:rPr lang="en-GB" dirty="0"/>
              <a:t>Graph generation goes beyond simple edge classification.</a:t>
            </a:r>
          </a:p>
          <a:p>
            <a:r>
              <a:rPr lang="en-GB" dirty="0"/>
              <a:t>It aims to learn a discrete probability distribution over all possible graphs that follow the structural regularities of the training set.</a:t>
            </a:r>
          </a:p>
          <a:p>
            <a:r>
              <a:rPr lang="en-GB" dirty="0"/>
              <a:t>Such models have broad applications: from *drug discovery* and *materials design* to *social and financial network simulation*.</a:t>
            </a:r>
          </a:p>
          <a:p>
            <a:r>
              <a:rPr lang="en-GB" dirty="0"/>
              <a:t>However, existing generative models often fail to scale: they are expressive but computationally heavy, and their performance degrades quickly as graph size increases.</a:t>
            </a:r>
          </a:p>
          <a:p>
            <a:r>
              <a:rPr lang="en-GB" dirty="0"/>
              <a:t>Ideally, a scalable model should combine expressive power, efficiency, and isomorphism consistency—meaning it should treat isomorphic graphs identically.</a:t>
            </a:r>
          </a:p>
          <a:p>
            <a:r>
              <a:rPr lang="en-GB" dirty="0"/>
              <a:t>The motivating question was whether we could build such a model that remains tractable at large scale.</a:t>
            </a:r>
          </a:p>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r>
              <a:rPr lang="en-GB" dirty="0"/>
              <a:t>Let us briefly recall the landscape of generative methods for graphs.</a:t>
            </a:r>
          </a:p>
          <a:p>
            <a:r>
              <a:rPr lang="en-GB" dirty="0"/>
              <a:t>Generative Adversarial Networks (GANs) and Variational Autoencoders (VAEs) have been extended to graph domains, producing models such as </a:t>
            </a:r>
            <a:r>
              <a:rPr lang="en-GB" dirty="0" err="1"/>
              <a:t>GraphVAE</a:t>
            </a:r>
            <a:r>
              <a:rPr lang="en-GB" dirty="0"/>
              <a:t>, </a:t>
            </a:r>
            <a:r>
              <a:rPr lang="en-GB" dirty="0" err="1"/>
              <a:t>GraphRNN</a:t>
            </a:r>
            <a:r>
              <a:rPr lang="en-GB" dirty="0"/>
              <a:t>, and </a:t>
            </a:r>
            <a:r>
              <a:rPr lang="en-GB" dirty="0" err="1"/>
              <a:t>GraphGAN</a:t>
            </a:r>
            <a:r>
              <a:rPr lang="en-GB" dirty="0"/>
              <a:t>.</a:t>
            </a:r>
          </a:p>
          <a:p>
            <a:r>
              <a:rPr lang="en-GB" dirty="0"/>
              <a:t>These approaches capture global distributions but are usually limited to small molecules or ego-networks with fewer than a few hundred nodes.</a:t>
            </a:r>
          </a:p>
          <a:p>
            <a:r>
              <a:rPr lang="en-GB" dirty="0"/>
              <a:t>Scaling them up requires additional structural priors—something to constrain the search space without sacrificing novelty.</a:t>
            </a:r>
          </a:p>
          <a:p>
            <a:r>
              <a:rPr lang="en-GB" dirty="0"/>
              <a:t>This motivated our exploration of hierarchical and geometric approaches.</a:t>
            </a:r>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r>
              <a:rPr lang="en-GB" dirty="0"/>
              <a:t>Among these models, GG-GAN—or Geometric Graph GAN—was a particularly relevant starting point.</a:t>
            </a:r>
          </a:p>
          <a:p>
            <a:r>
              <a:rPr lang="en-GB" dirty="0"/>
              <a:t>It learns to map random latent vectors to geometric graph embeddings, then generates edges through a learned distance function in that space.</a:t>
            </a:r>
          </a:p>
          <a:p>
            <a:r>
              <a:rPr lang="en-GB" dirty="0"/>
              <a:t>While elegant, GG-GAN remains limited in scalability because every potential edge must be evaluated individually.</a:t>
            </a:r>
          </a:p>
          <a:p>
            <a:r>
              <a:rPr lang="en-GB" dirty="0"/>
              <a:t>This inspired us to introduce community-level decomposition, allowing graph generation to proceed in smaller, manageable subspaces.</a:t>
            </a:r>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r>
              <a:rPr lang="en-GB" dirty="0"/>
              <a:t>The **Chinese Restaurant Process** offers a stochastic prior for partitioning nodes into communities.</a:t>
            </a:r>
          </a:p>
          <a:p>
            <a:r>
              <a:rPr lang="en-GB" dirty="0"/>
              <a:t>It models how elements—here, nodes—are assigned to groups with probabilities proportional to group size, naturally yielding a power-law distribution of community sizes.</a:t>
            </a:r>
          </a:p>
          <a:p>
            <a:r>
              <a:rPr lang="en-GB" dirty="0"/>
              <a:t>In our setting, CRPs are used to sample node-to-community assignments that guide generation.</a:t>
            </a:r>
          </a:p>
          <a:p>
            <a:r>
              <a:rPr lang="en-GB" dirty="0"/>
              <a:t>This allows us to generate graphs one community at a time while still capturing inter-community overlaps.</a:t>
            </a:r>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r>
              <a:rPr lang="en-GB" dirty="0"/>
              <a:t>This brings us to **GGG-CRP**, or *Geometric Graph Generation with Chinese Restaurant Processes*.</a:t>
            </a:r>
          </a:p>
          <a:p>
            <a:r>
              <a:rPr lang="en-GB" dirty="0"/>
              <a:t>The model samples a node-community assignment using a CRP prior, then generates each community sequentially with a modified GG-GAN.</a:t>
            </a:r>
          </a:p>
          <a:p>
            <a:r>
              <a:rPr lang="en-GB" dirty="0"/>
              <a:t>Communities may overlap, and the overlapping regions are refined multiple times to maintain global coherence.</a:t>
            </a:r>
          </a:p>
          <a:p>
            <a:r>
              <a:rPr lang="en-GB" dirty="0"/>
              <a:t>This hierarchical decomposition drastically reduces complexity: rather than sampling from the combinatorial space of all graphs, we sample from a set of smaller community-conditioned distributions.</a:t>
            </a:r>
          </a:p>
          <a:p>
            <a:r>
              <a:rPr lang="en-GB" dirty="0"/>
              <a:t>At the same time, the probabilistic partitioning introduces a natural variability that enhances expressivity.</a:t>
            </a:r>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r>
              <a:rPr lang="en-GB" dirty="0"/>
              <a:t>To realize this process computationally, we treat the node-community assignment matrix as a bipartite graph.</a:t>
            </a:r>
          </a:p>
          <a:p>
            <a:r>
              <a:rPr lang="en-GB" dirty="0"/>
              <a:t>We estimate degree distributions on both sides—nodes and communities—and sample assignments using the configuration model or the Havel–Hakimi algorithm.</a:t>
            </a:r>
          </a:p>
          <a:p>
            <a:r>
              <a:rPr lang="en-GB" dirty="0"/>
              <a:t>Weighted integer partition sampling, following </a:t>
            </a:r>
            <a:r>
              <a:rPr lang="en-GB" dirty="0" err="1"/>
              <a:t>Fristedt’s</a:t>
            </a:r>
            <a:r>
              <a:rPr lang="en-GB" dirty="0"/>
              <a:t> method with rejection, ensures that community sizes conform to realistic empirical distributions.</a:t>
            </a:r>
          </a:p>
          <a:p>
            <a:r>
              <a:rPr lang="en-GB" dirty="0"/>
              <a:t>This statistical rigor guarantees that generated partitions resemble those observed in real data.</a:t>
            </a:r>
          </a:p>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r>
              <a:rPr lang="en-GB" dirty="0"/>
              <a:t>Once communities are sampled, graph generation proceeds autoregressively.</a:t>
            </a:r>
          </a:p>
          <a:p>
            <a:r>
              <a:rPr lang="en-GB" dirty="0"/>
              <a:t>For each community, latent features are sampled and edges are drawn conditioned on the discriminator’s output from the previous state.</a:t>
            </a:r>
          </a:p>
          <a:p>
            <a:r>
              <a:rPr lang="en-GB" dirty="0"/>
              <a:t>This hierarchical process makes the model scalable: each community root can be processed independently with lower memory complexity.</a:t>
            </a:r>
          </a:p>
          <a:p>
            <a:r>
              <a:rPr lang="en-GB" dirty="0"/>
              <a:t>Moreover, multi-level regularization encourages consistency between fine-grained and coarsened graphs by maximizing the discriminator’s likelihood for both.</a:t>
            </a:r>
          </a:p>
          <a:p>
            <a:r>
              <a:rPr lang="en-GB" dirty="0"/>
              <a:t>The result is a model that can handle large, heterogeneous graphs without collapsing.</a:t>
            </a:r>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r>
              <a:rPr lang="en-GB" dirty="0"/>
              <a:t>In terms of expressivity, GGG-CRP matches or exceeds existing state-of-the-art generative models on standard benchmarks, while training and sampling much faster.</a:t>
            </a:r>
          </a:p>
          <a:p>
            <a:r>
              <a:rPr lang="en-GB" dirty="0"/>
              <a:t>It successfully captures both local motifs and global degree distributions, producing realistic and diverse graphs.</a:t>
            </a:r>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r>
              <a:rPr lang="en-GB" dirty="0"/>
              <a:t>Visualization of generated samples shows that community overlaps are semantically meaningful rather than random noise.</a:t>
            </a:r>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r>
              <a:rPr lang="en-GB" dirty="0"/>
              <a:t>Regarding novelty, GGG-CRP achieves a balanced trade-off: it generates graphs that are sufficiently distinct from the training data yet preserve key statistical properties.</a:t>
            </a:r>
          </a:p>
          <a:p>
            <a:r>
              <a:rPr lang="en-GB" dirty="0"/>
              <a:t>This is crucial in applications like drug design, where novelty indicates discovery potential.</a:t>
            </a:r>
          </a:p>
          <a:p>
            <a:r>
              <a:rPr lang="en-GB" dirty="0"/>
              <a:t>Our evaluation confirmed that community-level sampling introduces structural diversity while maintaining coherence at the whole-graph scale.</a:t>
            </a:r>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r>
              <a:rPr lang="en-GB" dirty="0"/>
              <a:t>To summarize this first generative model:</a:t>
            </a:r>
          </a:p>
          <a:p>
            <a:r>
              <a:rPr lang="en-GB" dirty="0"/>
              <a:t>GGG-CRP scales generative graph </a:t>
            </a:r>
            <a:r>
              <a:rPr lang="en-GB" dirty="0" err="1"/>
              <a:t>modeling</a:t>
            </a:r>
            <a:r>
              <a:rPr lang="en-GB" dirty="0"/>
              <a:t> to large domains by coupling community-based decomposition with autoregressive learning.</a:t>
            </a:r>
          </a:p>
          <a:p>
            <a:r>
              <a:rPr lang="en-GB" dirty="0"/>
              <a:t>It leverages overlapping communities to preserve realism and uses probabilistic partitioning to ensure diversity.</a:t>
            </a:r>
          </a:p>
          <a:p>
            <a:r>
              <a:rPr lang="en-GB" dirty="0"/>
              <a:t>This work demonstrates that hierarchical stochastic priors, like CRPs, can make expressive models computationally viable at scale.</a:t>
            </a:r>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r>
              <a:rPr lang="en-GB" dirty="0"/>
              <a:t>While GGG-CRP achieves scalability through community decomposition, it still relies on GAN training, which can be unstable.</a:t>
            </a:r>
          </a:p>
          <a:p>
            <a:r>
              <a:rPr lang="en-GB" dirty="0"/>
              <a:t>Diffusion models, on the other hand, offer more stable likelihood-based training and have recently shown impressive results in continuous domains.</a:t>
            </a:r>
          </a:p>
          <a:p>
            <a:r>
              <a:rPr lang="en-GB" dirty="0"/>
              <a:t>Our motivation was to extend diffusion </a:t>
            </a:r>
            <a:r>
              <a:rPr lang="en-GB" dirty="0" err="1"/>
              <a:t>modeling</a:t>
            </a:r>
            <a:r>
              <a:rPr lang="en-GB" dirty="0"/>
              <a:t> to *discrete graphs* and further introduce hierarchical structure to handle multi-scale heterogeneity.</a:t>
            </a:r>
          </a:p>
          <a:p>
            <a:r>
              <a:rPr lang="en-GB" dirty="0"/>
              <a:t>The model we developed is called **</a:t>
            </a:r>
            <a:r>
              <a:rPr lang="en-GB" dirty="0" err="1"/>
              <a:t>HiGenDiff</a:t>
            </a:r>
            <a:r>
              <a:rPr lang="en-GB" dirty="0"/>
              <a:t>**, or *Hierarchical Generative Diffusion*.</a:t>
            </a:r>
          </a:p>
          <a:p>
            <a:r>
              <a:rPr lang="en-GB" dirty="0"/>
              <a:t>It mirrors the logic of COINs but operates in the generative direction: building complex graphs from simpler, coarser representations.</a:t>
            </a:r>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r>
              <a:rPr lang="en-GB" dirty="0"/>
              <a:t>Diffusion models learn to generate data by reversing a gradual noise process.</a:t>
            </a:r>
          </a:p>
          <a:p>
            <a:r>
              <a:rPr lang="en-GB" dirty="0"/>
              <a:t>They start from random noise and iteratively denoise to produce realistic samples.</a:t>
            </a:r>
          </a:p>
          <a:p>
            <a:r>
              <a:rPr lang="en-GB" dirty="0"/>
              <a:t>This formulation allows for flexible likelihood estimation and excellent sample quality, but naïvely applied to graphs it is computationally expensive.</a:t>
            </a:r>
          </a:p>
          <a:p>
            <a:r>
              <a:rPr lang="en-GB" dirty="0"/>
              <a:t>Therefore, hierarchical organization becomes essential: we diffuse and denoise not over individual nodes and edges directly, but over communities and their coarse representations first.</a:t>
            </a:r>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r>
              <a:rPr lang="en-GB" dirty="0"/>
              <a:t>Our approach builds on previous hierarchical graph diffusion frameworks, notably </a:t>
            </a:r>
            <a:r>
              <a:rPr lang="en-GB" dirty="0" err="1"/>
              <a:t>MRGrad</a:t>
            </a:r>
            <a:r>
              <a:rPr lang="en-GB" dirty="0"/>
              <a:t>, which introduced multi-resolution graph diffusion.</a:t>
            </a:r>
          </a:p>
          <a:p>
            <a:r>
              <a:rPr lang="en-GB" dirty="0" err="1"/>
              <a:t>MRGrad</a:t>
            </a:r>
            <a:r>
              <a:rPr lang="en-GB" dirty="0"/>
              <a:t> captures structure at different granularities through nested diffusion chains.</a:t>
            </a:r>
          </a:p>
          <a:p>
            <a:r>
              <a:rPr lang="en-GB" dirty="0"/>
              <a:t>We extend this idea by explicitly learning mappings between coarse and fine levels, allowing information to flow bidirectionally.</a:t>
            </a:r>
          </a:p>
          <a:p>
            <a:r>
              <a:rPr lang="en-GB" dirty="0"/>
              <a:t>This produces more coherent and scalable generation across diverse graph sizes.</a:t>
            </a:r>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r>
              <a:rPr lang="en-GB" dirty="0" err="1"/>
              <a:t>HiGenDiff</a:t>
            </a:r>
            <a:r>
              <a:rPr lang="en-GB" dirty="0"/>
              <a:t> introduces two key design innovations.</a:t>
            </a:r>
          </a:p>
          <a:p>
            <a:r>
              <a:rPr lang="en-GB" dirty="0"/>
              <a:t>First, a *coarse-to-fine conditional denoising network*, which generates a high-level community structure first and then progressively refines it into detailed node and edge configurations.</a:t>
            </a:r>
          </a:p>
          <a:p>
            <a:r>
              <a:rPr lang="en-GB" dirty="0"/>
              <a:t>Second, a *hierarchical noise scheduler* that adjusts diffusion rates across levels, enabling the model to adapt to varying graph densities.</a:t>
            </a:r>
          </a:p>
          <a:p>
            <a:r>
              <a:rPr lang="en-GB" dirty="0"/>
              <a:t>Together, these components yield a flexible and efficient generative process that mirrors the hierarchical nature of many real-world networks.</a:t>
            </a:r>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r>
              <a:rPr lang="en-GB" dirty="0"/>
              <a:t>From a theoretical perspective, we show that hierarchical diffusion introduces an inductive bias akin to fractal consistency:</a:t>
            </a:r>
          </a:p>
          <a:p>
            <a:r>
              <a:rPr lang="en-GB" dirty="0"/>
              <a:t>each level of the model preserves the statistical self-similarity of real-world graphs.</a:t>
            </a:r>
          </a:p>
          <a:p>
            <a:r>
              <a:rPr lang="en-GB" dirty="0"/>
              <a:t>This property ensures that learned distributions remain stable as graph size increases—a crucial aspect for scalability.</a:t>
            </a:r>
          </a:p>
          <a:p>
            <a:r>
              <a:rPr lang="en-GB" dirty="0"/>
              <a:t>We also </a:t>
            </a:r>
            <a:r>
              <a:rPr lang="en-GB" dirty="0" err="1"/>
              <a:t>analyze</a:t>
            </a:r>
            <a:r>
              <a:rPr lang="en-GB" dirty="0"/>
              <a:t> convergence and demonstrate that, under mild assumptions, the denoising process converges to a stationary distribution with bounded error.</a:t>
            </a:r>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r>
              <a:rPr lang="en-GB" dirty="0"/>
              <a:t>To evaluate </a:t>
            </a:r>
            <a:r>
              <a:rPr lang="en-GB" dirty="0" err="1"/>
              <a:t>HiGenDiff</a:t>
            </a:r>
            <a:r>
              <a:rPr lang="en-GB" dirty="0"/>
              <a:t>, we first verified its ability to recover community structure from generated graphs.</a:t>
            </a:r>
          </a:p>
          <a:p>
            <a:r>
              <a:rPr lang="en-GB" dirty="0"/>
              <a:t>The model consistently reproduced modularity patterns close to those of the training data, confirming that it captures realistic meso-scale organization.</a:t>
            </a:r>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r>
              <a:rPr lang="en-GB" dirty="0"/>
              <a:t>In terms of expressivity, </a:t>
            </a:r>
            <a:r>
              <a:rPr lang="en-GB" dirty="0" err="1"/>
              <a:t>HiGenDiff</a:t>
            </a:r>
            <a:r>
              <a:rPr lang="en-GB" dirty="0"/>
              <a:t> generated graphs spanning multiple domains—biological, social, and technological—that matched the statistical features of their originals.</a:t>
            </a:r>
          </a:p>
          <a:p>
            <a:r>
              <a:rPr lang="en-GB" dirty="0"/>
              <a:t>It maintained realistic degree and motif distributions while producing novel configurations unseen during training.</a:t>
            </a:r>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r>
              <a:rPr lang="en-GB" dirty="0"/>
              <a:t>A key question in generative </a:t>
            </a:r>
            <a:r>
              <a:rPr lang="en-GB" dirty="0" err="1"/>
              <a:t>modeling</a:t>
            </a:r>
            <a:r>
              <a:rPr lang="en-GB" dirty="0"/>
              <a:t> is how distinguishable the generated data are from real ones.</a:t>
            </a:r>
          </a:p>
          <a:p>
            <a:r>
              <a:rPr lang="en-GB" dirty="0"/>
              <a:t>Using standard discriminators and external classifiers, we found that </a:t>
            </a:r>
            <a:r>
              <a:rPr lang="en-GB" dirty="0" err="1"/>
              <a:t>HiGenDiff</a:t>
            </a:r>
            <a:r>
              <a:rPr lang="en-GB" dirty="0"/>
              <a:t> achieves near-perfect overlap between real and generated graph distributions, outperforming baselines such as </a:t>
            </a:r>
            <a:r>
              <a:rPr lang="en-GB" dirty="0" err="1"/>
              <a:t>GraphVAE</a:t>
            </a:r>
            <a:r>
              <a:rPr lang="en-GB" dirty="0"/>
              <a:t> and GRAN.</a:t>
            </a:r>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r>
              <a:rPr lang="en-GB" dirty="0"/>
              <a:t>Ablation studies confirmed the importance of hierarchical conditioning: removing coarse-level priors caused noticeable drops in both expressivity and structural fidelity.</a:t>
            </a:r>
          </a:p>
          <a:p>
            <a:r>
              <a:rPr lang="en-GB" dirty="0"/>
              <a:t>This supports our theoretical claim that multi-level organization acts as a stabilizing inductive bias.</a:t>
            </a:r>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r>
              <a:rPr lang="en-GB" dirty="0"/>
              <a:t>Performance comparisons show that </a:t>
            </a:r>
            <a:r>
              <a:rPr lang="en-GB" dirty="0" err="1"/>
              <a:t>HiGenDiff</a:t>
            </a:r>
            <a:r>
              <a:rPr lang="en-GB" dirty="0"/>
              <a:t> scales more gracefully with graph size than existing generative models.</a:t>
            </a:r>
          </a:p>
          <a:p>
            <a:r>
              <a:rPr lang="en-GB" dirty="0"/>
              <a:t>Training time and memory consumption grow </a:t>
            </a:r>
            <a:r>
              <a:rPr lang="en-GB" dirty="0" err="1"/>
              <a:t>sublinearly</a:t>
            </a:r>
            <a:r>
              <a:rPr lang="en-GB" dirty="0"/>
              <a:t>, while quality metrics such as validity, uniqueness, and novelty remain high.</a:t>
            </a:r>
          </a:p>
          <a:p>
            <a:r>
              <a:rPr lang="en-GB" dirty="0"/>
              <a:t>This demonstrates that diffusion-based models can indeed achieve both expressivity and scalability in the discrete graph domain.</a:t>
            </a:r>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r>
              <a:rPr lang="en-GB" dirty="0"/>
              <a:t>In summary, </a:t>
            </a:r>
            <a:r>
              <a:rPr lang="en-GB" dirty="0" err="1"/>
              <a:t>HiGenDiff</a:t>
            </a:r>
            <a:r>
              <a:rPr lang="en-GB" dirty="0"/>
              <a:t> leverages the inherent modularity of real-world graphs to model and sample from complex distributions efficiently.</a:t>
            </a:r>
          </a:p>
          <a:p>
            <a:r>
              <a:rPr lang="en-GB" dirty="0"/>
              <a:t>Conceptually, it serves as the *mirror image* of COINs: whereas COINs reasons downward from the global to the local, </a:t>
            </a:r>
            <a:r>
              <a:rPr lang="en-GB" dirty="0" err="1"/>
              <a:t>HiGenDiff</a:t>
            </a:r>
            <a:r>
              <a:rPr lang="en-GB" dirty="0"/>
              <a:t> generates upward from coarse to fine.</a:t>
            </a:r>
          </a:p>
          <a:p>
            <a:r>
              <a:rPr lang="en-GB" dirty="0"/>
              <a:t>Together, they form two complementary directions of scalable graph intelligence—one for reasoning, one for creation.</a:t>
            </a:r>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r>
              <a:rPr lang="en-GB" dirty="0"/>
              <a:t>The final methodological contribution deals with *multi-measurement approaches* for accelerating graph diffusion.</a:t>
            </a:r>
          </a:p>
          <a:p>
            <a:r>
              <a:rPr lang="en-GB" dirty="0"/>
              <a:t>While hierarchical models improve scalability conceptually, further gains are achieved through optimized measurement schedules—deciding how often and at what resolution to update intermediate representations.</a:t>
            </a:r>
          </a:p>
          <a:p>
            <a:r>
              <a:rPr lang="en-GB" dirty="0"/>
              <a:t>This section introduces strategies that allow faster training without compromising sample quality.</a:t>
            </a:r>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2442F-A0C3-F3C0-9734-E294ED5AC0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DD4E69-3057-9AA6-EB45-11E66CB1E9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9BBD64-5E1D-E464-4162-EDD4FB3D6DF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6700DED-3DBA-2482-FF66-B6FB74430209}"/>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6481972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E9724-2F1B-3DC3-7A69-9BB05EEF5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C5C2-93A1-AE94-CEA8-948B8F29A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97A80-9D86-2268-5A5D-2391D50A285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2F3582B-1FD1-B648-D066-34BD418C2B9E}"/>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62148397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C8ACF-7E27-4182-690A-F73E808E1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CFD3B-DA4F-2908-C9CB-3BDFC5820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95C305-5036-2A97-F2AC-94841A4D82F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DA21515-3927-A5DC-9E3F-37B709696122}"/>
              </a:ext>
            </a:extLst>
          </p:cNvPr>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180306038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0B8CC-E253-388B-50D2-0A500FFE6C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BA02-1C36-ECC1-1834-E12E08F293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317E3-7F32-A09C-9745-CC334F977AE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9974AA5-BE48-EA5E-0C07-8B8752E60A6E}"/>
              </a:ext>
            </a:extLst>
          </p:cNvPr>
          <p:cNvSpPr>
            <a:spLocks noGrp="1"/>
          </p:cNvSpPr>
          <p:nvPr>
            <p:ph type="sldNum" sz="quarter" idx="5"/>
          </p:nvPr>
        </p:nvSpPr>
        <p:spPr/>
        <p:txBody>
          <a:bodyPr/>
          <a:lstStyle/>
          <a:p>
            <a:fld id="{4CF50783-AAED-1941-8BCC-9F6140F0A6B1}" type="slidenum">
              <a:rPr lang="fr-FR" smtClean="0"/>
              <a:pPr/>
              <a:t>70</a:t>
            </a:fld>
            <a:endParaRPr lang="fr-FR" dirty="0"/>
          </a:p>
        </p:txBody>
      </p:sp>
    </p:spTree>
    <p:extLst>
      <p:ext uri="{BB962C8B-B14F-4D97-AF65-F5344CB8AC3E}">
        <p14:creationId xmlns:p14="http://schemas.microsoft.com/office/powerpoint/2010/main" val="2475110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0886-9A14-D8E8-66DB-3BB5A8746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ADF85-DD9B-9464-3337-859067BBF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69EA8-3DBC-1CBF-30BC-76293A7E0FF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4AABCF5-9574-A5A5-3956-0E2B3980D55E}"/>
              </a:ext>
            </a:extLst>
          </p:cNvPr>
          <p:cNvSpPr>
            <a:spLocks noGrp="1"/>
          </p:cNvSpPr>
          <p:nvPr>
            <p:ph type="sldNum" sz="quarter" idx="5"/>
          </p:nvPr>
        </p:nvSpPr>
        <p:spPr/>
        <p:txBody>
          <a:bodyPr/>
          <a:lstStyle/>
          <a:p>
            <a:fld id="{4CF50783-AAED-1941-8BCC-9F6140F0A6B1}" type="slidenum">
              <a:rPr lang="fr-FR" smtClean="0"/>
              <a:pPr/>
              <a:t>71</a:t>
            </a:fld>
            <a:endParaRPr lang="fr-FR" dirty="0"/>
          </a:p>
        </p:txBody>
      </p:sp>
    </p:spTree>
    <p:extLst>
      <p:ext uri="{BB962C8B-B14F-4D97-AF65-F5344CB8AC3E}">
        <p14:creationId xmlns:p14="http://schemas.microsoft.com/office/powerpoint/2010/main" val="143126113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32806-5446-5F31-7246-58F803D9E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ED63E5-BFE3-F370-C351-FCB2F0B14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838AAB-4646-25F8-FC10-A2C63520A6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1008FB2-E2ED-3190-6AD6-562CDD523B1D}"/>
              </a:ext>
            </a:extLst>
          </p:cNvPr>
          <p:cNvSpPr>
            <a:spLocks noGrp="1"/>
          </p:cNvSpPr>
          <p:nvPr>
            <p:ph type="sldNum" sz="quarter" idx="5"/>
          </p:nvPr>
        </p:nvSpPr>
        <p:spPr/>
        <p:txBody>
          <a:bodyPr/>
          <a:lstStyle/>
          <a:p>
            <a:fld id="{4CF50783-AAED-1941-8BCC-9F6140F0A6B1}" type="slidenum">
              <a:rPr lang="fr-FR" smtClean="0"/>
              <a:pPr/>
              <a:t>72</a:t>
            </a:fld>
            <a:endParaRPr lang="fr-FR" dirty="0"/>
          </a:p>
        </p:txBody>
      </p:sp>
    </p:spTree>
    <p:extLst>
      <p:ext uri="{BB962C8B-B14F-4D97-AF65-F5344CB8AC3E}">
        <p14:creationId xmlns:p14="http://schemas.microsoft.com/office/powerpoint/2010/main" val="38905641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E4ACE-460D-3B43-CD64-245627577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1F21C-28C7-1E2B-C4EA-2AE0DB9B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209C6-84CE-767F-819E-ADAD31E0EC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E1F40F5-9867-7E09-0F19-03427EE53324}"/>
              </a:ext>
            </a:extLst>
          </p:cNvPr>
          <p:cNvSpPr>
            <a:spLocks noGrp="1"/>
          </p:cNvSpPr>
          <p:nvPr>
            <p:ph type="sldNum" sz="quarter" idx="5"/>
          </p:nvPr>
        </p:nvSpPr>
        <p:spPr/>
        <p:txBody>
          <a:bodyPr/>
          <a:lstStyle/>
          <a:p>
            <a:fld id="{4CF50783-AAED-1941-8BCC-9F6140F0A6B1}" type="slidenum">
              <a:rPr lang="fr-FR" smtClean="0"/>
              <a:pPr/>
              <a:t>73</a:t>
            </a:fld>
            <a:endParaRPr lang="fr-FR" dirty="0"/>
          </a:p>
        </p:txBody>
      </p:sp>
    </p:spTree>
    <p:extLst>
      <p:ext uri="{BB962C8B-B14F-4D97-AF65-F5344CB8AC3E}">
        <p14:creationId xmlns:p14="http://schemas.microsoft.com/office/powerpoint/2010/main" val="228614122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818E8-8EBD-B8ED-E886-E097A9CD2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09CAC3-9B1C-18B9-070E-3D10E0B5D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70081-754E-6899-073A-9E63E19E2C8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DAE472F-5DEF-134D-F426-E7AF8D4A3086}"/>
              </a:ext>
            </a:extLst>
          </p:cNvPr>
          <p:cNvSpPr>
            <a:spLocks noGrp="1"/>
          </p:cNvSpPr>
          <p:nvPr>
            <p:ph type="sldNum" sz="quarter" idx="5"/>
          </p:nvPr>
        </p:nvSpPr>
        <p:spPr/>
        <p:txBody>
          <a:bodyPr/>
          <a:lstStyle/>
          <a:p>
            <a:fld id="{4CF50783-AAED-1941-8BCC-9F6140F0A6B1}" type="slidenum">
              <a:rPr lang="fr-FR" smtClean="0"/>
              <a:pPr/>
              <a:t>74</a:t>
            </a:fld>
            <a:endParaRPr lang="fr-FR" dirty="0"/>
          </a:p>
        </p:txBody>
      </p:sp>
    </p:spTree>
    <p:extLst>
      <p:ext uri="{BB962C8B-B14F-4D97-AF65-F5344CB8AC3E}">
        <p14:creationId xmlns:p14="http://schemas.microsoft.com/office/powerpoint/2010/main" val="71618248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FF83F-7CF9-44C4-236A-1213D5B3D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B971A-57E5-14B4-1567-78E1D1656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B20B5-AE15-41A3-F2B6-9C4198FB4F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F2A37E4-7536-5335-B293-C762C25EB90E}"/>
              </a:ext>
            </a:extLst>
          </p:cNvPr>
          <p:cNvSpPr>
            <a:spLocks noGrp="1"/>
          </p:cNvSpPr>
          <p:nvPr>
            <p:ph type="sldNum" sz="quarter" idx="5"/>
          </p:nvPr>
        </p:nvSpPr>
        <p:spPr/>
        <p:txBody>
          <a:bodyPr/>
          <a:lstStyle/>
          <a:p>
            <a:fld id="{4CF50783-AAED-1941-8BCC-9F6140F0A6B1}" type="slidenum">
              <a:rPr lang="fr-FR" smtClean="0"/>
              <a:pPr/>
              <a:t>75</a:t>
            </a:fld>
            <a:endParaRPr lang="fr-FR" dirty="0"/>
          </a:p>
        </p:txBody>
      </p:sp>
    </p:spTree>
    <p:extLst>
      <p:ext uri="{BB962C8B-B14F-4D97-AF65-F5344CB8AC3E}">
        <p14:creationId xmlns:p14="http://schemas.microsoft.com/office/powerpoint/2010/main" val="370971655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2057-4E91-48C3-8F4A-ED3EA7CB5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A93-5658-3C10-B45F-8F8202C92D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5B20B-5184-B8FA-9C0A-1542036A111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ABE490A-3FA2-CE3F-6473-88130D66AD22}"/>
              </a:ext>
            </a:extLst>
          </p:cNvPr>
          <p:cNvSpPr>
            <a:spLocks noGrp="1"/>
          </p:cNvSpPr>
          <p:nvPr>
            <p:ph type="sldNum" sz="quarter" idx="5"/>
          </p:nvPr>
        </p:nvSpPr>
        <p:spPr/>
        <p:txBody>
          <a:bodyPr/>
          <a:lstStyle/>
          <a:p>
            <a:fld id="{4CF50783-AAED-1941-8BCC-9F6140F0A6B1}" type="slidenum">
              <a:rPr lang="fr-FR" smtClean="0"/>
              <a:pPr/>
              <a:t>76</a:t>
            </a:fld>
            <a:endParaRPr lang="fr-FR" dirty="0"/>
          </a:p>
        </p:txBody>
      </p:sp>
    </p:spTree>
    <p:extLst>
      <p:ext uri="{BB962C8B-B14F-4D97-AF65-F5344CB8AC3E}">
        <p14:creationId xmlns:p14="http://schemas.microsoft.com/office/powerpoint/2010/main" val="370318241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CE534-888F-BD96-9977-E456D47537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419A6-D7FF-06B2-9AD5-BEBAEE20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F1070-6AD5-6C86-2D44-A975A1D2E3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108F4A0-8811-4574-C54A-8AFC5413C9EB}"/>
              </a:ext>
            </a:extLst>
          </p:cNvPr>
          <p:cNvSpPr>
            <a:spLocks noGrp="1"/>
          </p:cNvSpPr>
          <p:nvPr>
            <p:ph type="sldNum" sz="quarter" idx="5"/>
          </p:nvPr>
        </p:nvSpPr>
        <p:spPr/>
        <p:txBody>
          <a:bodyPr/>
          <a:lstStyle/>
          <a:p>
            <a:fld id="{4CF50783-AAED-1941-8BCC-9F6140F0A6B1}" type="slidenum">
              <a:rPr lang="fr-FR" smtClean="0"/>
              <a:pPr/>
              <a:t>77</a:t>
            </a:fld>
            <a:endParaRPr lang="fr-FR" dirty="0"/>
          </a:p>
        </p:txBody>
      </p:sp>
    </p:spTree>
    <p:extLst>
      <p:ext uri="{BB962C8B-B14F-4D97-AF65-F5344CB8AC3E}">
        <p14:creationId xmlns:p14="http://schemas.microsoft.com/office/powerpoint/2010/main" val="17752432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D66C-4742-98BD-93DA-E71D7E9BF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D05BC-9A63-77EA-B18A-83762BE22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D6FBC-4007-6B12-D2C4-542A53E1C69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6BC870F-8D12-B775-5F76-984582E4971B}"/>
              </a:ext>
            </a:extLst>
          </p:cNvPr>
          <p:cNvSpPr>
            <a:spLocks noGrp="1"/>
          </p:cNvSpPr>
          <p:nvPr>
            <p:ph type="sldNum" sz="quarter" idx="5"/>
          </p:nvPr>
        </p:nvSpPr>
        <p:spPr/>
        <p:txBody>
          <a:bodyPr/>
          <a:lstStyle/>
          <a:p>
            <a:fld id="{4CF50783-AAED-1941-8BCC-9F6140F0A6B1}" type="slidenum">
              <a:rPr lang="fr-FR" smtClean="0"/>
              <a:pPr/>
              <a:t>78</a:t>
            </a:fld>
            <a:endParaRPr lang="fr-FR" dirty="0"/>
          </a:p>
        </p:txBody>
      </p:sp>
    </p:spTree>
    <p:extLst>
      <p:ext uri="{BB962C8B-B14F-4D97-AF65-F5344CB8AC3E}">
        <p14:creationId xmlns:p14="http://schemas.microsoft.com/office/powerpoint/2010/main" val="25333553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79</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1E712-9F40-F303-FFAE-0D06F01659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ACDE2-234C-2C0C-26AE-C3D5F5C57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0F7BB-665F-E370-748E-8E75C90BF4C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66CFB08-D1CE-C09F-336F-FE19181A648A}"/>
              </a:ext>
            </a:extLst>
          </p:cNvPr>
          <p:cNvSpPr>
            <a:spLocks noGrp="1"/>
          </p:cNvSpPr>
          <p:nvPr>
            <p:ph type="sldNum" sz="quarter" idx="5"/>
          </p:nvPr>
        </p:nvSpPr>
        <p:spPr/>
        <p:txBody>
          <a:bodyPr/>
          <a:lstStyle/>
          <a:p>
            <a:fld id="{4CF50783-AAED-1941-8BCC-9F6140F0A6B1}" type="slidenum">
              <a:rPr lang="fr-FR" smtClean="0"/>
              <a:pPr/>
              <a:t>80</a:t>
            </a:fld>
            <a:endParaRPr lang="fr-FR" dirty="0"/>
          </a:p>
        </p:txBody>
      </p:sp>
    </p:spTree>
    <p:extLst>
      <p:ext uri="{BB962C8B-B14F-4D97-AF65-F5344CB8AC3E}">
        <p14:creationId xmlns:p14="http://schemas.microsoft.com/office/powerpoint/2010/main" val="10018734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81</a:t>
            </a:fld>
            <a:endParaRPr lang="fr-FR" dirty="0"/>
          </a:p>
        </p:txBody>
      </p:sp>
    </p:spTree>
    <p:extLst>
      <p:ext uri="{BB962C8B-B14F-4D97-AF65-F5344CB8AC3E}">
        <p14:creationId xmlns:p14="http://schemas.microsoft.com/office/powerpoint/2010/main" val="47581359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82</a:t>
            </a:fld>
            <a:endParaRPr lang="fr-FR" dirty="0"/>
          </a:p>
        </p:txBody>
      </p:sp>
    </p:spTree>
    <p:extLst>
      <p:ext uri="{BB962C8B-B14F-4D97-AF65-F5344CB8AC3E}">
        <p14:creationId xmlns:p14="http://schemas.microsoft.com/office/powerpoint/2010/main" val="10465574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83</a:t>
            </a:fld>
            <a:endParaRPr lang="fr-FR" dirty="0"/>
          </a:p>
        </p:txBody>
      </p:sp>
    </p:spTree>
    <p:extLst>
      <p:ext uri="{BB962C8B-B14F-4D97-AF65-F5344CB8AC3E}">
        <p14:creationId xmlns:p14="http://schemas.microsoft.com/office/powerpoint/2010/main" val="318330545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84</a:t>
            </a:fld>
            <a:endParaRPr lang="fr-FR" dirty="0"/>
          </a:p>
        </p:txBody>
      </p:sp>
    </p:spTree>
    <p:extLst>
      <p:ext uri="{BB962C8B-B14F-4D97-AF65-F5344CB8AC3E}">
        <p14:creationId xmlns:p14="http://schemas.microsoft.com/office/powerpoint/2010/main" val="419685423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85</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10.xml"/><Relationship Id="rId5" Type="http://schemas.openxmlformats.org/officeDocument/2006/relationships/image" Target="../media/image53.png"/><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8.xml"/><Relationship Id="rId1" Type="http://schemas.openxmlformats.org/officeDocument/2006/relationships/slideLayout" Target="../slideLayouts/slideLayout5.xml"/><Relationship Id="rId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image" Target="../media/image67.png"/><Relationship Id="rId4" Type="http://schemas.openxmlformats.org/officeDocument/2006/relationships/image" Target="../media/image66.png"/></Relationships>
</file>

<file path=ppt/slides/_rels/slide6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7.xml"/><Relationship Id="rId1" Type="http://schemas.openxmlformats.org/officeDocument/2006/relationships/slideLayout" Target="../slideLayouts/slideLayout10.xml"/><Relationship Id="rId4" Type="http://schemas.openxmlformats.org/officeDocument/2006/relationships/image" Target="../media/image72.png"/></Relationships>
</file>

<file path=ppt/slides/_rels/slide68.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2.xml"/><Relationship Id="rId1" Type="http://schemas.openxmlformats.org/officeDocument/2006/relationships/slideLayout" Target="../slideLayouts/slideLayout10.xml"/><Relationship Id="rId4" Type="http://schemas.openxmlformats.org/officeDocument/2006/relationships/image" Target="../media/image77.png"/></Relationships>
</file>

<file path=ppt/slides/_rels/slide7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3.xml"/><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5.xml"/><Relationship Id="rId1" Type="http://schemas.openxmlformats.org/officeDocument/2006/relationships/slideLayout" Target="../slideLayouts/slideLayout5.xml"/><Relationship Id="rId4" Type="http://schemas.openxmlformats.org/officeDocument/2006/relationships/image" Target="../media/image81.png"/></Relationships>
</file>

<file path=ppt/slides/_rels/slide7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6.xml"/><Relationship Id="rId1" Type="http://schemas.openxmlformats.org/officeDocument/2006/relationships/slideLayout" Target="../slideLayouts/slideLayout10.xml"/><Relationship Id="rId4" Type="http://schemas.openxmlformats.org/officeDocument/2006/relationships/image" Target="../media/image83.png"/></Relationships>
</file>

<file path=ppt/slides/_rels/slide7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77.xml"/><Relationship Id="rId1" Type="http://schemas.openxmlformats.org/officeDocument/2006/relationships/slideLayout" Target="../slideLayouts/slideLayout10.xml"/><Relationship Id="rId4" Type="http://schemas.openxmlformats.org/officeDocument/2006/relationships/image" Target="../media/image85.png"/></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8.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8" Type="http://schemas.openxmlformats.org/officeDocument/2006/relationships/hyperlink" Target="https://proceedings.mlr.press/v70/arjovsky17a.html" TargetMode="External"/><Relationship Id="rId3" Type="http://schemas.openxmlformats.org/officeDocument/2006/relationships/hyperlink" Target="https://doi.org/10.1137/0111010" TargetMode="External"/><Relationship Id="rId7" Type="http://schemas.openxmlformats.org/officeDocument/2006/relationships/hyperlink" Target="https://proceedings.mlr.press/v37/sohl-dickstein15.html" TargetMode="External"/><Relationship Id="rId2" Type="http://schemas.openxmlformats.org/officeDocument/2006/relationships/notesSlide" Target="../notesSlides/notesSlide81.xml"/><Relationship Id="rId1" Type="http://schemas.openxmlformats.org/officeDocument/2006/relationships/slideLayout" Target="../slideLayouts/slideLayout5.xml"/><Relationship Id="rId6" Type="http://schemas.openxmlformats.org/officeDocument/2006/relationships/hyperlink" Target="https://research.utwente.nl/en/publications/graph-abstraction-and-abstract-graph-transformation" TargetMode="External"/><Relationship Id="rId5" Type="http://schemas.openxmlformats.org/officeDocument/2006/relationships/hyperlink" Target="https://doi.org/10.1090/S0002-9947-1993-1094553-1" TargetMode="External"/><Relationship Id="rId4" Type="http://schemas.openxmlformats.org/officeDocument/2006/relationships/hyperlink" Target="https://doi.org/10.1007/BFb0099421" TargetMode="External"/><Relationship Id="rId9" Type="http://schemas.openxmlformats.org/officeDocument/2006/relationships/hyperlink" Target="http://arxiv.org/abs/1806.01261" TargetMode="External"/></Relationships>
</file>

<file path=ppt/slides/_rels/slide82.xml.rels><?xml version="1.0" encoding="UTF-8" standalone="yes"?>
<Relationships xmlns="http://schemas.openxmlformats.org/package/2006/relationships"><Relationship Id="rId8" Type="http://schemas.openxmlformats.org/officeDocument/2006/relationships/hyperlink" Target="https://openreview.net/forum?id=qiAxL3Xqx1o" TargetMode="External"/><Relationship Id="rId3" Type="http://schemas.openxmlformats.org/officeDocument/2006/relationships/hyperlink" Target="https://proceedings.mlsys.org/paper/2019/hash/e2c420d928d4bf8ce0ff2ec19b371514-Abstract.html" TargetMode="External"/><Relationship Id="rId7" Type="http://schemas.openxmlformats.org/officeDocument/2006/relationships/hyperlink" Target="https://doi.org/10.1145/3397271.3401172" TargetMode="External"/><Relationship Id="rId2" Type="http://schemas.openxmlformats.org/officeDocument/2006/relationships/notesSlide" Target="../notesSlides/notesSlide82.xml"/><Relationship Id="rId1" Type="http://schemas.openxmlformats.org/officeDocument/2006/relationships/slideLayout" Target="../slideLayouts/slideLayout5.xml"/><Relationship Id="rId6" Type="http://schemas.openxmlformats.org/officeDocument/2006/relationships/hyperlink" Target="https://doi.org/10.48550/arXiv.2006.05976" TargetMode="External"/><Relationship Id="rId5" Type="http://schemas.openxmlformats.org/officeDocument/2006/relationships/hyperlink" Target="https://openreview.net/forum?id=BJgr4kSFDS" TargetMode="External"/><Relationship Id="rId4" Type="http://schemas.openxmlformats.org/officeDocument/2006/relationships/hyperlink" Target="https://doi.org/10.18653/v1/P19-1466" TargetMode="External"/><Relationship Id="rId9" Type="http://schemas.openxmlformats.org/officeDocument/2006/relationships/hyperlink" Target="https://doi.org/10.1145/3447772" TargetMode="External"/></Relationships>
</file>

<file path=ppt/slides/_rels/slide83.xml.rels><?xml version="1.0" encoding="UTF-8" standalone="yes"?>
<Relationships xmlns="http://schemas.openxmlformats.org/package/2006/relationships"><Relationship Id="rId8" Type="http://schemas.openxmlformats.org/officeDocument/2006/relationships/hyperlink" Target="https://doi.org/10.1145/3580305.3599268" TargetMode="External"/><Relationship Id="rId3" Type="http://schemas.openxmlformats.org/officeDocument/2006/relationships/hyperlink" Target="https://infoscience.epfl.ch/handle/20.500.14299/253964" TargetMode="External"/><Relationship Id="rId7" Type="http://schemas.openxmlformats.org/officeDocument/2006/relationships/hyperlink" Target="https://doi.org/10.1609/aaai.v37i4.25535" TargetMode="External"/><Relationship Id="rId2" Type="http://schemas.openxmlformats.org/officeDocument/2006/relationships/notesSlide" Target="../notesSlides/notesSlide83.xml"/><Relationship Id="rId1" Type="http://schemas.openxmlformats.org/officeDocument/2006/relationships/slideLayout" Target="../slideLayouts/slideLayout5.xml"/><Relationship Id="rId6" Type="http://schemas.openxmlformats.org/officeDocument/2006/relationships/hyperlink" Target="https://openreview.net/forum?id=UaAD-Nu86WX" TargetMode="External"/><Relationship Id="rId5" Type="http://schemas.openxmlformats.org/officeDocument/2006/relationships/hyperlink" Target="https://openreview.net/forum?id=xMJWUKJnFSw" TargetMode="External"/><Relationship Id="rId10" Type="http://schemas.openxmlformats.org/officeDocument/2006/relationships/hyperlink" Target="https://openreview.net/forum?id=KNvubydSB5" TargetMode="External"/><Relationship Id="rId4" Type="http://schemas.openxmlformats.org/officeDocument/2006/relationships/hyperlink" Target="https://doi.org/10.48550/arXiv.2110.14890" TargetMode="External"/><Relationship Id="rId9" Type="http://schemas.openxmlformats.org/officeDocument/2006/relationships/hyperlink" Target="https://doi.org/10.48550/arXiv.2307.06698"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aclanthology.org/2025.genaik-1.9/" TargetMode="External"/><Relationship Id="rId3" Type="http://schemas.openxmlformats.org/officeDocument/2006/relationships/hyperlink" Target="https://openreview.net/forum?id=0rZiMEOzh0" TargetMode="External"/><Relationship Id="rId7" Type="http://schemas.openxmlformats.org/officeDocument/2006/relationships/hyperlink" Target="https://openreview.net/forum?id=xkiI5tou6J" TargetMode="External"/><Relationship Id="rId2" Type="http://schemas.openxmlformats.org/officeDocument/2006/relationships/notesSlide" Target="../notesSlides/notesSlide84.xml"/><Relationship Id="rId1" Type="http://schemas.openxmlformats.org/officeDocument/2006/relationships/slideLayout" Target="../slideLayouts/slideLayout5.xml"/><Relationship Id="rId6" Type="http://schemas.openxmlformats.org/officeDocument/2006/relationships/hyperlink" Target="https://doi.org/10.48550/arXiv.2408.04053" TargetMode="External"/><Relationship Id="rId5" Type="http://schemas.openxmlformats.org/officeDocument/2006/relationships/hyperlink" Target="https://openreview.net/forum?id=yiMB2DOjsR" TargetMode="External"/><Relationship Id="rId4" Type="http://schemas.openxmlformats.org/officeDocument/2006/relationships/hyperlink" Target="https://doi.org/10.5075/epfl-thesis-9020" TargetMode="External"/></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sz="4000" dirty="0"/>
              <a:t>Scalable Methods for </a:t>
            </a:r>
            <a:r>
              <a:rPr lang="fr-FR" sz="4000" dirty="0" err="1"/>
              <a:t>Knowledge</a:t>
            </a:r>
            <a:r>
              <a:rPr lang="fr-FR" sz="4000" dirty="0"/>
              <a:t> Graph </a:t>
            </a:r>
            <a:r>
              <a:rPr lang="fr-FR" sz="4000" dirty="0" err="1"/>
              <a:t>Reasoning</a:t>
            </a:r>
            <a:r>
              <a:rPr lang="fr-FR" sz="4000" dirty="0"/>
              <a:t> and </a:t>
            </a:r>
            <a:r>
              <a:rPr lang="fr-FR" sz="4000" dirty="0" err="1"/>
              <a:t>Generation</a:t>
            </a:r>
            <a:endParaRPr lang="fr-FR" sz="4000"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chor="ct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chor="ct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chor="ct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r>
                  <a:rPr lang="en-US" dirty="0">
                    <a:latin typeface="+mj-lt"/>
                  </a:rPr>
                  <a:t> </a:t>
                </a:r>
                <a:r>
                  <a:rPr lang="en-US" dirty="0">
                    <a:solidFill>
                      <a:schemeClr val="accent1"/>
                    </a:solidFill>
                    <a:latin typeface="+mj-lt"/>
                  </a:rPr>
                  <a:t>[4]</a:t>
                </a:r>
                <a:endParaRPr lang="en-CH" dirty="0">
                  <a:solidFill>
                    <a:schemeClr val="accent1"/>
                  </a:solidFill>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chor="ct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r>
              <a:rPr lang="en-US" dirty="0">
                <a:solidFill>
                  <a:schemeClr val="accent1"/>
                </a:solidFill>
                <a:latin typeface="+mj-lt"/>
              </a:rPr>
              <a:t>[7]</a:t>
            </a:r>
            <a:endParaRPr lang="en-CH" dirty="0">
              <a:solidFill>
                <a:schemeClr val="accent1"/>
              </a:solidFill>
              <a:latin typeface="+mj-lt"/>
            </a:endParaRP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chor="ct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 </a:t>
            </a:r>
            <a:r>
              <a:rPr lang="en-US" sz="1600" dirty="0">
                <a:solidFill>
                  <a:schemeClr val="accent1"/>
                </a:solidFill>
                <a:latin typeface="Franklin Gothic Demi Cond" panose="020B0706030402020204" pitchFamily="34" charset="0"/>
              </a:rPr>
              <a:t>[14]</a:t>
            </a:r>
            <a:endParaRPr lang="en-US" sz="1600" i="1" dirty="0">
              <a:solidFill>
                <a:schemeClr val="accent1"/>
              </a:solidFill>
              <a:latin typeface="Franklin Gothic Demi Cond" panose="020B0706030402020204" pitchFamily="34" charset="0"/>
            </a:endParaRP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Problem &amp; Challenges - 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chor="ctr">
                <a:normAutofit/>
              </a:bodyPr>
              <a:lstStyle/>
              <a:p>
                <a:r>
                  <a:rPr lang="en-US" dirty="0">
                    <a:latin typeface="+mj-lt"/>
                  </a:rPr>
                  <a:t>Split the knowledge graph into disjoint subsets, then distribute over a cluster </a:t>
                </a:r>
                <a:r>
                  <a:rPr lang="en-US" dirty="0">
                    <a:solidFill>
                      <a:schemeClr val="accent1"/>
                    </a:solidFill>
                    <a:latin typeface="+mj-lt"/>
                  </a:rPr>
                  <a:t>[8, 12]</a:t>
                </a:r>
              </a:p>
              <a:p>
                <a:r>
                  <a:rPr lang="en-US" dirty="0">
                    <a:latin typeface="+mj-lt"/>
                  </a:rPr>
                  <a:t>Cache intermediate results reused across multiple evaluation samples </a:t>
                </a:r>
                <a:r>
                  <a:rPr lang="en-US" dirty="0">
                    <a:solidFill>
                      <a:schemeClr val="accent1"/>
                    </a:solidFill>
                    <a:latin typeface="+mj-lt"/>
                  </a:rPr>
                  <a:t>[16, 20]</a:t>
                </a:r>
              </a:p>
              <a:p>
                <a:r>
                  <a:rPr lang="en-US" dirty="0">
                    <a:latin typeface="+mj-lt"/>
                  </a:rPr>
                  <a:t>Faster algorithms for sampling training data </a:t>
                </a:r>
                <a:r>
                  <a:rPr lang="en-US" dirty="0">
                    <a:solidFill>
                      <a:schemeClr val="accent1"/>
                    </a:solidFill>
                    <a:latin typeface="+mj-lt"/>
                  </a:rPr>
                  <a:t>[16, 20]</a:t>
                </a:r>
              </a:p>
              <a:p>
                <a:r>
                  <a:rPr lang="en-US" dirty="0">
                    <a:latin typeface="+mj-lt"/>
                  </a:rPr>
                  <a:t>Reduce memory complexity and the cost of slower run-time </a:t>
                </a:r>
                <a:r>
                  <a:rPr lang="en-US" dirty="0">
                    <a:solidFill>
                      <a:schemeClr val="accent1"/>
                    </a:solidFill>
                    <a:latin typeface="+mj-lt"/>
                  </a:rPr>
                  <a:t>[17, 19]</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r="-55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Community-Informed Graph Embeddings</a:t>
            </a:r>
            <a:br>
              <a:rPr lang="en-US" dirty="0"/>
            </a:br>
            <a:r>
              <a:rPr lang="en-US" sz="2400" b="0" i="1" dirty="0"/>
              <a:t>Problem &amp; Challenges - 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Background - 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chor="ct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chor="ct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b="-1153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chor="ct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 </a:t>
                </a:r>
                <a:r>
                  <a:rPr lang="en-US" dirty="0">
                    <a:solidFill>
                      <a:schemeClr val="accent1"/>
                    </a:solidFill>
                    <a:latin typeface="+mj-lt"/>
                  </a:rPr>
                  <a:t>[28]</a:t>
                </a:r>
                <a:endParaRPr lang="en-US" i="1" dirty="0">
                  <a:solidFill>
                    <a:schemeClr val="accent1"/>
                  </a:solidFill>
                  <a:latin typeface="+mj-lt"/>
                </a:endParaRP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162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chor="ct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54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nchor="ct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nchor="ct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Methodology - 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chor="ct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 </a:t>
            </a:r>
            <a:r>
              <a:rPr lang="en-US" dirty="0">
                <a:solidFill>
                  <a:schemeClr val="accent1"/>
                </a:solidFill>
                <a:latin typeface="+mj-lt"/>
              </a:rPr>
              <a:t>[9]</a:t>
            </a:r>
          </a:p>
          <a:p>
            <a:pPr lvl="1"/>
            <a:r>
              <a:rPr lang="en-US" dirty="0">
                <a:latin typeface="+mj-lt"/>
              </a:rPr>
              <a:t>Query2Box </a:t>
            </a:r>
            <a:r>
              <a:rPr lang="en-US" dirty="0">
                <a:solidFill>
                  <a:schemeClr val="accent1"/>
                </a:solidFill>
                <a:latin typeface="+mj-lt"/>
              </a:rPr>
              <a:t>[10]</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a:xfrm>
            <a:off x="904875" y="131032"/>
            <a:ext cx="4506119" cy="1072753"/>
          </a:xfrm>
        </p:spPr>
        <p:txBody>
          <a:bodyPr>
            <a:normAutofit fontScale="90000"/>
          </a:bodyPr>
          <a:lstStyle/>
          <a:p>
            <a:r>
              <a:rPr lang="en-US" dirty="0"/>
              <a:t>3.1	Community-Informed Graph Embeddings</a:t>
            </a:r>
            <a:br>
              <a:rPr lang="en-US" dirty="0"/>
            </a:br>
            <a:r>
              <a:rPr lang="en-US" sz="2400" b="0" i="1" dirty="0"/>
              <a:t>Methodology - 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Summary</a:t>
            </a:r>
            <a:r>
              <a:rPr lang="en-US" sz="2400" dirty="0"/>
              <a:t> </a:t>
            </a: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nchor="ct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*Distributed extension - 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chor="ct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*Distributed extension - 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chor="ct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541" b="-360"/>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 </a:t>
            </a:r>
            <a:r>
              <a:rPr lang="en-US" dirty="0">
                <a:solidFill>
                  <a:schemeClr val="accent1"/>
                </a:solidFill>
                <a:latin typeface="+mj-lt"/>
              </a:rPr>
              <a:t>[15]</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chor="ct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nchor="ct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3341052"/>
          </a:xfrm>
        </p:spPr>
        <p:txBody>
          <a:bodyPr anchor="ctr">
            <a:normAutofit/>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xit" presetSubtype="10" fill="hold" nodeType="withEffect">
                                  <p:stCondLst>
                                    <p:cond delay="0"/>
                                  </p:stCondLst>
                                  <p:childTnLst>
                                    <p:animEffect transition="out" filter="randombar(horizontal)">
                                      <p:cBhvr>
                                        <p:cTn id="35" dur="500"/>
                                        <p:tgtEl>
                                          <p:spTgt spid="3"/>
                                        </p:tgtEl>
                                      </p:cBhvr>
                                    </p:animEffect>
                                    <p:set>
                                      <p:cBhvr>
                                        <p:cTn id="36" dur="1" fill="hold">
                                          <p:stCondLst>
                                            <p:cond delay="499"/>
                                          </p:stCondLst>
                                        </p:cTn>
                                        <p:tgtEl>
                                          <p:spTgt spid="3"/>
                                        </p:tgtEl>
                                        <p:attrNameLst>
                                          <p:attrName>style.visibility</p:attrName>
                                        </p:attrNameLst>
                                      </p:cBhvr>
                                      <p:to>
                                        <p:strVal val="hidden"/>
                                      </p:to>
                                    </p:set>
                                  </p:childTnLst>
                                </p:cTn>
                              </p:par>
                              <p:par>
                                <p:cTn id="37" presetID="14" presetClass="entr" presetSubtype="10" fill="hold" nodeType="with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9" dur="500"/>
                                        <p:tgtEl>
                                          <p:spTgt spid="9">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4"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
        <p:nvSpPr>
          <p:cNvPr id="4" name="Content Placeholder 3">
            <a:extLst>
              <a:ext uri="{FF2B5EF4-FFF2-40B4-BE49-F238E27FC236}">
                <a16:creationId xmlns:a16="http://schemas.microsoft.com/office/drawing/2014/main" id="{0660FC9E-7CBB-2586-73BD-7BC541FD342A}"/>
              </a:ext>
            </a:extLst>
          </p:cNvPr>
          <p:cNvSpPr>
            <a:spLocks noGrp="1"/>
          </p:cNvSpPr>
          <p:nvPr>
            <p:ph idx="1"/>
          </p:nvPr>
        </p:nvSpPr>
        <p:spPr>
          <a:xfrm>
            <a:off x="904875" y="4065626"/>
            <a:ext cx="7726363" cy="884833"/>
          </a:xfrm>
        </p:spPr>
        <p:txBody>
          <a:bodyPr anchor="ctr">
            <a:normAutofit/>
          </a:bodyPr>
          <a:lstStyle/>
          <a:p>
            <a:r>
              <a:rPr lang="en-US" dirty="0">
                <a:latin typeface="+mj-lt"/>
              </a:rPr>
              <a:t>x728.7 evaluation acceleration, x228.36 less training memory</a:t>
            </a:r>
          </a:p>
          <a:p>
            <a:r>
              <a:rPr lang="en-GB" dirty="0">
                <a:latin typeface="+mj-lt"/>
              </a:rPr>
              <a:t>Experiments fitting in 64GB RAM, 16GB VRAM</a:t>
            </a:r>
          </a:p>
        </p:txBody>
      </p:sp>
      <p:pic>
        <p:nvPicPr>
          <p:cNvPr id="9"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ChangeAspect="1"/>
          </p:cNvPicPr>
          <p:nvPr/>
        </p:nvPicPr>
        <p:blipFill>
          <a:blip r:embed="rId3"/>
          <a:stretch>
            <a:fillRect/>
          </a:stretch>
        </p:blipFill>
        <p:spPr>
          <a:xfrm>
            <a:off x="904874" y="1351493"/>
            <a:ext cx="7726363" cy="2566425"/>
          </a:xfrm>
          <a:prstGeom prst="rect">
            <a:avLst/>
          </a:prstGeom>
        </p:spPr>
      </p:pic>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randombar(horizontal)">
                                      <p:cBhvr>
                                        <p:cTn id="12" dur="500"/>
                                        <p:tgtEl>
                                          <p:spTgt spid="4">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5"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chor="ct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726363" cy="1072753"/>
          </a:xfrm>
        </p:spPr>
        <p:txBody>
          <a:bodyPr>
            <a:normAutofit fontScale="90000"/>
          </a:bodyPr>
          <a:lstStyle/>
          <a:p>
            <a:r>
              <a:rPr lang="en-US" sz="3600" dirty="0"/>
              <a:t>4.1	Geometric Graph Generation with CRPs</a:t>
            </a:r>
            <a:br>
              <a:rPr lang="en-US" sz="3600" dirty="0"/>
            </a:br>
            <a:r>
              <a:rPr lang="en-US" sz="2700" b="0" i="1" dirty="0"/>
              <a:t>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chor="ct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 </a:t>
                </a:r>
                <a:r>
                  <a:rPr lang="en-US" dirty="0">
                    <a:solidFill>
                      <a:schemeClr val="accent1"/>
                    </a:solidFill>
                    <a:latin typeface="+mj-lt"/>
                  </a:rPr>
                  <a:t>[6]</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p:txBody>
          </p:sp>
        </mc:Choice>
        <mc:Fallback xmlns="">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Background - 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chor="ct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xmlns="">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GG-GAN </a:t>
            </a:r>
            <a:r>
              <a:rPr lang="en-US" sz="2400" b="0" i="1" dirty="0">
                <a:solidFill>
                  <a:schemeClr val="accent1"/>
                </a:solidFill>
              </a:rPr>
              <a:t>[13]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5109064" cy="3263504"/>
              </a:xfrm>
            </p:spPr>
            <p:txBody>
              <a:bodyPr anchor="ctr">
                <a:normAutofit fontScale="925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r>
                      <a:rPr lang="en-US" b="0" i="0" smtClean="0">
                        <a:latin typeface="Cambria Math" panose="02040503050406030204" pitchFamily="18" charset="0"/>
                      </a:rPr>
                      <m:t> </m:t>
                    </m:r>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5109064" cy="3263504"/>
              </a:xfrm>
              <a:blipFill>
                <a:blip r:embed="rId3"/>
                <a:stretch>
                  <a:fillRect t="-1495" b="-187"/>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The Chinese Restaurant Process (CRP)</a:t>
            </a:r>
            <a:r>
              <a:rPr lang="en-US" sz="2400" b="0" dirty="0"/>
              <a:t> </a:t>
            </a:r>
            <a:r>
              <a:rPr lang="en-US" sz="2400" b="0" i="1" dirty="0">
                <a:solidFill>
                  <a:schemeClr val="accent1"/>
                </a:solidFill>
              </a:rPr>
              <a:t>[2]</a:t>
            </a:r>
            <a:r>
              <a:rPr lang="en-US" sz="2400" b="0" i="1" dirty="0"/>
              <a:t> </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chor="ct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Methodology - 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a:xfrm>
            <a:off x="904875" y="1563688"/>
            <a:ext cx="3763840" cy="3263504"/>
          </a:xfrm>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 </a:t>
            </a:r>
            <a:r>
              <a:rPr lang="en-US" dirty="0">
                <a:solidFill>
                  <a:schemeClr val="accent1"/>
                </a:solidFill>
                <a:latin typeface="+mj-lt"/>
              </a:rPr>
              <a:t>[1]</a:t>
            </a:r>
          </a:p>
          <a:p>
            <a:r>
              <a:rPr lang="en-US" dirty="0">
                <a:latin typeface="+mj-lt"/>
              </a:rPr>
              <a:t>Weighted integer partition sampling</a:t>
            </a:r>
          </a:p>
          <a:p>
            <a:pPr lvl="1"/>
            <a:r>
              <a:rPr lang="en-US" dirty="0" err="1">
                <a:latin typeface="+mj-lt"/>
              </a:rPr>
              <a:t>Fristedt’s</a:t>
            </a:r>
            <a:r>
              <a:rPr lang="en-US" dirty="0">
                <a:latin typeface="+mj-lt"/>
              </a:rPr>
              <a:t> method </a:t>
            </a:r>
            <a:r>
              <a:rPr lang="en-US" dirty="0">
                <a:solidFill>
                  <a:schemeClr val="accent1"/>
                </a:solidFill>
                <a:latin typeface="+mj-lt"/>
              </a:rPr>
              <a:t>[3]</a:t>
            </a:r>
            <a:r>
              <a:rPr lang="en-US" dirty="0">
                <a:latin typeface="+mj-lt"/>
              </a:rPr>
              <a:t>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chor="ctr">
            <a:normAutofit/>
          </a:bodyPr>
          <a:lstStyle/>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7" dur="500"/>
                                        <p:tgtEl>
                                          <p:spTgt spid="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2" dur="500"/>
                                        <p:tgtEl>
                                          <p:spTgt spid="9">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chor="ct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xmlns="">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normAutofit fontScale="90000"/>
          </a:bodyPr>
          <a:lstStyle/>
          <a:p>
            <a:r>
              <a:rPr lang="en-US" sz="3600" dirty="0"/>
              <a:t>4.1	Geometric Graph Generation with CRPs</a:t>
            </a:r>
            <a:br>
              <a:rPr lang="en-US" sz="3600" dirty="0"/>
            </a:br>
            <a:r>
              <a:rPr lang="en-US" sz="2700" b="0" i="1" dirty="0"/>
              <a:t>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chor="ctr">
            <a:normAutofit/>
          </a:bodyPr>
          <a:lstStyle/>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a:t>
            </a:r>
            <a:r>
              <a:rPr lang="en-US" dirty="0">
                <a:solidFill>
                  <a:schemeClr val="accent1"/>
                </a:solidFill>
                <a:latin typeface="+mj-lt"/>
              </a:rPr>
              <a:t>[22, 23, 24]</a:t>
            </a:r>
            <a:r>
              <a:rPr lang="en-US" dirty="0">
                <a:latin typeface="+mj-lt"/>
              </a:rPr>
              <a:t> with new model designs, theoretical analyses and improved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chor="ct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p:txBody>
          </p:sp>
        </mc:Choice>
        <mc:Fallback xmlns="">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r="-63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Diffusion models </a:t>
            </a:r>
            <a:r>
              <a:rPr lang="en-US" sz="2400" b="0" i="1" dirty="0">
                <a:solidFill>
                  <a:schemeClr val="accent1"/>
                </a:solidFill>
              </a:rPr>
              <a:t>[5]</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chor="ctr">
                <a:normAutofit fontScale="92500" lnSpcReduction="10000"/>
              </a:bodyPr>
              <a:lstStyle/>
              <a:p>
                <a:r>
                  <a:rPr lang="en-US" sz="2100" dirty="0">
                    <a:latin typeface="+mj-lt"/>
                  </a:rPr>
                  <a:t>Discrete diffusion process of </a:t>
                </a:r>
                <a:r>
                  <a:rPr lang="en-US" sz="2100" dirty="0" err="1">
                    <a:latin typeface="+mj-lt"/>
                  </a:rPr>
                  <a:t>DiGress</a:t>
                </a:r>
                <a:r>
                  <a:rPr lang="en-US" sz="2100" dirty="0">
                    <a:latin typeface="+mj-lt"/>
                  </a:rPr>
                  <a:t> </a:t>
                </a:r>
                <a:r>
                  <a:rPr lang="en-US" sz="2100" dirty="0">
                    <a:solidFill>
                      <a:schemeClr val="accent1"/>
                    </a:solidFill>
                    <a:latin typeface="+mj-lt"/>
                  </a:rPr>
                  <a:t>[18]</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p:txBody>
          </p:sp>
        </mc:Choice>
        <mc:Fallback>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t="-198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1625814" y="1565789"/>
            <a:ext cx="2600688" cy="2409209"/>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4947441" y="1563693"/>
            <a:ext cx="2316803" cy="2411305"/>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i="1"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AED520B3-C76A-3FA4-12AC-A017E43308F2}"/>
                  </a:ext>
                </a:extLst>
              </p:cNvPr>
              <p:cNvSpPr txBox="1"/>
              <p:nvPr/>
            </p:nvSpPr>
            <p:spPr>
              <a:xfrm>
                <a:off x="904874" y="3974998"/>
                <a:ext cx="7726363" cy="768095"/>
              </a:xfrm>
              <a:prstGeom prst="rect">
                <a:avLst/>
              </a:prstGeom>
              <a:noFill/>
            </p:spPr>
            <p:txBody>
              <a:bodyPr wrap="square" anchor="ctr">
                <a:spAutoFit/>
              </a:bodyPr>
              <a:lstStyle/>
              <a:p>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ℙ</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𝐺</m:t>
                          </m:r>
                        </m:e>
                      </m:d>
                      <m:r>
                        <a:rPr lang="en-US" sz="1400" b="0" i="1" smtClean="0">
                          <a:latin typeface="Cambria Math" panose="02040503050406030204" pitchFamily="18" charset="0"/>
                        </a:rPr>
                        <m:t>=</m:t>
                      </m:r>
                      <m:r>
                        <a:rPr lang="en-US" sz="1400" b="0" i="1" smtClean="0">
                          <a:latin typeface="Cambria Math" panose="02040503050406030204" pitchFamily="18" charset="0"/>
                        </a:rPr>
                        <m:t>ℙ</m:t>
                      </m:r>
                      <m:d>
                        <m:dPr>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𝐺</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𝐿</m:t>
                                  </m:r>
                                </m:e>
                              </m:d>
                            </m:sup>
                          </m:sSup>
                        </m:e>
                      </m:d>
                      <m:nary>
                        <m:naryPr>
                          <m:chr m:val="∏"/>
                          <m:ctrlPr>
                            <a:rPr lang="en-US" sz="1400" b="0" i="1" smtClean="0">
                              <a:latin typeface="Cambria Math" panose="02040503050406030204" pitchFamily="18" charset="0"/>
                            </a:rPr>
                          </m:ctrlPr>
                        </m:naryPr>
                        <m:sub>
                          <m:r>
                            <a:rPr lang="en-US" sz="1400" b="0" i="1" smtClean="0">
                              <a:latin typeface="Cambria Math" panose="02040503050406030204" pitchFamily="18" charset="0"/>
                            </a:rPr>
                            <m:t>𝑙</m:t>
                          </m:r>
                          <m:r>
                            <a:rPr lang="en-US" sz="1400" b="0" i="1" smtClean="0">
                              <a:latin typeface="Cambria Math" panose="02040503050406030204" pitchFamily="18" charset="0"/>
                            </a:rPr>
                            <m:t>=1</m:t>
                          </m:r>
                        </m:sub>
                        <m:sup>
                          <m:r>
                            <a:rPr lang="en-US" sz="1400" b="0" i="1" smtClean="0">
                              <a:latin typeface="Cambria Math" panose="02040503050406030204" pitchFamily="18" charset="0"/>
                            </a:rPr>
                            <m:t>𝐿</m:t>
                          </m:r>
                          <m:r>
                            <a:rPr lang="en-US" sz="1400" b="0" i="1" smtClean="0">
                              <a:latin typeface="Cambria Math" panose="02040503050406030204" pitchFamily="18" charset="0"/>
                            </a:rPr>
                            <m:t>−1</m:t>
                          </m:r>
                        </m:sup>
                        <m:e>
                          <m:r>
                            <a:rPr lang="en-US" sz="1400" b="0" i="1" smtClean="0">
                              <a:latin typeface="Cambria Math" panose="02040503050406030204" pitchFamily="18" charset="0"/>
                            </a:rPr>
                            <m:t>ℙ</m:t>
                          </m:r>
                          <m:d>
                            <m:dPr>
                              <m:sepChr m:val="∣"/>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𝐺</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𝑙</m:t>
                                      </m:r>
                                    </m:e>
                                  </m:d>
                                </m:sup>
                              </m:sSup>
                            </m:e>
                            <m:e>
                              <m:sSup>
                                <m:sSupPr>
                                  <m:ctrlPr>
                                    <a:rPr lang="en-US" sz="1400" b="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b="0" i="1" smtClean="0">
                                          <a:latin typeface="Cambria Math" panose="02040503050406030204" pitchFamily="18" charset="0"/>
                                        </a:rPr>
                                        <m:t>+1</m:t>
                                      </m:r>
                                    </m:e>
                                  </m:d>
                                </m:sup>
                              </m:sSup>
                            </m:e>
                          </m:d>
                        </m:e>
                      </m:nary>
                      <m:r>
                        <a:rPr lang="en-US" sz="1400" b="0" i="1" smtClean="0">
                          <a:latin typeface="Cambria Math" panose="02040503050406030204" pitchFamily="18" charset="0"/>
                        </a:rPr>
                        <m:t>=</m:t>
                      </m:r>
                      <m:r>
                        <a:rPr lang="en-US" sz="1400" i="1">
                          <a:latin typeface="Cambria Math" panose="02040503050406030204" pitchFamily="18" charset="0"/>
                        </a:rPr>
                        <m:t>ℙ</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𝐺</m:t>
                              </m:r>
                            </m:e>
                            <m:sub>
                              <m:r>
                                <a:rPr lang="en-US" sz="1400" b="0" i="1" smtClean="0">
                                  <a:latin typeface="Cambria Math" panose="02040503050406030204" pitchFamily="18" charset="0"/>
                                </a:rPr>
                                <m:t>𝑅</m:t>
                              </m:r>
                            </m:sub>
                          </m:sSub>
                        </m:e>
                      </m:d>
                      <m:nary>
                        <m:naryPr>
                          <m:chr m:val="∏"/>
                          <m:ctrlPr>
                            <a:rPr lang="en-US" sz="1400" i="1">
                              <a:latin typeface="Cambria Math" panose="02040503050406030204" pitchFamily="18" charset="0"/>
                            </a:rPr>
                          </m:ctrlPr>
                        </m:naryPr>
                        <m:sub>
                          <m:r>
                            <a:rPr lang="en-US" sz="1400" i="1">
                              <a:latin typeface="Cambria Math" panose="02040503050406030204" pitchFamily="18" charset="0"/>
                            </a:rPr>
                            <m:t>𝑙</m:t>
                          </m:r>
                          <m:r>
                            <a:rPr lang="en-US" sz="1400" i="1">
                              <a:latin typeface="Cambria Math" panose="02040503050406030204" pitchFamily="18" charset="0"/>
                            </a:rPr>
                            <m:t>=1</m:t>
                          </m:r>
                        </m:sub>
                        <m:sup>
                          <m:r>
                            <a:rPr lang="en-US" sz="1400" i="1">
                              <a:latin typeface="Cambria Math" panose="02040503050406030204" pitchFamily="18" charset="0"/>
                            </a:rPr>
                            <m:t>𝐿</m:t>
                          </m:r>
                          <m:r>
                            <a:rPr lang="en-US" sz="1400" i="1">
                              <a:latin typeface="Cambria Math" panose="02040503050406030204" pitchFamily="18" charset="0"/>
                            </a:rPr>
                            <m:t>−1</m:t>
                          </m:r>
                        </m:sup>
                        <m:e>
                          <m:nary>
                            <m:naryPr>
                              <m:chr m:val="∏"/>
                              <m:ctrlPr>
                                <a:rPr lang="en-US" sz="1400" i="1">
                                  <a:latin typeface="Cambria Math" panose="02040503050406030204" pitchFamily="18" charset="0"/>
                                </a:rPr>
                              </m:ctrlPr>
                            </m:naryPr>
                            <m:sub>
                              <m:r>
                                <a:rPr lang="en-US" sz="1400" b="0" i="1" smtClean="0">
                                  <a:latin typeface="Cambria Math" panose="02040503050406030204" pitchFamily="18" charset="0"/>
                                </a:rPr>
                                <m:t>𝑘</m:t>
                              </m:r>
                              <m:r>
                                <a:rPr lang="en-US" sz="1400" i="1">
                                  <a:latin typeface="Cambria Math" panose="02040503050406030204" pitchFamily="18" charset="0"/>
                                </a:rPr>
                                <m:t>=1</m:t>
                              </m:r>
                            </m:sub>
                            <m:sup>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𝑛</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𝑙</m:t>
                                      </m:r>
                                      <m:r>
                                        <a:rPr lang="en-US" sz="1400" b="0" i="1" smtClean="0">
                                          <a:latin typeface="Cambria Math" panose="02040503050406030204" pitchFamily="18" charset="0"/>
                                        </a:rPr>
                                        <m:t>+1</m:t>
                                      </m:r>
                                    </m:e>
                                  </m:d>
                                </m:sup>
                              </m:sSup>
                            </m:sup>
                            <m:e>
                              <m:r>
                                <a:rPr lang="en-US" sz="1400" i="1">
                                  <a:latin typeface="Cambria Math" panose="02040503050406030204" pitchFamily="18" charset="0"/>
                                </a:rPr>
                                <m:t>ℙ</m:t>
                              </m:r>
                              <m:d>
                                <m:dPr>
                                  <m:sepChr m:val="∣"/>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𝐶</m:t>
                                          </m:r>
                                        </m:e>
                                        <m:sub>
                                          <m:r>
                                            <a:rPr lang="en-US" sz="1400" b="0" i="1" smtClean="0">
                                              <a:latin typeface="Cambria Math" panose="02040503050406030204" pitchFamily="18" charset="0"/>
                                            </a:rPr>
                                            <m:t>𝑘</m:t>
                                          </m:r>
                                        </m:sub>
                                      </m:sSub>
                                    </m:e>
                                    <m:sup>
                                      <m:d>
                                        <m:dPr>
                                          <m:ctrlPr>
                                            <a:rPr lang="en-US" sz="1400" i="1">
                                              <a:latin typeface="Cambria Math" panose="02040503050406030204" pitchFamily="18" charset="0"/>
                                            </a:rPr>
                                          </m:ctrlPr>
                                        </m:dPr>
                                        <m:e>
                                          <m:r>
                                            <a:rPr lang="en-US" sz="1400" i="1">
                                              <a:latin typeface="Cambria Math" panose="02040503050406030204" pitchFamily="18" charset="0"/>
                                            </a:rPr>
                                            <m:t>𝑙</m:t>
                                          </m:r>
                                        </m:e>
                                      </m:d>
                                    </m:sup>
                                  </m:sSup>
                                </m:e>
                                <m:e>
                                  <m:sSup>
                                    <m:sSupPr>
                                      <m:ctrlPr>
                                        <a:rPr lang="en-US" sz="140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i="1">
                                              <a:latin typeface="Cambria Math" panose="02040503050406030204" pitchFamily="18" charset="0"/>
                                            </a:rPr>
                                            <m:t>+1</m:t>
                                          </m:r>
                                        </m:e>
                                      </m:d>
                                    </m:sup>
                                  </m:sSup>
                                </m:e>
                              </m:d>
                            </m:e>
                          </m:nary>
                        </m:e>
                      </m:nary>
                      <m:nary>
                        <m:naryPr>
                          <m:chr m:val="∏"/>
                          <m:supHide m:val="on"/>
                          <m:ctrlPr>
                            <a:rPr lang="en-US" sz="1400" i="1">
                              <a:latin typeface="Cambria Math" panose="02040503050406030204" pitchFamily="18" charset="0"/>
                            </a:rPr>
                          </m:ctrlPr>
                        </m:naryPr>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up/>
                        <m:e>
                          <m:r>
                            <a:rPr lang="en-US" sz="1400" i="1">
                              <a:latin typeface="Cambria Math" panose="02040503050406030204" pitchFamily="18" charset="0"/>
                            </a:rPr>
                            <m:t>ℙ</m:t>
                          </m:r>
                          <m:d>
                            <m:dPr>
                              <m:sepChr m:val="∣"/>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𝐵</m:t>
                                      </m:r>
                                    </m:e>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Sub>
                                </m:e>
                                <m:sup>
                                  <m:d>
                                    <m:dPr>
                                      <m:ctrlPr>
                                        <a:rPr lang="en-US" sz="1400" i="1">
                                          <a:latin typeface="Cambria Math" panose="02040503050406030204" pitchFamily="18" charset="0"/>
                                        </a:rPr>
                                      </m:ctrlPr>
                                    </m:dPr>
                                    <m:e>
                                      <m:r>
                                        <a:rPr lang="en-US" sz="1400" i="1">
                                          <a:latin typeface="Cambria Math" panose="02040503050406030204" pitchFamily="18" charset="0"/>
                                        </a:rPr>
                                        <m:t>𝑙</m:t>
                                      </m:r>
                                    </m:e>
                                  </m:d>
                                </m:sup>
                              </m:sSup>
                            </m:e>
                            <m:e>
                              <m:sSup>
                                <m:sSupPr>
                                  <m:ctrlPr>
                                    <a:rPr lang="en-US" sz="140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i="1">
                                          <a:latin typeface="Cambria Math" panose="02040503050406030204" pitchFamily="18" charset="0"/>
                                        </a:rPr>
                                        <m:t>+1</m:t>
                                      </m:r>
                                    </m:e>
                                  </m:d>
                                </m:sup>
                              </m:sSup>
                            </m:e>
                          </m:d>
                        </m:e>
                      </m:nary>
                    </m:oMath>
                  </m:oMathPara>
                </a14:m>
                <a:endParaRPr lang="en-US" dirty="0">
                  <a:latin typeface="+mj-lt"/>
                </a:endParaRPr>
              </a:p>
            </p:txBody>
          </p:sp>
        </mc:Choice>
        <mc:Fallback>
          <p:sp>
            <p:nvSpPr>
              <p:cNvPr id="3" name="TextBox 2">
                <a:extLst>
                  <a:ext uri="{FF2B5EF4-FFF2-40B4-BE49-F238E27FC236}">
                    <a16:creationId xmlns:a16="http://schemas.microsoft.com/office/drawing/2014/main" id="{AED520B3-C76A-3FA4-12AC-A017E43308F2}"/>
                  </a:ext>
                </a:extLst>
              </p:cNvPr>
              <p:cNvSpPr txBox="1">
                <a:spLocks noRot="1" noChangeAspect="1" noMove="1" noResize="1" noEditPoints="1" noAdjustHandles="1" noChangeArrowheads="1" noChangeShapeType="1" noTextEdit="1"/>
              </p:cNvSpPr>
              <p:nvPr/>
            </p:nvSpPr>
            <p:spPr>
              <a:xfrm>
                <a:off x="904874" y="3974998"/>
                <a:ext cx="7726363" cy="768095"/>
              </a:xfrm>
              <a:prstGeom prst="rect">
                <a:avLst/>
              </a:prstGeom>
              <a:blipFill>
                <a:blip r:embed="rId5"/>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4" presetClass="entr" presetSubtype="10" fill="hold" grpId="0" nodeType="click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randombar(horizontal)">
                                      <p:cBhvr>
                                        <p:cTn id="1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chor="ct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xmlns="">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chor="ct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xmlns="">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0271"/>
            <a:ext cx="7726363" cy="1072753"/>
          </a:xfrm>
        </p:spPr>
        <p:txBody>
          <a:bodyPr>
            <a:normAutofit/>
          </a:bodyPr>
          <a:lstStyle/>
          <a:p>
            <a:r>
              <a:rPr lang="en-US" dirty="0"/>
              <a:t>4.2	Hierarchical Generative Graph Diffusion</a:t>
            </a:r>
            <a:br>
              <a:rPr lang="en-US"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nchor="ctr"/>
          <a:lstStyle/>
          <a:p>
            <a:r>
              <a:rPr lang="en-CH" dirty="0">
                <a:latin typeface="+mj-lt"/>
              </a:rPr>
              <a:t>Leveraged inherent modularity in real-world graph data to model and sample from complex distributions of graphs</a:t>
            </a:r>
          </a:p>
          <a:p>
            <a:r>
              <a:rPr lang="en-CH" dirty="0">
                <a:latin typeface="+mj-lt"/>
              </a:rPr>
              <a:t>Mirror image of COINs onto the graph generation domain </a:t>
            </a:r>
            <a:r>
              <a:rPr lang="en-GB" dirty="0">
                <a:latin typeface="+mj-lt"/>
              </a:rPr>
              <a:t>with further generalization</a:t>
            </a: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Autofit/>
          </a:bodyPr>
          <a:lstStyle/>
          <a:p>
            <a:r>
              <a:rPr lang="en-US" dirty="0"/>
              <a:t>4.3	Multi-measurement Diffusion Methods</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nchor="ct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p:txBody>
          </p:sp>
        </mc:Choice>
        <mc:Fallback xmlns="">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chor="ct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p:txBody>
          </p:sp>
        </mc:Choice>
        <mc:Fallback xmlns="">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2625" b="-2100"/>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59</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nchor="ctr"/>
          <a:lstStyle/>
          <a:p>
            <a:r>
              <a:rPr lang="en-US" b="0" dirty="0">
                <a:latin typeface="+mj-lt"/>
              </a:rPr>
              <a:t>A collection of generators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idx="1"/>
          </p:nvPr>
        </p:nvSpPr>
        <p:spPr/>
        <p:txBody>
          <a:bodyPr anchor="ctr">
            <a:normAutofit/>
          </a:bodyPr>
          <a:lstStyle/>
          <a:p>
            <a:r>
              <a:rPr lang="en-US" b="0" dirty="0">
                <a:latin typeface="+mj-lt"/>
              </a:rPr>
              <a:t>Related work - multi-measurements + proximal sampling</a:t>
            </a:r>
          </a:p>
          <a:p>
            <a:r>
              <a:rPr lang="en-US" dirty="0">
                <a:latin typeface="+mj-lt"/>
              </a:rPr>
              <a:t>Multi-measurements of Saremi et al. </a:t>
            </a:r>
            <a:r>
              <a:rPr lang="en-US" dirty="0">
                <a:solidFill>
                  <a:schemeClr val="accent1"/>
                </a:solidFill>
                <a:latin typeface="+mj-lt"/>
              </a:rPr>
              <a:t>[25]</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 </a:t>
            </a:r>
            <a:r>
              <a:rPr lang="en-US" dirty="0">
                <a:solidFill>
                  <a:schemeClr val="accent1"/>
                </a:solidFill>
                <a:latin typeface="+mj-lt"/>
              </a:rPr>
              <a:t>[11]</a:t>
            </a:r>
          </a:p>
          <a:p>
            <a:pPr lvl="1"/>
            <a:r>
              <a:rPr lang="en-US" dirty="0">
                <a:latin typeface="+mj-lt"/>
              </a:rPr>
              <a:t>Reducing the difficulty of sampling at high noise levels</a:t>
            </a:r>
          </a:p>
          <a:p>
            <a:pPr lvl="1"/>
            <a:r>
              <a:rPr lang="en-US" b="0" i="1" dirty="0">
                <a:latin typeface="+mj-lt"/>
              </a:rPr>
              <a:t>Heuristics</a:t>
            </a:r>
          </a:p>
        </p:txBody>
      </p:sp>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62</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63</a:t>
            </a:fld>
            <a:endParaRPr lang="fr-FR" dirty="0"/>
          </a:p>
        </p:txBody>
      </p:sp>
      <p:pic>
        <p:nvPicPr>
          <p:cNvPr id="2" name="Content Placeholder 1" descr="A group of small black and red symbols&#10;&#10;AI-generated content may be incorrect.">
            <a:extLst>
              <a:ext uri="{FF2B5EF4-FFF2-40B4-BE49-F238E27FC236}">
                <a16:creationId xmlns:a16="http://schemas.microsoft.com/office/drawing/2014/main" id="{36FC7E3C-715E-4733-D618-C74D022A1C61}"/>
              </a:ext>
            </a:extLst>
          </p:cNvPr>
          <p:cNvPicPr>
            <a:picLocks noGrp="1" noChangeAspect="1"/>
          </p:cNvPicPr>
          <p:nvPr>
            <p:ph idx="1"/>
          </p:nvPr>
        </p:nvPicPr>
        <p:blipFill>
          <a:blip r:embed="rId3"/>
          <a:stretch>
            <a:fillRect/>
          </a:stretch>
        </p:blipFill>
        <p:spPr>
          <a:xfrm>
            <a:off x="904875" y="1977152"/>
            <a:ext cx="7726363" cy="2317908"/>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407381-7935-1A6B-E0F0-07CE5B4A9A3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FA8CA73-D5C7-F855-A3D7-3990540A7B8F}"/>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58B2401A-4F74-3EA1-3BE6-7E9AC3624E5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445EBE5-D667-F066-DDCC-61033C4D6EE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7CC459F-AD88-4419-6823-D3A43E2A4C8C}"/>
              </a:ext>
            </a:extLst>
          </p:cNvPr>
          <p:cNvSpPr>
            <a:spLocks noGrp="1"/>
          </p:cNvSpPr>
          <p:nvPr>
            <p:ph type="sldNum" sz="quarter" idx="12"/>
          </p:nvPr>
        </p:nvSpPr>
        <p:spPr/>
        <p:txBody>
          <a:bodyPr/>
          <a:lstStyle/>
          <a:p>
            <a:fld id="{E1E1CD7C-2161-7D43-862E-CE4C333CD873}" type="slidenum">
              <a:rPr lang="fr-FR" smtClean="0"/>
              <a:pPr/>
              <a:t>64</a:t>
            </a:fld>
            <a:endParaRPr lang="fr-FR" dirty="0"/>
          </a:p>
        </p:txBody>
      </p:sp>
      <p:sp>
        <p:nvSpPr>
          <p:cNvPr id="3" name="Content Placeholder 2">
            <a:extLst>
              <a:ext uri="{FF2B5EF4-FFF2-40B4-BE49-F238E27FC236}">
                <a16:creationId xmlns:a16="http://schemas.microsoft.com/office/drawing/2014/main" id="{0D11E286-F5FE-FD6F-3139-705832538142}"/>
              </a:ext>
            </a:extLst>
          </p:cNvPr>
          <p:cNvSpPr>
            <a:spLocks noGrp="1"/>
          </p:cNvSpPr>
          <p:nvPr>
            <p:ph idx="1"/>
          </p:nvPr>
        </p:nvSpPr>
        <p:spPr>
          <a:xfrm>
            <a:off x="904875" y="1407201"/>
            <a:ext cx="7726363" cy="3497540"/>
          </a:xfrm>
        </p:spPr>
        <p:txBody>
          <a:bodyPr anchor="ct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spTree>
    <p:extLst>
      <p:ext uri="{BB962C8B-B14F-4D97-AF65-F5344CB8AC3E}">
        <p14:creationId xmlns:p14="http://schemas.microsoft.com/office/powerpoint/2010/main" val="3872209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fontScale="90000"/>
          </a:bodyPr>
          <a:lstStyle/>
          <a:p>
            <a:r>
              <a:rPr lang="en-US" sz="3600" dirty="0"/>
              <a:t>4.3	Multi-measurement Diffusion Methods</a:t>
            </a:r>
            <a:br>
              <a:rPr lang="en-US" sz="3600" dirty="0"/>
            </a:br>
            <a:r>
              <a:rPr lang="en-US" sz="2700" b="0" i="1" dirty="0"/>
              <a:t>*The </a:t>
            </a:r>
            <a:r>
              <a:rPr lang="en-US" sz="2700" b="0" i="1" dirty="0" err="1"/>
              <a:t>MultiProxAn</a:t>
            </a:r>
            <a:r>
              <a:rPr lang="en-US" sz="2700" b="0" i="1"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66</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nchor="ctr"/>
              <a:lstStyle/>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xmlns="">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8" dur="5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16C58-B13A-6D70-7E1B-16E347AFB28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2B1F8ED-A635-26A4-FBD9-A0DDFCDCCCDD}"/>
                  </a:ext>
                </a:extLst>
              </p:cNvPr>
              <p:cNvSpPr>
                <a:spLocks noGrp="1"/>
              </p:cNvSpPr>
              <p:nvPr>
                <p:ph idx="1"/>
              </p:nvPr>
            </p:nvSpPr>
            <p:spPr/>
            <p:txBody>
              <a:bodyPr anchor="ctr"/>
              <a:lstStyle/>
              <a:p>
                <a:r>
                  <a:rPr lang="en-US" dirty="0">
                    <a:latin typeface="+mj-lt"/>
                  </a:rPr>
                  <a:t>Why no generation experiments for knowledge graphs?</a:t>
                </a:r>
              </a:p>
              <a:p>
                <a:pPr lvl="1"/>
                <a:r>
                  <a:rPr lang="en-US" dirty="0">
                    <a:latin typeface="+mj-lt"/>
                  </a:rPr>
                  <a:t>Knowledge base data is curated and follows schemas</a:t>
                </a:r>
              </a:p>
              <a:p>
                <a:pPr lvl="1"/>
                <a:r>
                  <a:rPr lang="en-US" dirty="0">
                    <a:latin typeface="+mj-lt"/>
                  </a:rPr>
                  <a:t>No inherent stochasticity, thus no distribution of graph structures to learn</a:t>
                </a:r>
              </a:p>
              <a:p>
                <a:pPr lvl="1"/>
                <a:r>
                  <a:rPr lang="en-US" dirty="0">
                    <a:latin typeface="+mj-lt"/>
                  </a:rPr>
                  <a:t>Focus on reasoning for new real knowledge instead of generating fake facts</a:t>
                </a:r>
              </a:p>
              <a:p>
                <a:r>
                  <a:rPr lang="en-GB" dirty="0">
                    <a:latin typeface="+mj-lt"/>
                  </a:rPr>
                  <a:t>“No stochasticity”, well…</a:t>
                </a:r>
              </a:p>
              <a:p>
                <a:pPr lvl="1"/>
                <a:r>
                  <a:rPr lang="en-GB" dirty="0">
                    <a:latin typeface="+mj-lt"/>
                  </a:rPr>
                  <a:t>In practice many anomalies are present in knowledge bases</a:t>
                </a:r>
              </a:p>
              <a:p>
                <a:pPr lvl="1"/>
                <a:r>
                  <a:rPr lang="en-GB" dirty="0">
                    <a:latin typeface="+mj-lt"/>
                  </a:rPr>
                  <a:t>False positive and false negative relation triplets</a:t>
                </a:r>
              </a:p>
              <a:p>
                <a:pPr lvl="1"/>
                <a:r>
                  <a:rPr lang="en-GB" dirty="0">
                    <a:latin typeface="+mj-lt"/>
                  </a:rPr>
                  <a:t>Causes: merging heterogeneous knowledge sources and AI-guided data injection</a:t>
                </a:r>
              </a:p>
              <a:p>
                <a:r>
                  <a:rPr lang="en-GB" dirty="0">
                    <a:latin typeface="+mj-lt"/>
                  </a:rPr>
                  <a:t>Setting - set of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latin typeface="+mj-lt"/>
                  </a:rPr>
                  <a:t> blocks of the KG adjacency matrix as noisy subgraph input</a:t>
                </a:r>
              </a:p>
            </p:txBody>
          </p:sp>
        </mc:Choice>
        <mc:Fallback xmlns="">
          <p:sp>
            <p:nvSpPr>
              <p:cNvPr id="4" name="Content Placeholder 3">
                <a:extLst>
                  <a:ext uri="{FF2B5EF4-FFF2-40B4-BE49-F238E27FC236}">
                    <a16:creationId xmlns:a16="http://schemas.microsoft.com/office/drawing/2014/main" id="{C2B1F8ED-A635-26A4-FBD9-A0DDFCDCCCD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E313BCF4-9868-6122-66AF-3B9B006FCE04}"/>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Anomalous knowledge</a:t>
            </a:r>
            <a:endParaRPr lang="en-GB" sz="2400" b="0" i="1" dirty="0"/>
          </a:p>
        </p:txBody>
      </p:sp>
      <p:sp>
        <p:nvSpPr>
          <p:cNvPr id="5" name="Date Placeholder 4">
            <a:extLst>
              <a:ext uri="{FF2B5EF4-FFF2-40B4-BE49-F238E27FC236}">
                <a16:creationId xmlns:a16="http://schemas.microsoft.com/office/drawing/2014/main" id="{6C0602F6-B1B9-968E-0DFD-B0EA05ED4C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FB08F74-4264-62A8-51C2-020080A4871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EF5403-D916-624A-23C9-10F78A62C8F8}"/>
              </a:ext>
            </a:extLst>
          </p:cNvPr>
          <p:cNvSpPr>
            <a:spLocks noGrp="1"/>
          </p:cNvSpPr>
          <p:nvPr>
            <p:ph type="sldNum" sz="quarter" idx="12"/>
          </p:nvPr>
        </p:nvSpPr>
        <p:spPr/>
        <p:txBody>
          <a:bodyPr/>
          <a:lstStyle/>
          <a:p>
            <a:fld id="{E1E1CD7C-2161-7D43-862E-CE4C333CD873}" type="slidenum">
              <a:rPr lang="fr-FR" smtClean="0"/>
              <a:pPr/>
              <a:t>68</a:t>
            </a:fld>
            <a:endParaRPr lang="fr-FR" dirty="0"/>
          </a:p>
        </p:txBody>
      </p:sp>
    </p:spTree>
    <p:extLst>
      <p:ext uri="{BB962C8B-B14F-4D97-AF65-F5344CB8AC3E}">
        <p14:creationId xmlns:p14="http://schemas.microsoft.com/office/powerpoint/2010/main" val="39686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7" dur="500"/>
                                        <p:tgtEl>
                                          <p:spTgt spid="4">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EA4F-76E6-3BC1-E2D3-8C35485C368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8DA12107-02DD-4BCA-423C-7AE5A408D401}"/>
                  </a:ext>
                </a:extLst>
              </p:cNvPr>
              <p:cNvSpPr>
                <a:spLocks noGrp="1"/>
              </p:cNvSpPr>
              <p:nvPr>
                <p:ph idx="1"/>
              </p:nvPr>
            </p:nvSpPr>
            <p:spPr/>
            <p:txBody>
              <a:bodyPr anchor="ctr">
                <a:normAutofit/>
              </a:bodyPr>
              <a:lstStyle/>
              <a:p>
                <a:r>
                  <a:rPr lang="en-US" dirty="0">
                    <a:latin typeface="+mj-lt"/>
                  </a:rPr>
                  <a:t>Assume we have trained perfect link prediction and query answering models</a:t>
                </a:r>
              </a:p>
              <a:p>
                <a:r>
                  <a:rPr lang="en-US" dirty="0">
                    <a:latin typeface="+mj-lt"/>
                  </a:rPr>
                  <a:t>Let’s try to correct KG anomalies with reasoning</a:t>
                </a:r>
              </a:p>
              <a:p>
                <a:pPr marL="685800" lvl="1" indent="-342900">
                  <a:buFont typeface="+mj-lt"/>
                  <a:buAutoNum type="arabicPeriod"/>
                </a:pPr>
                <a:r>
                  <a:rPr lang="en-US" dirty="0">
                    <a:latin typeface="+mj-lt"/>
                  </a:rPr>
                  <a:t>Perform link prediction on the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m:t>
                    </m:r>
                    <m:r>
                      <a:rPr lang="en-US" i="1">
                        <a:latin typeface="Cambria Math" panose="02040503050406030204" pitchFamily="18" charset="0"/>
                      </a:rPr>
                      <m:t>𝑛</m:t>
                    </m:r>
                  </m:oMath>
                </a14:m>
                <a:r>
                  <a:rPr lang="en-US" dirty="0">
                    <a:latin typeface="+mj-lt"/>
                  </a:rPr>
                  <a:t> block, if no false entries stop; otherwise:</a:t>
                </a:r>
              </a:p>
              <a:p>
                <a:pPr marL="685800" lvl="1" indent="-342900">
                  <a:buFont typeface="+mj-lt"/>
                  <a:buAutoNum type="arabicPeriod"/>
                </a:pPr>
                <a:r>
                  <a:rPr lang="en-US" dirty="0">
                    <a:latin typeface="+mj-lt"/>
                  </a:rPr>
                  <a:t>Perform query answering to replace the incorrect entries with correct values, but now:</a:t>
                </a:r>
              </a:p>
              <a:p>
                <a:pPr marL="685800" lvl="1" indent="-342900">
                  <a:buFont typeface="+mj-lt"/>
                  <a:buAutoNum type="arabicPeriod"/>
                </a:pPr>
                <a:r>
                  <a:rPr lang="en-US" dirty="0">
                    <a:latin typeface="+mj-lt"/>
                  </a:rPr>
                  <a:t>Need to re-train the models on the block, requiring restarting everything from step 1</a:t>
                </a:r>
              </a:p>
            </p:txBody>
          </p:sp>
        </mc:Choice>
        <mc:Fallback>
          <p:sp>
            <p:nvSpPr>
              <p:cNvPr id="4" name="Content Placeholder 3">
                <a:extLst>
                  <a:ext uri="{FF2B5EF4-FFF2-40B4-BE49-F238E27FC236}">
                    <a16:creationId xmlns:a16="http://schemas.microsoft.com/office/drawing/2014/main" id="{8DA12107-02DD-4BCA-423C-7AE5A408D401}"/>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34E8B9B-7545-2889-2CC1-BE976B398E39}"/>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767855A7-1476-594A-794C-E5822F4A825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705BB9-06E4-E011-E963-5F2BC931009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8C4F0C9-E8AE-265E-B943-204F6E44D447}"/>
              </a:ext>
            </a:extLst>
          </p:cNvPr>
          <p:cNvSpPr>
            <a:spLocks noGrp="1"/>
          </p:cNvSpPr>
          <p:nvPr>
            <p:ph type="sldNum" sz="quarter" idx="12"/>
          </p:nvPr>
        </p:nvSpPr>
        <p:spPr/>
        <p:txBody>
          <a:bodyPr/>
          <a:lstStyle/>
          <a:p>
            <a:fld id="{E1E1CD7C-2161-7D43-862E-CE4C333CD873}" type="slidenum">
              <a:rPr lang="fr-FR" smtClean="0"/>
              <a:pPr/>
              <a:t>69</a:t>
            </a:fld>
            <a:endParaRPr lang="fr-FR" dirty="0"/>
          </a:p>
        </p:txBody>
      </p:sp>
    </p:spTree>
    <p:extLst>
      <p:ext uri="{BB962C8B-B14F-4D97-AF65-F5344CB8AC3E}">
        <p14:creationId xmlns:p14="http://schemas.microsoft.com/office/powerpoint/2010/main" val="3410293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5" dur="500"/>
                                        <p:tgtEl>
                                          <p:spTgt spid="4">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8D1F2C-AE4E-7E19-3E3E-34E2018FB2E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31591F4-ACBE-3232-0A94-90F112F708B3}"/>
                  </a:ext>
                </a:extLst>
              </p:cNvPr>
              <p:cNvSpPr>
                <a:spLocks noGrp="1"/>
              </p:cNvSpPr>
              <p:nvPr>
                <p:ph idx="1"/>
              </p:nvPr>
            </p:nvSpPr>
            <p:spPr/>
            <p:txBody>
              <a:bodyPr anchor="ctr">
                <a:normAutofit/>
              </a:bodyPr>
              <a:lstStyle/>
              <a:p>
                <a:r>
                  <a:rPr lang="en-US" dirty="0">
                    <a:latin typeface="+mj-lt"/>
                  </a:rPr>
                  <a:t>Naïve idea with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4</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1+</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𝑒</m:t>
                                </m:r>
                              </m:sub>
                            </m:sSub>
                          </m:e>
                        </m:d>
                      </m:e>
                    </m:d>
                  </m:oMath>
                </a14:m>
                <a:r>
                  <a:rPr lang="en-US" dirty="0">
                    <a:latin typeface="+mj-lt"/>
                  </a:rPr>
                  <a:t> cost…</a:t>
                </a:r>
              </a:p>
              <a:p>
                <a:pPr lvl="1"/>
                <a:r>
                  <a:rPr lang="en-US" dirty="0">
                    <a:latin typeface="+mj-lt"/>
                  </a:rPr>
                  <a:t>Only classification and ranking power over edges</a:t>
                </a:r>
              </a:p>
              <a:p>
                <a:pPr lvl="1"/>
                <a:r>
                  <a:rPr lang="en-US" dirty="0">
                    <a:latin typeface="+mj-lt"/>
                  </a:rPr>
                  <a:t>No estimation of noise level of the data</a:t>
                </a:r>
              </a:p>
              <a:p>
                <a:r>
                  <a:rPr lang="en-US" dirty="0">
                    <a:latin typeface="+mj-lt"/>
                  </a:rPr>
                  <a:t>Generative diffusion models</a:t>
                </a:r>
              </a:p>
              <a:p>
                <a:pPr lvl="1"/>
                <a:r>
                  <a:rPr lang="en-US" dirty="0">
                    <a:latin typeface="+mj-lt"/>
                  </a:rPr>
                  <a:t>Trained with data from diverse noise levels</a:t>
                </a:r>
              </a:p>
              <a:p>
                <a:pPr lvl="1"/>
                <a:r>
                  <a:rPr lang="en-US" dirty="0">
                    <a:latin typeface="+mj-lt"/>
                  </a:rPr>
                  <a:t>Structure matching only in expectation, but more scalable with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𝑇</m:t>
                            </m:r>
                            <m:r>
                              <a:rPr lang="en-US" i="1">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latin typeface="+mj-lt"/>
                  </a:rPr>
                  <a:t> cost</a:t>
                </a:r>
              </a:p>
            </p:txBody>
          </p:sp>
        </mc:Choice>
        <mc:Fallback>
          <p:sp>
            <p:nvSpPr>
              <p:cNvPr id="4" name="Content Placeholder 3">
                <a:extLst>
                  <a:ext uri="{FF2B5EF4-FFF2-40B4-BE49-F238E27FC236}">
                    <a16:creationId xmlns:a16="http://schemas.microsoft.com/office/drawing/2014/main" id="{F31591F4-ACBE-3232-0A94-90F112F708B3}"/>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8306C10-F718-AB19-D739-D8415771FA05}"/>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F1A27AE1-4B28-042A-4E61-92C71C736CE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C7211C-6A37-0BC6-A648-6825F1FC535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3E6F9EC-6CC1-F690-53F2-1A2827CD8FBE}"/>
              </a:ext>
            </a:extLst>
          </p:cNvPr>
          <p:cNvSpPr>
            <a:spLocks noGrp="1"/>
          </p:cNvSpPr>
          <p:nvPr>
            <p:ph type="sldNum" sz="quarter" idx="12"/>
          </p:nvPr>
        </p:nvSpPr>
        <p:spPr/>
        <p:txBody>
          <a:bodyPr/>
          <a:lstStyle/>
          <a:p>
            <a:fld id="{E1E1CD7C-2161-7D43-862E-CE4C333CD873}" type="slidenum">
              <a:rPr lang="fr-FR" smtClean="0"/>
              <a:pPr/>
              <a:t>70</a:t>
            </a:fld>
            <a:endParaRPr lang="fr-FR" dirty="0"/>
          </a:p>
        </p:txBody>
      </p:sp>
    </p:spTree>
    <p:extLst>
      <p:ext uri="{BB962C8B-B14F-4D97-AF65-F5344CB8AC3E}">
        <p14:creationId xmlns:p14="http://schemas.microsoft.com/office/powerpoint/2010/main" val="1619958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8D7520-3AFD-DBF0-1BBF-351FC363F45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620F9E6-C031-41D3-AADE-200493A73122}"/>
              </a:ext>
            </a:extLst>
          </p:cNvPr>
          <p:cNvSpPr>
            <a:spLocks noGrp="1"/>
          </p:cNvSpPr>
          <p:nvPr>
            <p:ph idx="1"/>
          </p:nvPr>
        </p:nvSpPr>
        <p:spPr/>
        <p:txBody>
          <a:bodyPr anchor="ctr">
            <a:normAutofit/>
          </a:bodyPr>
          <a:lstStyle/>
          <a:p>
            <a:r>
              <a:rPr lang="en-US" dirty="0" err="1">
                <a:latin typeface="+mj-lt"/>
              </a:rPr>
              <a:t>IntelliGraphs</a:t>
            </a:r>
            <a:r>
              <a:rPr lang="en-US" dirty="0">
                <a:latin typeface="+mj-lt"/>
              </a:rPr>
              <a:t> - </a:t>
            </a:r>
            <a:r>
              <a:rPr lang="en-US" dirty="0" err="1">
                <a:latin typeface="+mj-lt"/>
              </a:rPr>
              <a:t>Thanapalasingam</a:t>
            </a:r>
            <a:r>
              <a:rPr lang="en-US" dirty="0">
                <a:latin typeface="+mj-lt"/>
              </a:rPr>
              <a:t> et al. </a:t>
            </a:r>
            <a:r>
              <a:rPr lang="en-US" dirty="0">
                <a:solidFill>
                  <a:schemeClr val="accent1"/>
                </a:solidFill>
                <a:latin typeface="+mj-lt"/>
              </a:rPr>
              <a:t>[21]</a:t>
            </a:r>
          </a:p>
          <a:p>
            <a:pPr lvl="1"/>
            <a:r>
              <a:rPr lang="en-US" dirty="0">
                <a:latin typeface="+mj-lt"/>
              </a:rPr>
              <a:t>First approach in extending knowledge graph structure likelihood estimation from edges to whole subgraphs</a:t>
            </a:r>
          </a:p>
          <a:p>
            <a:pPr lvl="1"/>
            <a:r>
              <a:rPr lang="en-US" dirty="0">
                <a:latin typeface="+mj-lt"/>
              </a:rPr>
              <a:t>Negative result, provides some benchmarking datasets</a:t>
            </a:r>
          </a:p>
          <a:p>
            <a:r>
              <a:rPr lang="en-US" dirty="0">
                <a:latin typeface="+mj-lt"/>
              </a:rPr>
              <a:t>VGAEs - </a:t>
            </a:r>
            <a:r>
              <a:rPr lang="en-US" dirty="0" err="1">
                <a:latin typeface="+mj-lt"/>
              </a:rPr>
              <a:t>Mahmoudzadeh</a:t>
            </a:r>
            <a:r>
              <a:rPr lang="en-US" dirty="0">
                <a:latin typeface="+mj-lt"/>
              </a:rPr>
              <a:t> et al. </a:t>
            </a:r>
            <a:r>
              <a:rPr lang="en-US" dirty="0">
                <a:solidFill>
                  <a:schemeClr val="accent1"/>
                </a:solidFill>
                <a:latin typeface="+mj-lt"/>
              </a:rPr>
              <a:t>[26]</a:t>
            </a:r>
          </a:p>
          <a:p>
            <a:pPr lvl="1"/>
            <a:r>
              <a:rPr lang="en-US" dirty="0">
                <a:latin typeface="+mj-lt"/>
              </a:rPr>
              <a:t>VAEs for subgraph generation</a:t>
            </a:r>
          </a:p>
          <a:p>
            <a:pPr lvl="1"/>
            <a:r>
              <a:rPr lang="en-US" dirty="0">
                <a:latin typeface="+mj-lt"/>
              </a:rPr>
              <a:t>Still only evaluated for query answering without denoising experiments</a:t>
            </a:r>
          </a:p>
          <a:p>
            <a:r>
              <a:rPr lang="en-US" dirty="0" err="1">
                <a:latin typeface="+mj-lt"/>
              </a:rPr>
              <a:t>LLMsim</a:t>
            </a:r>
            <a:r>
              <a:rPr lang="en-US" dirty="0">
                <a:latin typeface="+mj-lt"/>
              </a:rPr>
              <a:t> - Dong et al. </a:t>
            </a:r>
            <a:r>
              <a:rPr lang="en-US" dirty="0">
                <a:solidFill>
                  <a:schemeClr val="accent1"/>
                </a:solidFill>
                <a:latin typeface="+mj-lt"/>
              </a:rPr>
              <a:t>[29]</a:t>
            </a:r>
          </a:p>
          <a:p>
            <a:pPr lvl="1"/>
            <a:r>
              <a:rPr lang="en-US" dirty="0">
                <a:latin typeface="+mj-lt"/>
              </a:rPr>
              <a:t>LLM-as-a-judge for knowledge triplet consistency across graph paths</a:t>
            </a:r>
          </a:p>
          <a:p>
            <a:pPr lvl="1"/>
            <a:r>
              <a:rPr lang="en-US" dirty="0">
                <a:latin typeface="+mj-lt"/>
              </a:rPr>
              <a:t>Requires textual entity and relation names, ignores graph structure checks</a:t>
            </a:r>
          </a:p>
        </p:txBody>
      </p:sp>
      <p:sp>
        <p:nvSpPr>
          <p:cNvPr id="8" name="Title 7">
            <a:extLst>
              <a:ext uri="{FF2B5EF4-FFF2-40B4-BE49-F238E27FC236}">
                <a16:creationId xmlns:a16="http://schemas.microsoft.com/office/drawing/2014/main" id="{79FA36B1-439B-9F0F-09F9-29BA9E5C5CF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773E2C7E-96F6-FC0D-B93B-57923276862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99B5910-1A7C-034C-C2A6-9E049E79F39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BABD2F-6D95-01F4-DF44-29920734D227}"/>
              </a:ext>
            </a:extLst>
          </p:cNvPr>
          <p:cNvSpPr>
            <a:spLocks noGrp="1"/>
          </p:cNvSpPr>
          <p:nvPr>
            <p:ph type="sldNum" sz="quarter" idx="12"/>
          </p:nvPr>
        </p:nvSpPr>
        <p:spPr/>
        <p:txBody>
          <a:bodyPr/>
          <a:lstStyle/>
          <a:p>
            <a:fld id="{E1E1CD7C-2161-7D43-862E-CE4C333CD873}" type="slidenum">
              <a:rPr lang="fr-FR" smtClean="0"/>
              <a:pPr/>
              <a:t>71</a:t>
            </a:fld>
            <a:endParaRPr lang="fr-FR" dirty="0"/>
          </a:p>
        </p:txBody>
      </p:sp>
    </p:spTree>
    <p:extLst>
      <p:ext uri="{BB962C8B-B14F-4D97-AF65-F5344CB8AC3E}">
        <p14:creationId xmlns:p14="http://schemas.microsoft.com/office/powerpoint/2010/main" val="341659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423CA-72E8-9A67-8E11-0D67E728D2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01A7199E-7E77-4F8E-9F48-813E349EAF28}"/>
                  </a:ext>
                </a:extLst>
              </p:cNvPr>
              <p:cNvSpPr>
                <a:spLocks noGrp="1"/>
              </p:cNvSpPr>
              <p:nvPr>
                <p:ph sz="half" idx="1"/>
              </p:nvPr>
            </p:nvSpPr>
            <p:spPr/>
            <p:txBody>
              <a:bodyPr anchor="ctr">
                <a:normAutofit/>
              </a:bodyPr>
              <a:lstStyle/>
              <a:p>
                <a:r>
                  <a:rPr lang="en-US" dirty="0">
                    <a:latin typeface="+mj-lt"/>
                  </a:rPr>
                  <a:t>KG subgraph sources</a:t>
                </a:r>
              </a:p>
              <a:p>
                <a:pPr lvl="1"/>
                <a:r>
                  <a:rPr lang="en-US" dirty="0">
                    <a:latin typeface="+mj-lt"/>
                  </a:rPr>
                  <a:t>Freebase, WordNet, NELL (again)</a:t>
                </a:r>
              </a:p>
              <a:p>
                <a:pPr lvl="1"/>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𝒗</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Entity-labeled subgraphs of a large adjacency matrix</a:t>
                </a:r>
              </a:p>
              <a:p>
                <a:r>
                  <a:rPr lang="en-US" dirty="0">
                    <a:latin typeface="+mj-lt"/>
                  </a:rPr>
                  <a:t>Subgraph sampling</a:t>
                </a:r>
              </a:p>
              <a:p>
                <a:pPr lvl="1"/>
                <a:r>
                  <a:rPr lang="en-US" dirty="0">
                    <a:latin typeface="+mj-lt"/>
                  </a:rPr>
                  <a:t>DFS topological sorting</a:t>
                </a:r>
              </a:p>
              <a:p>
                <a:pPr lvl="1"/>
                <a:r>
                  <a:rPr lang="en-US" dirty="0">
                    <a:latin typeface="+mj-lt"/>
                  </a:rPr>
                  <a:t>Spanning tree splitting</a:t>
                </a:r>
              </a:p>
            </p:txBody>
          </p:sp>
        </mc:Choice>
        <mc:Fallback xmlns="">
          <p:sp>
            <p:nvSpPr>
              <p:cNvPr id="2" name="Content Placeholder 1">
                <a:extLst>
                  <a:ext uri="{FF2B5EF4-FFF2-40B4-BE49-F238E27FC236}">
                    <a16:creationId xmlns:a16="http://schemas.microsoft.com/office/drawing/2014/main" id="{01A7199E-7E77-4F8E-9F48-813E349EAF28}"/>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10" name="Content Placeholder 9" descr="A grid of colored lines and dots&#10;&#10;AI-generated content may be incorrect.">
            <a:extLst>
              <a:ext uri="{FF2B5EF4-FFF2-40B4-BE49-F238E27FC236}">
                <a16:creationId xmlns:a16="http://schemas.microsoft.com/office/drawing/2014/main" id="{1276975A-4FF2-494A-FBD1-8FB69BACF44E}"/>
              </a:ext>
            </a:extLst>
          </p:cNvPr>
          <p:cNvPicPr>
            <a:picLocks noGrp="1" noChangeAspect="1"/>
          </p:cNvPicPr>
          <p:nvPr>
            <p:ph sz="half" idx="2"/>
          </p:nvPr>
        </p:nvPicPr>
        <p:blipFill>
          <a:blip r:embed="rId4"/>
          <a:stretch>
            <a:fillRect/>
          </a:stretch>
        </p:blipFill>
        <p:spPr>
          <a:xfrm>
            <a:off x="5163344" y="1563688"/>
            <a:ext cx="3263900" cy="3263900"/>
          </a:xfrm>
        </p:spPr>
      </p:pic>
      <p:sp>
        <p:nvSpPr>
          <p:cNvPr id="8" name="Title 7">
            <a:extLst>
              <a:ext uri="{FF2B5EF4-FFF2-40B4-BE49-F238E27FC236}">
                <a16:creationId xmlns:a16="http://schemas.microsoft.com/office/drawing/2014/main" id="{4EB192D1-2F12-8D5D-A8D9-16C0DAEF383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Data</a:t>
            </a:r>
            <a:endParaRPr lang="en-GB" sz="2400" b="0" i="1" dirty="0"/>
          </a:p>
        </p:txBody>
      </p:sp>
      <p:sp>
        <p:nvSpPr>
          <p:cNvPr id="5" name="Date Placeholder 4">
            <a:extLst>
              <a:ext uri="{FF2B5EF4-FFF2-40B4-BE49-F238E27FC236}">
                <a16:creationId xmlns:a16="http://schemas.microsoft.com/office/drawing/2014/main" id="{1D0E5E8F-145F-764B-77A6-9023BB1C56E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39DA48-3B00-BEF0-83A8-AA695C24C3D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241943F-F1CD-3DC2-45F5-70F98F6A2FDB}"/>
              </a:ext>
            </a:extLst>
          </p:cNvPr>
          <p:cNvSpPr>
            <a:spLocks noGrp="1"/>
          </p:cNvSpPr>
          <p:nvPr>
            <p:ph type="sldNum" sz="quarter" idx="12"/>
          </p:nvPr>
        </p:nvSpPr>
        <p:spPr/>
        <p:txBody>
          <a:bodyPr/>
          <a:lstStyle/>
          <a:p>
            <a:fld id="{E1E1CD7C-2161-7D43-862E-CE4C333CD873}" type="slidenum">
              <a:rPr lang="fr-FR" smtClean="0"/>
              <a:pPr/>
              <a:t>72</a:t>
            </a:fld>
            <a:endParaRPr lang="fr-FR" dirty="0"/>
          </a:p>
        </p:txBody>
      </p:sp>
    </p:spTree>
    <p:extLst>
      <p:ext uri="{BB962C8B-B14F-4D97-AF65-F5344CB8AC3E}">
        <p14:creationId xmlns:p14="http://schemas.microsoft.com/office/powerpoint/2010/main" val="349079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randombar(horizontal)">
                                      <p:cBhvr>
                                        <p:cTn id="3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53C8EA7-BFD2-5E43-BFE6-AF46B413272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AB975C25-1285-19DF-5C51-EF889169D3E3}"/>
                  </a:ext>
                </a:extLst>
              </p:cNvPr>
              <p:cNvSpPr>
                <a:spLocks noGrp="1"/>
              </p:cNvSpPr>
              <p:nvPr>
                <p:ph sz="half" idx="1"/>
              </p:nvPr>
            </p:nvSpPr>
            <p:spPr>
              <a:xfrm>
                <a:off x="904874" y="1563688"/>
                <a:ext cx="5082688" cy="3263504"/>
              </a:xfrm>
            </p:spPr>
            <p:txBody>
              <a:bodyPr anchor="ctr">
                <a:normAutofit/>
              </a:bodyPr>
              <a:lstStyle/>
              <a:p>
                <a:r>
                  <a:rPr lang="en-US" dirty="0">
                    <a:latin typeface="+mj-lt"/>
                  </a:rPr>
                  <a:t>Conditional edge diffusion</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 </m:t>
                    </m:r>
                  </m:oMath>
                </a14:m>
                <a:r>
                  <a:rPr lang="en-US" dirty="0">
                    <a:latin typeface="+mj-lt"/>
                  </a:rPr>
                  <a:t>as models of </a:t>
                </a:r>
                <a14:m>
                  <m:oMath xmlns:m="http://schemas.openxmlformats.org/officeDocument/2006/math">
                    <m:r>
                      <a:rPr lang="en-US" b="0" i="1" smtClean="0">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oMath>
                </a14:m>
                <a:endParaRPr lang="en-US" b="0" i="1" dirty="0">
                  <a:latin typeface="Cambria Math" panose="02040503050406030204" pitchFamily="18" charset="0"/>
                </a:endParaRP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func>
                          <m:funcPr>
                            <m:ctrlPr>
                              <a:rPr lang="en-US" b="0" i="1" smtClean="0">
                                <a:latin typeface="Cambria Math" panose="02040503050406030204" pitchFamily="18" charset="0"/>
                              </a:rPr>
                            </m:ctrlPr>
                          </m:funcPr>
                          <m:fName>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𝑍</m:t>
                                        </m:r>
                                      </m:e>
                                      <m:sub>
                                        <m:r>
                                          <a:rPr lang="en-US" i="1">
                                            <a:latin typeface="Cambria Math" panose="02040503050406030204" pitchFamily="18" charset="0"/>
                                          </a:rPr>
                                          <m:t>𝐴</m:t>
                                        </m:r>
                                      </m:sub>
                                    </m:sSub>
                                  </m:sub>
                                </m:sSub>
                              </m:e>
                            </m:func>
                          </m:fName>
                          <m:e>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𝑔</m:t>
                                            </m:r>
                                            <m:r>
                                              <a:rPr lang="en-US" i="1">
                                                <a:latin typeface="Cambria Math" panose="02040503050406030204" pitchFamily="18" charset="0"/>
                                              </a:rPr>
                                              <m:t>(</m:t>
                                            </m:r>
                                            <m:r>
                                              <a:rPr lang="en-US" i="1">
                                                <a:latin typeface="Cambria Math" panose="02040503050406030204" pitchFamily="18" charset="0"/>
                                              </a:rPr>
                                              <m:t>𝐴</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1" i="1">
                                            <a:latin typeface="Cambria Math" panose="02040503050406030204" pitchFamily="18" charset="0"/>
                                          </a:rPr>
                                          <m:t>𝒙</m:t>
                                        </m:r>
                                        <m:r>
                                          <a:rPr lang="en-US" b="1" i="1" smtClean="0">
                                            <a:latin typeface="Cambria Math" panose="02040503050406030204" pitchFamily="18" charset="0"/>
                                          </a:rPr>
                                          <m:t>,</m:t>
                                        </m:r>
                                        <m:r>
                                          <a:rPr lang="en-US" b="1" i="1">
                                            <a:latin typeface="Cambria Math" panose="02040503050406030204" pitchFamily="18" charset="0"/>
                                          </a:rPr>
                                          <m:t>𝒗</m:t>
                                        </m:r>
                                        <m:r>
                                          <a:rPr lang="en-US" i="1">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e>
                                </m:func>
                              </m:e>
                            </m:d>
                          </m:e>
                        </m:func>
                      </m:e>
                    </m:func>
                  </m:oMath>
                </a14:m>
                <a:endParaRPr lang="en-GB" dirty="0">
                  <a:latin typeface="+mj-lt"/>
                </a:endParaRPr>
              </a:p>
              <a:p>
                <a:r>
                  <a:rPr lang="en-GB" dirty="0">
                    <a:latin typeface="+mj-lt"/>
                  </a:rPr>
                  <a:t>Optional masking for context conditioning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1" i="1" smtClean="0">
                            <a:latin typeface="Cambria Math" panose="02040503050406030204" pitchFamily="18" charset="0"/>
                          </a:rPr>
                          <m:t>𝑴</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0</m:t>
                        </m:r>
                      </m:sub>
                    </m:sSub>
                  </m:oMath>
                </a14:m>
                <a:endParaRPr lang="en-US" b="0" i="1" dirty="0">
                  <a:latin typeface="Cambria Math" panose="02040503050406030204" pitchFamily="18" charset="0"/>
                </a:endParaRPr>
              </a:p>
              <a:p>
                <a:pPr lvl="1"/>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𝐴</m:t>
                            </m:r>
                          </m:e>
                        </m:acc>
                      </m:e>
                      <m:sub>
                        <m:r>
                          <a:rPr lang="en-US"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r>
                      <a:rPr lang="en-US" b="1" i="1">
                        <a:latin typeface="Cambria Math" panose="02040503050406030204" pitchFamily="18" charset="0"/>
                      </a:rPr>
                      <m:t>𝑴</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i="1">
                            <a:latin typeface="Cambria Math" panose="02040503050406030204" pitchFamily="18" charset="0"/>
                          </a:rPr>
                          <m:t>𝑡</m:t>
                        </m:r>
                      </m:sub>
                    </m:sSub>
                    <m:r>
                      <a:rPr lang="en-US" b="0" i="1" smtClean="0">
                        <a:latin typeface="Cambria Math" panose="02040503050406030204" pitchFamily="18" charset="0"/>
                      </a:rPr>
                      <m:t>,</m:t>
                    </m:r>
                    <m:r>
                      <a:rPr lang="en-US" b="1" i="1">
                        <a:latin typeface="Cambria Math" panose="02040503050406030204" pitchFamily="18" charset="0"/>
                      </a:rPr>
                      <m:t>𝒙</m:t>
                    </m:r>
                    <m:r>
                      <a:rPr lang="en-US" b="1" i="1">
                        <a:latin typeface="Cambria Math" panose="02040503050406030204" pitchFamily="18" charset="0"/>
                      </a:rPr>
                      <m:t>,</m:t>
                    </m:r>
                    <m:r>
                      <a:rPr lang="en-US" b="1" i="1">
                        <a:latin typeface="Cambria Math" panose="02040503050406030204" pitchFamily="18" charset="0"/>
                      </a:rPr>
                      <m:t>𝒗</m:t>
                    </m:r>
                    <m:r>
                      <a:rPr lang="en-US" b="0" i="1" smtClean="0">
                        <a:latin typeface="Cambria Math" panose="02040503050406030204" pitchFamily="18" charset="0"/>
                      </a:rPr>
                      <m:t>)</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b="1" i="1">
                            <a:latin typeface="Cambria Math" panose="02040503050406030204" pitchFamily="18" charset="0"/>
                          </a:rPr>
                          <m:t>𝑴</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0</m:t>
                        </m:r>
                      </m:sub>
                    </m:sSub>
                  </m:oMath>
                </a14:m>
                <a:endParaRPr lang="en-GB" dirty="0"/>
              </a:p>
              <a:p>
                <a:r>
                  <a:rPr lang="en-GB" dirty="0">
                    <a:latin typeface="+mj-lt"/>
                  </a:rPr>
                  <a:t>Modified </a:t>
                </a:r>
                <a:r>
                  <a:rPr lang="en-GB" dirty="0" err="1">
                    <a:latin typeface="+mj-lt"/>
                  </a:rPr>
                  <a:t>DiGress</a:t>
                </a:r>
                <a:r>
                  <a:rPr lang="en-GB" dirty="0">
                    <a:latin typeface="+mj-lt"/>
                  </a:rPr>
                  <a:t> </a:t>
                </a:r>
                <a:r>
                  <a:rPr lang="en-GB" dirty="0">
                    <a:solidFill>
                      <a:schemeClr val="accent1"/>
                    </a:solidFill>
                    <a:latin typeface="+mj-lt"/>
                  </a:rPr>
                  <a:t>[18]</a:t>
                </a:r>
                <a:r>
                  <a:rPr lang="en-GB" dirty="0">
                    <a:latin typeface="+mj-lt"/>
                  </a:rPr>
                  <a:t> ♥</a:t>
                </a:r>
              </a:p>
            </p:txBody>
          </p:sp>
        </mc:Choice>
        <mc:Fallback>
          <p:sp>
            <p:nvSpPr>
              <p:cNvPr id="2" name="Content Placeholder 1">
                <a:extLst>
                  <a:ext uri="{FF2B5EF4-FFF2-40B4-BE49-F238E27FC236}">
                    <a16:creationId xmlns:a16="http://schemas.microsoft.com/office/drawing/2014/main" id="{AB975C25-1285-19DF-5C51-EF889169D3E3}"/>
                  </a:ext>
                </a:extLst>
              </p:cNvPr>
              <p:cNvSpPr>
                <a:spLocks noGrp="1" noRot="1" noChangeAspect="1" noMove="1" noResize="1" noEditPoints="1" noAdjustHandles="1" noChangeArrowheads="1" noChangeShapeType="1" noTextEdit="1"/>
              </p:cNvSpPr>
              <p:nvPr>
                <p:ph sz="half" idx="1"/>
              </p:nvPr>
            </p:nvSpPr>
            <p:spPr>
              <a:xfrm>
                <a:off x="904874" y="1563688"/>
                <a:ext cx="5082688"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C55FC76-8FD1-48AC-AB8B-65DD872267DD}"/>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Model</a:t>
            </a:r>
            <a:endParaRPr lang="en-GB" sz="2400" b="0" i="1" dirty="0"/>
          </a:p>
        </p:txBody>
      </p:sp>
      <p:sp>
        <p:nvSpPr>
          <p:cNvPr id="5" name="Date Placeholder 4">
            <a:extLst>
              <a:ext uri="{FF2B5EF4-FFF2-40B4-BE49-F238E27FC236}">
                <a16:creationId xmlns:a16="http://schemas.microsoft.com/office/drawing/2014/main" id="{E735382D-70DF-0569-D76F-56D9707FD9E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E1B12C-D86F-B05B-B54E-93F55D82CBB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167B8DA-B395-8979-4E26-C817AAC2DF85}"/>
              </a:ext>
            </a:extLst>
          </p:cNvPr>
          <p:cNvSpPr>
            <a:spLocks noGrp="1"/>
          </p:cNvSpPr>
          <p:nvPr>
            <p:ph type="sldNum" sz="quarter" idx="12"/>
          </p:nvPr>
        </p:nvSpPr>
        <p:spPr/>
        <p:txBody>
          <a:bodyPr/>
          <a:lstStyle/>
          <a:p>
            <a:fld id="{E1E1CD7C-2161-7D43-862E-CE4C333CD873}" type="slidenum">
              <a:rPr lang="fr-FR" smtClean="0"/>
              <a:pPr/>
              <a:t>73</a:t>
            </a:fld>
            <a:endParaRPr lang="fr-FR" dirty="0"/>
          </a:p>
        </p:txBody>
      </p:sp>
      <p:sp>
        <p:nvSpPr>
          <p:cNvPr id="4" name="Content Placeholder 3">
            <a:extLst>
              <a:ext uri="{FF2B5EF4-FFF2-40B4-BE49-F238E27FC236}">
                <a16:creationId xmlns:a16="http://schemas.microsoft.com/office/drawing/2014/main" id="{356780A1-815E-1EC4-1173-6B285614FA50}"/>
              </a:ext>
            </a:extLst>
          </p:cNvPr>
          <p:cNvSpPr>
            <a:spLocks noGrp="1"/>
          </p:cNvSpPr>
          <p:nvPr>
            <p:ph sz="half" idx="2"/>
          </p:nvPr>
        </p:nvSpPr>
        <p:spPr>
          <a:xfrm>
            <a:off x="5653454" y="1563688"/>
            <a:ext cx="2977784" cy="3263504"/>
          </a:xfrm>
        </p:spPr>
        <p:txBody>
          <a:bodyPr/>
          <a:lstStyle/>
          <a:p>
            <a:endParaRPr lang="en-GB" dirty="0"/>
          </a:p>
        </p:txBody>
      </p:sp>
      <p:sp>
        <p:nvSpPr>
          <p:cNvPr id="9" name="Rectangle 8">
            <a:extLst>
              <a:ext uri="{FF2B5EF4-FFF2-40B4-BE49-F238E27FC236}">
                <a16:creationId xmlns:a16="http://schemas.microsoft.com/office/drawing/2014/main" id="{16D14244-C4B5-CE25-7356-761D9FB33517}"/>
              </a:ext>
            </a:extLst>
          </p:cNvPr>
          <p:cNvSpPr/>
          <p:nvPr/>
        </p:nvSpPr>
        <p:spPr>
          <a:xfrm>
            <a:off x="6062346" y="1794214"/>
            <a:ext cx="2160000" cy="2880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6611A88C-F676-1D31-B63B-07C5708616B9}"/>
              </a:ext>
            </a:extLst>
          </p:cNvPr>
          <p:cNvSpPr>
            <a:spLocks noChangeAspect="1"/>
          </p:cNvSpPr>
          <p:nvPr/>
        </p:nvSpPr>
        <p:spPr>
          <a:xfrm>
            <a:off x="7163945" y="3263014"/>
            <a:ext cx="1058401" cy="1411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735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randombar(horizontal)">
                                      <p:cBhvr>
                                        <p:cTn id="27" dur="500"/>
                                        <p:tgtEl>
                                          <p:spTgt spid="9"/>
                                        </p:tgtEl>
                                      </p:cBhvr>
                                    </p:animEffect>
                                  </p:childTnLst>
                                </p:cTn>
                              </p:par>
                              <p:par>
                                <p:cTn id="28" presetID="14" presetClass="entr" presetSubtype="1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randombar(horizontal)">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5"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CE43724-49EA-47A3-4D29-B701CDF63241}"/>
            </a:ext>
          </a:extLst>
        </p:cNvPr>
        <p:cNvGrpSpPr/>
        <p:nvPr/>
      </p:nvGrpSpPr>
      <p:grpSpPr>
        <a:xfrm>
          <a:off x="0" y="0"/>
          <a:ext cx="0" cy="0"/>
          <a:chOff x="0" y="0"/>
          <a:chExt cx="0" cy="0"/>
        </a:xfrm>
      </p:grpSpPr>
      <p:pic>
        <p:nvPicPr>
          <p:cNvPr id="3" name="Content Placeholder 2">
            <a:extLst>
              <a:ext uri="{FF2B5EF4-FFF2-40B4-BE49-F238E27FC236}">
                <a16:creationId xmlns:a16="http://schemas.microsoft.com/office/drawing/2014/main" id="{0164CE5E-46E9-1E3E-08A2-58D9487CC7B8}"/>
              </a:ext>
            </a:extLst>
          </p:cNvPr>
          <p:cNvPicPr>
            <a:picLocks noGrp="1" noChangeAspect="1"/>
          </p:cNvPicPr>
          <p:nvPr>
            <p:ph idx="1"/>
          </p:nvPr>
        </p:nvPicPr>
        <p:blipFill>
          <a:blip r:embed="rId3"/>
          <a:stretch>
            <a:fillRect/>
          </a:stretch>
        </p:blipFill>
        <p:spPr>
          <a:xfrm>
            <a:off x="1295453" y="1563688"/>
            <a:ext cx="6945206" cy="3386137"/>
          </a:xfrm>
          <a:prstGeom prst="rect">
            <a:avLst/>
          </a:prstGeom>
        </p:spPr>
      </p:pic>
      <p:sp>
        <p:nvSpPr>
          <p:cNvPr id="8" name="Title 7">
            <a:extLst>
              <a:ext uri="{FF2B5EF4-FFF2-40B4-BE49-F238E27FC236}">
                <a16:creationId xmlns:a16="http://schemas.microsoft.com/office/drawing/2014/main" id="{72F817A3-022D-51C0-6FB2-722E2547B61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Metrics</a:t>
            </a:r>
            <a:endParaRPr lang="en-GB" sz="2400" b="0" i="1" dirty="0"/>
          </a:p>
        </p:txBody>
      </p:sp>
      <p:sp>
        <p:nvSpPr>
          <p:cNvPr id="5" name="Date Placeholder 4">
            <a:extLst>
              <a:ext uri="{FF2B5EF4-FFF2-40B4-BE49-F238E27FC236}">
                <a16:creationId xmlns:a16="http://schemas.microsoft.com/office/drawing/2014/main" id="{28D71620-3765-9F17-2A51-C64A521DF88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C3DF-2351-D8AC-80C7-BFC52A76496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2EE4479-F0E0-A209-C787-74C5FE4F3894}"/>
              </a:ext>
            </a:extLst>
          </p:cNvPr>
          <p:cNvSpPr>
            <a:spLocks noGrp="1"/>
          </p:cNvSpPr>
          <p:nvPr>
            <p:ph type="sldNum" sz="quarter" idx="12"/>
          </p:nvPr>
        </p:nvSpPr>
        <p:spPr/>
        <p:txBody>
          <a:bodyPr/>
          <a:lstStyle/>
          <a:p>
            <a:fld id="{E1E1CD7C-2161-7D43-862E-CE4C333CD873}" type="slidenum">
              <a:rPr lang="fr-FR" smtClean="0"/>
              <a:pPr/>
              <a:t>74</a:t>
            </a:fld>
            <a:endParaRPr lang="fr-FR" dirty="0"/>
          </a:p>
        </p:txBody>
      </p:sp>
    </p:spTree>
    <p:extLst>
      <p:ext uri="{BB962C8B-B14F-4D97-AF65-F5344CB8AC3E}">
        <p14:creationId xmlns:p14="http://schemas.microsoft.com/office/powerpoint/2010/main" val="296967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32C3-E04B-52D4-C2F2-ACA9BEA5A24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C4E6391-2343-89DD-C955-2191712848DA}"/>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Contrastive Loss across denoising steps</a:t>
            </a:r>
            <a:endParaRPr lang="en-GB" sz="2400" b="0" i="1" dirty="0"/>
          </a:p>
        </p:txBody>
      </p:sp>
      <p:sp>
        <p:nvSpPr>
          <p:cNvPr id="5" name="Date Placeholder 4">
            <a:extLst>
              <a:ext uri="{FF2B5EF4-FFF2-40B4-BE49-F238E27FC236}">
                <a16:creationId xmlns:a16="http://schemas.microsoft.com/office/drawing/2014/main" id="{9B0972A0-C21F-132D-E013-AC5C4284A48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3FBC04E-DFF5-00D7-EF76-0D7378DAFD9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67E1DAC-B078-0576-06A7-989F14FAB20D}"/>
              </a:ext>
            </a:extLst>
          </p:cNvPr>
          <p:cNvSpPr>
            <a:spLocks noGrp="1"/>
          </p:cNvSpPr>
          <p:nvPr>
            <p:ph type="sldNum" sz="quarter" idx="12"/>
          </p:nvPr>
        </p:nvSpPr>
        <p:spPr/>
        <p:txBody>
          <a:bodyPr/>
          <a:lstStyle/>
          <a:p>
            <a:fld id="{E1E1CD7C-2161-7D43-862E-CE4C333CD873}" type="slidenum">
              <a:rPr lang="fr-FR" smtClean="0"/>
              <a:pPr/>
              <a:t>75</a:t>
            </a:fld>
            <a:endParaRPr lang="fr-FR" dirty="0"/>
          </a:p>
        </p:txBody>
      </p:sp>
      <p:pic>
        <p:nvPicPr>
          <p:cNvPr id="14" name="Content Placeholder 13" descr="A graph of a graph showing a curve&#10;&#10;AI-generated content may be incorrect.">
            <a:extLst>
              <a:ext uri="{FF2B5EF4-FFF2-40B4-BE49-F238E27FC236}">
                <a16:creationId xmlns:a16="http://schemas.microsoft.com/office/drawing/2014/main" id="{FEB462D9-A795-8DDF-541B-0396B582A764}"/>
              </a:ext>
            </a:extLst>
          </p:cNvPr>
          <p:cNvPicPr>
            <a:picLocks noGrp="1" noChangeAspect="1"/>
          </p:cNvPicPr>
          <p:nvPr>
            <p:ph idx="1"/>
          </p:nvPr>
        </p:nvPicPr>
        <p:blipFill>
          <a:blip r:embed="rId3"/>
          <a:stretch>
            <a:fillRect/>
          </a:stretch>
        </p:blipFill>
        <p:spPr>
          <a:xfrm>
            <a:off x="1561078" y="1181793"/>
            <a:ext cx="6021844" cy="1897304"/>
          </a:xfrm>
        </p:spPr>
      </p:pic>
      <p:pic>
        <p:nvPicPr>
          <p:cNvPr id="16" name="Picture 15" descr="A graph of a graph and a graph of a graph&#10;&#10;AI-generated content may be incorrect.">
            <a:extLst>
              <a:ext uri="{FF2B5EF4-FFF2-40B4-BE49-F238E27FC236}">
                <a16:creationId xmlns:a16="http://schemas.microsoft.com/office/drawing/2014/main" id="{BFCDA08D-19EF-DAB4-EC1E-51314DB057B6}"/>
              </a:ext>
            </a:extLst>
          </p:cNvPr>
          <p:cNvPicPr>
            <a:picLocks noChangeAspect="1"/>
          </p:cNvPicPr>
          <p:nvPr/>
        </p:nvPicPr>
        <p:blipFill>
          <a:blip r:embed="rId4"/>
          <a:stretch>
            <a:fillRect/>
          </a:stretch>
        </p:blipFill>
        <p:spPr>
          <a:xfrm>
            <a:off x="1561078" y="3234214"/>
            <a:ext cx="6021844" cy="1897304"/>
          </a:xfrm>
          <a:prstGeom prst="rect">
            <a:avLst/>
          </a:prstGeom>
        </p:spPr>
      </p:pic>
    </p:spTree>
    <p:extLst>
      <p:ext uri="{BB962C8B-B14F-4D97-AF65-F5344CB8AC3E}">
        <p14:creationId xmlns:p14="http://schemas.microsoft.com/office/powerpoint/2010/main" val="178367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randombar(horizontal)">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randombar(horizontal)">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5FD59-BD2F-C562-6D41-C0880BD8F52E}"/>
            </a:ext>
          </a:extLst>
        </p:cNvPr>
        <p:cNvGrpSpPr/>
        <p:nvPr/>
      </p:nvGrpSpPr>
      <p:grpSpPr>
        <a:xfrm>
          <a:off x="0" y="0"/>
          <a:ext cx="0" cy="0"/>
          <a:chOff x="0" y="0"/>
          <a:chExt cx="0" cy="0"/>
        </a:xfrm>
      </p:grpSpPr>
      <p:pic>
        <p:nvPicPr>
          <p:cNvPr id="12" name="Content Placeholder 11" descr="A diagram of a diagram&#10;&#10;AI-generated content may be incorrect.">
            <a:extLst>
              <a:ext uri="{FF2B5EF4-FFF2-40B4-BE49-F238E27FC236}">
                <a16:creationId xmlns:a16="http://schemas.microsoft.com/office/drawing/2014/main" id="{AB9F265D-EEB7-F8E5-2347-0402591FCCC3}"/>
              </a:ext>
            </a:extLst>
          </p:cNvPr>
          <p:cNvPicPr>
            <a:picLocks noGrp="1" noChangeAspect="1"/>
          </p:cNvPicPr>
          <p:nvPr>
            <p:ph sz="half" idx="1"/>
          </p:nvPr>
        </p:nvPicPr>
        <p:blipFill>
          <a:blip r:embed="rId3"/>
          <a:stretch>
            <a:fillRect/>
          </a:stretch>
        </p:blipFill>
        <p:spPr>
          <a:xfrm>
            <a:off x="904875" y="1818680"/>
            <a:ext cx="3671888" cy="2753916"/>
          </a:xfrm>
        </p:spPr>
      </p:pic>
      <p:pic>
        <p:nvPicPr>
          <p:cNvPr id="14" name="Content Placeholder 13" descr="A diagram of a diagram&#10;&#10;AI-generated content may be incorrect.">
            <a:extLst>
              <a:ext uri="{FF2B5EF4-FFF2-40B4-BE49-F238E27FC236}">
                <a16:creationId xmlns:a16="http://schemas.microsoft.com/office/drawing/2014/main" id="{78D52841-6D20-3B8C-3BEC-F1292C83322C}"/>
              </a:ext>
            </a:extLst>
          </p:cNvPr>
          <p:cNvPicPr>
            <a:picLocks noGrp="1" noChangeAspect="1"/>
          </p:cNvPicPr>
          <p:nvPr>
            <p:ph sz="half" idx="2"/>
          </p:nvPr>
        </p:nvPicPr>
        <p:blipFill>
          <a:blip r:embed="rId4"/>
          <a:stretch>
            <a:fillRect/>
          </a:stretch>
        </p:blipFill>
        <p:spPr>
          <a:xfrm>
            <a:off x="4959350" y="1818680"/>
            <a:ext cx="3671888" cy="2753916"/>
          </a:xfrm>
        </p:spPr>
      </p:pic>
      <p:sp>
        <p:nvSpPr>
          <p:cNvPr id="8" name="Title 7">
            <a:extLst>
              <a:ext uri="{FF2B5EF4-FFF2-40B4-BE49-F238E27FC236}">
                <a16:creationId xmlns:a16="http://schemas.microsoft.com/office/drawing/2014/main" id="{D5D739A1-DA29-CF5B-B95F-16B082268982}"/>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Dense subgraph correction visually</a:t>
            </a:r>
            <a:endParaRPr lang="en-GB" sz="2400" b="0" i="1" dirty="0"/>
          </a:p>
        </p:txBody>
      </p:sp>
      <p:sp>
        <p:nvSpPr>
          <p:cNvPr id="5" name="Date Placeholder 4">
            <a:extLst>
              <a:ext uri="{FF2B5EF4-FFF2-40B4-BE49-F238E27FC236}">
                <a16:creationId xmlns:a16="http://schemas.microsoft.com/office/drawing/2014/main" id="{91EF6C5B-5DE6-F620-6CE6-9B7EC788B68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551CCCB-2CEA-AC39-931F-EF860B9C114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5D7FC0-1E82-59FE-60B6-6200D3DA6DCE}"/>
              </a:ext>
            </a:extLst>
          </p:cNvPr>
          <p:cNvSpPr>
            <a:spLocks noGrp="1"/>
          </p:cNvSpPr>
          <p:nvPr>
            <p:ph type="sldNum" sz="quarter" idx="12"/>
          </p:nvPr>
        </p:nvSpPr>
        <p:spPr/>
        <p:txBody>
          <a:bodyPr/>
          <a:lstStyle/>
          <a:p>
            <a:fld id="{E1E1CD7C-2161-7D43-862E-CE4C333CD873}" type="slidenum">
              <a:rPr lang="fr-FR" smtClean="0"/>
              <a:pPr/>
              <a:t>76</a:t>
            </a:fld>
            <a:endParaRPr lang="fr-FR" dirty="0"/>
          </a:p>
        </p:txBody>
      </p:sp>
    </p:spTree>
    <p:extLst>
      <p:ext uri="{BB962C8B-B14F-4D97-AF65-F5344CB8AC3E}">
        <p14:creationId xmlns:p14="http://schemas.microsoft.com/office/powerpoint/2010/main" val="1012304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8EE6-6A22-3C4C-20A9-8B3801ED33A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B2C80D-2533-80CB-F6FD-ABC561465F6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Bipartite subgraph correction visually</a:t>
            </a:r>
            <a:endParaRPr lang="en-GB" sz="2400" b="0" i="1" dirty="0"/>
          </a:p>
        </p:txBody>
      </p:sp>
      <p:sp>
        <p:nvSpPr>
          <p:cNvPr id="5" name="Date Placeholder 4">
            <a:extLst>
              <a:ext uri="{FF2B5EF4-FFF2-40B4-BE49-F238E27FC236}">
                <a16:creationId xmlns:a16="http://schemas.microsoft.com/office/drawing/2014/main" id="{31304D93-5A13-6EF9-5F80-A0538C1EA77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763DCF-3116-18AA-5852-4B7EBB2D601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F60288-57FB-34A4-75B1-DD307C58BCD1}"/>
              </a:ext>
            </a:extLst>
          </p:cNvPr>
          <p:cNvSpPr>
            <a:spLocks noGrp="1"/>
          </p:cNvSpPr>
          <p:nvPr>
            <p:ph type="sldNum" sz="quarter" idx="12"/>
          </p:nvPr>
        </p:nvSpPr>
        <p:spPr/>
        <p:txBody>
          <a:bodyPr/>
          <a:lstStyle/>
          <a:p>
            <a:fld id="{E1E1CD7C-2161-7D43-862E-CE4C333CD873}" type="slidenum">
              <a:rPr lang="fr-FR" smtClean="0"/>
              <a:pPr/>
              <a:t>77</a:t>
            </a:fld>
            <a:endParaRPr lang="fr-FR" dirty="0"/>
          </a:p>
        </p:txBody>
      </p:sp>
      <p:pic>
        <p:nvPicPr>
          <p:cNvPr id="11" name="Content Placeholder 10" descr="A diagram of a network&#10;&#10;AI-generated content may be incorrect.">
            <a:extLst>
              <a:ext uri="{FF2B5EF4-FFF2-40B4-BE49-F238E27FC236}">
                <a16:creationId xmlns:a16="http://schemas.microsoft.com/office/drawing/2014/main" id="{E365FF56-9B17-DC36-BC27-F6A6A9455C88}"/>
              </a:ext>
            </a:extLst>
          </p:cNvPr>
          <p:cNvPicPr>
            <a:picLocks noGrp="1" noChangeAspect="1"/>
          </p:cNvPicPr>
          <p:nvPr>
            <p:ph sz="half" idx="1"/>
          </p:nvPr>
        </p:nvPicPr>
        <p:blipFill>
          <a:blip r:embed="rId3"/>
          <a:stretch>
            <a:fillRect/>
          </a:stretch>
        </p:blipFill>
        <p:spPr>
          <a:xfrm>
            <a:off x="904875" y="1818680"/>
            <a:ext cx="3671888" cy="2753916"/>
          </a:xfrm>
        </p:spPr>
      </p:pic>
      <p:pic>
        <p:nvPicPr>
          <p:cNvPr id="15" name="Content Placeholder 14" descr="A diagram of a number of lines&#10;&#10;AI-generated content may be incorrect.">
            <a:extLst>
              <a:ext uri="{FF2B5EF4-FFF2-40B4-BE49-F238E27FC236}">
                <a16:creationId xmlns:a16="http://schemas.microsoft.com/office/drawing/2014/main" id="{E3A479B1-F356-61B6-5DBD-3BE3D4C8342D}"/>
              </a:ext>
            </a:extLst>
          </p:cNvPr>
          <p:cNvPicPr>
            <a:picLocks noGrp="1" noChangeAspect="1"/>
          </p:cNvPicPr>
          <p:nvPr>
            <p:ph sz="half" idx="2"/>
          </p:nvPr>
        </p:nvPicPr>
        <p:blipFill>
          <a:blip r:embed="rId4"/>
          <a:stretch>
            <a:fillRect/>
          </a:stretch>
        </p:blipFill>
        <p:spPr>
          <a:xfrm>
            <a:off x="4959350" y="1818680"/>
            <a:ext cx="3671888" cy="2753916"/>
          </a:xfrm>
        </p:spPr>
      </p:pic>
    </p:spTree>
    <p:extLst>
      <p:ext uri="{BB962C8B-B14F-4D97-AF65-F5344CB8AC3E}">
        <p14:creationId xmlns:p14="http://schemas.microsoft.com/office/powerpoint/2010/main" val="230636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378D2-8E40-127B-7AE9-82D452C652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A8C7DE6-5847-E8BF-5489-C5872031A078}"/>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9C291193-F757-B705-7698-D5C713582EF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5F439DA-80D6-0C5F-FECE-791D6F2D5A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CB1B96B-647D-2A3A-0844-45A963361FB6}"/>
              </a:ext>
            </a:extLst>
          </p:cNvPr>
          <p:cNvSpPr>
            <a:spLocks noGrp="1"/>
          </p:cNvSpPr>
          <p:nvPr>
            <p:ph type="sldNum" sz="quarter" idx="12"/>
          </p:nvPr>
        </p:nvSpPr>
        <p:spPr/>
        <p:txBody>
          <a:bodyPr/>
          <a:lstStyle/>
          <a:p>
            <a:fld id="{E1E1CD7C-2161-7D43-862E-CE4C333CD873}" type="slidenum">
              <a:rPr lang="fr-FR" smtClean="0"/>
              <a:pPr/>
              <a:t>78</a:t>
            </a:fld>
            <a:endParaRPr lang="fr-FR" dirty="0"/>
          </a:p>
        </p:txBody>
      </p:sp>
      <p:graphicFrame>
        <p:nvGraphicFramePr>
          <p:cNvPr id="9" name="Content Placeholder 8">
            <a:extLst>
              <a:ext uri="{FF2B5EF4-FFF2-40B4-BE49-F238E27FC236}">
                <a16:creationId xmlns:a16="http://schemas.microsoft.com/office/drawing/2014/main" id="{8F55DD72-14FF-F2EC-FCBD-CE214A7045DB}"/>
              </a:ext>
            </a:extLst>
          </p:cNvPr>
          <p:cNvGraphicFramePr>
            <a:graphicFrameLocks noGrp="1"/>
          </p:cNvGraphicFramePr>
          <p:nvPr>
            <p:ph idx="1"/>
            <p:extLst>
              <p:ext uri="{D42A27DB-BD31-4B8C-83A1-F6EECF244321}">
                <p14:modId xmlns:p14="http://schemas.microsoft.com/office/powerpoint/2010/main" val="1436270304"/>
              </p:ext>
            </p:extLst>
          </p:nvPr>
        </p:nvGraphicFramePr>
        <p:xfrm>
          <a:off x="904875" y="1563688"/>
          <a:ext cx="7726363" cy="33861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0" name="TextBox 9">
            <a:extLst>
              <a:ext uri="{FF2B5EF4-FFF2-40B4-BE49-F238E27FC236}">
                <a16:creationId xmlns:a16="http://schemas.microsoft.com/office/drawing/2014/main" id="{56848C00-7EFC-FB31-7232-9B73F3791AD6}"/>
              </a:ext>
            </a:extLst>
          </p:cNvPr>
          <p:cNvSpPr txBox="1"/>
          <p:nvPr/>
        </p:nvSpPr>
        <p:spPr>
          <a:xfrm>
            <a:off x="4199640" y="2933590"/>
            <a:ext cx="1136832" cy="646331"/>
          </a:xfrm>
          <a:prstGeom prst="rect">
            <a:avLst/>
          </a:prstGeom>
          <a:noFill/>
        </p:spPr>
        <p:txBody>
          <a:bodyPr wrap="square" rtlCol="0">
            <a:spAutoFit/>
          </a:bodyPr>
          <a:lstStyle/>
          <a:p>
            <a:pPr algn="ctr"/>
            <a:r>
              <a:rPr lang="en-US" sz="1800" dirty="0">
                <a:latin typeface="+mj-lt"/>
              </a:rPr>
              <a:t>Edge</a:t>
            </a:r>
          </a:p>
          <a:p>
            <a:pPr algn="ctr"/>
            <a:r>
              <a:rPr lang="en-US" sz="1800" dirty="0">
                <a:latin typeface="+mj-lt"/>
              </a:rPr>
              <a:t>likelihood</a:t>
            </a:r>
            <a:endParaRPr lang="en-GB" sz="1800" dirty="0">
              <a:latin typeface="+mj-lt"/>
            </a:endParaRPr>
          </a:p>
        </p:txBody>
      </p:sp>
    </p:spTree>
    <p:extLst>
      <p:ext uri="{BB962C8B-B14F-4D97-AF65-F5344CB8AC3E}">
        <p14:creationId xmlns:p14="http://schemas.microsoft.com/office/powerpoint/2010/main" val="2567009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randombar(horizontal)">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0"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79</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49310-151B-44AA-666E-D38F85BDCCC5}"/>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9F3F367-8524-CADF-D69A-0477FB4FCC49}"/>
              </a:ext>
            </a:extLst>
          </p:cNvPr>
          <p:cNvSpPr>
            <a:spLocks noGrp="1"/>
          </p:cNvSpPr>
          <p:nvPr>
            <p:ph idx="1"/>
          </p:nvPr>
        </p:nvSpPr>
        <p:spPr/>
        <p:txBody>
          <a:bodyPr anchor="ctr">
            <a:normAutofit/>
          </a:bodyPr>
          <a:lstStyle/>
          <a:p>
            <a:r>
              <a:rPr lang="en-US" dirty="0">
                <a:latin typeface="+mj-lt"/>
              </a:rPr>
              <a:t>Scalability = holism + reductionism</a:t>
            </a:r>
          </a:p>
          <a:p>
            <a:r>
              <a:rPr lang="en-US" dirty="0">
                <a:latin typeface="+mj-lt"/>
              </a:rPr>
              <a:t>Balance of abstraction and fine-grained detail</a:t>
            </a:r>
          </a:p>
          <a:p>
            <a:r>
              <a:rPr lang="en-US" dirty="0">
                <a:latin typeface="+mj-lt"/>
              </a:rPr>
              <a:t>Promising future: unifying reasoning and generation</a:t>
            </a:r>
          </a:p>
          <a:p>
            <a:pPr lvl="1"/>
            <a:r>
              <a:rPr lang="en-US" dirty="0">
                <a:latin typeface="+mj-lt"/>
              </a:rPr>
              <a:t>Predicting and generating correct facts</a:t>
            </a:r>
          </a:p>
          <a:p>
            <a:pPr lvl="1"/>
            <a:r>
              <a:rPr lang="en-US" dirty="0">
                <a:latin typeface="+mj-lt"/>
              </a:rPr>
              <a:t>Controllable abstraction level</a:t>
            </a:r>
          </a:p>
          <a:p>
            <a:pPr lvl="1"/>
            <a:r>
              <a:rPr lang="en-US" dirty="0">
                <a:latin typeface="+mj-lt"/>
              </a:rPr>
              <a:t>Treating graphs as an evolving knowledge system</a:t>
            </a:r>
          </a:p>
          <a:p>
            <a:r>
              <a:rPr lang="en-US" dirty="0">
                <a:latin typeface="+mj-lt"/>
              </a:rPr>
              <a:t>Go solve that 5x5 Rubik’s cube, it’s worth it, you know how to do it now…</a:t>
            </a:r>
          </a:p>
        </p:txBody>
      </p:sp>
      <p:sp>
        <p:nvSpPr>
          <p:cNvPr id="8" name="Title 7">
            <a:extLst>
              <a:ext uri="{FF2B5EF4-FFF2-40B4-BE49-F238E27FC236}">
                <a16:creationId xmlns:a16="http://schemas.microsoft.com/office/drawing/2014/main" id="{655496E2-D7DB-45C4-0FA3-59549B67DC43}"/>
              </a:ext>
            </a:extLst>
          </p:cNvPr>
          <p:cNvSpPr>
            <a:spLocks noGrp="1"/>
          </p:cNvSpPr>
          <p:nvPr>
            <p:ph type="title"/>
          </p:nvPr>
        </p:nvSpPr>
        <p:spPr>
          <a:xfrm>
            <a:off x="904875" y="131032"/>
            <a:ext cx="7726363" cy="1072753"/>
          </a:xfrm>
        </p:spPr>
        <p:txBody>
          <a:bodyPr>
            <a:normAutofit/>
          </a:bodyPr>
          <a:lstStyle/>
          <a:p>
            <a:r>
              <a:rPr lang="en-US" dirty="0"/>
              <a:t>5.	Conclusions &amp; Future Directions</a:t>
            </a:r>
            <a:endParaRPr lang="en-GB" sz="2400" b="0" i="1" dirty="0"/>
          </a:p>
        </p:txBody>
      </p:sp>
      <p:sp>
        <p:nvSpPr>
          <p:cNvPr id="5" name="Date Placeholder 4">
            <a:extLst>
              <a:ext uri="{FF2B5EF4-FFF2-40B4-BE49-F238E27FC236}">
                <a16:creationId xmlns:a16="http://schemas.microsoft.com/office/drawing/2014/main" id="{0BA782D4-5C49-F93F-5D38-79DA9C5D76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DD1A488-8374-E126-A750-FD553E40E9E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24C5A4D-F755-E6CF-82B5-91F2A00FD635}"/>
              </a:ext>
            </a:extLst>
          </p:cNvPr>
          <p:cNvSpPr>
            <a:spLocks noGrp="1"/>
          </p:cNvSpPr>
          <p:nvPr>
            <p:ph type="sldNum" sz="quarter" idx="12"/>
          </p:nvPr>
        </p:nvSpPr>
        <p:spPr/>
        <p:txBody>
          <a:bodyPr/>
          <a:lstStyle/>
          <a:p>
            <a:fld id="{E1E1CD7C-2161-7D43-862E-CE4C333CD873}" type="slidenum">
              <a:rPr lang="fr-FR" smtClean="0"/>
              <a:pPr/>
              <a:t>80</a:t>
            </a:fld>
            <a:endParaRPr lang="fr-FR" dirty="0"/>
          </a:p>
        </p:txBody>
      </p:sp>
    </p:spTree>
    <p:extLst>
      <p:ext uri="{BB962C8B-B14F-4D97-AF65-F5344CB8AC3E}">
        <p14:creationId xmlns:p14="http://schemas.microsoft.com/office/powerpoint/2010/main" val="113605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7" dur="500"/>
                                        <p:tgtEl>
                                          <p:spTgt spid="4">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randombar(horizontal)">
                                      <p:cBhvr>
                                        <p:cTn id="20" dur="500"/>
                                        <p:tgtEl>
                                          <p:spTgt spid="4">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3" dur="500"/>
                                        <p:tgtEl>
                                          <p:spTgt spid="4">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4" presetClass="entr" presetSubtype="1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randombar(horizontal)">
                                      <p:cBhvr>
                                        <p:cTn id="31"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a:pPr>
            <a:r>
              <a:rPr lang="en-GB" dirty="0">
                <a:latin typeface="+mj-lt"/>
              </a:rPr>
              <a:t>S. L. Hakimi, “On Realizability of a Set of Integers as Degrees of the Vertices of a Linear Graph II. Uniqueness,” </a:t>
            </a:r>
            <a:r>
              <a:rPr lang="en-GB" i="1" dirty="0">
                <a:latin typeface="+mj-lt"/>
              </a:rPr>
              <a:t>Journal of the Society for Industrial and Applied Mathematics</a:t>
            </a:r>
            <a:r>
              <a:rPr lang="en-GB" dirty="0">
                <a:latin typeface="+mj-lt"/>
              </a:rPr>
              <a:t>, vol. 11, no. 1, pp. 135–147, Mar. 1963, </a:t>
            </a:r>
            <a:r>
              <a:rPr lang="en-GB" dirty="0" err="1">
                <a:latin typeface="+mj-lt"/>
              </a:rPr>
              <a:t>doi</a:t>
            </a:r>
            <a:r>
              <a:rPr lang="en-GB" dirty="0">
                <a:latin typeface="+mj-lt"/>
              </a:rPr>
              <a:t>: </a:t>
            </a:r>
            <a:r>
              <a:rPr lang="en-GB" dirty="0">
                <a:latin typeface="+mj-lt"/>
                <a:hlinkClick r:id="rId3"/>
              </a:rPr>
              <a:t>10.1137/0111010</a:t>
            </a:r>
            <a:r>
              <a:rPr lang="en-GB" dirty="0">
                <a:latin typeface="+mj-lt"/>
              </a:rPr>
              <a:t>.</a:t>
            </a:r>
          </a:p>
          <a:p>
            <a:pPr marL="342900" indent="-342900">
              <a:buFont typeface="+mj-lt"/>
              <a:buAutoNum type="arabicPeriod"/>
            </a:pPr>
            <a:r>
              <a:rPr lang="en-GB" dirty="0">
                <a:latin typeface="+mj-lt"/>
              </a:rPr>
              <a:t>D. J. Aldous, “Exchangeability and related topics,” in </a:t>
            </a:r>
            <a:r>
              <a:rPr lang="en-GB" i="1" dirty="0">
                <a:latin typeface="+mj-lt"/>
              </a:rPr>
              <a:t>École </a:t>
            </a:r>
            <a:r>
              <a:rPr lang="en-GB" i="1" dirty="0" err="1">
                <a:latin typeface="+mj-lt"/>
              </a:rPr>
              <a:t>d’Été</a:t>
            </a:r>
            <a:r>
              <a:rPr lang="en-GB" i="1" dirty="0">
                <a:latin typeface="+mj-lt"/>
              </a:rPr>
              <a:t> de </a:t>
            </a:r>
            <a:r>
              <a:rPr lang="en-GB" i="1" dirty="0" err="1">
                <a:latin typeface="+mj-lt"/>
              </a:rPr>
              <a:t>Probabilités</a:t>
            </a:r>
            <a:r>
              <a:rPr lang="en-GB" i="1" dirty="0">
                <a:latin typeface="+mj-lt"/>
              </a:rPr>
              <a:t> de Saint-Flour XIII — 1983</a:t>
            </a:r>
            <a:r>
              <a:rPr lang="en-GB" dirty="0">
                <a:latin typeface="+mj-lt"/>
              </a:rPr>
              <a:t>, D. J. Aldous, I. A. Ibragimov, J. </a:t>
            </a:r>
            <a:r>
              <a:rPr lang="en-GB" dirty="0" err="1">
                <a:latin typeface="+mj-lt"/>
              </a:rPr>
              <a:t>Jacod</a:t>
            </a:r>
            <a:r>
              <a:rPr lang="en-GB" dirty="0">
                <a:latin typeface="+mj-lt"/>
              </a:rPr>
              <a:t>, and P. L. </a:t>
            </a:r>
            <a:r>
              <a:rPr lang="en-GB" dirty="0" err="1">
                <a:latin typeface="+mj-lt"/>
              </a:rPr>
              <a:t>Hennequin</a:t>
            </a:r>
            <a:r>
              <a:rPr lang="en-GB" dirty="0">
                <a:latin typeface="+mj-lt"/>
              </a:rPr>
              <a:t>, Eds., in Lecture Notes in Mathematics. Berlin, Heidelberg: Springer, 1985, pp. 1–198. </a:t>
            </a:r>
            <a:r>
              <a:rPr lang="en-GB" dirty="0" err="1">
                <a:latin typeface="+mj-lt"/>
              </a:rPr>
              <a:t>doi</a:t>
            </a:r>
            <a:r>
              <a:rPr lang="en-GB" dirty="0">
                <a:latin typeface="+mj-lt"/>
              </a:rPr>
              <a:t>: </a:t>
            </a:r>
            <a:r>
              <a:rPr lang="en-GB" dirty="0">
                <a:latin typeface="+mj-lt"/>
                <a:hlinkClick r:id="rId4"/>
              </a:rPr>
              <a:t>10.1007/BFb0099421</a:t>
            </a:r>
            <a:r>
              <a:rPr lang="en-GB" dirty="0">
                <a:latin typeface="+mj-lt"/>
              </a:rPr>
              <a:t>.</a:t>
            </a:r>
          </a:p>
          <a:p>
            <a:pPr marL="342900" indent="-342900">
              <a:buFont typeface="+mj-lt"/>
              <a:buAutoNum type="arabicPeriod"/>
            </a:pPr>
            <a:r>
              <a:rPr lang="en-GB" dirty="0">
                <a:latin typeface="+mj-lt"/>
              </a:rPr>
              <a:t>B. </a:t>
            </a:r>
            <a:r>
              <a:rPr lang="en-GB" dirty="0" err="1">
                <a:latin typeface="+mj-lt"/>
              </a:rPr>
              <a:t>Fristedt</a:t>
            </a:r>
            <a:r>
              <a:rPr lang="en-GB" dirty="0">
                <a:latin typeface="+mj-lt"/>
              </a:rPr>
              <a:t>, “The structure of random partitions of large integers,” </a:t>
            </a:r>
            <a:r>
              <a:rPr lang="en-GB" i="1" dirty="0">
                <a:latin typeface="+mj-lt"/>
              </a:rPr>
              <a:t>Transactions of the American Mathematical Society</a:t>
            </a:r>
            <a:r>
              <a:rPr lang="en-GB" dirty="0">
                <a:latin typeface="+mj-lt"/>
              </a:rPr>
              <a:t>, vol. 337, no. 2, pp. 703–735, 1993, </a:t>
            </a:r>
            <a:r>
              <a:rPr lang="en-GB" dirty="0" err="1">
                <a:latin typeface="+mj-lt"/>
              </a:rPr>
              <a:t>doi</a:t>
            </a:r>
            <a:r>
              <a:rPr lang="en-GB" dirty="0">
                <a:latin typeface="+mj-lt"/>
              </a:rPr>
              <a:t>: </a:t>
            </a:r>
            <a:r>
              <a:rPr lang="en-GB" dirty="0">
                <a:latin typeface="+mj-lt"/>
                <a:hlinkClick r:id="rId5"/>
              </a:rPr>
              <a:t>10.1090/S0002-9947-1993-1094553-1</a:t>
            </a:r>
            <a:r>
              <a:rPr lang="en-GB" dirty="0">
                <a:latin typeface="+mj-lt"/>
              </a:rPr>
              <a:t>.</a:t>
            </a:r>
          </a:p>
          <a:p>
            <a:pPr marL="342900" indent="-342900">
              <a:buFont typeface="+mj-lt"/>
              <a:buAutoNum type="arabicPeriod"/>
            </a:pPr>
            <a:r>
              <a:rPr lang="en-GB" dirty="0">
                <a:latin typeface="+mj-lt"/>
              </a:rPr>
              <a:t>I. B. Boneva, A. Rensink, M. E. Kurban, and J. Bauer, “Graph Abstraction and Abstract Graph Transformation,” July 2007, Accessed: Aug. 20, 2025. [Online]. Available: </a:t>
            </a:r>
            <a:r>
              <a:rPr lang="en-GB" dirty="0">
                <a:latin typeface="+mj-lt"/>
                <a:hlinkClick r:id="rId6"/>
              </a:rPr>
              <a:t>https://research.utwente.nl/en/publications/graph-abstraction-and-abstract-graph-transformation</a:t>
            </a:r>
            <a:endParaRPr lang="en-GB" dirty="0">
              <a:latin typeface="+mj-lt"/>
            </a:endParaRPr>
          </a:p>
          <a:p>
            <a:pPr marL="342900" indent="-342900">
              <a:buFont typeface="+mj-lt"/>
              <a:buAutoNum type="arabicPeriod"/>
            </a:pPr>
            <a:r>
              <a:rPr lang="en-GB" dirty="0">
                <a:latin typeface="+mj-lt"/>
              </a:rPr>
              <a:t>J. Sohl-Dickstein, E. Weiss, N. </a:t>
            </a:r>
            <a:r>
              <a:rPr lang="en-GB" dirty="0" err="1">
                <a:latin typeface="+mj-lt"/>
              </a:rPr>
              <a:t>Maheswaranathan</a:t>
            </a:r>
            <a:r>
              <a:rPr lang="en-GB" dirty="0">
                <a:latin typeface="+mj-lt"/>
              </a:rPr>
              <a:t>, and S. Ganguli, “Deep Unsupervised Learning using Nonequilibrium Thermodynamics,” in </a:t>
            </a:r>
            <a:r>
              <a:rPr lang="en-GB" i="1" dirty="0">
                <a:latin typeface="+mj-lt"/>
              </a:rPr>
              <a:t>Proceedings of the 32nd International Conference on Machine Learning</a:t>
            </a:r>
            <a:r>
              <a:rPr lang="en-GB" dirty="0">
                <a:latin typeface="+mj-lt"/>
              </a:rPr>
              <a:t>, PMLR, June 2015, pp. 2256–2265. Accessed: Aug. 28, 2025. [Online]. Available: </a:t>
            </a:r>
            <a:r>
              <a:rPr lang="en-GB" dirty="0">
                <a:latin typeface="+mj-lt"/>
                <a:hlinkClick r:id="rId7"/>
              </a:rPr>
              <a:t>https://proceedings.mlr.press/v37/sohl-dickstein15.html</a:t>
            </a:r>
            <a:endParaRPr lang="en-GB" dirty="0">
              <a:latin typeface="+mj-lt"/>
            </a:endParaRPr>
          </a:p>
          <a:p>
            <a:pPr marL="342900" indent="-342900">
              <a:buFont typeface="+mj-lt"/>
              <a:buAutoNum type="arabicPeriod"/>
            </a:pPr>
            <a:r>
              <a:rPr lang="en-GB" dirty="0">
                <a:latin typeface="+mj-lt"/>
              </a:rPr>
              <a:t>M. </a:t>
            </a:r>
            <a:r>
              <a:rPr lang="en-GB" dirty="0" err="1">
                <a:latin typeface="+mj-lt"/>
              </a:rPr>
              <a:t>Arjovsky</a:t>
            </a:r>
            <a:r>
              <a:rPr lang="en-GB" dirty="0">
                <a:latin typeface="+mj-lt"/>
              </a:rPr>
              <a:t>, S. Chintala, and L. </a:t>
            </a:r>
            <a:r>
              <a:rPr lang="en-GB" dirty="0" err="1">
                <a:latin typeface="+mj-lt"/>
              </a:rPr>
              <a:t>Bottou</a:t>
            </a:r>
            <a:r>
              <a:rPr lang="en-GB" dirty="0">
                <a:latin typeface="+mj-lt"/>
              </a:rPr>
              <a:t>, “Wasserstein Generative Adversarial Networks,” in </a:t>
            </a:r>
            <a:r>
              <a:rPr lang="en-GB" i="1" dirty="0">
                <a:latin typeface="+mj-lt"/>
              </a:rPr>
              <a:t>Proceedings of the 34th International Conference on Machine Learning</a:t>
            </a:r>
            <a:r>
              <a:rPr lang="en-GB" dirty="0">
                <a:latin typeface="+mj-lt"/>
              </a:rPr>
              <a:t>, PMLR, July 2017, pp. 214–223. Accessed: Aug. 27, 2025. [Online]. Available: </a:t>
            </a:r>
            <a:r>
              <a:rPr lang="en-GB" dirty="0">
                <a:latin typeface="+mj-lt"/>
                <a:hlinkClick r:id="rId8"/>
              </a:rPr>
              <a:t>https://proceedings.mlr.press/v70/arjovsky17a.html</a:t>
            </a:r>
            <a:endParaRPr lang="en-GB" dirty="0">
              <a:latin typeface="+mj-lt"/>
            </a:endParaRPr>
          </a:p>
          <a:p>
            <a:pPr marL="342900" indent="-342900">
              <a:buFont typeface="+mj-lt"/>
              <a:buAutoNum type="arabicPeriod"/>
            </a:pPr>
            <a:r>
              <a:rPr lang="en-GB" dirty="0">
                <a:latin typeface="+mj-lt"/>
              </a:rPr>
              <a:t>P. W. Battaglia </a:t>
            </a:r>
            <a:r>
              <a:rPr lang="en-GB" i="1" dirty="0">
                <a:latin typeface="+mj-lt"/>
              </a:rPr>
              <a:t>et al.</a:t>
            </a:r>
            <a:r>
              <a:rPr lang="en-GB" dirty="0">
                <a:latin typeface="+mj-lt"/>
              </a:rPr>
              <a:t>, “Relational inductive biases, deep learning, and graph networks,” </a:t>
            </a:r>
            <a:r>
              <a:rPr lang="en-GB" i="1" dirty="0">
                <a:latin typeface="+mj-lt"/>
              </a:rPr>
              <a:t>arXiv:1806.01261 [cs, stat]</a:t>
            </a:r>
            <a:r>
              <a:rPr lang="en-GB" dirty="0">
                <a:latin typeface="+mj-lt"/>
              </a:rPr>
              <a:t>, Oct. 2018, Accessed: Oct. 08, 2021. [Online]. Available: </a:t>
            </a:r>
            <a:r>
              <a:rPr lang="en-GB" dirty="0">
                <a:latin typeface="+mj-lt"/>
                <a:hlinkClick r:id="rId9"/>
              </a:rPr>
              <a:t>http://arxiv.org/abs/1806.01261</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81</a:t>
            </a:fld>
            <a:endParaRPr lang="fr-FR" dirty="0"/>
          </a:p>
        </p:txBody>
      </p:sp>
    </p:spTree>
    <p:extLst>
      <p:ext uri="{BB962C8B-B14F-4D97-AF65-F5344CB8AC3E}">
        <p14:creationId xmlns:p14="http://schemas.microsoft.com/office/powerpoint/2010/main" val="34657945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8"/>
            </a:pPr>
            <a:r>
              <a:rPr lang="en-GB" dirty="0">
                <a:latin typeface="+mj-lt"/>
              </a:rPr>
              <a:t>A. Lerer </a:t>
            </a:r>
            <a:r>
              <a:rPr lang="en-GB" i="1" dirty="0">
                <a:latin typeface="+mj-lt"/>
              </a:rPr>
              <a:t>et al.</a:t>
            </a:r>
            <a:r>
              <a:rPr lang="en-GB" dirty="0">
                <a:latin typeface="+mj-lt"/>
              </a:rPr>
              <a:t>, “</a:t>
            </a:r>
            <a:r>
              <a:rPr lang="en-GB" dirty="0" err="1">
                <a:latin typeface="+mj-lt"/>
              </a:rPr>
              <a:t>Pytorch-BigGraph</a:t>
            </a:r>
            <a:r>
              <a:rPr lang="en-GB" dirty="0">
                <a:latin typeface="+mj-lt"/>
              </a:rPr>
              <a:t>: A Large Scale Graph Embedding System,” </a:t>
            </a:r>
            <a:r>
              <a:rPr lang="en-GB" i="1" dirty="0">
                <a:latin typeface="+mj-lt"/>
              </a:rPr>
              <a:t>Proceedings of Machine Learning and Systems</a:t>
            </a:r>
            <a:r>
              <a:rPr lang="en-GB" dirty="0">
                <a:latin typeface="+mj-lt"/>
              </a:rPr>
              <a:t>, vol. 1, pp. 120–131, Apr. 2019, Accessed: Sept. 20, 2022. [Online]. Available: </a:t>
            </a:r>
            <a:r>
              <a:rPr lang="en-GB" dirty="0">
                <a:latin typeface="+mj-lt"/>
                <a:hlinkClick r:id="rId3"/>
              </a:rPr>
              <a:t>https://proceedings.mlsys.org/paper/2019/hash/e2c420d928d4bf8ce0ff2ec19b371514-Abstract.html</a:t>
            </a:r>
            <a:endParaRPr lang="en-GB" dirty="0">
              <a:latin typeface="+mj-lt"/>
            </a:endParaRPr>
          </a:p>
          <a:p>
            <a:pPr marL="342900" indent="-342900">
              <a:buFont typeface="+mj-lt"/>
              <a:buAutoNum type="arabicPeriod" startAt="8"/>
            </a:pPr>
            <a:r>
              <a:rPr lang="en-GB" dirty="0">
                <a:latin typeface="+mj-lt"/>
              </a:rPr>
              <a:t>D. Nathani, J. Chauhan, C. Sharma, and M. Kaul, “Learning Attention-based Embeddings for Relation Prediction in Knowledge Graphs,” in </a:t>
            </a:r>
            <a:r>
              <a:rPr lang="en-GB" i="1" dirty="0">
                <a:latin typeface="+mj-lt"/>
              </a:rPr>
              <a:t>Proceedings of the 57th Annual Meeting of the Association for Computational Linguistics</a:t>
            </a:r>
            <a:r>
              <a:rPr lang="en-GB" dirty="0">
                <a:latin typeface="+mj-lt"/>
              </a:rPr>
              <a:t>, Florence, Italy: Association for Computational Linguistics, July 2019, pp. 4710–4723. </a:t>
            </a:r>
            <a:r>
              <a:rPr lang="en-GB" dirty="0" err="1">
                <a:latin typeface="+mj-lt"/>
              </a:rPr>
              <a:t>doi</a:t>
            </a:r>
            <a:r>
              <a:rPr lang="en-GB" dirty="0">
                <a:latin typeface="+mj-lt"/>
              </a:rPr>
              <a:t>: </a:t>
            </a:r>
            <a:r>
              <a:rPr lang="en-GB" dirty="0">
                <a:latin typeface="+mj-lt"/>
                <a:hlinkClick r:id="rId4"/>
              </a:rPr>
              <a:t>10.18653/v1/P19-1466</a:t>
            </a:r>
            <a:r>
              <a:rPr lang="en-GB" dirty="0">
                <a:latin typeface="+mj-lt"/>
              </a:rPr>
              <a:t>.</a:t>
            </a:r>
          </a:p>
          <a:p>
            <a:pPr marL="342900" indent="-342900">
              <a:buFont typeface="+mj-lt"/>
              <a:buAutoNum type="arabicPeriod" startAt="8"/>
            </a:pPr>
            <a:r>
              <a:rPr lang="en-GB" dirty="0">
                <a:latin typeface="+mj-lt"/>
              </a:rPr>
              <a:t>H. Ren, W. Hu, and J. Leskovec, “Query2box: Reasoning over Knowledge Graphs in Vector Space Using Box Embeddings,” in </a:t>
            </a:r>
            <a:r>
              <a:rPr lang="en-GB" i="1" dirty="0">
                <a:latin typeface="+mj-lt"/>
              </a:rPr>
              <a:t>8th International Conference on Learning Representations, ICLR 2020, Addis Ababa, Ethiopia, April 26-30, 2020</a:t>
            </a:r>
            <a:r>
              <a:rPr lang="en-GB" dirty="0">
                <a:latin typeface="+mj-lt"/>
              </a:rPr>
              <a:t>, OpenReview.net, 2020. [Online]. Available: </a:t>
            </a:r>
            <a:r>
              <a:rPr lang="en-GB" dirty="0">
                <a:latin typeface="+mj-lt"/>
                <a:hlinkClick r:id="rId5"/>
              </a:rPr>
              <a:t>https://openreview.net/forum?id=BJgr4kSFDS</a:t>
            </a:r>
            <a:endParaRPr lang="en-GB" dirty="0">
              <a:latin typeface="+mj-lt"/>
            </a:endParaRPr>
          </a:p>
          <a:p>
            <a:pPr marL="342900" indent="-342900">
              <a:buFont typeface="+mj-lt"/>
              <a:buAutoNum type="arabicPeriod" startAt="8"/>
            </a:pPr>
            <a:r>
              <a:rPr lang="en-GB" dirty="0">
                <a:latin typeface="+mj-lt"/>
              </a:rPr>
              <a:t>R. Shen, K. Tian, and Y. Tat Lee, “Composite </a:t>
            </a:r>
            <a:r>
              <a:rPr lang="en-GB" dirty="0" err="1">
                <a:latin typeface="+mj-lt"/>
              </a:rPr>
              <a:t>Logconcave</a:t>
            </a:r>
            <a:r>
              <a:rPr lang="en-GB" dirty="0">
                <a:latin typeface="+mj-lt"/>
              </a:rPr>
              <a:t> Sampling with a Restricted Gaussian Oracle,” June 01, 2020, </a:t>
            </a:r>
            <a:r>
              <a:rPr lang="en-GB" i="1" dirty="0" err="1">
                <a:latin typeface="+mj-lt"/>
              </a:rPr>
              <a:t>arXiv</a:t>
            </a:r>
            <a:r>
              <a:rPr lang="en-GB" dirty="0">
                <a:latin typeface="+mj-lt"/>
              </a:rPr>
              <a:t>. </a:t>
            </a:r>
            <a:r>
              <a:rPr lang="en-GB" dirty="0" err="1">
                <a:latin typeface="+mj-lt"/>
              </a:rPr>
              <a:t>doi</a:t>
            </a:r>
            <a:r>
              <a:rPr lang="en-GB" dirty="0">
                <a:latin typeface="+mj-lt"/>
              </a:rPr>
              <a:t>: </a:t>
            </a:r>
            <a:r>
              <a:rPr lang="en-GB" dirty="0">
                <a:latin typeface="+mj-lt"/>
                <a:hlinkClick r:id="rId6"/>
              </a:rPr>
              <a:t>10.48550/arXiv.2006.05976</a:t>
            </a:r>
            <a:r>
              <a:rPr lang="en-GB" dirty="0">
                <a:latin typeface="+mj-lt"/>
              </a:rPr>
              <a:t>.</a:t>
            </a:r>
          </a:p>
          <a:p>
            <a:pPr marL="342900" indent="-342900">
              <a:buFont typeface="+mj-lt"/>
              <a:buAutoNum type="arabicPeriod" startAt="8"/>
            </a:pPr>
            <a:r>
              <a:rPr lang="en-GB" dirty="0">
                <a:latin typeface="+mj-lt"/>
              </a:rPr>
              <a:t>D. Zheng </a:t>
            </a:r>
            <a:r>
              <a:rPr lang="en-GB" i="1" dirty="0">
                <a:latin typeface="+mj-lt"/>
              </a:rPr>
              <a:t>et al.</a:t>
            </a:r>
            <a:r>
              <a:rPr lang="en-GB" dirty="0">
                <a:latin typeface="+mj-lt"/>
              </a:rPr>
              <a:t>, “DGL-KE: Training Knowledge Graph Embeddings at Scale,” in </a:t>
            </a:r>
            <a:r>
              <a:rPr lang="en-GB" i="1" dirty="0">
                <a:latin typeface="+mj-lt"/>
              </a:rPr>
              <a:t>Proceedings of the 43rd International ACM SIGIR Conference on Research and Development in Information Retrieval</a:t>
            </a:r>
            <a:r>
              <a:rPr lang="en-GB" dirty="0">
                <a:latin typeface="+mj-lt"/>
              </a:rPr>
              <a:t>, in SIGIR ’20. New York, NY, USA: Association for Computing Machinery, July 2020, pp. 739–748. </a:t>
            </a:r>
            <a:r>
              <a:rPr lang="en-GB" dirty="0" err="1">
                <a:latin typeface="+mj-lt"/>
              </a:rPr>
              <a:t>doi</a:t>
            </a:r>
            <a:r>
              <a:rPr lang="en-GB" dirty="0">
                <a:latin typeface="+mj-lt"/>
              </a:rPr>
              <a:t>: </a:t>
            </a:r>
            <a:r>
              <a:rPr lang="en-GB" dirty="0">
                <a:latin typeface="+mj-lt"/>
                <a:hlinkClick r:id="rId7"/>
              </a:rPr>
              <a:t>10.1145/3397271.3401172</a:t>
            </a:r>
            <a:r>
              <a:rPr lang="en-GB" dirty="0">
                <a:latin typeface="+mj-lt"/>
              </a:rPr>
              <a:t>.</a:t>
            </a:r>
          </a:p>
          <a:p>
            <a:pPr marL="342900" indent="-342900">
              <a:buFont typeface="+mj-lt"/>
              <a:buAutoNum type="arabicPeriod" startAt="8"/>
            </a:pPr>
            <a:r>
              <a:rPr lang="en-GB" dirty="0">
                <a:latin typeface="+mj-lt"/>
              </a:rPr>
              <a:t>I. Krawczuk, P. Abranches, A. Loukas, and V. Cevher, “GG-GAN: A Geometric Graph Generative Adversarial Network,” Sept. 2020, Accessed: Sept. 12, 2021. [Online]. Available: </a:t>
            </a:r>
            <a:r>
              <a:rPr lang="en-GB" dirty="0">
                <a:latin typeface="+mj-lt"/>
                <a:hlinkClick r:id="rId8"/>
              </a:rPr>
              <a:t>https://openreview.net/forum?id=qiAxL3Xqx1o</a:t>
            </a:r>
            <a:endParaRPr lang="en-GB" dirty="0">
              <a:latin typeface="+mj-lt"/>
            </a:endParaRPr>
          </a:p>
          <a:p>
            <a:pPr marL="342900" indent="-342900">
              <a:buFont typeface="+mj-lt"/>
              <a:buAutoNum type="arabicPeriod" startAt="8"/>
            </a:pPr>
            <a:r>
              <a:rPr lang="en-GB" dirty="0">
                <a:latin typeface="+mj-lt"/>
              </a:rPr>
              <a:t>A. Hogan </a:t>
            </a:r>
            <a:r>
              <a:rPr lang="en-GB" i="1" dirty="0">
                <a:latin typeface="+mj-lt"/>
              </a:rPr>
              <a:t>et al.</a:t>
            </a:r>
            <a:r>
              <a:rPr lang="en-GB" dirty="0">
                <a:latin typeface="+mj-lt"/>
              </a:rPr>
              <a:t>, “Knowledge Graphs,” </a:t>
            </a:r>
            <a:r>
              <a:rPr lang="en-GB" i="1" dirty="0">
                <a:latin typeface="+mj-lt"/>
              </a:rPr>
              <a:t>ACM Comput. </a:t>
            </a:r>
            <a:r>
              <a:rPr lang="en-GB" i="1" dirty="0" err="1">
                <a:latin typeface="+mj-lt"/>
              </a:rPr>
              <a:t>Surv</a:t>
            </a:r>
            <a:r>
              <a:rPr lang="en-GB" i="1" dirty="0">
                <a:latin typeface="+mj-lt"/>
              </a:rPr>
              <a:t>.</a:t>
            </a:r>
            <a:r>
              <a:rPr lang="en-GB" dirty="0">
                <a:latin typeface="+mj-lt"/>
              </a:rPr>
              <a:t>, vol. 54, no. 4, p. 71:1-71:37, July 2021, </a:t>
            </a:r>
            <a:r>
              <a:rPr lang="en-GB" dirty="0" err="1">
                <a:latin typeface="+mj-lt"/>
              </a:rPr>
              <a:t>doi</a:t>
            </a:r>
            <a:r>
              <a:rPr lang="en-GB" dirty="0">
                <a:latin typeface="+mj-lt"/>
              </a:rPr>
              <a:t>: </a:t>
            </a:r>
            <a:r>
              <a:rPr lang="en-GB" dirty="0">
                <a:latin typeface="+mj-lt"/>
                <a:hlinkClick r:id="rId9"/>
              </a:rPr>
              <a:t>10.1145/3447772</a:t>
            </a:r>
            <a:r>
              <a:rPr lang="en-GB" dirty="0">
                <a:latin typeface="+mj-lt"/>
              </a:rPr>
              <a:t>.</a:t>
            </a: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82</a:t>
            </a:fld>
            <a:endParaRPr lang="fr-FR" dirty="0"/>
          </a:p>
        </p:txBody>
      </p:sp>
    </p:spTree>
    <p:extLst>
      <p:ext uri="{BB962C8B-B14F-4D97-AF65-F5344CB8AC3E}">
        <p14:creationId xmlns:p14="http://schemas.microsoft.com/office/powerpoint/2010/main" val="2989178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15"/>
            </a:pPr>
            <a:r>
              <a:rPr lang="en-GB" dirty="0">
                <a:latin typeface="+mj-lt"/>
              </a:rPr>
              <a:t>A. Janchevski, “Graph Embedding Methods for Graph Completion,” Master’s Thesis, EPFL, Lausanne, 2021. [Online]. Available: </a:t>
            </a:r>
            <a:r>
              <a:rPr lang="en-GB" dirty="0">
                <a:latin typeface="+mj-lt"/>
                <a:hlinkClick r:id="rId3"/>
              </a:rPr>
              <a:t>https://infoscience.epfl.ch/handle/20.500.14299/253964</a:t>
            </a:r>
            <a:endParaRPr lang="en-GB" dirty="0">
              <a:latin typeface="+mj-lt"/>
            </a:endParaRPr>
          </a:p>
          <a:p>
            <a:pPr marL="342900" indent="-342900">
              <a:buFont typeface="+mj-lt"/>
              <a:buAutoNum type="arabicPeriod" startAt="15"/>
            </a:pPr>
            <a:r>
              <a:rPr lang="en-GB" dirty="0">
                <a:latin typeface="+mj-lt"/>
              </a:rPr>
              <a:t>H. Ren </a:t>
            </a:r>
            <a:r>
              <a:rPr lang="en-GB" i="1" dirty="0">
                <a:latin typeface="+mj-lt"/>
              </a:rPr>
              <a:t>et al.</a:t>
            </a:r>
            <a:r>
              <a:rPr lang="en-GB" dirty="0">
                <a:latin typeface="+mj-lt"/>
              </a:rPr>
              <a:t>, “SMORE: Knowledge Graph Completion and Multi-hop Reasoning in Massive Knowledge Graphs,” Nov. 01, 2021, </a:t>
            </a:r>
            <a:r>
              <a:rPr lang="en-GB" i="1" dirty="0" err="1">
                <a:latin typeface="+mj-lt"/>
              </a:rPr>
              <a:t>arXiv</a:t>
            </a:r>
            <a:r>
              <a:rPr lang="en-GB" dirty="0">
                <a:latin typeface="+mj-lt"/>
              </a:rPr>
              <a:t>: arXiv:2110.14890. </a:t>
            </a:r>
            <a:r>
              <a:rPr lang="en-GB" dirty="0" err="1">
                <a:latin typeface="+mj-lt"/>
              </a:rPr>
              <a:t>doi</a:t>
            </a:r>
            <a:r>
              <a:rPr lang="en-GB" dirty="0">
                <a:latin typeface="+mj-lt"/>
              </a:rPr>
              <a:t>: </a:t>
            </a:r>
            <a:r>
              <a:rPr lang="en-GB" dirty="0">
                <a:latin typeface="+mj-lt"/>
                <a:hlinkClick r:id="rId4"/>
              </a:rPr>
              <a:t>10.48550/arXiv.2110.14890</a:t>
            </a:r>
            <a:r>
              <a:rPr lang="en-GB" dirty="0">
                <a:latin typeface="+mj-lt"/>
              </a:rPr>
              <a:t>.</a:t>
            </a:r>
          </a:p>
          <a:p>
            <a:pPr marL="342900" indent="-342900">
              <a:buFont typeface="+mj-lt"/>
              <a:buAutoNum type="arabicPeriod" startAt="15"/>
            </a:pPr>
            <a:r>
              <a:rPr lang="en-GB" dirty="0">
                <a:latin typeface="+mj-lt"/>
              </a:rPr>
              <a:t>M. Galkin, E. G. Denis, J. Wu, and W. L. Hamilton, “</a:t>
            </a:r>
            <a:r>
              <a:rPr lang="en-GB" dirty="0" err="1">
                <a:latin typeface="+mj-lt"/>
              </a:rPr>
              <a:t>NodePiece</a:t>
            </a:r>
            <a:r>
              <a:rPr lang="en-GB" dirty="0">
                <a:latin typeface="+mj-lt"/>
              </a:rPr>
              <a:t>: Compositional and Parameter-Efficient Representations of Large Knowledge Graphs,” in </a:t>
            </a:r>
            <a:r>
              <a:rPr lang="en-GB" i="1" dirty="0">
                <a:latin typeface="+mj-lt"/>
              </a:rPr>
              <a:t>The Tenth International Conference on Learning Representations, ICLR 2022, Virtual Event, April 25-29, 2022</a:t>
            </a:r>
            <a:r>
              <a:rPr lang="en-GB" dirty="0">
                <a:latin typeface="+mj-lt"/>
              </a:rPr>
              <a:t>, OpenReview.net, 2022. [Online]. Available: </a:t>
            </a:r>
            <a:r>
              <a:rPr lang="en-GB" dirty="0">
                <a:latin typeface="+mj-lt"/>
                <a:hlinkClick r:id="rId5"/>
              </a:rPr>
              <a:t>https://openreview.net/forum?id=xMJWUKJnFSw</a:t>
            </a:r>
            <a:endParaRPr lang="en-GB" dirty="0">
              <a:latin typeface="+mj-lt"/>
            </a:endParaRPr>
          </a:p>
          <a:p>
            <a:pPr marL="342900" indent="-342900">
              <a:buFont typeface="+mj-lt"/>
              <a:buAutoNum type="arabicPeriod" startAt="15"/>
            </a:pPr>
            <a:r>
              <a:rPr lang="en-GB" dirty="0">
                <a:latin typeface="+mj-lt"/>
              </a:rPr>
              <a:t>C. </a:t>
            </a:r>
            <a:r>
              <a:rPr lang="en-GB" dirty="0" err="1">
                <a:latin typeface="+mj-lt"/>
              </a:rPr>
              <a:t>Vignac</a:t>
            </a:r>
            <a:r>
              <a:rPr lang="en-GB" dirty="0">
                <a:latin typeface="+mj-lt"/>
              </a:rPr>
              <a:t>, I. Krawczuk, A. </a:t>
            </a:r>
            <a:r>
              <a:rPr lang="en-GB" dirty="0" err="1">
                <a:latin typeface="+mj-lt"/>
              </a:rPr>
              <a:t>Siraudin</a:t>
            </a:r>
            <a:r>
              <a:rPr lang="en-GB" dirty="0">
                <a:latin typeface="+mj-lt"/>
              </a:rPr>
              <a:t>, B. Wang, V. Cevher, and P. Frossard, “</a:t>
            </a:r>
            <a:r>
              <a:rPr lang="en-GB" dirty="0" err="1">
                <a:latin typeface="+mj-lt"/>
              </a:rPr>
              <a:t>DiGress</a:t>
            </a:r>
            <a:r>
              <a:rPr lang="en-GB" dirty="0">
                <a:latin typeface="+mj-lt"/>
              </a:rPr>
              <a:t>: Discrete Denoising diffusion for graph generation,” presented at the </a:t>
            </a:r>
            <a:r>
              <a:rPr lang="en-GB" dirty="0" err="1">
                <a:latin typeface="+mj-lt"/>
              </a:rPr>
              <a:t>The</a:t>
            </a:r>
            <a:r>
              <a:rPr lang="en-GB" dirty="0">
                <a:latin typeface="+mj-lt"/>
              </a:rPr>
              <a:t> Eleventh International Conference on Learning Representations, Sept. 2022. Accessed: Jan. 30, 2025. [Online]. Available: </a:t>
            </a:r>
            <a:r>
              <a:rPr lang="en-GB" dirty="0">
                <a:latin typeface="+mj-lt"/>
                <a:hlinkClick r:id="rId6"/>
              </a:rPr>
              <a:t>https://openreview.net/forum?id=UaAD-Nu86WX</a:t>
            </a:r>
            <a:endParaRPr lang="en-GB" dirty="0">
              <a:latin typeface="+mj-lt"/>
            </a:endParaRPr>
          </a:p>
          <a:p>
            <a:pPr marL="342900" indent="-342900">
              <a:buFont typeface="+mj-lt"/>
              <a:buAutoNum type="arabicPeriod" startAt="15"/>
            </a:pPr>
            <a:r>
              <a:rPr lang="en-GB" dirty="0">
                <a:latin typeface="+mj-lt"/>
              </a:rPr>
              <a:t>M. Chen </a:t>
            </a:r>
            <a:r>
              <a:rPr lang="en-GB" i="1" dirty="0">
                <a:latin typeface="+mj-lt"/>
              </a:rPr>
              <a:t>et al.</a:t>
            </a:r>
            <a:r>
              <a:rPr lang="en-GB" dirty="0">
                <a:latin typeface="+mj-lt"/>
              </a:rPr>
              <a:t>, “Entity-Agnostic Representation Learning for Parameter-Efficient Knowledge Graph Embedding,” </a:t>
            </a:r>
            <a:r>
              <a:rPr lang="en-GB" i="1" dirty="0">
                <a:latin typeface="+mj-lt"/>
              </a:rPr>
              <a:t>Proceedings of the AAAI Conference on Artificial Intelligence</a:t>
            </a:r>
            <a:r>
              <a:rPr lang="en-GB" dirty="0">
                <a:latin typeface="+mj-lt"/>
              </a:rPr>
              <a:t>, vol. 37, no. 4, Art. no. 4, June 2023, </a:t>
            </a:r>
            <a:r>
              <a:rPr lang="en-GB" dirty="0" err="1">
                <a:latin typeface="+mj-lt"/>
              </a:rPr>
              <a:t>doi</a:t>
            </a:r>
            <a:r>
              <a:rPr lang="en-GB" dirty="0">
                <a:latin typeface="+mj-lt"/>
              </a:rPr>
              <a:t>: </a:t>
            </a:r>
            <a:r>
              <a:rPr lang="en-GB" dirty="0">
                <a:latin typeface="+mj-lt"/>
                <a:hlinkClick r:id="rId7"/>
              </a:rPr>
              <a:t>10.1609/aaai.v37i4.25535</a:t>
            </a:r>
            <a:r>
              <a:rPr lang="en-GB" dirty="0">
                <a:latin typeface="+mj-lt"/>
              </a:rPr>
              <a:t>.</a:t>
            </a:r>
          </a:p>
          <a:p>
            <a:pPr marL="342900" indent="-342900">
              <a:buFont typeface="+mj-lt"/>
              <a:buAutoNum type="arabicPeriod" startAt="15"/>
            </a:pPr>
            <a:r>
              <a:rPr lang="en-GB" dirty="0">
                <a:latin typeface="+mj-lt"/>
              </a:rPr>
              <a:t>W. Shiao, U. S. Saini, Y. Liu, T. Zhao, N. Shah, and E. E. </a:t>
            </a:r>
            <a:r>
              <a:rPr lang="en-GB" dirty="0" err="1">
                <a:latin typeface="+mj-lt"/>
              </a:rPr>
              <a:t>Papalexakis</a:t>
            </a:r>
            <a:r>
              <a:rPr lang="en-GB" dirty="0">
                <a:latin typeface="+mj-lt"/>
              </a:rPr>
              <a:t>, “CARL-G: Clustering-Accelerated Representation Learning on Graphs,” in </a:t>
            </a:r>
            <a:r>
              <a:rPr lang="en-GB" i="1" dirty="0">
                <a:latin typeface="+mj-lt"/>
              </a:rPr>
              <a:t>Proceedings of the 29th ACM SIGKDD Conference on Knowledge Discovery and Data Mining</a:t>
            </a:r>
            <a:r>
              <a:rPr lang="en-GB" dirty="0">
                <a:latin typeface="+mj-lt"/>
              </a:rPr>
              <a:t>, Aug. 2023, pp. 2036–2048. </a:t>
            </a:r>
            <a:r>
              <a:rPr lang="en-GB" dirty="0" err="1">
                <a:latin typeface="+mj-lt"/>
              </a:rPr>
              <a:t>doi</a:t>
            </a:r>
            <a:r>
              <a:rPr lang="en-GB" dirty="0">
                <a:latin typeface="+mj-lt"/>
              </a:rPr>
              <a:t>: </a:t>
            </a:r>
            <a:r>
              <a:rPr lang="en-GB" dirty="0">
                <a:latin typeface="+mj-lt"/>
                <a:hlinkClick r:id="rId8"/>
              </a:rPr>
              <a:t>10.1145/3580305.3599268</a:t>
            </a:r>
            <a:r>
              <a:rPr lang="en-GB" dirty="0">
                <a:latin typeface="+mj-lt"/>
              </a:rPr>
              <a:t>.</a:t>
            </a:r>
          </a:p>
          <a:p>
            <a:pPr marL="342900" indent="-342900">
              <a:buFont typeface="+mj-lt"/>
              <a:buAutoNum type="arabicPeriod" startAt="15"/>
            </a:pPr>
            <a:r>
              <a:rPr lang="en-GB" dirty="0">
                <a:latin typeface="+mj-lt"/>
              </a:rPr>
              <a:t>T. </a:t>
            </a:r>
            <a:r>
              <a:rPr lang="en-GB" dirty="0" err="1">
                <a:latin typeface="+mj-lt"/>
              </a:rPr>
              <a:t>Thanapalasingam</a:t>
            </a:r>
            <a:r>
              <a:rPr lang="en-GB" dirty="0">
                <a:latin typeface="+mj-lt"/>
              </a:rPr>
              <a:t>, E. van Krieken, P. Bloem, and P. </a:t>
            </a:r>
            <a:r>
              <a:rPr lang="en-GB" dirty="0" err="1">
                <a:latin typeface="+mj-lt"/>
              </a:rPr>
              <a:t>Groth</a:t>
            </a:r>
            <a:r>
              <a:rPr lang="en-GB" dirty="0">
                <a:latin typeface="+mj-lt"/>
              </a:rPr>
              <a:t>, “</a:t>
            </a:r>
            <a:r>
              <a:rPr lang="en-GB" dirty="0" err="1">
                <a:latin typeface="+mj-lt"/>
              </a:rPr>
              <a:t>IntelliGraphs</a:t>
            </a:r>
            <a:r>
              <a:rPr lang="en-GB" dirty="0">
                <a:latin typeface="+mj-lt"/>
              </a:rPr>
              <a:t>: Datasets for Benchmarking Knowledge Graph Generation,” Aug. 25, 2023, </a:t>
            </a:r>
            <a:r>
              <a:rPr lang="en-GB" i="1" dirty="0" err="1">
                <a:latin typeface="+mj-lt"/>
              </a:rPr>
              <a:t>arXiv</a:t>
            </a:r>
            <a:r>
              <a:rPr lang="en-GB" dirty="0">
                <a:latin typeface="+mj-lt"/>
              </a:rPr>
              <a:t>: arXiv:2307.06698. </a:t>
            </a:r>
            <a:r>
              <a:rPr lang="en-GB" dirty="0" err="1">
                <a:latin typeface="+mj-lt"/>
              </a:rPr>
              <a:t>doi</a:t>
            </a:r>
            <a:r>
              <a:rPr lang="en-GB" dirty="0">
                <a:latin typeface="+mj-lt"/>
              </a:rPr>
              <a:t>: </a:t>
            </a:r>
            <a:r>
              <a:rPr lang="en-GB" dirty="0">
                <a:latin typeface="+mj-lt"/>
                <a:hlinkClick r:id="rId9"/>
              </a:rPr>
              <a:t>10.48550/arXiv.2307.06698</a:t>
            </a:r>
            <a:r>
              <a:rPr lang="en-GB" dirty="0">
                <a:latin typeface="+mj-lt"/>
              </a:rPr>
              <a:t>.</a:t>
            </a:r>
          </a:p>
          <a:p>
            <a:pPr marL="342900" indent="-342900">
              <a:buFont typeface="+mj-lt"/>
              <a:buAutoNum type="arabicPeriod" startAt="15"/>
            </a:pPr>
            <a:r>
              <a:rPr lang="en-GB" dirty="0">
                <a:latin typeface="+mj-lt"/>
              </a:rPr>
              <a:t>M. Karami, “</a:t>
            </a:r>
            <a:r>
              <a:rPr lang="en-GB" dirty="0" err="1">
                <a:latin typeface="+mj-lt"/>
              </a:rPr>
              <a:t>HiGen</a:t>
            </a:r>
            <a:r>
              <a:rPr lang="en-GB" dirty="0">
                <a:latin typeface="+mj-lt"/>
              </a:rPr>
              <a:t>: Hierarchical Graph Generative Networks,” in </a:t>
            </a:r>
            <a:r>
              <a:rPr lang="en-GB" i="1" dirty="0">
                <a:latin typeface="+mj-lt"/>
              </a:rPr>
              <a:t>The Twelfth International Conference on Learning Representations</a:t>
            </a:r>
            <a:r>
              <a:rPr lang="en-GB" dirty="0">
                <a:latin typeface="+mj-lt"/>
              </a:rPr>
              <a:t>, 2024. [Online]. Available: </a:t>
            </a:r>
            <a:r>
              <a:rPr lang="en-GB" dirty="0">
                <a:latin typeface="+mj-lt"/>
                <a:hlinkClick r:id="rId10"/>
              </a:rPr>
              <a:t>https://openreview.net/forum?id=KNvubydSB5</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83</a:t>
            </a:fld>
            <a:endParaRPr lang="fr-FR" dirty="0"/>
          </a:p>
        </p:txBody>
      </p:sp>
    </p:spTree>
    <p:extLst>
      <p:ext uri="{BB962C8B-B14F-4D97-AF65-F5344CB8AC3E}">
        <p14:creationId xmlns:p14="http://schemas.microsoft.com/office/powerpoint/2010/main" val="142479171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22"/>
            </a:pPr>
            <a:r>
              <a:rPr lang="en-GB" dirty="0">
                <a:latin typeface="+mj-lt"/>
              </a:rPr>
              <a:t>M. Karami, I. Krawczuk, and V. Cevher, “Multi-Resolution Graph Diffusion,” in </a:t>
            </a:r>
            <a:r>
              <a:rPr lang="en-GB" i="1" dirty="0">
                <a:latin typeface="+mj-lt"/>
              </a:rPr>
              <a:t>ICLR 2024 Workshop on Machine Learning for Genomics Explorations</a:t>
            </a:r>
            <a:r>
              <a:rPr lang="en-GB" dirty="0">
                <a:latin typeface="+mj-lt"/>
              </a:rPr>
              <a:t>, 2024. [Online]. Available: </a:t>
            </a:r>
            <a:r>
              <a:rPr lang="en-GB" dirty="0">
                <a:latin typeface="+mj-lt"/>
                <a:hlinkClick r:id="rId3"/>
              </a:rPr>
              <a:t>https://openreview.net/forum?id=0rZiMEOzh0</a:t>
            </a:r>
            <a:endParaRPr lang="en-GB" dirty="0">
              <a:latin typeface="+mj-lt"/>
            </a:endParaRPr>
          </a:p>
          <a:p>
            <a:pPr marL="342900" indent="-342900">
              <a:buFont typeface="+mj-lt"/>
              <a:buAutoNum type="arabicPeriod" startAt="22"/>
            </a:pPr>
            <a:r>
              <a:rPr lang="en-GB" dirty="0">
                <a:latin typeface="+mj-lt"/>
              </a:rPr>
              <a:t>I. Krawczuk, “Graph generative deep learning models with an application to circuit topologies,” PhD Thesis, EPFL, Lausanne, 2024. </a:t>
            </a:r>
            <a:r>
              <a:rPr lang="en-GB" dirty="0" err="1">
                <a:latin typeface="+mj-lt"/>
              </a:rPr>
              <a:t>doi</a:t>
            </a:r>
            <a:r>
              <a:rPr lang="en-GB" dirty="0">
                <a:latin typeface="+mj-lt"/>
              </a:rPr>
              <a:t>: </a:t>
            </a:r>
            <a:r>
              <a:rPr lang="en-GB" dirty="0">
                <a:latin typeface="+mj-lt"/>
                <a:hlinkClick r:id="rId4"/>
              </a:rPr>
              <a:t>10.5075/epfl-thesis-9020</a:t>
            </a:r>
            <a:r>
              <a:rPr lang="en-GB" dirty="0">
                <a:latin typeface="+mj-lt"/>
              </a:rPr>
              <a:t>.</a:t>
            </a:r>
          </a:p>
          <a:p>
            <a:pPr marL="342900" indent="-342900">
              <a:buFont typeface="+mj-lt"/>
              <a:buAutoNum type="arabicPeriod" startAt="22"/>
            </a:pPr>
            <a:r>
              <a:rPr lang="en-GB" dirty="0">
                <a:latin typeface="+mj-lt"/>
              </a:rPr>
              <a:t>S. Saremi, J. W. Park, and F. Bach, “Chain of Log-Concave Markov Chains,” in </a:t>
            </a:r>
            <a:r>
              <a:rPr lang="en-GB" i="1" dirty="0">
                <a:latin typeface="+mj-lt"/>
              </a:rPr>
              <a:t>The Twelfth International Conference on Learning Representations</a:t>
            </a:r>
            <a:r>
              <a:rPr lang="en-GB" dirty="0">
                <a:latin typeface="+mj-lt"/>
              </a:rPr>
              <a:t>, 2024. [Online]. Available: </a:t>
            </a:r>
            <a:r>
              <a:rPr lang="en-GB" dirty="0">
                <a:latin typeface="+mj-lt"/>
                <a:hlinkClick r:id="rId5"/>
              </a:rPr>
              <a:t>https://openreview.net/forum?id=yiMB2DOjsR</a:t>
            </a:r>
            <a:endParaRPr lang="en-GB" dirty="0">
              <a:latin typeface="+mj-lt"/>
            </a:endParaRPr>
          </a:p>
          <a:p>
            <a:pPr marL="342900" indent="-342900">
              <a:buFont typeface="+mj-lt"/>
              <a:buAutoNum type="arabicPeriod" startAt="22"/>
            </a:pPr>
            <a:r>
              <a:rPr lang="en-GB" dirty="0">
                <a:latin typeface="+mj-lt"/>
              </a:rPr>
              <a:t>E. </a:t>
            </a:r>
            <a:r>
              <a:rPr lang="en-GB" dirty="0" err="1">
                <a:latin typeface="+mj-lt"/>
              </a:rPr>
              <a:t>Mahmoudzadeh</a:t>
            </a:r>
            <a:r>
              <a:rPr lang="en-GB" dirty="0">
                <a:latin typeface="+mj-lt"/>
              </a:rPr>
              <a:t>, P. Naddaf, K. </a:t>
            </a:r>
            <a:r>
              <a:rPr lang="en-GB" dirty="0" err="1">
                <a:latin typeface="+mj-lt"/>
              </a:rPr>
              <a:t>Zahirnia</a:t>
            </a:r>
            <a:r>
              <a:rPr lang="en-GB" dirty="0">
                <a:latin typeface="+mj-lt"/>
              </a:rPr>
              <a:t>, and O. Schulte, “Deep Generative Models for Subgraph Prediction,” Aug. 07, 2024, </a:t>
            </a:r>
            <a:r>
              <a:rPr lang="en-GB" i="1" dirty="0" err="1">
                <a:latin typeface="+mj-lt"/>
              </a:rPr>
              <a:t>arXiv</a:t>
            </a:r>
            <a:r>
              <a:rPr lang="en-GB" dirty="0">
                <a:latin typeface="+mj-lt"/>
              </a:rPr>
              <a:t>: arXiv:2408.04053. </a:t>
            </a:r>
            <a:r>
              <a:rPr lang="en-GB" dirty="0" err="1">
                <a:latin typeface="+mj-lt"/>
              </a:rPr>
              <a:t>doi</a:t>
            </a:r>
            <a:r>
              <a:rPr lang="en-GB" dirty="0">
                <a:latin typeface="+mj-lt"/>
              </a:rPr>
              <a:t>: </a:t>
            </a:r>
            <a:r>
              <a:rPr lang="en-GB" dirty="0">
                <a:latin typeface="+mj-lt"/>
                <a:hlinkClick r:id="rId6"/>
              </a:rPr>
              <a:t>10.48550/arXiv.2408.04053</a:t>
            </a:r>
            <a:r>
              <a:rPr lang="en-GB" dirty="0">
                <a:latin typeface="+mj-lt"/>
              </a:rPr>
              <a:t>.</a:t>
            </a:r>
          </a:p>
          <a:p>
            <a:pPr marL="342900" indent="-342900">
              <a:buFont typeface="+mj-lt"/>
              <a:buAutoNum type="arabicPeriod" startAt="22"/>
            </a:pPr>
            <a:r>
              <a:rPr lang="en-GB" dirty="0">
                <a:latin typeface="+mj-lt"/>
              </a:rPr>
              <a:t>L. T. Dadi, A. Janchevski, and V. Cevher, “Improving Single Noise Level Denoising Samplers with Restricted Gaussian Oracles,” in </a:t>
            </a:r>
            <a:r>
              <a:rPr lang="en-GB" i="1" dirty="0">
                <a:latin typeface="+mj-lt"/>
              </a:rPr>
              <a:t>ICLR 2025 Workshop on Deep Generative Model in Machine Learning: Theory, Principle and Efficacy</a:t>
            </a:r>
            <a:r>
              <a:rPr lang="en-GB" dirty="0">
                <a:latin typeface="+mj-lt"/>
              </a:rPr>
              <a:t>, 2025. [Online]. Available: </a:t>
            </a:r>
            <a:r>
              <a:rPr lang="en-GB" dirty="0">
                <a:latin typeface="+mj-lt"/>
                <a:hlinkClick r:id="rId7"/>
              </a:rPr>
              <a:t>https://openreview.net/forum?id=xkiI5tou6J</a:t>
            </a:r>
            <a:endParaRPr lang="en-GB" dirty="0">
              <a:latin typeface="+mj-lt"/>
            </a:endParaRPr>
          </a:p>
          <a:p>
            <a:pPr marL="342900" indent="-342900">
              <a:buFont typeface="+mj-lt"/>
              <a:buAutoNum type="arabicPeriod" startAt="22"/>
            </a:pPr>
            <a:r>
              <a:rPr lang="en-GB" dirty="0">
                <a:latin typeface="+mj-lt"/>
              </a:rPr>
              <a:t>A. Janchevski, V. </a:t>
            </a:r>
            <a:r>
              <a:rPr lang="en-GB" dirty="0" err="1">
                <a:latin typeface="+mj-lt"/>
              </a:rPr>
              <a:t>Coriou</a:t>
            </a:r>
            <a:r>
              <a:rPr lang="en-GB" dirty="0">
                <a:latin typeface="+mj-lt"/>
              </a:rPr>
              <a:t>, and V. Cevher, “COINs: Knowledge Graph Inference with Model-based Acceleration,” in </a:t>
            </a:r>
            <a:r>
              <a:rPr lang="en-GB" i="1" dirty="0">
                <a:latin typeface="+mj-lt"/>
              </a:rPr>
              <a:t>ICT Innovations 2025. AI and the Digital Frontier: Reshaping Modern Society Through Technology and Computer Science</a:t>
            </a:r>
            <a:r>
              <a:rPr lang="en-GB" dirty="0">
                <a:latin typeface="+mj-lt"/>
              </a:rPr>
              <a:t>, I. </a:t>
            </a:r>
            <a:r>
              <a:rPr lang="en-GB" dirty="0" err="1">
                <a:latin typeface="+mj-lt"/>
              </a:rPr>
              <a:t>Chorbev</a:t>
            </a:r>
            <a:r>
              <a:rPr lang="en-GB" dirty="0">
                <a:latin typeface="+mj-lt"/>
              </a:rPr>
              <a:t>, D. Spasov, and B. R. </a:t>
            </a:r>
            <a:r>
              <a:rPr lang="en-GB" dirty="0" err="1">
                <a:latin typeface="+mj-lt"/>
              </a:rPr>
              <a:t>Stojkovska</a:t>
            </a:r>
            <a:r>
              <a:rPr lang="en-GB" dirty="0">
                <a:latin typeface="+mj-lt"/>
              </a:rPr>
              <a:t>, Eds., in Communications in Computer and Information Science. Cham: Springer International Publishing, 2025.</a:t>
            </a:r>
          </a:p>
          <a:p>
            <a:pPr marL="342900" indent="-342900">
              <a:buFont typeface="+mj-lt"/>
              <a:buAutoNum type="arabicPeriod" startAt="22"/>
            </a:pPr>
            <a:r>
              <a:rPr lang="en-GB" dirty="0">
                <a:latin typeface="+mj-lt"/>
              </a:rPr>
              <a:t>N. Dong, N. </a:t>
            </a:r>
            <a:r>
              <a:rPr lang="en-GB" dirty="0" err="1">
                <a:latin typeface="+mj-lt"/>
              </a:rPr>
              <a:t>Kertkeidkachorn</a:t>
            </a:r>
            <a:r>
              <a:rPr lang="en-GB" dirty="0">
                <a:latin typeface="+mj-lt"/>
              </a:rPr>
              <a:t>, X. Liu, and K. Shirai, “Refining Noisy Knowledge Graph with Large Language Models,” in </a:t>
            </a:r>
            <a:r>
              <a:rPr lang="en-GB" i="1" dirty="0">
                <a:latin typeface="+mj-lt"/>
              </a:rPr>
              <a:t>Proceedings of the Workshop on Generative AI and Knowledge Graphs (</a:t>
            </a:r>
            <a:r>
              <a:rPr lang="en-GB" i="1" dirty="0" err="1">
                <a:latin typeface="+mj-lt"/>
              </a:rPr>
              <a:t>GenAIK</a:t>
            </a:r>
            <a:r>
              <a:rPr lang="en-GB" i="1" dirty="0">
                <a:latin typeface="+mj-lt"/>
              </a:rPr>
              <a:t>)</a:t>
            </a:r>
            <a:r>
              <a:rPr lang="en-GB" dirty="0">
                <a:latin typeface="+mj-lt"/>
              </a:rPr>
              <a:t>, G. A. </a:t>
            </a:r>
            <a:r>
              <a:rPr lang="en-GB" dirty="0" err="1">
                <a:latin typeface="+mj-lt"/>
              </a:rPr>
              <a:t>Gesese</a:t>
            </a:r>
            <a:r>
              <a:rPr lang="en-GB" dirty="0">
                <a:latin typeface="+mj-lt"/>
              </a:rPr>
              <a:t>, H. Sack, H. Paulheim, A. </a:t>
            </a:r>
            <a:r>
              <a:rPr lang="en-GB" dirty="0" err="1">
                <a:latin typeface="+mj-lt"/>
              </a:rPr>
              <a:t>Merono</a:t>
            </a:r>
            <a:r>
              <a:rPr lang="en-GB" dirty="0">
                <a:latin typeface="+mj-lt"/>
              </a:rPr>
              <a:t>-Penuela, and L. Chen, Eds., Abu Dhabi, UAE: International Committee on Computational Linguistics, Jan. 2025, pp. 78–86. [Online]. Available: </a:t>
            </a:r>
            <a:r>
              <a:rPr lang="en-GB" dirty="0">
                <a:latin typeface="+mj-lt"/>
                <a:hlinkClick r:id="rId8"/>
              </a:rPr>
              <a:t>https://aclanthology.org/2025.genaik-1.9/</a:t>
            </a:r>
            <a:endParaRPr lang="en-GB" dirty="0">
              <a:latin typeface="+mj-lt"/>
            </a:endParaRPr>
          </a:p>
          <a:p>
            <a:pPr marL="342900" indent="-342900">
              <a:buFont typeface="+mj-lt"/>
              <a:buAutoNum type="arabicPeriod" startAt="22"/>
            </a:pPr>
            <a:endParaRPr lang="en-US"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84</a:t>
            </a:fld>
            <a:endParaRPr lang="fr-FR" dirty="0"/>
          </a:p>
        </p:txBody>
      </p:sp>
    </p:spTree>
    <p:extLst>
      <p:ext uri="{BB962C8B-B14F-4D97-AF65-F5344CB8AC3E}">
        <p14:creationId xmlns:p14="http://schemas.microsoft.com/office/powerpoint/2010/main" val="9665113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85</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2.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13216</TotalTime>
  <Words>11981</Words>
  <Application>Microsoft Office PowerPoint</Application>
  <PresentationFormat>On-screen Show (16:9)</PresentationFormat>
  <Paragraphs>1108</Paragraphs>
  <Slides>85</Slides>
  <Notes>85</Notes>
  <HiddenSlides>23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Cambria Math</vt:lpstr>
      <vt:lpstr>Franklin Gothic Demi Cond</vt:lpstr>
      <vt:lpstr>Wingdings</vt:lpstr>
      <vt:lpstr>Thème Office</vt:lpstr>
      <vt:lpstr>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Community-Informed Graph Embeddings Problem &amp; Challenges - Setting</vt:lpstr>
      <vt:lpstr>3.1 Community-Informed Graph Embeddings Problem &amp; Challenges - Related work</vt:lpstr>
      <vt:lpstr>3.1 Community-Informed Graph Embeddings Background - Graph theory of Knowledge Graph Reasoning</vt:lpstr>
      <vt:lpstr>3.1 Community-Informed Graph Embeddings Background - Optimization problems of Knowledge Graph Reasoning</vt:lpstr>
      <vt:lpstr>3.1 Community-Informed Graph Embeddings Background - Representation theory of Knowledge Graph Reasoning</vt:lpstr>
      <vt:lpstr>3.1 Community-Informed Graph Embeddings Contributions - Idea</vt:lpstr>
      <vt:lpstr>3.1 Community-Informed Graph Embeddings Contributions - Theory</vt:lpstr>
      <vt:lpstr>3.1 Community-Informed Graph Embeddings Methodology - The COINs architecture</vt:lpstr>
      <vt:lpstr>3.1 Community-Informed Graph Embeddings Methodology - The COINs KG representation process</vt:lpstr>
      <vt:lpstr>3.1 Community-Informed Graph Embeddings Methodology - Algorithm and  properties</vt:lpstr>
      <vt:lpstr>3.1 Community-Informed Graph Embeddings Methodology - Experiments</vt:lpstr>
      <vt:lpstr>3.1 Community-Informed Graph Embeddings Results - Community quality</vt:lpstr>
      <vt:lpstr>3.1 Community-Informed Graph Embeddings Results - Query answering MRR</vt:lpstr>
      <vt:lpstr>3.1 Community-Informed Graph Embeddings Results - Comparison to related work on KG scalability</vt:lpstr>
      <vt:lpstr>3.1 Community-Informed Graph Embeddings Results - Feasibility</vt:lpstr>
      <vt:lpstr>3.1 Community-Informed Graph Embeddings Summary </vt:lpstr>
      <vt:lpstr>3.1 Community-Informed Graph Embeddings *Distributed extension - Idea</vt:lpstr>
      <vt:lpstr>3.1 Community-Informed Graph Embeddings *Distributed extension - Outcomes</vt:lpstr>
      <vt:lpstr>3.2 Real-world Application: The Monty Knowledge Base Motivation - Knowledge Graph Reasoning in Industry</vt:lpstr>
      <vt:lpstr>3.2 Real-world Application: The Monty Knowledge Base Motivation - COINs origins</vt:lpstr>
      <vt:lpstr>3.2 Real-world Application: The Monty Knowledge Base Methodology - Feature extraction</vt:lpstr>
      <vt:lpstr>3.2 Real-world Application: The Monty Knowledge Base Methodology - Statistical comparison</vt:lpstr>
      <vt:lpstr>3.2 Real-world Application: The Monty Knowledge Base Results - Swisscom vs. the world</vt:lpstr>
      <vt:lpstr>3.2 Real-world Application: The Monty Knowledge Base Results - Re-evaluation on Monty after ablation</vt:lpstr>
      <vt:lpstr>Scalable  Graph Generation</vt:lpstr>
      <vt:lpstr>4.1 Geometric Graph Generation with CRPs Motivation </vt:lpstr>
      <vt:lpstr>4.1 Geometric Graph Generation with CRPs Background - Gen AI for graphs</vt:lpstr>
      <vt:lpstr>4.1 Geometric Graph Generation with CRPs Background - GG-GAN [13]</vt:lpstr>
      <vt:lpstr>4.1 Geometric Graph Generation with CRPs Background - The Chinese Restaurant Process (CRP) [2] </vt:lpstr>
      <vt:lpstr>4.1 Geometric Graph Generation with CRPs Methodology - Idea</vt:lpstr>
      <vt:lpstr>4.1 Geometric Graph Generation with CRPs Methodology - Community assignment sampling</vt:lpstr>
      <vt:lpstr>4.1 Geometric Graph Generation with CRPs Methodology - GGG-CRP  autoregressive process</vt:lpstr>
      <vt:lpstr>4.1 Geometric Graph Generation with CRPs Results - Expressivity</vt:lpstr>
      <vt:lpstr>4.1 Geometric Graph Generation with CRPs Results - Expressivity</vt:lpstr>
      <vt:lpstr>4.1 Geometric Graph Generation with CRPs Results - Novelty</vt:lpstr>
      <vt:lpstr>4.1 Geometric Graph Generation with CRPs Summary </vt:lpstr>
      <vt:lpstr>4.2 Hierarchical Generative Graph Diffusion Motivation</vt:lpstr>
      <vt:lpstr>4.2 Hierarchical Generative Graph Diffusion Background - Diffusion models [5]</vt:lpstr>
      <vt:lpstr>4.2 Hierarchical Generative Graph Diffusion Background - Hierarchical Graph Diffusion of MRGrad [23]</vt:lpstr>
      <vt:lpstr>4.2 Hierarchical Generative Graph Diffusion Background - Hierarchical Graph Diffusion of MRGrad [23]</vt:lpstr>
      <vt:lpstr>4.2 Hierarchical Generative Graph Diffusion Contributions - Model designs</vt:lpstr>
      <vt:lpstr>4.2 Hierarchical Generative Graph Diffusion Contributions - Theory</vt:lpstr>
      <vt:lpstr>4.2 Hierarchical Generative Graph Diffusion Results - Community detection</vt:lpstr>
      <vt:lpstr>4.2 Hierarchical Generative Graph Diffusion Results - Expressivity</vt:lpstr>
      <vt:lpstr>4.2 Hierarchical Generative Graph Diffusion Results - Real vs. fake graphs</vt:lpstr>
      <vt:lpstr>4.2 Hierarchical Generative Graph Diffusion Results - Ablation</vt:lpstr>
      <vt:lpstr>4.2 Hierarchical Generative Graph Diffusion Results - Performance vs. baselines</vt:lpstr>
      <vt:lpstr>4.2 Hierarchical Generative Graph Diffusion Summary</vt:lpstr>
      <vt:lpstr>4.3 Multi-measurement Diffusion Methods Motivation</vt:lpstr>
      <vt:lpstr>4.3 Multi-measurement Diffusion Methods Background - The reason for time annealing</vt:lpstr>
      <vt:lpstr>4.3 Multi-measurement Diffusion Methods Background - The disadvantages of time annealing</vt:lpstr>
      <vt:lpstr>4.3 Multi-measurement Diffusion Methods The MultiProx sampler - Theory</vt:lpstr>
      <vt:lpstr>4.3 Multi-measurement Diffusion Methods The MultiProx sampler - Visually</vt:lpstr>
      <vt:lpstr>4.3 Multi-measurement Diffusion Methods Results - Images</vt:lpstr>
      <vt:lpstr>4.3 Multi-measurement Diffusion Methods Results - QM9 graphs with Gaussian DiGress [18] and MultiProx</vt:lpstr>
      <vt:lpstr>4.3 Multi-measurement Diffusion Methods Results - QM9 graphs with Gaussian DiGress [18] and MultiProx</vt:lpstr>
      <vt:lpstr>4.3 Multi-measurement Diffusion Methods *The MultiProxAn sampler </vt:lpstr>
      <vt:lpstr>4.3 Multi-measurement Diffusion Methods Results - QM9 graphs with Gaussian DiGress [18] and MultiProxAn</vt:lpstr>
      <vt:lpstr>4.3 Multi-measurement Diffusion Methods Results - QM9 graphs with Gaussian DiGress [18] and MultiProxAn</vt:lpstr>
      <vt:lpstr>4.4 Generative KG Anomaly Correction Motivation - Anomalous knowledge</vt:lpstr>
      <vt:lpstr>4.4 Generative KG Anomaly Correction Motivation - Naïve ideas will not work</vt:lpstr>
      <vt:lpstr>4.4 Generative KG Anomaly Correction Motivation - Naïve ideas will not work</vt:lpstr>
      <vt:lpstr>4.4 Generative KG Anomaly Correction Related work</vt:lpstr>
      <vt:lpstr>4.4 Generative KG Anomaly Correction Experiment setup - Data</vt:lpstr>
      <vt:lpstr>4.4 Generative KG Anomaly Correction Experiment setup - Model</vt:lpstr>
      <vt:lpstr>4.4 Generative KG Anomaly Correction Results - Metrics</vt:lpstr>
      <vt:lpstr>4.4 Generative KG Anomaly Correction Results - Contrastive Loss across denoising steps</vt:lpstr>
      <vt:lpstr>4.4 Generative KG Anomaly Correction Results - Dense subgraph correction visually</vt:lpstr>
      <vt:lpstr>4.4 Generative KG Anomaly Correction Results - Bipartite subgraph correction visually</vt:lpstr>
      <vt:lpstr>4.4 Generative KG Anomaly Correction Summary</vt:lpstr>
      <vt:lpstr>Conclusion</vt:lpstr>
      <vt:lpstr>5. Conclusions &amp; Future Directions</vt:lpstr>
      <vt:lpstr>References</vt:lpstr>
      <vt:lpstr>References</vt:lpstr>
      <vt:lpstr>References</vt:lpstr>
      <vt:lpstr>References</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400</cp:revision>
  <dcterms:created xsi:type="dcterms:W3CDTF">2019-04-02T06:24:35Z</dcterms:created>
  <dcterms:modified xsi:type="dcterms:W3CDTF">2025-10-28T02:06:41Z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