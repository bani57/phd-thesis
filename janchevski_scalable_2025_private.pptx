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62"/>
  </p:notesMasterIdLst>
  <p:handoutMasterIdLst>
    <p:handoutMasterId r:id="rId63"/>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10" r:id="rId56"/>
    <p:sldId id="311" r:id="rId57"/>
    <p:sldId id="309" r:id="rId58"/>
    <p:sldId id="312" r:id="rId59"/>
    <p:sldId id="279" r:id="rId60"/>
    <p:sldId id="274" r:id="rId61"/>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675" autoAdjust="0"/>
    <p:restoredTop sz="74771" autoAdjust="0"/>
  </p:normalViewPr>
  <p:slideViewPr>
    <p:cSldViewPr snapToGrid="0" snapToObjects="1" showGuides="1">
      <p:cViewPr varScale="1">
        <p:scale>
          <a:sx n="151" d="100"/>
          <a:sy n="151" d="100"/>
        </p:scale>
        <p:origin x="2000" y="176"/>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06.10.25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06/10/2025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650E5-FB67-0876-A190-FB4B2FF7E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2279-F50C-3DA2-31AC-97DC35ED5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867D1-660B-14D8-2C4E-0A14D93ADD4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F40946E-2AEB-854E-772E-905DF07B8092}"/>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41865064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4A05A-99D1-D700-1A8E-4FAE2192C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6839A-D6F4-FF67-32FB-7FCFBDC1B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83077-18D8-EF19-41A7-558B5FB79E9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F065FF0-EC42-C449-0EDF-AB8072ECF6C2}"/>
              </a:ext>
            </a:extLst>
          </p:cNvPr>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631262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4D46-95AF-C086-B205-2B96064B57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06AC-3155-CB96-BF4F-571014963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D5161-EA41-11C5-918A-6849264A036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816BEAE-0560-6E98-23EB-147A9255F702}"/>
              </a:ext>
            </a:extLst>
          </p:cNvPr>
          <p:cNvSpPr>
            <a:spLocks noGrp="1"/>
          </p:cNvSpPr>
          <p:nvPr>
            <p:ph type="sldNum" sz="quarter" idx="5"/>
          </p:nvPr>
        </p:nvSpPr>
        <p:spPr/>
        <p:txBody>
          <a:bodyPr/>
          <a:lstStyle/>
          <a:p>
            <a:fld id="{4CF50783-AAED-1941-8BCC-9F6140F0A6B1}" type="slidenum">
              <a:rPr lang="fr-FR" smtClean="0"/>
              <a:pPr/>
              <a:t>47</a:t>
            </a:fld>
            <a:endParaRPr lang="fr-FR" dirty="0"/>
          </a:p>
        </p:txBody>
      </p:sp>
    </p:spTree>
    <p:extLst>
      <p:ext uri="{BB962C8B-B14F-4D97-AF65-F5344CB8AC3E}">
        <p14:creationId xmlns:p14="http://schemas.microsoft.com/office/powerpoint/2010/main" val="33169303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0660-E99E-F021-C1B8-F58D704F3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09578-E165-134C-6E43-98DF8E3E9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8E06EC-7E64-418E-44C6-13C5704C50A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5300547-F52C-95B7-7C3C-E0666D9BEEE3}"/>
              </a:ext>
            </a:extLst>
          </p:cNvPr>
          <p:cNvSpPr>
            <a:spLocks noGrp="1"/>
          </p:cNvSpPr>
          <p:nvPr>
            <p:ph type="sldNum" sz="quarter" idx="5"/>
          </p:nvPr>
        </p:nvSpPr>
        <p:spPr/>
        <p:txBody>
          <a:bodyPr/>
          <a:lstStyle/>
          <a:p>
            <a:fld id="{4CF50783-AAED-1941-8BCC-9F6140F0A6B1}" type="slidenum">
              <a:rPr lang="fr-FR" smtClean="0"/>
              <a:pPr/>
              <a:t>48</a:t>
            </a:fld>
            <a:endParaRPr lang="fr-FR" dirty="0"/>
          </a:p>
        </p:txBody>
      </p:sp>
    </p:spTree>
    <p:extLst>
      <p:ext uri="{BB962C8B-B14F-4D97-AF65-F5344CB8AC3E}">
        <p14:creationId xmlns:p14="http://schemas.microsoft.com/office/powerpoint/2010/main" val="42206312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C0881-517F-4D72-4C54-8448C9880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5C728-CD57-41DD-E426-E8F3B9F8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B0FA9-5961-C80D-D997-5FF0061D29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56F001A-5CF6-CEA1-474C-1D74EB07DF33}"/>
              </a:ext>
            </a:extLst>
          </p:cNvPr>
          <p:cNvSpPr>
            <a:spLocks noGrp="1"/>
          </p:cNvSpPr>
          <p:nvPr>
            <p:ph type="sldNum" sz="quarter" idx="5"/>
          </p:nvPr>
        </p:nvSpPr>
        <p:spPr/>
        <p:txBody>
          <a:bodyPr/>
          <a:lstStyle/>
          <a:p>
            <a:fld id="{4CF50783-AAED-1941-8BCC-9F6140F0A6B1}" type="slidenum">
              <a:rPr lang="fr-FR" smtClean="0"/>
              <a:pPr/>
              <a:t>49</a:t>
            </a:fld>
            <a:endParaRPr lang="fr-FR" dirty="0"/>
          </a:p>
        </p:txBody>
      </p:sp>
    </p:spTree>
    <p:extLst>
      <p:ext uri="{BB962C8B-B14F-4D97-AF65-F5344CB8AC3E}">
        <p14:creationId xmlns:p14="http://schemas.microsoft.com/office/powerpoint/2010/main" val="6682933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B8F9-7A6A-AF3B-7B78-69A15D0E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62C8B-FB19-1C65-4D80-F84B7FAB46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90A16B-E5C1-1E43-F3C3-F8648DF43F7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F90C862-4060-961E-B28D-DE7563665348}"/>
              </a:ext>
            </a:extLst>
          </p:cNvPr>
          <p:cNvSpPr>
            <a:spLocks noGrp="1"/>
          </p:cNvSpPr>
          <p:nvPr>
            <p:ph type="sldNum" sz="quarter" idx="5"/>
          </p:nvPr>
        </p:nvSpPr>
        <p:spPr/>
        <p:txBody>
          <a:bodyPr/>
          <a:lstStyle/>
          <a:p>
            <a:fld id="{4CF50783-AAED-1941-8BCC-9F6140F0A6B1}" type="slidenum">
              <a:rPr lang="fr-FR" smtClean="0"/>
              <a:pPr/>
              <a:t>50</a:t>
            </a:fld>
            <a:endParaRPr lang="fr-FR" dirty="0"/>
          </a:p>
        </p:txBody>
      </p:sp>
    </p:spTree>
    <p:extLst>
      <p:ext uri="{BB962C8B-B14F-4D97-AF65-F5344CB8AC3E}">
        <p14:creationId xmlns:p14="http://schemas.microsoft.com/office/powerpoint/2010/main" val="149247774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80E9-B421-87EF-EDD5-39785E0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876D3-7781-4E5A-0FEC-BCA76EF91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4624E-DE3D-193E-4344-4B32A57099C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01A263E-B12F-6179-7F79-A6D4269388FF}"/>
              </a:ext>
            </a:extLst>
          </p:cNvPr>
          <p:cNvSpPr>
            <a:spLocks noGrp="1"/>
          </p:cNvSpPr>
          <p:nvPr>
            <p:ph type="sldNum" sz="quarter" idx="5"/>
          </p:nvPr>
        </p:nvSpPr>
        <p:spPr/>
        <p:txBody>
          <a:bodyPr/>
          <a:lstStyle/>
          <a:p>
            <a:fld id="{4CF50783-AAED-1941-8BCC-9F6140F0A6B1}" type="slidenum">
              <a:rPr lang="fr-FR" smtClean="0"/>
              <a:pPr/>
              <a:t>51</a:t>
            </a:fld>
            <a:endParaRPr lang="fr-FR" dirty="0"/>
          </a:p>
        </p:txBody>
      </p:sp>
    </p:spTree>
    <p:extLst>
      <p:ext uri="{BB962C8B-B14F-4D97-AF65-F5344CB8AC3E}">
        <p14:creationId xmlns:p14="http://schemas.microsoft.com/office/powerpoint/2010/main" val="39446244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05D6-F813-24F7-71B1-08AD3F3418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E6D25-E4F1-5DFB-C19C-50A9373B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7C986-D643-B266-285B-4F8D4B34FF3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B7EC6C5-3DAC-3925-1577-2758D3506C51}"/>
              </a:ext>
            </a:extLst>
          </p:cNvPr>
          <p:cNvSpPr>
            <a:spLocks noGrp="1"/>
          </p:cNvSpPr>
          <p:nvPr>
            <p:ph type="sldNum" sz="quarter" idx="5"/>
          </p:nvPr>
        </p:nvSpPr>
        <p:spPr/>
        <p:txBody>
          <a:bodyPr/>
          <a:lstStyle/>
          <a:p>
            <a:fld id="{4CF50783-AAED-1941-8BCC-9F6140F0A6B1}" type="slidenum">
              <a:rPr lang="fr-FR" smtClean="0"/>
              <a:pPr/>
              <a:t>52</a:t>
            </a:fld>
            <a:endParaRPr lang="fr-FR" dirty="0"/>
          </a:p>
        </p:txBody>
      </p:sp>
    </p:spTree>
    <p:extLst>
      <p:ext uri="{BB962C8B-B14F-4D97-AF65-F5344CB8AC3E}">
        <p14:creationId xmlns:p14="http://schemas.microsoft.com/office/powerpoint/2010/main" val="720492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0E505-9CE7-8980-7C36-6FD03284D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43485-F0DA-5739-35AA-93273D2AD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6E93A-1646-AB84-7FD2-6CF79BB417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1F05B94-ABCE-47F9-60F5-ECF78517D1BC}"/>
              </a:ext>
            </a:extLst>
          </p:cNvPr>
          <p:cNvSpPr>
            <a:spLocks noGrp="1"/>
          </p:cNvSpPr>
          <p:nvPr>
            <p:ph type="sldNum" sz="quarter" idx="5"/>
          </p:nvPr>
        </p:nvSpPr>
        <p:spPr/>
        <p:txBody>
          <a:bodyPr/>
          <a:lstStyle/>
          <a:p>
            <a:fld id="{4CF50783-AAED-1941-8BCC-9F6140F0A6B1}" type="slidenum">
              <a:rPr lang="fr-FR" smtClean="0"/>
              <a:pPr/>
              <a:t>53</a:t>
            </a:fld>
            <a:endParaRPr lang="fr-FR" dirty="0"/>
          </a:p>
        </p:txBody>
      </p:sp>
    </p:spTree>
    <p:extLst>
      <p:ext uri="{BB962C8B-B14F-4D97-AF65-F5344CB8AC3E}">
        <p14:creationId xmlns:p14="http://schemas.microsoft.com/office/powerpoint/2010/main" val="33984198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F2FC7-D587-93C8-1776-A0A489071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25FB8-F8C0-F40C-F120-39F642587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3EB66-B8E4-5C54-C5D3-64D44739202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672FE6A-DE99-6A1A-0B3F-CC36519FA3E7}"/>
              </a:ext>
            </a:extLst>
          </p:cNvPr>
          <p:cNvSpPr>
            <a:spLocks noGrp="1"/>
          </p:cNvSpPr>
          <p:nvPr>
            <p:ph type="sldNum" sz="quarter" idx="5"/>
          </p:nvPr>
        </p:nvSpPr>
        <p:spPr/>
        <p:txBody>
          <a:bodyPr/>
          <a:lstStyle/>
          <a:p>
            <a:fld id="{4CF50783-AAED-1941-8BCC-9F6140F0A6B1}" type="slidenum">
              <a:rPr lang="fr-FR" smtClean="0"/>
              <a:pPr/>
              <a:t>54</a:t>
            </a:fld>
            <a:endParaRPr lang="fr-FR" dirty="0"/>
          </a:p>
        </p:txBody>
      </p:sp>
    </p:spTree>
    <p:extLst>
      <p:ext uri="{BB962C8B-B14F-4D97-AF65-F5344CB8AC3E}">
        <p14:creationId xmlns:p14="http://schemas.microsoft.com/office/powerpoint/2010/main" val="186308376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A12D9-823F-0968-4361-1C3433474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D2840-12A7-7800-F73F-14A57FDD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930B1-BAFA-0AEF-9360-F006825EBF3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F2CB776-7114-0E11-B075-5418D4686312}"/>
              </a:ext>
            </a:extLst>
          </p:cNvPr>
          <p:cNvSpPr>
            <a:spLocks noGrp="1"/>
          </p:cNvSpPr>
          <p:nvPr>
            <p:ph type="sldNum" sz="quarter" idx="5"/>
          </p:nvPr>
        </p:nvSpPr>
        <p:spPr/>
        <p:txBody>
          <a:bodyPr/>
          <a:lstStyle/>
          <a:p>
            <a:fld id="{4CF50783-AAED-1941-8BCC-9F6140F0A6B1}" type="slidenum">
              <a:rPr lang="fr-FR" smtClean="0"/>
              <a:pPr/>
              <a:t>55</a:t>
            </a:fld>
            <a:endParaRPr lang="fr-FR" dirty="0"/>
          </a:p>
        </p:txBody>
      </p:sp>
    </p:spTree>
    <p:extLst>
      <p:ext uri="{BB962C8B-B14F-4D97-AF65-F5344CB8AC3E}">
        <p14:creationId xmlns:p14="http://schemas.microsoft.com/office/powerpoint/2010/main" val="3315213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56</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57</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0.xml"/><Relationship Id="rId4" Type="http://schemas.openxmlformats.org/officeDocument/2006/relationships/image" Target="../media/image47.png"/></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10.xml"/><Relationship Id="rId4" Type="http://schemas.openxmlformats.org/officeDocument/2006/relationships/image" Target="../media/image53.png"/></Relationships>
</file>

<file path=ppt/slides/_rels/slide5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dirty="0"/>
              <a:t>	Scalable Methods</a:t>
            </a:r>
            <a:br>
              <a:rPr lang="fr-FR" dirty="0"/>
            </a:br>
            <a:r>
              <a:rPr lang="fr-FR" dirty="0"/>
              <a:t>	for </a:t>
            </a:r>
            <a:r>
              <a:rPr lang="fr-FR" dirty="0" err="1"/>
              <a:t>Knowledge</a:t>
            </a:r>
            <a:r>
              <a:rPr lang="fr-FR" dirty="0"/>
              <a:t> Graph </a:t>
            </a:r>
            <a:r>
              <a:rPr lang="fr-FR" dirty="0" err="1"/>
              <a:t>Reasoning</a:t>
            </a:r>
            <a:br>
              <a:rPr lang="fr-FR" dirty="0"/>
            </a:br>
            <a:r>
              <a:rPr lang="fr-FR" dirty="0"/>
              <a:t>	and </a:t>
            </a:r>
            <a:r>
              <a:rPr lang="fr-FR" dirty="0" err="1"/>
              <a:t>Generation</a:t>
            </a:r>
            <a:endParaRPr lang="fr-FR"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p>
              <a:p>
                <a:endParaRPr lang="en-CH" dirty="0">
                  <a:latin typeface="+mj-lt"/>
                </a:endParaRPr>
              </a:p>
              <a:p>
                <a:pPr lvl="1"/>
                <a:endParaRPr lang="en-CH" dirty="0">
                  <a:latin typeface="+mj-lt"/>
                </a:endParaRPr>
              </a:p>
              <a:p>
                <a:pPr lvl="1"/>
                <a:endParaRPr lang="en-CH" dirty="0">
                  <a:latin typeface="+mj-lt"/>
                </a:endParaRPr>
              </a:p>
              <a:p>
                <a:pPr lvl="1"/>
                <a:endParaRPr lang="en-CH" dirty="0">
                  <a:latin typeface="+mj-lt"/>
                </a:endParaRPr>
              </a:p>
            </p:txBody>
          </p:sp>
        </mc:Choice>
        <mc:Fallback xmlns="">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t="-2326"/>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a:t>
            </a: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Problem &amp; Challenges</a:t>
            </a:r>
            <a:br>
              <a:rPr lang="en-US" dirty="0"/>
            </a:br>
            <a:r>
              <a:rPr lang="en-US" sz="2400" b="0" i="1" dirty="0"/>
              <a:t>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ormAutofit/>
              </a:bodyPr>
              <a:lstStyle/>
              <a:p>
                <a:r>
                  <a:rPr lang="en-US" dirty="0">
                    <a:latin typeface="+mj-lt"/>
                  </a:rPr>
                  <a:t>Split the knowledge graph into disjoint subsets, then distribute over a cluster</a:t>
                </a:r>
              </a:p>
              <a:p>
                <a:r>
                  <a:rPr lang="en-US" dirty="0">
                    <a:latin typeface="+mj-lt"/>
                  </a:rPr>
                  <a:t>Cache intermediate results that are reused across multiple evaluation samples</a:t>
                </a:r>
              </a:p>
              <a:p>
                <a:r>
                  <a:rPr lang="en-US" dirty="0">
                    <a:latin typeface="+mj-lt"/>
                  </a:rPr>
                  <a:t>Faster algorithms for sampling training data</a:t>
                </a:r>
              </a:p>
              <a:p>
                <a:r>
                  <a:rPr lang="en-US" dirty="0">
                    <a:latin typeface="+mj-lt"/>
                  </a:rPr>
                  <a:t>Reduce memory complexity and the cost of slower run-time</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Problem &amp; Challenges</a:t>
            </a:r>
            <a:br>
              <a:rPr lang="en-US"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a:p>
                <a:pPr lvl="1"/>
                <a:endParaRPr lang="en-US"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t="-1802" b="-7748"/>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a:t>
                </a: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i="1"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a:p>
                <a:endParaRPr lang="en-GB"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p:txBody>
          <a:bodyPr/>
          <a:lstStyle/>
          <a:p>
            <a:r>
              <a:rPr lang="en-US" dirty="0"/>
              <a:t>3.1	Methodology</a:t>
            </a:r>
            <a:br>
              <a:rPr lang="en-US" dirty="0"/>
            </a:br>
            <a:r>
              <a:rPr lang="en-US" sz="2400" b="0" i="1" dirty="0"/>
              <a:t>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a:t>
            </a:r>
          </a:p>
          <a:p>
            <a:pPr lvl="1"/>
            <a:r>
              <a:rPr lang="en-US" dirty="0">
                <a:latin typeface="+mj-lt"/>
              </a:rPr>
              <a:t>Query2Box</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p:txBody>
          <a:bodyPr/>
          <a:lstStyle/>
          <a:p>
            <a:r>
              <a:rPr lang="en-US" dirty="0"/>
              <a:t>3.1	Methodology</a:t>
            </a:r>
            <a:br>
              <a:rPr lang="en-US" dirty="0"/>
            </a:br>
            <a:r>
              <a:rPr lang="en-US" sz="2400" b="0" i="1" dirty="0"/>
              <a:t>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p:txBody>
          <a:bodyPr/>
          <a:lstStyle/>
          <a:p>
            <a:r>
              <a:rPr lang="en-US" dirty="0"/>
              <a:t>3.1	Results</a:t>
            </a:r>
            <a:br>
              <a:rPr lang="en-US" dirty="0"/>
            </a:br>
            <a:r>
              <a:rPr lang="en-US" sz="2400" b="0" i="1" dirty="0"/>
              <a:t>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p:txBody>
          <a:bodyPr/>
          <a:lstStyle/>
          <a:p>
            <a:r>
              <a:rPr lang="en-US" dirty="0"/>
              <a:t>3.1	Results</a:t>
            </a:r>
            <a:br>
              <a:rPr lang="en-US" dirty="0"/>
            </a:br>
            <a:r>
              <a:rPr lang="en-US" sz="2400" b="0" i="1" dirty="0"/>
              <a:t>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Summary</a:t>
            </a:r>
            <a:br>
              <a:rPr lang="en-US" dirty="0"/>
            </a:b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Distributed extension</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xmlns="">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Distributed extension</a:t>
            </a:r>
            <a:br>
              <a:rPr lang="en-US" dirty="0"/>
            </a:br>
            <a:r>
              <a:rPr lang="en-US" sz="2400" b="0" i="1" dirty="0"/>
              <a:t>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a:p>
                <a:pPr lvl="1"/>
                <a:endParaRPr lang="en-US" dirty="0">
                  <a:latin typeface="+mj-lt"/>
                </a:endParaRPr>
              </a:p>
              <a:p>
                <a:pPr marL="342900" lvl="1" indent="0">
                  <a:buNone/>
                </a:pPr>
                <a:endParaRPr lang="en-US" dirty="0">
                  <a:latin typeface="+mj-lt"/>
                </a:endParaRPr>
              </a:p>
            </p:txBody>
          </p:sp>
        </mc:Choice>
        <mc:Fallback xmlns="">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a:p>
            <a:pPr lvl="1"/>
            <a:endParaRPr lang="en-US" dirty="0">
              <a:latin typeface="+mj-lt"/>
            </a:endParaRPr>
          </a:p>
          <a:p>
            <a:pPr lvl="1"/>
            <a:endParaRPr lang="en-US" dirty="0">
              <a:latin typeface="+mj-lt"/>
            </a:endParaRPr>
          </a:p>
          <a:p>
            <a:pPr lvl="1"/>
            <a:endParaRPr lang="en-GB" dirty="0">
              <a:latin typeface="+mj-lt"/>
            </a:endParaRP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a:bodyPr>
          <a:lstStyle/>
          <a:p>
            <a:r>
              <a:rPr lang="en-US" dirty="0"/>
              <a:t>3.2	Motivation</a:t>
            </a:r>
            <a:br>
              <a:rPr lang="en-US" dirty="0"/>
            </a:br>
            <a:r>
              <a:rPr lang="en-US" sz="2400" b="0" i="1" dirty="0"/>
              <a:t>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ormAutofit/>
          </a:bodyPr>
          <a:lstStyle/>
          <a:p>
            <a:r>
              <a:rPr lang="en-US" dirty="0">
                <a:latin typeface="+mj-lt"/>
              </a:rPr>
              <a:t>History of COINs</a:t>
            </a:r>
          </a:p>
          <a:p>
            <a:pPr lvl="1"/>
            <a:r>
              <a:rPr lang="en-US" dirty="0">
                <a:latin typeface="+mj-lt"/>
              </a:rPr>
              <a:t>First version successful on Monty samples</a:t>
            </a:r>
          </a:p>
          <a:p>
            <a:pPr lvl="1"/>
            <a:r>
              <a:rPr lang="en-US" dirty="0">
                <a:latin typeface="+mj-lt"/>
              </a:rPr>
              <a:t>Weak generalization to public data</a:t>
            </a:r>
          </a:p>
          <a:p>
            <a:pPr marL="342900" lvl="1" indent="0">
              <a:buNone/>
            </a:pPr>
            <a:endParaRPr lang="en-US" dirty="0">
              <a:latin typeface="+mj-lt"/>
            </a:endParaRPr>
          </a:p>
          <a:p>
            <a:pPr marL="342900" lvl="1" indent="0">
              <a:buNone/>
            </a:pPr>
            <a:endParaRPr lang="en-US" dirty="0">
              <a:latin typeface="+mj-lt"/>
            </a:endParaRP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a:p>
            <a:pPr lvl="1"/>
            <a:endParaRPr lang="en-US" dirty="0">
              <a:latin typeface="+mj-lt"/>
            </a:endParaRPr>
          </a:p>
          <a:p>
            <a:pPr lvl="1"/>
            <a:endParaRPr lang="en-US" dirty="0">
              <a:latin typeface="+mj-lt"/>
            </a:endParaRPr>
          </a:p>
          <a:p>
            <a:pPr lvl="1"/>
            <a:endParaRPr lang="en-US" dirty="0">
              <a:latin typeface="+mj-lt"/>
            </a:endParaRPr>
          </a:p>
          <a:p>
            <a:pPr lvl="1"/>
            <a:endParaRPr lang="en-GB" dirty="0">
              <a:latin typeface="+mj-lt"/>
            </a:endParaRP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a:bodyPr>
          <a:lstStyle/>
          <a:p>
            <a:r>
              <a:rPr lang="en-US" dirty="0"/>
              <a:t>3.2	Motivation</a:t>
            </a:r>
            <a:br>
              <a:rPr lang="en-US" dirty="0"/>
            </a:br>
            <a:r>
              <a:rPr lang="en-US" sz="2400" b="0" i="1" dirty="0"/>
              <a:t>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18" dur="500"/>
                                        <p:tgtEl>
                                          <p:spTgt spid="2">
                                            <p:txEl>
                                              <p:pRg st="5" end="5"/>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1" dur="500"/>
                                        <p:tgtEl>
                                          <p:spTgt spid="2">
                                            <p:txEl>
                                              <p:pRg st="6" end="6"/>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24" dur="500"/>
                                        <p:tgtEl>
                                          <p:spTgt spid="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a:p>
            <a:pPr lvl="1"/>
            <a:endParaRPr lang="en-GB" dirty="0">
              <a:latin typeface="+mj-lt"/>
            </a:endParaRP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a:bodyPr>
          <a:lstStyle/>
          <a:p>
            <a:r>
              <a:rPr lang="en-US" dirty="0"/>
              <a:t>3.2	Methodology</a:t>
            </a:r>
            <a:br>
              <a:rPr lang="en-US" dirty="0"/>
            </a:br>
            <a:r>
              <a:rPr lang="en-US" sz="2400" b="0" i="1" dirty="0"/>
              <a:t>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p:txBody>
          <a:bodyPr>
            <a:normAutofit/>
          </a:bodyPr>
          <a:lstStyle/>
          <a:p>
            <a:r>
              <a:rPr lang="en-US" dirty="0"/>
              <a:t>3.2	Methodology</a:t>
            </a:r>
            <a:br>
              <a:rPr lang="en-US" dirty="0"/>
            </a:br>
            <a:r>
              <a:rPr lang="en-US" sz="2400" b="0" i="1" dirty="0"/>
              <a:t>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1926858"/>
          </a:xfrm>
        </p:spPr>
        <p:txBody>
          <a:bodyPr>
            <a:normAutofit fontScale="70000" lnSpcReduction="20000"/>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a:p>
            <a:endParaRPr lang="en-GB" dirty="0">
              <a:latin typeface="+mj-lt"/>
            </a:endParaRP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p:txBody>
          <a:bodyPr>
            <a:normAutofit/>
          </a:bodyPr>
          <a:lstStyle/>
          <a:p>
            <a:r>
              <a:rPr lang="en-US" dirty="0"/>
              <a:t>3.2	Results</a:t>
            </a:r>
            <a:br>
              <a:rPr lang="en-US" dirty="0"/>
            </a:br>
            <a:r>
              <a:rPr lang="en-US" sz="2400" b="0" i="1" dirty="0"/>
              <a:t>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6" dur="500"/>
                                        <p:tgtEl>
                                          <p:spTgt spid="9">
                                            <p:txEl>
                                              <p:pRg st="8" end="8"/>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1"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pic>
        <p:nvPicPr>
          <p:cNvPr id="3"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Grp="1" noChangeAspect="1"/>
          </p:cNvPicPr>
          <p:nvPr>
            <p:ph idx="1"/>
          </p:nvPr>
        </p:nvPicPr>
        <p:blipFill>
          <a:blip r:embed="rId3"/>
          <a:stretch>
            <a:fillRect/>
          </a:stretch>
        </p:blipFill>
        <p:spPr>
          <a:xfrm>
            <a:off x="904875" y="1973544"/>
            <a:ext cx="7726363" cy="2566425"/>
          </a:xfrm>
        </p:spPr>
      </p:pic>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a:bodyPr>
          <a:lstStyle/>
          <a:p>
            <a:r>
              <a:rPr lang="en-US" dirty="0"/>
              <a:t>3.2	Results</a:t>
            </a:r>
            <a:br>
              <a:rPr lang="en-US" dirty="0"/>
            </a:br>
            <a:r>
              <a:rPr lang="en-US" sz="2400" b="0" i="1" dirty="0"/>
              <a:t>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a:p>
            <a:pPr lvl="1"/>
            <a:endParaRPr lang="en-US" i="1"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207279" cy="1072753"/>
          </a:xfrm>
        </p:spPr>
        <p:txBody>
          <a:bodyPr/>
          <a:lstStyle/>
          <a:p>
            <a:r>
              <a:rPr lang="en-US" dirty="0"/>
              <a:t>4.1	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ormAutofit fontScale="92500"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𝑿</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oMath>
                  </m:oMathPara>
                </a14:m>
                <a:endParaRPr lang="en-US" b="0" dirty="0">
                  <a:latin typeface="+mj-lt"/>
                </a:endParaRPr>
              </a:p>
              <a:p>
                <a:r>
                  <a:rPr lang="en-US" dirty="0">
                    <a:latin typeface="+mj-lt"/>
                  </a:rPr>
                  <a:t>Wasserstein Generative Adversarial Networks (WGANs)</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a:p>
                <a:pPr marL="342900" lvl="1" indent="0">
                  <a:buNone/>
                </a:pPr>
                <a:endParaRPr lang="en-US" b="0" dirty="0">
                  <a:latin typeface="+mj-lt"/>
                </a:endParaRPr>
              </a:p>
              <a:p>
                <a:pPr lvl="1"/>
                <a:endParaRPr lang="en-US" dirty="0">
                  <a:latin typeface="+mj-lt"/>
                </a:endParaRPr>
              </a:p>
            </p:txBody>
          </p:sp>
        </mc:Choice>
        <mc:Fallback>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t="-2247"/>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lstStyle/>
          <a:p>
            <a:r>
              <a:rPr lang="en-US" dirty="0"/>
              <a:t>4.1	Background</a:t>
            </a:r>
            <a:br>
              <a:rPr lang="en-US" dirty="0"/>
            </a:br>
            <a:r>
              <a:rPr lang="en-US" sz="2400" b="0" i="1" dirty="0"/>
              <a:t>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xmlns="">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t="-1869"/>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p:txBody>
          <a:bodyPr/>
          <a:lstStyle/>
          <a:p>
            <a:r>
              <a:rPr lang="en-US" dirty="0"/>
              <a:t>4.1	Background</a:t>
            </a:r>
            <a:br>
              <a:rPr lang="en-US" dirty="0"/>
            </a:br>
            <a:r>
              <a:rPr lang="en-US" sz="2400" b="0" i="1" dirty="0"/>
              <a:t>GG-GAN</a:t>
            </a:r>
            <a:endParaRPr lang="en-GB" sz="2400" b="0" i="1" dirty="0"/>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4194663" cy="3263504"/>
              </a:xfrm>
            </p:spPr>
            <p:txBody>
              <a:bodyPr>
                <a:normAutofit fontScale="850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xmlns="">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4194663" cy="3263504"/>
              </a:xfrm>
              <a:blipFill>
                <a:blip r:embed="rId3"/>
                <a:stretch>
                  <a:fillRect t="-186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lstStyle/>
          <a:p>
            <a:r>
              <a:rPr lang="en-US" dirty="0"/>
              <a:t>4.1	Background</a:t>
            </a:r>
            <a:br>
              <a:rPr lang="en-US" dirty="0"/>
            </a:br>
            <a:r>
              <a:rPr lang="en-US" sz="2400" b="0" i="1" dirty="0"/>
              <a:t>The Chinese Restaurant Process (CRP)</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a:p>
            <a:pPr lvl="1"/>
            <a:endParaRPr lang="en-US" dirty="0">
              <a:latin typeface="+mj-lt"/>
            </a:endParaRP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lstStyle/>
          <a:p>
            <a:r>
              <a:rPr lang="en-US" dirty="0"/>
              <a:t>4.1	Methodology</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p:txBody>
          <a:bodyP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a:t>
            </a:r>
          </a:p>
          <a:p>
            <a:r>
              <a:rPr lang="en-US" dirty="0">
                <a:latin typeface="+mj-lt"/>
              </a:rPr>
              <a:t>Weighted integer partition sampling</a:t>
            </a:r>
          </a:p>
          <a:p>
            <a:pPr lvl="1"/>
            <a:r>
              <a:rPr lang="en-US" dirty="0" err="1">
                <a:latin typeface="+mj-lt"/>
              </a:rPr>
              <a:t>Fristedt’s</a:t>
            </a:r>
            <a:r>
              <a:rPr lang="en-US" dirty="0">
                <a:latin typeface="+mj-lt"/>
              </a:rPr>
              <a:t> method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Methodology</a:t>
            </a:r>
            <a:br>
              <a:rPr lang="en-US" dirty="0"/>
            </a:br>
            <a:r>
              <a:rPr lang="en-US" sz="2400" b="0" i="1" dirty="0"/>
              <a:t>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ormAutofit/>
          </a:bodyPr>
          <a:lstStyle/>
          <a:p>
            <a:r>
              <a:rPr lang="en-US" dirty="0">
                <a:latin typeface="+mj-lt"/>
              </a:rPr>
              <a:t>Per-community latent features</a:t>
            </a:r>
          </a:p>
          <a:p>
            <a:r>
              <a:rPr lang="en-US" dirty="0">
                <a:latin typeface="+mj-lt"/>
              </a:rPr>
              <a:t>Autoregressive: edge readout conditioned on discriminator features of the previous graph state</a:t>
            </a:r>
          </a:p>
          <a:p>
            <a:r>
              <a:rPr lang="en-US" dirty="0">
                <a:latin typeface="+mj-lt"/>
              </a:rPr>
              <a:t>Scalable: per-community root, lower memory complexity</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Methodology</a:t>
            </a:r>
            <a:br>
              <a:rPr lang="en-US" dirty="0"/>
            </a:br>
            <a:r>
              <a:rPr lang="en-US" sz="2400" b="0" i="1" dirty="0"/>
              <a:t>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7" dur="500"/>
                                        <p:tgtEl>
                                          <p:spTgt spid="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2" end="2"/>
                                            </p:txEl>
                                          </p:spTgt>
                                        </p:tgtEl>
                                        <p:attrNameLst>
                                          <p:attrName>style.visibility</p:attrName>
                                        </p:attrNameLst>
                                      </p:cBhvr>
                                      <p:to>
                                        <p:strVal val="visible"/>
                                      </p:to>
                                    </p:set>
                                    <p:animEffect transition="in" filter="randombar(horizontal)">
                                      <p:cBhvr>
                                        <p:cTn id="22" dur="500"/>
                                        <p:tgtEl>
                                          <p:spTgt spid="9">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Results</a:t>
            </a:r>
            <a:br>
              <a:rPr lang="en-US" dirty="0"/>
            </a:br>
            <a:r>
              <a:rPr lang="en-US" sz="2400" b="0" i="1" dirty="0"/>
              <a:t>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p:txBody>
          <a:bodyPr>
            <a:normAutofit/>
          </a:bodyPr>
          <a:lstStyle/>
          <a:p>
            <a:r>
              <a:rPr lang="en-US" dirty="0"/>
              <a:t>4.1	Results</a:t>
            </a:r>
            <a:br>
              <a:rPr lang="en-US" dirty="0"/>
            </a:br>
            <a:r>
              <a:rPr lang="en-US" sz="2400" b="0" i="1" dirty="0"/>
              <a:t>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Results</a:t>
            </a:r>
            <a:br>
              <a:rPr lang="en-US" dirty="0"/>
            </a:br>
            <a:r>
              <a:rPr lang="en-US" sz="2400" b="0" i="1" dirty="0"/>
              <a:t>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ormAutofit/>
              </a:bodyPr>
              <a:lstStyle/>
              <a:p>
                <a:r>
                  <a:rPr lang="en-US" dirty="0">
                    <a:latin typeface="+mj-lt"/>
                  </a:rPr>
                  <a:t>Graph GAN with permutation equivariant autoregressive sampling</a:t>
                </a:r>
              </a:p>
              <a:p>
                <a:r>
                  <a:rPr lang="en-US" dirty="0">
                    <a:latin typeface="+mj-lt"/>
                  </a:rPr>
                  <a:t>Retained isomorphism consistency and high novelty properties of GG-GAN</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xmlns="">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t="-1802"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lstStyle/>
          <a:p>
            <a:r>
              <a:rPr lang="en-US" dirty="0"/>
              <a:t>4.1	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B6DF-464C-6B3E-49B0-5C46DE1B03FC}"/>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CD8748C-9990-6B98-87B1-437F169E150F}"/>
              </a:ext>
            </a:extLst>
          </p:cNvPr>
          <p:cNvSpPr>
            <a:spLocks noGrp="1"/>
          </p:cNvSpPr>
          <p:nvPr>
            <p:ph idx="1"/>
          </p:nvPr>
        </p:nvSpPr>
        <p:spPr/>
        <p:txBody>
          <a:bodyPr>
            <a:normAutofit/>
          </a:bodyPr>
          <a:lstStyle/>
          <a:p>
            <a:r>
              <a:rPr lang="en-US" dirty="0">
                <a:latin typeface="+mj-lt"/>
              </a:rPr>
              <a:t>Real-world graph datasets beyond small molecules</a:t>
            </a:r>
          </a:p>
          <a:p>
            <a:pPr lvl="1"/>
            <a:r>
              <a:rPr lang="en-US" dirty="0">
                <a:latin typeface="+mj-lt"/>
              </a:rPr>
              <a:t>Social ego-networks, financial transactions, road infrastructure, electronic circuits…</a:t>
            </a:r>
          </a:p>
          <a:p>
            <a:pPr lvl="1"/>
            <a:r>
              <a:rPr lang="en-US" dirty="0">
                <a:latin typeface="+mj-lt"/>
              </a:rPr>
              <a:t>Scalability issues with performance and complexity</a:t>
            </a:r>
          </a:p>
          <a:p>
            <a:pPr lvl="1"/>
            <a:r>
              <a:rPr lang="en-US" dirty="0">
                <a:latin typeface="+mj-lt"/>
              </a:rPr>
              <a:t>Multi-level heterogeneity, local density vs. global sparsity</a:t>
            </a:r>
          </a:p>
          <a:p>
            <a:r>
              <a:rPr lang="en-US" dirty="0">
                <a:latin typeface="+mj-lt"/>
              </a:rPr>
              <a:t>Hierarchical, multi-resolution graph structure modeling and generation</a:t>
            </a:r>
          </a:p>
          <a:p>
            <a:pPr lvl="1"/>
            <a:r>
              <a:rPr lang="en-US" dirty="0">
                <a:latin typeface="+mj-lt"/>
              </a:rPr>
              <a:t>Fractal model consistency as an inductive bias</a:t>
            </a:r>
          </a:p>
          <a:p>
            <a:pPr lvl="1"/>
            <a:r>
              <a:rPr lang="en-US" dirty="0">
                <a:latin typeface="+mj-lt"/>
              </a:rPr>
              <a:t>Coarser representations followed by finer structure generation pre-conditioned on them</a:t>
            </a:r>
          </a:p>
          <a:p>
            <a:pPr lvl="1"/>
            <a:r>
              <a:rPr lang="en-US" dirty="0">
                <a:latin typeface="+mj-lt"/>
              </a:rPr>
              <a:t>Only </a:t>
            </a:r>
            <a:r>
              <a:rPr lang="en-US" i="1" dirty="0">
                <a:latin typeface="+mj-lt"/>
              </a:rPr>
              <a:t>diffusion</a:t>
            </a:r>
            <a:r>
              <a:rPr lang="en-US" dirty="0">
                <a:latin typeface="+mj-lt"/>
              </a:rPr>
              <a:t> </a:t>
            </a:r>
            <a:r>
              <a:rPr lang="en-US" i="1" dirty="0">
                <a:latin typeface="+mj-lt"/>
              </a:rPr>
              <a:t>models</a:t>
            </a:r>
            <a:r>
              <a:rPr lang="en-US" dirty="0">
                <a:latin typeface="+mj-lt"/>
              </a:rPr>
              <a:t> conjectured to have the sufficient representation power</a:t>
            </a:r>
          </a:p>
          <a:p>
            <a:r>
              <a:rPr lang="en-US" dirty="0" err="1">
                <a:latin typeface="+mj-lt"/>
              </a:rPr>
              <a:t>HiGenDiff</a:t>
            </a:r>
            <a:r>
              <a:rPr lang="en-US" dirty="0">
                <a:latin typeface="+mj-lt"/>
              </a:rPr>
              <a:t> (Hierarchical Generative Diffusion)</a:t>
            </a:r>
          </a:p>
          <a:p>
            <a:pPr lvl="1"/>
            <a:r>
              <a:rPr lang="en-US" dirty="0">
                <a:latin typeface="+mj-lt"/>
              </a:rPr>
              <a:t>Extends work of Karami &amp; Krawczuk et al. with new model designs, theoretical analyses and improve experimental results</a:t>
            </a:r>
          </a:p>
        </p:txBody>
      </p:sp>
      <p:sp>
        <p:nvSpPr>
          <p:cNvPr id="8" name="Title 7">
            <a:extLst>
              <a:ext uri="{FF2B5EF4-FFF2-40B4-BE49-F238E27FC236}">
                <a16:creationId xmlns:a16="http://schemas.microsoft.com/office/drawing/2014/main" id="{5846C48E-04F7-A7FB-D832-BEAD444AC327}"/>
              </a:ext>
            </a:extLst>
          </p:cNvPr>
          <p:cNvSpPr>
            <a:spLocks noGrp="1"/>
          </p:cNvSpPr>
          <p:nvPr>
            <p:ph type="title"/>
          </p:nvPr>
        </p:nvSpPr>
        <p:spPr>
          <a:xfrm>
            <a:off x="904875" y="131032"/>
            <a:ext cx="7207279" cy="1072753"/>
          </a:xfrm>
        </p:spPr>
        <p:txBody>
          <a:bodyPr/>
          <a:lstStyle/>
          <a:p>
            <a:r>
              <a:rPr lang="en-US" dirty="0"/>
              <a:t>4.2	Motivation</a:t>
            </a:r>
            <a:br>
              <a:rPr lang="en-US" dirty="0"/>
            </a:br>
            <a:endParaRPr lang="en-GB" sz="2400" b="0" i="1" dirty="0"/>
          </a:p>
        </p:txBody>
      </p:sp>
      <p:sp>
        <p:nvSpPr>
          <p:cNvPr id="5" name="Date Placeholder 4">
            <a:extLst>
              <a:ext uri="{FF2B5EF4-FFF2-40B4-BE49-F238E27FC236}">
                <a16:creationId xmlns:a16="http://schemas.microsoft.com/office/drawing/2014/main" id="{273C1C92-0076-F15E-7A9E-01B4D56D792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7213F4E-7CC9-D377-175C-C3493C6E47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3B8AE51-61F8-EA08-053C-D7810CBF4F79}"/>
              </a:ext>
            </a:extLst>
          </p:cNvPr>
          <p:cNvSpPr>
            <a:spLocks noGrp="1"/>
          </p:cNvSpPr>
          <p:nvPr>
            <p:ph type="sldNum" sz="quarter" idx="12"/>
          </p:nvPr>
        </p:nvSpPr>
        <p:spPr/>
        <p:txBody>
          <a:bodyPr/>
          <a:lstStyle/>
          <a:p>
            <a:fld id="{E1E1CD7C-2161-7D43-862E-CE4C333CD873}" type="slidenum">
              <a:rPr lang="fr-FR" smtClean="0"/>
              <a:pPr/>
              <a:t>45</a:t>
            </a:fld>
            <a:endParaRPr lang="fr-FR" dirty="0"/>
          </a:p>
        </p:txBody>
      </p:sp>
    </p:spTree>
    <p:extLst>
      <p:ext uri="{BB962C8B-B14F-4D97-AF65-F5344CB8AC3E}">
        <p14:creationId xmlns:p14="http://schemas.microsoft.com/office/powerpoint/2010/main" val="40897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484E4-1A13-9DE5-D8A7-FB87F2AE63B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DBBB71AA-A60E-AE64-D20E-62E60C50023E}"/>
                  </a:ext>
                </a:extLst>
              </p:cNvPr>
              <p:cNvSpPr>
                <a:spLocks noGrp="1"/>
              </p:cNvSpPr>
              <p:nvPr>
                <p:ph idx="1"/>
              </p:nvPr>
            </p:nvSpPr>
            <p:spPr/>
            <p:txBody>
              <a:bodyPr>
                <a:normAutofit/>
              </a:bodyPr>
              <a:lstStyle/>
              <a:p>
                <a:r>
                  <a:rPr lang="en-US" dirty="0">
                    <a:latin typeface="+mj-lt"/>
                  </a:rPr>
                  <a:t>Assume a finite </a:t>
                </a:r>
                <a14:m>
                  <m:oMath xmlns:m="http://schemas.openxmlformats.org/officeDocument/2006/math">
                    <m:r>
                      <a:rPr lang="en-US" b="0" i="1" smtClean="0">
                        <a:latin typeface="Cambria Math" panose="02040503050406030204" pitchFamily="18" charset="0"/>
                      </a:rPr>
                      <m:t>𝑇</m:t>
                    </m:r>
                  </m:oMath>
                </a14:m>
                <a:r>
                  <a:rPr lang="en-US" dirty="0">
                    <a:latin typeface="+mj-lt"/>
                  </a:rPr>
                  <a:t>-step Markov chain between any latent noise and true distributions</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 </m:t>
                      </m:r>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b="0" i="1">
                              <a:latin typeface="Cambria Math" panose="02040503050406030204" pitchFamily="18" charset="0"/>
                            </a:rPr>
                            <m:t>0</m:t>
                          </m:r>
                        </m:sub>
                      </m:sSub>
                      <m:r>
                        <a:rPr lang="en-US" i="1">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𝑍</m:t>
                      </m:r>
                    </m:oMath>
                  </m:oMathPara>
                </a14:m>
                <a:endParaRPr lang="en-US" dirty="0">
                  <a:latin typeface="+mj-lt"/>
                </a:endParaRPr>
              </a:p>
              <a:p>
                <a:r>
                  <a:rPr lang="en-US" dirty="0">
                    <a:latin typeface="+mj-lt"/>
                  </a:rPr>
                  <a:t>Likelihood estimation with Markov property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ℙ</m:t>
                      </m:r>
                      <m:d>
                        <m:dPr>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e>
                      </m:d>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i="1">
                              <a:latin typeface="Cambria Math" panose="02040503050406030204" pitchFamily="18" charset="0"/>
                            </a:rPr>
                            <m:t>ℙ</m:t>
                          </m:r>
                          <m:d>
                            <m:dPr>
                              <m:sep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nary>
                    </m:oMath>
                  </m:oMathPara>
                </a14:m>
                <a:endParaRPr lang="en-US" dirty="0">
                  <a:latin typeface="+mj-lt"/>
                </a:endParaRPr>
              </a:p>
              <a:p>
                <a:r>
                  <a:rPr lang="en-US" dirty="0">
                    <a:latin typeface="+mj-lt"/>
                  </a:rPr>
                  <a:t>Sampling through step-by-step denoising with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𝑔</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oMath>
                </a14:m>
                <a:endParaRPr lang="en-US" i="1" dirty="0">
                  <a:latin typeface="+mj-lt"/>
                </a:endParaRPr>
              </a:p>
              <a:p>
                <a:pPr marL="0" indent="0">
                  <a:buNone/>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𝑡</m:t>
                              </m:r>
                            </m:sub>
                          </m:sSub>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r>
                                    <a:rPr lang="en-US" i="1">
                                      <a:latin typeface="Cambria Math" panose="02040503050406030204" pitchFamily="18" charset="0"/>
                                    </a:rPr>
                                    <m:t>𝑔</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func>
                        </m:e>
                      </m:d>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b="1" i="1">
                                  <a:latin typeface="Cambria Math" panose="02040503050406030204" pitchFamily="18" charset="0"/>
                                </a:rPr>
                                <m:t>𝑿</m:t>
                              </m:r>
                            </m:e>
                          </m:acc>
                        </m:e>
                        <m:sub>
                          <m:r>
                            <a:rPr lang="en-US" b="0" i="1" smtClean="0">
                              <a:latin typeface="Cambria Math" panose="02040503050406030204" pitchFamily="18" charset="0"/>
                            </a:rPr>
                            <m:t>0</m:t>
                          </m:r>
                        </m:sub>
                      </m:sSub>
                      <m:r>
                        <a:rPr lang="en-US"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e>
                      </m:d>
                      <m:d>
                        <m:dPr>
                          <m:ctrlPr>
                            <a:rPr lang="en-US" i="1">
                              <a:latin typeface="Cambria Math" panose="02040503050406030204" pitchFamily="18" charset="0"/>
                            </a:rPr>
                          </m:ctrlPr>
                        </m:dPr>
                        <m:e>
                          <m:r>
                            <a:rPr lang="en-US" i="1" smtClean="0">
                              <a:latin typeface="Cambria Math" panose="02040503050406030204" pitchFamily="18" charset="0"/>
                            </a:rPr>
                            <m:t>𝑍</m:t>
                          </m:r>
                        </m:e>
                      </m:d>
                    </m:oMath>
                  </m:oMathPara>
                </a14:m>
                <a:endParaRPr lang="en-US" sz="2000" i="1" dirty="0"/>
              </a:p>
              <a:p>
                <a:pPr marL="0" indent="0">
                  <a:buNone/>
                </a:pPr>
                <a:endParaRPr lang="en-US" i="1" dirty="0">
                  <a:latin typeface="+mj-lt"/>
                </a:endParaRPr>
              </a:p>
              <a:p>
                <a:endParaRPr lang="en-US" i="1" dirty="0">
                  <a:latin typeface="+mj-lt"/>
                </a:endParaRPr>
              </a:p>
            </p:txBody>
          </p:sp>
        </mc:Choice>
        <mc:Fallback>
          <p:sp>
            <p:nvSpPr>
              <p:cNvPr id="9" name="Content Placeholder 8">
                <a:extLst>
                  <a:ext uri="{FF2B5EF4-FFF2-40B4-BE49-F238E27FC236}">
                    <a16:creationId xmlns:a16="http://schemas.microsoft.com/office/drawing/2014/main" id="{DBBB71AA-A60E-AE64-D20E-62E60C50023E}"/>
                  </a:ext>
                </a:extLst>
              </p:cNvPr>
              <p:cNvSpPr>
                <a:spLocks noGrp="1" noRot="1" noChangeAspect="1" noMove="1" noResize="1" noEditPoints="1" noAdjustHandles="1" noChangeArrowheads="1" noChangeShapeType="1" noTextEdit="1"/>
              </p:cNvSpPr>
              <p:nvPr>
                <p:ph idx="1"/>
              </p:nvPr>
            </p:nvSpPr>
            <p:spPr>
              <a:blipFill>
                <a:blip r:embed="rId3"/>
                <a:stretch>
                  <a:fillRect t="-1498" r="-657" b="-3371"/>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CA69C782-92EB-5E89-2A51-3AB081937BAF}"/>
              </a:ext>
            </a:extLst>
          </p:cNvPr>
          <p:cNvSpPr>
            <a:spLocks noGrp="1"/>
          </p:cNvSpPr>
          <p:nvPr>
            <p:ph type="title"/>
          </p:nvPr>
        </p:nvSpPr>
        <p:spPr>
          <a:xfrm>
            <a:off x="904875" y="131032"/>
            <a:ext cx="7207279" cy="1072753"/>
          </a:xfrm>
        </p:spPr>
        <p:txBody>
          <a:bodyPr/>
          <a:lstStyle/>
          <a:p>
            <a:r>
              <a:rPr lang="en-US" dirty="0"/>
              <a:t>4.2	Background</a:t>
            </a:r>
            <a:br>
              <a:rPr lang="en-US" dirty="0"/>
            </a:br>
            <a:r>
              <a:rPr lang="en-US" sz="2400" b="0" i="1" dirty="0"/>
              <a:t>Diffusion models</a:t>
            </a:r>
            <a:endParaRPr lang="en-GB" sz="2400" b="0" i="1" dirty="0"/>
          </a:p>
        </p:txBody>
      </p:sp>
      <p:sp>
        <p:nvSpPr>
          <p:cNvPr id="5" name="Date Placeholder 4">
            <a:extLst>
              <a:ext uri="{FF2B5EF4-FFF2-40B4-BE49-F238E27FC236}">
                <a16:creationId xmlns:a16="http://schemas.microsoft.com/office/drawing/2014/main" id="{15E1C889-469C-B264-06B0-8693FEC37DB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F567718-F929-DF3A-1110-4CE7CAE67F0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3035225-1D76-1DC6-C782-09E016470CD9}"/>
              </a:ext>
            </a:extLst>
          </p:cNvPr>
          <p:cNvSpPr>
            <a:spLocks noGrp="1"/>
          </p:cNvSpPr>
          <p:nvPr>
            <p:ph type="sldNum" sz="quarter" idx="12"/>
          </p:nvPr>
        </p:nvSpPr>
        <p:spPr/>
        <p:txBody>
          <a:bodyPr/>
          <a:lstStyle/>
          <a:p>
            <a:fld id="{E1E1CD7C-2161-7D43-862E-CE4C333CD873}" type="slidenum">
              <a:rPr lang="fr-FR" smtClean="0"/>
              <a:pPr/>
              <a:t>46</a:t>
            </a:fld>
            <a:endParaRPr lang="fr-FR" dirty="0"/>
          </a:p>
        </p:txBody>
      </p:sp>
    </p:spTree>
    <p:extLst>
      <p:ext uri="{BB962C8B-B14F-4D97-AF65-F5344CB8AC3E}">
        <p14:creationId xmlns:p14="http://schemas.microsoft.com/office/powerpoint/2010/main" val="4187541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ACBF1-9F7A-2100-3644-473469A432C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B1F3BFED-D217-145E-658B-9BF5994151A7}"/>
                  </a:ext>
                </a:extLst>
              </p:cNvPr>
              <p:cNvSpPr>
                <a:spLocks noGrp="1"/>
              </p:cNvSpPr>
              <p:nvPr>
                <p:ph idx="1"/>
              </p:nvPr>
            </p:nvSpPr>
            <p:spPr/>
            <p:txBody>
              <a:bodyPr>
                <a:normAutofit fontScale="77500" lnSpcReduction="20000"/>
              </a:bodyPr>
              <a:lstStyle/>
              <a:p>
                <a:r>
                  <a:rPr lang="en-US" dirty="0">
                    <a:latin typeface="+mj-lt"/>
                  </a:rPr>
                  <a:t>Discrete diffusion process of </a:t>
                </a:r>
                <a:r>
                  <a:rPr lang="en-US" dirty="0" err="1">
                    <a:latin typeface="+mj-lt"/>
                  </a:rPr>
                  <a:t>DiGress</a:t>
                </a:r>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rPr>
                          </m:ctrlPr>
                        </m:sSubPr>
                        <m:e>
                          <m:d>
                            <m:dPr>
                              <m:ctrlPr>
                                <a:rPr lang="en-US" sz="1500" i="1">
                                  <a:latin typeface="Cambria Math" panose="02040503050406030204" pitchFamily="18" charset="0"/>
                                </a:rPr>
                              </m:ctrlPr>
                            </m:dPr>
                            <m:e>
                              <m:sSub>
                                <m:sSubPr>
                                  <m:ctrlPr>
                                    <a:rPr lang="en-US" sz="1500" i="1">
                                      <a:latin typeface="Cambria Math" panose="02040503050406030204" pitchFamily="18" charset="0"/>
                                    </a:rPr>
                                  </m:ctrlPr>
                                </m:sSubPr>
                                <m:e>
                                  <m:r>
                                    <a:rPr lang="en-US" sz="1500" i="1">
                                      <a:latin typeface="Cambria Math" panose="02040503050406030204" pitchFamily="18" charset="0"/>
                                    </a:rPr>
                                    <m:t>𝐴</m:t>
                                  </m:r>
                                </m:e>
                                <m:sub>
                                  <m:r>
                                    <a:rPr lang="en-US" sz="1500" i="1">
                                      <a:latin typeface="Cambria Math" panose="02040503050406030204" pitchFamily="18" charset="0"/>
                                    </a:rPr>
                                    <m:t>𝑖</m:t>
                                  </m:r>
                                  <m:r>
                                    <a:rPr lang="en-US" sz="1500" i="1">
                                      <a:latin typeface="Cambria Math" panose="02040503050406030204" pitchFamily="18" charset="0"/>
                                    </a:rPr>
                                    <m:t>,</m:t>
                                  </m:r>
                                  <m:r>
                                    <a:rPr lang="en-US" sz="1500" i="1">
                                      <a:latin typeface="Cambria Math" panose="02040503050406030204" pitchFamily="18" charset="0"/>
                                    </a:rPr>
                                    <m:t>𝑗</m:t>
                                  </m:r>
                                </m:sub>
                              </m:sSub>
                            </m:e>
                          </m:d>
                        </m:e>
                        <m:sub>
                          <m:r>
                            <a:rPr lang="en-US" sz="1500" i="1">
                              <a:latin typeface="Cambria Math" panose="02040503050406030204" pitchFamily="18" charset="0"/>
                            </a:rPr>
                            <m:t>𝑡</m:t>
                          </m:r>
                        </m:sub>
                      </m:sSub>
                      <m:r>
                        <a:rPr lang="en-US" sz="1500" i="1">
                          <a:latin typeface="Cambria Math" panose="02040503050406030204" pitchFamily="18" charset="0"/>
                        </a:rPr>
                        <m:t>∼</m:t>
                      </m:r>
                      <m:r>
                        <m:rPr>
                          <m:nor/>
                        </m:rPr>
                        <a:rPr lang="en-US" sz="1500">
                          <a:latin typeface="Cambria Math" panose="02040503050406030204" pitchFamily="18" charset="0"/>
                        </a:rPr>
                        <m:t>Categorical</m:t>
                      </m:r>
                      <m:d>
                        <m:dPr>
                          <m:ctrlPr>
                            <a:rPr lang="en-US" sz="1500" i="1">
                              <a:latin typeface="Cambria Math" panose="02040503050406030204" pitchFamily="18" charset="0"/>
                            </a:rPr>
                          </m:ctrlPr>
                        </m:dPr>
                        <m:e>
                          <m:sSub>
                            <m:sSubPr>
                              <m:ctrlPr>
                                <a:rPr lang="en-US" sz="1500" i="1">
                                  <a:latin typeface="Cambria Math" panose="02040503050406030204" pitchFamily="18" charset="0"/>
                                </a:rPr>
                              </m:ctrlPr>
                            </m:sSubPr>
                            <m:e>
                              <m:r>
                                <a:rPr lang="en-US" sz="1500" i="1">
                                  <a:latin typeface="Cambria Math" panose="02040503050406030204" pitchFamily="18" charset="0"/>
                                </a:rPr>
                                <m:t>𝑄</m:t>
                              </m:r>
                            </m:e>
                            <m:sub>
                              <m:r>
                                <a:rPr lang="en-US" sz="1500" i="1">
                                  <a:latin typeface="Cambria Math" panose="02040503050406030204" pitchFamily="18" charset="0"/>
                                </a:rPr>
                                <m:t>𝑡</m:t>
                              </m:r>
                            </m:sub>
                          </m:sSub>
                          <m:r>
                            <a:rPr lang="en-US" sz="1500" i="1">
                              <a:latin typeface="Cambria Math" panose="02040503050406030204" pitchFamily="18" charset="0"/>
                            </a:rPr>
                            <m:t>⋅</m:t>
                          </m:r>
                          <m:r>
                            <m:rPr>
                              <m:nor/>
                            </m:rPr>
                            <a:rPr lang="en-US" sz="1500">
                              <a:latin typeface="Cambria Math" panose="02040503050406030204" pitchFamily="18" charset="0"/>
                            </a:rPr>
                            <m:t>OneHot</m:t>
                          </m:r>
                          <m:d>
                            <m:dPr>
                              <m:ctrlPr>
                                <a:rPr lang="en-US" sz="1500" i="1">
                                  <a:latin typeface="Cambria Math" panose="02040503050406030204" pitchFamily="18" charset="0"/>
                                </a:rPr>
                              </m:ctrlPr>
                            </m:dPr>
                            <m:e>
                              <m:sSub>
                                <m:sSubPr>
                                  <m:ctrlPr>
                                    <a:rPr lang="en-US" sz="1500" i="1">
                                      <a:latin typeface="Cambria Math" panose="02040503050406030204" pitchFamily="18" charset="0"/>
                                    </a:rPr>
                                  </m:ctrlPr>
                                </m:sSubPr>
                                <m:e>
                                  <m:d>
                                    <m:dPr>
                                      <m:ctrlPr>
                                        <a:rPr lang="en-US" sz="1500" i="1">
                                          <a:latin typeface="Cambria Math" panose="02040503050406030204" pitchFamily="18" charset="0"/>
                                        </a:rPr>
                                      </m:ctrlPr>
                                    </m:dPr>
                                    <m:e>
                                      <m:sSub>
                                        <m:sSubPr>
                                          <m:ctrlPr>
                                            <a:rPr lang="en-US" sz="1500" i="1">
                                              <a:latin typeface="Cambria Math" panose="02040503050406030204" pitchFamily="18" charset="0"/>
                                            </a:rPr>
                                          </m:ctrlPr>
                                        </m:sSubPr>
                                        <m:e>
                                          <m:r>
                                            <a:rPr lang="en-US" sz="1500" i="1">
                                              <a:latin typeface="Cambria Math" panose="02040503050406030204" pitchFamily="18" charset="0"/>
                                            </a:rPr>
                                            <m:t>𝐴</m:t>
                                          </m:r>
                                        </m:e>
                                        <m:sub>
                                          <m:r>
                                            <a:rPr lang="en-US" sz="1500" i="1">
                                              <a:latin typeface="Cambria Math" panose="02040503050406030204" pitchFamily="18" charset="0"/>
                                            </a:rPr>
                                            <m:t>𝑖</m:t>
                                          </m:r>
                                          <m:r>
                                            <a:rPr lang="en-US" sz="1500" i="1">
                                              <a:latin typeface="Cambria Math" panose="02040503050406030204" pitchFamily="18" charset="0"/>
                                            </a:rPr>
                                            <m:t>,</m:t>
                                          </m:r>
                                          <m:r>
                                            <a:rPr lang="en-US" sz="1500" i="1">
                                              <a:latin typeface="Cambria Math" panose="02040503050406030204" pitchFamily="18" charset="0"/>
                                            </a:rPr>
                                            <m:t>𝑗</m:t>
                                          </m:r>
                                        </m:sub>
                                      </m:sSub>
                                    </m:e>
                                  </m:d>
                                </m:e>
                                <m:sub>
                                  <m:r>
                                    <a:rPr lang="en-US" sz="1500" i="1">
                                      <a:latin typeface="Cambria Math" panose="02040503050406030204" pitchFamily="18" charset="0"/>
                                    </a:rPr>
                                    <m:t>0</m:t>
                                  </m:r>
                                </m:sub>
                              </m:sSub>
                            </m:e>
                          </m:d>
                        </m:e>
                      </m:d>
                    </m:oMath>
                  </m:oMathPara>
                </a14:m>
                <a:endParaRPr lang="en-US" sz="1500"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rPr>
                          </m:ctrlPr>
                        </m:sSubPr>
                        <m:e>
                          <m:r>
                            <a:rPr lang="en-US" sz="1500" i="1">
                              <a:latin typeface="Cambria Math" panose="02040503050406030204" pitchFamily="18" charset="0"/>
                            </a:rPr>
                            <m:t>𝑄</m:t>
                          </m:r>
                        </m:e>
                        <m:sub>
                          <m:r>
                            <a:rPr lang="en-US" sz="1500" i="1">
                              <a:latin typeface="Cambria Math" panose="02040503050406030204" pitchFamily="18" charset="0"/>
                            </a:rPr>
                            <m:t>𝑡</m:t>
                          </m:r>
                        </m:sub>
                      </m:sSub>
                      <m:r>
                        <a:rPr lang="en-US" sz="1500" i="1">
                          <a:latin typeface="Cambria Math" panose="02040503050406030204" pitchFamily="18" charset="0"/>
                        </a:rPr>
                        <m:t>∝</m:t>
                      </m:r>
                      <m:sSub>
                        <m:sSubPr>
                          <m:ctrlPr>
                            <a:rPr lang="en-US" sz="1500" i="1">
                              <a:latin typeface="Cambria Math" panose="02040503050406030204" pitchFamily="18" charset="0"/>
                            </a:rPr>
                          </m:ctrlPr>
                        </m:sSubPr>
                        <m:e>
                          <m:r>
                            <a:rPr lang="en-US" sz="1500" i="1">
                              <a:latin typeface="Cambria Math" panose="02040503050406030204" pitchFamily="18" charset="0"/>
                            </a:rPr>
                            <m:t>𝛼</m:t>
                          </m:r>
                        </m:e>
                        <m:sub>
                          <m:r>
                            <a:rPr lang="en-US" sz="1500" i="1">
                              <a:latin typeface="Cambria Math" panose="02040503050406030204" pitchFamily="18" charset="0"/>
                            </a:rPr>
                            <m:t>𝑡</m:t>
                          </m:r>
                        </m:sub>
                      </m:sSub>
                      <m:r>
                        <a:rPr lang="en-US" sz="1500" i="1">
                          <a:latin typeface="Cambria Math" panose="02040503050406030204" pitchFamily="18" charset="0"/>
                        </a:rPr>
                        <m:t>𝐼</m:t>
                      </m:r>
                      <m:r>
                        <a:rPr lang="en-US" sz="1500" i="1">
                          <a:latin typeface="Cambria Math" panose="02040503050406030204" pitchFamily="18" charset="0"/>
                        </a:rPr>
                        <m:t>+</m:t>
                      </m:r>
                      <m:sSub>
                        <m:sSubPr>
                          <m:ctrlPr>
                            <a:rPr lang="en-US" sz="1500" i="1">
                              <a:latin typeface="Cambria Math" panose="02040503050406030204" pitchFamily="18" charset="0"/>
                            </a:rPr>
                          </m:ctrlPr>
                        </m:sSubPr>
                        <m:e>
                          <m:r>
                            <a:rPr lang="en-US" sz="1500" i="1">
                              <a:latin typeface="Cambria Math" panose="02040503050406030204" pitchFamily="18" charset="0"/>
                            </a:rPr>
                            <m:t>𝛽</m:t>
                          </m:r>
                        </m:e>
                        <m:sub>
                          <m:r>
                            <a:rPr lang="en-US" sz="1500" i="1">
                              <a:latin typeface="Cambria Math" panose="02040503050406030204" pitchFamily="18" charset="0"/>
                            </a:rPr>
                            <m:t>𝑡</m:t>
                          </m:r>
                        </m:sub>
                      </m:sSub>
                      <m:acc>
                        <m:accPr>
                          <m:chr m:val="̂"/>
                          <m:ctrlPr>
                            <a:rPr lang="en-US" sz="1500" i="1">
                              <a:latin typeface="Cambria Math" panose="02040503050406030204" pitchFamily="18" charset="0"/>
                            </a:rPr>
                          </m:ctrlPr>
                        </m:accPr>
                        <m:e>
                          <m:r>
                            <a:rPr lang="en-US" sz="1500" i="1">
                              <a:latin typeface="Cambria Math" panose="02040503050406030204" pitchFamily="18" charset="0"/>
                            </a:rPr>
                            <m:t>𝑄</m:t>
                          </m:r>
                        </m:e>
                      </m:acc>
                    </m:oMath>
                  </m:oMathPara>
                </a14:m>
                <a:endParaRPr lang="en-US" sz="1500" dirty="0">
                  <a:latin typeface="+mj-lt"/>
                </a:endParaRPr>
              </a:p>
              <a:p>
                <a:r>
                  <a:rPr lang="en-US" dirty="0">
                    <a:latin typeface="+mj-lt"/>
                  </a:rPr>
                  <a:t>Iterative data coarsening with multi-level Louvain</a:t>
                </a:r>
              </a:p>
              <a:p>
                <a:pPr lvl="1"/>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sSubSup>
                      <m:sSubSupPr>
                        <m:ctrlPr>
                          <a:rPr lang="en-US" i="1">
                            <a:latin typeface="Cambria Math" panose="02040503050406030204" pitchFamily="18" charset="0"/>
                          </a:rPr>
                        </m:ctrlPr>
                      </m:sSubSupPr>
                      <m:e>
                        <m:d>
                          <m:dPr>
                            <m:begChr m:val="["/>
                            <m:endChr m:val="]"/>
                            <m:ctrlPr>
                              <a:rPr lang="en-US" i="1">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b="0" i="1" smtClean="0">
                                        <a:latin typeface="Cambria Math" panose="02040503050406030204" pitchFamily="18" charset="0"/>
                                      </a:rPr>
                                      <m:t>𝑙</m:t>
                                    </m:r>
                                  </m:e>
                                </m:d>
                              </m:sup>
                            </m:sSup>
                          </m:e>
                        </m:d>
                      </m:e>
                      <m:sub>
                        <m:r>
                          <a:rPr lang="en-US" i="1">
                            <a:latin typeface="Cambria Math" panose="02040503050406030204" pitchFamily="18" charset="0"/>
                          </a:rPr>
                          <m:t>𝑙</m:t>
                        </m:r>
                        <m:r>
                          <a:rPr lang="en-US" i="1">
                            <a:latin typeface="Cambria Math" panose="02040503050406030204" pitchFamily="18" charset="0"/>
                          </a:rPr>
                          <m:t>=1</m:t>
                        </m:r>
                      </m:sub>
                      <m:sup>
                        <m:r>
                          <a:rPr lang="en-US" i="1">
                            <a:latin typeface="Cambria Math" panose="02040503050406030204" pitchFamily="18" charset="0"/>
                          </a:rPr>
                          <m:t>𝐿</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1" i="1" smtClean="0">
                                        <a:latin typeface="Cambria Math" panose="02040503050406030204" pitchFamily="18" charset="0"/>
                                      </a:rPr>
                                      <m:t>𝑿</m:t>
                                    </m:r>
                                  </m:e>
                                  <m:sup>
                                    <m:d>
                                      <m:dPr>
                                        <m:ctrlPr>
                                          <a:rPr lang="en-US" b="0" i="1" smtClean="0">
                                            <a:latin typeface="Cambria Math" panose="02040503050406030204" pitchFamily="18" charset="0"/>
                                          </a:rPr>
                                        </m:ctrlPr>
                                      </m:dPr>
                                      <m:e>
                                        <m:r>
                                          <a:rPr lang="en-US" b="0" i="1" smtClean="0">
                                            <a:latin typeface="Cambria Math" panose="02040503050406030204" pitchFamily="18" charset="0"/>
                                          </a:rPr>
                                          <m:t>𝑙</m:t>
                                        </m:r>
                                      </m:e>
                                    </m:d>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d>
                                      <m:dPr>
                                        <m:ctrlPr>
                                          <a:rPr lang="en-US" b="0" i="1" smtClean="0">
                                            <a:latin typeface="Cambria Math" panose="02040503050406030204" pitchFamily="18" charset="0"/>
                                          </a:rPr>
                                        </m:ctrlPr>
                                      </m:dPr>
                                      <m:e>
                                        <m:r>
                                          <a:rPr lang="en-US" i="1">
                                            <a:latin typeface="Cambria Math" panose="02040503050406030204" pitchFamily="18" charset="0"/>
                                          </a:rPr>
                                          <m:t>𝑙</m:t>
                                        </m:r>
                                      </m:e>
                                    </m:d>
                                  </m:sup>
                                </m:sSup>
                              </m:e>
                            </m:d>
                          </m:e>
                        </m:d>
                      </m:e>
                      <m:sub>
                        <m:r>
                          <a:rPr lang="en-US" b="0" i="1" smtClean="0">
                            <a:latin typeface="Cambria Math" panose="02040503050406030204" pitchFamily="18" charset="0"/>
                          </a:rPr>
                          <m:t>𝑙</m:t>
                        </m:r>
                        <m:r>
                          <a:rPr lang="en-US" b="0" i="1" smtClean="0">
                            <a:latin typeface="Cambria Math" panose="02040503050406030204" pitchFamily="18" charset="0"/>
                          </a:rPr>
                          <m:t>=1</m:t>
                        </m:r>
                      </m:sub>
                      <m:sup>
                        <m:r>
                          <a:rPr lang="en-US" b="0" i="1" smtClean="0">
                            <a:latin typeface="Cambria Math" panose="02040503050406030204" pitchFamily="18" charset="0"/>
                          </a:rPr>
                          <m:t>𝐿</m:t>
                        </m:r>
                      </m:sup>
                    </m:sSubSup>
                  </m:oMath>
                </a14:m>
                <a:r>
                  <a:rPr lang="en-US" dirty="0"/>
                  <a:t> </a:t>
                </a:r>
                <a14:m>
                  <m:oMath xmlns:m="http://schemas.openxmlformats.org/officeDocument/2006/math">
                    <m:r>
                      <a:rPr lang="en-US" i="1" smtClean="0">
                        <a:latin typeface="Cambria Math" panose="02040503050406030204" pitchFamily="18" charset="0"/>
                      </a:rPr>
                      <m:t>∈</m:t>
                    </m:r>
                    <m:r>
                      <a:rPr lang="en-US" i="1" smtClean="0">
                        <a:latin typeface="Cambria Math" panose="02040503050406030204" pitchFamily="18" charset="0"/>
                      </a:rPr>
                      <m:t>𝒟</m:t>
                    </m:r>
                  </m:oMath>
                </a14:m>
                <a:endParaRPr lang="en-US" dirty="0">
                  <a:latin typeface="+mj-lt"/>
                </a:endParaRPr>
              </a:p>
              <a:p>
                <a:pPr lvl="1"/>
                <a:r>
                  <a:rPr lang="en-US" dirty="0">
                    <a:latin typeface="+mj-lt"/>
                  </a:rPr>
                  <a:t>Root graph, per-level communities and </a:t>
                </a:r>
                <a:r>
                  <a:rPr lang="en-US" dirty="0" err="1">
                    <a:latin typeface="+mj-lt"/>
                  </a:rPr>
                  <a:t>bipartites</a:t>
                </a:r>
                <a:r>
                  <a:rPr lang="en-US" dirty="0">
                    <a:latin typeface="+mj-lt"/>
                  </a:rPr>
                  <a:t> </a:t>
                </a:r>
                <a:endParaRPr lang="en-US"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𝐺</m:t>
                      </m:r>
                      <m:r>
                        <a:rPr lang="en-US"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𝑅</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𝐶</m:t>
                                          </m:r>
                                        </m:e>
                                        <m:sub>
                                          <m:r>
                                            <a:rPr lang="en-US" b="0" i="1" smtClean="0">
                                              <a:latin typeface="Cambria Math" panose="02040503050406030204" pitchFamily="18" charset="0"/>
                                            </a:rPr>
                                            <m:t>𝑘</m:t>
                                          </m:r>
                                        </m:sub>
                                        <m:sup>
                                          <m:d>
                                            <m:dPr>
                                              <m:ctrlPr>
                                                <a:rPr lang="en-US" b="0" i="1" smtClean="0">
                                                  <a:latin typeface="Cambria Math" panose="02040503050406030204" pitchFamily="18" charset="0"/>
                                                </a:rPr>
                                              </m:ctrlPr>
                                            </m:dPr>
                                            <m:e>
                                              <m:r>
                                                <a:rPr lang="en-US" i="1">
                                                  <a:latin typeface="Cambria Math" panose="02040503050406030204" pitchFamily="18" charset="0"/>
                                                </a:rPr>
                                                <m:t>𝑙</m:t>
                                              </m:r>
                                            </m:e>
                                          </m:d>
                                        </m:sup>
                                      </m:sSubSup>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𝑙</m:t>
                                                  </m:r>
                                                  <m:r>
                                                    <a:rPr lang="en-US" b="0" i="1" smtClean="0">
                                                      <a:latin typeface="Cambria Math" panose="02040503050406030204" pitchFamily="18" charset="0"/>
                                                    </a:rPr>
                                                    <m:t>+1</m:t>
                                                  </m:r>
                                                </m:e>
                                              </m:d>
                                            </m:sup>
                                          </m:sSup>
                                        </m:sup>
                                      </m:sSubSup>
                                      <m:r>
                                        <a:rPr lang="en-US" b="0" i="1" smtClean="0">
                                          <a:latin typeface="Cambria Math" panose="02040503050406030204" pitchFamily="18" charset="0"/>
                                        </a:rPr>
                                        <m:t>,</m:t>
                                      </m:r>
                                      <m:r>
                                        <m:rPr>
                                          <m:lit/>
                                        </m:rPr>
                                        <a:rPr lang="en-US" i="1">
                                          <a:latin typeface="Cambria Math" panose="02040503050406030204" pitchFamily="18" charset="0"/>
                                        </a:rPr>
                                        <m:t>{</m:t>
                                      </m:r>
                                      <m:sSubSup>
                                        <m:sSubSupPr>
                                          <m:ctrlPr>
                                            <a:rPr lang="en-US" i="1">
                                              <a:latin typeface="Cambria Math" panose="02040503050406030204" pitchFamily="18" charset="0"/>
                                            </a:rPr>
                                          </m:ctrlPr>
                                        </m:sSubSupPr>
                                        <m:e>
                                          <m:r>
                                            <a:rPr lang="en-US" b="0" i="1" smtClean="0">
                                              <a:latin typeface="Cambria Math" panose="02040503050406030204" pitchFamily="18" charset="0"/>
                                            </a:rPr>
                                            <m:t>𝐵</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𝑙</m:t>
                                              </m:r>
                                            </m:e>
                                          </m:d>
                                        </m:sup>
                                      </m:sSubSup>
                                      <m:sSub>
                                        <m:sSubPr>
                                          <m:ctrlPr>
                                            <a:rPr lang="en-US" b="0" i="1" smtClean="0">
                                              <a:latin typeface="Cambria Math" panose="02040503050406030204" pitchFamily="18" charset="0"/>
                                            </a:rPr>
                                          </m:ctrlPr>
                                        </m:sSubPr>
                                        <m:e>
                                          <m:r>
                                            <m:rPr>
                                              <m:lit/>
                                            </m:rPr>
                                            <a:rPr lang="en-US" i="1">
                                              <a:latin typeface="Cambria Math" panose="02040503050406030204" pitchFamily="18" charset="0"/>
                                            </a:rPr>
                                            <m:t>}</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Sub>
                                    </m:e>
                                  </m:d>
                                </m:e>
                              </m:d>
                            </m:e>
                            <m:sub>
                              <m:r>
                                <a:rPr lang="en-US" b="0" i="1" smtClean="0">
                                  <a:latin typeface="Cambria Math" panose="02040503050406030204" pitchFamily="18" charset="0"/>
                                </a:rPr>
                                <m:t>𝑙</m:t>
                              </m:r>
                              <m:r>
                                <a:rPr lang="en-US" b="0" i="1" smtClean="0">
                                  <a:latin typeface="Cambria Math" panose="02040503050406030204" pitchFamily="18" charset="0"/>
                                </a:rPr>
                                <m:t>=1</m:t>
                              </m:r>
                            </m:sub>
                            <m:sup>
                              <m:r>
                                <a:rPr lang="en-US" b="0" i="1" smtClean="0">
                                  <a:latin typeface="Cambria Math" panose="02040503050406030204" pitchFamily="18" charset="0"/>
                                </a:rPr>
                                <m:t>𝐿</m:t>
                              </m:r>
                              <m:r>
                                <a:rPr lang="en-US" b="0" i="1" smtClean="0">
                                  <a:latin typeface="Cambria Math" panose="02040503050406030204" pitchFamily="18" charset="0"/>
                                </a:rPr>
                                <m:t>−1</m:t>
                              </m:r>
                            </m:sup>
                          </m:sSubSup>
                        </m:e>
                      </m:d>
                    </m:oMath>
                  </m:oMathPara>
                </a14:m>
                <a:endParaRPr lang="en-US" dirty="0">
                  <a:latin typeface="+mj-lt"/>
                </a:endParaRPr>
              </a:p>
              <a:p>
                <a:pPr lvl="1"/>
                <a:r>
                  <a:rPr lang="en-US" dirty="0">
                    <a:latin typeface="+mj-lt"/>
                  </a:rPr>
                  <a:t>Graph coarsening between levels with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𝑀</m:t>
                        </m:r>
                      </m:e>
                      <m:sup>
                        <m:d>
                          <m:dPr>
                            <m:ctrlPr>
                              <a:rPr lang="en-US" b="0" i="1" smtClean="0">
                                <a:latin typeface="Cambria Math" panose="02040503050406030204" pitchFamily="18" charset="0"/>
                              </a:rPr>
                            </m:ctrlPr>
                          </m:dPr>
                          <m:e>
                            <m:r>
                              <a:rPr lang="en-US" b="0" i="1" smtClean="0">
                                <a:latin typeface="Cambria Math" panose="02040503050406030204" pitchFamily="18" charset="0"/>
                              </a:rPr>
                              <m:t>𝑙</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𝑙</m:t>
                                </m:r>
                                <m:r>
                                  <a:rPr lang="en-US" b="0" i="1" smtClean="0">
                                    <a:latin typeface="Cambria Math" panose="02040503050406030204" pitchFamily="18" charset="0"/>
                                  </a:rPr>
                                  <m:t>+1</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𝑙</m:t>
                                </m:r>
                              </m:e>
                            </m:d>
                          </m:sup>
                        </m:sSup>
                      </m:sup>
                    </m:sSup>
                  </m:oMath>
                </a14:m>
                <a:endParaRPr lang="en-US"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b="1" i="1">
                              <a:latin typeface="Cambria Math" panose="02040503050406030204" pitchFamily="18" charset="0"/>
                            </a:rPr>
                            <m:t>𝑿</m:t>
                          </m:r>
                        </m:e>
                        <m:sup>
                          <m:d>
                            <m:dPr>
                              <m:ctrlPr>
                                <a:rPr lang="en-US" i="1">
                                  <a:latin typeface="Cambria Math" panose="02040503050406030204" pitchFamily="18" charset="0"/>
                                </a:rPr>
                              </m:ctrlPr>
                            </m:dPr>
                            <m:e>
                              <m:r>
                                <a:rPr lang="en-US" i="1">
                                  <a:latin typeface="Cambria Math" panose="02040503050406030204" pitchFamily="18" charset="0"/>
                                </a:rPr>
                                <m:t>𝑙</m:t>
                              </m:r>
                              <m:r>
                                <a:rPr lang="en-US" b="0" i="1" smtClean="0">
                                  <a:latin typeface="Cambria Math" panose="02040503050406030204" pitchFamily="18" charset="0"/>
                                </a:rPr>
                                <m:t>+1</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𝑀</m:t>
                          </m:r>
                        </m:e>
                        <m:sup>
                          <m:d>
                            <m:dPr>
                              <m:ctrlPr>
                                <a:rPr lang="en-US" i="1">
                                  <a:latin typeface="Cambria Math" panose="02040503050406030204" pitchFamily="18" charset="0"/>
                                </a:rPr>
                              </m:ctrlPr>
                            </m:dPr>
                            <m:e>
                              <m:r>
                                <a:rPr lang="en-US" i="1">
                                  <a:latin typeface="Cambria Math" panose="02040503050406030204" pitchFamily="18" charset="0"/>
                                </a:rPr>
                                <m:t>𝑙</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𝑿</m:t>
                          </m:r>
                        </m:e>
                        <m:sup>
                          <m:d>
                            <m:dPr>
                              <m:ctrlPr>
                                <a:rPr lang="en-US" i="1">
                                  <a:latin typeface="Cambria Math" panose="02040503050406030204" pitchFamily="18" charset="0"/>
                                </a:rPr>
                              </m:ctrlPr>
                            </m:dPr>
                            <m:e>
                              <m:r>
                                <a:rPr lang="en-US" i="1">
                                  <a:latin typeface="Cambria Math" panose="02040503050406030204" pitchFamily="18" charset="0"/>
                                </a:rPr>
                                <m:t>𝑙</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𝑀</m:t>
                          </m:r>
                        </m:e>
                        <m:sup>
                          <m:d>
                            <m:dPr>
                              <m:ctrlPr>
                                <a:rPr lang="en-US" i="1">
                                  <a:latin typeface="Cambria Math" panose="02040503050406030204" pitchFamily="18" charset="0"/>
                                </a:rPr>
                              </m:ctrlPr>
                            </m:dPr>
                            <m:e>
                              <m:r>
                                <a:rPr lang="en-US" i="1">
                                  <a:latin typeface="Cambria Math" panose="02040503050406030204" pitchFamily="18" charset="0"/>
                                </a:rPr>
                                <m:t>𝑙</m:t>
                              </m:r>
                            </m:e>
                          </m:d>
                        </m:sup>
                      </m:sSup>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1" i="1">
                              <a:latin typeface="Cambria Math" panose="02040503050406030204" pitchFamily="18" charset="0"/>
                            </a:rPr>
                            <m:t>𝟏</m:t>
                          </m:r>
                        </m:e>
                        <m:sub>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𝑙</m:t>
                                  </m:r>
                                </m:e>
                              </m:d>
                            </m:sup>
                          </m:sSup>
                        </m:sub>
                      </m:sSub>
                      <m:r>
                        <a:rPr lang="en-US" b="0" i="1" smtClean="0">
                          <a:latin typeface="Cambria Math" panose="02040503050406030204" pitchFamily="18" charset="0"/>
                        </a:rPr>
                        <m:t>)</m:t>
                      </m:r>
                    </m:oMath>
                  </m:oMathPara>
                </a14:m>
                <a:endParaRPr lang="en-US"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m:rPr>
                              <m:sty m:val="p"/>
                            </m:rPr>
                            <a:rPr lang="en-US" b="1" i="1" smtClean="0">
                              <a:latin typeface="Cambria Math" panose="02040503050406030204" pitchFamily="18" charset="0"/>
                            </a:rPr>
                            <m:t>A</m:t>
                          </m:r>
                        </m:e>
                        <m:sup>
                          <m:d>
                            <m:dPr>
                              <m:ctrlPr>
                                <a:rPr lang="en-US" i="1">
                                  <a:latin typeface="Cambria Math" panose="02040503050406030204" pitchFamily="18" charset="0"/>
                                </a:rPr>
                              </m:ctrlPr>
                            </m:dPr>
                            <m:e>
                              <m:r>
                                <a:rPr lang="en-US" i="1">
                                  <a:latin typeface="Cambria Math" panose="02040503050406030204" pitchFamily="18" charset="0"/>
                                </a:rPr>
                                <m:t>𝑙</m:t>
                              </m:r>
                              <m:r>
                                <a:rPr lang="en-US" i="1">
                                  <a:latin typeface="Cambria Math" panose="02040503050406030204" pitchFamily="18" charset="0"/>
                                </a:rPr>
                                <m:t>+1</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𝑀</m:t>
                          </m:r>
                        </m:e>
                        <m:sup>
                          <m:d>
                            <m:dPr>
                              <m:ctrlPr>
                                <a:rPr lang="en-US" i="1">
                                  <a:latin typeface="Cambria Math" panose="02040503050406030204" pitchFamily="18" charset="0"/>
                                </a:rPr>
                              </m:ctrlPr>
                            </m:dPr>
                            <m:e>
                              <m:r>
                                <a:rPr lang="en-US" i="1">
                                  <a:latin typeface="Cambria Math" panose="02040503050406030204" pitchFamily="18" charset="0"/>
                                </a:rPr>
                                <m:t>𝑙</m:t>
                              </m:r>
                            </m:e>
                          </m:d>
                        </m:sup>
                      </m:sSup>
                      <m:r>
                        <a:rPr lang="en-US" i="1">
                          <a:latin typeface="Cambria Math" panose="02040503050406030204" pitchFamily="18" charset="0"/>
                        </a:rPr>
                        <m:t>⋅</m:t>
                      </m:r>
                      <m:sSup>
                        <m:sSupPr>
                          <m:ctrlPr>
                            <a:rPr lang="en-US" i="1">
                              <a:latin typeface="Cambria Math" panose="02040503050406030204" pitchFamily="18" charset="0"/>
                            </a:rPr>
                          </m:ctrlPr>
                        </m:sSupPr>
                        <m:e>
                          <m:r>
                            <m:rPr>
                              <m:sty m:val="p"/>
                            </m:rPr>
                            <a:rPr lang="en-US" b="1" i="1" smtClean="0">
                              <a:latin typeface="Cambria Math" panose="02040503050406030204" pitchFamily="18" charset="0"/>
                            </a:rPr>
                            <m:t>A</m:t>
                          </m:r>
                        </m:e>
                        <m:sup>
                          <m:d>
                            <m:dPr>
                              <m:ctrlPr>
                                <a:rPr lang="en-US" i="1">
                                  <a:latin typeface="Cambria Math" panose="02040503050406030204" pitchFamily="18" charset="0"/>
                                </a:rPr>
                              </m:ctrlPr>
                            </m:dPr>
                            <m:e>
                              <m:r>
                                <a:rPr lang="en-US" i="1">
                                  <a:latin typeface="Cambria Math" panose="02040503050406030204" pitchFamily="18" charset="0"/>
                                </a:rPr>
                                <m:t>𝑙</m:t>
                              </m:r>
                            </m:e>
                          </m:d>
                        </m:sup>
                      </m:sSup>
                      <m:r>
                        <a:rPr lang="en-US" b="0" i="1" smtClean="0">
                          <a:latin typeface="Cambria Math" panose="02040503050406030204" pitchFamily="18" charset="0"/>
                        </a:rPr>
                        <m:t>⋅</m:t>
                      </m:r>
                      <m:sSup>
                        <m:sSupPr>
                          <m:ctrlPr>
                            <a:rPr lang="en-US" i="1" smtClean="0">
                              <a:latin typeface="Cambria Math" panose="02040503050406030204" pitchFamily="18" charset="0"/>
                            </a:rPr>
                          </m:ctrlPr>
                        </m:sSupPr>
                        <m:e>
                          <m:sSup>
                            <m:sSupPr>
                              <m:ctrlPr>
                                <a:rPr lang="en-US" i="1">
                                  <a:latin typeface="Cambria Math" panose="02040503050406030204" pitchFamily="18" charset="0"/>
                                </a:rPr>
                              </m:ctrlPr>
                            </m:sSupPr>
                            <m:e>
                              <m:r>
                                <a:rPr lang="en-US" i="1">
                                  <a:latin typeface="Cambria Math" panose="02040503050406030204" pitchFamily="18" charset="0"/>
                                </a:rPr>
                                <m:t>𝑀</m:t>
                              </m:r>
                            </m:e>
                            <m:sup>
                              <m:d>
                                <m:dPr>
                                  <m:ctrlPr>
                                    <a:rPr lang="en-US" i="1">
                                      <a:latin typeface="Cambria Math" panose="02040503050406030204" pitchFamily="18" charset="0"/>
                                    </a:rPr>
                                  </m:ctrlPr>
                                </m:dPr>
                                <m:e>
                                  <m:r>
                                    <a:rPr lang="en-US" i="1">
                                      <a:latin typeface="Cambria Math" panose="02040503050406030204" pitchFamily="18" charset="0"/>
                                    </a:rPr>
                                    <m:t>𝑙</m:t>
                                  </m:r>
                                </m:e>
                              </m:d>
                            </m:sup>
                          </m:sSup>
                        </m:e>
                        <m:sup>
                          <m:r>
                            <a:rPr lang="en-US" b="0" i="1" smtClean="0">
                              <a:latin typeface="Cambria Math" panose="02040503050406030204" pitchFamily="18" charset="0"/>
                            </a:rPr>
                            <m:t>𝑇</m:t>
                          </m:r>
                        </m:sup>
                      </m:sSup>
                    </m:oMath>
                  </m:oMathPara>
                </a14:m>
                <a:endParaRPr lang="en-US" b="0" dirty="0">
                  <a:latin typeface="+mj-lt"/>
                </a:endParaRPr>
              </a:p>
              <a:p>
                <a:r>
                  <a:rPr lang="en-US" dirty="0">
                    <a:latin typeface="+mj-lt"/>
                  </a:rPr>
                  <a:t>Bayes’ rule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𝐺</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𝑙</m:t>
                          </m:r>
                          <m:r>
                            <a:rPr lang="en-US" b="0" i="1" smtClean="0">
                              <a:latin typeface="Cambria Math" panose="02040503050406030204" pitchFamily="18" charset="0"/>
                            </a:rPr>
                            <m:t>=1</m:t>
                          </m:r>
                        </m:sub>
                        <m:sup>
                          <m:r>
                            <a:rPr lang="en-US" b="0" i="1" smtClean="0">
                              <a:latin typeface="Cambria Math" panose="02040503050406030204" pitchFamily="18" charset="0"/>
                            </a:rPr>
                            <m:t>𝐿</m:t>
                          </m:r>
                          <m:r>
                            <a:rPr lang="en-US" b="0" i="1" smtClean="0">
                              <a:latin typeface="Cambria Math" panose="02040503050406030204" pitchFamily="18" charset="0"/>
                            </a:rPr>
                            <m:t>−1</m:t>
                          </m:r>
                        </m:sup>
                        <m:e>
                          <m:r>
                            <a:rPr lang="en-US" b="0" i="1" smtClean="0">
                              <a:latin typeface="Cambria Math" panose="02040503050406030204" pitchFamily="18" charset="0"/>
                            </a:rPr>
                            <m:t>ℙ</m:t>
                          </m:r>
                          <m:d>
                            <m:dPr>
                              <m:sep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b="0" i="1" smtClean="0">
                                          <a:latin typeface="Cambria Math" panose="02040503050406030204" pitchFamily="18" charset="0"/>
                                        </a:rPr>
                                        <m:t>𝑙</m:t>
                                      </m:r>
                                    </m:e>
                                  </m:d>
                                </m:sup>
                              </m:sSup>
                            </m:e>
                            <m:e>
                              <m:sSup>
                                <m:sSupPr>
                                  <m:ctrlPr>
                                    <a:rPr lang="en-US" b="0" i="1">
                                      <a:latin typeface="Cambria Math" panose="02040503050406030204" pitchFamily="18" charset="0"/>
                                    </a:rPr>
                                  </m:ctrlPr>
                                </m:sSupPr>
                                <m:e>
                                  <m:r>
                                    <a:rPr lang="en-US" i="1">
                                      <a:latin typeface="Cambria Math" panose="02040503050406030204" pitchFamily="18" charset="0"/>
                                    </a:rPr>
                                    <m:t>𝐺</m:t>
                                  </m:r>
                                </m:e>
                                <m:sup>
                                  <m:d>
                                    <m:dPr>
                                      <m:ctrlPr>
                                        <a:rPr lang="en-US" i="1">
                                          <a:latin typeface="Cambria Math" panose="02040503050406030204" pitchFamily="18" charset="0"/>
                                        </a:rPr>
                                      </m:ctrlPr>
                                    </m:dPr>
                                    <m:e>
                                      <m:r>
                                        <a:rPr lang="en-US" i="1">
                                          <a:latin typeface="Cambria Math" panose="02040503050406030204" pitchFamily="18" charset="0"/>
                                        </a:rPr>
                                        <m:t>𝑙</m:t>
                                      </m:r>
                                      <m:r>
                                        <a:rPr lang="en-US" b="0" i="1" smtClean="0">
                                          <a:latin typeface="Cambria Math" panose="02040503050406030204" pitchFamily="18" charset="0"/>
                                        </a:rPr>
                                        <m:t>+1</m:t>
                                      </m:r>
                                    </m:e>
                                  </m:d>
                                </m:sup>
                              </m:sSup>
                            </m:e>
                          </m:d>
                        </m:e>
                      </m:nary>
                      <m:r>
                        <a:rPr lang="en-US" b="0" i="1" smtClean="0">
                          <a:latin typeface="Cambria Math" panose="02040503050406030204" pitchFamily="18" charset="0"/>
                        </a:rPr>
                        <m:t>=</m:t>
                      </m:r>
                      <m:r>
                        <a:rPr lang="en-US" i="1">
                          <a:latin typeface="Cambria Math" panose="02040503050406030204" pitchFamily="18" charset="0"/>
                        </a:rPr>
                        <m:t>ℙ</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𝑅</m:t>
                              </m:r>
                            </m:sub>
                          </m:sSub>
                        </m:e>
                      </m:d>
                      <m:nary>
                        <m:naryPr>
                          <m:chr m:val="∏"/>
                          <m:ctrlPr>
                            <a:rPr lang="en-US" i="1">
                              <a:latin typeface="Cambria Math" panose="02040503050406030204" pitchFamily="18" charset="0"/>
                            </a:rPr>
                          </m:ctrlPr>
                        </m:naryPr>
                        <m:sub>
                          <m:r>
                            <a:rPr lang="en-US" i="1">
                              <a:latin typeface="Cambria Math" panose="02040503050406030204" pitchFamily="18" charset="0"/>
                            </a:rPr>
                            <m:t>𝑙</m:t>
                          </m:r>
                          <m:r>
                            <a:rPr lang="en-US" i="1">
                              <a:latin typeface="Cambria Math" panose="02040503050406030204" pitchFamily="18" charset="0"/>
                            </a:rPr>
                            <m:t>=1</m:t>
                          </m:r>
                        </m:sub>
                        <m:sup>
                          <m:r>
                            <a:rPr lang="en-US" i="1">
                              <a:latin typeface="Cambria Math" panose="02040503050406030204" pitchFamily="18" charset="0"/>
                            </a:rPr>
                            <m:t>𝐿</m:t>
                          </m:r>
                          <m:r>
                            <a:rPr lang="en-US" i="1">
                              <a:latin typeface="Cambria Math" panose="02040503050406030204" pitchFamily="18" charset="0"/>
                            </a:rPr>
                            <m:t>−1</m:t>
                          </m:r>
                        </m:sup>
                        <m:e>
                          <m:nary>
                            <m:naryPr>
                              <m:chr m:val="∏"/>
                              <m:ctrlPr>
                                <a:rPr lang="en-US" i="1">
                                  <a:latin typeface="Cambria Math" panose="02040503050406030204" pitchFamily="18" charset="0"/>
                                </a:rPr>
                              </m:ctrlPr>
                            </m:naryPr>
                            <m:sub>
                              <m:r>
                                <a:rPr lang="en-US" b="0" i="1" smtClean="0">
                                  <a:latin typeface="Cambria Math" panose="02040503050406030204" pitchFamily="18" charset="0"/>
                                </a:rPr>
                                <m:t>𝑘</m:t>
                              </m:r>
                              <m:r>
                                <a:rPr lang="en-US" i="1">
                                  <a:latin typeface="Cambria Math" panose="02040503050406030204" pitchFamily="18" charset="0"/>
                                </a:rPr>
                                <m:t>=1</m:t>
                              </m:r>
                            </m:sub>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𝑙</m:t>
                                      </m:r>
                                      <m:r>
                                        <a:rPr lang="en-US" b="0" i="1" smtClean="0">
                                          <a:latin typeface="Cambria Math" panose="02040503050406030204" pitchFamily="18" charset="0"/>
                                        </a:rPr>
                                        <m:t>+1</m:t>
                                      </m:r>
                                    </m:e>
                                  </m:d>
                                </m:sup>
                              </m:sSup>
                            </m:sup>
                            <m:e>
                              <m:r>
                                <a:rPr lang="en-US" i="1">
                                  <a:latin typeface="Cambria Math" panose="02040503050406030204" pitchFamily="18" charset="0"/>
                                </a:rPr>
                                <m:t>ℙ</m:t>
                              </m:r>
                              <m:d>
                                <m:dPr>
                                  <m:sepChr m:val="∣"/>
                                  <m:ctrlPr>
                                    <a:rPr lang="en-US" i="1">
                                      <a:latin typeface="Cambria Math" panose="02040503050406030204" pitchFamily="18" charset="0"/>
                                    </a:rPr>
                                  </m:ctrlPr>
                                </m:dPr>
                                <m:e>
                                  <m:sSup>
                                    <m:sSupPr>
                                      <m:ctrlPr>
                                        <a:rPr lang="en-US" i="1">
                                          <a:latin typeface="Cambria Math" panose="02040503050406030204" pitchFamily="18" charset="0"/>
                                        </a:rPr>
                                      </m:ctrlPr>
                                    </m:sSup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sup>
                                      <m:d>
                                        <m:dPr>
                                          <m:ctrlPr>
                                            <a:rPr lang="en-US" i="1">
                                              <a:latin typeface="Cambria Math" panose="02040503050406030204" pitchFamily="18" charset="0"/>
                                            </a:rPr>
                                          </m:ctrlPr>
                                        </m:dPr>
                                        <m:e>
                                          <m:r>
                                            <a:rPr lang="en-US" i="1">
                                              <a:latin typeface="Cambria Math" panose="02040503050406030204" pitchFamily="18" charset="0"/>
                                            </a:rPr>
                                            <m:t>𝑙</m:t>
                                          </m:r>
                                        </m:e>
                                      </m:d>
                                    </m:sup>
                                  </m:sSup>
                                </m:e>
                                <m:e>
                                  <m:sSup>
                                    <m:sSupPr>
                                      <m:ctrlPr>
                                        <a:rPr lang="en-US" i="1">
                                          <a:latin typeface="Cambria Math" panose="02040503050406030204" pitchFamily="18" charset="0"/>
                                        </a:rPr>
                                      </m:ctrlPr>
                                    </m:sSupPr>
                                    <m:e>
                                      <m:r>
                                        <a:rPr lang="en-US" i="1">
                                          <a:latin typeface="Cambria Math" panose="02040503050406030204" pitchFamily="18" charset="0"/>
                                        </a:rPr>
                                        <m:t>𝐺</m:t>
                                      </m:r>
                                    </m:e>
                                    <m:sup>
                                      <m:d>
                                        <m:dPr>
                                          <m:ctrlPr>
                                            <a:rPr lang="en-US" i="1">
                                              <a:latin typeface="Cambria Math" panose="02040503050406030204" pitchFamily="18" charset="0"/>
                                            </a:rPr>
                                          </m:ctrlPr>
                                        </m:dPr>
                                        <m:e>
                                          <m:r>
                                            <a:rPr lang="en-US" i="1">
                                              <a:latin typeface="Cambria Math" panose="02040503050406030204" pitchFamily="18" charset="0"/>
                                            </a:rPr>
                                            <m:t>𝑙</m:t>
                                          </m:r>
                                          <m:r>
                                            <a:rPr lang="en-US" i="1">
                                              <a:latin typeface="Cambria Math" panose="02040503050406030204" pitchFamily="18" charset="0"/>
                                            </a:rPr>
                                            <m:t>+1</m:t>
                                          </m:r>
                                        </m:e>
                                      </m:d>
                                    </m:sup>
                                  </m:sSup>
                                </m:e>
                              </m:d>
                            </m:e>
                          </m:nary>
                        </m:e>
                      </m:nary>
                      <m:nary>
                        <m:naryPr>
                          <m:chr m:val="∏"/>
                          <m:supHide m:val="on"/>
                          <m:ctrlPr>
                            <a:rPr lang="en-US" i="1">
                              <a:latin typeface="Cambria Math" panose="02040503050406030204" pitchFamily="18" charset="0"/>
                            </a:rPr>
                          </m:ctrlPr>
                        </m:naryPr>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up/>
                        <m:e>
                          <m:r>
                            <a:rPr lang="en-US" i="1">
                              <a:latin typeface="Cambria Math" panose="02040503050406030204" pitchFamily="18" charset="0"/>
                            </a:rPr>
                            <m:t>ℙ</m:t>
                          </m:r>
                          <m:d>
                            <m:dPr>
                              <m:sepChr m:val="∣"/>
                              <m:ctrlPr>
                                <a:rPr lang="en-US" i="1">
                                  <a:latin typeface="Cambria Math" panose="02040503050406030204" pitchFamily="18" charset="0"/>
                                </a:rPr>
                              </m:ctrlPr>
                            </m:dPr>
                            <m:e>
                              <m:sSup>
                                <m:sSupPr>
                                  <m:ctrlPr>
                                    <a:rPr lang="en-US" i="1">
                                      <a:latin typeface="Cambria Math" panose="02040503050406030204" pitchFamily="18" charset="0"/>
                                    </a:rPr>
                                  </m:ctrlPr>
                                </m:sSup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Sub>
                                </m:e>
                                <m:sup>
                                  <m:d>
                                    <m:dPr>
                                      <m:ctrlPr>
                                        <a:rPr lang="en-US" i="1">
                                          <a:latin typeface="Cambria Math" panose="02040503050406030204" pitchFamily="18" charset="0"/>
                                        </a:rPr>
                                      </m:ctrlPr>
                                    </m:dPr>
                                    <m:e>
                                      <m:r>
                                        <a:rPr lang="en-US" i="1">
                                          <a:latin typeface="Cambria Math" panose="02040503050406030204" pitchFamily="18" charset="0"/>
                                        </a:rPr>
                                        <m:t>𝑙</m:t>
                                      </m:r>
                                    </m:e>
                                  </m:d>
                                </m:sup>
                              </m:sSup>
                            </m:e>
                            <m:e>
                              <m:sSup>
                                <m:sSupPr>
                                  <m:ctrlPr>
                                    <a:rPr lang="en-US" i="1">
                                      <a:latin typeface="Cambria Math" panose="02040503050406030204" pitchFamily="18" charset="0"/>
                                    </a:rPr>
                                  </m:ctrlPr>
                                </m:sSupPr>
                                <m:e>
                                  <m:r>
                                    <a:rPr lang="en-US" i="1">
                                      <a:latin typeface="Cambria Math" panose="02040503050406030204" pitchFamily="18" charset="0"/>
                                    </a:rPr>
                                    <m:t>𝐺</m:t>
                                  </m:r>
                                </m:e>
                                <m:sup>
                                  <m:d>
                                    <m:dPr>
                                      <m:ctrlPr>
                                        <a:rPr lang="en-US" i="1">
                                          <a:latin typeface="Cambria Math" panose="02040503050406030204" pitchFamily="18" charset="0"/>
                                        </a:rPr>
                                      </m:ctrlPr>
                                    </m:dPr>
                                    <m:e>
                                      <m:r>
                                        <a:rPr lang="en-US" i="1">
                                          <a:latin typeface="Cambria Math" panose="02040503050406030204" pitchFamily="18" charset="0"/>
                                        </a:rPr>
                                        <m:t>𝑙</m:t>
                                      </m:r>
                                      <m:r>
                                        <a:rPr lang="en-US" i="1">
                                          <a:latin typeface="Cambria Math" panose="02040503050406030204" pitchFamily="18" charset="0"/>
                                        </a:rPr>
                                        <m:t>+1</m:t>
                                      </m:r>
                                    </m:e>
                                  </m:d>
                                </m:sup>
                              </m:sSup>
                            </m:e>
                          </m:d>
                        </m:e>
                      </m:nary>
                    </m:oMath>
                  </m:oMathPara>
                </a14:m>
                <a:endParaRPr lang="en-US" dirty="0">
                  <a:latin typeface="+mj-lt"/>
                </a:endParaRPr>
              </a:p>
              <a:p>
                <a:endParaRPr lang="en-US" dirty="0">
                  <a:latin typeface="+mj-lt"/>
                </a:endParaRPr>
              </a:p>
              <a:p>
                <a:endParaRPr lang="en-US" dirty="0">
                  <a:latin typeface="+mj-lt"/>
                </a:endParaRPr>
              </a:p>
              <a:p>
                <a:endParaRPr lang="en-US" i="1" dirty="0">
                  <a:latin typeface="+mj-lt"/>
                </a:endParaRPr>
              </a:p>
            </p:txBody>
          </p:sp>
        </mc:Choice>
        <mc:Fallback>
          <p:sp>
            <p:nvSpPr>
              <p:cNvPr id="9" name="Content Placeholder 8">
                <a:extLst>
                  <a:ext uri="{FF2B5EF4-FFF2-40B4-BE49-F238E27FC236}">
                    <a16:creationId xmlns:a16="http://schemas.microsoft.com/office/drawing/2014/main" id="{B1F3BFED-D217-145E-658B-9BF5994151A7}"/>
                  </a:ext>
                </a:extLst>
              </p:cNvPr>
              <p:cNvSpPr>
                <a:spLocks noGrp="1" noRot="1" noChangeAspect="1" noMove="1" noResize="1" noEditPoints="1" noAdjustHandles="1" noChangeArrowheads="1" noChangeShapeType="1" noTextEdit="1"/>
              </p:cNvSpPr>
              <p:nvPr>
                <p:ph idx="1"/>
              </p:nvPr>
            </p:nvSpPr>
            <p:spPr>
              <a:blipFill>
                <a:blip r:embed="rId3"/>
                <a:stretch>
                  <a:fillRect t="-2247" b="-25843"/>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52B3EC53-EE27-DA32-DD8D-8E79F220535A}"/>
              </a:ext>
            </a:extLst>
          </p:cNvPr>
          <p:cNvSpPr>
            <a:spLocks noGrp="1"/>
          </p:cNvSpPr>
          <p:nvPr>
            <p:ph type="title"/>
          </p:nvPr>
        </p:nvSpPr>
        <p:spPr>
          <a:xfrm>
            <a:off x="904875" y="131032"/>
            <a:ext cx="7207279" cy="1072753"/>
          </a:xfrm>
        </p:spPr>
        <p:txBody>
          <a:bodyPr/>
          <a:lstStyle/>
          <a:p>
            <a:r>
              <a:rPr lang="en-US" dirty="0"/>
              <a:t>4.2	Background</a:t>
            </a:r>
            <a:br>
              <a:rPr lang="en-US" dirty="0"/>
            </a:br>
            <a:r>
              <a:rPr lang="en-US" sz="2400" b="0" i="1" dirty="0"/>
              <a:t>Hierarchical Graph Diffusion of </a:t>
            </a:r>
            <a:r>
              <a:rPr lang="en-US" sz="2400" b="0" i="1" dirty="0" err="1"/>
              <a:t>MRGrad</a:t>
            </a:r>
            <a:endParaRPr lang="en-GB" sz="2400" b="0" i="1" dirty="0"/>
          </a:p>
        </p:txBody>
      </p:sp>
      <p:sp>
        <p:nvSpPr>
          <p:cNvPr id="5" name="Date Placeholder 4">
            <a:extLst>
              <a:ext uri="{FF2B5EF4-FFF2-40B4-BE49-F238E27FC236}">
                <a16:creationId xmlns:a16="http://schemas.microsoft.com/office/drawing/2014/main" id="{FC197AD7-F512-2C75-D5ED-4009D226BFA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182B606-554B-FC63-12BE-A22DEC42E3D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A6810EC-A457-D138-5085-89BB8635E8BD}"/>
              </a:ext>
            </a:extLst>
          </p:cNvPr>
          <p:cNvSpPr>
            <a:spLocks noGrp="1"/>
          </p:cNvSpPr>
          <p:nvPr>
            <p:ph type="sldNum" sz="quarter" idx="12"/>
          </p:nvPr>
        </p:nvSpPr>
        <p:spPr/>
        <p:txBody>
          <a:bodyPr/>
          <a:lstStyle/>
          <a:p>
            <a:fld id="{E1E1CD7C-2161-7D43-862E-CE4C333CD873}" type="slidenum">
              <a:rPr lang="fr-FR" smtClean="0"/>
              <a:pPr/>
              <a:t>47</a:t>
            </a:fld>
            <a:endParaRPr lang="fr-FR" dirty="0"/>
          </a:p>
        </p:txBody>
      </p:sp>
    </p:spTree>
    <p:extLst>
      <p:ext uri="{BB962C8B-B14F-4D97-AF65-F5344CB8AC3E}">
        <p14:creationId xmlns:p14="http://schemas.microsoft.com/office/powerpoint/2010/main" val="83237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7EC3-0A00-75FD-1B50-AC4F3BA2B98D}"/>
            </a:ext>
          </a:extLst>
        </p:cNvPr>
        <p:cNvGrpSpPr/>
        <p:nvPr/>
      </p:nvGrpSpPr>
      <p:grpSpPr>
        <a:xfrm>
          <a:off x="0" y="0"/>
          <a:ext cx="0" cy="0"/>
          <a:chOff x="0" y="0"/>
          <a:chExt cx="0" cy="0"/>
        </a:xfrm>
      </p:grpSpPr>
      <p:pic>
        <p:nvPicPr>
          <p:cNvPr id="4" name="Content Placeholder 3" descr="A diagram of a triangle with many colored circles and lines&#10;&#10;AI-generated content may be incorrect.">
            <a:extLst>
              <a:ext uri="{FF2B5EF4-FFF2-40B4-BE49-F238E27FC236}">
                <a16:creationId xmlns:a16="http://schemas.microsoft.com/office/drawing/2014/main" id="{5F52F6DA-BB20-90CC-F009-7AD075C8DCDB}"/>
              </a:ext>
            </a:extLst>
          </p:cNvPr>
          <p:cNvPicPr>
            <a:picLocks noGrp="1" noChangeAspect="1"/>
          </p:cNvPicPr>
          <p:nvPr>
            <p:ph sz="half" idx="1"/>
          </p:nvPr>
        </p:nvPicPr>
        <p:blipFill>
          <a:blip r:embed="rId3"/>
          <a:stretch>
            <a:fillRect/>
          </a:stretch>
        </p:blipFill>
        <p:spPr>
          <a:xfrm>
            <a:off x="979759" y="1563688"/>
            <a:ext cx="3522119" cy="3263900"/>
          </a:xfrm>
        </p:spPr>
      </p:pic>
      <p:pic>
        <p:nvPicPr>
          <p:cNvPr id="11" name="Content Placeholder 10" descr="A grid with squares and numbers&#10;&#10;AI-generated content may be incorrect.">
            <a:extLst>
              <a:ext uri="{FF2B5EF4-FFF2-40B4-BE49-F238E27FC236}">
                <a16:creationId xmlns:a16="http://schemas.microsoft.com/office/drawing/2014/main" id="{EEA00160-55DA-64CA-F11A-2B02DB0893F4}"/>
              </a:ext>
            </a:extLst>
          </p:cNvPr>
          <p:cNvPicPr>
            <a:picLocks noGrp="1" noChangeAspect="1"/>
          </p:cNvPicPr>
          <p:nvPr>
            <p:ph sz="half" idx="2"/>
          </p:nvPr>
        </p:nvPicPr>
        <p:blipFill>
          <a:blip r:embed="rId4"/>
          <a:stretch>
            <a:fillRect/>
          </a:stretch>
        </p:blipFill>
        <p:spPr>
          <a:xfrm>
            <a:off x="5226641" y="1563688"/>
            <a:ext cx="3137306" cy="3263900"/>
          </a:xfrm>
        </p:spPr>
      </p:pic>
      <p:sp>
        <p:nvSpPr>
          <p:cNvPr id="8" name="Title 7">
            <a:extLst>
              <a:ext uri="{FF2B5EF4-FFF2-40B4-BE49-F238E27FC236}">
                <a16:creationId xmlns:a16="http://schemas.microsoft.com/office/drawing/2014/main" id="{30A7DBB4-3A44-B3A0-7EA8-0841429A1847}"/>
              </a:ext>
            </a:extLst>
          </p:cNvPr>
          <p:cNvSpPr>
            <a:spLocks noGrp="1"/>
          </p:cNvSpPr>
          <p:nvPr>
            <p:ph type="title"/>
          </p:nvPr>
        </p:nvSpPr>
        <p:spPr>
          <a:xfrm>
            <a:off x="904875" y="131032"/>
            <a:ext cx="7726363" cy="1072753"/>
          </a:xfrm>
        </p:spPr>
        <p:txBody>
          <a:bodyPr>
            <a:normAutofit/>
          </a:bodyPr>
          <a:lstStyle/>
          <a:p>
            <a:r>
              <a:rPr lang="en-US" dirty="0"/>
              <a:t>4.2	Background</a:t>
            </a:r>
            <a:br>
              <a:rPr lang="en-US" dirty="0"/>
            </a:br>
            <a:r>
              <a:rPr lang="en-US" sz="2400" b="0" i="1" dirty="0"/>
              <a:t>Hierarchical Graph Diffusion of </a:t>
            </a:r>
            <a:r>
              <a:rPr lang="en-US" sz="2400" b="0" i="1" dirty="0" err="1"/>
              <a:t>MRGrad</a:t>
            </a:r>
            <a:endParaRPr lang="en-GB" sz="2400" b="0" i="1" dirty="0"/>
          </a:p>
        </p:txBody>
      </p:sp>
      <p:sp>
        <p:nvSpPr>
          <p:cNvPr id="5" name="Date Placeholder 4">
            <a:extLst>
              <a:ext uri="{FF2B5EF4-FFF2-40B4-BE49-F238E27FC236}">
                <a16:creationId xmlns:a16="http://schemas.microsoft.com/office/drawing/2014/main" id="{28C5BF14-4E7F-06F5-6A5B-12B63EEFD6B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2AF5C3-D0D8-0E16-909F-BB118198D34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9AFE27C-0B9C-1AD5-3AFE-FBAA82A7FA58}"/>
              </a:ext>
            </a:extLst>
          </p:cNvPr>
          <p:cNvSpPr>
            <a:spLocks noGrp="1"/>
          </p:cNvSpPr>
          <p:nvPr>
            <p:ph type="sldNum" sz="quarter" idx="12"/>
          </p:nvPr>
        </p:nvSpPr>
        <p:spPr/>
        <p:txBody>
          <a:bodyPr/>
          <a:lstStyle/>
          <a:p>
            <a:fld id="{E1E1CD7C-2161-7D43-862E-CE4C333CD873}" type="slidenum">
              <a:rPr lang="fr-FR" smtClean="0"/>
              <a:pPr/>
              <a:t>48</a:t>
            </a:fld>
            <a:endParaRPr lang="fr-FR" dirty="0"/>
          </a:p>
        </p:txBody>
      </p:sp>
    </p:spTree>
    <p:extLst>
      <p:ext uri="{BB962C8B-B14F-4D97-AF65-F5344CB8AC3E}">
        <p14:creationId xmlns:p14="http://schemas.microsoft.com/office/powerpoint/2010/main" val="329066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randombar(horizontal)">
                                      <p:cBhvr>
                                        <p:cTn id="1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9CA1A-19F3-D519-7767-11BE6596D6C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A711A69C-F690-CF27-BE56-0491FDE3B348}"/>
                  </a:ext>
                </a:extLst>
              </p:cNvPr>
              <p:cNvSpPr>
                <a:spLocks noGrp="1"/>
              </p:cNvSpPr>
              <p:nvPr>
                <p:ph idx="1"/>
              </p:nvPr>
            </p:nvSpPr>
            <p:spPr/>
            <p:txBody>
              <a:bodyPr>
                <a:normAutofit/>
              </a:bodyPr>
              <a:lstStyle/>
              <a:p>
                <a:r>
                  <a:rPr lang="en-US" dirty="0">
                    <a:latin typeface="+mj-lt"/>
                  </a:rPr>
                  <a:t>Ablation of root graph’s edge weight representation</a:t>
                </a:r>
              </a:p>
              <a:p>
                <a:pPr lvl="1"/>
                <a:r>
                  <a:rPr lang="en-US" dirty="0">
                    <a:latin typeface="+mj-lt"/>
                  </a:rPr>
                  <a:t>Simple: </a:t>
                </a:r>
                <a14:m>
                  <m:oMath xmlns:m="http://schemas.openxmlformats.org/officeDocument/2006/math">
                    <m:r>
                      <a:rPr lang="en-US"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0" smtClean="0">
                            <a:latin typeface="Cambria Math" panose="02040503050406030204" pitchFamily="18" charset="0"/>
                          </a:rPr>
                          <m:t>𝐴</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2×2</m:t>
                        </m:r>
                      </m:sup>
                    </m:sSup>
                  </m:oMath>
                </a14:m>
                <a:endParaRPr lang="en-US" dirty="0">
                  <a:latin typeface="+mj-lt"/>
                </a:endParaRPr>
              </a:p>
              <a:p>
                <a:pPr lvl="1"/>
                <a:r>
                  <a:rPr lang="en-US" dirty="0">
                    <a:latin typeface="+mj-lt"/>
                  </a:rPr>
                  <a:t>Integer: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r>
                          <a:rPr lang="en-US" i="1">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sup>
                    </m:sSup>
                  </m:oMath>
                </a14:m>
                <a:endParaRPr lang="en-US" dirty="0">
                  <a:latin typeface="+mj-lt"/>
                </a:endParaRPr>
              </a:p>
              <a:p>
                <a:pPr lvl="1"/>
                <a:r>
                  <a:rPr lang="en-US" dirty="0">
                    <a:latin typeface="+mj-lt"/>
                  </a:rPr>
                  <a:t>Ordinal: </a:t>
                </a:r>
                <a14:m>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&gt;</m:t>
                    </m:r>
                    <m:r>
                      <a:rPr lang="en-US" i="1">
                        <a:latin typeface="Cambria Math" panose="02040503050406030204" pitchFamily="18" charset="0"/>
                      </a:rPr>
                      <m:t>1</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=0</m:t>
                    </m:r>
                  </m:oMath>
                </a14:m>
                <a:endParaRPr lang="en-US" dirty="0">
                  <a:latin typeface="+mj-lt"/>
                </a:endParaRPr>
              </a:p>
              <a:p>
                <a:pPr lvl="1"/>
                <a:r>
                  <a:rPr lang="en-US" dirty="0" err="1">
                    <a:latin typeface="+mj-lt"/>
                  </a:rPr>
                  <a:t>Bucketization</a:t>
                </a:r>
                <a:r>
                  <a:rPr lang="en-US" dirty="0">
                    <a:latin typeface="+mj-lt"/>
                  </a:rPr>
                  <a:t>: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m:t>
                    </m:r>
                    <m:r>
                      <a:rPr lang="en-US" b="0" i="1" smtClean="0">
                        <a:latin typeface="Cambria Math" panose="02040503050406030204" pitchFamily="18" charset="0"/>
                      </a:rPr>
                      <m:t>𝑊</m:t>
                    </m:r>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r>
                          <a:rPr lang="en-US" i="1">
                            <a:latin typeface="Cambria Math" panose="02040503050406030204" pitchFamily="18" charset="0"/>
                          </a:rPr>
                          <m:t>×</m:t>
                        </m:r>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&lt;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endParaRPr lang="en-US" dirty="0">
                  <a:latin typeface="+mj-lt"/>
                </a:endParaRPr>
              </a:p>
              <a:p>
                <a:endParaRPr lang="en-US" dirty="0">
                  <a:latin typeface="+mj-lt"/>
                </a:endParaRPr>
              </a:p>
              <a:p>
                <a:r>
                  <a:rPr lang="en-US" dirty="0">
                    <a:latin typeface="+mj-lt"/>
                  </a:rPr>
                  <a:t>Naïve </a:t>
                </a:r>
                <a:r>
                  <a:rPr lang="en-US" dirty="0" err="1">
                    <a:latin typeface="+mj-lt"/>
                  </a:rPr>
                  <a:t>HiGenDiff</a:t>
                </a:r>
                <a:endParaRPr lang="en-US" dirty="0">
                  <a:latin typeface="+mj-lt"/>
                </a:endParaRPr>
              </a:p>
              <a:p>
                <a:pPr lvl="1"/>
                <a:r>
                  <a:rPr lang="en-US" dirty="0">
                    <a:latin typeface="+mj-lt"/>
                  </a:rPr>
                  <a:t>Question need for conditioning on full parent graph</a:t>
                </a:r>
              </a:p>
              <a:p>
                <a:pPr lvl="1"/>
                <a:r>
                  <a:rPr lang="en-US" dirty="0">
                    <a:latin typeface="+mj-lt"/>
                  </a:rPr>
                  <a:t>Independent </a:t>
                </a:r>
                <a:r>
                  <a:rPr lang="en-US" dirty="0" err="1">
                    <a:latin typeface="+mj-lt"/>
                  </a:rPr>
                  <a:t>DiGress</a:t>
                </a:r>
                <a:r>
                  <a:rPr lang="en-US" dirty="0">
                    <a:latin typeface="+mj-lt"/>
                  </a:rPr>
                  <a:t> instances</a:t>
                </a:r>
              </a:p>
            </p:txBody>
          </p:sp>
        </mc:Choice>
        <mc:Fallback>
          <p:sp>
            <p:nvSpPr>
              <p:cNvPr id="9" name="Content Placeholder 8">
                <a:extLst>
                  <a:ext uri="{FF2B5EF4-FFF2-40B4-BE49-F238E27FC236}">
                    <a16:creationId xmlns:a16="http://schemas.microsoft.com/office/drawing/2014/main" id="{A711A69C-F690-CF27-BE56-0491FDE3B348}"/>
                  </a:ext>
                </a:extLst>
              </p:cNvPr>
              <p:cNvSpPr>
                <a:spLocks noGrp="1" noRot="1" noChangeAspect="1" noMove="1" noResize="1" noEditPoints="1" noAdjustHandles="1" noChangeArrowheads="1" noChangeShapeType="1" noTextEdit="1"/>
              </p:cNvSpPr>
              <p:nvPr>
                <p:ph idx="1"/>
              </p:nvPr>
            </p:nvSpPr>
            <p:spPr>
              <a:blipFill>
                <a:blip r:embed="rId3"/>
                <a:stretch>
                  <a:fillRect t="-1498"/>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69E6A701-562E-0988-AA8E-F004E88E1198}"/>
              </a:ext>
            </a:extLst>
          </p:cNvPr>
          <p:cNvSpPr>
            <a:spLocks noGrp="1"/>
          </p:cNvSpPr>
          <p:nvPr>
            <p:ph type="title"/>
          </p:nvPr>
        </p:nvSpPr>
        <p:spPr>
          <a:xfrm>
            <a:off x="904875" y="131032"/>
            <a:ext cx="7207279" cy="1072753"/>
          </a:xfrm>
        </p:spPr>
        <p:txBody>
          <a:bodyPr/>
          <a:lstStyle/>
          <a:p>
            <a:r>
              <a:rPr lang="en-US" dirty="0"/>
              <a:t>4.2	Contributions</a:t>
            </a:r>
            <a:br>
              <a:rPr lang="en-US" dirty="0"/>
            </a:br>
            <a:r>
              <a:rPr lang="en-US" sz="2400" b="0" i="1" dirty="0"/>
              <a:t>Model designs</a:t>
            </a:r>
            <a:endParaRPr lang="en-GB" sz="2400" b="0" i="1" dirty="0"/>
          </a:p>
        </p:txBody>
      </p:sp>
      <p:sp>
        <p:nvSpPr>
          <p:cNvPr id="5" name="Date Placeholder 4">
            <a:extLst>
              <a:ext uri="{FF2B5EF4-FFF2-40B4-BE49-F238E27FC236}">
                <a16:creationId xmlns:a16="http://schemas.microsoft.com/office/drawing/2014/main" id="{C1F3F2D5-9B35-9198-3207-60C653BE11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5D3A67A-B5C0-05D1-BCCB-99B0FE0A82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8B56E84-DCE5-CFAF-E97F-34D0326EAA5B}"/>
              </a:ext>
            </a:extLst>
          </p:cNvPr>
          <p:cNvSpPr>
            <a:spLocks noGrp="1"/>
          </p:cNvSpPr>
          <p:nvPr>
            <p:ph type="sldNum" sz="quarter" idx="12"/>
          </p:nvPr>
        </p:nvSpPr>
        <p:spPr/>
        <p:txBody>
          <a:bodyPr/>
          <a:lstStyle/>
          <a:p>
            <a:fld id="{E1E1CD7C-2161-7D43-862E-CE4C333CD873}" type="slidenum">
              <a:rPr lang="fr-FR" smtClean="0"/>
              <a:pPr/>
              <a:t>49</a:t>
            </a:fld>
            <a:endParaRPr lang="fr-FR" dirty="0"/>
          </a:p>
        </p:txBody>
      </p:sp>
    </p:spTree>
    <p:extLst>
      <p:ext uri="{BB962C8B-B14F-4D97-AF65-F5344CB8AC3E}">
        <p14:creationId xmlns:p14="http://schemas.microsoft.com/office/powerpoint/2010/main" val="305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4" dur="500"/>
                                        <p:tgtEl>
                                          <p:spTgt spid="9">
                                            <p:txEl>
                                              <p:pRg st="6" end="6"/>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27" dur="500"/>
                                        <p:tgtEl>
                                          <p:spTgt spid="9">
                                            <p:txEl>
                                              <p:pRg st="7" end="7"/>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0"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A5E-6CC6-0E8F-38DB-F207490B2D2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7D2D6824-7DCD-5817-DFB5-19F1BD1C6592}"/>
                  </a:ext>
                </a:extLst>
              </p:cNvPr>
              <p:cNvSpPr>
                <a:spLocks noGrp="1"/>
              </p:cNvSpPr>
              <p:nvPr>
                <p:ph idx="1"/>
              </p:nvPr>
            </p:nvSpPr>
            <p:spPr/>
            <p:txBody>
              <a:bodyPr>
                <a:normAutofit/>
              </a:bodyPr>
              <a:lstStyle/>
              <a:p>
                <a:r>
                  <a:rPr lang="en-US" i="1" dirty="0">
                    <a:latin typeface="+mj-lt"/>
                  </a:rPr>
                  <a:t>What is the computational cost of adding an extra graph coarsening layer on top, and when is this feasibly faster than the standard baseline?</a:t>
                </a:r>
              </a:p>
              <a:p>
                <a:r>
                  <a:rPr lang="en-US" dirty="0">
                    <a:latin typeface="+mj-lt"/>
                  </a:rPr>
                  <a:t>Assumption: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m:rPr>
                        <m:sty m:val="p"/>
                      </m:rPr>
                      <a:rPr lang="en-US" b="0" i="0" smtClean="0">
                        <a:latin typeface="Cambria Math" panose="02040503050406030204" pitchFamily="18" charset="0"/>
                      </a:rPr>
                      <m:t>ER</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𝑝</m:t>
                        </m:r>
                      </m:e>
                    </m:d>
                  </m:oMath>
                </a14:m>
                <a:endParaRPr lang="en-US" dirty="0">
                  <a:latin typeface="+mj-lt"/>
                </a:endParaRPr>
              </a:p>
              <a:p>
                <a:pPr marL="342900" indent="-342900">
                  <a:buFont typeface="+mj-lt"/>
                  <a:buAutoNum type="arabicPeriod"/>
                </a:pPr>
                <a:r>
                  <a:rPr lang="en-US" dirty="0">
                    <a:latin typeface="+mj-lt"/>
                  </a:rPr>
                  <a:t>Complexity and bounds</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
                        <a:rPr lang="en-US" i="1">
                          <a:latin typeface="Cambria Math" panose="02040503050406030204" pitchFamily="18" charset="0"/>
                        </a:rPr>
                        <m:t>𝔼</m:t>
                      </m:r>
                      <m:d>
                        <m:dPr>
                          <m:begChr m:val="["/>
                          <m:endChr m:val="]"/>
                          <m:ctrlPr>
                            <a:rPr lang="en-US" i="1">
                              <a:latin typeface="Cambria Math" panose="02040503050406030204" pitchFamily="18" charset="0"/>
                            </a:rPr>
                          </m:ctrlPr>
                        </m:dPr>
                        <m:e>
                          <m:rad>
                            <m:radPr>
                              <m:ctrlPr>
                                <a:rPr lang="en-US" i="1" smtClean="0">
                                  <a:latin typeface="Cambria Math" panose="02040503050406030204" pitchFamily="18" charset="0"/>
                                </a:rPr>
                              </m:ctrlPr>
                            </m:radPr>
                            <m:deg>
                              <m:r>
                                <a:rPr lang="en-US" i="1">
                                  <a:latin typeface="Cambria Math" panose="02040503050406030204" pitchFamily="18" charset="0"/>
                                </a:rPr>
                                <m:t>3</m:t>
                              </m:r>
                            </m:deg>
                            <m:e>
                              <m:r>
                                <a:rPr lang="en-US" b="0" i="1" smtClean="0">
                                  <a:latin typeface="Cambria Math" panose="02040503050406030204" pitchFamily="18" charset="0"/>
                                </a:rPr>
                                <m:t>2</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b="0" i="1" smtClean="0">
                                      <a:latin typeface="Cambria Math" panose="02040503050406030204" pitchFamily="18" charset="0"/>
                                    </a:rPr>
                                    <m:t>4</m:t>
                                  </m:r>
                                </m:sup>
                              </m:sSup>
                            </m:e>
                          </m:rad>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r>
                                            <a:rPr lang="en-US" b="0" i="1" smtClean="0">
                                              <a:latin typeface="Cambria Math" panose="02040503050406030204" pitchFamily="18" charset="0"/>
                                            </a:rPr>
                                            <m:t>+1</m:t>
                                          </m:r>
                                        </m:e>
                                      </m:d>
                                    </m:sup>
                                  </m:sSup>
                                </m:e>
                              </m:d>
                            </m:e>
                            <m:sup>
                              <m:r>
                                <a:rPr lang="en-US" b="0" i="1" smtClean="0">
                                  <a:latin typeface="Cambria Math" panose="02040503050406030204" pitchFamily="18" charset="0"/>
                                </a:rPr>
                                <m:t>2</m:t>
                              </m:r>
                            </m:sup>
                          </m:sSup>
                        </m:e>
                      </m:d>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b="0" i="1" smtClean="0">
                                              <a:latin typeface="Cambria Math" panose="02040503050406030204" pitchFamily="18" charset="0"/>
                                            </a:rPr>
                                            <m:t>𝐿</m:t>
                                          </m:r>
                                        </m:e>
                                      </m:d>
                                    </m:sup>
                                  </m:sSup>
                                </m:e>
                              </m:d>
                            </m:e>
                            <m:sup>
                              <m:r>
                                <a:rPr lang="en-US" i="1">
                                  <a:latin typeface="Cambria Math" panose="02040503050406030204" pitchFamily="18" charset="0"/>
                                </a:rPr>
                                <m:t>2</m:t>
                              </m:r>
                            </m:sup>
                          </m:sSup>
                        </m:e>
                      </m:d>
                      <m:r>
                        <a:rPr lang="en-US" b="0" i="1" smtClean="0">
                          <a:latin typeface="Cambria Math" panose="02040503050406030204" pitchFamily="18" charset="0"/>
                        </a:rPr>
                        <m:t>≤2</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oMath>
                  </m:oMathPara>
                </a14:m>
                <a:endParaRPr lang="en-US" dirty="0">
                  <a:latin typeface="+mj-lt"/>
                </a:endParaRPr>
              </a:p>
              <a:p>
                <a:pPr marL="342900" indent="-342900">
                  <a:buFont typeface="+mj-lt"/>
                  <a:buAutoNum type="arabicPeriod" startAt="2"/>
                </a:pPr>
                <a:r>
                  <a:rPr lang="en-US" dirty="0">
                    <a:latin typeface="+mj-lt"/>
                  </a:rPr>
                  <a:t>Feasibility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𝑝</m:t>
                      </m:r>
                      <m:r>
                        <a:rPr lang="en-US" b="0" i="1" smtClean="0">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r>
                                                <a:rPr lang="en-US" i="1">
                                                  <a:latin typeface="Cambria Math" panose="02040503050406030204" pitchFamily="18" charset="0"/>
                                                </a:rPr>
                                                <m:t>+1</m:t>
                                              </m:r>
                                            </m:e>
                                          </m:d>
                                        </m:sup>
                                      </m:sSup>
                                    </m:e>
                                  </m:d>
                                </m:e>
                                <m:sup>
                                  <m:r>
                                    <a:rPr lang="en-US" i="1">
                                      <a:latin typeface="Cambria Math" panose="02040503050406030204" pitchFamily="18" charset="0"/>
                                    </a:rPr>
                                    <m:t>2</m:t>
                                  </m:r>
                                </m:sup>
                              </m:sSup>
                            </m:e>
                          </m:d>
                        </m:num>
                        <m:den>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den>
                      </m:f>
                    </m:oMath>
                  </m:oMathPara>
                </a14:m>
                <a:endParaRPr lang="en-US" i="1" dirty="0">
                  <a:latin typeface="+mj-lt"/>
                </a:endParaRPr>
              </a:p>
            </p:txBody>
          </p:sp>
        </mc:Choice>
        <mc:Fallback>
          <p:sp>
            <p:nvSpPr>
              <p:cNvPr id="9" name="Content Placeholder 8">
                <a:extLst>
                  <a:ext uri="{FF2B5EF4-FFF2-40B4-BE49-F238E27FC236}">
                    <a16:creationId xmlns:a16="http://schemas.microsoft.com/office/drawing/2014/main" id="{7D2D6824-7DCD-5817-DFB5-19F1BD1C6592}"/>
                  </a:ext>
                </a:extLst>
              </p:cNvPr>
              <p:cNvSpPr>
                <a:spLocks noGrp="1" noRot="1" noChangeAspect="1" noMove="1" noResize="1" noEditPoints="1" noAdjustHandles="1" noChangeArrowheads="1" noChangeShapeType="1" noTextEdit="1"/>
              </p:cNvSpPr>
              <p:nvPr>
                <p:ph idx="1"/>
              </p:nvPr>
            </p:nvSpPr>
            <p:spPr>
              <a:blipFill>
                <a:blip r:embed="rId3"/>
                <a:stretch>
                  <a:fillRect t="-1498"/>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A94DAE24-0E79-251A-CD6A-4D852C74DCEE}"/>
              </a:ext>
            </a:extLst>
          </p:cNvPr>
          <p:cNvSpPr>
            <a:spLocks noGrp="1"/>
          </p:cNvSpPr>
          <p:nvPr>
            <p:ph type="title"/>
          </p:nvPr>
        </p:nvSpPr>
        <p:spPr>
          <a:xfrm>
            <a:off x="904875" y="131032"/>
            <a:ext cx="7207279" cy="1072753"/>
          </a:xfrm>
        </p:spPr>
        <p:txBody>
          <a:bodyPr/>
          <a:lstStyle/>
          <a:p>
            <a:r>
              <a:rPr lang="en-US" dirty="0"/>
              <a:t>4.2	Contributions</a:t>
            </a:r>
            <a:br>
              <a:rPr lang="en-US" dirty="0"/>
            </a:br>
            <a:r>
              <a:rPr lang="en-US" sz="2400" b="0" i="1" dirty="0"/>
              <a:t>Theory</a:t>
            </a:r>
            <a:endParaRPr lang="en-GB" sz="2400" b="0" i="1" dirty="0"/>
          </a:p>
        </p:txBody>
      </p:sp>
      <p:sp>
        <p:nvSpPr>
          <p:cNvPr id="5" name="Date Placeholder 4">
            <a:extLst>
              <a:ext uri="{FF2B5EF4-FFF2-40B4-BE49-F238E27FC236}">
                <a16:creationId xmlns:a16="http://schemas.microsoft.com/office/drawing/2014/main" id="{2B689BDF-B421-9FEB-3C7A-9B3CEDAA34D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51C8FB-8EA0-9C0D-C5EA-348EA24A6A8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270B47-F86F-1C40-C572-F73FAA24BDAC}"/>
              </a:ext>
            </a:extLst>
          </p:cNvPr>
          <p:cNvSpPr>
            <a:spLocks noGrp="1"/>
          </p:cNvSpPr>
          <p:nvPr>
            <p:ph type="sldNum" sz="quarter" idx="12"/>
          </p:nvPr>
        </p:nvSpPr>
        <p:spPr/>
        <p:txBody>
          <a:bodyPr/>
          <a:lstStyle/>
          <a:p>
            <a:fld id="{E1E1CD7C-2161-7D43-862E-CE4C333CD873}" type="slidenum">
              <a:rPr lang="fr-FR" smtClean="0"/>
              <a:pPr/>
              <a:t>50</a:t>
            </a:fld>
            <a:endParaRPr lang="fr-FR" dirty="0"/>
          </a:p>
        </p:txBody>
      </p:sp>
    </p:spTree>
    <p:extLst>
      <p:ext uri="{BB962C8B-B14F-4D97-AF65-F5344CB8AC3E}">
        <p14:creationId xmlns:p14="http://schemas.microsoft.com/office/powerpoint/2010/main" val="322915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0" dur="500"/>
                                        <p:tgtEl>
                                          <p:spTgt spid="9">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73E46-ABD0-D63B-25AE-64FC68F0370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A20CD31-31BD-31E0-6DE1-E4B0B0C2EE46}"/>
              </a:ext>
            </a:extLst>
          </p:cNvPr>
          <p:cNvSpPr>
            <a:spLocks noGrp="1"/>
          </p:cNvSpPr>
          <p:nvPr>
            <p:ph type="title"/>
          </p:nvPr>
        </p:nvSpPr>
        <p:spPr>
          <a:xfrm>
            <a:off x="904875" y="131032"/>
            <a:ext cx="7726363" cy="1072753"/>
          </a:xfrm>
        </p:spPr>
        <p:txBody>
          <a:bodyPr>
            <a:normAutofit/>
          </a:bodyPr>
          <a:lstStyle/>
          <a:p>
            <a:r>
              <a:rPr lang="en-US" dirty="0"/>
              <a:t>4.2	Results</a:t>
            </a:r>
            <a:br>
              <a:rPr lang="en-US" dirty="0"/>
            </a:br>
            <a:r>
              <a:rPr lang="en-US" sz="2400" b="0" i="1" dirty="0"/>
              <a:t>Expressivity</a:t>
            </a:r>
            <a:endParaRPr lang="en-GB" sz="2400" b="0" i="1" dirty="0"/>
          </a:p>
        </p:txBody>
      </p:sp>
      <p:sp>
        <p:nvSpPr>
          <p:cNvPr id="5" name="Date Placeholder 4">
            <a:extLst>
              <a:ext uri="{FF2B5EF4-FFF2-40B4-BE49-F238E27FC236}">
                <a16:creationId xmlns:a16="http://schemas.microsoft.com/office/drawing/2014/main" id="{0C167BFA-06A6-0231-67AB-B044D99A30D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43EF8BE-0781-4404-2E25-28D0C434218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F477629-FF5C-E2D2-F0D5-5875CBBC2F65}"/>
              </a:ext>
            </a:extLst>
          </p:cNvPr>
          <p:cNvSpPr>
            <a:spLocks noGrp="1"/>
          </p:cNvSpPr>
          <p:nvPr>
            <p:ph type="sldNum" sz="quarter" idx="12"/>
          </p:nvPr>
        </p:nvSpPr>
        <p:spPr/>
        <p:txBody>
          <a:bodyPr/>
          <a:lstStyle/>
          <a:p>
            <a:fld id="{E1E1CD7C-2161-7D43-862E-CE4C333CD873}" type="slidenum">
              <a:rPr lang="fr-FR" smtClean="0"/>
              <a:pPr/>
              <a:t>51</a:t>
            </a:fld>
            <a:endParaRPr lang="fr-FR" dirty="0"/>
          </a:p>
        </p:txBody>
      </p:sp>
      <p:pic>
        <p:nvPicPr>
          <p:cNvPr id="10" name="Content Placeholder 9" descr="A table with numbers and text&#10;&#10;AI-generated content may be incorrect.">
            <a:extLst>
              <a:ext uri="{FF2B5EF4-FFF2-40B4-BE49-F238E27FC236}">
                <a16:creationId xmlns:a16="http://schemas.microsoft.com/office/drawing/2014/main" id="{1E8C9F95-3655-938B-A793-35AE829636F9}"/>
              </a:ext>
            </a:extLst>
          </p:cNvPr>
          <p:cNvPicPr>
            <a:picLocks noGrp="1" noChangeAspect="1"/>
          </p:cNvPicPr>
          <p:nvPr>
            <p:ph idx="1"/>
          </p:nvPr>
        </p:nvPicPr>
        <p:blipFill>
          <a:blip r:embed="rId3"/>
          <a:stretch>
            <a:fillRect/>
          </a:stretch>
        </p:blipFill>
        <p:spPr>
          <a:xfrm>
            <a:off x="904875" y="1859436"/>
            <a:ext cx="7726363" cy="2794641"/>
          </a:xfrm>
        </p:spPr>
      </p:pic>
    </p:spTree>
    <p:extLst>
      <p:ext uri="{BB962C8B-B14F-4D97-AF65-F5344CB8AC3E}">
        <p14:creationId xmlns:p14="http://schemas.microsoft.com/office/powerpoint/2010/main" val="29909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53EFA-BE9C-CDA8-2556-6BC36185C4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593E9A2-E291-EFE0-F482-1F5B1B4CF910}"/>
              </a:ext>
            </a:extLst>
          </p:cNvPr>
          <p:cNvSpPr>
            <a:spLocks noGrp="1"/>
          </p:cNvSpPr>
          <p:nvPr>
            <p:ph type="title"/>
          </p:nvPr>
        </p:nvSpPr>
        <p:spPr>
          <a:xfrm>
            <a:off x="904875" y="131032"/>
            <a:ext cx="7726363" cy="1072753"/>
          </a:xfrm>
        </p:spPr>
        <p:txBody>
          <a:bodyPr>
            <a:normAutofit/>
          </a:bodyPr>
          <a:lstStyle/>
          <a:p>
            <a:r>
              <a:rPr lang="en-US" dirty="0"/>
              <a:t>4.2	Results</a:t>
            </a:r>
            <a:br>
              <a:rPr lang="en-US" dirty="0"/>
            </a:br>
            <a:r>
              <a:rPr lang="en-US" sz="2400" b="0" i="1" dirty="0"/>
              <a:t>Real vs. fake graphs</a:t>
            </a:r>
            <a:endParaRPr lang="en-GB" sz="2400" b="0" i="1" dirty="0"/>
          </a:p>
        </p:txBody>
      </p:sp>
      <p:sp>
        <p:nvSpPr>
          <p:cNvPr id="5" name="Date Placeholder 4">
            <a:extLst>
              <a:ext uri="{FF2B5EF4-FFF2-40B4-BE49-F238E27FC236}">
                <a16:creationId xmlns:a16="http://schemas.microsoft.com/office/drawing/2014/main" id="{D4F549FE-6790-BE92-3A6F-200ED47D76C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0BCAD6F-9BAB-9EE2-F2C9-E930D9E94E1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00F6E3E-313A-BB99-B84A-87EC296AEEC5}"/>
              </a:ext>
            </a:extLst>
          </p:cNvPr>
          <p:cNvSpPr>
            <a:spLocks noGrp="1"/>
          </p:cNvSpPr>
          <p:nvPr>
            <p:ph type="sldNum" sz="quarter" idx="12"/>
          </p:nvPr>
        </p:nvSpPr>
        <p:spPr/>
        <p:txBody>
          <a:bodyPr/>
          <a:lstStyle/>
          <a:p>
            <a:fld id="{E1E1CD7C-2161-7D43-862E-CE4C333CD873}" type="slidenum">
              <a:rPr lang="fr-FR" smtClean="0"/>
              <a:pPr/>
              <a:t>52</a:t>
            </a:fld>
            <a:endParaRPr lang="fr-FR" dirty="0"/>
          </a:p>
        </p:txBody>
      </p:sp>
      <p:pic>
        <p:nvPicPr>
          <p:cNvPr id="9" name="Content Placeholder 8" descr="A group of different shapes and colors&#10;&#10;AI-generated content may be incorrect.">
            <a:extLst>
              <a:ext uri="{FF2B5EF4-FFF2-40B4-BE49-F238E27FC236}">
                <a16:creationId xmlns:a16="http://schemas.microsoft.com/office/drawing/2014/main" id="{B6AC4CE1-93E4-E96B-C166-BE21257660F9}"/>
              </a:ext>
            </a:extLst>
          </p:cNvPr>
          <p:cNvPicPr>
            <a:picLocks noGrp="1" noChangeAspect="1"/>
          </p:cNvPicPr>
          <p:nvPr>
            <p:ph idx="1"/>
          </p:nvPr>
        </p:nvPicPr>
        <p:blipFill>
          <a:blip r:embed="rId3"/>
          <a:stretch>
            <a:fillRect/>
          </a:stretch>
        </p:blipFill>
        <p:spPr>
          <a:xfrm>
            <a:off x="1995225" y="1563688"/>
            <a:ext cx="5545663" cy="3386137"/>
          </a:xfrm>
        </p:spPr>
      </p:pic>
    </p:spTree>
    <p:extLst>
      <p:ext uri="{BB962C8B-B14F-4D97-AF65-F5344CB8AC3E}">
        <p14:creationId xmlns:p14="http://schemas.microsoft.com/office/powerpoint/2010/main" val="60686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4233D-78D8-2659-4032-33B9608ACEFF}"/>
            </a:ext>
          </a:extLst>
        </p:cNvPr>
        <p:cNvGrpSpPr/>
        <p:nvPr/>
      </p:nvGrpSpPr>
      <p:grpSpPr>
        <a:xfrm>
          <a:off x="0" y="0"/>
          <a:ext cx="0" cy="0"/>
          <a:chOff x="0" y="0"/>
          <a:chExt cx="0" cy="0"/>
        </a:xfrm>
      </p:grpSpPr>
      <p:pic>
        <p:nvPicPr>
          <p:cNvPr id="13" name="Content Placeholder 12" descr="A graph of different colored bars&#10;&#10;AI-generated content may be incorrect.">
            <a:extLst>
              <a:ext uri="{FF2B5EF4-FFF2-40B4-BE49-F238E27FC236}">
                <a16:creationId xmlns:a16="http://schemas.microsoft.com/office/drawing/2014/main" id="{82D73969-35F8-BB9A-E758-FA15397FBE63}"/>
              </a:ext>
            </a:extLst>
          </p:cNvPr>
          <p:cNvPicPr>
            <a:picLocks noGrp="1" noChangeAspect="1"/>
          </p:cNvPicPr>
          <p:nvPr>
            <p:ph sz="half" idx="2"/>
          </p:nvPr>
        </p:nvPicPr>
        <p:blipFill>
          <a:blip r:embed="rId3"/>
          <a:stretch>
            <a:fillRect/>
          </a:stretch>
        </p:blipFill>
        <p:spPr>
          <a:xfrm>
            <a:off x="4959350" y="1940292"/>
            <a:ext cx="3671888" cy="2510692"/>
          </a:xfrm>
        </p:spPr>
      </p:pic>
      <p:sp>
        <p:nvSpPr>
          <p:cNvPr id="8" name="Title 7">
            <a:extLst>
              <a:ext uri="{FF2B5EF4-FFF2-40B4-BE49-F238E27FC236}">
                <a16:creationId xmlns:a16="http://schemas.microsoft.com/office/drawing/2014/main" id="{619A3E27-C8EB-1682-36C1-50A1F003BDBC}"/>
              </a:ext>
            </a:extLst>
          </p:cNvPr>
          <p:cNvSpPr>
            <a:spLocks noGrp="1"/>
          </p:cNvSpPr>
          <p:nvPr>
            <p:ph type="title"/>
          </p:nvPr>
        </p:nvSpPr>
        <p:spPr/>
        <p:txBody>
          <a:bodyPr>
            <a:normAutofit/>
          </a:bodyPr>
          <a:lstStyle/>
          <a:p>
            <a:r>
              <a:rPr lang="en-US" dirty="0"/>
              <a:t>4.2	Results</a:t>
            </a:r>
            <a:br>
              <a:rPr lang="en-US" dirty="0"/>
            </a:br>
            <a:r>
              <a:rPr lang="en-US" sz="2400" b="0" i="1" dirty="0"/>
              <a:t>Ablation</a:t>
            </a:r>
            <a:endParaRPr lang="en-GB" sz="2400" b="0" i="1" dirty="0"/>
          </a:p>
        </p:txBody>
      </p:sp>
      <p:sp>
        <p:nvSpPr>
          <p:cNvPr id="5" name="Date Placeholder 4">
            <a:extLst>
              <a:ext uri="{FF2B5EF4-FFF2-40B4-BE49-F238E27FC236}">
                <a16:creationId xmlns:a16="http://schemas.microsoft.com/office/drawing/2014/main" id="{03B24B9C-FCAE-1CAC-6EC3-2F5229C64C9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3F7852-93BE-959C-FA9C-01AA5C9331F5}"/>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48EEB33-69F8-7025-83DD-869C0309E9CB}"/>
              </a:ext>
            </a:extLst>
          </p:cNvPr>
          <p:cNvSpPr>
            <a:spLocks noGrp="1"/>
          </p:cNvSpPr>
          <p:nvPr>
            <p:ph type="sldNum" sz="quarter" idx="12"/>
          </p:nvPr>
        </p:nvSpPr>
        <p:spPr/>
        <p:txBody>
          <a:bodyPr/>
          <a:lstStyle/>
          <a:p>
            <a:fld id="{E1E1CD7C-2161-7D43-862E-CE4C333CD873}" type="slidenum">
              <a:rPr lang="fr-FR" smtClean="0"/>
              <a:pPr/>
              <a:t>53</a:t>
            </a:fld>
            <a:endParaRPr lang="fr-FR" dirty="0"/>
          </a:p>
        </p:txBody>
      </p:sp>
      <p:pic>
        <p:nvPicPr>
          <p:cNvPr id="11" name="Content Placeholder 10" descr="A graph of different colored bars&#10;&#10;AI-generated content may be incorrect.">
            <a:extLst>
              <a:ext uri="{FF2B5EF4-FFF2-40B4-BE49-F238E27FC236}">
                <a16:creationId xmlns:a16="http://schemas.microsoft.com/office/drawing/2014/main" id="{F60C06C2-DBBE-0DC4-0788-F9A23646111D}"/>
              </a:ext>
            </a:extLst>
          </p:cNvPr>
          <p:cNvPicPr>
            <a:picLocks noGrp="1" noChangeAspect="1"/>
          </p:cNvPicPr>
          <p:nvPr>
            <p:ph sz="half" idx="1"/>
          </p:nvPr>
        </p:nvPicPr>
        <p:blipFill>
          <a:blip r:embed="rId4"/>
          <a:stretch>
            <a:fillRect/>
          </a:stretch>
        </p:blipFill>
        <p:spPr>
          <a:xfrm>
            <a:off x="904875" y="1918460"/>
            <a:ext cx="3671888" cy="2554356"/>
          </a:xfrm>
        </p:spPr>
      </p:pic>
    </p:spTree>
    <p:extLst>
      <p:ext uri="{BB962C8B-B14F-4D97-AF65-F5344CB8AC3E}">
        <p14:creationId xmlns:p14="http://schemas.microsoft.com/office/powerpoint/2010/main" val="361435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randombar(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BFBD-ED45-9E79-ACF3-DFE44F50FFC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D0E7D85-E9D5-8A64-AEA7-9D330B3569BD}"/>
              </a:ext>
            </a:extLst>
          </p:cNvPr>
          <p:cNvSpPr>
            <a:spLocks noGrp="1"/>
          </p:cNvSpPr>
          <p:nvPr>
            <p:ph type="title"/>
          </p:nvPr>
        </p:nvSpPr>
        <p:spPr>
          <a:xfrm>
            <a:off x="904875" y="131032"/>
            <a:ext cx="7726363" cy="1072753"/>
          </a:xfrm>
        </p:spPr>
        <p:txBody>
          <a:bodyPr>
            <a:normAutofit/>
          </a:bodyPr>
          <a:lstStyle/>
          <a:p>
            <a:r>
              <a:rPr lang="en-US" dirty="0"/>
              <a:t>4.2	Results</a:t>
            </a:r>
            <a:br>
              <a:rPr lang="en-US" dirty="0"/>
            </a:br>
            <a:r>
              <a:rPr lang="en-US" sz="2400" b="0" i="1" dirty="0"/>
              <a:t>Performance vs. baselines</a:t>
            </a:r>
            <a:endParaRPr lang="en-GB" sz="2400" b="0" i="1" dirty="0"/>
          </a:p>
        </p:txBody>
      </p:sp>
      <p:sp>
        <p:nvSpPr>
          <p:cNvPr id="5" name="Date Placeholder 4">
            <a:extLst>
              <a:ext uri="{FF2B5EF4-FFF2-40B4-BE49-F238E27FC236}">
                <a16:creationId xmlns:a16="http://schemas.microsoft.com/office/drawing/2014/main" id="{90A60856-E224-14D3-9364-FFE2FDF22AA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779D57-E2F6-1884-03BD-805D5ED6E2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7B9AD69-914F-9EA3-BBCA-70D717E2D48F}"/>
              </a:ext>
            </a:extLst>
          </p:cNvPr>
          <p:cNvSpPr>
            <a:spLocks noGrp="1"/>
          </p:cNvSpPr>
          <p:nvPr>
            <p:ph type="sldNum" sz="quarter" idx="12"/>
          </p:nvPr>
        </p:nvSpPr>
        <p:spPr/>
        <p:txBody>
          <a:bodyPr/>
          <a:lstStyle/>
          <a:p>
            <a:fld id="{E1E1CD7C-2161-7D43-862E-CE4C333CD873}" type="slidenum">
              <a:rPr lang="fr-FR" smtClean="0"/>
              <a:pPr/>
              <a:t>54</a:t>
            </a:fld>
            <a:endParaRPr lang="fr-FR" dirty="0"/>
          </a:p>
        </p:txBody>
      </p:sp>
      <p:pic>
        <p:nvPicPr>
          <p:cNvPr id="9" name="Content Placeholder 8" descr="A table of numbers and symbols&#10;&#10;AI-generated content may be incorrect.">
            <a:extLst>
              <a:ext uri="{FF2B5EF4-FFF2-40B4-BE49-F238E27FC236}">
                <a16:creationId xmlns:a16="http://schemas.microsoft.com/office/drawing/2014/main" id="{7308ABCB-2E51-81E3-9A6D-3640A1080BED}"/>
              </a:ext>
            </a:extLst>
          </p:cNvPr>
          <p:cNvPicPr>
            <a:picLocks noGrp="1" noChangeAspect="1"/>
          </p:cNvPicPr>
          <p:nvPr>
            <p:ph idx="1"/>
          </p:nvPr>
        </p:nvPicPr>
        <p:blipFill>
          <a:blip r:embed="rId3"/>
          <a:stretch>
            <a:fillRect/>
          </a:stretch>
        </p:blipFill>
        <p:spPr>
          <a:xfrm>
            <a:off x="2962912" y="1563688"/>
            <a:ext cx="3610289" cy="3386137"/>
          </a:xfrm>
        </p:spPr>
      </p:pic>
    </p:spTree>
    <p:extLst>
      <p:ext uri="{BB962C8B-B14F-4D97-AF65-F5344CB8AC3E}">
        <p14:creationId xmlns:p14="http://schemas.microsoft.com/office/powerpoint/2010/main" val="1065362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CF50-17C6-7052-A1B6-B30D61FC51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9CDB704-23E2-3AB0-B79B-FCEBE5CC0997}"/>
              </a:ext>
            </a:extLst>
          </p:cNvPr>
          <p:cNvSpPr>
            <a:spLocks noGrp="1"/>
          </p:cNvSpPr>
          <p:nvPr>
            <p:ph type="title"/>
          </p:nvPr>
        </p:nvSpPr>
        <p:spPr>
          <a:xfrm>
            <a:off x="904875" y="131032"/>
            <a:ext cx="7726363" cy="1072753"/>
          </a:xfrm>
        </p:spPr>
        <p:txBody>
          <a:bodyPr>
            <a:normAutofit/>
          </a:bodyPr>
          <a:lstStyle/>
          <a:p>
            <a:r>
              <a:rPr lang="en-US" dirty="0"/>
              <a:t>4.2	Summary</a:t>
            </a:r>
            <a:br>
              <a:rPr lang="en-US" dirty="0"/>
            </a:br>
            <a:endParaRPr lang="en-GB" sz="2400" b="0" i="1" dirty="0"/>
          </a:p>
        </p:txBody>
      </p:sp>
      <p:sp>
        <p:nvSpPr>
          <p:cNvPr id="5" name="Date Placeholder 4">
            <a:extLst>
              <a:ext uri="{FF2B5EF4-FFF2-40B4-BE49-F238E27FC236}">
                <a16:creationId xmlns:a16="http://schemas.microsoft.com/office/drawing/2014/main" id="{788283D4-DD4F-881C-4A62-EFD17C65F15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CAB548-436F-AA04-D4AF-AB29EC54381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FE05411-908A-ED04-1F80-A8F9FA03BC2E}"/>
              </a:ext>
            </a:extLst>
          </p:cNvPr>
          <p:cNvSpPr>
            <a:spLocks noGrp="1"/>
          </p:cNvSpPr>
          <p:nvPr>
            <p:ph type="sldNum" sz="quarter" idx="12"/>
          </p:nvPr>
        </p:nvSpPr>
        <p:spPr/>
        <p:txBody>
          <a:bodyPr/>
          <a:lstStyle/>
          <a:p>
            <a:fld id="{E1E1CD7C-2161-7D43-862E-CE4C333CD873}" type="slidenum">
              <a:rPr lang="fr-FR" smtClean="0"/>
              <a:pPr/>
              <a:t>55</a:t>
            </a:fld>
            <a:endParaRPr lang="fr-FR" dirty="0"/>
          </a:p>
        </p:txBody>
      </p:sp>
      <p:sp>
        <p:nvSpPr>
          <p:cNvPr id="3" name="Content Placeholder 2">
            <a:extLst>
              <a:ext uri="{FF2B5EF4-FFF2-40B4-BE49-F238E27FC236}">
                <a16:creationId xmlns:a16="http://schemas.microsoft.com/office/drawing/2014/main" id="{5510D3B2-39FD-3BC0-011E-3560F919B43D}"/>
              </a:ext>
            </a:extLst>
          </p:cNvPr>
          <p:cNvSpPr>
            <a:spLocks noGrp="1"/>
          </p:cNvSpPr>
          <p:nvPr>
            <p:ph idx="1"/>
          </p:nvPr>
        </p:nvSpPr>
        <p:spPr/>
        <p:txBody>
          <a:bodyPr/>
          <a:lstStyle/>
          <a:p>
            <a:r>
              <a:rPr lang="en-CH" dirty="0">
                <a:latin typeface="+mj-lt"/>
              </a:rPr>
              <a:t>Leveraged inherent modularity in real-world graph data to model and sample from complex distributions of graphs</a:t>
            </a:r>
          </a:p>
          <a:p>
            <a:pPr marL="0" indent="0">
              <a:buNone/>
            </a:pPr>
            <a:endParaRPr lang="en-CH" dirty="0">
              <a:latin typeface="+mj-lt"/>
            </a:endParaRPr>
          </a:p>
          <a:p>
            <a:r>
              <a:rPr lang="en-CH" dirty="0">
                <a:latin typeface="+mj-lt"/>
              </a:rPr>
              <a:t>Mirror image of COINs onto the graph generation domain </a:t>
            </a:r>
            <a:r>
              <a:rPr lang="en-GB" dirty="0">
                <a:latin typeface="+mj-lt"/>
              </a:rPr>
              <a:t>with further generalization</a:t>
            </a:r>
          </a:p>
          <a:p>
            <a:pPr marL="0" indent="0">
              <a:buNone/>
            </a:pPr>
            <a:endParaRPr lang="en-CH" dirty="0">
              <a:latin typeface="+mj-lt"/>
            </a:endParaRPr>
          </a:p>
          <a:p>
            <a:r>
              <a:rPr lang="en-CH" dirty="0">
                <a:latin typeface="+mj-lt"/>
              </a:rPr>
              <a:t>Showed </a:t>
            </a:r>
            <a:r>
              <a:rPr lang="en-GB" dirty="0">
                <a:latin typeface="+mj-lt"/>
              </a:rPr>
              <a:t>promise</a:t>
            </a:r>
            <a:r>
              <a:rPr lang="en-CH" dirty="0">
                <a:latin typeface="+mj-lt"/>
              </a:rPr>
              <a:t> but some effort remains</a:t>
            </a:r>
          </a:p>
          <a:p>
            <a:pPr lvl="1"/>
            <a:r>
              <a:rPr lang="en-CH" dirty="0">
                <a:latin typeface="+mj-lt"/>
              </a:rPr>
              <a:t>Overtaking remaining strong baselines</a:t>
            </a:r>
          </a:p>
          <a:p>
            <a:pPr lvl="1"/>
            <a:r>
              <a:rPr lang="en-CH" dirty="0">
                <a:latin typeface="+mj-lt"/>
              </a:rPr>
              <a:t>Further architecture tuning</a:t>
            </a:r>
          </a:p>
          <a:p>
            <a:pPr lvl="1"/>
            <a:r>
              <a:rPr lang="en-CH" dirty="0">
                <a:latin typeface="+mj-lt"/>
              </a:rPr>
              <a:t>Broader dataset and baseline selection</a:t>
            </a:r>
          </a:p>
        </p:txBody>
      </p:sp>
    </p:spTree>
    <p:extLst>
      <p:ext uri="{BB962C8B-B14F-4D97-AF65-F5344CB8AC3E}">
        <p14:creationId xmlns:p14="http://schemas.microsoft.com/office/powerpoint/2010/main" val="392064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7" dur="500"/>
                                        <p:tgtEl>
                                          <p:spTgt spid="3">
                                            <p:txEl>
                                              <p:pRg st="4" end="4"/>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0" dur="500"/>
                                        <p:tgtEl>
                                          <p:spTgt spid="3">
                                            <p:txEl>
                                              <p:pRg st="5" end="5"/>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3" dur="500"/>
                                        <p:tgtEl>
                                          <p:spTgt spid="3">
                                            <p:txEl>
                                              <p:pRg st="6" end="6"/>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randombar(horizontal)">
                                      <p:cBhvr>
                                        <p:cTn id="26"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56</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57</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266205E9-12FC-4D6C-B0C7-1E9025EEB158}">
  <ds:schemaRefs>
    <ds:schemaRef ds:uri="http://schemas.microsoft.com/sharepoint/v3/contenttype/forms"/>
  </ds:schemaRefs>
</ds:datastoreItem>
</file>

<file path=customXml/itemProps3.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Thème Office</Template>
  <TotalTime>4376</TotalTime>
  <Words>5377</Words>
  <Application>Microsoft Macintosh PowerPoint</Application>
  <PresentationFormat>On-screen Show (16:9)</PresentationFormat>
  <Paragraphs>717</Paragraphs>
  <Slides>57</Slides>
  <Notes>57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57</vt:i4>
      </vt:variant>
    </vt:vector>
  </HeadingPairs>
  <TitlesOfParts>
    <vt:vector size="62" baseType="lpstr">
      <vt:lpstr>Arial</vt:lpstr>
      <vt:lpstr>Cambria Math</vt:lpstr>
      <vt:lpstr>Franklin Gothic Demi Cond</vt:lpstr>
      <vt:lpstr>Wingdings</vt:lpstr>
      <vt:lpstr>Thème Office</vt:lpstr>
      <vt:lpstr> 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Problem &amp; Challenges Setting</vt:lpstr>
      <vt:lpstr>3.1  Problem &amp; Challenges Related work</vt:lpstr>
      <vt:lpstr>3.1 Background Graph theory of Knowledge Graph Reasoning</vt:lpstr>
      <vt:lpstr>3.1 Background Optimization problems of Knowledge Graph Reasoning</vt:lpstr>
      <vt:lpstr>3.1 Background Representation theory of Knowledge Graph Reasoning</vt:lpstr>
      <vt:lpstr>3.1 Contributions Idea</vt:lpstr>
      <vt:lpstr>3.1 Contributions Theory</vt:lpstr>
      <vt:lpstr>3.1 Methodology The COINs architecture</vt:lpstr>
      <vt:lpstr>3.1 Methodology The COINs KG representation process</vt:lpstr>
      <vt:lpstr>3.1 Methodology Algorithm and  properties</vt:lpstr>
      <vt:lpstr>3.1 Methodology Experiments</vt:lpstr>
      <vt:lpstr>3.1 Results Community quality</vt:lpstr>
      <vt:lpstr>3.1 Results Query answering MRR</vt:lpstr>
      <vt:lpstr>3.1 Results Comparison to related work on KG scalability</vt:lpstr>
      <vt:lpstr>3.1 Results Feasibility</vt:lpstr>
      <vt:lpstr>3.1 Summary </vt:lpstr>
      <vt:lpstr>*3.1   Distributed extension Idea</vt:lpstr>
      <vt:lpstr>*3.1   Distributed extension Outcomes</vt:lpstr>
      <vt:lpstr>3.2 Motivation Knowledge Graph Reasoning in Industry</vt:lpstr>
      <vt:lpstr>3.2 Motivation COINs origins</vt:lpstr>
      <vt:lpstr>3.2 Methodology Feature extraction</vt:lpstr>
      <vt:lpstr>3.2 Methodology Statistical comparison</vt:lpstr>
      <vt:lpstr>3.2 Results Swisscom vs. the world</vt:lpstr>
      <vt:lpstr>3.2 Results Re-evaluation on Monty after ablation</vt:lpstr>
      <vt:lpstr>Scalable  Graph Generation</vt:lpstr>
      <vt:lpstr>4.1 Motivation </vt:lpstr>
      <vt:lpstr>4.1 Background Gen AI for graphs</vt:lpstr>
      <vt:lpstr>4.1 Background GG-GAN</vt:lpstr>
      <vt:lpstr>4.1 Background The Chinese Restaurant Process (CRP)</vt:lpstr>
      <vt:lpstr>4.1 Methodology Idea</vt:lpstr>
      <vt:lpstr>4.1 Methodology Community assignment sampling</vt:lpstr>
      <vt:lpstr>4.1 Methodology GGG-CRP  autoregressive process</vt:lpstr>
      <vt:lpstr>4.1 Results Expressivity</vt:lpstr>
      <vt:lpstr>4.1 Results Expressivity</vt:lpstr>
      <vt:lpstr>4.1 Results Novelty</vt:lpstr>
      <vt:lpstr>4.1 Summary </vt:lpstr>
      <vt:lpstr>4.2 Motivation </vt:lpstr>
      <vt:lpstr>4.2 Background Diffusion models</vt:lpstr>
      <vt:lpstr>4.2 Background Hierarchical Graph Diffusion of MRGrad</vt:lpstr>
      <vt:lpstr>4.2 Background Hierarchical Graph Diffusion of MRGrad</vt:lpstr>
      <vt:lpstr>4.2 Contributions Model designs</vt:lpstr>
      <vt:lpstr>4.2 Contributions Theory</vt:lpstr>
      <vt:lpstr>4.2 Results Expressivity</vt:lpstr>
      <vt:lpstr>4.2 Results Real vs. fake graphs</vt:lpstr>
      <vt:lpstr>4.2 Results Ablation</vt:lpstr>
      <vt:lpstr>4.2 Results Performance vs. baselines</vt:lpstr>
      <vt:lpstr>4.2 Summary </vt:lpstr>
      <vt:lpstr>Conclusion</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313</cp:revision>
  <dcterms:created xsi:type="dcterms:W3CDTF">2019-04-02T06:24:35Z</dcterms:created>
  <dcterms:modified xsi:type="dcterms:W3CDTF">2025-10-06T15:53:22Z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