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74"/>
  </p:notesMasterIdLst>
  <p:handoutMasterIdLst>
    <p:handoutMasterId r:id="rId75"/>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13" r:id="rId55"/>
    <p:sldId id="308" r:id="rId56"/>
    <p:sldId id="310" r:id="rId57"/>
    <p:sldId id="311" r:id="rId58"/>
    <p:sldId id="309" r:id="rId59"/>
    <p:sldId id="312" r:id="rId60"/>
    <p:sldId id="314" r:id="rId61"/>
    <p:sldId id="315" r:id="rId62"/>
    <p:sldId id="316" r:id="rId63"/>
    <p:sldId id="317" r:id="rId64"/>
    <p:sldId id="318" r:id="rId65"/>
    <p:sldId id="319" r:id="rId66"/>
    <p:sldId id="320" r:id="rId67"/>
    <p:sldId id="321" r:id="rId68"/>
    <p:sldId id="322" r:id="rId69"/>
    <p:sldId id="323" r:id="rId70"/>
    <p:sldId id="324" r:id="rId71"/>
    <p:sldId id="279" r:id="rId72"/>
    <p:sldId id="274" r:id="rId73"/>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675" autoAdjust="0"/>
    <p:restoredTop sz="74771" autoAdjust="0"/>
  </p:normalViewPr>
  <p:slideViewPr>
    <p:cSldViewPr snapToGrid="0" snapToObjects="1" showGuides="1">
      <p:cViewPr varScale="1">
        <p:scale>
          <a:sx n="109" d="100"/>
          <a:sy n="109" d="100"/>
        </p:scale>
        <p:origin x="2244"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presProps" Target="pres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07.10.2025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07/10/2025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43F20-367F-2FF7-60BC-C6647A996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897444-D8A8-B76E-C90E-DD9CDC9F9F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6F5EB1-BA78-C350-2F1C-8B9D04D5D78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9123F72-FF8E-34A8-CA6B-6E930AAD05D9}"/>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19705397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0.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4.png"/></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9.xml"/><Relationship Id="rId1" Type="http://schemas.openxmlformats.org/officeDocument/2006/relationships/slideLayout" Target="../slideLayouts/slideLayout5.xml"/><Relationship Id="rId4" Type="http://schemas.openxmlformats.org/officeDocument/2006/relationships/image" Target="../media/image5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1.xml"/><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3.xml"/><Relationship Id="rId1" Type="http://schemas.openxmlformats.org/officeDocument/2006/relationships/slideLayout" Target="../slideLayouts/slideLayout5.xml"/><Relationship Id="rId5" Type="http://schemas.openxmlformats.org/officeDocument/2006/relationships/image" Target="../media/image63.png"/><Relationship Id="rId4" Type="http://schemas.openxmlformats.org/officeDocument/2006/relationships/image" Target="../media/image62.png"/></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7.xml"/><Relationship Id="rId1" Type="http://schemas.openxmlformats.org/officeDocument/2006/relationships/slideLayout" Target="../slideLayouts/slideLayout10.xml"/><Relationship Id="rId4" Type="http://schemas.openxmlformats.org/officeDocument/2006/relationships/image" Target="../media/image68.png"/></Relationships>
</file>

<file path=ppt/slides/_rels/slide6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p>
              <a:p>
                <a:endParaRPr lang="en-CH" dirty="0">
                  <a:latin typeface="+mj-lt"/>
                </a:endParaRPr>
              </a:p>
              <a:p>
                <a:pPr lvl="1"/>
                <a:endParaRPr lang="en-CH" dirty="0">
                  <a:latin typeface="+mj-lt"/>
                </a:endParaRPr>
              </a:p>
              <a:p>
                <a:pPr lvl="1"/>
                <a:endParaRPr lang="en-CH" dirty="0">
                  <a:latin typeface="+mj-lt"/>
                </a:endParaRPr>
              </a:p>
              <a:p>
                <a:pPr lvl="1"/>
                <a:endParaRPr lang="en-CH" dirty="0">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t="-2326"/>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Problem &amp; Challenges</a:t>
            </a:r>
            <a:br>
              <a:rPr lang="en-US" dirty="0"/>
            </a:br>
            <a:r>
              <a:rPr lang="en-US" sz="2400" b="0" i="1" dirty="0"/>
              <a:t>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Problem &amp; Challenges</a:t>
            </a:r>
            <a:br>
              <a:rPr lang="en-US"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a:p>
                <a:pPr lvl="1"/>
                <a:endParaRPr lang="en-US"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t="-1802" b="-7748"/>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i="1"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a:p>
                <a:endParaRPr lang="en-GB"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p:txBody>
          <a:bodyPr/>
          <a:lstStyle/>
          <a:p>
            <a:r>
              <a:rPr lang="en-US" dirty="0"/>
              <a:t>3.1	Methodology</a:t>
            </a:r>
            <a:br>
              <a:rPr lang="en-US" dirty="0"/>
            </a:br>
            <a:r>
              <a:rPr lang="en-US" sz="2400" b="0" i="1" dirty="0"/>
              <a:t>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p:txBody>
          <a:bodyPr/>
          <a:lstStyle/>
          <a:p>
            <a:r>
              <a:rPr lang="en-US" dirty="0"/>
              <a:t>3.1	Methodology</a:t>
            </a:r>
            <a:br>
              <a:rPr lang="en-US" dirty="0"/>
            </a:br>
            <a:r>
              <a:rPr lang="en-US" sz="2400" b="0" i="1" dirty="0"/>
              <a:t>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p:txBody>
          <a:bodyPr/>
          <a:lstStyle/>
          <a:p>
            <a:r>
              <a:rPr lang="en-US" dirty="0"/>
              <a:t>3.1	Results</a:t>
            </a:r>
            <a:br>
              <a:rPr lang="en-US" dirty="0"/>
            </a:br>
            <a:r>
              <a:rPr lang="en-US" sz="2400" b="0" i="1" dirty="0"/>
              <a:t>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p:txBody>
          <a:bodyPr/>
          <a:lstStyle/>
          <a:p>
            <a:r>
              <a:rPr lang="en-US" dirty="0"/>
              <a:t>3.1	Results</a:t>
            </a:r>
            <a:br>
              <a:rPr lang="en-US" dirty="0"/>
            </a:br>
            <a:r>
              <a:rPr lang="en-US" sz="2400" b="0" i="1" dirty="0"/>
              <a:t>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Summary</a:t>
            </a:r>
            <a:br>
              <a:rPr lang="en-US" dirty="0"/>
            </a:b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a:p>
                <a:pPr lvl="1"/>
                <a:endParaRPr lang="en-US" dirty="0">
                  <a:latin typeface="+mj-lt"/>
                </a:endParaRPr>
              </a:p>
              <a:p>
                <a:pPr marL="342900" lvl="1" indent="0">
                  <a:buNone/>
                </a:pPr>
                <a:endParaRPr lang="en-US" dirty="0">
                  <a:latin typeface="+mj-lt"/>
                </a:endParaRP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a:p>
            <a:pPr lvl="1"/>
            <a:endParaRPr lang="en-GB" dirty="0">
              <a:latin typeface="+mj-lt"/>
            </a:endParaRP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a:bodyPr>
          <a:lstStyle/>
          <a:p>
            <a:r>
              <a:rPr lang="en-US" dirty="0"/>
              <a:t>3.2	Methodology</a:t>
            </a:r>
            <a:br>
              <a:rPr lang="en-US" dirty="0"/>
            </a:br>
            <a:r>
              <a:rPr lang="en-US" sz="2400" b="0" i="1" dirty="0"/>
              <a:t>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p:txBody>
          <a:bodyPr>
            <a:normAutofit/>
          </a:bodyPr>
          <a:lstStyle/>
          <a:p>
            <a:r>
              <a:rPr lang="en-US" dirty="0"/>
              <a:t>3.2	Methodology</a:t>
            </a:r>
            <a:br>
              <a:rPr lang="en-US" dirty="0"/>
            </a:br>
            <a:r>
              <a:rPr lang="en-US" sz="2400" b="0" i="1" dirty="0"/>
              <a:t>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a:p>
            <a:endParaRPr lang="en-GB" dirty="0">
              <a:latin typeface="+mj-lt"/>
            </a:endParaRP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p:txBody>
          <a:bodyPr>
            <a:normAutofit/>
          </a:bodyPr>
          <a:lstStyle/>
          <a:p>
            <a:r>
              <a:rPr lang="en-US" dirty="0"/>
              <a:t>3.2	Results</a:t>
            </a:r>
            <a:br>
              <a:rPr lang="en-US" dirty="0"/>
            </a:br>
            <a:r>
              <a:rPr lang="en-US" sz="2400" b="0" i="1" dirty="0"/>
              <a:t>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pic>
        <p:nvPicPr>
          <p:cNvPr id="3"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Grp="1" noChangeAspect="1"/>
          </p:cNvPicPr>
          <p:nvPr>
            <p:ph idx="1"/>
          </p:nvPr>
        </p:nvPicPr>
        <p:blipFill>
          <a:blip r:embed="rId3"/>
          <a:stretch>
            <a:fillRect/>
          </a:stretch>
        </p:blipFill>
        <p:spPr>
          <a:xfrm>
            <a:off x="904875" y="1973544"/>
            <a:ext cx="7726363" cy="2566425"/>
          </a:xfrm>
        </p:spPr>
      </p:pic>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a:bodyPr>
          <a:lstStyle/>
          <a:p>
            <a:r>
              <a:rPr lang="en-US" dirty="0"/>
              <a:t>3.2	Results</a:t>
            </a:r>
            <a:br>
              <a:rPr lang="en-US" dirty="0"/>
            </a:br>
            <a:r>
              <a:rPr lang="en-US" sz="2400" b="0" i="1" dirty="0"/>
              <a:t>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a:p>
            <a:pPr lvl="1"/>
            <a:endParaRPr lang="en-US" i="1"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207279" cy="1072753"/>
          </a:xfrm>
        </p:spPr>
        <p:txBody>
          <a:bodyPr/>
          <a:lstStyle/>
          <a:p>
            <a:r>
              <a:rPr lang="en-US" dirty="0"/>
              <a:t>4.1	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a:p>
                <a:pPr marL="342900" lvl="1" indent="0">
                  <a:buNone/>
                </a:pPr>
                <a:endParaRPr lang="en-US" b="0" dirty="0">
                  <a:latin typeface="+mj-lt"/>
                </a:endParaRPr>
              </a:p>
              <a:p>
                <a:pPr lvl="1"/>
                <a:endParaRPr lang="en-US" dirty="0">
                  <a:latin typeface="+mj-lt"/>
                </a:endParaRPr>
              </a:p>
            </p:txBody>
          </p:sp>
        </mc:Choice>
        <mc:Fallback xmlns="">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t="-2247"/>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lstStyle/>
          <a:p>
            <a:r>
              <a:rPr lang="en-US" dirty="0"/>
              <a:t>4.1	Background</a:t>
            </a:r>
            <a:br>
              <a:rPr lang="en-US" dirty="0"/>
            </a:br>
            <a:r>
              <a:rPr lang="en-US" sz="2400" b="0" i="1" dirty="0"/>
              <a:t>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t="-1869"/>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p:txBody>
          <a:bodyPr/>
          <a:lstStyle/>
          <a:p>
            <a:r>
              <a:rPr lang="en-US" dirty="0"/>
              <a:t>4.1	Background</a:t>
            </a:r>
            <a:br>
              <a:rPr lang="en-US" dirty="0"/>
            </a:br>
            <a:r>
              <a:rPr lang="en-US" sz="2400" b="0" i="1" dirty="0"/>
              <a:t>GG-GAN</a:t>
            </a:r>
            <a:endParaRPr lang="en-GB" sz="2400" b="0" i="1" dirty="0"/>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t="-186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lstStyle/>
          <a:p>
            <a:r>
              <a:rPr lang="en-US" dirty="0"/>
              <a:t>4.1	Background</a:t>
            </a:r>
            <a:br>
              <a:rPr lang="en-US" dirty="0"/>
            </a:br>
            <a:r>
              <a:rPr lang="en-US" sz="2400" b="0" i="1" dirty="0"/>
              <a:t>The Chinese Restaurant Process (CRP)</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a:p>
            <a:pPr lvl="1"/>
            <a:endParaRPr lang="en-US" dirty="0">
              <a:latin typeface="+mj-lt"/>
            </a:endParaRP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lstStyle/>
          <a:p>
            <a:r>
              <a:rPr lang="en-US" dirty="0"/>
              <a:t>4.1	Methodology</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a:t>
            </a:r>
          </a:p>
          <a:p>
            <a:r>
              <a:rPr lang="en-US" dirty="0">
                <a:latin typeface="+mj-lt"/>
              </a:rPr>
              <a:t>Weighted integer partition sampling</a:t>
            </a:r>
          </a:p>
          <a:p>
            <a:pPr lvl="1"/>
            <a:r>
              <a:rPr lang="en-US" dirty="0" err="1">
                <a:latin typeface="+mj-lt"/>
              </a:rPr>
              <a:t>Fristedt’s</a:t>
            </a:r>
            <a:r>
              <a:rPr lang="en-US" dirty="0">
                <a:latin typeface="+mj-lt"/>
              </a:rPr>
              <a:t> method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Methodology</a:t>
            </a:r>
            <a:br>
              <a:rPr lang="en-US" dirty="0"/>
            </a:br>
            <a:r>
              <a:rPr lang="en-US" sz="2400" b="0" i="1" dirty="0"/>
              <a:t>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ormAutofit/>
          </a:bodyPr>
          <a:lstStyle/>
          <a:p>
            <a:endParaRPr lang="en-US" dirty="0">
              <a:latin typeface="+mj-lt"/>
            </a:endParaRPr>
          </a:p>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Methodology</a:t>
            </a:r>
            <a:br>
              <a:rPr lang="en-US" dirty="0"/>
            </a:br>
            <a:r>
              <a:rPr lang="en-US" sz="2400" b="0" i="1" dirty="0"/>
              <a:t>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7"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p:txBody>
          <a:bodyPr>
            <a:normAutofit/>
          </a:bodyPr>
          <a:lstStyle/>
          <a:p>
            <a:r>
              <a:rPr lang="en-US" dirty="0"/>
              <a:t>4.1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Results</a:t>
            </a:r>
            <a:br>
              <a:rPr lang="en-US" dirty="0"/>
            </a:br>
            <a:r>
              <a:rPr lang="en-US" sz="2400" b="0" i="1" dirty="0"/>
              <a:t>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t="-1802"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lstStyle/>
          <a:p>
            <a:r>
              <a:rPr lang="en-US" dirty="0"/>
              <a:t>4.1	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with new model designs, theoretical analyses and improve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lstStyle/>
          <a:p>
            <a:r>
              <a:rPr lang="en-US" dirty="0"/>
              <a:t>4.2	Motivation</a:t>
            </a:r>
            <a:br>
              <a:rPr lang="en-US" dirty="0"/>
            </a:b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𝑡</m:t>
                              </m:r>
                            </m:sub>
                          </m:sSub>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a:p>
                <a:pPr marL="0" indent="0">
                  <a:buNone/>
                </a:pPr>
                <a:endParaRPr lang="en-US" i="1" dirty="0">
                  <a:latin typeface="+mj-lt"/>
                </a:endParaRPr>
              </a:p>
              <a:p>
                <a:endParaRPr lang="en-US" i="1" dirty="0">
                  <a:latin typeface="+mj-lt"/>
                </a:endParaRPr>
              </a:p>
            </p:txBody>
          </p:sp>
        </mc:Choice>
        <mc:Fallback xmlns="">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t="-1498" r="-657" b="-3371"/>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lstStyle/>
          <a:p>
            <a:r>
              <a:rPr lang="en-US" dirty="0"/>
              <a:t>4.2	Background</a:t>
            </a:r>
            <a:br>
              <a:rPr lang="en-US" dirty="0"/>
            </a:br>
            <a:r>
              <a:rPr lang="en-US" sz="2400" b="0" i="1" dirty="0"/>
              <a:t>Diffusion models</a:t>
            </a:r>
            <a:endParaRPr lang="en-GB" sz="2400" b="0" i="1" dirty="0"/>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ormAutofit fontScale="62500" lnSpcReduction="20000"/>
              </a:bodyPr>
              <a:lstStyle/>
              <a:p>
                <a:r>
                  <a:rPr lang="en-US" sz="2100" dirty="0">
                    <a:latin typeface="+mj-lt"/>
                  </a:rPr>
                  <a:t>Discrete diffusion process of </a:t>
                </a:r>
                <a:r>
                  <a:rPr lang="en-US" sz="2100" dirty="0" err="1">
                    <a:latin typeface="+mj-lt"/>
                  </a:rPr>
                  <a:t>DiGress</a:t>
                </a:r>
                <a:endParaRPr lang="en-US" sz="2100" dirty="0">
                  <a:latin typeface="+mj-lt"/>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a:p>
                <a:r>
                  <a:rPr lang="en-US" sz="2100" dirty="0">
                    <a:latin typeface="+mj-lt"/>
                  </a:rPr>
                  <a:t>Bayes’ rule</a:t>
                </a:r>
              </a:p>
              <a:p>
                <a:pPr marL="0" indent="0">
                  <a:buNone/>
                </a:pPr>
                <a14:m>
                  <m:oMathPara xmlns:m="http://schemas.openxmlformats.org/officeDocument/2006/math">
                    <m:oMathParaPr>
                      <m:jc m:val="centerGroup"/>
                    </m:oMathParaPr>
                    <m:oMath xmlns:m="http://schemas.openxmlformats.org/officeDocument/2006/math">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𝐺</m:t>
                          </m:r>
                        </m:e>
                      </m:d>
                      <m:r>
                        <a:rPr lang="en-US" sz="2100" b="0" i="1" smtClean="0">
                          <a:latin typeface="Cambria Math" panose="02040503050406030204" pitchFamily="18" charset="0"/>
                        </a:rPr>
                        <m:t>=</m:t>
                      </m:r>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𝐿</m:t>
                                  </m:r>
                                </m:e>
                              </m:d>
                            </m:sup>
                          </m:sSup>
                        </m:e>
                      </m:d>
                      <m:nary>
                        <m:naryPr>
                          <m:chr m:val="∏"/>
                          <m:ctrlPr>
                            <a:rPr lang="en-US" sz="2100" b="0" i="1" smtClean="0">
                              <a:latin typeface="Cambria Math" panose="02040503050406030204" pitchFamily="18" charset="0"/>
                            </a:rPr>
                          </m:ctrlPr>
                        </m:naryPr>
                        <m:sub>
                          <m:r>
                            <a:rPr lang="en-US" sz="2100" b="0" i="1" smtClean="0">
                              <a:latin typeface="Cambria Math" panose="02040503050406030204" pitchFamily="18" charset="0"/>
                            </a:rPr>
                            <m:t>𝑙</m:t>
                          </m:r>
                          <m:r>
                            <a:rPr lang="en-US" sz="2100" b="0" i="1" smtClean="0">
                              <a:latin typeface="Cambria Math" panose="02040503050406030204" pitchFamily="18" charset="0"/>
                            </a:rPr>
                            <m:t>=1</m:t>
                          </m:r>
                        </m:sub>
                        <m:sup>
                          <m:r>
                            <a:rPr lang="en-US" sz="2100" b="0" i="1" smtClean="0">
                              <a:latin typeface="Cambria Math" panose="02040503050406030204" pitchFamily="18" charset="0"/>
                            </a:rPr>
                            <m:t>𝐿</m:t>
                          </m:r>
                          <m:r>
                            <a:rPr lang="en-US" sz="2100" b="0" i="1" smtClean="0">
                              <a:latin typeface="Cambria Math" panose="02040503050406030204" pitchFamily="18" charset="0"/>
                            </a:rPr>
                            <m:t>−1</m:t>
                          </m:r>
                        </m:sup>
                        <m:e>
                          <m:r>
                            <a:rPr lang="en-US" sz="2100" b="0" i="1" smtClean="0">
                              <a:latin typeface="Cambria Math" panose="02040503050406030204" pitchFamily="18" charset="0"/>
                            </a:rPr>
                            <m:t>ℙ</m:t>
                          </m:r>
                          <m:d>
                            <m:dPr>
                              <m:sepChr m:val="∣"/>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e>
                                  </m:d>
                                </m:sup>
                              </m:sSup>
                            </m:e>
                            <m:e>
                              <m:sSup>
                                <m:sSupPr>
                                  <m:ctrlPr>
                                    <a:rPr lang="en-US" sz="2100" b="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b="0" i="1" smtClean="0">
                                          <a:latin typeface="Cambria Math" panose="02040503050406030204" pitchFamily="18" charset="0"/>
                                        </a:rPr>
                                        <m:t>+1</m:t>
                                      </m:r>
                                    </m:e>
                                  </m:d>
                                </m:sup>
                              </m:sSup>
                            </m:e>
                          </m:d>
                        </m:e>
                      </m:nary>
                      <m:r>
                        <a:rPr lang="en-US" sz="2100" b="0" i="1" smtClean="0">
                          <a:latin typeface="Cambria Math" panose="02040503050406030204" pitchFamily="18" charset="0"/>
                        </a:rPr>
                        <m:t>=</m:t>
                      </m:r>
                      <m:r>
                        <a:rPr lang="en-US" sz="2100" i="1">
                          <a:latin typeface="Cambria Math" panose="02040503050406030204" pitchFamily="18" charset="0"/>
                        </a:rPr>
                        <m:t>ℙ</m:t>
                      </m:r>
                      <m:d>
                        <m:dPr>
                          <m:ctrlPr>
                            <a:rPr lang="en-US" sz="2100" i="1">
                              <a:latin typeface="Cambria Math" panose="02040503050406030204" pitchFamily="18" charset="0"/>
                            </a:rPr>
                          </m:ctrlPr>
                        </m:d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𝐺</m:t>
                              </m:r>
                            </m:e>
                            <m:sub>
                              <m:r>
                                <a:rPr lang="en-US" sz="2100" b="0" i="1" smtClean="0">
                                  <a:latin typeface="Cambria Math" panose="02040503050406030204" pitchFamily="18" charset="0"/>
                                </a:rPr>
                                <m:t>𝑅</m:t>
                              </m:r>
                            </m:sub>
                          </m:sSub>
                        </m:e>
                      </m:d>
                      <m:nary>
                        <m:naryPr>
                          <m:chr m:val="∏"/>
                          <m:ctrlPr>
                            <a:rPr lang="en-US" sz="2100" i="1">
                              <a:latin typeface="Cambria Math" panose="02040503050406030204" pitchFamily="18" charset="0"/>
                            </a:rPr>
                          </m:ctrlPr>
                        </m:naryPr>
                        <m:sub>
                          <m:r>
                            <a:rPr lang="en-US" sz="2100" i="1">
                              <a:latin typeface="Cambria Math" panose="02040503050406030204" pitchFamily="18" charset="0"/>
                            </a:rPr>
                            <m:t>𝑙</m:t>
                          </m:r>
                          <m:r>
                            <a:rPr lang="en-US" sz="2100" i="1">
                              <a:latin typeface="Cambria Math" panose="02040503050406030204" pitchFamily="18" charset="0"/>
                            </a:rPr>
                            <m:t>=1</m:t>
                          </m:r>
                        </m:sub>
                        <m:sup>
                          <m:r>
                            <a:rPr lang="en-US" sz="2100" i="1">
                              <a:latin typeface="Cambria Math" panose="02040503050406030204" pitchFamily="18" charset="0"/>
                            </a:rPr>
                            <m:t>𝐿</m:t>
                          </m:r>
                          <m:r>
                            <a:rPr lang="en-US" sz="2100" i="1">
                              <a:latin typeface="Cambria Math" panose="02040503050406030204" pitchFamily="18" charset="0"/>
                            </a:rPr>
                            <m:t>−1</m:t>
                          </m:r>
                        </m:sup>
                        <m:e>
                          <m:nary>
                            <m:naryPr>
                              <m:chr m:val="∏"/>
                              <m:ctrlPr>
                                <a:rPr lang="en-US" sz="2100" i="1">
                                  <a:latin typeface="Cambria Math" panose="02040503050406030204" pitchFamily="18" charset="0"/>
                                </a:rPr>
                              </m:ctrlPr>
                            </m:naryPr>
                            <m:sub>
                              <m:r>
                                <a:rPr lang="en-US" sz="2100" b="0" i="1" smtClean="0">
                                  <a:latin typeface="Cambria Math" panose="02040503050406030204" pitchFamily="18" charset="0"/>
                                </a:rPr>
                                <m:t>𝑘</m:t>
                              </m:r>
                              <m:r>
                                <a:rPr lang="en-US" sz="2100" i="1">
                                  <a:latin typeface="Cambria Math" panose="02040503050406030204" pitchFamily="18" charset="0"/>
                                </a:rPr>
                                <m:t>=1</m:t>
                              </m:r>
                            </m:sub>
                            <m:sup>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𝑛</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r>
                                        <a:rPr lang="en-US" sz="2100" b="0" i="1" smtClean="0">
                                          <a:latin typeface="Cambria Math" panose="02040503050406030204" pitchFamily="18" charset="0"/>
                                        </a:rPr>
                                        <m:t>+1</m:t>
                                      </m:r>
                                    </m:e>
                                  </m:d>
                                </m:sup>
                              </m:sSup>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𝐶</m:t>
                                          </m:r>
                                        </m:e>
                                        <m:sub>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e>
                      </m:nary>
                      <m:nary>
                        <m:naryPr>
                          <m:chr m:val="∏"/>
                          <m:supHide m:val="on"/>
                          <m:ctrlPr>
                            <a:rPr lang="en-US" sz="2100" i="1">
                              <a:latin typeface="Cambria Math" panose="02040503050406030204" pitchFamily="18" charset="0"/>
                            </a:rPr>
                          </m:ctrlPr>
                        </m:naryPr>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𝐵</m:t>
                                      </m:r>
                                    </m:e>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oMath>
                  </m:oMathPara>
                </a14:m>
                <a:endParaRPr lang="en-US" dirty="0">
                  <a:latin typeface="+mj-lt"/>
                </a:endParaRPr>
              </a:p>
              <a:p>
                <a:endParaRPr lang="en-US" dirty="0">
                  <a:latin typeface="+mj-lt"/>
                </a:endParaRPr>
              </a:p>
              <a:p>
                <a:endParaRPr lang="en-US" dirty="0">
                  <a:latin typeface="+mj-lt"/>
                </a:endParaRPr>
              </a:p>
              <a:p>
                <a:endParaRPr lang="en-US" i="1" dirty="0">
                  <a:latin typeface="+mj-lt"/>
                </a:endParaRPr>
              </a:p>
            </p:txBody>
          </p:sp>
        </mc:Choice>
        <mc:Fallback>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lstStyle/>
          <a:p>
            <a:r>
              <a:rPr lang="en-US" dirty="0"/>
              <a:t>4.2	Background</a:t>
            </a:r>
            <a:br>
              <a:rPr lang="en-US" dirty="0"/>
            </a:br>
            <a:r>
              <a:rPr lang="en-US" sz="2400" b="0" i="1" dirty="0"/>
              <a:t>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979759" y="1563688"/>
            <a:ext cx="3522119" cy="3263900"/>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5226641" y="1563688"/>
            <a:ext cx="3137306" cy="3263900"/>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Background</a:t>
            </a:r>
            <a:br>
              <a:rPr lang="en-US" dirty="0"/>
            </a:br>
            <a:r>
              <a:rPr lang="en-US" sz="2400" b="0" i="1" dirty="0"/>
              <a:t>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t="-1498"/>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lstStyle/>
          <a:p>
            <a:r>
              <a:rPr lang="en-US" dirty="0"/>
              <a:t>4.2	Contributions</a:t>
            </a:r>
            <a:br>
              <a:rPr lang="en-US" dirty="0"/>
            </a:br>
            <a:r>
              <a:rPr lang="en-US" sz="2400" b="0" i="1" dirty="0"/>
              <a:t>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4" dur="500"/>
                                        <p:tgtEl>
                                          <p:spTgt spid="9">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27" dur="500"/>
                                        <p:tgtEl>
                                          <p:spTgt spid="9">
                                            <p:txEl>
                                              <p:pRg st="7" end="7"/>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0"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t="-1498"/>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lstStyle/>
          <a:p>
            <a:r>
              <a:rPr lang="en-US" dirty="0"/>
              <a:t>4.2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p:txBody>
          <a:bodyPr>
            <a:normAutofit/>
          </a:bodyPr>
          <a:lstStyle/>
          <a:p>
            <a:r>
              <a:rPr lang="en-US" dirty="0"/>
              <a:t>4.2	Results</a:t>
            </a:r>
            <a:br>
              <a:rPr lang="en-US" dirty="0"/>
            </a:br>
            <a:r>
              <a:rPr lang="en-US" sz="2400" b="0" i="1" dirty="0"/>
              <a:t>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1032"/>
            <a:ext cx="7726363" cy="1072753"/>
          </a:xfrm>
        </p:spPr>
        <p:txBody>
          <a:bodyPr>
            <a:normAutofit/>
          </a:bodyPr>
          <a:lstStyle/>
          <a:p>
            <a:r>
              <a:rPr lang="en-US" dirty="0"/>
              <a:t>4.2	Summary</a:t>
            </a:r>
            <a:br>
              <a:rPr lang="en-US" dirty="0"/>
            </a:b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lstStyle/>
          <a:p>
            <a:r>
              <a:rPr lang="en-CH" dirty="0">
                <a:latin typeface="+mj-lt"/>
              </a:rPr>
              <a:t>Leveraged inherent modularity in real-world graph data to model and sample from complex distributions of graphs</a:t>
            </a:r>
          </a:p>
          <a:p>
            <a:pPr marL="0" indent="0">
              <a:buNone/>
            </a:pPr>
            <a:endParaRPr lang="en-CH" dirty="0">
              <a:latin typeface="+mj-lt"/>
            </a:endParaRPr>
          </a:p>
          <a:p>
            <a:r>
              <a:rPr lang="en-CH" dirty="0">
                <a:latin typeface="+mj-lt"/>
              </a:rPr>
              <a:t>Mirror image of COINs onto the graph generation domain </a:t>
            </a:r>
            <a:r>
              <a:rPr lang="en-GB" dirty="0">
                <a:latin typeface="+mj-lt"/>
              </a:rPr>
              <a:t>with further generalization</a:t>
            </a:r>
          </a:p>
          <a:p>
            <a:pPr marL="0" indent="0">
              <a:buNone/>
            </a:pP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7" dur="500"/>
                                        <p:tgtEl>
                                          <p:spTgt spid="3">
                                            <p:txEl>
                                              <p:pRg st="4" end="4"/>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0" dur="500"/>
                                        <p:tgtEl>
                                          <p:spTgt spid="3">
                                            <p:txEl>
                                              <p:pRg st="5" end="5"/>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3" dur="500"/>
                                        <p:tgtEl>
                                          <p:spTgt spid="3">
                                            <p:txEl>
                                              <p:pRg st="6" end="6"/>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6"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rmAutofit/>
          </a:bodyPr>
          <a:lstStyle/>
          <a:p>
            <a:r>
              <a:rPr lang="en-US" dirty="0"/>
              <a:t>4.3	Motivation</a:t>
            </a:r>
            <a:br>
              <a:rPr lang="en-US" dirty="0"/>
            </a:b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pPr marL="342900" lvl="1" indent="0">
                  <a:buNone/>
                </a:pPr>
                <a:endParaRPr lang="en-US" dirty="0">
                  <a:latin typeface="+mj-lt"/>
                </a:endParaRP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a:p>
                <a:pPr lvl="1"/>
                <a:endParaRPr lang="en-US" dirty="0">
                  <a:latin typeface="+mj-lt"/>
                </a:endParaRPr>
              </a:p>
              <a:p>
                <a:pPr lvl="1"/>
                <a:endParaRPr lang="en-CH" dirty="0">
                  <a:latin typeface="+mj-lt"/>
                </a:endParaRPr>
              </a:p>
            </p:txBody>
          </p:sp>
        </mc:Choice>
        <mc:Fallback>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1" dur="500"/>
                                        <p:tgtEl>
                                          <p:spTgt spid="3">
                                            <p:txEl>
                                              <p:pRg st="5" end="5"/>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4" dur="500"/>
                                        <p:tgtEl>
                                          <p:spTgt spid="3">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7" dur="500"/>
                                        <p:tgtEl>
                                          <p:spTgt spid="3">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A1BAB-BD0D-EE8F-B2F2-744E429923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15B0C1-A480-DB83-7ABF-15945C62B71C}"/>
              </a:ext>
            </a:extLst>
          </p:cNvPr>
          <p:cNvSpPr>
            <a:spLocks noGrp="1"/>
          </p:cNvSpPr>
          <p:nvPr>
            <p:ph type="title"/>
          </p:nvPr>
        </p:nvSpPr>
        <p:spPr>
          <a:xfrm>
            <a:off x="904875" y="131032"/>
            <a:ext cx="7726363" cy="1072753"/>
          </a:xfrm>
        </p:spPr>
        <p:txBody>
          <a:bodyPr>
            <a:normAutofit/>
          </a:bodyPr>
          <a:lstStyle/>
          <a:p>
            <a:r>
              <a:rPr lang="en-US" dirty="0"/>
              <a:t>4.3	Motivation</a:t>
            </a:r>
            <a:br>
              <a:rPr lang="en-US" dirty="0"/>
            </a:br>
            <a:endParaRPr lang="en-GB" sz="2400" b="0" i="1" dirty="0"/>
          </a:p>
        </p:txBody>
      </p:sp>
      <p:sp>
        <p:nvSpPr>
          <p:cNvPr id="5" name="Date Placeholder 4">
            <a:extLst>
              <a:ext uri="{FF2B5EF4-FFF2-40B4-BE49-F238E27FC236}">
                <a16:creationId xmlns:a16="http://schemas.microsoft.com/office/drawing/2014/main" id="{B6D95FE9-AED8-9046-6286-BA3277DDB3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BE1C3B-16CE-C2D5-00A7-B6ED5AA3E4B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817F858-3A22-0296-D828-20B025E1D30F}"/>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6777409-1072-7AD2-605D-ED5B5DEA53CA}"/>
                  </a:ext>
                </a:extLst>
              </p:cNvPr>
              <p:cNvSpPr>
                <a:spLocks noGrp="1"/>
              </p:cNvSpPr>
              <p:nvPr>
                <p:ph idx="1"/>
              </p:nvPr>
            </p:nvSpPr>
            <p:spPr/>
            <p:txBody>
              <a:bodyP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pPr marL="342900" lvl="1" indent="0">
                  <a:buNone/>
                </a:pPr>
                <a:endParaRPr lang="en-US" dirty="0">
                  <a:latin typeface="+mj-lt"/>
                </a:endParaRP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a:p>
                <a:pPr lvl="1"/>
                <a:endParaRPr lang="en-US" dirty="0">
                  <a:latin typeface="+mj-lt"/>
                </a:endParaRPr>
              </a:p>
              <a:p>
                <a:pPr lvl="1"/>
                <a:endParaRPr lang="en-CH" dirty="0">
                  <a:latin typeface="+mj-lt"/>
                </a:endParaRPr>
              </a:p>
            </p:txBody>
          </p:sp>
        </mc:Choice>
        <mc:Fallback>
          <p:sp>
            <p:nvSpPr>
              <p:cNvPr id="3" name="Content Placeholder 2">
                <a:extLst>
                  <a:ext uri="{FF2B5EF4-FFF2-40B4-BE49-F238E27FC236}">
                    <a16:creationId xmlns:a16="http://schemas.microsoft.com/office/drawing/2014/main" id="{26777409-1072-7AD2-605D-ED5B5DEA53C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38371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1" dur="500"/>
                                        <p:tgtEl>
                                          <p:spTgt spid="3">
                                            <p:txEl>
                                              <p:pRg st="5" end="5"/>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4" dur="500"/>
                                        <p:tgtEl>
                                          <p:spTgt spid="3">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7" dur="500"/>
                                        <p:tgtEl>
                                          <p:spTgt spid="3">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Background</a:t>
            </a:r>
            <a:br>
              <a:rPr lang="en-US" dirty="0"/>
            </a:br>
            <a:r>
              <a:rPr lang="en-US" sz="2400" b="0" i="1" dirty="0"/>
              <a:t>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59</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a:p>
                <a:pPr lvl="1"/>
                <a:endParaRPr lang="en-CH" dirty="0">
                  <a:latin typeface="+mj-lt"/>
                </a:endParaRPr>
              </a:p>
            </p:txBody>
          </p:sp>
        </mc:Choice>
        <mc:Fallback>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3150" b="-1575"/>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Background</a:t>
            </a:r>
            <a:br>
              <a:rPr lang="en-US" dirty="0"/>
            </a:br>
            <a:r>
              <a:rPr lang="en-US" sz="2400" b="0" i="1" dirty="0"/>
              <a:t>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lstStyle/>
          <a:p>
            <a:r>
              <a:rPr lang="en-US" b="0" dirty="0">
                <a:latin typeface="+mj-lt"/>
              </a:rPr>
              <a:t>A collection of generations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pPr marL="342900" lvl="1" indent="0">
              <a:buNone/>
            </a:pPr>
            <a:endParaRPr lang="en-US" b="0" dirty="0">
              <a:latin typeface="+mj-lt"/>
            </a:endParaRP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a:p>
            <a:pPr lvl="1"/>
            <a:endParaRPr lang="en-US" b="0" dirty="0">
              <a:latin typeface="+mj-lt"/>
            </a:endParaRP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8" dur="500"/>
                                        <p:tgtEl>
                                          <p:spTgt spid="3">
                                            <p:txEl>
                                              <p:pRg st="4" end="4"/>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1" dur="500"/>
                                        <p:tgtEl>
                                          <p:spTgt spid="3">
                                            <p:txEl>
                                              <p:pRg st="5" end="5"/>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4" dur="500"/>
                                        <p:tgtEl>
                                          <p:spTgt spid="3">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7" dur="500"/>
                                        <p:tgtEl>
                                          <p:spTgt spid="3">
                                            <p:txEl>
                                              <p:pRg st="7" end="7"/>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0"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sz="half" idx="1"/>
          </p:nvPr>
        </p:nvSpPr>
        <p:spPr>
          <a:xfrm>
            <a:off x="904875" y="1563688"/>
            <a:ext cx="4221040" cy="3263504"/>
          </a:xfrm>
        </p:spPr>
        <p:txBody>
          <a:bodyPr>
            <a:normAutofit fontScale="92500" lnSpcReduction="10000"/>
          </a:bodyPr>
          <a:lstStyle/>
          <a:p>
            <a:r>
              <a:rPr lang="en-US" b="0" dirty="0">
                <a:latin typeface="+mj-lt"/>
              </a:rPr>
              <a:t>Related work - multi-measurements + proximal sampling</a:t>
            </a:r>
          </a:p>
          <a:p>
            <a:r>
              <a:rPr lang="en-US" dirty="0">
                <a:latin typeface="+mj-lt"/>
              </a:rPr>
              <a:t>Multi-measurements of Saremi et al.</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a:t>
            </a:r>
          </a:p>
          <a:p>
            <a:pPr lvl="1"/>
            <a:r>
              <a:rPr lang="en-US" dirty="0">
                <a:latin typeface="+mj-lt"/>
              </a:rPr>
              <a:t>Reducing the difficulty of sampling at high noise levels</a:t>
            </a:r>
          </a:p>
          <a:p>
            <a:pPr lvl="1"/>
            <a:r>
              <a:rPr lang="en-US" b="0" i="1" dirty="0">
                <a:latin typeface="+mj-lt"/>
              </a:rPr>
              <a:t>Heuristics</a:t>
            </a:r>
          </a:p>
          <a:p>
            <a:r>
              <a:rPr lang="en-US" dirty="0">
                <a:latin typeface="+mj-lt"/>
              </a:rPr>
              <a:t>The </a:t>
            </a:r>
            <a:r>
              <a:rPr lang="en-US" dirty="0" err="1">
                <a:latin typeface="+mj-lt"/>
              </a:rPr>
              <a:t>MultiProx</a:t>
            </a:r>
            <a:r>
              <a:rPr lang="en-US" dirty="0">
                <a:latin typeface="+mj-lt"/>
              </a:rPr>
              <a:t> sampler</a:t>
            </a:r>
          </a:p>
          <a:p>
            <a:pPr lvl="1"/>
            <a:r>
              <a:rPr lang="en-US" dirty="0">
                <a:latin typeface="+mj-lt"/>
              </a:rPr>
              <a:t>Theoretically fully log-concave</a:t>
            </a:r>
          </a:p>
          <a:p>
            <a:pPr lvl="1"/>
            <a:r>
              <a:rPr lang="en-US" i="1" dirty="0">
                <a:latin typeface="+mj-lt"/>
              </a:rPr>
              <a:t>Gibbs sampling</a:t>
            </a:r>
          </a:p>
          <a:p>
            <a:pPr lvl="1"/>
            <a:endParaRPr lang="en-US" b="0" dirty="0">
              <a:latin typeface="+mj-lt"/>
            </a:endParaRPr>
          </a:p>
        </p:txBody>
      </p:sp>
      <p:pic>
        <p:nvPicPr>
          <p:cNvPr id="10" name="Content Placeholder 9" descr="A screenshot of a computer program&#10;&#10;AI-generated content may be incorrect.">
            <a:extLst>
              <a:ext uri="{FF2B5EF4-FFF2-40B4-BE49-F238E27FC236}">
                <a16:creationId xmlns:a16="http://schemas.microsoft.com/office/drawing/2014/main" id="{6FF9799D-27E1-D18B-86D5-F263E4873CE3}"/>
              </a:ext>
            </a:extLst>
          </p:cNvPr>
          <p:cNvPicPr>
            <a:picLocks noGrp="1" noChangeAspect="1"/>
          </p:cNvPicPr>
          <p:nvPr>
            <p:ph sz="half" idx="2"/>
          </p:nvPr>
        </p:nvPicPr>
        <p:blipFill>
          <a:blip r:embed="rId3"/>
          <a:stretch>
            <a:fillRect/>
          </a:stretch>
        </p:blipFill>
        <p:spPr>
          <a:xfrm>
            <a:off x="4959350" y="2222894"/>
            <a:ext cx="3671888" cy="1945487"/>
          </a:xfrm>
        </p:spPr>
      </p:pic>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The </a:t>
            </a:r>
            <a:r>
              <a:rPr lang="en-US" dirty="0" err="1"/>
              <a:t>MultiProx</a:t>
            </a:r>
            <a:r>
              <a:rPr lang="en-US" dirty="0"/>
              <a:t> sampler</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4" presetClass="entr" presetSubtype="1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4" dur="500"/>
                                        <p:tgtEl>
                                          <p:spTgt spid="3">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7" dur="500"/>
                                        <p:tgtEl>
                                          <p:spTgt spid="3">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randombar(horizontal)">
                                      <p:cBhvr>
                                        <p:cTn id="40" dur="500"/>
                                        <p:tgtEl>
                                          <p:spTgt spid="3">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randombar(horizontal)">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The </a:t>
            </a:r>
            <a:r>
              <a:rPr lang="en-US" dirty="0" err="1"/>
              <a:t>MultiProx</a:t>
            </a:r>
            <a:r>
              <a:rPr lang="en-US" dirty="0"/>
              <a:t> sampler</a:t>
            </a:r>
            <a:br>
              <a:rPr lang="en-US" dirty="0"/>
            </a:br>
            <a:r>
              <a:rPr lang="en-US" sz="2400" b="0" i="1" dirty="0"/>
              <a:t>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62</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Results</a:t>
            </a:r>
            <a:br>
              <a:rPr lang="en-US" dirty="0"/>
            </a:br>
            <a:r>
              <a:rPr lang="en-US" sz="2400" b="0" i="1" dirty="0"/>
              <a:t>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63</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Results</a:t>
            </a:r>
            <a:br>
              <a:rPr lang="en-US" dirty="0"/>
            </a:br>
            <a:r>
              <a:rPr lang="en-US" sz="2400" b="0" i="1" dirty="0"/>
              <a:t>Graphs - QM9 with Gaussian </a:t>
            </a:r>
            <a:r>
              <a:rPr lang="en-US" sz="2400" b="0" i="1" dirty="0" err="1"/>
              <a:t>DiGress</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64</a:t>
            </a:fld>
            <a:endParaRPr lang="fr-FR" dirty="0"/>
          </a:p>
        </p:txBody>
      </p:sp>
      <p:sp>
        <p:nvSpPr>
          <p:cNvPr id="3" name="Content Placeholder 2">
            <a:extLst>
              <a:ext uri="{FF2B5EF4-FFF2-40B4-BE49-F238E27FC236}">
                <a16:creationId xmlns:a16="http://schemas.microsoft.com/office/drawing/2014/main" id="{36B70827-C777-361B-FC5C-279A21FA0CE6}"/>
              </a:ext>
            </a:extLst>
          </p:cNvPr>
          <p:cNvSpPr>
            <a:spLocks noGrp="1"/>
          </p:cNvSpPr>
          <p:nvPr>
            <p:ph idx="1"/>
          </p:nvPr>
        </p:nvSpPr>
        <p:spPr>
          <a:xfrm>
            <a:off x="904875" y="3068514"/>
            <a:ext cx="7726363" cy="1881945"/>
          </a:xfrm>
        </p:spPr>
        <p:txBody>
          <a:bodyP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pic>
        <p:nvPicPr>
          <p:cNvPr id="18" name="Picture 17" descr="A group of small black and red symbols&#10;&#10;AI-generated content may be incorrect.">
            <a:extLst>
              <a:ext uri="{FF2B5EF4-FFF2-40B4-BE49-F238E27FC236}">
                <a16:creationId xmlns:a16="http://schemas.microsoft.com/office/drawing/2014/main" id="{36FC7E3C-715E-4733-D618-C74D022A1C61}"/>
              </a:ext>
            </a:extLst>
          </p:cNvPr>
          <p:cNvPicPr>
            <a:picLocks noChangeAspect="1"/>
          </p:cNvPicPr>
          <p:nvPr/>
        </p:nvPicPr>
        <p:blipFill>
          <a:blip r:embed="rId3"/>
          <a:stretch>
            <a:fillRect/>
          </a:stretch>
        </p:blipFill>
        <p:spPr>
          <a:xfrm>
            <a:off x="1339056" y="910006"/>
            <a:ext cx="6858000" cy="2057400"/>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randombar(horizontal)">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randombar(horizontal)">
                                      <p:cBhvr>
                                        <p:cTn id="12" dur="500"/>
                                        <p:tgtEl>
                                          <p:spTgt spid="3">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5" dur="500"/>
                                        <p:tgtEl>
                                          <p:spTgt spid="3">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8" dur="500"/>
                                        <p:tgtEl>
                                          <p:spTgt spid="3">
                                            <p:txEl>
                                              <p:pRg st="2" end="2"/>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a:bodyPr>
          <a:lstStyle/>
          <a:p>
            <a:r>
              <a:rPr lang="en-US" dirty="0"/>
              <a:t>*4.3   The </a:t>
            </a:r>
            <a:r>
              <a:rPr lang="en-US" dirty="0" err="1"/>
              <a:t>MultiProxAn</a:t>
            </a:r>
            <a:r>
              <a:rPr lang="en-US"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Results</a:t>
            </a:r>
            <a:br>
              <a:rPr lang="en-US" dirty="0"/>
            </a:br>
            <a:r>
              <a:rPr lang="en-US" sz="2400" b="0" i="1" dirty="0"/>
              <a:t>Graphs - QM9 with Gaussian </a:t>
            </a:r>
            <a:r>
              <a:rPr lang="en-US" sz="2400" b="0" i="1" dirty="0" err="1"/>
              <a:t>DiGress</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66</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lstStyle/>
              <a:p>
                <a:endParaRPr lang="en-US" dirty="0">
                  <a:latin typeface="+mj-lt"/>
                </a:endParaRPr>
              </a:p>
              <a:p>
                <a:endParaRPr lang="en-US" dirty="0">
                  <a:latin typeface="+mj-lt"/>
                </a:endParaRPr>
              </a:p>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Results</a:t>
            </a:r>
            <a:br>
              <a:rPr lang="en-US" dirty="0"/>
            </a:br>
            <a:r>
              <a:rPr lang="en-US" sz="2400" b="0" i="1" dirty="0"/>
              <a:t>Graphs - QM9 with Gaussian </a:t>
            </a:r>
            <a:r>
              <a:rPr lang="en-US" sz="2400" b="0" i="1" dirty="0" err="1"/>
              <a:t>DiGress</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2" dur="500"/>
                                        <p:tgtEl>
                                          <p:spTgt spid="9">
                                            <p:txEl>
                                              <p:pRg st="2" end="2"/>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5" dur="500"/>
                                        <p:tgtEl>
                                          <p:spTgt spid="9">
                                            <p:txEl>
                                              <p:pRg st="3" end="3"/>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8"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68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69</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2.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4557</TotalTime>
  <Words>6195</Words>
  <Application>Microsoft Office PowerPoint</Application>
  <PresentationFormat>On-screen Show (16:9)</PresentationFormat>
  <Paragraphs>828</Paragraphs>
  <Slides>69</Slides>
  <Notes>69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Problem &amp; Challenges Setting</vt:lpstr>
      <vt:lpstr>3.1  Problem &amp; Challenges Related work</vt:lpstr>
      <vt:lpstr>3.1 Background Graph theory of Knowledge Graph Reasoning</vt:lpstr>
      <vt:lpstr>3.1 Background Optimization problems of Knowledge Graph Reasoning</vt:lpstr>
      <vt:lpstr>3.1 Background Representation theory of Knowledge Graph Reasoning</vt:lpstr>
      <vt:lpstr>3.1 Contributions Idea</vt:lpstr>
      <vt:lpstr>3.1 Contributions Theory</vt:lpstr>
      <vt:lpstr>3.1 Methodology The COINs architecture</vt:lpstr>
      <vt:lpstr>3.1 Methodology The COINs KG representation process</vt:lpstr>
      <vt:lpstr>3.1 Methodology Algorithm and  properties</vt:lpstr>
      <vt:lpstr>3.1 Methodology Experiments</vt:lpstr>
      <vt:lpstr>3.1 Results Community quality</vt:lpstr>
      <vt:lpstr>3.1 Results Query answering MRR</vt:lpstr>
      <vt:lpstr>3.1 Results Comparison to related work on KG scalability</vt:lpstr>
      <vt:lpstr>3.1 Results Feasibility</vt:lpstr>
      <vt:lpstr>3.1 Summary </vt:lpstr>
      <vt:lpstr>*3.1   Distributed extension Idea</vt:lpstr>
      <vt:lpstr>*3.1   Distributed extension Outcomes</vt:lpstr>
      <vt:lpstr>3.2 Motivation Knowledge Graph Reasoning in Industry</vt:lpstr>
      <vt:lpstr>3.2 Motivation COINs origins</vt:lpstr>
      <vt:lpstr>3.2 Methodology Feature extraction</vt:lpstr>
      <vt:lpstr>3.2 Methodology Statistical comparison</vt:lpstr>
      <vt:lpstr>3.2 Results Swisscom vs. the world</vt:lpstr>
      <vt:lpstr>3.2 Results Re-evaluation on Monty after ablation</vt:lpstr>
      <vt:lpstr>Scalable  Graph Generation</vt:lpstr>
      <vt:lpstr>4.1 Motivation </vt:lpstr>
      <vt:lpstr>4.1 Background Gen AI for graphs</vt:lpstr>
      <vt:lpstr>4.1 Background GG-GAN</vt:lpstr>
      <vt:lpstr>4.1 Background The Chinese Restaurant Process (CRP)</vt:lpstr>
      <vt:lpstr>4.1 Methodology Idea</vt:lpstr>
      <vt:lpstr>4.1 Methodology Community assignment sampling</vt:lpstr>
      <vt:lpstr>4.1 Methodology GGG-CRP  autoregressive process</vt:lpstr>
      <vt:lpstr>4.1 Results Expressivity</vt:lpstr>
      <vt:lpstr>4.1 Results Expressivity</vt:lpstr>
      <vt:lpstr>4.1 Results Novelty</vt:lpstr>
      <vt:lpstr>4.1 Summary </vt:lpstr>
      <vt:lpstr>4.2 Motivation </vt:lpstr>
      <vt:lpstr>4.2 Background Diffusion models</vt:lpstr>
      <vt:lpstr>4.2 Background Hierarchical Graph Diffusion of MRGrad</vt:lpstr>
      <vt:lpstr>4.2 Background Hierarchical Graph Diffusion of MRGrad</vt:lpstr>
      <vt:lpstr>4.2 Contributions Model designs</vt:lpstr>
      <vt:lpstr>4.2 Contributions Theory</vt:lpstr>
      <vt:lpstr>4.2 Results Community detection</vt:lpstr>
      <vt:lpstr>4.2 Results Expressivity</vt:lpstr>
      <vt:lpstr>4.2 Results Real vs. fake graphs</vt:lpstr>
      <vt:lpstr>4.2 Results Ablation</vt:lpstr>
      <vt:lpstr>4.2 Results Performance vs. baselines</vt:lpstr>
      <vt:lpstr>4.2 Summary </vt:lpstr>
      <vt:lpstr>4.3 Motivation </vt:lpstr>
      <vt:lpstr>4.3 Motivation </vt:lpstr>
      <vt:lpstr>4.3 Background The reason for time annealing</vt:lpstr>
      <vt:lpstr>4.3 Background The disadvantages of time annealing</vt:lpstr>
      <vt:lpstr>4.3 The MultiProx sampler Theory</vt:lpstr>
      <vt:lpstr>4.3 The MultiProx sampler Visually</vt:lpstr>
      <vt:lpstr>4.3 Results Images</vt:lpstr>
      <vt:lpstr>4.3 Results Graphs - QM9 with Gaussian DiGress and MultiProx</vt:lpstr>
      <vt:lpstr>*4.3   The MultiProxAn sampler </vt:lpstr>
      <vt:lpstr>4.3 Results Graphs - QM9 with Gaussian DiGress and MultiProxAn</vt:lpstr>
      <vt:lpstr>4.3 Results Graphs - QM9 with Gaussian DiGress and MultiProxAn</vt:lpstr>
      <vt:lpstr>Conclusion</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344</cp:revision>
  <dcterms:created xsi:type="dcterms:W3CDTF">2019-04-02T06:24:35Z</dcterms:created>
  <dcterms:modified xsi:type="dcterms:W3CDTF">2025-10-08T00:06:45Z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