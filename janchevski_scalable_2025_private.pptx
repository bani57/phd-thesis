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32"/>
  </p:notesMasterIdLst>
  <p:handoutMasterIdLst>
    <p:handoutMasterId r:id="rId33"/>
  </p:handoutMasterIdLst>
  <p:sldIdLst>
    <p:sldId id="256" r:id="rId5"/>
    <p:sldId id="257" r:id="rId6"/>
    <p:sldId id="275" r:id="rId7"/>
    <p:sldId id="280" r:id="rId8"/>
    <p:sldId id="276" r:id="rId9"/>
    <p:sldId id="281" r:id="rId10"/>
    <p:sldId id="282" r:id="rId11"/>
    <p:sldId id="277" r:id="rId12"/>
    <p:sldId id="258" r:id="rId13"/>
    <p:sldId id="259" r:id="rId14"/>
    <p:sldId id="261" r:id="rId15"/>
    <p:sldId id="260" r:id="rId16"/>
    <p:sldId id="262" r:id="rId17"/>
    <p:sldId id="263" r:id="rId18"/>
    <p:sldId id="264" r:id="rId19"/>
    <p:sldId id="265" r:id="rId20"/>
    <p:sldId id="267" r:id="rId21"/>
    <p:sldId id="266" r:id="rId22"/>
    <p:sldId id="268" r:id="rId23"/>
    <p:sldId id="269" r:id="rId24"/>
    <p:sldId id="270" r:id="rId25"/>
    <p:sldId id="271" r:id="rId26"/>
    <p:sldId id="272" r:id="rId27"/>
    <p:sldId id="273" r:id="rId28"/>
    <p:sldId id="278" r:id="rId29"/>
    <p:sldId id="279" r:id="rId30"/>
    <p:sldId id="274" r:id="rId31"/>
  </p:sldIdLst>
  <p:sldSz cx="9144000" cy="5143500" type="screen16x9"/>
  <p:notesSz cx="6858000" cy="9144000"/>
  <p:defaultTex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44" autoAdjust="0"/>
    <p:restoredTop sz="74771" autoAdjust="0"/>
  </p:normalViewPr>
  <p:slideViewPr>
    <p:cSldViewPr snapToGrid="0" snapToObjects="1" showGuides="1">
      <p:cViewPr varScale="1">
        <p:scale>
          <a:sx n="151" d="100"/>
          <a:sy n="151" d="100"/>
        </p:scale>
        <p:origin x="1976" y="176"/>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50" d="100"/>
          <a:sy n="150" d="100"/>
        </p:scale>
        <p:origin x="6080"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H" dirty="0">
              <a:latin typeface="Arial" panose="020B0604020202020204" pitchFamily="34" charset="0"/>
            </a:endParaRP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279B33-A94D-4C8C-88C2-619932967EF3}" type="datetimeFigureOut">
              <a:rPr lang="fr-CH" smtClean="0">
                <a:latin typeface="Arial" panose="020B0604020202020204" pitchFamily="34" charset="0"/>
              </a:rPr>
              <a:t>03.10.25</a:t>
            </a:fld>
            <a:endParaRPr lang="fr-CH" dirty="0">
              <a:latin typeface="Arial" panose="020B0604020202020204" pitchFamily="34" charset="0"/>
            </a:endParaRP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CH" dirty="0">
              <a:latin typeface="Arial" panose="020B0604020202020204" pitchFamily="34" charset="0"/>
            </a:endParaRP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BF4AF0-8439-436D-BEF0-52070F19E1B6}" type="slidenum">
              <a:rPr lang="fr-CH" smtClean="0">
                <a:latin typeface="Arial" panose="020B0604020202020204" pitchFamily="34" charset="0"/>
              </a:rPr>
              <a:t>‹#›</a:t>
            </a:fld>
            <a:endParaRPr lang="fr-CH" dirty="0">
              <a:latin typeface="Arial" panose="020B0604020202020204" pitchFamily="34" charset="0"/>
            </a:endParaRPr>
          </a:p>
        </p:txBody>
      </p:sp>
    </p:spTree>
    <p:extLst>
      <p:ext uri="{BB962C8B-B14F-4D97-AF65-F5344CB8AC3E}">
        <p14:creationId xmlns:p14="http://schemas.microsoft.com/office/powerpoint/2010/main" val="13249056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F8103E42-5239-1A40-AD33-3EE7E9DDF5FD}" type="datetimeFigureOut">
              <a:rPr lang="fr-FR" smtClean="0"/>
              <a:pPr/>
              <a:t>03/10/2025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fr-FR"/>
              <a:t>Modifier les styles du texte du masque
Deuxième niveau
Troisième niveau
Quatrième niveau
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4CF50783-AAED-1941-8BCC-9F6140F0A6B1}" type="slidenum">
              <a:rPr lang="fr-FR" smtClean="0"/>
              <a:pPr/>
              <a:t>‹#›</a:t>
            </a:fld>
            <a:endParaRPr lang="fr-FR" dirty="0"/>
          </a:p>
        </p:txBody>
      </p:sp>
    </p:spTree>
    <p:extLst>
      <p:ext uri="{BB962C8B-B14F-4D97-AF65-F5344CB8AC3E}">
        <p14:creationId xmlns:p14="http://schemas.microsoft.com/office/powerpoint/2010/main" val="726742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a:t>
            </a:fld>
            <a:endParaRPr lang="fr-FR" dirty="0"/>
          </a:p>
        </p:txBody>
      </p:sp>
    </p:spTree>
    <p:extLst>
      <p:ext uri="{BB962C8B-B14F-4D97-AF65-F5344CB8AC3E}">
        <p14:creationId xmlns:p14="http://schemas.microsoft.com/office/powerpoint/2010/main" val="749113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2</a:t>
            </a:fld>
            <a:endParaRPr lang="fr-FR" dirty="0"/>
          </a:p>
        </p:txBody>
      </p:sp>
    </p:spTree>
    <p:extLst>
      <p:ext uri="{BB962C8B-B14F-4D97-AF65-F5344CB8AC3E}">
        <p14:creationId xmlns:p14="http://schemas.microsoft.com/office/powerpoint/2010/main" val="3841520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3</a:t>
            </a:fld>
            <a:endParaRPr lang="fr-FR" dirty="0"/>
          </a:p>
        </p:txBody>
      </p:sp>
    </p:spTree>
    <p:extLst>
      <p:ext uri="{BB962C8B-B14F-4D97-AF65-F5344CB8AC3E}">
        <p14:creationId xmlns:p14="http://schemas.microsoft.com/office/powerpoint/2010/main" val="766585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926D4-A669-B2DF-3B02-B7A8375BF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E37793-B06B-AA55-AABE-B04C76192B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18D13-4937-82E1-EA4E-3621374F071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CDF6A84-A247-3CD7-0D1F-D5B1E0CD660C}"/>
              </a:ext>
            </a:extLst>
          </p:cNvPr>
          <p:cNvSpPr>
            <a:spLocks noGrp="1"/>
          </p:cNvSpPr>
          <p:nvPr>
            <p:ph type="sldNum" sz="quarter" idx="5"/>
          </p:nvPr>
        </p:nvSpPr>
        <p:spPr/>
        <p:txBody>
          <a:bodyPr/>
          <a:lstStyle/>
          <a:p>
            <a:fld id="{4CF50783-AAED-1941-8BCC-9F6140F0A6B1}" type="slidenum">
              <a:rPr lang="fr-FR" smtClean="0"/>
              <a:pPr/>
              <a:t>4</a:t>
            </a:fld>
            <a:endParaRPr lang="fr-FR" dirty="0"/>
          </a:p>
        </p:txBody>
      </p:sp>
    </p:spTree>
    <p:extLst>
      <p:ext uri="{BB962C8B-B14F-4D97-AF65-F5344CB8AC3E}">
        <p14:creationId xmlns:p14="http://schemas.microsoft.com/office/powerpoint/2010/main" val="3416442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C82DC-A84F-80DC-2F9E-A7EE48205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EBEE7-F0ED-1FF5-EC75-F7210D1ED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C5DA4B-A6F2-5E20-0317-BDAF8A34AAB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4A2893C-CFF8-2F1E-6D7C-E4ABF2FA9A52}"/>
              </a:ext>
            </a:extLst>
          </p:cNvPr>
          <p:cNvSpPr>
            <a:spLocks noGrp="1"/>
          </p:cNvSpPr>
          <p:nvPr>
            <p:ph type="sldNum" sz="quarter" idx="5"/>
          </p:nvPr>
        </p:nvSpPr>
        <p:spPr/>
        <p:txBody>
          <a:bodyPr/>
          <a:lstStyle/>
          <a:p>
            <a:fld id="{4CF50783-AAED-1941-8BCC-9F6140F0A6B1}" type="slidenum">
              <a:rPr lang="fr-FR" smtClean="0"/>
              <a:pPr/>
              <a:t>5</a:t>
            </a:fld>
            <a:endParaRPr lang="fr-FR" dirty="0"/>
          </a:p>
        </p:txBody>
      </p:sp>
    </p:spTree>
    <p:extLst>
      <p:ext uri="{BB962C8B-B14F-4D97-AF65-F5344CB8AC3E}">
        <p14:creationId xmlns:p14="http://schemas.microsoft.com/office/powerpoint/2010/main" val="4080373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0D5FE-2747-C4C0-C40E-C9D12D6D4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4E1E9-0DC4-D2F6-CE8F-2347D68E7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84BCBF-5CBE-247F-D280-2504969CFFD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B88E1F8-2697-03BB-6B5C-1299199572C1}"/>
              </a:ext>
            </a:extLst>
          </p:cNvPr>
          <p:cNvSpPr>
            <a:spLocks noGrp="1"/>
          </p:cNvSpPr>
          <p:nvPr>
            <p:ph type="sldNum" sz="quarter" idx="5"/>
          </p:nvPr>
        </p:nvSpPr>
        <p:spPr/>
        <p:txBody>
          <a:bodyPr/>
          <a:lstStyle/>
          <a:p>
            <a:fld id="{4CF50783-AAED-1941-8BCC-9F6140F0A6B1}" type="slidenum">
              <a:rPr lang="fr-FR" smtClean="0"/>
              <a:pPr/>
              <a:t>6</a:t>
            </a:fld>
            <a:endParaRPr lang="fr-FR" dirty="0"/>
          </a:p>
        </p:txBody>
      </p:sp>
    </p:spTree>
    <p:extLst>
      <p:ext uri="{BB962C8B-B14F-4D97-AF65-F5344CB8AC3E}">
        <p14:creationId xmlns:p14="http://schemas.microsoft.com/office/powerpoint/2010/main" val="2179728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ADE9A-B349-E586-4747-82DF49FC6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C3B7E-B878-87FA-5C7F-62E06FCE6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BE95C-AFB0-9AA6-A10F-4EC5582CC9D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C7920E2-5BE0-A551-A40B-AB1AB74177F2}"/>
              </a:ext>
            </a:extLst>
          </p:cNvPr>
          <p:cNvSpPr>
            <a:spLocks noGrp="1"/>
          </p:cNvSpPr>
          <p:nvPr>
            <p:ph type="sldNum" sz="quarter" idx="5"/>
          </p:nvPr>
        </p:nvSpPr>
        <p:spPr/>
        <p:txBody>
          <a:bodyPr/>
          <a:lstStyle/>
          <a:p>
            <a:fld id="{4CF50783-AAED-1941-8BCC-9F6140F0A6B1}" type="slidenum">
              <a:rPr lang="fr-FR" smtClean="0"/>
              <a:pPr/>
              <a:t>7</a:t>
            </a:fld>
            <a:endParaRPr lang="fr-FR" dirty="0"/>
          </a:p>
        </p:txBody>
      </p:sp>
    </p:spTree>
    <p:extLst>
      <p:ext uri="{BB962C8B-B14F-4D97-AF65-F5344CB8AC3E}">
        <p14:creationId xmlns:p14="http://schemas.microsoft.com/office/powerpoint/2010/main" val="1018334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CE3A5-E8D8-0375-843A-AC9DAED09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95E0B2-F5B9-7B11-EEAF-AF7768B08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FEF17-D669-607E-F16C-BA545BDB4CD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DC367E2-7580-D2B9-EE18-04E250ED376A}"/>
              </a:ext>
            </a:extLst>
          </p:cNvPr>
          <p:cNvSpPr>
            <a:spLocks noGrp="1"/>
          </p:cNvSpPr>
          <p:nvPr>
            <p:ph type="sldNum" sz="quarter" idx="5"/>
          </p:nvPr>
        </p:nvSpPr>
        <p:spPr/>
        <p:txBody>
          <a:bodyPr/>
          <a:lstStyle/>
          <a:p>
            <a:fld id="{4CF50783-AAED-1941-8BCC-9F6140F0A6B1}" type="slidenum">
              <a:rPr lang="fr-FR" smtClean="0"/>
              <a:pPr/>
              <a:t>8</a:t>
            </a:fld>
            <a:endParaRPr lang="fr-FR" dirty="0"/>
          </a:p>
        </p:txBody>
      </p:sp>
    </p:spTree>
    <p:extLst>
      <p:ext uri="{BB962C8B-B14F-4D97-AF65-F5344CB8AC3E}">
        <p14:creationId xmlns:p14="http://schemas.microsoft.com/office/powerpoint/2010/main" val="1230476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graphs are networks of entities, their semantic types, properties, and relationships. They represent real-world data across different domains, with the goal of enabling reasoning and inferring novel knowledge. E.g., from the example on the right, we can infer that Andrej is a Person or a Building. KG data is fully human-interpretable like that.</a:t>
            </a:r>
          </a:p>
          <a:p>
            <a:endParaRPr lang="en-US" dirty="0"/>
          </a:p>
          <a:p>
            <a:r>
              <a:rPr lang="en-US" dirty="0"/>
              <a:t>The central graph ML tasks that enable the knowledge completion process are link prediction and query answering. </a:t>
            </a:r>
          </a:p>
          <a:p>
            <a:endParaRPr lang="en-US" dirty="0"/>
          </a:p>
          <a:p>
            <a:r>
              <a:rPr lang="en-US" dirty="0"/>
              <a:t>Unfortunately, the inference process faces scalability issues: as knowledge graphs grow, the computational resources required increase dramatically.</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9</a:t>
            </a:fld>
            <a:endParaRPr lang="fr-FR" dirty="0"/>
          </a:p>
        </p:txBody>
      </p:sp>
    </p:spTree>
    <p:extLst>
      <p:ext uri="{BB962C8B-B14F-4D97-AF65-F5344CB8AC3E}">
        <p14:creationId xmlns:p14="http://schemas.microsoft.com/office/powerpoint/2010/main" val="4290993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scalability, much prior work splits graphs into subsets or parallelizes over hardware. Examples include </a:t>
            </a:r>
            <a:r>
              <a:rPr lang="en-US" dirty="0" err="1"/>
              <a:t>PyTorch-BigGraph</a:t>
            </a:r>
            <a:r>
              <a:rPr lang="en-US" dirty="0"/>
              <a:t> and DGL-KE, which rely on distributed training, and SMORE and CARL-G, which accelerate sampling. On the other hand, model-based approaches such as </a:t>
            </a:r>
            <a:r>
              <a:rPr lang="en-US" dirty="0" err="1"/>
              <a:t>NodePiece</a:t>
            </a:r>
            <a:r>
              <a:rPr lang="en-US" dirty="0"/>
              <a:t> and EARL reduce model size by compressing entity embeddings. </a:t>
            </a:r>
          </a:p>
          <a:p>
            <a:endParaRPr lang="en-US" dirty="0"/>
          </a:p>
          <a:p>
            <a:r>
              <a:rPr lang="en-US" dirty="0"/>
              <a:t>However, all previous work mainly benefits training and not out-of-distribution evaluation; they have substantial hardware requirements, and, above all, any promised acceleration is independent of the graph size. Thus, there is a gap for a model-based technique that accelerates evaluation under limited resources. </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10</a:t>
            </a:fld>
            <a:endParaRPr lang="fr-FR" dirty="0"/>
          </a:p>
        </p:txBody>
      </p:sp>
    </p:spTree>
    <p:extLst>
      <p:ext uri="{BB962C8B-B14F-4D97-AF65-F5344CB8AC3E}">
        <p14:creationId xmlns:p14="http://schemas.microsoft.com/office/powerpoint/2010/main" val="4017917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graphs can be formalized as attributed multiplex heterogeneous networks, in which knowledge base entities and relations form edge triplets. </a:t>
            </a:r>
          </a:p>
          <a:p>
            <a:endParaRPr lang="en-US" dirty="0"/>
          </a:p>
          <a:p>
            <a:r>
              <a:rPr lang="en-US" dirty="0"/>
              <a:t>Knowledge graph queries are anchor entities combined with computational graphs over the graph structure, where edges represent either relation projections or intersections, i.e., logical operations.</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11</a:t>
            </a:fld>
            <a:endParaRPr lang="fr-FR" dirty="0"/>
          </a:p>
        </p:txBody>
      </p:sp>
    </p:spTree>
    <p:extLst>
      <p:ext uri="{BB962C8B-B14F-4D97-AF65-F5344CB8AC3E}">
        <p14:creationId xmlns:p14="http://schemas.microsoft.com/office/powerpoint/2010/main" val="3748382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tasks are cast as optimization problems in continuous spaces. Link prediction entails distinguishing positive examples from sampled negatives using a scoring model. This is thus a simpler task with manageable complexity.</a:t>
            </a:r>
          </a:p>
          <a:p>
            <a:endParaRPr lang="en-US" dirty="0"/>
          </a:p>
          <a:p>
            <a:r>
              <a:rPr lang="en-US" dirty="0"/>
              <a:t>The major computational bottleneck arises during query answering, where we are evaluating queries against all entities in the graph.</a:t>
            </a:r>
          </a:p>
          <a:p>
            <a:endParaRPr lang="en-US" dirty="0"/>
          </a:p>
          <a:p>
            <a:r>
              <a:rPr lang="en-US" dirty="0"/>
              <a:t>This task has thus scary quadratic complexity. This motivates incorporating some method to reduce redundant evaluations, and this is the main goal of research in scalability for knowledge graphs.</a:t>
            </a:r>
          </a:p>
          <a:p>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12</a:t>
            </a:fld>
            <a:endParaRPr lang="fr-FR" dirty="0"/>
          </a:p>
        </p:txBody>
      </p:sp>
    </p:spTree>
    <p:extLst>
      <p:ext uri="{BB962C8B-B14F-4D97-AF65-F5344CB8AC3E}">
        <p14:creationId xmlns:p14="http://schemas.microsoft.com/office/powerpoint/2010/main" val="9293321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graph embedding models map entities and relations into vectors, then apply contrastive learning to obtain a likelihood model for query-answer pairs.</a:t>
            </a:r>
          </a:p>
          <a:p>
            <a:endParaRPr lang="en-US" dirty="0"/>
          </a:p>
          <a:p>
            <a:r>
              <a:rPr lang="en-US" dirty="0"/>
              <a:t>Embedding whole queries involves learning non-linear functions approximating their projection and intersection logical operations, </a:t>
            </a:r>
          </a:p>
          <a:p>
            <a:endParaRPr lang="en-US" dirty="0"/>
          </a:p>
          <a:p>
            <a:r>
              <a:rPr lang="en-US" dirty="0"/>
              <a:t>as well as a sample scoring function.</a:t>
            </a:r>
          </a:p>
          <a:p>
            <a:endParaRPr lang="en-US" dirty="0"/>
          </a:p>
          <a:p>
            <a:r>
              <a:rPr lang="en-US" dirty="0"/>
              <a:t>The optimization problem is minimizing this formula, the contrastive loss, given the embeddings of a real query-answer pair and some negative examples for the query.</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13</a:t>
            </a:fld>
            <a:endParaRPr lang="fr-FR" dirty="0"/>
          </a:p>
        </p:txBody>
      </p:sp>
    </p:spTree>
    <p:extLst>
      <p:ext uri="{BB962C8B-B14F-4D97-AF65-F5344CB8AC3E}">
        <p14:creationId xmlns:p14="http://schemas.microsoft.com/office/powerpoint/2010/main" val="3365109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of COINs is to accelerate inference by using graph embeddings also informed by higher-level abstractions of the data, but performing prediction learning on both coarse and fine levels. In this manner, we address all the shortcomings of previous work.</a:t>
            </a:r>
          </a:p>
          <a:p>
            <a:endParaRPr lang="en-US" dirty="0"/>
          </a:p>
          <a:p>
            <a:r>
              <a:rPr lang="en-US" dirty="0"/>
              <a:t>Data preprocessing steps include coarsening both the knowledge graph and all query answering samples, using a mapping of entities into K disjoint groups.</a:t>
            </a:r>
          </a:p>
          <a:p>
            <a:endParaRPr lang="en-US" dirty="0"/>
          </a:p>
          <a:p>
            <a:r>
              <a:rPr lang="en-US" dirty="0"/>
              <a:t>Then the inference steps are very natural: first, localize the query answer to one group, then search only within that group as a second step. </a:t>
            </a:r>
          </a:p>
          <a:p>
            <a:endParaRPr lang="en-US" dirty="0"/>
          </a:p>
          <a:p>
            <a:r>
              <a:rPr lang="en-US" dirty="0"/>
              <a:t>Mathematically, this is just an application of Bayes' formula, where the main assumption is that we can estimate well enough both of the new probabilities.</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14</a:t>
            </a:fld>
            <a:endParaRPr lang="fr-FR" dirty="0"/>
          </a:p>
        </p:txBody>
      </p:sp>
    </p:spTree>
    <p:extLst>
      <p:ext uri="{BB962C8B-B14F-4D97-AF65-F5344CB8AC3E}">
        <p14:creationId xmlns:p14="http://schemas.microsoft.com/office/powerpoint/2010/main" val="5339962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guarantees for our claims, we first provide theoretical bounds on evaluation complexity. Baseline methods scale linearly with graph size, whereas COINs can achieve near–square-root acceleration with its two-step inference process, if group sizes are equal.</a:t>
            </a:r>
          </a:p>
          <a:p>
            <a:endParaRPr lang="en-US" dirty="0"/>
          </a:p>
          <a:p>
            <a:r>
              <a:rPr lang="en-US" dirty="0"/>
              <a:t>But this is not enough, and we also formalize the importance of query locality, showing that well-formed entity groups minimize cross-group interactions and preserve predictive quality in addition to providing acceleration. Community detection with the Leiden algorithm emerged as the empirical optimum for this purpose.</a:t>
            </a:r>
          </a:p>
          <a:p>
            <a:endParaRPr lang="en-US" dirty="0"/>
          </a:p>
          <a:p>
            <a:r>
              <a:rPr lang="en-US" dirty="0"/>
              <a:t>Finally, we provide a result detailing the feasibility condition, i.e., a statistical test to estimate when COINs is worth integrating, based on measuring the expected time to a correct query answer.</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15</a:t>
            </a:fld>
            <a:endParaRPr lang="fr-FR" dirty="0"/>
          </a:p>
        </p:txBody>
      </p:sp>
    </p:spTree>
    <p:extLst>
      <p:ext uri="{BB962C8B-B14F-4D97-AF65-F5344CB8AC3E}">
        <p14:creationId xmlns:p14="http://schemas.microsoft.com/office/powerpoint/2010/main" val="1516877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model architecture, we define a collection of embedders that extend or replace the baselines. These include:</a:t>
            </a:r>
          </a:p>
          <a:p>
            <a:r>
              <a:rPr lang="en-US" dirty="0"/>
              <a:t>– community-level,</a:t>
            </a:r>
          </a:p>
          <a:p>
            <a:r>
              <a:rPr lang="en-US" dirty="0"/>
              <a:t>– intra-community,</a:t>
            </a:r>
          </a:p>
          <a:p>
            <a:r>
              <a:rPr lang="en-US" dirty="0"/>
              <a:t>– inter-community,</a:t>
            </a:r>
          </a:p>
          <a:p>
            <a:r>
              <a:rPr lang="en-US" dirty="0"/>
              <a:t>– and node-level embedders.</a:t>
            </a:r>
          </a:p>
          <a:p>
            <a:endParaRPr lang="en-US" dirty="0"/>
          </a:p>
          <a:p>
            <a:r>
              <a:rPr lang="en-US" dirty="0"/>
              <a:t>These components are trained jointly through weighted refinement.</a:t>
            </a:r>
          </a:p>
          <a:p>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16</a:t>
            </a:fld>
            <a:endParaRPr lang="fr-FR" dirty="0"/>
          </a:p>
        </p:txBody>
      </p:sp>
    </p:spTree>
    <p:extLst>
      <p:ext uri="{BB962C8B-B14F-4D97-AF65-F5344CB8AC3E}">
        <p14:creationId xmlns:p14="http://schemas.microsoft.com/office/powerpoint/2010/main" val="42761991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the details visually. On the left is the starting point, an original knowledge graph and the coarsened graph of its two Leiden communities. The process of a given sample begins in Step I, by mapping queries to community-level anchors and answers. In Step II, if all nodes lie within the same community, intra-community embeddings are applied. Otherwise, inter-community embeddings are used, supported by a padding mechanism, like in the example here. Finally, node-level and community-level embeddings are combined adaptively, linking coarse and fine structure.</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17</a:t>
            </a:fld>
            <a:endParaRPr lang="fr-FR" dirty="0"/>
          </a:p>
        </p:txBody>
      </p:sp>
    </p:spTree>
    <p:extLst>
      <p:ext uri="{BB962C8B-B14F-4D97-AF65-F5344CB8AC3E}">
        <p14:creationId xmlns:p14="http://schemas.microsoft.com/office/powerpoint/2010/main" val="1971494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 on the left is the implementation of everything I said for the previous slide, and it has three main properties:</a:t>
            </a:r>
          </a:p>
          <a:p>
            <a:endParaRPr lang="en-US" dirty="0"/>
          </a:p>
          <a:p>
            <a:r>
              <a:rPr lang="en-US" dirty="0"/>
              <a:t>Queries spanning multiple communities are handled separately, enabling generalization.</a:t>
            </a:r>
          </a:p>
          <a:p>
            <a:endParaRPr lang="en-US" dirty="0"/>
          </a:p>
          <a:p>
            <a:r>
              <a:rPr lang="en-US" dirty="0"/>
              <a:t>The number of entity embeddings required per query is capped, providing substantial speed-ups.</a:t>
            </a:r>
          </a:p>
          <a:p>
            <a:endParaRPr lang="en-US" dirty="0"/>
          </a:p>
          <a:p>
            <a:r>
              <a:rPr lang="en-US" dirty="0"/>
              <a:t>Node and community embeddings are refined jointly, improving adaptivity and stability.</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18</a:t>
            </a:fld>
            <a:endParaRPr lang="fr-FR" dirty="0"/>
          </a:p>
        </p:txBody>
      </p:sp>
    </p:spTree>
    <p:extLst>
      <p:ext uri="{BB962C8B-B14F-4D97-AF65-F5344CB8AC3E}">
        <p14:creationId xmlns:p14="http://schemas.microsoft.com/office/powerpoint/2010/main" val="15150437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experiments, we evaluated COINs using 3 classical knowledge graph completion datasets.</a:t>
            </a:r>
          </a:p>
          <a:p>
            <a:endParaRPr lang="en-US" dirty="0"/>
          </a:p>
          <a:p>
            <a:r>
              <a:rPr lang="en-US" dirty="0"/>
              <a:t>The baseline models that were considered included 4 purely geometric techniques and one GNN that can only answer single-hop queries, as well as Query2Box, a very powerful architecture for general query answering.</a:t>
            </a:r>
          </a:p>
          <a:p>
            <a:endParaRPr lang="en-US" dirty="0"/>
          </a:p>
          <a:p>
            <a:r>
              <a:rPr lang="en-US" dirty="0"/>
              <a:t>Training employed within-community negative examples and query sampling via the scalable SMORE algorithm of previous work. Evaluation metrics were the classical </a:t>
            </a:r>
            <a:r>
              <a:rPr lang="en-US" dirty="0" err="1"/>
              <a:t>Hits@k</a:t>
            </a:r>
            <a:r>
              <a:rPr lang="en-US" dirty="0"/>
              <a:t>, Mean Rank, and Mean Reciprocal Rank.</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19</a:t>
            </a:fld>
            <a:endParaRPr lang="fr-FR" dirty="0"/>
          </a:p>
        </p:txBody>
      </p:sp>
    </p:spTree>
    <p:extLst>
      <p:ext uri="{BB962C8B-B14F-4D97-AF65-F5344CB8AC3E}">
        <p14:creationId xmlns:p14="http://schemas.microsoft.com/office/powerpoint/2010/main" val="36154597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experiment results, we first analyzed the detected community structures that achieved the best performance. Importantly, we obtained a minimum of 4 times speed-up for each dataset. The Freebase graph, due to its edge density, produced larger inter-community sets but still decent acceleration.</a:t>
            </a:r>
          </a:p>
          <a:p>
            <a:endParaRPr lang="en-US" dirty="0"/>
          </a:p>
          <a:p>
            <a:r>
              <a:rPr lang="en-US" dirty="0"/>
              <a:t>Tuning the resolution hyperparameter in the Leiden algorithm showed a strong correlation with scalability factors, making it a powerful control tool.</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20</a:t>
            </a:fld>
            <a:endParaRPr lang="fr-FR" dirty="0"/>
          </a:p>
        </p:txBody>
      </p:sp>
    </p:spTree>
    <p:extLst>
      <p:ext uri="{BB962C8B-B14F-4D97-AF65-F5344CB8AC3E}">
        <p14:creationId xmlns:p14="http://schemas.microsoft.com/office/powerpoint/2010/main" val="24790892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single-hop query answering metrics, COINs preserved up to 97% of baseline accuracy for the median evaluation sample.</a:t>
            </a:r>
          </a:p>
          <a:p>
            <a:endParaRPr lang="en-US" dirty="0"/>
          </a:p>
          <a:p>
            <a:r>
              <a:rPr lang="en-US" dirty="0"/>
              <a:t>For many multi-hop query structures, COINs even often exceeded the baseline, and it seems community-level representations helped the logical reasoning regardless of the complexity of the query. In general, accuracy improved when pairing COINs with more expressive models, such as </a:t>
            </a:r>
            <a:r>
              <a:rPr lang="en-US" dirty="0" err="1"/>
              <a:t>RotatE</a:t>
            </a:r>
            <a:r>
              <a:rPr lang="en-US" dirty="0"/>
              <a:t>, the GNN, or Query2Box.</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21</a:t>
            </a:fld>
            <a:endParaRPr lang="fr-FR" dirty="0"/>
          </a:p>
        </p:txBody>
      </p:sp>
    </p:spTree>
    <p:extLst>
      <p:ext uri="{BB962C8B-B14F-4D97-AF65-F5344CB8AC3E}">
        <p14:creationId xmlns:p14="http://schemas.microsoft.com/office/powerpoint/2010/main" val="591673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compared with the previous works that also trade some performance for scalability, COINs consistently achieved a better trade-off. Unlike those methods, which reduce model size through tokenization, it seems that leveraging community structure leads to stronger preservation of performance under acceleration.</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22</a:t>
            </a:fld>
            <a:endParaRPr lang="fr-FR" dirty="0"/>
          </a:p>
        </p:txBody>
      </p:sp>
    </p:spTree>
    <p:extLst>
      <p:ext uri="{BB962C8B-B14F-4D97-AF65-F5344CB8AC3E}">
        <p14:creationId xmlns:p14="http://schemas.microsoft.com/office/powerpoint/2010/main" val="2461956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assessed feasibility by comparing acceleration against relative error in MRR. Most experiments fall well inside the feasible region, where speed-up outweighs accuracy loss, unlike the metrics of previous work.</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23</a:t>
            </a:fld>
            <a:endParaRPr lang="fr-FR" dirty="0"/>
          </a:p>
        </p:txBody>
      </p:sp>
    </p:spTree>
    <p:extLst>
      <p:ext uri="{BB962C8B-B14F-4D97-AF65-F5344CB8AC3E}">
        <p14:creationId xmlns:p14="http://schemas.microsoft.com/office/powerpoint/2010/main" val="32562880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Thus, to summarize: COINs is a scalable, model-based method for knowledge graph reasoning.</a:t>
            </a:r>
          </a:p>
          <a:p>
            <a:endParaRPr lang="en-US" dirty="0"/>
          </a:p>
          <a:p>
            <a:r>
              <a:rPr lang="en-US" dirty="0"/>
              <a:t>It enables big data inference on small compute, generalizes across embedding models, </a:t>
            </a:r>
          </a:p>
          <a:p>
            <a:endParaRPr lang="en-US" dirty="0"/>
          </a:p>
          <a:p>
            <a:r>
              <a:rPr lang="en-US" dirty="0"/>
              <a:t>and is supported by both theoretical and empirical evidence.</a:t>
            </a:r>
          </a:p>
          <a:p>
            <a:endParaRPr lang="en-US" dirty="0"/>
          </a:p>
          <a:p>
            <a:r>
              <a:rPr lang="en-US" dirty="0"/>
              <a:t>The quality of the community detection emerges as the key factor for success, however.</a:t>
            </a:r>
          </a:p>
          <a:p>
            <a:endParaRPr lang="en-US" dirty="0"/>
          </a:p>
          <a:p>
            <a:r>
              <a:rPr lang="en-US" dirty="0"/>
              <a:t>The key takeaway, nevertheless, is that both a holistic as well as a reductionist viewpoint were necessary to obtain the best benefits.</a:t>
            </a:r>
          </a:p>
          <a:p>
            <a:endParaRPr lang="en-US" dirty="0"/>
          </a:p>
          <a:p>
            <a:r>
              <a:rPr lang="en-US" dirty="0"/>
              <a:t>Future work could include the integration with more powerful foundation models, such as graph transformers, and could also aim to evaluate COINs on larger and less standardized public knowledge bases, where scalability is critical.</a:t>
            </a:r>
          </a:p>
          <a:p>
            <a:endParaRPr lang="en-US" dirty="0"/>
          </a:p>
          <a:p>
            <a:r>
              <a:rPr lang="en-US" dirty="0"/>
              <a:t>We also provide a public release of our implementation.</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24</a:t>
            </a:fld>
            <a:endParaRPr lang="fr-FR" dirty="0"/>
          </a:p>
        </p:txBody>
      </p:sp>
    </p:spTree>
    <p:extLst>
      <p:ext uri="{BB962C8B-B14F-4D97-AF65-F5344CB8AC3E}">
        <p14:creationId xmlns:p14="http://schemas.microsoft.com/office/powerpoint/2010/main" val="2492643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47A0-0319-D8D4-B74C-88DF58D34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E0B396-6C2F-5872-77DD-2881185E32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75D36-F3C7-0E14-D8FE-F90B709D228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D60A990-8754-98A2-3ECF-19A25577365A}"/>
              </a:ext>
            </a:extLst>
          </p:cNvPr>
          <p:cNvSpPr>
            <a:spLocks noGrp="1"/>
          </p:cNvSpPr>
          <p:nvPr>
            <p:ph type="sldNum" sz="quarter" idx="5"/>
          </p:nvPr>
        </p:nvSpPr>
        <p:spPr/>
        <p:txBody>
          <a:bodyPr/>
          <a:lstStyle/>
          <a:p>
            <a:fld id="{4CF50783-AAED-1941-8BCC-9F6140F0A6B1}" type="slidenum">
              <a:rPr lang="fr-FR" smtClean="0"/>
              <a:pPr/>
              <a:t>25</a:t>
            </a:fld>
            <a:endParaRPr lang="fr-FR" dirty="0"/>
          </a:p>
        </p:txBody>
      </p:sp>
    </p:spTree>
    <p:extLst>
      <p:ext uri="{BB962C8B-B14F-4D97-AF65-F5344CB8AC3E}">
        <p14:creationId xmlns:p14="http://schemas.microsoft.com/office/powerpoint/2010/main" val="11858533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3D403-0EE7-1222-5BEA-3B5CDE4D1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1FED0-9A9A-61BB-443D-0E7A02A31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47F6A-DECF-8231-B85D-4DCFA0082C2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EDC82B7-6511-8A90-117E-953BF1C9A3F9}"/>
              </a:ext>
            </a:extLst>
          </p:cNvPr>
          <p:cNvSpPr>
            <a:spLocks noGrp="1"/>
          </p:cNvSpPr>
          <p:nvPr>
            <p:ph type="sldNum" sz="quarter" idx="5"/>
          </p:nvPr>
        </p:nvSpPr>
        <p:spPr/>
        <p:txBody>
          <a:bodyPr/>
          <a:lstStyle/>
          <a:p>
            <a:fld id="{4CF50783-AAED-1941-8BCC-9F6140F0A6B1}" type="slidenum">
              <a:rPr lang="fr-FR" smtClean="0"/>
              <a:pPr/>
              <a:t>26</a:t>
            </a:fld>
            <a:endParaRPr lang="fr-FR" dirty="0"/>
          </a:p>
        </p:txBody>
      </p:sp>
    </p:spTree>
    <p:extLst>
      <p:ext uri="{BB962C8B-B14F-4D97-AF65-F5344CB8AC3E}">
        <p14:creationId xmlns:p14="http://schemas.microsoft.com/office/powerpoint/2010/main" val="2129910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was all the new knowledge for today. Thank you for your attention, and I will be happy to take any questions you may have.</a:t>
            </a:r>
            <a:endParaRPr lang="en-GB" dirty="0"/>
          </a:p>
        </p:txBody>
      </p:sp>
      <p:sp>
        <p:nvSpPr>
          <p:cNvPr id="4" name="Slide Number Placeholder 3"/>
          <p:cNvSpPr>
            <a:spLocks noGrp="1"/>
          </p:cNvSpPr>
          <p:nvPr>
            <p:ph type="sldNum" sz="quarter" idx="5"/>
          </p:nvPr>
        </p:nvSpPr>
        <p:spPr/>
        <p:txBody>
          <a:bodyPr/>
          <a:lstStyle/>
          <a:p>
            <a:fld id="{4CF50783-AAED-1941-8BCC-9F6140F0A6B1}" type="slidenum">
              <a:rPr lang="fr-FR" smtClean="0"/>
              <a:pPr/>
              <a:t>27</a:t>
            </a:fld>
            <a:endParaRPr lang="fr-FR" dirty="0"/>
          </a:p>
        </p:txBody>
      </p:sp>
    </p:spTree>
    <p:extLst>
      <p:ext uri="{BB962C8B-B14F-4D97-AF65-F5344CB8AC3E}">
        <p14:creationId xmlns:p14="http://schemas.microsoft.com/office/powerpoint/2010/main" val="2126906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sp>
        <p:nvSpPr>
          <p:cNvPr id="12" name="Espace réservé pour une image  11">
            <a:extLst>
              <a:ext uri="{FF2B5EF4-FFF2-40B4-BE49-F238E27FC236}">
                <a16:creationId xmlns:a16="http://schemas.microsoft.com/office/drawing/2014/main" id="{4CF6F629-51E7-9F40-939D-F50AE3925ADE}"/>
              </a:ext>
            </a:extLst>
          </p:cNvPr>
          <p:cNvSpPr>
            <a:spLocks noGrp="1"/>
          </p:cNvSpPr>
          <p:nvPr>
            <p:ph type="pic" sz="quarter" idx="10"/>
          </p:nvPr>
        </p:nvSpPr>
        <p:spPr>
          <a:xfrm>
            <a:off x="1331913" y="0"/>
            <a:ext cx="7812087" cy="4948238"/>
          </a:xfrm>
        </p:spPr>
        <p:txBody>
          <a:bodyPr/>
          <a:lstStyle/>
          <a:p>
            <a:r>
              <a:rPr lang="fr-FR"/>
              <a:t>Cliquez sur l'icône pour ajouter une image</a:t>
            </a:r>
          </a:p>
        </p:txBody>
      </p:sp>
      <p:sp>
        <p:nvSpPr>
          <p:cNvPr id="2" name="Title 1"/>
          <p:cNvSpPr>
            <a:spLocks noGrp="1"/>
          </p:cNvSpPr>
          <p:nvPr>
            <p:ph type="ctrTitle"/>
          </p:nvPr>
        </p:nvSpPr>
        <p:spPr>
          <a:xfrm>
            <a:off x="6405563" y="786535"/>
            <a:ext cx="2738437" cy="2338387"/>
          </a:xfrm>
          <a:solidFill>
            <a:schemeClr val="accent1"/>
          </a:solidFill>
        </p:spPr>
        <p:txBody>
          <a:bodyPr lIns="216000" anchor="ctr" anchorCtr="0">
            <a:normAutofit/>
          </a:bodyPr>
          <a:lstStyle>
            <a:lvl1pPr algn="l">
              <a:defRPr sz="3600">
                <a:solidFill>
                  <a:schemeClr val="bg1"/>
                </a:solidFill>
              </a:defRPr>
            </a:lvl1pPr>
          </a:lstStyle>
          <a:p>
            <a:r>
              <a:rPr lang="fr-FR"/>
              <a:t>Modifiez le style du titre</a:t>
            </a:r>
            <a:endParaRPr lang="en-US" dirty="0"/>
          </a:p>
        </p:txBody>
      </p:sp>
      <p:sp>
        <p:nvSpPr>
          <p:cNvPr id="3" name="Subtitle 2"/>
          <p:cNvSpPr>
            <a:spLocks noGrp="1"/>
          </p:cNvSpPr>
          <p:nvPr>
            <p:ph type="subTitle" idx="1"/>
          </p:nvPr>
        </p:nvSpPr>
        <p:spPr>
          <a:xfrm>
            <a:off x="4576763" y="3124922"/>
            <a:ext cx="1828800" cy="1568450"/>
          </a:xfrm>
          <a:solidFill>
            <a:schemeClr val="tx1"/>
          </a:solidFill>
        </p:spPr>
        <p:txBody>
          <a:bodyPr lIns="90000" anchor="ctr" anchorCtr="0">
            <a:normAutofit/>
          </a:bodyPr>
          <a:lstStyle>
            <a:lvl1pPr marL="0" indent="0" algn="ctr">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pic>
        <p:nvPicPr>
          <p:cNvPr id="9" name="Image 8">
            <a:extLst>
              <a:ext uri="{FF2B5EF4-FFF2-40B4-BE49-F238E27FC236}">
                <a16:creationId xmlns:a16="http://schemas.microsoft.com/office/drawing/2014/main" id="{6535A482-EC85-1C41-A1E4-7882A0E39FFD}"/>
              </a:ext>
            </a:extLst>
          </p:cNvPr>
          <p:cNvPicPr>
            <a:picLocks noChangeAspect="1"/>
          </p:cNvPicPr>
          <p:nvPr userDrawn="1"/>
        </p:nvPicPr>
        <p:blipFill>
          <a:blip r:embed="rId2"/>
          <a:stretch>
            <a:fillRect/>
          </a:stretch>
        </p:blipFill>
        <p:spPr>
          <a:xfrm>
            <a:off x="82647" y="80283"/>
            <a:ext cx="1175301" cy="508655"/>
          </a:xfrm>
          <a:prstGeom prst="rect">
            <a:avLst/>
          </a:prstGeom>
        </p:spPr>
      </p:pic>
      <p:sp>
        <p:nvSpPr>
          <p:cNvPr id="16" name="Espace réservé du texte 4">
            <a:extLst>
              <a:ext uri="{FF2B5EF4-FFF2-40B4-BE49-F238E27FC236}">
                <a16:creationId xmlns:a16="http://schemas.microsoft.com/office/drawing/2014/main" id="{01960462-6F28-0740-916D-499D3BEDB2BE}"/>
              </a:ext>
            </a:extLst>
          </p:cNvPr>
          <p:cNvSpPr>
            <a:spLocks noGrp="1"/>
          </p:cNvSpPr>
          <p:nvPr>
            <p:ph type="body" sz="quarter" idx="11"/>
          </p:nvPr>
        </p:nvSpPr>
        <p:spPr>
          <a:xfrm>
            <a:off x="6400800" y="4683125"/>
            <a:ext cx="1828800" cy="460375"/>
          </a:xfrm>
          <a:solidFill>
            <a:schemeClr val="bg1"/>
          </a:solidFill>
        </p:spPr>
        <p:txBody>
          <a:bodyPr lIns="90000" anchor="ctr">
            <a:noAutofit/>
          </a:bodyPr>
          <a:lstStyle>
            <a:lvl1pPr marL="0" indent="0" algn="ctr">
              <a:buNone/>
              <a:defRPr sz="1100"/>
            </a:lvl1pPr>
          </a:lstStyle>
          <a:p>
            <a:pPr lvl="0"/>
            <a:r>
              <a:rPr lang="fr-FR"/>
              <a:t>Modifier les styles du texte du masque
Deuxième niveau
Troisième niveau
Quatrième niveau
Cinquième niveau</a:t>
            </a:r>
          </a:p>
        </p:txBody>
      </p:sp>
      <p:sp>
        <p:nvSpPr>
          <p:cNvPr id="5" name="Espace réservé du texte 4">
            <a:extLst>
              <a:ext uri="{FF2B5EF4-FFF2-40B4-BE49-F238E27FC236}">
                <a16:creationId xmlns:a16="http://schemas.microsoft.com/office/drawing/2014/main" id="{1E187583-F16A-6F41-8B68-000F9C9C20D3}"/>
              </a:ext>
            </a:extLst>
          </p:cNvPr>
          <p:cNvSpPr>
            <a:spLocks noGrp="1"/>
          </p:cNvSpPr>
          <p:nvPr>
            <p:ph type="body" sz="quarter" idx="12"/>
          </p:nvPr>
        </p:nvSpPr>
        <p:spPr>
          <a:xfrm>
            <a:off x="82550" y="4440264"/>
            <a:ext cx="698500" cy="507975"/>
          </a:xfrm>
        </p:spPr>
        <p:txBody>
          <a:bodyPr lIns="0" tIns="0" rIns="0" bIns="0" anchor="b" anchorCtr="0">
            <a:noAutofit/>
          </a:bodyPr>
          <a:lstStyle>
            <a:lvl1pPr marL="114300" indent="-107950">
              <a:buFontTx/>
              <a:buBlip>
                <a:blip r:embed="rId3"/>
              </a:buBlip>
              <a:tabLst/>
              <a:defRPr sz="700">
                <a:solidFill>
                  <a:schemeClr val="tx1"/>
                </a:solidFill>
              </a:defRPr>
            </a:lvl1pPr>
          </a:lstStyle>
          <a:p>
            <a:r>
              <a:rPr lang="fr-FR" dirty="0"/>
              <a:t>Modifier les styles du texte du masque</a:t>
            </a:r>
          </a:p>
        </p:txBody>
      </p:sp>
    </p:spTree>
    <p:extLst>
      <p:ext uri="{BB962C8B-B14F-4D97-AF65-F5344CB8AC3E}">
        <p14:creationId xmlns:p14="http://schemas.microsoft.com/office/powerpoint/2010/main" val="57788087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guide id="3" pos="126" userDrawn="1">
          <p15:clr>
            <a:srgbClr val="FBAE40"/>
          </p15:clr>
        </p15:guide>
        <p15:guide id="5" orient="horz" pos="123" userDrawn="1">
          <p15:clr>
            <a:srgbClr val="FBAE40"/>
          </p15:clr>
        </p15:guide>
        <p15:guide id="6" orient="horz" pos="3117" userDrawn="1">
          <p15:clr>
            <a:srgbClr val="FBAE40"/>
          </p15:clr>
        </p15:guide>
        <p15:guide id="7" pos="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9F6C81-AE59-DE44-BF60-E773080CD91C}"/>
              </a:ext>
            </a:extLst>
          </p:cNvPr>
          <p:cNvSpPr/>
          <p:nvPr userDrawn="1"/>
        </p:nvSpPr>
        <p:spPr>
          <a:xfrm>
            <a:off x="4572000" y="0"/>
            <a:ext cx="45720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Arial" panose="020B0604020202020204" pitchFamily="34" charset="0"/>
            </a:endParaRPr>
          </a:p>
        </p:txBody>
      </p:sp>
      <p:sp>
        <p:nvSpPr>
          <p:cNvPr id="2" name="Title 1"/>
          <p:cNvSpPr>
            <a:spLocks noGrp="1"/>
          </p:cNvSpPr>
          <p:nvPr>
            <p:ph type="title"/>
          </p:nvPr>
        </p:nvSpPr>
        <p:spPr>
          <a:xfrm>
            <a:off x="4572000" y="777875"/>
            <a:ext cx="4058920" cy="1793875"/>
          </a:xfrm>
        </p:spPr>
        <p:txBody>
          <a:bodyPr anchor="ctr" anchorCtr="0">
            <a:normAutofit/>
          </a:bodyPr>
          <a:lstStyle>
            <a:lvl1pPr>
              <a:defRPr sz="3200">
                <a:solidFill>
                  <a:schemeClr val="bg1"/>
                </a:solidFill>
              </a:defRPr>
            </a:lvl1pPr>
          </a:lstStyle>
          <a:p>
            <a:r>
              <a:rPr lang="fr-FR"/>
              <a:t>Modifiez le style du titre</a:t>
            </a:r>
            <a:endParaRPr lang="en-US" dirty="0"/>
          </a:p>
        </p:txBody>
      </p:sp>
      <p:sp>
        <p:nvSpPr>
          <p:cNvPr id="3" name="Text Placeholder 2"/>
          <p:cNvSpPr>
            <a:spLocks noGrp="1"/>
          </p:cNvSpPr>
          <p:nvPr>
            <p:ph type="body" idx="1"/>
          </p:nvPr>
        </p:nvSpPr>
        <p:spPr>
          <a:xfrm>
            <a:off x="4572000" y="2571750"/>
            <a:ext cx="4058920" cy="21565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dirty="0"/>
              <a:t>Modifier les styles du texte du masque
Deuxième niveau
Troisième niveau
Quatrième niveau
Cinquième niveau</a:t>
            </a:r>
          </a:p>
        </p:txBody>
      </p:sp>
      <p:sp>
        <p:nvSpPr>
          <p:cNvPr id="9" name="Espace réservé pour une image  8">
            <a:extLst>
              <a:ext uri="{FF2B5EF4-FFF2-40B4-BE49-F238E27FC236}">
                <a16:creationId xmlns:a16="http://schemas.microsoft.com/office/drawing/2014/main" id="{C58F136D-3292-C745-91DE-A21191C16FE7}"/>
              </a:ext>
            </a:extLst>
          </p:cNvPr>
          <p:cNvSpPr>
            <a:spLocks noGrp="1"/>
          </p:cNvSpPr>
          <p:nvPr>
            <p:ph type="pic" sz="quarter" idx="13"/>
          </p:nvPr>
        </p:nvSpPr>
        <p:spPr>
          <a:xfrm>
            <a:off x="904875" y="0"/>
            <a:ext cx="3667125" cy="5143500"/>
          </a:xfrm>
        </p:spPr>
        <p:txBody>
          <a:bodyPr/>
          <a:lstStyle/>
          <a:p>
            <a:r>
              <a:rPr lang="fr-FR"/>
              <a:t>Cliquez sur l'icône pour ajouter une image</a:t>
            </a:r>
          </a:p>
        </p:txBody>
      </p:sp>
      <p:sp>
        <p:nvSpPr>
          <p:cNvPr id="12" name="Espace réservé de la date 11"/>
          <p:cNvSpPr>
            <a:spLocks noGrp="1"/>
          </p:cNvSpPr>
          <p:nvPr>
            <p:ph type="dt" sz="half" idx="14"/>
          </p:nvPr>
        </p:nvSpPr>
        <p:spPr/>
        <p:txBody>
          <a:bodyPr/>
          <a:lstStyle/>
          <a:p>
            <a:r>
              <a:rPr lang="fr-CH"/>
              <a:t>NAME EVENT / NAME PRESENTATION</a:t>
            </a:r>
            <a:endParaRPr lang="fr-FR" dirty="0"/>
          </a:p>
        </p:txBody>
      </p:sp>
      <p:sp>
        <p:nvSpPr>
          <p:cNvPr id="13" name="Espace réservé du pied de page 12"/>
          <p:cNvSpPr>
            <a:spLocks noGrp="1"/>
          </p:cNvSpPr>
          <p:nvPr>
            <p:ph type="ftr" sz="quarter" idx="15"/>
          </p:nvPr>
        </p:nvSpPr>
        <p:spPr/>
        <p:txBody>
          <a:bodyPr/>
          <a:lstStyle>
            <a:lvl1pPr>
              <a:defRPr>
                <a:solidFill>
                  <a:schemeClr val="bg1"/>
                </a:solidFill>
              </a:defRPr>
            </a:lvl1pPr>
          </a:lstStyle>
          <a:p>
            <a:r>
              <a:rPr lang="fr-FR"/>
              <a:t>Speaker </a:t>
            </a:r>
            <a:endParaRPr lang="fr-FR" dirty="0"/>
          </a:p>
        </p:txBody>
      </p:sp>
      <p:sp>
        <p:nvSpPr>
          <p:cNvPr id="14" name="Espace réservé du numéro de diapositive 13"/>
          <p:cNvSpPr>
            <a:spLocks noGrp="1"/>
          </p:cNvSpPr>
          <p:nvPr>
            <p:ph type="sldNum" sz="quarter" idx="16"/>
          </p:nvPr>
        </p:nvSpPr>
        <p:spPr/>
        <p:txBody>
          <a:bodyPr/>
          <a:lstStyle>
            <a:lvl1pPr>
              <a:defRPr>
                <a:solidFill>
                  <a:schemeClr val="bg1"/>
                </a:solidFill>
              </a:defRPr>
            </a:lvl1p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3988864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re de sec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9F6C81-AE59-DE44-BF60-E773080CD91C}"/>
              </a:ext>
            </a:extLst>
          </p:cNvPr>
          <p:cNvSpPr/>
          <p:nvPr userDrawn="1"/>
        </p:nvSpPr>
        <p:spPr>
          <a:xfrm>
            <a:off x="457200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Arial" panose="020B0604020202020204" pitchFamily="34" charset="0"/>
            </a:endParaRPr>
          </a:p>
        </p:txBody>
      </p:sp>
      <p:sp>
        <p:nvSpPr>
          <p:cNvPr id="2" name="Title 1"/>
          <p:cNvSpPr>
            <a:spLocks noGrp="1"/>
          </p:cNvSpPr>
          <p:nvPr>
            <p:ph type="title"/>
          </p:nvPr>
        </p:nvSpPr>
        <p:spPr>
          <a:xfrm>
            <a:off x="4572000" y="777875"/>
            <a:ext cx="4058920" cy="1793875"/>
          </a:xfrm>
        </p:spPr>
        <p:txBody>
          <a:bodyPr anchor="ctr" anchorCtr="0">
            <a:normAutofit/>
          </a:bodyPr>
          <a:lstStyle>
            <a:lvl1pPr>
              <a:defRPr sz="3200">
                <a:solidFill>
                  <a:schemeClr val="bg1"/>
                </a:solidFill>
              </a:defRPr>
            </a:lvl1pPr>
          </a:lstStyle>
          <a:p>
            <a:r>
              <a:rPr lang="fr-FR"/>
              <a:t>Modifiez le style du titre</a:t>
            </a:r>
            <a:endParaRPr lang="en-US" dirty="0"/>
          </a:p>
        </p:txBody>
      </p:sp>
      <p:sp>
        <p:nvSpPr>
          <p:cNvPr id="3" name="Text Placeholder 2"/>
          <p:cNvSpPr>
            <a:spLocks noGrp="1"/>
          </p:cNvSpPr>
          <p:nvPr>
            <p:ph type="body" idx="1"/>
          </p:nvPr>
        </p:nvSpPr>
        <p:spPr>
          <a:xfrm>
            <a:off x="4572000" y="2571750"/>
            <a:ext cx="4058920" cy="21565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dirty="0"/>
              <a:t>Modifier les styles du texte du masque
Deuxième niveau
Troisième niveau
Quatrième niveau
Cinquième niveau</a:t>
            </a:r>
          </a:p>
        </p:txBody>
      </p:sp>
      <p:sp>
        <p:nvSpPr>
          <p:cNvPr id="9" name="Espace réservé pour une image  8">
            <a:extLst>
              <a:ext uri="{FF2B5EF4-FFF2-40B4-BE49-F238E27FC236}">
                <a16:creationId xmlns:a16="http://schemas.microsoft.com/office/drawing/2014/main" id="{C58F136D-3292-C745-91DE-A21191C16FE7}"/>
              </a:ext>
            </a:extLst>
          </p:cNvPr>
          <p:cNvSpPr>
            <a:spLocks noGrp="1"/>
          </p:cNvSpPr>
          <p:nvPr>
            <p:ph type="pic" sz="quarter" idx="13"/>
          </p:nvPr>
        </p:nvSpPr>
        <p:spPr>
          <a:xfrm>
            <a:off x="904875" y="0"/>
            <a:ext cx="3667125" cy="5143500"/>
          </a:xfrm>
        </p:spPr>
        <p:txBody>
          <a:bodyPr/>
          <a:lstStyle/>
          <a:p>
            <a:r>
              <a:rPr lang="fr-FR"/>
              <a:t>Cliquez sur l'icône pour ajouter une image</a:t>
            </a:r>
          </a:p>
        </p:txBody>
      </p:sp>
      <p:sp>
        <p:nvSpPr>
          <p:cNvPr id="12" name="Espace réservé de la date 11"/>
          <p:cNvSpPr>
            <a:spLocks noGrp="1"/>
          </p:cNvSpPr>
          <p:nvPr>
            <p:ph type="dt" sz="half" idx="14"/>
          </p:nvPr>
        </p:nvSpPr>
        <p:spPr/>
        <p:txBody>
          <a:bodyPr/>
          <a:lstStyle/>
          <a:p>
            <a:r>
              <a:rPr lang="fr-CH"/>
              <a:t>NAME EVENT / NAME PRESENTATION</a:t>
            </a:r>
            <a:endParaRPr lang="fr-FR" dirty="0"/>
          </a:p>
        </p:txBody>
      </p:sp>
      <p:sp>
        <p:nvSpPr>
          <p:cNvPr id="13" name="Espace réservé du pied de page 12"/>
          <p:cNvSpPr>
            <a:spLocks noGrp="1"/>
          </p:cNvSpPr>
          <p:nvPr>
            <p:ph type="ftr" sz="quarter" idx="15"/>
          </p:nvPr>
        </p:nvSpPr>
        <p:spPr/>
        <p:txBody>
          <a:bodyPr/>
          <a:lstStyle>
            <a:lvl1pPr>
              <a:defRPr>
                <a:solidFill>
                  <a:schemeClr val="bg1"/>
                </a:solidFill>
              </a:defRPr>
            </a:lvl1pPr>
          </a:lstStyle>
          <a:p>
            <a:r>
              <a:rPr lang="fr-FR"/>
              <a:t>Speaker </a:t>
            </a:r>
            <a:endParaRPr lang="fr-FR" dirty="0"/>
          </a:p>
        </p:txBody>
      </p:sp>
      <p:sp>
        <p:nvSpPr>
          <p:cNvPr id="14" name="Espace réservé du numéro de diapositive 13"/>
          <p:cNvSpPr>
            <a:spLocks noGrp="1"/>
          </p:cNvSpPr>
          <p:nvPr>
            <p:ph type="sldNum" sz="quarter" idx="16"/>
          </p:nvPr>
        </p:nvSpPr>
        <p:spPr/>
        <p:txBody>
          <a:bodyPr/>
          <a:lstStyle>
            <a:lvl1pPr>
              <a:defRPr>
                <a:solidFill>
                  <a:schemeClr val="bg1"/>
                </a:solidFill>
              </a:defRPr>
            </a:lvl1p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2468177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re de sec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9F6C81-AE59-DE44-BF60-E773080CD91C}"/>
              </a:ext>
            </a:extLst>
          </p:cNvPr>
          <p:cNvSpPr/>
          <p:nvPr userDrawn="1"/>
        </p:nvSpPr>
        <p:spPr>
          <a:xfrm>
            <a:off x="4572000" y="0"/>
            <a:ext cx="4572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Arial" panose="020B0604020202020204" pitchFamily="34" charset="0"/>
            </a:endParaRPr>
          </a:p>
        </p:txBody>
      </p:sp>
      <p:sp>
        <p:nvSpPr>
          <p:cNvPr id="2" name="Title 1"/>
          <p:cNvSpPr>
            <a:spLocks noGrp="1"/>
          </p:cNvSpPr>
          <p:nvPr>
            <p:ph type="title"/>
          </p:nvPr>
        </p:nvSpPr>
        <p:spPr>
          <a:xfrm>
            <a:off x="4572000" y="777875"/>
            <a:ext cx="4058920" cy="1793875"/>
          </a:xfrm>
        </p:spPr>
        <p:txBody>
          <a:bodyPr anchor="ctr" anchorCtr="0">
            <a:normAutofit/>
          </a:bodyPr>
          <a:lstStyle>
            <a:lvl1pPr>
              <a:defRPr sz="3200">
                <a:solidFill>
                  <a:schemeClr val="bg1"/>
                </a:solidFill>
              </a:defRPr>
            </a:lvl1pPr>
          </a:lstStyle>
          <a:p>
            <a:r>
              <a:rPr lang="fr-FR"/>
              <a:t>Modifiez le style du titre</a:t>
            </a:r>
            <a:endParaRPr lang="en-US" dirty="0"/>
          </a:p>
        </p:txBody>
      </p:sp>
      <p:sp>
        <p:nvSpPr>
          <p:cNvPr id="3" name="Text Placeholder 2"/>
          <p:cNvSpPr>
            <a:spLocks noGrp="1"/>
          </p:cNvSpPr>
          <p:nvPr>
            <p:ph type="body" idx="1"/>
          </p:nvPr>
        </p:nvSpPr>
        <p:spPr>
          <a:xfrm>
            <a:off x="4572000" y="2571750"/>
            <a:ext cx="4058920" cy="21565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Modifier les styles du texte du masque
Deuxième niveau
Troisième niveau
Quatrième niveau
Cinquième niveau</a:t>
            </a:r>
          </a:p>
        </p:txBody>
      </p:sp>
      <p:sp>
        <p:nvSpPr>
          <p:cNvPr id="9" name="Espace réservé pour une image  8">
            <a:extLst>
              <a:ext uri="{FF2B5EF4-FFF2-40B4-BE49-F238E27FC236}">
                <a16:creationId xmlns:a16="http://schemas.microsoft.com/office/drawing/2014/main" id="{C58F136D-3292-C745-91DE-A21191C16FE7}"/>
              </a:ext>
            </a:extLst>
          </p:cNvPr>
          <p:cNvSpPr>
            <a:spLocks noGrp="1"/>
          </p:cNvSpPr>
          <p:nvPr>
            <p:ph type="pic" sz="quarter" idx="13"/>
          </p:nvPr>
        </p:nvSpPr>
        <p:spPr>
          <a:xfrm>
            <a:off x="904875" y="0"/>
            <a:ext cx="3667125" cy="5143500"/>
          </a:xfrm>
        </p:spPr>
        <p:txBody>
          <a:bodyPr/>
          <a:lstStyle/>
          <a:p>
            <a:r>
              <a:rPr lang="fr-FR"/>
              <a:t>Cliquez sur l'icône pour ajouter une image</a:t>
            </a:r>
          </a:p>
        </p:txBody>
      </p:sp>
      <p:sp>
        <p:nvSpPr>
          <p:cNvPr id="8" name="Espace réservé de la date 7"/>
          <p:cNvSpPr>
            <a:spLocks noGrp="1"/>
          </p:cNvSpPr>
          <p:nvPr>
            <p:ph type="dt" sz="half" idx="14"/>
          </p:nvPr>
        </p:nvSpPr>
        <p:spPr/>
        <p:txBody>
          <a:bodyPr/>
          <a:lstStyle/>
          <a:p>
            <a:r>
              <a:rPr lang="fr-CH"/>
              <a:t>NAME EVENT / NAME PRESENTATION</a:t>
            </a:r>
            <a:endParaRPr lang="fr-FR" dirty="0"/>
          </a:p>
        </p:txBody>
      </p:sp>
      <p:sp>
        <p:nvSpPr>
          <p:cNvPr id="10" name="Espace réservé du pied de page 9"/>
          <p:cNvSpPr>
            <a:spLocks noGrp="1"/>
          </p:cNvSpPr>
          <p:nvPr>
            <p:ph type="ftr" sz="quarter" idx="15"/>
          </p:nvPr>
        </p:nvSpPr>
        <p:spPr/>
        <p:txBody>
          <a:bodyPr/>
          <a:lstStyle>
            <a:lvl1pPr>
              <a:defRPr>
                <a:solidFill>
                  <a:schemeClr val="bg1"/>
                </a:solidFill>
              </a:defRPr>
            </a:lvl1pPr>
          </a:lstStyle>
          <a:p>
            <a:r>
              <a:rPr lang="fr-FR"/>
              <a:t>Speaker </a:t>
            </a:r>
            <a:endParaRPr lang="fr-FR" dirty="0"/>
          </a:p>
        </p:txBody>
      </p:sp>
      <p:sp>
        <p:nvSpPr>
          <p:cNvPr id="11" name="Espace réservé du numéro de diapositive 10"/>
          <p:cNvSpPr>
            <a:spLocks noGrp="1"/>
          </p:cNvSpPr>
          <p:nvPr>
            <p:ph type="sldNum" sz="quarter" idx="16"/>
          </p:nvPr>
        </p:nvSpPr>
        <p:spPr/>
        <p:txBody>
          <a:bodyPr/>
          <a:lstStyle>
            <a:lvl1pPr>
              <a:defRPr>
                <a:solidFill>
                  <a:schemeClr val="bg1"/>
                </a:solidFill>
              </a:defRPr>
            </a:lvl1p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2032229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fr-FR"/>
              <a:t>Modifier les styles du texte du masque
Deuxième niveau
Troisième niveau
Quatrième niveau
Cinquième niveau</a:t>
            </a:r>
          </a:p>
        </p:txBody>
      </p:sp>
      <p:sp>
        <p:nvSpPr>
          <p:cNvPr id="8" name="Titre 7">
            <a:extLst>
              <a:ext uri="{FF2B5EF4-FFF2-40B4-BE49-F238E27FC236}">
                <a16:creationId xmlns:a16="http://schemas.microsoft.com/office/drawing/2014/main" id="{A30C78BE-DAD0-D748-8B93-AD898D00C88C}"/>
              </a:ext>
            </a:extLst>
          </p:cNvPr>
          <p:cNvSpPr>
            <a:spLocks noGrp="1"/>
          </p:cNvSpPr>
          <p:nvPr>
            <p:ph type="title"/>
          </p:nvPr>
        </p:nvSpPr>
        <p:spPr/>
        <p:txBody>
          <a:bodyPr/>
          <a:lstStyle/>
          <a:p>
            <a:r>
              <a:rPr lang="fr-FR"/>
              <a:t>Modifiez le style du titre</a:t>
            </a:r>
          </a:p>
        </p:txBody>
      </p:sp>
      <p:sp>
        <p:nvSpPr>
          <p:cNvPr id="9" name="Espace réservé de la date 8">
            <a:extLst>
              <a:ext uri="{FF2B5EF4-FFF2-40B4-BE49-F238E27FC236}">
                <a16:creationId xmlns:a16="http://schemas.microsoft.com/office/drawing/2014/main" id="{131A8490-33AC-9443-A9FC-9A5E9322967C}"/>
              </a:ext>
            </a:extLst>
          </p:cNvPr>
          <p:cNvSpPr>
            <a:spLocks noGrp="1"/>
          </p:cNvSpPr>
          <p:nvPr>
            <p:ph type="dt" sz="half" idx="10"/>
          </p:nvPr>
        </p:nvSpPr>
        <p:spPr/>
        <p:txBody>
          <a:bodyPr/>
          <a:lstStyle/>
          <a:p>
            <a:r>
              <a:rPr lang="fr-CH"/>
              <a:t>NAME EVENT / NAME PRESENTATION</a:t>
            </a:r>
            <a:endParaRPr lang="fr-FR" dirty="0"/>
          </a:p>
        </p:txBody>
      </p:sp>
      <p:sp>
        <p:nvSpPr>
          <p:cNvPr id="10" name="Espace réservé du pied de page 9">
            <a:extLst>
              <a:ext uri="{FF2B5EF4-FFF2-40B4-BE49-F238E27FC236}">
                <a16:creationId xmlns:a16="http://schemas.microsoft.com/office/drawing/2014/main" id="{B875139C-6471-774D-89EF-2B93FAD2CB2A}"/>
              </a:ext>
            </a:extLst>
          </p:cNvPr>
          <p:cNvSpPr>
            <a:spLocks noGrp="1"/>
          </p:cNvSpPr>
          <p:nvPr>
            <p:ph type="ftr" sz="quarter" idx="11"/>
          </p:nvPr>
        </p:nvSpPr>
        <p:spPr/>
        <p:txBody>
          <a:bodyPr/>
          <a:lstStyle/>
          <a:p>
            <a:r>
              <a:rPr lang="fr-FR"/>
              <a:t>Speaker </a:t>
            </a:r>
            <a:endParaRPr lang="fr-FR" dirty="0"/>
          </a:p>
        </p:txBody>
      </p:sp>
      <p:sp>
        <p:nvSpPr>
          <p:cNvPr id="11" name="Espace réservé du numéro de diapositive 10">
            <a:extLst>
              <a:ext uri="{FF2B5EF4-FFF2-40B4-BE49-F238E27FC236}">
                <a16:creationId xmlns:a16="http://schemas.microsoft.com/office/drawing/2014/main" id="{3942AF23-4BDC-8C4A-9212-AF88439C6122}"/>
              </a:ext>
            </a:extLst>
          </p:cNvPr>
          <p:cNvSpPr>
            <a:spLocks noGrp="1"/>
          </p:cNvSpPr>
          <p:nvPr>
            <p:ph type="sldNum" sz="quarter" idx="12"/>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2369627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3" name="Content Placeholder 2"/>
          <p:cNvSpPr>
            <a:spLocks noGrp="1"/>
          </p:cNvSpPr>
          <p:nvPr>
            <p:ph idx="1"/>
          </p:nvPr>
        </p:nvSpPr>
        <p:spPr>
          <a:xfrm>
            <a:off x="904875" y="1563688"/>
            <a:ext cx="4581525" cy="3386772"/>
          </a:xfrm>
        </p:spPr>
        <p:txBody>
          <a:bodyPr/>
          <a:lstStyle/>
          <a:p>
            <a:pPr lvl="0"/>
            <a:r>
              <a:rPr lang="fr-FR"/>
              <a:t>Modifier les styles du texte du masque
Deuxième niveau
Troisième niveau
Quatrième niveau
Cinquième niveau</a:t>
            </a:r>
          </a:p>
        </p:txBody>
      </p:sp>
      <p:sp>
        <p:nvSpPr>
          <p:cNvPr id="8" name="Espace réservé pour une image  7">
            <a:extLst>
              <a:ext uri="{FF2B5EF4-FFF2-40B4-BE49-F238E27FC236}">
                <a16:creationId xmlns:a16="http://schemas.microsoft.com/office/drawing/2014/main" id="{70ED9B2D-C513-AF40-B94F-355C174B8FF0}"/>
              </a:ext>
            </a:extLst>
          </p:cNvPr>
          <p:cNvSpPr>
            <a:spLocks noGrp="1"/>
          </p:cNvSpPr>
          <p:nvPr>
            <p:ph type="pic" sz="quarter" idx="13"/>
          </p:nvPr>
        </p:nvSpPr>
        <p:spPr>
          <a:xfrm>
            <a:off x="5486400" y="0"/>
            <a:ext cx="3144838" cy="5143500"/>
          </a:xfrm>
        </p:spPr>
        <p:txBody>
          <a:bodyPr/>
          <a:lstStyle/>
          <a:p>
            <a:r>
              <a:rPr lang="fr-FR"/>
              <a:t>Cliquez sur l'icône pour ajouter une image</a:t>
            </a:r>
          </a:p>
        </p:txBody>
      </p:sp>
      <p:sp>
        <p:nvSpPr>
          <p:cNvPr id="5" name="Titre 4">
            <a:extLst>
              <a:ext uri="{FF2B5EF4-FFF2-40B4-BE49-F238E27FC236}">
                <a16:creationId xmlns:a16="http://schemas.microsoft.com/office/drawing/2014/main" id="{55F20A3C-6DA6-684F-8F84-A7C8F1339C00}"/>
              </a:ext>
            </a:extLst>
          </p:cNvPr>
          <p:cNvSpPr>
            <a:spLocks noGrp="1"/>
          </p:cNvSpPr>
          <p:nvPr>
            <p:ph type="title"/>
          </p:nvPr>
        </p:nvSpPr>
        <p:spPr/>
        <p:txBody>
          <a:bodyPr/>
          <a:lstStyle/>
          <a:p>
            <a:r>
              <a:rPr lang="fr-FR"/>
              <a:t>Modifiez le style du titre</a:t>
            </a:r>
          </a:p>
        </p:txBody>
      </p:sp>
      <p:sp>
        <p:nvSpPr>
          <p:cNvPr id="6" name="Espace réservé de la date 5">
            <a:extLst>
              <a:ext uri="{FF2B5EF4-FFF2-40B4-BE49-F238E27FC236}">
                <a16:creationId xmlns:a16="http://schemas.microsoft.com/office/drawing/2014/main" id="{B633A2CC-2D27-AE47-AE09-87A5F61228B8}"/>
              </a:ext>
            </a:extLst>
          </p:cNvPr>
          <p:cNvSpPr>
            <a:spLocks noGrp="1"/>
          </p:cNvSpPr>
          <p:nvPr>
            <p:ph type="dt" sz="half" idx="14"/>
          </p:nvPr>
        </p:nvSpPr>
        <p:spPr/>
        <p:txBody>
          <a:bodyPr/>
          <a:lstStyle/>
          <a:p>
            <a:r>
              <a:rPr lang="fr-CH"/>
              <a:t>NAME EVENT / NAME PRESENTATION</a:t>
            </a:r>
            <a:endParaRPr lang="fr-FR" dirty="0"/>
          </a:p>
        </p:txBody>
      </p:sp>
      <p:sp>
        <p:nvSpPr>
          <p:cNvPr id="11" name="Espace réservé du pied de page 10">
            <a:extLst>
              <a:ext uri="{FF2B5EF4-FFF2-40B4-BE49-F238E27FC236}">
                <a16:creationId xmlns:a16="http://schemas.microsoft.com/office/drawing/2014/main" id="{CABC000E-4E22-1A40-9D3F-FE2F141E5CA4}"/>
              </a:ext>
            </a:extLst>
          </p:cNvPr>
          <p:cNvSpPr>
            <a:spLocks noGrp="1"/>
          </p:cNvSpPr>
          <p:nvPr>
            <p:ph type="ftr" sz="quarter" idx="15"/>
          </p:nvPr>
        </p:nvSpPr>
        <p:spPr/>
        <p:txBody>
          <a:bodyPr/>
          <a:lstStyle/>
          <a:p>
            <a:r>
              <a:rPr lang="fr-FR"/>
              <a:t>Speaker </a:t>
            </a:r>
            <a:endParaRPr lang="fr-FR" dirty="0"/>
          </a:p>
        </p:txBody>
      </p:sp>
      <p:sp>
        <p:nvSpPr>
          <p:cNvPr id="12" name="Espace réservé du numéro de diapositive 11">
            <a:extLst>
              <a:ext uri="{FF2B5EF4-FFF2-40B4-BE49-F238E27FC236}">
                <a16:creationId xmlns:a16="http://schemas.microsoft.com/office/drawing/2014/main" id="{0AF49D93-C78A-F646-92B0-A7932C43D9EE}"/>
              </a:ext>
            </a:extLst>
          </p:cNvPr>
          <p:cNvSpPr>
            <a:spLocks noGrp="1"/>
          </p:cNvSpPr>
          <p:nvPr>
            <p:ph type="sldNum" sz="quarter" idx="16"/>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4143184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8" name="Espace réservé pour une image  7">
            <a:extLst>
              <a:ext uri="{FF2B5EF4-FFF2-40B4-BE49-F238E27FC236}">
                <a16:creationId xmlns:a16="http://schemas.microsoft.com/office/drawing/2014/main" id="{70ED9B2D-C513-AF40-B94F-355C174B8FF0}"/>
              </a:ext>
            </a:extLst>
          </p:cNvPr>
          <p:cNvSpPr>
            <a:spLocks noGrp="1"/>
          </p:cNvSpPr>
          <p:nvPr>
            <p:ph type="pic" sz="quarter" idx="13"/>
          </p:nvPr>
        </p:nvSpPr>
        <p:spPr>
          <a:xfrm>
            <a:off x="904875" y="0"/>
            <a:ext cx="3144838" cy="5143500"/>
          </a:xfrm>
        </p:spPr>
        <p:txBody>
          <a:bodyPr/>
          <a:lstStyle/>
          <a:p>
            <a:r>
              <a:rPr lang="fr-FR"/>
              <a:t>Cliquez sur l'icône pour ajouter une image</a:t>
            </a:r>
          </a:p>
        </p:txBody>
      </p:sp>
      <p:sp>
        <p:nvSpPr>
          <p:cNvPr id="3" name="Content Placeholder 2"/>
          <p:cNvSpPr>
            <a:spLocks noGrp="1"/>
          </p:cNvSpPr>
          <p:nvPr>
            <p:ph idx="1"/>
          </p:nvPr>
        </p:nvSpPr>
        <p:spPr>
          <a:xfrm>
            <a:off x="4049395" y="1563688"/>
            <a:ext cx="4581525" cy="3386772"/>
          </a:xfrm>
        </p:spPr>
        <p:txBody>
          <a:bodyPr/>
          <a:lstStyle/>
          <a:p>
            <a:pPr lvl="0"/>
            <a:r>
              <a:rPr lang="fr-FR"/>
              <a:t>Modifier les styles du texte du masque
Deuxième niveau
Troisième niveau
Quatrième niveau
Cinquième niveau</a:t>
            </a:r>
          </a:p>
        </p:txBody>
      </p:sp>
      <p:sp>
        <p:nvSpPr>
          <p:cNvPr id="7" name="Espace réservé de la date 6">
            <a:extLst>
              <a:ext uri="{FF2B5EF4-FFF2-40B4-BE49-F238E27FC236}">
                <a16:creationId xmlns:a16="http://schemas.microsoft.com/office/drawing/2014/main" id="{A02A0D73-096C-844E-97C3-C4A4AF580FDE}"/>
              </a:ext>
            </a:extLst>
          </p:cNvPr>
          <p:cNvSpPr>
            <a:spLocks noGrp="1"/>
          </p:cNvSpPr>
          <p:nvPr>
            <p:ph type="dt" sz="half" idx="14"/>
          </p:nvPr>
        </p:nvSpPr>
        <p:spPr/>
        <p:txBody>
          <a:bodyPr/>
          <a:lstStyle/>
          <a:p>
            <a:r>
              <a:rPr lang="fr-CH"/>
              <a:t>NAME EVENT / NAME PRESENTATION</a:t>
            </a:r>
            <a:endParaRPr lang="fr-FR" dirty="0"/>
          </a:p>
        </p:txBody>
      </p:sp>
      <p:sp>
        <p:nvSpPr>
          <p:cNvPr id="9" name="Espace réservé du pied de page 8">
            <a:extLst>
              <a:ext uri="{FF2B5EF4-FFF2-40B4-BE49-F238E27FC236}">
                <a16:creationId xmlns:a16="http://schemas.microsoft.com/office/drawing/2014/main" id="{CEF5AC5C-A2B6-2848-8C47-96A168E211DF}"/>
              </a:ext>
            </a:extLst>
          </p:cNvPr>
          <p:cNvSpPr>
            <a:spLocks noGrp="1"/>
          </p:cNvSpPr>
          <p:nvPr>
            <p:ph type="ftr" sz="quarter" idx="15"/>
          </p:nvPr>
        </p:nvSpPr>
        <p:spPr/>
        <p:txBody>
          <a:bodyPr/>
          <a:lstStyle/>
          <a:p>
            <a:r>
              <a:rPr lang="fr-FR"/>
              <a:t>Speaker </a:t>
            </a:r>
            <a:endParaRPr lang="fr-FR" dirty="0"/>
          </a:p>
        </p:txBody>
      </p:sp>
      <p:sp>
        <p:nvSpPr>
          <p:cNvPr id="10" name="Espace réservé du numéro de diapositive 9">
            <a:extLst>
              <a:ext uri="{FF2B5EF4-FFF2-40B4-BE49-F238E27FC236}">
                <a16:creationId xmlns:a16="http://schemas.microsoft.com/office/drawing/2014/main" id="{31B90E33-03D8-2143-B49F-B1474EE1A1F6}"/>
              </a:ext>
            </a:extLst>
          </p:cNvPr>
          <p:cNvSpPr>
            <a:spLocks noGrp="1"/>
          </p:cNvSpPr>
          <p:nvPr>
            <p:ph type="sldNum" sz="quarter" idx="16"/>
          </p:nvPr>
        </p:nvSpPr>
        <p:spPr/>
        <p:txBody>
          <a:bodyPr/>
          <a:lstStyle/>
          <a:p>
            <a:fld id="{E1E1CD7C-2161-7D43-862E-CE4C333CD873}" type="slidenum">
              <a:rPr lang="fr-FR" smtClean="0"/>
              <a:pPr/>
              <a:t>‹#›</a:t>
            </a:fld>
            <a:endParaRPr lang="fr-FR" dirty="0"/>
          </a:p>
        </p:txBody>
      </p:sp>
      <p:sp>
        <p:nvSpPr>
          <p:cNvPr id="11" name="Titre 10">
            <a:extLst>
              <a:ext uri="{FF2B5EF4-FFF2-40B4-BE49-F238E27FC236}">
                <a16:creationId xmlns:a16="http://schemas.microsoft.com/office/drawing/2014/main" id="{3FC7B5EC-066E-EC4A-B320-77DF64E6E0F0}"/>
              </a:ext>
            </a:extLst>
          </p:cNvPr>
          <p:cNvSpPr>
            <a:spLocks noGrp="1"/>
          </p:cNvSpPr>
          <p:nvPr>
            <p:ph type="title"/>
          </p:nvPr>
        </p:nvSpPr>
        <p:spPr>
          <a:xfrm>
            <a:off x="904876" y="131032"/>
            <a:ext cx="3144520" cy="1072753"/>
          </a:xfrm>
        </p:spPr>
        <p:txBody>
          <a:bodyPr/>
          <a:lstStyle/>
          <a:p>
            <a:r>
              <a:rPr lang="fr-FR" dirty="0"/>
              <a:t>Modifiez le style du titre</a:t>
            </a:r>
          </a:p>
        </p:txBody>
      </p:sp>
    </p:spTree>
    <p:extLst>
      <p:ext uri="{BB962C8B-B14F-4D97-AF65-F5344CB8AC3E}">
        <p14:creationId xmlns:p14="http://schemas.microsoft.com/office/powerpoint/2010/main" val="1698958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itre et contenu">
    <p:spTree>
      <p:nvGrpSpPr>
        <p:cNvPr id="1" name=""/>
        <p:cNvGrpSpPr/>
        <p:nvPr/>
      </p:nvGrpSpPr>
      <p:grpSpPr>
        <a:xfrm>
          <a:off x="0" y="0"/>
          <a:ext cx="0" cy="0"/>
          <a:chOff x="0" y="0"/>
          <a:chExt cx="0" cy="0"/>
        </a:xfrm>
      </p:grpSpPr>
      <p:sp>
        <p:nvSpPr>
          <p:cNvPr id="8" name="Espace réservé pour une image  7">
            <a:extLst>
              <a:ext uri="{FF2B5EF4-FFF2-40B4-BE49-F238E27FC236}">
                <a16:creationId xmlns:a16="http://schemas.microsoft.com/office/drawing/2014/main" id="{70ED9B2D-C513-AF40-B94F-355C174B8FF0}"/>
              </a:ext>
            </a:extLst>
          </p:cNvPr>
          <p:cNvSpPr>
            <a:spLocks noGrp="1"/>
          </p:cNvSpPr>
          <p:nvPr>
            <p:ph type="pic" sz="quarter" idx="13"/>
          </p:nvPr>
        </p:nvSpPr>
        <p:spPr>
          <a:xfrm>
            <a:off x="904875" y="0"/>
            <a:ext cx="3144838" cy="5143500"/>
          </a:xfrm>
        </p:spPr>
        <p:txBody>
          <a:bodyPr/>
          <a:lstStyle/>
          <a:p>
            <a:r>
              <a:rPr lang="fr-FR"/>
              <a:t>Cliquez sur l'icône pour ajouter une image</a:t>
            </a:r>
          </a:p>
        </p:txBody>
      </p:sp>
      <p:sp>
        <p:nvSpPr>
          <p:cNvPr id="3" name="Content Placeholder 2"/>
          <p:cNvSpPr>
            <a:spLocks noGrp="1"/>
          </p:cNvSpPr>
          <p:nvPr>
            <p:ph idx="1"/>
          </p:nvPr>
        </p:nvSpPr>
        <p:spPr>
          <a:xfrm>
            <a:off x="4049395" y="1563688"/>
            <a:ext cx="4581525" cy="3386772"/>
          </a:xfrm>
        </p:spPr>
        <p:txBody>
          <a:bodyPr/>
          <a:lstStyle/>
          <a:p>
            <a:pPr lvl="0"/>
            <a:r>
              <a:rPr lang="fr-FR"/>
              <a:t>Modifier les styles du texte du masque
Deuxième niveau
Troisième niveau
Quatrième niveau
Cinquième niveau</a:t>
            </a:r>
          </a:p>
        </p:txBody>
      </p:sp>
      <p:sp>
        <p:nvSpPr>
          <p:cNvPr id="7" name="Espace réservé de la date 6">
            <a:extLst>
              <a:ext uri="{FF2B5EF4-FFF2-40B4-BE49-F238E27FC236}">
                <a16:creationId xmlns:a16="http://schemas.microsoft.com/office/drawing/2014/main" id="{A02A0D73-096C-844E-97C3-C4A4AF580FDE}"/>
              </a:ext>
            </a:extLst>
          </p:cNvPr>
          <p:cNvSpPr>
            <a:spLocks noGrp="1"/>
          </p:cNvSpPr>
          <p:nvPr>
            <p:ph type="dt" sz="half" idx="14"/>
          </p:nvPr>
        </p:nvSpPr>
        <p:spPr/>
        <p:txBody>
          <a:bodyPr/>
          <a:lstStyle/>
          <a:p>
            <a:r>
              <a:rPr lang="fr-CH"/>
              <a:t>NAME EVENT / NAME PRESENTATION</a:t>
            </a:r>
            <a:endParaRPr lang="fr-FR" dirty="0"/>
          </a:p>
        </p:txBody>
      </p:sp>
      <p:sp>
        <p:nvSpPr>
          <p:cNvPr id="9" name="Espace réservé du pied de page 8">
            <a:extLst>
              <a:ext uri="{FF2B5EF4-FFF2-40B4-BE49-F238E27FC236}">
                <a16:creationId xmlns:a16="http://schemas.microsoft.com/office/drawing/2014/main" id="{CEF5AC5C-A2B6-2848-8C47-96A168E211DF}"/>
              </a:ext>
            </a:extLst>
          </p:cNvPr>
          <p:cNvSpPr>
            <a:spLocks noGrp="1"/>
          </p:cNvSpPr>
          <p:nvPr>
            <p:ph type="ftr" sz="quarter" idx="15"/>
          </p:nvPr>
        </p:nvSpPr>
        <p:spPr/>
        <p:txBody>
          <a:bodyPr/>
          <a:lstStyle/>
          <a:p>
            <a:r>
              <a:rPr lang="fr-FR"/>
              <a:t>Speaker </a:t>
            </a:r>
            <a:endParaRPr lang="fr-FR" dirty="0"/>
          </a:p>
        </p:txBody>
      </p:sp>
      <p:sp>
        <p:nvSpPr>
          <p:cNvPr id="10" name="Espace réservé du numéro de diapositive 9">
            <a:extLst>
              <a:ext uri="{FF2B5EF4-FFF2-40B4-BE49-F238E27FC236}">
                <a16:creationId xmlns:a16="http://schemas.microsoft.com/office/drawing/2014/main" id="{31B90E33-03D8-2143-B49F-B1474EE1A1F6}"/>
              </a:ext>
            </a:extLst>
          </p:cNvPr>
          <p:cNvSpPr>
            <a:spLocks noGrp="1"/>
          </p:cNvSpPr>
          <p:nvPr>
            <p:ph type="sldNum" sz="quarter" idx="16"/>
          </p:nvPr>
        </p:nvSpPr>
        <p:spPr/>
        <p:txBody>
          <a:bodyPr/>
          <a:lstStyle/>
          <a:p>
            <a:fld id="{E1E1CD7C-2161-7D43-862E-CE4C333CD873}" type="slidenum">
              <a:rPr lang="fr-FR" smtClean="0"/>
              <a:pPr/>
              <a:t>‹#›</a:t>
            </a:fld>
            <a:endParaRPr lang="fr-FR" dirty="0"/>
          </a:p>
        </p:txBody>
      </p:sp>
      <p:sp>
        <p:nvSpPr>
          <p:cNvPr id="11" name="Titre 10">
            <a:extLst>
              <a:ext uri="{FF2B5EF4-FFF2-40B4-BE49-F238E27FC236}">
                <a16:creationId xmlns:a16="http://schemas.microsoft.com/office/drawing/2014/main" id="{3FC7B5EC-066E-EC4A-B320-77DF64E6E0F0}"/>
              </a:ext>
            </a:extLst>
          </p:cNvPr>
          <p:cNvSpPr>
            <a:spLocks noGrp="1"/>
          </p:cNvSpPr>
          <p:nvPr>
            <p:ph type="title"/>
          </p:nvPr>
        </p:nvSpPr>
        <p:spPr>
          <a:xfrm>
            <a:off x="4049395" y="131032"/>
            <a:ext cx="3144520" cy="1072753"/>
          </a:xfrm>
        </p:spPr>
        <p:txBody>
          <a:bodyPr/>
          <a:lstStyle/>
          <a:p>
            <a:r>
              <a:rPr lang="fr-FR" dirty="0"/>
              <a:t>Modifiez le style du titre</a:t>
            </a:r>
          </a:p>
        </p:txBody>
      </p:sp>
    </p:spTree>
    <p:extLst>
      <p:ext uri="{BB962C8B-B14F-4D97-AF65-F5344CB8AC3E}">
        <p14:creationId xmlns:p14="http://schemas.microsoft.com/office/powerpoint/2010/main" val="2531427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8" name="Espace réservé pour une image  7">
            <a:extLst>
              <a:ext uri="{FF2B5EF4-FFF2-40B4-BE49-F238E27FC236}">
                <a16:creationId xmlns:a16="http://schemas.microsoft.com/office/drawing/2014/main" id="{70ED9B2D-C513-AF40-B94F-355C174B8FF0}"/>
              </a:ext>
            </a:extLst>
          </p:cNvPr>
          <p:cNvSpPr>
            <a:spLocks noGrp="1"/>
          </p:cNvSpPr>
          <p:nvPr>
            <p:ph type="pic" sz="quarter" idx="13"/>
          </p:nvPr>
        </p:nvSpPr>
        <p:spPr>
          <a:xfrm>
            <a:off x="904875" y="1563688"/>
            <a:ext cx="3144838" cy="3579812"/>
          </a:xfrm>
        </p:spPr>
        <p:txBody>
          <a:bodyPr/>
          <a:lstStyle/>
          <a:p>
            <a:r>
              <a:rPr lang="fr-FR"/>
              <a:t>Cliquez sur l'icône pour ajouter une image</a:t>
            </a:r>
          </a:p>
        </p:txBody>
      </p:sp>
      <p:sp>
        <p:nvSpPr>
          <p:cNvPr id="3" name="Content Placeholder 2"/>
          <p:cNvSpPr>
            <a:spLocks noGrp="1"/>
          </p:cNvSpPr>
          <p:nvPr>
            <p:ph idx="1"/>
          </p:nvPr>
        </p:nvSpPr>
        <p:spPr>
          <a:xfrm>
            <a:off x="4049395" y="1563688"/>
            <a:ext cx="4581525" cy="3386772"/>
          </a:xfrm>
        </p:spPr>
        <p:txBody>
          <a:bodyPr/>
          <a:lstStyle/>
          <a:p>
            <a:pPr lvl="0"/>
            <a:r>
              <a:rPr lang="fr-FR"/>
              <a:t>Modifier les styles du texte du masque
Deuxième niveau
Troisième niveau
Quatrième niveau
Cinquième niveau</a:t>
            </a:r>
          </a:p>
        </p:txBody>
      </p:sp>
      <p:sp>
        <p:nvSpPr>
          <p:cNvPr id="7" name="Titre 6">
            <a:extLst>
              <a:ext uri="{FF2B5EF4-FFF2-40B4-BE49-F238E27FC236}">
                <a16:creationId xmlns:a16="http://schemas.microsoft.com/office/drawing/2014/main" id="{C026A30B-6F8E-1445-88F0-A5FB77E124E9}"/>
              </a:ext>
            </a:extLst>
          </p:cNvPr>
          <p:cNvSpPr>
            <a:spLocks noGrp="1"/>
          </p:cNvSpPr>
          <p:nvPr>
            <p:ph type="title"/>
          </p:nvPr>
        </p:nvSpPr>
        <p:spPr/>
        <p:txBody>
          <a:bodyPr/>
          <a:lstStyle/>
          <a:p>
            <a:r>
              <a:rPr lang="fr-FR"/>
              <a:t>Modifiez le style du titre</a:t>
            </a:r>
          </a:p>
        </p:txBody>
      </p:sp>
      <p:sp>
        <p:nvSpPr>
          <p:cNvPr id="9" name="Espace réservé de la date 8">
            <a:extLst>
              <a:ext uri="{FF2B5EF4-FFF2-40B4-BE49-F238E27FC236}">
                <a16:creationId xmlns:a16="http://schemas.microsoft.com/office/drawing/2014/main" id="{826567D5-4A83-9E48-B441-CCB2A72BA6D1}"/>
              </a:ext>
            </a:extLst>
          </p:cNvPr>
          <p:cNvSpPr>
            <a:spLocks noGrp="1"/>
          </p:cNvSpPr>
          <p:nvPr>
            <p:ph type="dt" sz="half" idx="14"/>
          </p:nvPr>
        </p:nvSpPr>
        <p:spPr/>
        <p:txBody>
          <a:bodyPr/>
          <a:lstStyle/>
          <a:p>
            <a:r>
              <a:rPr lang="fr-CH"/>
              <a:t>NAME EVENT / NAME PRESENTATION</a:t>
            </a:r>
            <a:endParaRPr lang="fr-FR" dirty="0"/>
          </a:p>
        </p:txBody>
      </p:sp>
      <p:sp>
        <p:nvSpPr>
          <p:cNvPr id="10" name="Espace réservé du pied de page 9">
            <a:extLst>
              <a:ext uri="{FF2B5EF4-FFF2-40B4-BE49-F238E27FC236}">
                <a16:creationId xmlns:a16="http://schemas.microsoft.com/office/drawing/2014/main" id="{C830A539-93F1-2541-B9F0-330893BD5190}"/>
              </a:ext>
            </a:extLst>
          </p:cNvPr>
          <p:cNvSpPr>
            <a:spLocks noGrp="1"/>
          </p:cNvSpPr>
          <p:nvPr>
            <p:ph type="ftr" sz="quarter" idx="15"/>
          </p:nvPr>
        </p:nvSpPr>
        <p:spPr/>
        <p:txBody>
          <a:bodyPr/>
          <a:lstStyle/>
          <a:p>
            <a:r>
              <a:rPr lang="fr-FR"/>
              <a:t>Speaker </a:t>
            </a:r>
            <a:endParaRPr lang="fr-FR" dirty="0"/>
          </a:p>
        </p:txBody>
      </p:sp>
      <p:sp>
        <p:nvSpPr>
          <p:cNvPr id="11" name="Espace réservé du numéro de diapositive 10">
            <a:extLst>
              <a:ext uri="{FF2B5EF4-FFF2-40B4-BE49-F238E27FC236}">
                <a16:creationId xmlns:a16="http://schemas.microsoft.com/office/drawing/2014/main" id="{82F21D18-8706-7E4D-8FBE-C1E2584541D1}"/>
              </a:ext>
            </a:extLst>
          </p:cNvPr>
          <p:cNvSpPr>
            <a:spLocks noGrp="1"/>
          </p:cNvSpPr>
          <p:nvPr>
            <p:ph type="sldNum" sz="quarter" idx="16"/>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2434545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04875" y="1563688"/>
            <a:ext cx="3671466" cy="3263504"/>
          </a:xfrm>
        </p:spPr>
        <p:txBody>
          <a:bodyPr/>
          <a:lstStyle/>
          <a:p>
            <a:pPr lvl="0"/>
            <a:r>
              <a:rPr lang="fr-FR"/>
              <a:t>Modifier les styles du texte du masque
Deuxième niveau
Troisième niveau
Quatrième niveau
Cinquième niveau</a:t>
            </a:r>
          </a:p>
        </p:txBody>
      </p:sp>
      <p:sp>
        <p:nvSpPr>
          <p:cNvPr id="4" name="Content Placeholder 3"/>
          <p:cNvSpPr>
            <a:spLocks noGrp="1"/>
          </p:cNvSpPr>
          <p:nvPr>
            <p:ph sz="half" idx="2"/>
          </p:nvPr>
        </p:nvSpPr>
        <p:spPr>
          <a:xfrm>
            <a:off x="4959772" y="1563688"/>
            <a:ext cx="3671466" cy="3263504"/>
          </a:xfrm>
        </p:spPr>
        <p:txBody>
          <a:bodyPr/>
          <a:lstStyle/>
          <a:p>
            <a:pPr lvl="0"/>
            <a:r>
              <a:rPr lang="fr-FR"/>
              <a:t>Modifier les styles du texte du masque
Deuxième niveau
Troisième niveau
Quatrième niveau
Cinquième niveau</a:t>
            </a:r>
          </a:p>
        </p:txBody>
      </p:sp>
      <p:sp>
        <p:nvSpPr>
          <p:cNvPr id="8" name="Titre 7">
            <a:extLst>
              <a:ext uri="{FF2B5EF4-FFF2-40B4-BE49-F238E27FC236}">
                <a16:creationId xmlns:a16="http://schemas.microsoft.com/office/drawing/2014/main" id="{6897D737-724C-984A-82E1-2A2DBD5F6249}"/>
              </a:ext>
            </a:extLst>
          </p:cNvPr>
          <p:cNvSpPr>
            <a:spLocks noGrp="1"/>
          </p:cNvSpPr>
          <p:nvPr>
            <p:ph type="title"/>
          </p:nvPr>
        </p:nvSpPr>
        <p:spPr/>
        <p:txBody>
          <a:bodyPr/>
          <a:lstStyle/>
          <a:p>
            <a:r>
              <a:rPr lang="fr-FR"/>
              <a:t>Modifiez le style du titre</a:t>
            </a:r>
          </a:p>
        </p:txBody>
      </p:sp>
      <p:sp>
        <p:nvSpPr>
          <p:cNvPr id="9" name="Espace réservé de la date 8">
            <a:extLst>
              <a:ext uri="{FF2B5EF4-FFF2-40B4-BE49-F238E27FC236}">
                <a16:creationId xmlns:a16="http://schemas.microsoft.com/office/drawing/2014/main" id="{E34C2B73-67B7-BB4C-AE0F-7D16D8DDD2B2}"/>
              </a:ext>
            </a:extLst>
          </p:cNvPr>
          <p:cNvSpPr>
            <a:spLocks noGrp="1"/>
          </p:cNvSpPr>
          <p:nvPr>
            <p:ph type="dt" sz="half" idx="10"/>
          </p:nvPr>
        </p:nvSpPr>
        <p:spPr/>
        <p:txBody>
          <a:bodyPr/>
          <a:lstStyle/>
          <a:p>
            <a:r>
              <a:rPr lang="fr-CH"/>
              <a:t>NAME EVENT / NAME PRESENTATION</a:t>
            </a:r>
            <a:endParaRPr lang="fr-FR" dirty="0"/>
          </a:p>
        </p:txBody>
      </p:sp>
      <p:sp>
        <p:nvSpPr>
          <p:cNvPr id="10" name="Espace réservé du pied de page 9">
            <a:extLst>
              <a:ext uri="{FF2B5EF4-FFF2-40B4-BE49-F238E27FC236}">
                <a16:creationId xmlns:a16="http://schemas.microsoft.com/office/drawing/2014/main" id="{C9FF6AA9-AC16-D748-B815-56221BFFFB93}"/>
              </a:ext>
            </a:extLst>
          </p:cNvPr>
          <p:cNvSpPr>
            <a:spLocks noGrp="1"/>
          </p:cNvSpPr>
          <p:nvPr>
            <p:ph type="ftr" sz="quarter" idx="11"/>
          </p:nvPr>
        </p:nvSpPr>
        <p:spPr/>
        <p:txBody>
          <a:bodyPr/>
          <a:lstStyle/>
          <a:p>
            <a:r>
              <a:rPr lang="fr-FR"/>
              <a:t>Speaker </a:t>
            </a:r>
            <a:endParaRPr lang="fr-FR" dirty="0"/>
          </a:p>
        </p:txBody>
      </p:sp>
      <p:sp>
        <p:nvSpPr>
          <p:cNvPr id="11" name="Espace réservé du numéro de diapositive 10">
            <a:extLst>
              <a:ext uri="{FF2B5EF4-FFF2-40B4-BE49-F238E27FC236}">
                <a16:creationId xmlns:a16="http://schemas.microsoft.com/office/drawing/2014/main" id="{DD59D891-3F23-D04C-AB43-6FA4220AFE80}"/>
              </a:ext>
            </a:extLst>
          </p:cNvPr>
          <p:cNvSpPr>
            <a:spLocks noGrp="1"/>
          </p:cNvSpPr>
          <p:nvPr>
            <p:ph type="sldNum" sz="quarter" idx="12"/>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1776706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9BFFD8D9-6AAA-B44F-8BD5-98D7A6546A6C}"/>
              </a:ext>
            </a:extLst>
          </p:cNvPr>
          <p:cNvSpPr>
            <a:spLocks noGrp="1"/>
          </p:cNvSpPr>
          <p:nvPr>
            <p:ph type="title"/>
          </p:nvPr>
        </p:nvSpPr>
        <p:spPr/>
        <p:txBody>
          <a:bodyPr/>
          <a:lstStyle/>
          <a:p>
            <a:r>
              <a:rPr lang="fr-FR"/>
              <a:t>Modifiez le style du titre</a:t>
            </a:r>
          </a:p>
        </p:txBody>
      </p:sp>
      <p:sp>
        <p:nvSpPr>
          <p:cNvPr id="7" name="Espace réservé de la date 6">
            <a:extLst>
              <a:ext uri="{FF2B5EF4-FFF2-40B4-BE49-F238E27FC236}">
                <a16:creationId xmlns:a16="http://schemas.microsoft.com/office/drawing/2014/main" id="{084C64CE-C88F-2044-AD84-19F588F18902}"/>
              </a:ext>
            </a:extLst>
          </p:cNvPr>
          <p:cNvSpPr>
            <a:spLocks noGrp="1"/>
          </p:cNvSpPr>
          <p:nvPr>
            <p:ph type="dt" sz="half" idx="10"/>
          </p:nvPr>
        </p:nvSpPr>
        <p:spPr/>
        <p:txBody>
          <a:bodyPr/>
          <a:lstStyle/>
          <a:p>
            <a:r>
              <a:rPr lang="fr-CH"/>
              <a:t>NAME EVENT / NAME PRESENTATION</a:t>
            </a:r>
            <a:endParaRPr lang="fr-FR" dirty="0"/>
          </a:p>
        </p:txBody>
      </p:sp>
      <p:sp>
        <p:nvSpPr>
          <p:cNvPr id="8" name="Espace réservé du pied de page 7">
            <a:extLst>
              <a:ext uri="{FF2B5EF4-FFF2-40B4-BE49-F238E27FC236}">
                <a16:creationId xmlns:a16="http://schemas.microsoft.com/office/drawing/2014/main" id="{A948AF20-C2DF-3542-BB6A-8354A9817325}"/>
              </a:ext>
            </a:extLst>
          </p:cNvPr>
          <p:cNvSpPr>
            <a:spLocks noGrp="1"/>
          </p:cNvSpPr>
          <p:nvPr>
            <p:ph type="ftr" sz="quarter" idx="11"/>
          </p:nvPr>
        </p:nvSpPr>
        <p:spPr/>
        <p:txBody>
          <a:bodyPr/>
          <a:lstStyle/>
          <a:p>
            <a:r>
              <a:rPr lang="fr-FR"/>
              <a:t>Speaker </a:t>
            </a:r>
            <a:endParaRPr lang="fr-FR" dirty="0"/>
          </a:p>
        </p:txBody>
      </p:sp>
      <p:sp>
        <p:nvSpPr>
          <p:cNvPr id="9" name="Espace réservé du numéro de diapositive 8">
            <a:extLst>
              <a:ext uri="{FF2B5EF4-FFF2-40B4-BE49-F238E27FC236}">
                <a16:creationId xmlns:a16="http://schemas.microsoft.com/office/drawing/2014/main" id="{71083942-1443-BC45-9F95-32C82A8DCDEF}"/>
              </a:ext>
            </a:extLst>
          </p:cNvPr>
          <p:cNvSpPr>
            <a:spLocks noGrp="1"/>
          </p:cNvSpPr>
          <p:nvPr>
            <p:ph type="sldNum" sz="quarter" idx="12"/>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3074039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sz="quarter" idx="13"/>
          </p:nvPr>
        </p:nvSpPr>
        <p:spPr>
          <a:xfrm>
            <a:off x="904875" y="0"/>
            <a:ext cx="8239125" cy="5143500"/>
          </a:xfrm>
        </p:spPr>
        <p:txBody>
          <a:bodyPr/>
          <a:lstStyle/>
          <a:p>
            <a:r>
              <a:rPr lang="fr-FR"/>
              <a:t>Cliquez sur l'icône pour ajouter une image</a:t>
            </a:r>
          </a:p>
        </p:txBody>
      </p:sp>
      <p:sp>
        <p:nvSpPr>
          <p:cNvPr id="2" name="Title 1"/>
          <p:cNvSpPr>
            <a:spLocks noGrp="1"/>
          </p:cNvSpPr>
          <p:nvPr>
            <p:ph type="title"/>
          </p:nvPr>
        </p:nvSpPr>
        <p:spPr>
          <a:xfrm>
            <a:off x="6405563" y="2571750"/>
            <a:ext cx="2738437" cy="2111375"/>
          </a:xfrm>
          <a:solidFill>
            <a:schemeClr val="accent2"/>
          </a:solidFill>
        </p:spPr>
        <p:txBody>
          <a:bodyPr anchor="ctr" anchorCtr="0"/>
          <a:lstStyle>
            <a:lvl1pPr>
              <a:defRPr>
                <a:solidFill>
                  <a:schemeClr val="bg1"/>
                </a:solidFill>
              </a:defRPr>
            </a:lvl1pPr>
          </a:lstStyle>
          <a:p>
            <a:r>
              <a:rPr lang="fr-FR"/>
              <a:t>Modifiez le style du titre</a:t>
            </a:r>
            <a:endParaRPr lang="en-US" dirty="0"/>
          </a:p>
        </p:txBody>
      </p:sp>
      <p:sp>
        <p:nvSpPr>
          <p:cNvPr id="3" name="Espace réservé de la date 2">
            <a:extLst>
              <a:ext uri="{FF2B5EF4-FFF2-40B4-BE49-F238E27FC236}">
                <a16:creationId xmlns:a16="http://schemas.microsoft.com/office/drawing/2014/main" id="{60E5EA1C-63CE-2C4F-B9F4-39FDBC14B9A3}"/>
              </a:ext>
            </a:extLst>
          </p:cNvPr>
          <p:cNvSpPr>
            <a:spLocks noGrp="1"/>
          </p:cNvSpPr>
          <p:nvPr>
            <p:ph type="dt" sz="half" idx="14"/>
          </p:nvPr>
        </p:nvSpPr>
        <p:spPr/>
        <p:txBody>
          <a:bodyPr/>
          <a:lstStyle/>
          <a:p>
            <a:r>
              <a:rPr lang="fr-CH"/>
              <a:t>NAME EVENT / NAME PRESENTATION</a:t>
            </a:r>
            <a:endParaRPr lang="fr-FR" dirty="0"/>
          </a:p>
        </p:txBody>
      </p:sp>
      <p:sp>
        <p:nvSpPr>
          <p:cNvPr id="4" name="Espace réservé du pied de page 3">
            <a:extLst>
              <a:ext uri="{FF2B5EF4-FFF2-40B4-BE49-F238E27FC236}">
                <a16:creationId xmlns:a16="http://schemas.microsoft.com/office/drawing/2014/main" id="{8E7A5892-F23D-BD48-84D1-FD279BA16865}"/>
              </a:ext>
            </a:extLst>
          </p:cNvPr>
          <p:cNvSpPr>
            <a:spLocks noGrp="1"/>
          </p:cNvSpPr>
          <p:nvPr>
            <p:ph type="ftr" sz="quarter" idx="15"/>
          </p:nvPr>
        </p:nvSpPr>
        <p:spPr/>
        <p:txBody>
          <a:bodyPr/>
          <a:lstStyle/>
          <a:p>
            <a:r>
              <a:rPr lang="fr-FR"/>
              <a:t>Speaker </a:t>
            </a:r>
            <a:endParaRPr lang="fr-FR" dirty="0"/>
          </a:p>
        </p:txBody>
      </p:sp>
      <p:sp>
        <p:nvSpPr>
          <p:cNvPr id="5" name="Espace réservé du numéro de diapositive 4">
            <a:extLst>
              <a:ext uri="{FF2B5EF4-FFF2-40B4-BE49-F238E27FC236}">
                <a16:creationId xmlns:a16="http://schemas.microsoft.com/office/drawing/2014/main" id="{6C516D46-C7BB-2141-A4EE-18D1756414F6}"/>
              </a:ext>
            </a:extLst>
          </p:cNvPr>
          <p:cNvSpPr>
            <a:spLocks noGrp="1"/>
          </p:cNvSpPr>
          <p:nvPr>
            <p:ph type="sldNum" sz="quarter" idx="16"/>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20409483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re seul">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sz="quarter" idx="13"/>
          </p:nvPr>
        </p:nvSpPr>
        <p:spPr>
          <a:xfrm>
            <a:off x="904875" y="0"/>
            <a:ext cx="7726363" cy="5143500"/>
          </a:xfrm>
        </p:spPr>
        <p:txBody>
          <a:bodyPr/>
          <a:lstStyle/>
          <a:p>
            <a:r>
              <a:rPr lang="fr-FR"/>
              <a:t>Cliquez sur l'icône pour ajouter une image</a:t>
            </a:r>
          </a:p>
        </p:txBody>
      </p:sp>
      <p:sp>
        <p:nvSpPr>
          <p:cNvPr id="5" name="Espace réservé de la date 4">
            <a:extLst>
              <a:ext uri="{FF2B5EF4-FFF2-40B4-BE49-F238E27FC236}">
                <a16:creationId xmlns:a16="http://schemas.microsoft.com/office/drawing/2014/main" id="{91E6F4EB-CC02-6E4D-9146-CE4A7A789A95}"/>
              </a:ext>
            </a:extLst>
          </p:cNvPr>
          <p:cNvSpPr>
            <a:spLocks noGrp="1"/>
          </p:cNvSpPr>
          <p:nvPr>
            <p:ph type="dt" sz="half" idx="14"/>
          </p:nvPr>
        </p:nvSpPr>
        <p:spPr/>
        <p:txBody>
          <a:bodyPr/>
          <a:lstStyle/>
          <a:p>
            <a:r>
              <a:rPr lang="fr-CH"/>
              <a:t>NAME EVENT / NAME PRESENTATION</a:t>
            </a:r>
            <a:endParaRPr lang="fr-FR" dirty="0"/>
          </a:p>
        </p:txBody>
      </p:sp>
      <p:sp>
        <p:nvSpPr>
          <p:cNvPr id="6" name="Espace réservé du pied de page 5">
            <a:extLst>
              <a:ext uri="{FF2B5EF4-FFF2-40B4-BE49-F238E27FC236}">
                <a16:creationId xmlns:a16="http://schemas.microsoft.com/office/drawing/2014/main" id="{DED4AA2C-29B3-CA42-B7C3-C932911A7586}"/>
              </a:ext>
            </a:extLst>
          </p:cNvPr>
          <p:cNvSpPr>
            <a:spLocks noGrp="1"/>
          </p:cNvSpPr>
          <p:nvPr>
            <p:ph type="ftr" sz="quarter" idx="15"/>
          </p:nvPr>
        </p:nvSpPr>
        <p:spPr/>
        <p:txBody>
          <a:bodyPr/>
          <a:lstStyle/>
          <a:p>
            <a:r>
              <a:rPr lang="fr-FR"/>
              <a:t>Speaker </a:t>
            </a:r>
            <a:endParaRPr lang="fr-FR" dirty="0"/>
          </a:p>
        </p:txBody>
      </p:sp>
      <p:sp>
        <p:nvSpPr>
          <p:cNvPr id="8" name="Espace réservé du numéro de diapositive 7">
            <a:extLst>
              <a:ext uri="{FF2B5EF4-FFF2-40B4-BE49-F238E27FC236}">
                <a16:creationId xmlns:a16="http://schemas.microsoft.com/office/drawing/2014/main" id="{0FE7A1E3-AAEC-7641-B6C5-8D9FC0B6A211}"/>
              </a:ext>
            </a:extLst>
          </p:cNvPr>
          <p:cNvSpPr>
            <a:spLocks noGrp="1"/>
          </p:cNvSpPr>
          <p:nvPr>
            <p:ph type="sldNum" sz="quarter" idx="16"/>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1201727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re seul">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625DAC6D-23F0-6941-BE81-E7A79CA3AFFD}"/>
              </a:ext>
            </a:extLst>
          </p:cNvPr>
          <p:cNvSpPr>
            <a:spLocks noGrp="1"/>
          </p:cNvSpPr>
          <p:nvPr>
            <p:ph type="pic" sz="quarter" idx="13"/>
          </p:nvPr>
        </p:nvSpPr>
        <p:spPr>
          <a:xfrm>
            <a:off x="904875" y="3114674"/>
            <a:ext cx="8239125" cy="2028825"/>
          </a:xfrm>
        </p:spPr>
        <p:txBody>
          <a:bodyPr/>
          <a:lstStyle/>
          <a:p>
            <a:r>
              <a:rPr lang="fr-FR"/>
              <a:t>Cliquez sur l'icône pour ajouter une image</a:t>
            </a:r>
          </a:p>
        </p:txBody>
      </p:sp>
      <p:sp>
        <p:nvSpPr>
          <p:cNvPr id="4" name="Espace réservé du texte 3"/>
          <p:cNvSpPr>
            <a:spLocks noGrp="1"/>
          </p:cNvSpPr>
          <p:nvPr>
            <p:ph type="body" sz="quarter" idx="17"/>
          </p:nvPr>
        </p:nvSpPr>
        <p:spPr>
          <a:xfrm>
            <a:off x="904875" y="1563688"/>
            <a:ext cx="7646988" cy="1436687"/>
          </a:xfrm>
        </p:spPr>
        <p:txBody>
          <a:bodyPr/>
          <a:lstStyle>
            <a:lvl4pPr>
              <a:defRPr>
                <a:latin typeface="Arial" panose="020B0604020202020204" pitchFamily="34" charset="0"/>
              </a:defRPr>
            </a:lvl4pPr>
            <a:lvl5pPr>
              <a:defRPr>
                <a:latin typeface="Arial" panose="020B0604020202020204" pitchFamily="34" charset="0"/>
              </a:defRPr>
            </a:lvl5pPr>
          </a:lstStyle>
          <a:p>
            <a:pPr lvl="0"/>
            <a:r>
              <a:rPr lang="fr-FR"/>
              <a:t>Modifier les styles du texte du masque
Deuxième niveau
Troisième niveau
Quatrième niveau
Cinquième niveau</a:t>
            </a:r>
            <a:endParaRPr lang="fr-CH" dirty="0"/>
          </a:p>
        </p:txBody>
      </p:sp>
      <p:sp>
        <p:nvSpPr>
          <p:cNvPr id="6" name="Espace réservé de la date 5">
            <a:extLst>
              <a:ext uri="{FF2B5EF4-FFF2-40B4-BE49-F238E27FC236}">
                <a16:creationId xmlns:a16="http://schemas.microsoft.com/office/drawing/2014/main" id="{37CF3032-2465-874C-B786-95E1B594A5AB}"/>
              </a:ext>
            </a:extLst>
          </p:cNvPr>
          <p:cNvSpPr>
            <a:spLocks noGrp="1"/>
          </p:cNvSpPr>
          <p:nvPr>
            <p:ph type="dt" sz="half" idx="18"/>
          </p:nvPr>
        </p:nvSpPr>
        <p:spPr/>
        <p:txBody>
          <a:bodyPr/>
          <a:lstStyle/>
          <a:p>
            <a:r>
              <a:rPr lang="fr-CH"/>
              <a:t>NAME EVENT / NAME PRESENTATION</a:t>
            </a:r>
            <a:endParaRPr lang="fr-FR" dirty="0"/>
          </a:p>
        </p:txBody>
      </p:sp>
      <p:sp>
        <p:nvSpPr>
          <p:cNvPr id="8" name="Espace réservé du pied de page 7">
            <a:extLst>
              <a:ext uri="{FF2B5EF4-FFF2-40B4-BE49-F238E27FC236}">
                <a16:creationId xmlns:a16="http://schemas.microsoft.com/office/drawing/2014/main" id="{AAF73E2A-22D7-894A-9267-185CB4E4B13E}"/>
              </a:ext>
            </a:extLst>
          </p:cNvPr>
          <p:cNvSpPr>
            <a:spLocks noGrp="1"/>
          </p:cNvSpPr>
          <p:nvPr>
            <p:ph type="ftr" sz="quarter" idx="19"/>
          </p:nvPr>
        </p:nvSpPr>
        <p:spPr/>
        <p:txBody>
          <a:bodyPr/>
          <a:lstStyle/>
          <a:p>
            <a:r>
              <a:rPr lang="fr-FR"/>
              <a:t>Speaker </a:t>
            </a:r>
            <a:endParaRPr lang="fr-FR" dirty="0"/>
          </a:p>
        </p:txBody>
      </p:sp>
      <p:sp>
        <p:nvSpPr>
          <p:cNvPr id="9" name="Espace réservé du numéro de diapositive 8">
            <a:extLst>
              <a:ext uri="{FF2B5EF4-FFF2-40B4-BE49-F238E27FC236}">
                <a16:creationId xmlns:a16="http://schemas.microsoft.com/office/drawing/2014/main" id="{39D9777C-EC90-1141-9E30-4B4F669C2BE1}"/>
              </a:ext>
            </a:extLst>
          </p:cNvPr>
          <p:cNvSpPr>
            <a:spLocks noGrp="1"/>
          </p:cNvSpPr>
          <p:nvPr>
            <p:ph type="sldNum" sz="quarter" idx="20"/>
          </p:nvPr>
        </p:nvSpPr>
        <p:spPr/>
        <p:txBody>
          <a:bodyPr/>
          <a:lstStyle/>
          <a:p>
            <a:fld id="{E1E1CD7C-2161-7D43-862E-CE4C333CD873}" type="slidenum">
              <a:rPr lang="fr-FR" smtClean="0"/>
              <a:pPr/>
              <a:t>‹#›</a:t>
            </a:fld>
            <a:endParaRPr lang="fr-FR" dirty="0"/>
          </a:p>
        </p:txBody>
      </p:sp>
      <p:sp>
        <p:nvSpPr>
          <p:cNvPr id="11" name="Titre 10">
            <a:extLst>
              <a:ext uri="{FF2B5EF4-FFF2-40B4-BE49-F238E27FC236}">
                <a16:creationId xmlns:a16="http://schemas.microsoft.com/office/drawing/2014/main" id="{0E011164-727C-4C46-B34E-7729CB350E3E}"/>
              </a:ext>
            </a:extLst>
          </p:cNvPr>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35311561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4D8101AB-8ACE-BB4C-9D61-B4AABFE11591}"/>
              </a:ext>
            </a:extLst>
          </p:cNvPr>
          <p:cNvSpPr>
            <a:spLocks noGrp="1"/>
          </p:cNvSpPr>
          <p:nvPr>
            <p:ph type="dt" sz="half" idx="10"/>
          </p:nvPr>
        </p:nvSpPr>
        <p:spPr/>
        <p:txBody>
          <a:bodyPr/>
          <a:lstStyle/>
          <a:p>
            <a:r>
              <a:rPr lang="fr-CH"/>
              <a:t>NAME EVENT / NAME PRESENTATION</a:t>
            </a:r>
            <a:endParaRPr lang="fr-FR" dirty="0"/>
          </a:p>
        </p:txBody>
      </p:sp>
      <p:sp>
        <p:nvSpPr>
          <p:cNvPr id="6" name="Espace réservé du pied de page 5">
            <a:extLst>
              <a:ext uri="{FF2B5EF4-FFF2-40B4-BE49-F238E27FC236}">
                <a16:creationId xmlns:a16="http://schemas.microsoft.com/office/drawing/2014/main" id="{5F9CFC1D-0B2A-0A4E-9C0D-682EECA55703}"/>
              </a:ext>
            </a:extLst>
          </p:cNvPr>
          <p:cNvSpPr>
            <a:spLocks noGrp="1"/>
          </p:cNvSpPr>
          <p:nvPr>
            <p:ph type="ftr" sz="quarter" idx="11"/>
          </p:nvPr>
        </p:nvSpPr>
        <p:spPr/>
        <p:txBody>
          <a:bodyPr/>
          <a:lstStyle/>
          <a:p>
            <a:r>
              <a:rPr lang="fr-FR"/>
              <a:t>Speaker </a:t>
            </a:r>
            <a:endParaRPr lang="fr-FR" dirty="0"/>
          </a:p>
        </p:txBody>
      </p:sp>
      <p:sp>
        <p:nvSpPr>
          <p:cNvPr id="7" name="Espace réservé du numéro de diapositive 6">
            <a:extLst>
              <a:ext uri="{FF2B5EF4-FFF2-40B4-BE49-F238E27FC236}">
                <a16:creationId xmlns:a16="http://schemas.microsoft.com/office/drawing/2014/main" id="{56622065-A833-2340-B0FD-ACB065A3B8CF}"/>
              </a:ext>
            </a:extLst>
          </p:cNvPr>
          <p:cNvSpPr>
            <a:spLocks noGrp="1"/>
          </p:cNvSpPr>
          <p:nvPr>
            <p:ph type="sldNum" sz="quarter" idx="12"/>
          </p:nvPr>
        </p:nvSpPr>
        <p:spPr/>
        <p:txBody>
          <a:bodyPr/>
          <a:lstStyle/>
          <a:p>
            <a:fld id="{E1E1CD7C-2161-7D43-862E-CE4C333CD873}" type="slidenum">
              <a:rPr lang="fr-FR" smtClean="0"/>
              <a:pPr/>
              <a:t>‹#›</a:t>
            </a:fld>
            <a:endParaRPr lang="fr-FR" dirty="0"/>
          </a:p>
        </p:txBody>
      </p:sp>
    </p:spTree>
    <p:extLst>
      <p:ext uri="{BB962C8B-B14F-4D97-AF65-F5344CB8AC3E}">
        <p14:creationId xmlns:p14="http://schemas.microsoft.com/office/powerpoint/2010/main" val="1894840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04875" y="131032"/>
            <a:ext cx="3667125" cy="1072753"/>
          </a:xfrm>
          <a:prstGeom prst="rect">
            <a:avLst/>
          </a:prstGeom>
        </p:spPr>
        <p:txBody>
          <a:bodyPr vert="horz" lIns="180000" tIns="0" rIns="72000" bIns="46800" rtlCol="0" anchor="t">
            <a:normAutofit/>
          </a:bodyPr>
          <a:lstStyle/>
          <a:p>
            <a:r>
              <a:rPr lang="fr-FR" dirty="0"/>
              <a:t>Modifiez le style du titre</a:t>
            </a:r>
            <a:endParaRPr lang="en-US" dirty="0"/>
          </a:p>
        </p:txBody>
      </p:sp>
      <p:sp>
        <p:nvSpPr>
          <p:cNvPr id="3" name="Text Placeholder 2"/>
          <p:cNvSpPr>
            <a:spLocks noGrp="1"/>
          </p:cNvSpPr>
          <p:nvPr>
            <p:ph type="body" idx="1"/>
          </p:nvPr>
        </p:nvSpPr>
        <p:spPr>
          <a:xfrm>
            <a:off x="904875" y="1563688"/>
            <a:ext cx="7726363" cy="3386772"/>
          </a:xfrm>
          <a:prstGeom prst="rect">
            <a:avLst/>
          </a:prstGeom>
        </p:spPr>
        <p:txBody>
          <a:bodyPr vert="horz" lIns="180000" tIns="45720" rIns="91440" bIns="45720" rtlCol="0">
            <a:normAutofit/>
          </a:bodyPr>
          <a:lstStyle/>
          <a:p>
            <a:pPr lvl="0"/>
            <a:r>
              <a:rPr lang="fr-FR" dirty="0"/>
              <a:t>Modifier les styles du texte du masque</a:t>
            </a:r>
          </a:p>
          <a:p>
            <a:pPr lvl="1"/>
            <a:r>
              <a:rPr lang="fr-FR" dirty="0"/>
              <a:t>Deuxième niveau</a:t>
            </a:r>
          </a:p>
          <a:p>
            <a:pPr lvl="2"/>
            <a:r>
              <a:rPr lang="fr-FR" dirty="0"/>
              <a:t>Troisième niveau
Quatrième niveau
Cinquième niveau</a:t>
            </a:r>
            <a:endParaRPr lang="en-US" dirty="0"/>
          </a:p>
        </p:txBody>
      </p:sp>
      <p:sp>
        <p:nvSpPr>
          <p:cNvPr id="4" name="Date Placeholder 3"/>
          <p:cNvSpPr>
            <a:spLocks noGrp="1"/>
          </p:cNvSpPr>
          <p:nvPr>
            <p:ph type="dt" sz="half" idx="2"/>
          </p:nvPr>
        </p:nvSpPr>
        <p:spPr>
          <a:xfrm rot="16200000">
            <a:off x="-1221413" y="2778452"/>
            <a:ext cx="3341052" cy="911524"/>
          </a:xfrm>
          <a:prstGeom prst="rect">
            <a:avLst/>
          </a:prstGeom>
        </p:spPr>
        <p:txBody>
          <a:bodyPr vert="horz" lIns="91440" tIns="45720" rIns="91440" bIns="45720" rtlCol="0" anchor="ctr"/>
          <a:lstStyle>
            <a:lvl1pPr algn="l">
              <a:defRPr sz="700">
                <a:solidFill>
                  <a:schemeClr val="accent1"/>
                </a:solidFill>
                <a:latin typeface="Arial" panose="020B0604020202020204" pitchFamily="34" charset="0"/>
              </a:defRPr>
            </a:lvl1pPr>
          </a:lstStyle>
          <a:p>
            <a:r>
              <a:rPr lang="fr-CH"/>
              <a:t>NAME EVENT / NAME PRESENTATION</a:t>
            </a:r>
            <a:endParaRPr lang="fr-FR" dirty="0"/>
          </a:p>
        </p:txBody>
      </p:sp>
      <p:sp>
        <p:nvSpPr>
          <p:cNvPr id="5" name="Footer Placeholder 4"/>
          <p:cNvSpPr>
            <a:spLocks noGrp="1"/>
          </p:cNvSpPr>
          <p:nvPr>
            <p:ph type="ftr" sz="quarter" idx="3"/>
          </p:nvPr>
        </p:nvSpPr>
        <p:spPr>
          <a:xfrm rot="16200000">
            <a:off x="7115989" y="1874064"/>
            <a:ext cx="3543260" cy="512762"/>
          </a:xfrm>
          <a:prstGeom prst="rect">
            <a:avLst/>
          </a:prstGeom>
        </p:spPr>
        <p:txBody>
          <a:bodyPr vert="horz" lIns="91440" tIns="45720" rIns="91440" bIns="45720" rtlCol="0" anchor="ctr"/>
          <a:lstStyle>
            <a:lvl1pPr algn="r">
              <a:defRPr sz="700">
                <a:solidFill>
                  <a:schemeClr val="tx1"/>
                </a:solidFill>
                <a:latin typeface="Arial" panose="020B0604020202020204" pitchFamily="34" charset="0"/>
              </a:defRPr>
            </a:lvl1pPr>
          </a:lstStyle>
          <a:p>
            <a:r>
              <a:rPr lang="fr-FR" dirty="0"/>
              <a:t>Speaker </a:t>
            </a:r>
          </a:p>
        </p:txBody>
      </p:sp>
      <p:sp>
        <p:nvSpPr>
          <p:cNvPr id="6" name="Slide Number Placeholder 5"/>
          <p:cNvSpPr>
            <a:spLocks noGrp="1"/>
          </p:cNvSpPr>
          <p:nvPr>
            <p:ph type="sldNum" sz="quarter" idx="4"/>
          </p:nvPr>
        </p:nvSpPr>
        <p:spPr>
          <a:xfrm>
            <a:off x="8631238" y="195263"/>
            <a:ext cx="512762" cy="163552"/>
          </a:xfrm>
          <a:prstGeom prst="rect">
            <a:avLst/>
          </a:prstGeom>
        </p:spPr>
        <p:txBody>
          <a:bodyPr vert="horz" lIns="90000" tIns="0" rIns="90000" bIns="0" rtlCol="0" anchor="t"/>
          <a:lstStyle>
            <a:lvl1pPr algn="ctr">
              <a:defRPr sz="700" b="1">
                <a:solidFill>
                  <a:schemeClr val="tx1"/>
                </a:solidFill>
                <a:latin typeface="+mj-lt"/>
              </a:defRPr>
            </a:lvl1pPr>
          </a:lstStyle>
          <a:p>
            <a:fld id="{E1E1CD7C-2161-7D43-862E-CE4C333CD873}" type="slidenum">
              <a:rPr lang="fr-FR" smtClean="0"/>
              <a:pPr/>
              <a:t>‹#›</a:t>
            </a:fld>
            <a:endParaRPr lang="fr-FR" dirty="0"/>
          </a:p>
        </p:txBody>
      </p:sp>
      <p:pic>
        <p:nvPicPr>
          <p:cNvPr id="13" name="Image 12">
            <a:extLst>
              <a:ext uri="{FF2B5EF4-FFF2-40B4-BE49-F238E27FC236}">
                <a16:creationId xmlns:a16="http://schemas.microsoft.com/office/drawing/2014/main" id="{717E6E68-87EB-C34E-85D5-C26372DFEC99}"/>
              </a:ext>
            </a:extLst>
          </p:cNvPr>
          <p:cNvPicPr>
            <a:picLocks noChangeAspect="1"/>
          </p:cNvPicPr>
          <p:nvPr userDrawn="1"/>
        </p:nvPicPr>
        <p:blipFill>
          <a:blip r:embed="rId17"/>
          <a:stretch>
            <a:fillRect/>
          </a:stretch>
        </p:blipFill>
        <p:spPr>
          <a:xfrm>
            <a:off x="130273" y="132334"/>
            <a:ext cx="653952" cy="283022"/>
          </a:xfrm>
          <a:prstGeom prst="rect">
            <a:avLst/>
          </a:prstGeom>
        </p:spPr>
      </p:pic>
      <p:sp>
        <p:nvSpPr>
          <p:cNvPr id="14" name="Rectangle 13">
            <a:extLst>
              <a:ext uri="{FF2B5EF4-FFF2-40B4-BE49-F238E27FC236}">
                <a16:creationId xmlns:a16="http://schemas.microsoft.com/office/drawing/2014/main" id="{75D7A1C0-94CD-D94F-A99F-21847E542637}"/>
              </a:ext>
            </a:extLst>
          </p:cNvPr>
          <p:cNvSpPr/>
          <p:nvPr userDrawn="1"/>
        </p:nvSpPr>
        <p:spPr>
          <a:xfrm rot="16200000">
            <a:off x="430003" y="4897709"/>
            <a:ext cx="45719" cy="597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Arial" panose="020B0604020202020204" pitchFamily="34" charset="0"/>
            </a:endParaRPr>
          </a:p>
        </p:txBody>
      </p:sp>
    </p:spTree>
    <p:extLst>
      <p:ext uri="{BB962C8B-B14F-4D97-AF65-F5344CB8AC3E}">
        <p14:creationId xmlns:p14="http://schemas.microsoft.com/office/powerpoint/2010/main" val="3569486836"/>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81" r:id="rId3"/>
    <p:sldLayoutId id="2147483673" r:id="rId4"/>
    <p:sldLayoutId id="2147483662" r:id="rId5"/>
    <p:sldLayoutId id="2147483674" r:id="rId6"/>
    <p:sldLayoutId id="2147483675" r:id="rId7"/>
    <p:sldLayoutId id="2147483682" r:id="rId8"/>
    <p:sldLayoutId id="2147483676" r:id="rId9"/>
    <p:sldLayoutId id="2147483664" r:id="rId10"/>
    <p:sldLayoutId id="2147483666" r:id="rId11"/>
    <p:sldLayoutId id="2147483677" r:id="rId12"/>
    <p:sldLayoutId id="2147483678" r:id="rId13"/>
    <p:sldLayoutId id="2147483679" r:id="rId14"/>
    <p:sldLayoutId id="2147483667" r:id="rId15"/>
  </p:sldLayoutIdLst>
  <p:hf hdr="0"/>
  <p:txStyles>
    <p:titleStyle>
      <a:lvl1pPr algn="l" defTabSz="685800" rtl="0" eaLnBrk="1" latinLnBrk="0" hangingPunct="1">
        <a:lnSpc>
          <a:spcPct val="90000"/>
        </a:lnSpc>
        <a:spcBef>
          <a:spcPct val="0"/>
        </a:spcBef>
        <a:buNone/>
        <a:defRPr sz="3200" b="1" i="0" kern="1000" spc="-70" baseline="0">
          <a:solidFill>
            <a:schemeClr val="tx1"/>
          </a:solidFill>
          <a:latin typeface="Franklin Gothic Demi Cond" panose="020B0706030402020204" pitchFamily="34" charset="0"/>
          <a:ea typeface="Roboto Black" panose="02000000000000000000" pitchFamily="2" charset="0"/>
          <a:cs typeface="Arial" panose="020B0604020202020204" pitchFamily="34" charset="0"/>
        </a:defRPr>
      </a:lvl1pPr>
    </p:titleStyle>
    <p:bodyStyle>
      <a:lvl1pPr marL="171450" indent="-171450" algn="l" defTabSz="685800" rtl="0" eaLnBrk="1" latinLnBrk="0" hangingPunct="1">
        <a:lnSpc>
          <a:spcPct val="90000"/>
        </a:lnSpc>
        <a:spcBef>
          <a:spcPts val="750"/>
        </a:spcBef>
        <a:buClr>
          <a:schemeClr val="accent1"/>
        </a:buClr>
        <a:buSzPct val="90000"/>
        <a:buFont typeface="Wingdings" pitchFamily="2" charset="2"/>
        <a:buChar char="§"/>
        <a:defRPr sz="1800" b="0" i="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Clr>
          <a:schemeClr val="accent1"/>
        </a:buClr>
        <a:buSzPct val="100000"/>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90000"/>
        <a:buFont typeface="Wingdings" pitchFamily="2" charset="2"/>
        <a:buChar char="§"/>
        <a:defRPr sz="1500" b="0" i="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126" userDrawn="1">
          <p15:clr>
            <a:srgbClr val="F26B43"/>
          </p15:clr>
        </p15:guide>
        <p15:guide id="3" pos="5602" userDrawn="1">
          <p15:clr>
            <a:srgbClr val="F26B43"/>
          </p15:clr>
        </p15:guide>
        <p15:guide id="4" pos="2880" userDrawn="1">
          <p15:clr>
            <a:srgbClr val="F26B43"/>
          </p15:clr>
        </p15:guide>
        <p15:guide id="5" orient="horz" pos="123" userDrawn="1">
          <p15:clr>
            <a:srgbClr val="F26B43"/>
          </p15:clr>
        </p15:guide>
        <p15:guide id="6" orient="horz" pos="3117" userDrawn="1">
          <p15:clr>
            <a:srgbClr val="F26B43"/>
          </p15:clr>
        </p15:guide>
        <p15:guide id="7" pos="570" userDrawn="1">
          <p15:clr>
            <a:srgbClr val="F26B43"/>
          </p15:clr>
        </p15:guide>
        <p15:guide id="8" pos="1155" userDrawn="1">
          <p15:clr>
            <a:srgbClr val="F26B43"/>
          </p15:clr>
        </p15:guide>
        <p15:guide id="9" pos="1728" userDrawn="1">
          <p15:clr>
            <a:srgbClr val="F26B43"/>
          </p15:clr>
        </p15:guide>
        <p15:guide id="10" pos="2304" userDrawn="1">
          <p15:clr>
            <a:srgbClr val="F26B43"/>
          </p15:clr>
        </p15:guide>
        <p15:guide id="11" pos="3456" userDrawn="1">
          <p15:clr>
            <a:srgbClr val="F26B43"/>
          </p15:clr>
        </p15:guide>
        <p15:guide id="12" pos="4035" userDrawn="1">
          <p15:clr>
            <a:srgbClr val="F26B43"/>
          </p15:clr>
        </p15:guide>
        <p15:guide id="13" pos="4608" userDrawn="1">
          <p15:clr>
            <a:srgbClr val="F26B43"/>
          </p15:clr>
        </p15:guide>
        <p15:guide id="14" pos="5180" userDrawn="1">
          <p15:clr>
            <a:srgbClr val="F26B43"/>
          </p15:clr>
        </p15:guide>
        <p15:guide id="15" orient="horz" pos="490" userDrawn="1">
          <p15:clr>
            <a:srgbClr val="F26B43"/>
          </p15:clr>
        </p15:guide>
        <p15:guide id="16" orient="horz" pos="985" userDrawn="1">
          <p15:clr>
            <a:srgbClr val="F26B43"/>
          </p15:clr>
        </p15:guide>
        <p15:guide id="17" orient="horz" pos="1475" userDrawn="1">
          <p15:clr>
            <a:srgbClr val="F26B43"/>
          </p15:clr>
        </p15:guide>
        <p15:guide id="18" orient="horz" pos="1962" userDrawn="1">
          <p15:clr>
            <a:srgbClr val="F26B43"/>
          </p15:clr>
        </p15:guide>
        <p15:guide id="19" orient="horz" pos="2458" userDrawn="1">
          <p15:clr>
            <a:srgbClr val="F26B43"/>
          </p15:clr>
        </p15:guide>
        <p15:guide id="20" orient="horz" pos="2950" userDrawn="1">
          <p15:clr>
            <a:srgbClr val="F26B43"/>
          </p15:clr>
        </p15:guide>
        <p15:guide id="21" pos="5437" userDrawn="1">
          <p15:clr>
            <a:srgbClr val="F26B43"/>
          </p15:clr>
        </p15:guide>
        <p15:guide id="22" orient="horz" userDrawn="1">
          <p15:clr>
            <a:srgbClr val="F26B43"/>
          </p15:clr>
        </p15:guide>
        <p15:guide id="23" pos="5760" userDrawn="1">
          <p15:clr>
            <a:srgbClr val="F26B43"/>
          </p15:clr>
        </p15:guide>
        <p15:guide id="24" orient="horz" pos="3240" userDrawn="1">
          <p15:clr>
            <a:srgbClr val="F26B43"/>
          </p15:clr>
        </p15:guide>
        <p15:guide id="2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ru.wikipedia.org/wiki/Logitech"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ru.wikipedia.org/wiki/Logitech"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ru.wikipedia.org/wiki/Logitech"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LIONS-EPFL/coins-ict-innovations-2025" TargetMode="External"/><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s://ru.wikipedia.org/wiki/Logitech"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ru.wikipedia.org/wiki/Logitech"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ru.wikipedia.org/wiki/Logitec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5A5C923-5A79-224D-A6A6-8267C64759A4}"/>
              </a:ext>
            </a:extLst>
          </p:cNvPr>
          <p:cNvSpPr>
            <a:spLocks noGrp="1" noChangeAspect="1"/>
          </p:cNvSpPr>
          <p:nvPr>
            <p:ph type="ctrTitle"/>
          </p:nvPr>
        </p:nvSpPr>
        <p:spPr>
          <a:xfrm>
            <a:off x="1331913" y="786535"/>
            <a:ext cx="7812088" cy="2338387"/>
          </a:xfrm>
        </p:spPr>
        <p:txBody>
          <a:bodyPr>
            <a:normAutofit/>
          </a:bodyPr>
          <a:lstStyle/>
          <a:p>
            <a:r>
              <a:rPr lang="fr-FR" dirty="0"/>
              <a:t>	Scalable Methods</a:t>
            </a:r>
            <a:br>
              <a:rPr lang="fr-FR" dirty="0"/>
            </a:br>
            <a:r>
              <a:rPr lang="fr-FR" dirty="0"/>
              <a:t>	for </a:t>
            </a:r>
            <a:r>
              <a:rPr lang="fr-FR" dirty="0" err="1"/>
              <a:t>Knowledge</a:t>
            </a:r>
            <a:r>
              <a:rPr lang="fr-FR" dirty="0"/>
              <a:t> Graph </a:t>
            </a:r>
            <a:r>
              <a:rPr lang="fr-FR" dirty="0" err="1"/>
              <a:t>Reasoning</a:t>
            </a:r>
            <a:br>
              <a:rPr lang="fr-FR" dirty="0"/>
            </a:br>
            <a:r>
              <a:rPr lang="fr-FR" dirty="0"/>
              <a:t>	and </a:t>
            </a:r>
            <a:r>
              <a:rPr lang="fr-FR" dirty="0" err="1"/>
              <a:t>Generation</a:t>
            </a:r>
            <a:endParaRPr lang="fr-FR" dirty="0"/>
          </a:p>
        </p:txBody>
      </p:sp>
      <p:sp>
        <p:nvSpPr>
          <p:cNvPr id="4" name="Sous-titre 3">
            <a:extLst>
              <a:ext uri="{FF2B5EF4-FFF2-40B4-BE49-F238E27FC236}">
                <a16:creationId xmlns:a16="http://schemas.microsoft.com/office/drawing/2014/main" id="{34F3CA74-E434-844A-9C90-0FE7EB8DBFC3}"/>
              </a:ext>
            </a:extLst>
          </p:cNvPr>
          <p:cNvSpPr>
            <a:spLocks noGrp="1"/>
          </p:cNvSpPr>
          <p:nvPr>
            <p:ph type="subTitle" idx="1"/>
          </p:nvPr>
        </p:nvSpPr>
        <p:spPr>
          <a:xfrm>
            <a:off x="4576762" y="3124922"/>
            <a:ext cx="4567237" cy="708847"/>
          </a:xfrm>
        </p:spPr>
        <p:txBody>
          <a:bodyPr/>
          <a:lstStyle/>
          <a:p>
            <a:r>
              <a:rPr lang="fr-FR" dirty="0">
                <a:latin typeface="+mj-lt"/>
              </a:rPr>
              <a:t>EDIC PhD </a:t>
            </a:r>
            <a:r>
              <a:rPr lang="fr-FR" dirty="0" err="1">
                <a:latin typeface="+mj-lt"/>
              </a:rPr>
              <a:t>Private</a:t>
            </a:r>
            <a:r>
              <a:rPr lang="fr-FR" dirty="0">
                <a:latin typeface="+mj-lt"/>
              </a:rPr>
              <a:t> </a:t>
            </a:r>
            <a:r>
              <a:rPr lang="fr-FR" dirty="0" err="1">
                <a:latin typeface="+mj-lt"/>
              </a:rPr>
              <a:t>Defense</a:t>
            </a:r>
            <a:endParaRPr lang="fr-FR" dirty="0">
              <a:latin typeface="+mj-lt"/>
            </a:endParaRPr>
          </a:p>
          <a:p>
            <a:r>
              <a:rPr lang="fr-FR" dirty="0">
                <a:latin typeface="+mj-lt"/>
              </a:rPr>
              <a:t>Andrej Janchevski, EPFL STI IEM LIONS</a:t>
            </a:r>
          </a:p>
        </p:txBody>
      </p:sp>
      <p:sp>
        <p:nvSpPr>
          <p:cNvPr id="5" name="Espace réservé du texte 4">
            <a:extLst>
              <a:ext uri="{FF2B5EF4-FFF2-40B4-BE49-F238E27FC236}">
                <a16:creationId xmlns:a16="http://schemas.microsoft.com/office/drawing/2014/main" id="{BC3BCA55-E2C0-5C4E-89C0-5D85ED2FB439}"/>
              </a:ext>
            </a:extLst>
          </p:cNvPr>
          <p:cNvSpPr>
            <a:spLocks noGrp="1"/>
          </p:cNvSpPr>
          <p:nvPr>
            <p:ph type="body" sz="quarter" idx="11"/>
          </p:nvPr>
        </p:nvSpPr>
        <p:spPr/>
        <p:txBody>
          <a:bodyPr/>
          <a:lstStyle/>
          <a:p>
            <a:r>
              <a:rPr lang="fr-FR" dirty="0">
                <a:latin typeface="+mj-lt"/>
              </a:rPr>
              <a:t>Lausanne, 30.10.2025</a:t>
            </a:r>
          </a:p>
          <a:p>
            <a:r>
              <a:rPr lang="fr-FR" dirty="0">
                <a:latin typeface="+mj-lt"/>
              </a:rPr>
              <a:t> </a:t>
            </a:r>
          </a:p>
        </p:txBody>
      </p:sp>
      <p:sp>
        <p:nvSpPr>
          <p:cNvPr id="6" name="Espace réservé du texte 5">
            <a:extLst>
              <a:ext uri="{FF2B5EF4-FFF2-40B4-BE49-F238E27FC236}">
                <a16:creationId xmlns:a16="http://schemas.microsoft.com/office/drawing/2014/main" id="{18A3154D-FCB0-A34B-BBBC-167C625558EC}"/>
              </a:ext>
            </a:extLst>
          </p:cNvPr>
          <p:cNvSpPr>
            <a:spLocks noGrp="1"/>
          </p:cNvSpPr>
          <p:nvPr>
            <p:ph type="body" sz="quarter" idx="12"/>
          </p:nvPr>
        </p:nvSpPr>
        <p:spPr/>
        <p:txBody>
          <a:bodyPr/>
          <a:lstStyle/>
          <a:p>
            <a:r>
              <a:rPr lang="fr-FR" dirty="0">
                <a:latin typeface="+mj-lt"/>
              </a:rPr>
              <a:t>CC BY 1.0</a:t>
            </a:r>
          </a:p>
        </p:txBody>
      </p:sp>
      <p:pic>
        <p:nvPicPr>
          <p:cNvPr id="1032" name="Picture 8">
            <a:extLst>
              <a:ext uri="{FF2B5EF4-FFF2-40B4-BE49-F238E27FC236}">
                <a16:creationId xmlns:a16="http://schemas.microsoft.com/office/drawing/2014/main" id="{F918387C-D90C-4E72-A62C-2503908784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2803" y="77688"/>
            <a:ext cx="2286000" cy="6191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LIONS-EPFL">
            <a:extLst>
              <a:ext uri="{FF2B5EF4-FFF2-40B4-BE49-F238E27FC236}">
                <a16:creationId xmlns:a16="http://schemas.microsoft.com/office/drawing/2014/main" id="{669BF9B3-AAE2-F4CB-687D-6CC16D7C9D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53875"/>
            <a:ext cx="666750"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527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440C47E-7ABF-A149-1D70-B9253A94368D}"/>
              </a:ext>
            </a:extLst>
          </p:cNvPr>
          <p:cNvSpPr>
            <a:spLocks noGrp="1"/>
          </p:cNvSpPr>
          <p:nvPr>
            <p:ph idx="1"/>
          </p:nvPr>
        </p:nvSpPr>
        <p:spPr/>
        <p:txBody>
          <a:bodyPr>
            <a:normAutofit fontScale="92500" lnSpcReduction="20000"/>
          </a:bodyPr>
          <a:lstStyle/>
          <a:p>
            <a:pPr marL="342900" indent="-342900">
              <a:buFont typeface="+mj-lt"/>
              <a:buAutoNum type="arabicPeriod"/>
            </a:pPr>
            <a:r>
              <a:rPr lang="en-US" sz="2400" dirty="0">
                <a:latin typeface="+mj-lt"/>
              </a:rPr>
              <a:t>Introduction</a:t>
            </a:r>
          </a:p>
          <a:p>
            <a:pPr marL="342900" indent="-342900">
              <a:buFont typeface="+mj-lt"/>
              <a:buAutoNum type="arabicPeriod"/>
            </a:pPr>
            <a:r>
              <a:rPr lang="en-US" sz="2400" dirty="0">
                <a:latin typeface="+mj-lt"/>
              </a:rPr>
              <a:t>Background</a:t>
            </a:r>
          </a:p>
          <a:p>
            <a:pPr marL="342900" indent="-342900">
              <a:buFont typeface="+mj-lt"/>
              <a:buAutoNum type="arabicPeriod"/>
            </a:pPr>
            <a:r>
              <a:rPr lang="en-US" sz="2400" dirty="0">
                <a:latin typeface="+mj-lt"/>
              </a:rPr>
              <a:t>Scalable Knowledge Graph Reasoning</a:t>
            </a:r>
          </a:p>
          <a:p>
            <a:pPr marL="685800" lvl="1" indent="-342900">
              <a:buFont typeface="+mj-lt"/>
              <a:buAutoNum type="arabicPeriod"/>
            </a:pPr>
            <a:r>
              <a:rPr lang="en-US" sz="1900" dirty="0">
                <a:latin typeface="+mj-lt"/>
              </a:rPr>
              <a:t>Community-Informed Graph Embeddings</a:t>
            </a:r>
          </a:p>
          <a:p>
            <a:pPr marL="685800" lvl="1" indent="-342900">
              <a:buFont typeface="+mj-lt"/>
              <a:buAutoNum type="arabicPeriod"/>
            </a:pPr>
            <a:r>
              <a:rPr lang="en-US" sz="1900" dirty="0">
                <a:latin typeface="+mj-lt"/>
              </a:rPr>
              <a:t>Real-world Application: The Monty Knowledge Base</a:t>
            </a:r>
          </a:p>
          <a:p>
            <a:pPr marL="342900" indent="-342900">
              <a:buFont typeface="+mj-lt"/>
              <a:buAutoNum type="arabicPeriod"/>
            </a:pPr>
            <a:r>
              <a:rPr lang="en-US" sz="2400" dirty="0">
                <a:latin typeface="+mj-lt"/>
              </a:rPr>
              <a:t>Scalable Graph Generation</a:t>
            </a:r>
          </a:p>
          <a:p>
            <a:pPr marL="685800" lvl="1" indent="-342900">
              <a:buFont typeface="+mj-lt"/>
              <a:buAutoNum type="arabicPeriod"/>
            </a:pPr>
            <a:r>
              <a:rPr lang="en-US" sz="1900" dirty="0">
                <a:latin typeface="+mj-lt"/>
              </a:rPr>
              <a:t>Geometric Graph Generation with Chinese Restaurant Processes</a:t>
            </a:r>
          </a:p>
          <a:p>
            <a:pPr marL="685800" lvl="1" indent="-342900">
              <a:buFont typeface="+mj-lt"/>
              <a:buAutoNum type="arabicPeriod"/>
            </a:pPr>
            <a:r>
              <a:rPr lang="en-US" sz="1900" dirty="0">
                <a:latin typeface="+mj-lt"/>
              </a:rPr>
              <a:t>Hierarchical Generative Graph Diffusion</a:t>
            </a:r>
          </a:p>
          <a:p>
            <a:pPr marL="685800" lvl="1" indent="-342900">
              <a:buFont typeface="+mj-lt"/>
              <a:buAutoNum type="arabicPeriod"/>
            </a:pPr>
            <a:r>
              <a:rPr lang="en-US" sz="1900" dirty="0">
                <a:latin typeface="+mj-lt"/>
              </a:rPr>
              <a:t>Multi-measurement Methods for Graph Diffusion Acceleration</a:t>
            </a:r>
          </a:p>
          <a:p>
            <a:pPr marL="685800" lvl="1" indent="-342900">
              <a:buFont typeface="+mj-lt"/>
              <a:buAutoNum type="arabicPeriod"/>
            </a:pPr>
            <a:r>
              <a:rPr lang="en-US" sz="1900" dirty="0">
                <a:latin typeface="+mj-lt"/>
              </a:rPr>
              <a:t>Generative Knowledge Graph Anomaly Correction</a:t>
            </a:r>
          </a:p>
          <a:p>
            <a:pPr marL="342900" indent="-342900">
              <a:buFont typeface="+mj-lt"/>
              <a:buAutoNum type="arabicPeriod"/>
            </a:pPr>
            <a:r>
              <a:rPr lang="en-US" sz="2400" dirty="0">
                <a:latin typeface="+mj-lt"/>
              </a:rPr>
              <a:t>Conclusion</a:t>
            </a:r>
            <a:endParaRPr lang="en-GB" sz="2400" dirty="0">
              <a:latin typeface="+mj-lt"/>
            </a:endParaRPr>
          </a:p>
        </p:txBody>
      </p:sp>
      <p:sp>
        <p:nvSpPr>
          <p:cNvPr id="8" name="Title 7">
            <a:extLst>
              <a:ext uri="{FF2B5EF4-FFF2-40B4-BE49-F238E27FC236}">
                <a16:creationId xmlns:a16="http://schemas.microsoft.com/office/drawing/2014/main" id="{FF0F514E-0864-EDDB-3D12-A61E24FEF2B6}"/>
              </a:ext>
            </a:extLst>
          </p:cNvPr>
          <p:cNvSpPr>
            <a:spLocks noGrp="1"/>
          </p:cNvSpPr>
          <p:nvPr>
            <p:ph type="title"/>
          </p:nvPr>
        </p:nvSpPr>
        <p:spPr/>
        <p:txBody>
          <a:bodyPr/>
          <a:lstStyle/>
          <a:p>
            <a:r>
              <a:rPr lang="en-US" dirty="0"/>
              <a:t>Agenda</a:t>
            </a:r>
            <a:endParaRPr lang="en-GB" dirty="0"/>
          </a:p>
        </p:txBody>
      </p:sp>
      <p:sp>
        <p:nvSpPr>
          <p:cNvPr id="5" name="Date Placeholder 4">
            <a:extLst>
              <a:ext uri="{FF2B5EF4-FFF2-40B4-BE49-F238E27FC236}">
                <a16:creationId xmlns:a16="http://schemas.microsoft.com/office/drawing/2014/main" id="{051B1449-90F7-9D4C-AEA8-D0D12431A762}"/>
              </a:ext>
            </a:extLst>
          </p:cNvPr>
          <p:cNvSpPr>
            <a:spLocks noGrp="1"/>
          </p:cNvSpPr>
          <p:nvPr>
            <p:ph type="dt" sz="half" idx="10"/>
          </p:nvPr>
        </p:nvSpPr>
        <p:spPr/>
        <p:txBody>
          <a:bodyPr/>
          <a:lstStyle/>
          <a:p>
            <a:r>
              <a:rPr lang="fr-CH" sz="600" dirty="0">
                <a:latin typeface="+mj-lt"/>
              </a:rPr>
              <a:t>EDIC PhD </a:t>
            </a:r>
            <a:r>
              <a:rPr lang="fr-CH" sz="600" dirty="0" err="1">
                <a:latin typeface="+mj-lt"/>
              </a:rPr>
              <a:t>Private</a:t>
            </a:r>
            <a:r>
              <a:rPr lang="fr-CH" sz="600" dirty="0">
                <a:latin typeface="+mj-lt"/>
              </a:rPr>
              <a:t> </a:t>
            </a:r>
            <a:r>
              <a:rPr lang="fr-CH" sz="600" dirty="0" err="1">
                <a:latin typeface="+mj-lt"/>
              </a:rPr>
              <a:t>Defense</a:t>
            </a:r>
            <a:r>
              <a:rPr lang="fr-CH" sz="600" dirty="0">
                <a:latin typeface="+mj-lt"/>
              </a:rPr>
              <a:t> / Scalable Methods for </a:t>
            </a:r>
            <a:r>
              <a:rPr lang="fr-CH" sz="600" dirty="0" err="1">
                <a:latin typeface="+mj-lt"/>
              </a:rPr>
              <a:t>Knowledge</a:t>
            </a:r>
            <a:r>
              <a:rPr lang="fr-CH" sz="600" dirty="0">
                <a:latin typeface="+mj-lt"/>
              </a:rPr>
              <a:t> Graph </a:t>
            </a:r>
            <a:r>
              <a:rPr lang="fr-CH" sz="600" dirty="0" err="1">
                <a:latin typeface="+mj-lt"/>
              </a:rPr>
              <a:t>Reasoning</a:t>
            </a:r>
            <a:r>
              <a:rPr lang="fr-CH" sz="600" dirty="0">
                <a:latin typeface="+mj-lt"/>
              </a:rPr>
              <a:t> and </a:t>
            </a:r>
            <a:r>
              <a:rPr lang="fr-CH" sz="600" dirty="0" err="1">
                <a:latin typeface="+mj-lt"/>
              </a:rPr>
              <a:t>Generation</a:t>
            </a:r>
            <a:endParaRPr lang="fr-FR" sz="600" dirty="0">
              <a:latin typeface="+mj-lt"/>
            </a:endParaRPr>
          </a:p>
        </p:txBody>
      </p:sp>
      <p:sp>
        <p:nvSpPr>
          <p:cNvPr id="6" name="Footer Placeholder 5">
            <a:extLst>
              <a:ext uri="{FF2B5EF4-FFF2-40B4-BE49-F238E27FC236}">
                <a16:creationId xmlns:a16="http://schemas.microsoft.com/office/drawing/2014/main" id="{C5DBFF27-07ED-80B7-3449-B5541D24D8B0}"/>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A14D9E5F-8DE0-D4BC-CCDC-D69B322568E4}"/>
              </a:ext>
            </a:extLst>
          </p:cNvPr>
          <p:cNvSpPr>
            <a:spLocks noGrp="1"/>
          </p:cNvSpPr>
          <p:nvPr>
            <p:ph type="sldNum" sz="quarter" idx="12"/>
          </p:nvPr>
        </p:nvSpPr>
        <p:spPr/>
        <p:txBody>
          <a:bodyPr/>
          <a:lstStyle/>
          <a:p>
            <a:fld id="{E1E1CD7C-2161-7D43-862E-CE4C333CD873}" type="slidenum">
              <a:rPr lang="fr-FR" smtClean="0"/>
              <a:pPr/>
              <a:t>2</a:t>
            </a:fld>
            <a:endParaRPr lang="fr-FR" dirty="0"/>
          </a:p>
        </p:txBody>
      </p:sp>
    </p:spTree>
    <p:extLst>
      <p:ext uri="{BB962C8B-B14F-4D97-AF65-F5344CB8AC3E}">
        <p14:creationId xmlns:p14="http://schemas.microsoft.com/office/powerpoint/2010/main" val="1673806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79054AB-E69B-49BD-6443-39E9AED0207C}"/>
              </a:ext>
            </a:extLst>
          </p:cNvPr>
          <p:cNvSpPr>
            <a:spLocks noGrp="1"/>
          </p:cNvSpPr>
          <p:nvPr>
            <p:ph type="title"/>
          </p:nvPr>
        </p:nvSpPr>
        <p:spPr/>
        <p:txBody>
          <a:bodyPr/>
          <a:lstStyle/>
          <a:p>
            <a:r>
              <a:rPr lang="en-US" dirty="0"/>
              <a:t>Introduction</a:t>
            </a:r>
            <a:endParaRPr lang="en-GB" dirty="0"/>
          </a:p>
        </p:txBody>
      </p:sp>
      <p:sp>
        <p:nvSpPr>
          <p:cNvPr id="8" name="Text Placeholder 7">
            <a:extLst>
              <a:ext uri="{FF2B5EF4-FFF2-40B4-BE49-F238E27FC236}">
                <a16:creationId xmlns:a16="http://schemas.microsoft.com/office/drawing/2014/main" id="{762427C8-5173-2FAE-16A3-AA708901905A}"/>
              </a:ext>
            </a:extLst>
          </p:cNvPr>
          <p:cNvSpPr>
            <a:spLocks noGrp="1"/>
          </p:cNvSpPr>
          <p:nvPr>
            <p:ph type="body" idx="1"/>
          </p:nvPr>
        </p:nvSpPr>
        <p:spPr/>
        <p:txBody>
          <a:bodyPr>
            <a:normAutofit/>
          </a:bodyPr>
          <a:lstStyle/>
          <a:p>
            <a:r>
              <a:rPr lang="en-US" sz="2400" dirty="0">
                <a:latin typeface="+mj-lt"/>
              </a:rPr>
              <a:t>Chapter 1</a:t>
            </a:r>
            <a:endParaRPr lang="en-GB" sz="2400" dirty="0">
              <a:latin typeface="+mj-lt"/>
            </a:endParaRPr>
          </a:p>
        </p:txBody>
      </p:sp>
      <p:sp>
        <p:nvSpPr>
          <p:cNvPr id="4" name="Date Placeholder 3">
            <a:extLst>
              <a:ext uri="{FF2B5EF4-FFF2-40B4-BE49-F238E27FC236}">
                <a16:creationId xmlns:a16="http://schemas.microsoft.com/office/drawing/2014/main" id="{5751FED3-C36F-426D-39B0-F93F3B412C3D}"/>
              </a:ext>
            </a:extLst>
          </p:cNvPr>
          <p:cNvSpPr>
            <a:spLocks noGrp="1"/>
          </p:cNvSpPr>
          <p:nvPr>
            <p:ph type="dt" sz="half" idx="14"/>
          </p:nvPr>
        </p:nvSpPr>
        <p:spPr/>
        <p:txBody>
          <a:bodyPr/>
          <a:lstStyle/>
          <a:p>
            <a:r>
              <a:rPr lang="en-US" sz="600" dirty="0">
                <a:latin typeface="+mj-lt"/>
              </a:rPr>
              <a:t>EDIC PhD Private Defense / Scalable Methods for Knowledge Graph Reasoning and Generation</a:t>
            </a:r>
          </a:p>
        </p:txBody>
      </p:sp>
      <p:sp>
        <p:nvSpPr>
          <p:cNvPr id="5" name="Footer Placeholder 4">
            <a:extLst>
              <a:ext uri="{FF2B5EF4-FFF2-40B4-BE49-F238E27FC236}">
                <a16:creationId xmlns:a16="http://schemas.microsoft.com/office/drawing/2014/main" id="{01436E2B-6C6B-2BBB-CDDF-4BFF19B93179}"/>
              </a:ext>
            </a:extLst>
          </p:cNvPr>
          <p:cNvSpPr>
            <a:spLocks noGrp="1"/>
          </p:cNvSpPr>
          <p:nvPr>
            <p:ph type="ftr" sz="quarter" idx="15"/>
          </p:nvPr>
        </p:nvSpPr>
        <p:spPr/>
        <p:txBody>
          <a:bodyPr/>
          <a:lstStyle/>
          <a:p>
            <a:endParaRPr lang="fr-FR" dirty="0">
              <a:latin typeface="+mj-lt"/>
            </a:endParaRPr>
          </a:p>
          <a:p>
            <a:r>
              <a:rPr lang="fr-FR" dirty="0">
                <a:latin typeface="+mj-lt"/>
              </a:rPr>
              <a:t>Andrej Janchevski, EPFL STI IEM LIONS, Lausanne, </a:t>
            </a:r>
            <a:r>
              <a:rPr lang="fr-FR" dirty="0" err="1">
                <a:latin typeface="+mj-lt"/>
              </a:rPr>
              <a:t>Switzerland</a:t>
            </a:r>
            <a:r>
              <a:rPr lang="fr-FR" dirty="0">
                <a:latin typeface="+mj-lt"/>
              </a:rPr>
              <a:t> </a:t>
            </a:r>
          </a:p>
          <a:p>
            <a:r>
              <a:rPr lang="fr-FR" dirty="0"/>
              <a:t> </a:t>
            </a:r>
          </a:p>
        </p:txBody>
      </p:sp>
      <p:sp>
        <p:nvSpPr>
          <p:cNvPr id="6" name="Slide Number Placeholder 5">
            <a:extLst>
              <a:ext uri="{FF2B5EF4-FFF2-40B4-BE49-F238E27FC236}">
                <a16:creationId xmlns:a16="http://schemas.microsoft.com/office/drawing/2014/main" id="{1CECEE65-7D03-DBD2-DD71-1F87BF9F8775}"/>
              </a:ext>
            </a:extLst>
          </p:cNvPr>
          <p:cNvSpPr>
            <a:spLocks noGrp="1"/>
          </p:cNvSpPr>
          <p:nvPr>
            <p:ph type="sldNum" sz="quarter" idx="16"/>
          </p:nvPr>
        </p:nvSpPr>
        <p:spPr/>
        <p:txBody>
          <a:bodyPr/>
          <a:lstStyle/>
          <a:p>
            <a:fld id="{E1E1CD7C-2161-7D43-862E-CE4C333CD873}" type="slidenum">
              <a:rPr lang="fr-FR" smtClean="0"/>
              <a:pPr/>
              <a:t>3</a:t>
            </a:fld>
            <a:endParaRPr lang="fr-FR" dirty="0"/>
          </a:p>
        </p:txBody>
      </p:sp>
      <p:pic>
        <p:nvPicPr>
          <p:cNvPr id="10" name="Picture Placeholder 11" descr="A city next to the water&#10;&#10;AI-generated content may be incorrect.">
            <a:extLst>
              <a:ext uri="{FF2B5EF4-FFF2-40B4-BE49-F238E27FC236}">
                <a16:creationId xmlns:a16="http://schemas.microsoft.com/office/drawing/2014/main" id="{7D023253-089C-DCAE-E050-516180635769}"/>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6235" r="26235"/>
          <a:stretch>
            <a:fillRect/>
          </a:stretch>
        </p:blipFill>
        <p:spPr bwMode="auto">
          <a:xfrm>
            <a:off x="904875" y="0"/>
            <a:ext cx="366712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135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D0C56-A144-A790-71F9-4C3D711980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3B1140-37FE-9C9D-6190-1C5D9C0FB60C}"/>
              </a:ext>
            </a:extLst>
          </p:cNvPr>
          <p:cNvSpPr>
            <a:spLocks noGrp="1"/>
          </p:cNvSpPr>
          <p:nvPr>
            <p:ph sz="half" idx="1"/>
          </p:nvPr>
        </p:nvSpPr>
        <p:spPr>
          <a:xfrm>
            <a:off x="904875" y="1563688"/>
            <a:ext cx="4310592" cy="3263504"/>
          </a:xfrm>
        </p:spPr>
        <p:txBody>
          <a:bodyPr>
            <a:normAutofit/>
          </a:bodyPr>
          <a:lstStyle/>
          <a:p>
            <a:r>
              <a:rPr lang="en-CH" dirty="0">
                <a:latin typeface="+mj-lt"/>
              </a:rPr>
              <a:t>Novel complex scientific problem</a:t>
            </a:r>
          </a:p>
          <a:p>
            <a:pPr lvl="1"/>
            <a:r>
              <a:rPr lang="en-CH" dirty="0">
                <a:latin typeface="+mj-lt"/>
              </a:rPr>
              <a:t>Computer science:  </a:t>
            </a:r>
            <a:r>
              <a:rPr lang="en-CH" i="1" dirty="0">
                <a:latin typeface="+mj-lt"/>
              </a:rPr>
              <a:t>computational</a:t>
            </a:r>
            <a:r>
              <a:rPr lang="en-CH" dirty="0">
                <a:latin typeface="+mj-lt"/>
              </a:rPr>
              <a:t> complexity</a:t>
            </a:r>
          </a:p>
          <a:p>
            <a:pPr lvl="1"/>
            <a:r>
              <a:rPr lang="en-CH" dirty="0">
                <a:latin typeface="+mj-lt"/>
              </a:rPr>
              <a:t>Solution idea camps: </a:t>
            </a:r>
            <a:r>
              <a:rPr lang="en-CH" i="1" dirty="0">
                <a:latin typeface="+mj-lt"/>
              </a:rPr>
              <a:t>holism</a:t>
            </a:r>
            <a:r>
              <a:rPr lang="en-CH" dirty="0">
                <a:latin typeface="+mj-lt"/>
              </a:rPr>
              <a:t> vs. </a:t>
            </a:r>
            <a:r>
              <a:rPr lang="en-CH" i="1" dirty="0">
                <a:latin typeface="+mj-lt"/>
              </a:rPr>
              <a:t>reductionism</a:t>
            </a:r>
          </a:p>
          <a:p>
            <a:pPr lvl="1"/>
            <a:r>
              <a:rPr lang="en-CH" dirty="0">
                <a:latin typeface="+mj-lt"/>
              </a:rPr>
              <a:t>Discard </a:t>
            </a:r>
            <a:r>
              <a:rPr lang="en-GB" dirty="0">
                <a:latin typeface="+mj-lt"/>
              </a:rPr>
              <a:t>local/noisy</a:t>
            </a:r>
            <a:r>
              <a:rPr lang="en-CH" dirty="0">
                <a:latin typeface="+mj-lt"/>
              </a:rPr>
              <a:t> features vs. decompose</a:t>
            </a:r>
          </a:p>
          <a:p>
            <a:r>
              <a:rPr lang="en-CH" dirty="0">
                <a:latin typeface="+mj-lt"/>
              </a:rPr>
              <a:t>This thesis</a:t>
            </a:r>
          </a:p>
          <a:p>
            <a:pPr lvl="1"/>
            <a:r>
              <a:rPr lang="en-CH" dirty="0">
                <a:latin typeface="+mj-lt"/>
              </a:rPr>
              <a:t>Graph machine learning problems</a:t>
            </a:r>
          </a:p>
          <a:p>
            <a:pPr lvl="1"/>
            <a:r>
              <a:rPr lang="en-CH" dirty="0">
                <a:latin typeface="+mj-lt"/>
              </a:rPr>
              <a:t>Scalability issues from graph sizes</a:t>
            </a:r>
          </a:p>
          <a:p>
            <a:pPr lvl="1"/>
            <a:r>
              <a:rPr lang="en-CH" dirty="0">
                <a:latin typeface="+mj-lt"/>
              </a:rPr>
              <a:t>KG reasoning and graph generation</a:t>
            </a:r>
          </a:p>
          <a:p>
            <a:pPr lvl="1"/>
            <a:r>
              <a:rPr lang="en-CH" dirty="0">
                <a:latin typeface="+mj-lt"/>
              </a:rPr>
              <a:t>Mix of </a:t>
            </a:r>
            <a:r>
              <a:rPr lang="en-GB" dirty="0">
                <a:latin typeface="+mj-lt"/>
              </a:rPr>
              <a:t>holistic </a:t>
            </a:r>
            <a:r>
              <a:rPr lang="en-GB" i="1" dirty="0">
                <a:latin typeface="+mj-lt"/>
              </a:rPr>
              <a:t>and</a:t>
            </a:r>
            <a:r>
              <a:rPr lang="en-GB" dirty="0">
                <a:latin typeface="+mj-lt"/>
              </a:rPr>
              <a:t> reductionist views</a:t>
            </a:r>
          </a:p>
          <a:p>
            <a:pPr lvl="1"/>
            <a:r>
              <a:rPr lang="en-GB" dirty="0">
                <a:latin typeface="+mj-lt"/>
              </a:rPr>
              <a:t>Community detection + graph coarsening</a:t>
            </a:r>
          </a:p>
          <a:p>
            <a:pPr lvl="1"/>
            <a:r>
              <a:rPr lang="en-GB" dirty="0">
                <a:latin typeface="+mj-lt"/>
              </a:rPr>
              <a:t>5x5 Rubik’s Cubes…</a:t>
            </a:r>
            <a:endParaRPr lang="en-CH" dirty="0">
              <a:latin typeface="+mj-lt"/>
            </a:endParaRPr>
          </a:p>
        </p:txBody>
      </p:sp>
      <p:sp>
        <p:nvSpPr>
          <p:cNvPr id="8" name="Title 7">
            <a:extLst>
              <a:ext uri="{FF2B5EF4-FFF2-40B4-BE49-F238E27FC236}">
                <a16:creationId xmlns:a16="http://schemas.microsoft.com/office/drawing/2014/main" id="{F782E0B8-4F5A-258F-276B-555C3F25A674}"/>
              </a:ext>
            </a:extLst>
          </p:cNvPr>
          <p:cNvSpPr>
            <a:spLocks noGrp="1"/>
          </p:cNvSpPr>
          <p:nvPr>
            <p:ph type="title"/>
          </p:nvPr>
        </p:nvSpPr>
        <p:spPr/>
        <p:txBody>
          <a:bodyPr/>
          <a:lstStyle/>
          <a:p>
            <a:r>
              <a:rPr lang="en-US" dirty="0"/>
              <a:t>1.	Introduction</a:t>
            </a:r>
            <a:endParaRPr lang="en-GB" dirty="0"/>
          </a:p>
        </p:txBody>
      </p:sp>
      <p:sp>
        <p:nvSpPr>
          <p:cNvPr id="5" name="Date Placeholder 4">
            <a:extLst>
              <a:ext uri="{FF2B5EF4-FFF2-40B4-BE49-F238E27FC236}">
                <a16:creationId xmlns:a16="http://schemas.microsoft.com/office/drawing/2014/main" id="{3D02C016-2998-BE78-58DA-FFC05A9525E3}"/>
              </a:ext>
            </a:extLst>
          </p:cNvPr>
          <p:cNvSpPr>
            <a:spLocks noGrp="1"/>
          </p:cNvSpPr>
          <p:nvPr>
            <p:ph type="dt" sz="half" idx="10"/>
          </p:nvPr>
        </p:nvSpPr>
        <p:spPr/>
        <p:txBody>
          <a:bodyPr/>
          <a:lstStyle/>
          <a:p>
            <a:r>
              <a:rPr lang="fr-CH" sz="600" dirty="0">
                <a:latin typeface="+mj-lt"/>
              </a:rPr>
              <a:t>EDIC PhD </a:t>
            </a:r>
            <a:r>
              <a:rPr lang="fr-CH" sz="600" dirty="0" err="1">
                <a:latin typeface="+mj-lt"/>
              </a:rPr>
              <a:t>Private</a:t>
            </a:r>
            <a:r>
              <a:rPr lang="fr-CH" sz="600" dirty="0">
                <a:latin typeface="+mj-lt"/>
              </a:rPr>
              <a:t> </a:t>
            </a:r>
            <a:r>
              <a:rPr lang="fr-CH" sz="600" dirty="0" err="1">
                <a:latin typeface="+mj-lt"/>
              </a:rPr>
              <a:t>Defense</a:t>
            </a:r>
            <a:r>
              <a:rPr lang="fr-CH" sz="600" dirty="0">
                <a:latin typeface="+mj-lt"/>
              </a:rPr>
              <a:t> / Scalable Methods for </a:t>
            </a:r>
            <a:r>
              <a:rPr lang="fr-CH" sz="600" dirty="0" err="1">
                <a:latin typeface="+mj-lt"/>
              </a:rPr>
              <a:t>Knowledge</a:t>
            </a:r>
            <a:r>
              <a:rPr lang="fr-CH" sz="600" dirty="0">
                <a:latin typeface="+mj-lt"/>
              </a:rPr>
              <a:t> Graph </a:t>
            </a:r>
            <a:r>
              <a:rPr lang="fr-CH" sz="600" dirty="0" err="1">
                <a:latin typeface="+mj-lt"/>
              </a:rPr>
              <a:t>Reasoning</a:t>
            </a:r>
            <a:r>
              <a:rPr lang="fr-CH" sz="600" dirty="0">
                <a:latin typeface="+mj-lt"/>
              </a:rPr>
              <a:t> and </a:t>
            </a:r>
            <a:r>
              <a:rPr lang="fr-CH" sz="600" dirty="0" err="1">
                <a:latin typeface="+mj-lt"/>
              </a:rPr>
              <a:t>Generation</a:t>
            </a:r>
            <a:endParaRPr lang="fr-FR" sz="600" dirty="0">
              <a:latin typeface="+mj-lt"/>
            </a:endParaRPr>
          </a:p>
        </p:txBody>
      </p:sp>
      <p:sp>
        <p:nvSpPr>
          <p:cNvPr id="6" name="Footer Placeholder 5">
            <a:extLst>
              <a:ext uri="{FF2B5EF4-FFF2-40B4-BE49-F238E27FC236}">
                <a16:creationId xmlns:a16="http://schemas.microsoft.com/office/drawing/2014/main" id="{F6B3629B-752D-B6E7-3BE6-47EE17B6F3CF}"/>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95458CD1-F209-233E-C193-F1D1A15447F3}"/>
              </a:ext>
            </a:extLst>
          </p:cNvPr>
          <p:cNvSpPr>
            <a:spLocks noGrp="1"/>
          </p:cNvSpPr>
          <p:nvPr>
            <p:ph type="sldNum" sz="quarter" idx="12"/>
          </p:nvPr>
        </p:nvSpPr>
        <p:spPr/>
        <p:txBody>
          <a:bodyPr/>
          <a:lstStyle/>
          <a:p>
            <a:fld id="{E1E1CD7C-2161-7D43-862E-CE4C333CD873}" type="slidenum">
              <a:rPr lang="fr-FR" smtClean="0"/>
              <a:pPr/>
              <a:t>4</a:t>
            </a:fld>
            <a:endParaRPr lang="fr-FR" dirty="0"/>
          </a:p>
        </p:txBody>
      </p:sp>
      <p:pic>
        <p:nvPicPr>
          <p:cNvPr id="17" name="Content Placeholder 16" descr="A colorful cube with black background&#10;&#10;AI-generated content may be incorrect.">
            <a:extLst>
              <a:ext uri="{FF2B5EF4-FFF2-40B4-BE49-F238E27FC236}">
                <a16:creationId xmlns:a16="http://schemas.microsoft.com/office/drawing/2014/main" id="{32D42F86-6274-9188-3897-96B094645C8E}"/>
              </a:ext>
            </a:extLst>
          </p:cNvPr>
          <p:cNvPicPr>
            <a:picLocks noGrp="1" noChangeAspect="1"/>
          </p:cNvPicPr>
          <p:nvPr>
            <p:ph sz="half" idx="2"/>
          </p:nvPr>
        </p:nvPicPr>
        <p:blipFill>
          <a:blip r:embed="rId3"/>
          <a:stretch>
            <a:fillRect/>
          </a:stretch>
        </p:blipFill>
        <p:spPr>
          <a:xfrm>
            <a:off x="5828189" y="43353"/>
            <a:ext cx="1546860" cy="1600200"/>
          </a:xfrm>
        </p:spPr>
      </p:pic>
      <p:pic>
        <p:nvPicPr>
          <p:cNvPr id="19" name="Picture 18" descr="A cube with different colored squares&#10;&#10;AI-generated content may be incorrect.">
            <a:extLst>
              <a:ext uri="{FF2B5EF4-FFF2-40B4-BE49-F238E27FC236}">
                <a16:creationId xmlns:a16="http://schemas.microsoft.com/office/drawing/2014/main" id="{52BCCD3B-AA16-720A-78C2-5768DF21F938}"/>
              </a:ext>
            </a:extLst>
          </p:cNvPr>
          <p:cNvPicPr>
            <a:picLocks noChangeAspect="1"/>
          </p:cNvPicPr>
          <p:nvPr/>
        </p:nvPicPr>
        <p:blipFill>
          <a:blip r:embed="rId4"/>
          <a:stretch>
            <a:fillRect/>
          </a:stretch>
        </p:blipFill>
        <p:spPr>
          <a:xfrm>
            <a:off x="5820569" y="1707158"/>
            <a:ext cx="1562100" cy="1600200"/>
          </a:xfrm>
          <a:prstGeom prst="rect">
            <a:avLst/>
          </a:prstGeom>
        </p:spPr>
      </p:pic>
      <p:pic>
        <p:nvPicPr>
          <p:cNvPr id="21" name="Picture 20" descr="A cube with different colored squares&#10;&#10;AI-generated content may be incorrect.">
            <a:extLst>
              <a:ext uri="{FF2B5EF4-FFF2-40B4-BE49-F238E27FC236}">
                <a16:creationId xmlns:a16="http://schemas.microsoft.com/office/drawing/2014/main" id="{67AB955C-60BF-E161-C24E-61DDD03FF6AA}"/>
              </a:ext>
            </a:extLst>
          </p:cNvPr>
          <p:cNvPicPr>
            <a:picLocks noChangeAspect="1"/>
          </p:cNvPicPr>
          <p:nvPr/>
        </p:nvPicPr>
        <p:blipFill>
          <a:blip r:embed="rId5"/>
          <a:stretch>
            <a:fillRect/>
          </a:stretch>
        </p:blipFill>
        <p:spPr>
          <a:xfrm>
            <a:off x="5824910" y="3370963"/>
            <a:ext cx="1577340" cy="1653540"/>
          </a:xfrm>
          <a:prstGeom prst="rect">
            <a:avLst/>
          </a:prstGeom>
        </p:spPr>
      </p:pic>
    </p:spTree>
    <p:extLst>
      <p:ext uri="{BB962C8B-B14F-4D97-AF65-F5344CB8AC3E}">
        <p14:creationId xmlns:p14="http://schemas.microsoft.com/office/powerpoint/2010/main" val="137815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3" dur="500"/>
                                        <p:tgtEl>
                                          <p:spTgt spid="2">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randombar(horizontal)">
                                      <p:cBhvr>
                                        <p:cTn id="21" dur="500"/>
                                        <p:tgtEl>
                                          <p:spTgt spid="2">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4" dur="500"/>
                                        <p:tgtEl>
                                          <p:spTgt spid="2">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27" dur="500"/>
                                        <p:tgtEl>
                                          <p:spTgt spid="2">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randombar(horizontal)">
                                      <p:cBhvr>
                                        <p:cTn id="30" dur="500"/>
                                        <p:tgtEl>
                                          <p:spTgt spid="2">
                                            <p:txEl>
                                              <p:pRg st="7" end="7"/>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Effect transition="in" filter="randombar(horizontal)">
                                      <p:cBhvr>
                                        <p:cTn id="33" dur="500"/>
                                        <p:tgtEl>
                                          <p:spTgt spid="2">
                                            <p:txEl>
                                              <p:pRg st="8" end="8"/>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2">
                                            <p:txEl>
                                              <p:pRg st="9" end="9"/>
                                            </p:txEl>
                                          </p:spTgt>
                                        </p:tgtEl>
                                        <p:attrNameLst>
                                          <p:attrName>style.visibility</p:attrName>
                                        </p:attrNameLst>
                                      </p:cBhvr>
                                      <p:to>
                                        <p:strVal val="visible"/>
                                      </p:to>
                                    </p:set>
                                    <p:animEffect transition="in" filter="randombar(horizontal)">
                                      <p:cBhvr>
                                        <p:cTn id="36" dur="500"/>
                                        <p:tgtEl>
                                          <p:spTgt spid="2">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2">
                                            <p:txEl>
                                              <p:pRg st="10" end="10"/>
                                            </p:txEl>
                                          </p:spTgt>
                                        </p:tgtEl>
                                        <p:attrNameLst>
                                          <p:attrName>style.visibility</p:attrName>
                                        </p:attrNameLst>
                                      </p:cBhvr>
                                      <p:to>
                                        <p:strVal val="visible"/>
                                      </p:to>
                                    </p:set>
                                    <p:animEffect transition="in" filter="randombar(horizontal)">
                                      <p:cBhvr>
                                        <p:cTn id="41" dur="500"/>
                                        <p:tgtEl>
                                          <p:spTgt spid="2">
                                            <p:txEl>
                                              <p:pRg st="10" end="10"/>
                                            </p:txEl>
                                          </p:spTgt>
                                        </p:tgtEl>
                                      </p:cBhvr>
                                    </p:animEffect>
                                  </p:childTnLst>
                                </p:cTn>
                              </p:par>
                            </p:childTnLst>
                          </p:cTn>
                        </p:par>
                        <p:par>
                          <p:cTn id="42" fill="hold">
                            <p:stCondLst>
                              <p:cond delay="500"/>
                            </p:stCondLst>
                            <p:childTnLst>
                              <p:par>
                                <p:cTn id="43" presetID="14" presetClass="entr" presetSubtype="10"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randombar(horizontal)">
                                      <p:cBhvr>
                                        <p:cTn id="45" dur="500"/>
                                        <p:tgtEl>
                                          <p:spTgt spid="17"/>
                                        </p:tgtEl>
                                      </p:cBhvr>
                                    </p:animEffect>
                                  </p:childTnLst>
                                </p:cTn>
                              </p:par>
                            </p:childTnLst>
                          </p:cTn>
                        </p:par>
                        <p:par>
                          <p:cTn id="46" fill="hold">
                            <p:stCondLst>
                              <p:cond delay="1000"/>
                            </p:stCondLst>
                            <p:childTnLst>
                              <p:par>
                                <p:cTn id="47" presetID="14" presetClass="entr" presetSubtype="10"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randombar(horizontal)">
                                      <p:cBhvr>
                                        <p:cTn id="49" dur="500"/>
                                        <p:tgtEl>
                                          <p:spTgt spid="19"/>
                                        </p:tgtEl>
                                      </p:cBhvr>
                                    </p:animEffect>
                                  </p:childTnLst>
                                </p:cTn>
                              </p:par>
                            </p:childTnLst>
                          </p:cTn>
                        </p:par>
                        <p:par>
                          <p:cTn id="50" fill="hold">
                            <p:stCondLst>
                              <p:cond delay="1500"/>
                            </p:stCondLst>
                            <p:childTnLst>
                              <p:par>
                                <p:cTn id="51" presetID="14" presetClass="entr" presetSubtype="10" fill="hold"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randombar(horizontal)">
                                      <p:cBhvr>
                                        <p:cTn id="5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1E700-93CD-3B97-28E3-E03EA94B51E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4606254-2A12-C49B-0DE5-F28F4BF72A35}"/>
              </a:ext>
            </a:extLst>
          </p:cNvPr>
          <p:cNvSpPr>
            <a:spLocks noGrp="1"/>
          </p:cNvSpPr>
          <p:nvPr>
            <p:ph type="title"/>
          </p:nvPr>
        </p:nvSpPr>
        <p:spPr/>
        <p:txBody>
          <a:bodyPr/>
          <a:lstStyle/>
          <a:p>
            <a:r>
              <a:rPr lang="en-US" dirty="0"/>
              <a:t>Background</a:t>
            </a:r>
            <a:endParaRPr lang="en-GB" dirty="0"/>
          </a:p>
        </p:txBody>
      </p:sp>
      <p:sp>
        <p:nvSpPr>
          <p:cNvPr id="8" name="Text Placeholder 7">
            <a:extLst>
              <a:ext uri="{FF2B5EF4-FFF2-40B4-BE49-F238E27FC236}">
                <a16:creationId xmlns:a16="http://schemas.microsoft.com/office/drawing/2014/main" id="{57C68295-DCBF-4740-F53D-B52C8BD5A96E}"/>
              </a:ext>
            </a:extLst>
          </p:cNvPr>
          <p:cNvSpPr>
            <a:spLocks noGrp="1"/>
          </p:cNvSpPr>
          <p:nvPr>
            <p:ph type="body" idx="1"/>
          </p:nvPr>
        </p:nvSpPr>
        <p:spPr/>
        <p:txBody>
          <a:bodyPr>
            <a:normAutofit/>
          </a:bodyPr>
          <a:lstStyle/>
          <a:p>
            <a:r>
              <a:rPr lang="en-US" sz="2400" dirty="0">
                <a:latin typeface="+mj-lt"/>
              </a:rPr>
              <a:t>Chapter 2</a:t>
            </a:r>
            <a:endParaRPr lang="en-GB" sz="2400" dirty="0">
              <a:latin typeface="+mj-lt"/>
            </a:endParaRPr>
          </a:p>
        </p:txBody>
      </p:sp>
      <p:sp>
        <p:nvSpPr>
          <p:cNvPr id="4" name="Date Placeholder 3">
            <a:extLst>
              <a:ext uri="{FF2B5EF4-FFF2-40B4-BE49-F238E27FC236}">
                <a16:creationId xmlns:a16="http://schemas.microsoft.com/office/drawing/2014/main" id="{5166B582-C792-B7A3-DE19-45D7E538472C}"/>
              </a:ext>
            </a:extLst>
          </p:cNvPr>
          <p:cNvSpPr>
            <a:spLocks noGrp="1"/>
          </p:cNvSpPr>
          <p:nvPr>
            <p:ph type="dt" sz="half" idx="14"/>
          </p:nvPr>
        </p:nvSpPr>
        <p:spPr/>
        <p:txBody>
          <a:bodyPr/>
          <a:lstStyle/>
          <a:p>
            <a:r>
              <a:rPr lang="en-US" sz="600" dirty="0">
                <a:latin typeface="+mj-lt"/>
              </a:rPr>
              <a:t>EDIC PhD Private Defense / Scalable Methods for Knowledge Graph Reasoning and Generation</a:t>
            </a:r>
          </a:p>
        </p:txBody>
      </p:sp>
      <p:sp>
        <p:nvSpPr>
          <p:cNvPr id="5" name="Footer Placeholder 4">
            <a:extLst>
              <a:ext uri="{FF2B5EF4-FFF2-40B4-BE49-F238E27FC236}">
                <a16:creationId xmlns:a16="http://schemas.microsoft.com/office/drawing/2014/main" id="{7D6B2E06-CF19-6EF3-5446-BA5DDCC4F871}"/>
              </a:ext>
            </a:extLst>
          </p:cNvPr>
          <p:cNvSpPr>
            <a:spLocks noGrp="1"/>
          </p:cNvSpPr>
          <p:nvPr>
            <p:ph type="ftr" sz="quarter" idx="15"/>
          </p:nvPr>
        </p:nvSpPr>
        <p:spPr/>
        <p:txBody>
          <a:bodyPr/>
          <a:lstStyle/>
          <a:p>
            <a:endParaRPr lang="fr-FR" dirty="0">
              <a:latin typeface="+mj-lt"/>
            </a:endParaRPr>
          </a:p>
          <a:p>
            <a:r>
              <a:rPr lang="fr-FR" dirty="0">
                <a:latin typeface="+mj-lt"/>
              </a:rPr>
              <a:t>Andrej Janchevski, EPFL STI IEM LIONS, Lausanne, </a:t>
            </a:r>
            <a:r>
              <a:rPr lang="fr-FR" dirty="0" err="1">
                <a:latin typeface="+mj-lt"/>
              </a:rPr>
              <a:t>Switzerland</a:t>
            </a:r>
            <a:r>
              <a:rPr lang="fr-FR" dirty="0">
                <a:latin typeface="+mj-lt"/>
              </a:rPr>
              <a:t> </a:t>
            </a:r>
          </a:p>
          <a:p>
            <a:r>
              <a:rPr lang="fr-FR" dirty="0"/>
              <a:t> </a:t>
            </a:r>
          </a:p>
        </p:txBody>
      </p:sp>
      <p:sp>
        <p:nvSpPr>
          <p:cNvPr id="6" name="Slide Number Placeholder 5">
            <a:extLst>
              <a:ext uri="{FF2B5EF4-FFF2-40B4-BE49-F238E27FC236}">
                <a16:creationId xmlns:a16="http://schemas.microsoft.com/office/drawing/2014/main" id="{EE55C852-765A-75AA-A28E-AB7F1BB650FE}"/>
              </a:ext>
            </a:extLst>
          </p:cNvPr>
          <p:cNvSpPr>
            <a:spLocks noGrp="1"/>
          </p:cNvSpPr>
          <p:nvPr>
            <p:ph type="sldNum" sz="quarter" idx="16"/>
          </p:nvPr>
        </p:nvSpPr>
        <p:spPr/>
        <p:txBody>
          <a:bodyPr/>
          <a:lstStyle/>
          <a:p>
            <a:fld id="{E1E1CD7C-2161-7D43-862E-CE4C333CD873}" type="slidenum">
              <a:rPr lang="fr-FR" smtClean="0"/>
              <a:pPr/>
              <a:t>5</a:t>
            </a:fld>
            <a:endParaRPr lang="fr-FR" dirty="0"/>
          </a:p>
        </p:txBody>
      </p:sp>
      <p:pic>
        <p:nvPicPr>
          <p:cNvPr id="10" name="Picture Placeholder 11" descr="A city next to the water&#10;&#10;AI-generated content may be incorrect.">
            <a:extLst>
              <a:ext uri="{FF2B5EF4-FFF2-40B4-BE49-F238E27FC236}">
                <a16:creationId xmlns:a16="http://schemas.microsoft.com/office/drawing/2014/main" id="{A32A2321-4877-EE7B-ED00-A004ABABACBF}"/>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6235" r="26235"/>
          <a:stretch>
            <a:fillRect/>
          </a:stretch>
        </p:blipFill>
        <p:spPr bwMode="auto">
          <a:xfrm>
            <a:off x="904875" y="0"/>
            <a:ext cx="366712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890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BA6DB-2A63-EBB5-8441-EFCD40A5E8FF}"/>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C86C03D2-4E07-16F4-6C46-869551A8C93F}"/>
                  </a:ext>
                </a:extLst>
              </p:cNvPr>
              <p:cNvSpPr>
                <a:spLocks noGrp="1"/>
              </p:cNvSpPr>
              <p:nvPr>
                <p:ph sz="half" idx="1"/>
              </p:nvPr>
            </p:nvSpPr>
            <p:spPr/>
            <p:txBody>
              <a:bodyPr>
                <a:normAutofit fontScale="77500" lnSpcReduction="20000"/>
              </a:bodyPr>
              <a:lstStyle/>
              <a:p>
                <a:r>
                  <a:rPr lang="en-CH" dirty="0">
                    <a:latin typeface="+mj-lt"/>
                  </a:rPr>
                  <a:t>Graphs – </a:t>
                </a:r>
                <a:r>
                  <a:rPr lang="en-CH" i="1" dirty="0">
                    <a:latin typeface="+mj-lt"/>
                  </a:rPr>
                  <a:t>relational</a:t>
                </a:r>
                <a:r>
                  <a:rPr lang="en-CH" dirty="0">
                    <a:latin typeface="+mj-lt"/>
                  </a:rPr>
                  <a:t> data with a surprisingly rich number of avenues for analysis</a:t>
                </a:r>
              </a:p>
              <a:p>
                <a:pPr lvl="1"/>
                <a:r>
                  <a:rPr lang="en-US" dirty="0">
                    <a:latin typeface="+mj-lt"/>
                  </a:rPr>
                  <a:t>Set of nodes and edges: </a:t>
                </a:r>
                <a14:m>
                  <m:oMath xmlns:m="http://schemas.openxmlformats.org/officeDocument/2006/math">
                    <m:r>
                      <a:rPr lang="en-US" b="0" i="1" smtClean="0">
                        <a:latin typeface="+mj-lt"/>
                      </a:rPr>
                      <m:t>𝐺</m:t>
                    </m:r>
                    <m:r>
                      <a:rPr lang="en-US" b="0" i="1" smtClean="0">
                        <a:latin typeface="+mj-lt"/>
                      </a:rPr>
                      <m:t>=</m:t>
                    </m:r>
                    <m:d>
                      <m:dPr>
                        <m:ctrlPr>
                          <a:rPr lang="en-US" b="0" i="1" smtClean="0">
                            <a:latin typeface="+mj-lt"/>
                          </a:rPr>
                        </m:ctrlPr>
                      </m:dPr>
                      <m:e>
                        <m:r>
                          <a:rPr lang="en-US" b="0" i="1" smtClean="0">
                            <a:latin typeface="+mj-lt"/>
                          </a:rPr>
                          <m:t>𝑉</m:t>
                        </m:r>
                        <m:r>
                          <a:rPr lang="en-US" b="0" i="1" smtClean="0">
                            <a:latin typeface="+mj-lt"/>
                          </a:rPr>
                          <m:t>,</m:t>
                        </m:r>
                        <m:r>
                          <a:rPr lang="en-US" b="0" i="1" smtClean="0">
                            <a:latin typeface="+mj-lt"/>
                          </a:rPr>
                          <m:t>𝐸</m:t>
                        </m:r>
                      </m:e>
                    </m:d>
                  </m:oMath>
                </a14:m>
                <a:endParaRPr lang="en-CH" dirty="0">
                  <a:latin typeface="+mj-lt"/>
                </a:endParaRPr>
              </a:p>
              <a:p>
                <a:pPr lvl="1"/>
                <a:r>
                  <a:rPr lang="en-CH" dirty="0">
                    <a:latin typeface="+mj-lt"/>
                  </a:rPr>
                  <a:t>Directed vs. undirected, adjacency matrices</a:t>
                </a:r>
              </a:p>
              <a:p>
                <a:pPr lvl="1"/>
                <a:r>
                  <a:rPr lang="en-CH" dirty="0">
                    <a:latin typeface="+mj-lt"/>
                  </a:rPr>
                  <a:t>Node neighborhoods and degrees, paths and cycles, subgraphs</a:t>
                </a:r>
              </a:p>
              <a:p>
                <a:pPr lvl="1"/>
                <a:r>
                  <a:rPr lang="en-CH" dirty="0">
                    <a:latin typeface="+mj-lt"/>
                  </a:rPr>
                  <a:t>Connected components, Laplacian and spectral decomposition, orbits</a:t>
                </a:r>
              </a:p>
              <a:p>
                <a:r>
                  <a:rPr lang="en-CH" dirty="0">
                    <a:latin typeface="+mj-lt"/>
                  </a:rPr>
                  <a:t>Network Science – </a:t>
                </a:r>
                <a:r>
                  <a:rPr lang="en-CH" i="1" dirty="0">
                    <a:latin typeface="+mj-lt"/>
                  </a:rPr>
                  <a:t>importance</a:t>
                </a:r>
                <a:r>
                  <a:rPr lang="en-CH" dirty="0">
                    <a:latin typeface="+mj-lt"/>
                  </a:rPr>
                  <a:t> measures</a:t>
                </a:r>
              </a:p>
              <a:p>
                <a:pPr lvl="1"/>
                <a:r>
                  <a:rPr lang="en-CH" dirty="0">
                    <a:latin typeface="+mj-lt"/>
                  </a:rPr>
                  <a:t>Centralities</a:t>
                </a:r>
              </a:p>
              <a:p>
                <a:pPr lvl="1"/>
                <a:r>
                  <a:rPr lang="en-CH" dirty="0">
                    <a:latin typeface="+mj-lt"/>
                  </a:rPr>
                  <a:t>Clustering coefficients</a:t>
                </a:r>
              </a:p>
              <a:p>
                <a:pPr lvl="1"/>
                <a:r>
                  <a:rPr lang="en-CH" dirty="0">
                    <a:latin typeface="+mj-lt"/>
                  </a:rPr>
                  <a:t>HITS, PageRank</a:t>
                </a:r>
              </a:p>
              <a:p>
                <a:r>
                  <a:rPr lang="en-CH" dirty="0">
                    <a:latin typeface="+mj-lt"/>
                  </a:rPr>
                  <a:t>Community structure</a:t>
                </a:r>
              </a:p>
              <a:p>
                <a:pPr lvl="1"/>
                <a:r>
                  <a:rPr lang="en-CH" dirty="0">
                    <a:latin typeface="+mj-lt"/>
                  </a:rPr>
                  <a:t>Local density, global sparsity</a:t>
                </a:r>
              </a:p>
              <a:p>
                <a:pPr lvl="1"/>
                <a:r>
                  <a:rPr lang="en-CH" dirty="0">
                    <a:latin typeface="+mj-lt"/>
                  </a:rPr>
                  <a:t>Disjoint vs. overlapping communities</a:t>
                </a:r>
              </a:p>
              <a:p>
                <a:pPr lvl="1"/>
                <a:r>
                  <a:rPr lang="en-CH" dirty="0">
                    <a:latin typeface="+mj-lt"/>
                  </a:rPr>
                  <a:t>Graph abstraction through coarsening</a:t>
                </a:r>
              </a:p>
              <a:p>
                <a:endParaRPr lang="en-CH" dirty="0">
                  <a:latin typeface="+mj-lt"/>
                </a:endParaRPr>
              </a:p>
              <a:p>
                <a:pPr lvl="1"/>
                <a:endParaRPr lang="en-CH" dirty="0">
                  <a:latin typeface="+mj-lt"/>
                </a:endParaRPr>
              </a:p>
              <a:p>
                <a:pPr lvl="1"/>
                <a:endParaRPr lang="en-CH" dirty="0">
                  <a:latin typeface="+mj-lt"/>
                </a:endParaRPr>
              </a:p>
              <a:p>
                <a:pPr lvl="1"/>
                <a:endParaRPr lang="en-CH" dirty="0">
                  <a:latin typeface="+mj-lt"/>
                </a:endParaRPr>
              </a:p>
            </p:txBody>
          </p:sp>
        </mc:Choice>
        <mc:Fallback>
          <p:sp>
            <p:nvSpPr>
              <p:cNvPr id="2" name="Content Placeholder 1">
                <a:extLst>
                  <a:ext uri="{FF2B5EF4-FFF2-40B4-BE49-F238E27FC236}">
                    <a16:creationId xmlns:a16="http://schemas.microsoft.com/office/drawing/2014/main" id="{C86C03D2-4E07-16F4-6C46-869551A8C93F}"/>
                  </a:ext>
                </a:extLst>
              </p:cNvPr>
              <p:cNvSpPr>
                <a:spLocks noGrp="1" noRot="1" noChangeAspect="1" noMove="1" noResize="1" noEditPoints="1" noAdjustHandles="1" noChangeArrowheads="1" noChangeShapeType="1" noTextEdit="1"/>
              </p:cNvSpPr>
              <p:nvPr>
                <p:ph sz="half" idx="1"/>
              </p:nvPr>
            </p:nvSpPr>
            <p:spPr>
              <a:blipFill>
                <a:blip r:embed="rId3"/>
                <a:stretch>
                  <a:fillRect t="-2326"/>
                </a:stretch>
              </a:blipFill>
            </p:spPr>
            <p:txBody>
              <a:bodyPr/>
              <a:lstStyle/>
              <a:p>
                <a:r>
                  <a:rPr lang="en-CH">
                    <a:noFill/>
                  </a:rPr>
                  <a:t> </a:t>
                </a:r>
              </a:p>
            </p:txBody>
          </p:sp>
        </mc:Fallback>
      </mc:AlternateContent>
      <p:sp>
        <p:nvSpPr>
          <p:cNvPr id="8" name="Title 7">
            <a:extLst>
              <a:ext uri="{FF2B5EF4-FFF2-40B4-BE49-F238E27FC236}">
                <a16:creationId xmlns:a16="http://schemas.microsoft.com/office/drawing/2014/main" id="{1ED8A346-1243-AA21-B288-43D3DBE18806}"/>
              </a:ext>
            </a:extLst>
          </p:cNvPr>
          <p:cNvSpPr>
            <a:spLocks noGrp="1"/>
          </p:cNvSpPr>
          <p:nvPr>
            <p:ph type="title"/>
          </p:nvPr>
        </p:nvSpPr>
        <p:spPr>
          <a:xfrm>
            <a:off x="904875" y="131032"/>
            <a:ext cx="7532688" cy="1072753"/>
          </a:xfrm>
        </p:spPr>
        <p:txBody>
          <a:bodyPr/>
          <a:lstStyle/>
          <a:p>
            <a:r>
              <a:rPr lang="en-US" dirty="0"/>
              <a:t>2.1	Graph Theory &amp; Network Science</a:t>
            </a:r>
            <a:endParaRPr lang="en-GB" dirty="0"/>
          </a:p>
        </p:txBody>
      </p:sp>
      <p:sp>
        <p:nvSpPr>
          <p:cNvPr id="5" name="Date Placeholder 4">
            <a:extLst>
              <a:ext uri="{FF2B5EF4-FFF2-40B4-BE49-F238E27FC236}">
                <a16:creationId xmlns:a16="http://schemas.microsoft.com/office/drawing/2014/main" id="{018B2783-AC6C-0A71-979C-EB9C2FF5C21A}"/>
              </a:ext>
            </a:extLst>
          </p:cNvPr>
          <p:cNvSpPr>
            <a:spLocks noGrp="1"/>
          </p:cNvSpPr>
          <p:nvPr>
            <p:ph type="dt" sz="half" idx="10"/>
          </p:nvPr>
        </p:nvSpPr>
        <p:spPr/>
        <p:txBody>
          <a:bodyPr/>
          <a:lstStyle/>
          <a:p>
            <a:r>
              <a:rPr lang="fr-CH" sz="600" dirty="0">
                <a:latin typeface="+mj-lt"/>
              </a:rPr>
              <a:t>EDIC PhD </a:t>
            </a:r>
            <a:r>
              <a:rPr lang="fr-CH" sz="600" dirty="0" err="1">
                <a:latin typeface="+mj-lt"/>
              </a:rPr>
              <a:t>Private</a:t>
            </a:r>
            <a:r>
              <a:rPr lang="fr-CH" sz="600" dirty="0">
                <a:latin typeface="+mj-lt"/>
              </a:rPr>
              <a:t> </a:t>
            </a:r>
            <a:r>
              <a:rPr lang="fr-CH" sz="600" dirty="0" err="1">
                <a:latin typeface="+mj-lt"/>
              </a:rPr>
              <a:t>Defense</a:t>
            </a:r>
            <a:r>
              <a:rPr lang="fr-CH" sz="600" dirty="0">
                <a:latin typeface="+mj-lt"/>
              </a:rPr>
              <a:t> / Scalable Methods for </a:t>
            </a:r>
            <a:r>
              <a:rPr lang="fr-CH" sz="600" dirty="0" err="1">
                <a:latin typeface="+mj-lt"/>
              </a:rPr>
              <a:t>Knowledge</a:t>
            </a:r>
            <a:r>
              <a:rPr lang="fr-CH" sz="600" dirty="0">
                <a:latin typeface="+mj-lt"/>
              </a:rPr>
              <a:t> Graph </a:t>
            </a:r>
            <a:r>
              <a:rPr lang="fr-CH" sz="600" dirty="0" err="1">
                <a:latin typeface="+mj-lt"/>
              </a:rPr>
              <a:t>Reasoning</a:t>
            </a:r>
            <a:r>
              <a:rPr lang="fr-CH" sz="600" dirty="0">
                <a:latin typeface="+mj-lt"/>
              </a:rPr>
              <a:t> and </a:t>
            </a:r>
            <a:r>
              <a:rPr lang="fr-CH" sz="600" dirty="0" err="1">
                <a:latin typeface="+mj-lt"/>
              </a:rPr>
              <a:t>Generation</a:t>
            </a:r>
            <a:endParaRPr lang="fr-FR" sz="600" dirty="0">
              <a:latin typeface="+mj-lt"/>
            </a:endParaRPr>
          </a:p>
        </p:txBody>
      </p:sp>
      <p:sp>
        <p:nvSpPr>
          <p:cNvPr id="6" name="Footer Placeholder 5">
            <a:extLst>
              <a:ext uri="{FF2B5EF4-FFF2-40B4-BE49-F238E27FC236}">
                <a16:creationId xmlns:a16="http://schemas.microsoft.com/office/drawing/2014/main" id="{D93F59AD-8C49-8B9B-7C7D-233804C44B9E}"/>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E96E3C4D-9D3D-C43B-EB9F-097EA6E12194}"/>
              </a:ext>
            </a:extLst>
          </p:cNvPr>
          <p:cNvSpPr>
            <a:spLocks noGrp="1"/>
          </p:cNvSpPr>
          <p:nvPr>
            <p:ph type="sldNum" sz="quarter" idx="12"/>
          </p:nvPr>
        </p:nvSpPr>
        <p:spPr/>
        <p:txBody>
          <a:bodyPr/>
          <a:lstStyle/>
          <a:p>
            <a:fld id="{E1E1CD7C-2161-7D43-862E-CE4C333CD873}" type="slidenum">
              <a:rPr lang="fr-FR" smtClean="0"/>
              <a:pPr/>
              <a:t>6</a:t>
            </a:fld>
            <a:endParaRPr lang="fr-FR" dirty="0"/>
          </a:p>
        </p:txBody>
      </p:sp>
      <p:pic>
        <p:nvPicPr>
          <p:cNvPr id="3074" name="Picture 2" descr="The Seven Bridges of Königsberg, Fig. 1 - PICRYL - Public Domain Media  Search Engine Public Domain Search">
            <a:extLst>
              <a:ext uri="{FF2B5EF4-FFF2-40B4-BE49-F238E27FC236}">
                <a16:creationId xmlns:a16="http://schemas.microsoft.com/office/drawing/2014/main" id="{36D69303-F1BC-4A80-7D7E-49B12CC04DA4}"/>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4765675" y="634959"/>
            <a:ext cx="3671888" cy="185745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27AFB34-8218-D916-D131-E3EDBA0B99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3819" y="2656840"/>
            <a:ext cx="2895600" cy="224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3460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3" dur="500"/>
                                        <p:tgtEl>
                                          <p:spTgt spid="2">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6" dur="500"/>
                                        <p:tgtEl>
                                          <p:spTgt spid="2">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9" dur="500"/>
                                        <p:tgtEl>
                                          <p:spTgt spid="2">
                                            <p:txEl>
                                              <p:pRg st="4" end="4"/>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3074"/>
                                        </p:tgtEl>
                                        <p:attrNameLst>
                                          <p:attrName>style.visibility</p:attrName>
                                        </p:attrNameLst>
                                      </p:cBhvr>
                                      <p:to>
                                        <p:strVal val="visible"/>
                                      </p:to>
                                    </p:set>
                                    <p:animEffect transition="in" filter="randombar(horizontal)">
                                      <p:cBhvr>
                                        <p:cTn id="22" dur="500"/>
                                        <p:tgtEl>
                                          <p:spTgt spid="3074"/>
                                        </p:tgtEl>
                                      </p:cBhvr>
                                    </p:animEffect>
                                  </p:childTnLst>
                                </p:cTn>
                              </p:par>
                              <p:par>
                                <p:cTn id="23" presetID="14" presetClass="entr" presetSubtype="10" fill="hold" nodeType="withEffect">
                                  <p:stCondLst>
                                    <p:cond delay="0"/>
                                  </p:stCondLst>
                                  <p:childTnLst>
                                    <p:set>
                                      <p:cBhvr>
                                        <p:cTn id="24" dur="1" fill="hold">
                                          <p:stCondLst>
                                            <p:cond delay="0"/>
                                          </p:stCondLst>
                                        </p:cTn>
                                        <p:tgtEl>
                                          <p:spTgt spid="3076"/>
                                        </p:tgtEl>
                                        <p:attrNameLst>
                                          <p:attrName>style.visibility</p:attrName>
                                        </p:attrNameLst>
                                      </p:cBhvr>
                                      <p:to>
                                        <p:strVal val="visible"/>
                                      </p:to>
                                    </p:set>
                                    <p:animEffect transition="in" filter="randombar(horizontal)">
                                      <p:cBhvr>
                                        <p:cTn id="25" dur="500"/>
                                        <p:tgtEl>
                                          <p:spTgt spid="3076"/>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randombar(horizontal)">
                                      <p:cBhvr>
                                        <p:cTn id="30" dur="500"/>
                                        <p:tgtEl>
                                          <p:spTgt spid="2">
                                            <p:txEl>
                                              <p:pRg st="5" end="5"/>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Effect transition="in" filter="randombar(horizontal)">
                                      <p:cBhvr>
                                        <p:cTn id="33" dur="500"/>
                                        <p:tgtEl>
                                          <p:spTgt spid="2">
                                            <p:txEl>
                                              <p:pRg st="6" end="6"/>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2">
                                            <p:txEl>
                                              <p:pRg st="7" end="7"/>
                                            </p:txEl>
                                          </p:spTgt>
                                        </p:tgtEl>
                                        <p:attrNameLst>
                                          <p:attrName>style.visibility</p:attrName>
                                        </p:attrNameLst>
                                      </p:cBhvr>
                                      <p:to>
                                        <p:strVal val="visible"/>
                                      </p:to>
                                    </p:set>
                                    <p:animEffect transition="in" filter="randombar(horizontal)">
                                      <p:cBhvr>
                                        <p:cTn id="36" dur="500"/>
                                        <p:tgtEl>
                                          <p:spTgt spid="2">
                                            <p:txEl>
                                              <p:pRg st="7" end="7"/>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randombar(horizontal)">
                                      <p:cBhvr>
                                        <p:cTn id="39" dur="500"/>
                                        <p:tgtEl>
                                          <p:spTgt spid="2">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2">
                                            <p:txEl>
                                              <p:pRg st="9" end="9"/>
                                            </p:txEl>
                                          </p:spTgt>
                                        </p:tgtEl>
                                        <p:attrNameLst>
                                          <p:attrName>style.visibility</p:attrName>
                                        </p:attrNameLst>
                                      </p:cBhvr>
                                      <p:to>
                                        <p:strVal val="visible"/>
                                      </p:to>
                                    </p:set>
                                    <p:animEffect transition="in" filter="randombar(horizontal)">
                                      <p:cBhvr>
                                        <p:cTn id="44" dur="500"/>
                                        <p:tgtEl>
                                          <p:spTgt spid="2">
                                            <p:txEl>
                                              <p:pRg st="9" end="9"/>
                                            </p:txEl>
                                          </p:spTgt>
                                        </p:tgtEl>
                                      </p:cBhvr>
                                    </p:animEffect>
                                  </p:childTnLst>
                                </p:cTn>
                              </p:par>
                              <p:par>
                                <p:cTn id="45" presetID="14" presetClass="entr" presetSubtype="10" fill="hold" nodeType="with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animEffect transition="in" filter="randombar(horizontal)">
                                      <p:cBhvr>
                                        <p:cTn id="47" dur="500"/>
                                        <p:tgtEl>
                                          <p:spTgt spid="2">
                                            <p:txEl>
                                              <p:pRg st="10" end="10"/>
                                            </p:txEl>
                                          </p:spTgt>
                                        </p:tgtEl>
                                      </p:cBhvr>
                                    </p:animEffect>
                                  </p:childTnLst>
                                </p:cTn>
                              </p:par>
                              <p:par>
                                <p:cTn id="48" presetID="14" presetClass="entr" presetSubtype="10" fill="hold" nodeType="withEffect">
                                  <p:stCondLst>
                                    <p:cond delay="0"/>
                                  </p:stCondLst>
                                  <p:childTnLst>
                                    <p:set>
                                      <p:cBhvr>
                                        <p:cTn id="49" dur="1" fill="hold">
                                          <p:stCondLst>
                                            <p:cond delay="0"/>
                                          </p:stCondLst>
                                        </p:cTn>
                                        <p:tgtEl>
                                          <p:spTgt spid="2">
                                            <p:txEl>
                                              <p:pRg st="11" end="11"/>
                                            </p:txEl>
                                          </p:spTgt>
                                        </p:tgtEl>
                                        <p:attrNameLst>
                                          <p:attrName>style.visibility</p:attrName>
                                        </p:attrNameLst>
                                      </p:cBhvr>
                                      <p:to>
                                        <p:strVal val="visible"/>
                                      </p:to>
                                    </p:set>
                                    <p:animEffect transition="in" filter="randombar(horizontal)">
                                      <p:cBhvr>
                                        <p:cTn id="50" dur="500"/>
                                        <p:tgtEl>
                                          <p:spTgt spid="2">
                                            <p:txEl>
                                              <p:pRg st="11" end="11"/>
                                            </p:txEl>
                                          </p:spTgt>
                                        </p:tgtEl>
                                      </p:cBhvr>
                                    </p:animEffect>
                                  </p:childTnLst>
                                </p:cTn>
                              </p:par>
                              <p:par>
                                <p:cTn id="51" presetID="14" presetClass="entr" presetSubtype="10" fill="hold" nodeType="withEffect">
                                  <p:stCondLst>
                                    <p:cond delay="0"/>
                                  </p:stCondLst>
                                  <p:childTnLst>
                                    <p:set>
                                      <p:cBhvr>
                                        <p:cTn id="52" dur="1" fill="hold">
                                          <p:stCondLst>
                                            <p:cond delay="0"/>
                                          </p:stCondLst>
                                        </p:cTn>
                                        <p:tgtEl>
                                          <p:spTgt spid="2">
                                            <p:txEl>
                                              <p:pRg st="12" end="12"/>
                                            </p:txEl>
                                          </p:spTgt>
                                        </p:tgtEl>
                                        <p:attrNameLst>
                                          <p:attrName>style.visibility</p:attrName>
                                        </p:attrNameLst>
                                      </p:cBhvr>
                                      <p:to>
                                        <p:strVal val="visible"/>
                                      </p:to>
                                    </p:set>
                                    <p:animEffect transition="in" filter="randombar(horizontal)">
                                      <p:cBhvr>
                                        <p:cTn id="53"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275CE-A8D4-5750-F619-8CEB4B84C2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306EF8-4762-ED3E-E823-77E2197FE9DE}"/>
              </a:ext>
            </a:extLst>
          </p:cNvPr>
          <p:cNvSpPr>
            <a:spLocks noGrp="1"/>
          </p:cNvSpPr>
          <p:nvPr>
            <p:ph sz="half" idx="1"/>
          </p:nvPr>
        </p:nvSpPr>
        <p:spPr>
          <a:xfrm>
            <a:off x="904875" y="1563688"/>
            <a:ext cx="3794125" cy="3263504"/>
          </a:xfrm>
        </p:spPr>
        <p:txBody>
          <a:bodyPr>
            <a:normAutofit fontScale="92500" lnSpcReduction="10000"/>
          </a:bodyPr>
          <a:lstStyle/>
          <a:p>
            <a:r>
              <a:rPr lang="en-CH" dirty="0">
                <a:latin typeface="+mj-lt"/>
              </a:rPr>
              <a:t>Models, parameters, data points, loss functions…</a:t>
            </a:r>
          </a:p>
          <a:p>
            <a:r>
              <a:rPr lang="en-CH" dirty="0">
                <a:latin typeface="+mj-lt"/>
              </a:rPr>
              <a:t>Optimization algorithms</a:t>
            </a:r>
          </a:p>
          <a:p>
            <a:pPr lvl="1"/>
            <a:r>
              <a:rPr lang="en-CH" dirty="0">
                <a:latin typeface="+mj-lt"/>
              </a:rPr>
              <a:t>Learning model parameters via loss minimization with GD, SGD, Adam…</a:t>
            </a:r>
          </a:p>
          <a:p>
            <a:r>
              <a:rPr lang="en-CH" dirty="0">
                <a:latin typeface="+mj-lt"/>
              </a:rPr>
              <a:t>Neural networks</a:t>
            </a:r>
          </a:p>
          <a:p>
            <a:pPr lvl="1"/>
            <a:r>
              <a:rPr lang="en-CH" dirty="0">
                <a:latin typeface="+mj-lt"/>
              </a:rPr>
              <a:t>Sequence of </a:t>
            </a:r>
            <a:r>
              <a:rPr lang="en-CH" i="1" dirty="0">
                <a:latin typeface="+mj-lt"/>
              </a:rPr>
              <a:t>layer </a:t>
            </a:r>
            <a:r>
              <a:rPr lang="en-CH" dirty="0">
                <a:latin typeface="+mj-lt"/>
              </a:rPr>
              <a:t>models</a:t>
            </a:r>
          </a:p>
          <a:p>
            <a:pPr lvl="1"/>
            <a:r>
              <a:rPr lang="en-CH" dirty="0">
                <a:latin typeface="+mj-lt"/>
              </a:rPr>
              <a:t>Universal approximation</a:t>
            </a:r>
          </a:p>
          <a:p>
            <a:pPr lvl="1"/>
            <a:r>
              <a:rPr lang="en-CH" dirty="0">
                <a:latin typeface="+mj-lt"/>
              </a:rPr>
              <a:t>Importance of depth</a:t>
            </a:r>
          </a:p>
          <a:p>
            <a:pPr lvl="1"/>
            <a:r>
              <a:rPr lang="en-CH" dirty="0">
                <a:latin typeface="+mj-lt"/>
              </a:rPr>
              <a:t>Layer architectures: linear, embedding, dropout, batch normalization…</a:t>
            </a:r>
          </a:p>
          <a:p>
            <a:pPr lvl="1"/>
            <a:r>
              <a:rPr lang="en-CH" dirty="0">
                <a:latin typeface="+mj-lt"/>
              </a:rPr>
              <a:t>Attention</a:t>
            </a:r>
          </a:p>
          <a:p>
            <a:r>
              <a:rPr lang="en-CH" dirty="0">
                <a:latin typeface="+mj-lt"/>
              </a:rPr>
              <a:t>Graph Neural Network (GNN) blocks </a:t>
            </a:r>
          </a:p>
        </p:txBody>
      </p:sp>
      <p:pic>
        <p:nvPicPr>
          <p:cNvPr id="9" name="Content Placeholder 8" descr="A diagram of a block diagram&#10;&#10;AI-generated content may be incorrect.">
            <a:extLst>
              <a:ext uri="{FF2B5EF4-FFF2-40B4-BE49-F238E27FC236}">
                <a16:creationId xmlns:a16="http://schemas.microsoft.com/office/drawing/2014/main" id="{88D96A37-E209-3633-03C2-B1FE95E19218}"/>
              </a:ext>
            </a:extLst>
          </p:cNvPr>
          <p:cNvPicPr>
            <a:picLocks noGrp="1" noChangeAspect="1"/>
          </p:cNvPicPr>
          <p:nvPr>
            <p:ph sz="half" idx="2"/>
          </p:nvPr>
        </p:nvPicPr>
        <p:blipFill>
          <a:blip r:embed="rId3"/>
          <a:stretch>
            <a:fillRect/>
          </a:stretch>
        </p:blipFill>
        <p:spPr>
          <a:xfrm>
            <a:off x="4959350" y="2265383"/>
            <a:ext cx="3671888" cy="1860510"/>
          </a:xfrm>
        </p:spPr>
      </p:pic>
      <p:sp>
        <p:nvSpPr>
          <p:cNvPr id="8" name="Title 7">
            <a:extLst>
              <a:ext uri="{FF2B5EF4-FFF2-40B4-BE49-F238E27FC236}">
                <a16:creationId xmlns:a16="http://schemas.microsoft.com/office/drawing/2014/main" id="{F8D8ADF1-141C-AA98-C3D8-7BB8E3CCCD03}"/>
              </a:ext>
            </a:extLst>
          </p:cNvPr>
          <p:cNvSpPr>
            <a:spLocks noGrp="1"/>
          </p:cNvSpPr>
          <p:nvPr>
            <p:ph type="title"/>
          </p:nvPr>
        </p:nvSpPr>
        <p:spPr>
          <a:xfrm>
            <a:off x="904875" y="131032"/>
            <a:ext cx="7726363" cy="1072753"/>
          </a:xfrm>
        </p:spPr>
        <p:txBody>
          <a:bodyPr/>
          <a:lstStyle/>
          <a:p>
            <a:r>
              <a:rPr lang="en-US" dirty="0"/>
              <a:t>2.2	Graph Machine Learning</a:t>
            </a:r>
            <a:endParaRPr lang="en-GB" dirty="0"/>
          </a:p>
        </p:txBody>
      </p:sp>
      <p:sp>
        <p:nvSpPr>
          <p:cNvPr id="5" name="Date Placeholder 4">
            <a:extLst>
              <a:ext uri="{FF2B5EF4-FFF2-40B4-BE49-F238E27FC236}">
                <a16:creationId xmlns:a16="http://schemas.microsoft.com/office/drawing/2014/main" id="{827D9700-EACD-2B9C-71F5-9A4889EB070E}"/>
              </a:ext>
            </a:extLst>
          </p:cNvPr>
          <p:cNvSpPr>
            <a:spLocks noGrp="1"/>
          </p:cNvSpPr>
          <p:nvPr>
            <p:ph type="dt" sz="half" idx="10"/>
          </p:nvPr>
        </p:nvSpPr>
        <p:spPr/>
        <p:txBody>
          <a:bodyPr/>
          <a:lstStyle/>
          <a:p>
            <a:r>
              <a:rPr lang="fr-CH" sz="600" dirty="0">
                <a:latin typeface="+mj-lt"/>
              </a:rPr>
              <a:t>EDIC PhD </a:t>
            </a:r>
            <a:r>
              <a:rPr lang="fr-CH" sz="600" dirty="0" err="1">
                <a:latin typeface="+mj-lt"/>
              </a:rPr>
              <a:t>Private</a:t>
            </a:r>
            <a:r>
              <a:rPr lang="fr-CH" sz="600" dirty="0">
                <a:latin typeface="+mj-lt"/>
              </a:rPr>
              <a:t> </a:t>
            </a:r>
            <a:r>
              <a:rPr lang="fr-CH" sz="600" dirty="0" err="1">
                <a:latin typeface="+mj-lt"/>
              </a:rPr>
              <a:t>Defense</a:t>
            </a:r>
            <a:r>
              <a:rPr lang="fr-CH" sz="600" dirty="0">
                <a:latin typeface="+mj-lt"/>
              </a:rPr>
              <a:t> / Scalable Methods for </a:t>
            </a:r>
            <a:r>
              <a:rPr lang="fr-CH" sz="600" dirty="0" err="1">
                <a:latin typeface="+mj-lt"/>
              </a:rPr>
              <a:t>Knowledge</a:t>
            </a:r>
            <a:r>
              <a:rPr lang="fr-CH" sz="600" dirty="0">
                <a:latin typeface="+mj-lt"/>
              </a:rPr>
              <a:t> Graph </a:t>
            </a:r>
            <a:r>
              <a:rPr lang="fr-CH" sz="600" dirty="0" err="1">
                <a:latin typeface="+mj-lt"/>
              </a:rPr>
              <a:t>Reasoning</a:t>
            </a:r>
            <a:r>
              <a:rPr lang="fr-CH" sz="600" dirty="0">
                <a:latin typeface="+mj-lt"/>
              </a:rPr>
              <a:t> and </a:t>
            </a:r>
            <a:r>
              <a:rPr lang="fr-CH" sz="600" dirty="0" err="1">
                <a:latin typeface="+mj-lt"/>
              </a:rPr>
              <a:t>Generation</a:t>
            </a:r>
            <a:endParaRPr lang="fr-FR" sz="600" dirty="0">
              <a:latin typeface="+mj-lt"/>
            </a:endParaRPr>
          </a:p>
        </p:txBody>
      </p:sp>
      <p:sp>
        <p:nvSpPr>
          <p:cNvPr id="6" name="Footer Placeholder 5">
            <a:extLst>
              <a:ext uri="{FF2B5EF4-FFF2-40B4-BE49-F238E27FC236}">
                <a16:creationId xmlns:a16="http://schemas.microsoft.com/office/drawing/2014/main" id="{9CAE30E0-BC4F-2B13-8D4F-18B0EA0CA83C}"/>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95DFDAA8-A63B-BAFD-1482-FC25BF5AEE84}"/>
              </a:ext>
            </a:extLst>
          </p:cNvPr>
          <p:cNvSpPr>
            <a:spLocks noGrp="1"/>
          </p:cNvSpPr>
          <p:nvPr>
            <p:ph type="sldNum" sz="quarter" idx="12"/>
          </p:nvPr>
        </p:nvSpPr>
        <p:spPr/>
        <p:txBody>
          <a:bodyPr/>
          <a:lstStyle/>
          <a:p>
            <a:fld id="{E1E1CD7C-2161-7D43-862E-CE4C333CD873}" type="slidenum">
              <a:rPr lang="fr-FR" smtClean="0"/>
              <a:pPr/>
              <a:t>7</a:t>
            </a:fld>
            <a:endParaRPr lang="fr-FR" dirty="0"/>
          </a:p>
        </p:txBody>
      </p:sp>
    </p:spTree>
    <p:extLst>
      <p:ext uri="{BB962C8B-B14F-4D97-AF65-F5344CB8AC3E}">
        <p14:creationId xmlns:p14="http://schemas.microsoft.com/office/powerpoint/2010/main" val="802513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2" dur="500"/>
                                        <p:tgtEl>
                                          <p:spTgt spid="2">
                                            <p:txEl>
                                              <p:pRg st="1" end="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randombar(horizontal)">
                                      <p:cBhvr>
                                        <p:cTn id="20" dur="500"/>
                                        <p:tgtEl>
                                          <p:spTgt spid="2">
                                            <p:txEl>
                                              <p:pRg st="3" end="3"/>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randombar(horizontal)">
                                      <p:cBhvr>
                                        <p:cTn id="23" dur="500"/>
                                        <p:tgtEl>
                                          <p:spTgt spid="2">
                                            <p:txEl>
                                              <p:pRg st="4" end="4"/>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6" dur="500"/>
                                        <p:tgtEl>
                                          <p:spTgt spid="2">
                                            <p:txEl>
                                              <p:pRg st="5" end="5"/>
                                            </p:txEl>
                                          </p:spTgt>
                                        </p:tgtEl>
                                      </p:cBhvr>
                                    </p:animEffect>
                                  </p:childTnLst>
                                </p:cTn>
                              </p:par>
                              <p:par>
                                <p:cTn id="27" presetID="14" presetClass="entr" presetSubtype="10" fill="hold"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randombar(horizontal)">
                                      <p:cBhvr>
                                        <p:cTn id="29" dur="500"/>
                                        <p:tgtEl>
                                          <p:spTgt spid="2">
                                            <p:txEl>
                                              <p:pRg st="6" end="6"/>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randombar(horizontal)">
                                      <p:cBhvr>
                                        <p:cTn id="32" dur="500"/>
                                        <p:tgtEl>
                                          <p:spTgt spid="2">
                                            <p:txEl>
                                              <p:pRg st="7" end="7"/>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randombar(horizontal)">
                                      <p:cBhvr>
                                        <p:cTn id="35" dur="500"/>
                                        <p:tgtEl>
                                          <p:spTgt spid="2">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2">
                                            <p:txEl>
                                              <p:pRg st="9" end="9"/>
                                            </p:txEl>
                                          </p:spTgt>
                                        </p:tgtEl>
                                        <p:attrNameLst>
                                          <p:attrName>style.visibility</p:attrName>
                                        </p:attrNameLst>
                                      </p:cBhvr>
                                      <p:to>
                                        <p:strVal val="visible"/>
                                      </p:to>
                                    </p:set>
                                    <p:animEffect transition="in" filter="randombar(horizontal)">
                                      <p:cBhvr>
                                        <p:cTn id="40" dur="500"/>
                                        <p:tgtEl>
                                          <p:spTgt spid="2">
                                            <p:txEl>
                                              <p:pRg st="9" end="9"/>
                                            </p:txEl>
                                          </p:spTgt>
                                        </p:tgtEl>
                                      </p:cBhvr>
                                    </p:animEffect>
                                  </p:childTnLst>
                                </p:cTn>
                              </p:par>
                              <p:par>
                                <p:cTn id="41" presetID="14" presetClass="entr" presetSubtype="10" fill="hold"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randombar(horizontal)">
                                      <p:cBhvr>
                                        <p:cTn id="4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B1CD-2C6A-B515-238A-CE22A47DFBA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6033213-A55B-64B3-20B7-E15066DEC93E}"/>
              </a:ext>
            </a:extLst>
          </p:cNvPr>
          <p:cNvSpPr>
            <a:spLocks noGrp="1"/>
          </p:cNvSpPr>
          <p:nvPr>
            <p:ph type="title"/>
          </p:nvPr>
        </p:nvSpPr>
        <p:spPr/>
        <p:txBody>
          <a:bodyPr/>
          <a:lstStyle/>
          <a:p>
            <a:r>
              <a:rPr lang="en-US" dirty="0"/>
              <a:t>Scalable </a:t>
            </a:r>
            <a:br>
              <a:rPr lang="en-US" dirty="0"/>
            </a:br>
            <a:r>
              <a:rPr lang="en-US" dirty="0"/>
              <a:t>Knowledge Graph Reasoning</a:t>
            </a:r>
            <a:endParaRPr lang="en-GB" dirty="0"/>
          </a:p>
        </p:txBody>
      </p:sp>
      <p:sp>
        <p:nvSpPr>
          <p:cNvPr id="8" name="Text Placeholder 7">
            <a:extLst>
              <a:ext uri="{FF2B5EF4-FFF2-40B4-BE49-F238E27FC236}">
                <a16:creationId xmlns:a16="http://schemas.microsoft.com/office/drawing/2014/main" id="{09BDCAAB-5C18-DA52-D529-40A34433360D}"/>
              </a:ext>
            </a:extLst>
          </p:cNvPr>
          <p:cNvSpPr>
            <a:spLocks noGrp="1"/>
          </p:cNvSpPr>
          <p:nvPr>
            <p:ph type="body" idx="1"/>
          </p:nvPr>
        </p:nvSpPr>
        <p:spPr/>
        <p:txBody>
          <a:bodyPr>
            <a:normAutofit/>
          </a:bodyPr>
          <a:lstStyle/>
          <a:p>
            <a:r>
              <a:rPr lang="en-US" sz="2400" dirty="0">
                <a:latin typeface="+mj-lt"/>
              </a:rPr>
              <a:t>Chapter 3</a:t>
            </a:r>
            <a:endParaRPr lang="en-GB" sz="2400" dirty="0">
              <a:latin typeface="+mj-lt"/>
            </a:endParaRPr>
          </a:p>
        </p:txBody>
      </p:sp>
      <p:sp>
        <p:nvSpPr>
          <p:cNvPr id="4" name="Date Placeholder 3">
            <a:extLst>
              <a:ext uri="{FF2B5EF4-FFF2-40B4-BE49-F238E27FC236}">
                <a16:creationId xmlns:a16="http://schemas.microsoft.com/office/drawing/2014/main" id="{4E552FCF-E7B8-73C1-D851-420AD9030949}"/>
              </a:ext>
            </a:extLst>
          </p:cNvPr>
          <p:cNvSpPr>
            <a:spLocks noGrp="1"/>
          </p:cNvSpPr>
          <p:nvPr>
            <p:ph type="dt" sz="half" idx="14"/>
          </p:nvPr>
        </p:nvSpPr>
        <p:spPr/>
        <p:txBody>
          <a:bodyPr/>
          <a:lstStyle/>
          <a:p>
            <a:r>
              <a:rPr lang="en-US" sz="600" dirty="0">
                <a:latin typeface="+mj-lt"/>
              </a:rPr>
              <a:t>EDIC PhD Private Defense / Scalable Methods for Knowledge Graph Reasoning and Generation</a:t>
            </a:r>
          </a:p>
        </p:txBody>
      </p:sp>
      <p:sp>
        <p:nvSpPr>
          <p:cNvPr id="5" name="Footer Placeholder 4">
            <a:extLst>
              <a:ext uri="{FF2B5EF4-FFF2-40B4-BE49-F238E27FC236}">
                <a16:creationId xmlns:a16="http://schemas.microsoft.com/office/drawing/2014/main" id="{F9F176B0-0BF8-52C7-65F3-5FB0D5C1324F}"/>
              </a:ext>
            </a:extLst>
          </p:cNvPr>
          <p:cNvSpPr>
            <a:spLocks noGrp="1"/>
          </p:cNvSpPr>
          <p:nvPr>
            <p:ph type="ftr" sz="quarter" idx="15"/>
          </p:nvPr>
        </p:nvSpPr>
        <p:spPr/>
        <p:txBody>
          <a:bodyPr/>
          <a:lstStyle/>
          <a:p>
            <a:endParaRPr lang="fr-FR" dirty="0">
              <a:latin typeface="+mj-lt"/>
            </a:endParaRPr>
          </a:p>
          <a:p>
            <a:r>
              <a:rPr lang="fr-FR" dirty="0">
                <a:latin typeface="+mj-lt"/>
              </a:rPr>
              <a:t>Andrej Janchevski, EPFL STI IEM LIONS, Lausanne, </a:t>
            </a:r>
            <a:r>
              <a:rPr lang="fr-FR" dirty="0" err="1">
                <a:latin typeface="+mj-lt"/>
              </a:rPr>
              <a:t>Switzerland</a:t>
            </a:r>
            <a:r>
              <a:rPr lang="fr-FR" dirty="0">
                <a:latin typeface="+mj-lt"/>
              </a:rPr>
              <a:t> </a:t>
            </a:r>
          </a:p>
          <a:p>
            <a:r>
              <a:rPr lang="fr-FR" dirty="0"/>
              <a:t> </a:t>
            </a:r>
          </a:p>
        </p:txBody>
      </p:sp>
      <p:sp>
        <p:nvSpPr>
          <p:cNvPr id="6" name="Slide Number Placeholder 5">
            <a:extLst>
              <a:ext uri="{FF2B5EF4-FFF2-40B4-BE49-F238E27FC236}">
                <a16:creationId xmlns:a16="http://schemas.microsoft.com/office/drawing/2014/main" id="{B309DEC8-3F84-1B2A-E286-5BB7D2D5A6A6}"/>
              </a:ext>
            </a:extLst>
          </p:cNvPr>
          <p:cNvSpPr>
            <a:spLocks noGrp="1"/>
          </p:cNvSpPr>
          <p:nvPr>
            <p:ph type="sldNum" sz="quarter" idx="16"/>
          </p:nvPr>
        </p:nvSpPr>
        <p:spPr/>
        <p:txBody>
          <a:bodyPr/>
          <a:lstStyle/>
          <a:p>
            <a:fld id="{E1E1CD7C-2161-7D43-862E-CE4C333CD873}" type="slidenum">
              <a:rPr lang="fr-FR" smtClean="0"/>
              <a:pPr/>
              <a:t>8</a:t>
            </a:fld>
            <a:endParaRPr lang="fr-FR" dirty="0"/>
          </a:p>
        </p:txBody>
      </p:sp>
      <p:pic>
        <p:nvPicPr>
          <p:cNvPr id="10" name="Picture Placeholder 11" descr="A city next to the water&#10;&#10;AI-generated content may be incorrect.">
            <a:extLst>
              <a:ext uri="{FF2B5EF4-FFF2-40B4-BE49-F238E27FC236}">
                <a16:creationId xmlns:a16="http://schemas.microsoft.com/office/drawing/2014/main" id="{9642FC53-0D29-9F05-01FF-6552C4CF41B1}"/>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6235" r="26235"/>
          <a:stretch>
            <a:fillRect/>
          </a:stretch>
        </p:blipFill>
        <p:spPr bwMode="auto">
          <a:xfrm>
            <a:off x="904875" y="0"/>
            <a:ext cx="366712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5087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86011-ADD7-15A4-D2D2-1491FE489ACF}"/>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4120698-84FF-0E0D-11C8-2FDFFC3CCE41}"/>
              </a:ext>
            </a:extLst>
          </p:cNvPr>
          <p:cNvSpPr>
            <a:spLocks noGrp="1"/>
          </p:cNvSpPr>
          <p:nvPr>
            <p:ph sz="half" idx="1"/>
          </p:nvPr>
        </p:nvSpPr>
        <p:spPr/>
        <p:txBody>
          <a:bodyPr>
            <a:normAutofit/>
          </a:bodyPr>
          <a:lstStyle/>
          <a:p>
            <a:r>
              <a:rPr lang="en-US" sz="1600" dirty="0">
                <a:latin typeface="Franklin Gothic Demi Cond" panose="020B0706030402020204" pitchFamily="34" charset="0"/>
              </a:rPr>
              <a:t>Knowledge graphs (KGs) - a type of database, a </a:t>
            </a:r>
            <a:r>
              <a:rPr lang="en-US" sz="1600" i="1" dirty="0">
                <a:latin typeface="Franklin Gothic Demi Cond" panose="020B0706030402020204" pitchFamily="34" charset="0"/>
              </a:rPr>
              <a:t>network</a:t>
            </a:r>
            <a:r>
              <a:rPr lang="en-US" sz="1600" dirty="0">
                <a:latin typeface="Franklin Gothic Demi Cond" panose="020B0706030402020204" pitchFamily="34" charset="0"/>
              </a:rPr>
              <a:t> of </a:t>
            </a:r>
            <a:r>
              <a:rPr lang="en-US" sz="1600" i="1" dirty="0">
                <a:latin typeface="Franklin Gothic Demi Cond" panose="020B0706030402020204" pitchFamily="34" charset="0"/>
              </a:rPr>
              <a:t>entities</a:t>
            </a:r>
            <a:r>
              <a:rPr lang="en-US" sz="1600" dirty="0">
                <a:latin typeface="Franklin Gothic Demi Cond" panose="020B0706030402020204" pitchFamily="34" charset="0"/>
              </a:rPr>
              <a:t>, their semantic </a:t>
            </a:r>
            <a:r>
              <a:rPr lang="en-US" sz="1600" i="1" dirty="0">
                <a:latin typeface="Franklin Gothic Demi Cond" panose="020B0706030402020204" pitchFamily="34" charset="0"/>
              </a:rPr>
              <a:t>types</a:t>
            </a:r>
            <a:r>
              <a:rPr lang="en-US" sz="1600" dirty="0">
                <a:latin typeface="Franklin Gothic Demi Cond" panose="020B0706030402020204" pitchFamily="34" charset="0"/>
              </a:rPr>
              <a:t>, </a:t>
            </a:r>
            <a:r>
              <a:rPr lang="en-US" sz="1600" i="1" dirty="0">
                <a:latin typeface="Franklin Gothic Demi Cond" panose="020B0706030402020204" pitchFamily="34" charset="0"/>
              </a:rPr>
              <a:t>properties</a:t>
            </a:r>
            <a:r>
              <a:rPr lang="en-US" sz="1600" dirty="0">
                <a:latin typeface="Franklin Gothic Demi Cond" panose="020B0706030402020204" pitchFamily="34" charset="0"/>
              </a:rPr>
              <a:t>, and </a:t>
            </a:r>
            <a:r>
              <a:rPr lang="en-US" sz="1600" i="1" dirty="0">
                <a:latin typeface="Franklin Gothic Demi Cond" panose="020B0706030402020204" pitchFamily="34" charset="0"/>
              </a:rPr>
              <a:t>relationships</a:t>
            </a:r>
          </a:p>
          <a:p>
            <a:r>
              <a:rPr lang="en-US" sz="1600" dirty="0">
                <a:latin typeface="Franklin Gothic Demi Cond" panose="020B0706030402020204" pitchFamily="34" charset="0"/>
              </a:rPr>
              <a:t>Represent real-world data from multiple topical domains</a:t>
            </a:r>
          </a:p>
          <a:p>
            <a:r>
              <a:rPr lang="en-US" sz="1600" dirty="0">
                <a:latin typeface="Franklin Gothic Demi Cond" panose="020B0706030402020204" pitchFamily="34" charset="0"/>
              </a:rPr>
              <a:t>The end goal: using the data to reason, infer novel knowledge</a:t>
            </a:r>
          </a:p>
          <a:p>
            <a:r>
              <a:rPr lang="en-US" sz="1600" dirty="0">
                <a:latin typeface="Franklin Gothic Demi Cond" panose="020B0706030402020204" pitchFamily="34" charset="0"/>
              </a:rPr>
              <a:t>Main tasks - link prediction and</a:t>
            </a:r>
            <a:r>
              <a:rPr lang="en-US" sz="1600" i="1" dirty="0">
                <a:latin typeface="Franklin Gothic Demi Cond" panose="020B0706030402020204" pitchFamily="34" charset="0"/>
              </a:rPr>
              <a:t> </a:t>
            </a:r>
            <a:r>
              <a:rPr lang="en-US" sz="1600" dirty="0">
                <a:latin typeface="Franklin Gothic Demi Cond" panose="020B0706030402020204" pitchFamily="34" charset="0"/>
              </a:rPr>
              <a:t>query answering for graphs</a:t>
            </a:r>
          </a:p>
          <a:p>
            <a:r>
              <a:rPr lang="en-US" sz="1600" i="1" dirty="0">
                <a:latin typeface="Franklin Gothic Demi Cond" panose="020B0706030402020204" pitchFamily="34" charset="0"/>
              </a:rPr>
              <a:t>Scalability</a:t>
            </a:r>
            <a:r>
              <a:rPr lang="en-US" sz="1600" dirty="0">
                <a:latin typeface="Franklin Gothic Demi Cond" panose="020B0706030402020204" pitchFamily="34" charset="0"/>
              </a:rPr>
              <a:t> - KGs grow very large &amp; require significant computational resources</a:t>
            </a:r>
          </a:p>
        </p:txBody>
      </p:sp>
      <p:sp>
        <p:nvSpPr>
          <p:cNvPr id="8" name="Title 7">
            <a:extLst>
              <a:ext uri="{FF2B5EF4-FFF2-40B4-BE49-F238E27FC236}">
                <a16:creationId xmlns:a16="http://schemas.microsoft.com/office/drawing/2014/main" id="{8845FDB2-171F-F762-3002-AFAE861FB560}"/>
              </a:ext>
            </a:extLst>
          </p:cNvPr>
          <p:cNvSpPr>
            <a:spLocks noGrp="1"/>
          </p:cNvSpPr>
          <p:nvPr>
            <p:ph type="title"/>
          </p:nvPr>
        </p:nvSpPr>
        <p:spPr>
          <a:xfrm>
            <a:off x="904875" y="131032"/>
            <a:ext cx="7726363" cy="1072753"/>
          </a:xfrm>
        </p:spPr>
        <p:txBody>
          <a:bodyPr>
            <a:normAutofit/>
          </a:bodyPr>
          <a:lstStyle/>
          <a:p>
            <a:r>
              <a:rPr lang="en-US" dirty="0"/>
              <a:t>3.1	Problem &amp; Challenges</a:t>
            </a:r>
            <a:br>
              <a:rPr lang="en-US" dirty="0"/>
            </a:br>
            <a:r>
              <a:rPr lang="en-US" sz="2400" b="0" i="1" dirty="0"/>
              <a:t>Setting</a:t>
            </a:r>
            <a:endParaRPr lang="en-GB" sz="2400" b="0" i="1" dirty="0"/>
          </a:p>
        </p:txBody>
      </p:sp>
      <p:sp>
        <p:nvSpPr>
          <p:cNvPr id="5" name="Date Placeholder 4">
            <a:extLst>
              <a:ext uri="{FF2B5EF4-FFF2-40B4-BE49-F238E27FC236}">
                <a16:creationId xmlns:a16="http://schemas.microsoft.com/office/drawing/2014/main" id="{E4C17409-DB07-57D0-0857-A6D5FC8A5979}"/>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101B1165-E95E-D8B4-E3B8-E9F159BB1049}"/>
              </a:ext>
            </a:extLst>
          </p:cNvPr>
          <p:cNvSpPr>
            <a:spLocks noGrp="1"/>
          </p:cNvSpPr>
          <p:nvPr>
            <p:ph type="ftr" sz="quarter" idx="11"/>
          </p:nvPr>
        </p:nvSpPr>
        <p:spPr/>
        <p:txBody>
          <a:bodyPr/>
          <a:lstStyle/>
          <a:p>
            <a:r>
              <a:rPr lang="fr-FR">
                <a:latin typeface="+mj-lt"/>
              </a:rPr>
              <a:t>Andrej Janchevski, EPFL STI IEM LIONS, Lausanne, Switzerland </a:t>
            </a:r>
            <a:endParaRPr lang="fr-FR" dirty="0">
              <a:latin typeface="+mj-lt"/>
            </a:endParaRPr>
          </a:p>
        </p:txBody>
      </p:sp>
      <p:sp>
        <p:nvSpPr>
          <p:cNvPr id="7" name="Slide Number Placeholder 6">
            <a:extLst>
              <a:ext uri="{FF2B5EF4-FFF2-40B4-BE49-F238E27FC236}">
                <a16:creationId xmlns:a16="http://schemas.microsoft.com/office/drawing/2014/main" id="{4E08B23A-5CB9-62E2-1206-7B0C96E848FA}"/>
              </a:ext>
            </a:extLst>
          </p:cNvPr>
          <p:cNvSpPr>
            <a:spLocks noGrp="1"/>
          </p:cNvSpPr>
          <p:nvPr>
            <p:ph type="sldNum" sz="quarter" idx="12"/>
          </p:nvPr>
        </p:nvSpPr>
        <p:spPr/>
        <p:txBody>
          <a:bodyPr/>
          <a:lstStyle/>
          <a:p>
            <a:fld id="{E1E1CD7C-2161-7D43-862E-CE4C333CD873}" type="slidenum">
              <a:rPr lang="fr-FR" smtClean="0"/>
              <a:pPr/>
              <a:t>9</a:t>
            </a:fld>
            <a:endParaRPr lang="fr-FR" dirty="0"/>
          </a:p>
        </p:txBody>
      </p:sp>
      <p:pic>
        <p:nvPicPr>
          <p:cNvPr id="18" name="Content Placeholder 3" descr="Application, Teams&#10;&#10;Description automatically generated with medium confidence">
            <a:extLst>
              <a:ext uri="{FF2B5EF4-FFF2-40B4-BE49-F238E27FC236}">
                <a16:creationId xmlns:a16="http://schemas.microsoft.com/office/drawing/2014/main" id="{90CA399B-BB9E-D6DB-E902-48DE7F85B20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959350" y="1716118"/>
            <a:ext cx="3671888" cy="2959039"/>
          </a:xfrm>
        </p:spPr>
      </p:pic>
    </p:spTree>
    <p:extLst>
      <p:ext uri="{BB962C8B-B14F-4D97-AF65-F5344CB8AC3E}">
        <p14:creationId xmlns:p14="http://schemas.microsoft.com/office/powerpoint/2010/main" val="420646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randombar(horizontal)">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randombar(horizontal)">
                                      <p:cBhvr>
                                        <p:cTn id="21" dur="500"/>
                                        <p:tgtEl>
                                          <p:spTgt spid="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6"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0147B-5A5B-4474-098B-45B04531BBB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E75B6F18-6C9B-5ED3-2065-C2C0F7A0281A}"/>
                  </a:ext>
                </a:extLst>
              </p:cNvPr>
              <p:cNvSpPr>
                <a:spLocks noGrp="1"/>
              </p:cNvSpPr>
              <p:nvPr>
                <p:ph idx="1"/>
              </p:nvPr>
            </p:nvSpPr>
            <p:spPr/>
            <p:txBody>
              <a:bodyPr>
                <a:normAutofit/>
              </a:bodyPr>
              <a:lstStyle/>
              <a:p>
                <a:r>
                  <a:rPr lang="en-US" dirty="0">
                    <a:latin typeface="+mj-lt"/>
                  </a:rPr>
                  <a:t>Split the knowledge graph into disjoint subsets, then distribute over a cluster</a:t>
                </a:r>
              </a:p>
              <a:p>
                <a:r>
                  <a:rPr lang="en-US" dirty="0">
                    <a:latin typeface="+mj-lt"/>
                  </a:rPr>
                  <a:t>Cache intermediate results that are reused across multiple evaluation samples</a:t>
                </a:r>
              </a:p>
              <a:p>
                <a:r>
                  <a:rPr lang="en-US" dirty="0">
                    <a:latin typeface="+mj-lt"/>
                  </a:rPr>
                  <a:t>Faster algorithms for sampling training data</a:t>
                </a:r>
              </a:p>
              <a:p>
                <a:r>
                  <a:rPr lang="en-US" dirty="0">
                    <a:latin typeface="+mj-lt"/>
                  </a:rPr>
                  <a:t>Reduce memory complexity and the cost of slower run-time</a:t>
                </a:r>
              </a:p>
              <a:p>
                <a:r>
                  <a:rPr lang="en-US" dirty="0">
                    <a:latin typeface="+mj-lt"/>
                  </a:rPr>
                  <a:t>Model-free</a:t>
                </a:r>
              </a:p>
              <a:p>
                <a:r>
                  <a:rPr lang="en-US" dirty="0">
                    <a:latin typeface="+mj-lt"/>
                  </a:rPr>
                  <a:t>Common issues</a:t>
                </a:r>
              </a:p>
              <a:p>
                <a:pPr lvl="1"/>
                <a:r>
                  <a:rPr lang="en-US" i="1" dirty="0">
                    <a:latin typeface="+mj-lt"/>
                  </a:rPr>
                  <a:t>Inapplicable to out-of-distribution testing (i.e., all non-academic applications)</a:t>
                </a:r>
              </a:p>
              <a:p>
                <a:pPr lvl="1"/>
                <a:r>
                  <a:rPr lang="en-US" i="1" dirty="0">
                    <a:latin typeface="+mj-lt"/>
                  </a:rPr>
                  <a:t>Require hundreds of compute units (usually GPUs)</a:t>
                </a:r>
              </a:p>
              <a:p>
                <a:pPr lvl="1"/>
                <a:r>
                  <a:rPr lang="en-US" i="1" dirty="0">
                    <a:latin typeface="+mj-lt"/>
                  </a:rPr>
                  <a:t>Acceleration factors independent of graph size </a:t>
                </a:r>
                <a14:m>
                  <m:oMath xmlns:m="http://schemas.openxmlformats.org/officeDocument/2006/math">
                    <m:r>
                      <a:rPr lang="en-US" b="0" i="1" smtClean="0">
                        <a:latin typeface="Cambria Math" panose="02040503050406030204" pitchFamily="18" charset="0"/>
                      </a:rPr>
                      <m:t> ⇒</m:t>
                    </m:r>
                  </m:oMath>
                </a14:m>
                <a:r>
                  <a:rPr lang="en-US" i="1" dirty="0">
                    <a:latin typeface="+mj-lt"/>
                  </a:rPr>
                  <a:t> diminishing returns</a:t>
                </a:r>
              </a:p>
              <a:p>
                <a:pPr lvl="1"/>
                <a:endParaRPr lang="en-GB" dirty="0">
                  <a:latin typeface="+mj-lt"/>
                </a:endParaRPr>
              </a:p>
            </p:txBody>
          </p:sp>
        </mc:Choice>
        <mc:Fallback xmlns="">
          <p:sp>
            <p:nvSpPr>
              <p:cNvPr id="9" name="Content Placeholder 8">
                <a:extLst>
                  <a:ext uri="{FF2B5EF4-FFF2-40B4-BE49-F238E27FC236}">
                    <a16:creationId xmlns:a16="http://schemas.microsoft.com/office/drawing/2014/main" id="{E75B6F18-6C9B-5ED3-2065-C2C0F7A0281A}"/>
                  </a:ext>
                </a:extLst>
              </p:cNvPr>
              <p:cNvSpPr>
                <a:spLocks noGrp="1" noRot="1" noChangeAspect="1" noMove="1" noResize="1" noEditPoints="1" noAdjustHandles="1" noChangeArrowheads="1" noChangeShapeType="1" noTextEdit="1"/>
              </p:cNvSpPr>
              <p:nvPr>
                <p:ph idx="1"/>
              </p:nvPr>
            </p:nvSpPr>
            <p:spPr>
              <a:blipFill>
                <a:blip r:embed="rId3"/>
                <a:stretch>
                  <a:fillRect t="-1802"/>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3C980A50-C935-37DC-79CC-800D67BFE7A5}"/>
              </a:ext>
            </a:extLst>
          </p:cNvPr>
          <p:cNvSpPr>
            <a:spLocks noGrp="1"/>
          </p:cNvSpPr>
          <p:nvPr>
            <p:ph type="title"/>
          </p:nvPr>
        </p:nvSpPr>
        <p:spPr>
          <a:xfrm>
            <a:off x="904875" y="131032"/>
            <a:ext cx="7219217" cy="1072753"/>
          </a:xfrm>
        </p:spPr>
        <p:txBody>
          <a:bodyPr>
            <a:normAutofit/>
          </a:bodyPr>
          <a:lstStyle/>
          <a:p>
            <a:r>
              <a:rPr lang="en-US" dirty="0"/>
              <a:t>3.1 	Problem &amp; Challenges</a:t>
            </a:r>
            <a:br>
              <a:rPr lang="en-US" dirty="0"/>
            </a:br>
            <a:r>
              <a:rPr lang="en-US" sz="2400" b="0" i="1" dirty="0"/>
              <a:t>Related work</a:t>
            </a:r>
            <a:endParaRPr lang="en-GB" sz="2400" b="0" i="1" dirty="0"/>
          </a:p>
        </p:txBody>
      </p:sp>
      <p:sp>
        <p:nvSpPr>
          <p:cNvPr id="5" name="Date Placeholder 4">
            <a:extLst>
              <a:ext uri="{FF2B5EF4-FFF2-40B4-BE49-F238E27FC236}">
                <a16:creationId xmlns:a16="http://schemas.microsoft.com/office/drawing/2014/main" id="{37D92735-99E4-4F50-7CE7-9E52D9274228}"/>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64F3A82D-E24E-0435-A49E-81727C9BB456}"/>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73DE6617-67BE-336F-63D3-8F261DCCFF38}"/>
              </a:ext>
            </a:extLst>
          </p:cNvPr>
          <p:cNvSpPr>
            <a:spLocks noGrp="1"/>
          </p:cNvSpPr>
          <p:nvPr>
            <p:ph type="sldNum" sz="quarter" idx="12"/>
          </p:nvPr>
        </p:nvSpPr>
        <p:spPr/>
        <p:txBody>
          <a:bodyPr/>
          <a:lstStyle/>
          <a:p>
            <a:fld id="{E1E1CD7C-2161-7D43-862E-CE4C333CD873}" type="slidenum">
              <a:rPr lang="fr-FR" smtClean="0"/>
              <a:pPr/>
              <a:t>10</a:t>
            </a:fld>
            <a:endParaRPr lang="fr-FR" dirty="0"/>
          </a:p>
        </p:txBody>
      </p:sp>
    </p:spTree>
    <p:extLst>
      <p:ext uri="{BB962C8B-B14F-4D97-AF65-F5344CB8AC3E}">
        <p14:creationId xmlns:p14="http://schemas.microsoft.com/office/powerpoint/2010/main" val="541980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9" dur="500"/>
                                        <p:tgtEl>
                                          <p:spTgt spid="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0" dur="500"/>
                                        <p:tgtEl>
                                          <p:spTgt spid="9">
                                            <p:txEl>
                                              <p:pRg st="7" end="7"/>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3"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72E8-71B4-51F8-2290-0C2FDDE1856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862F51F3-EE61-0ED0-F494-5C7A9212FB93}"/>
                  </a:ext>
                </a:extLst>
              </p:cNvPr>
              <p:cNvSpPr>
                <a:spLocks noGrp="1"/>
              </p:cNvSpPr>
              <p:nvPr>
                <p:ph idx="1"/>
              </p:nvPr>
            </p:nvSpPr>
            <p:spPr/>
            <p:txBody>
              <a:bodyPr>
                <a:normAutofit/>
              </a:bodyPr>
              <a:lstStyle/>
              <a:p>
                <a:r>
                  <a:rPr lang="en-US" dirty="0">
                    <a:latin typeface="+mj-lt"/>
                  </a:rPr>
                  <a:t>Attributed Multiplex Heterogeneous Networks (AMHENs)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𝑅</m:t>
                            </m:r>
                          </m:sub>
                        </m:sSub>
                        <m:r>
                          <a:rPr lang="en-US" b="0" i="1" smtClean="0">
                            <a:latin typeface="Cambria Math" panose="02040503050406030204" pitchFamily="18" charset="0"/>
                          </a:rPr>
                          <m:t>,</m:t>
                        </m:r>
                        <m:r>
                          <a:rPr lang="en-US" b="1" i="1" smtClean="0">
                            <a:latin typeface="Cambria Math" panose="02040503050406030204" pitchFamily="18" charset="0"/>
                          </a:rPr>
                          <m:t>𝑿</m:t>
                        </m:r>
                      </m:e>
                    </m:d>
                  </m:oMath>
                </a14:m>
                <a:endParaRPr lang="en-US" i="1" dirty="0">
                  <a:latin typeface="+mj-lt"/>
                </a:endParaRPr>
              </a:p>
              <a:p>
                <a:pPr lvl="1"/>
                <a14:m>
                  <m:oMath xmlns:m="http://schemas.openxmlformats.org/officeDocument/2006/math">
                    <m:r>
                      <a:rPr lang="en-US" i="1">
                        <a:latin typeface="Cambria Math" panose="02040503050406030204" pitchFamily="18" charset="0"/>
                      </a:rPr>
                      <m:t>𝑉</m:t>
                    </m:r>
                  </m:oMath>
                </a14:m>
                <a:r>
                  <a:rPr lang="en-GB" dirty="0">
                    <a:latin typeface="+mj-lt"/>
                  </a:rPr>
                  <a:t>- set of entities/nodes</a:t>
                </a:r>
              </a:p>
              <a:p>
                <a:pPr lvl="1"/>
                <a14:m>
                  <m:oMath xmlns:m="http://schemas.openxmlformats.org/officeDocument/2006/math">
                    <m:r>
                      <a:rPr lang="en-US" b="0" i="1" smtClean="0">
                        <a:latin typeface="Cambria Math" panose="02040503050406030204" pitchFamily="18" charset="0"/>
                      </a:rPr>
                      <m:t>𝑅</m:t>
                    </m:r>
                  </m:oMath>
                </a14:m>
                <a:r>
                  <a:rPr lang="en-GB" dirty="0">
                    <a:latin typeface="+mj-lt"/>
                  </a:rPr>
                  <a:t>- set of relation types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𝑅</m:t>
                        </m:r>
                      </m:sub>
                    </m:sSub>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𝑉</m:t>
                    </m:r>
                  </m:oMath>
                </a14:m>
                <a:r>
                  <a:rPr lang="en-GB" dirty="0">
                    <a:latin typeface="+mj-lt"/>
                  </a:rPr>
                  <a:t> - set of relations/edges</a:t>
                </a:r>
              </a:p>
              <a:p>
                <a:pPr lvl="1"/>
                <a14:m>
                  <m:oMath xmlns:m="http://schemas.openxmlformats.org/officeDocument/2006/math">
                    <m:r>
                      <a:rPr lang="en-US" b="1" i="1" smtClean="0">
                        <a:latin typeface="Cambria Math" panose="02040503050406030204" pitchFamily="18" charset="0"/>
                      </a:rPr>
                      <m:t>𝑿</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r>
                          <a:rPr lang="en-US" b="0" i="1" smtClean="0">
                            <a:latin typeface="Cambria Math" panose="02040503050406030204" pitchFamily="18" charset="0"/>
                          </a:rPr>
                          <m:t>𝐹</m:t>
                        </m:r>
                      </m:sup>
                    </m:sSup>
                  </m:oMath>
                </a14:m>
                <a:r>
                  <a:rPr lang="en-GB" dirty="0">
                    <a:latin typeface="+mj-lt"/>
                  </a:rPr>
                  <a:t> - node attribute matrix</a:t>
                </a:r>
              </a:p>
              <a:p>
                <a:r>
                  <a:rPr lang="en-GB" dirty="0">
                    <a:latin typeface="+mj-lt"/>
                  </a:rPr>
                  <a:t>Knowledge Graph queries</a:t>
                </a:r>
              </a:p>
              <a:p>
                <a:pPr lvl="1"/>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𝒜</m:t>
                            </m:r>
                          </m:e>
                          <m:sub>
                            <m:r>
                              <a:rPr lang="en-US" b="0" i="1" smtClean="0">
                                <a:latin typeface="Cambria Math" panose="02040503050406030204" pitchFamily="18" charset="0"/>
                              </a:rPr>
                              <m:t>𝑞</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𝑞</m:t>
                            </m:r>
                          </m:sub>
                        </m:sSub>
                      </m:e>
                    </m:d>
                  </m:oMath>
                </a14:m>
                <a:r>
                  <a:rPr lang="en-GB" dirty="0">
                    <a:latin typeface="+mj-lt"/>
                  </a:rPr>
                  <a:t> - anchors + computation DAG for answer generation, FOL</a:t>
                </a:r>
              </a:p>
            </p:txBody>
          </p:sp>
        </mc:Choice>
        <mc:Fallback xmlns="">
          <p:sp>
            <p:nvSpPr>
              <p:cNvPr id="9" name="Content Placeholder 8">
                <a:extLst>
                  <a:ext uri="{FF2B5EF4-FFF2-40B4-BE49-F238E27FC236}">
                    <a16:creationId xmlns:a16="http://schemas.microsoft.com/office/drawing/2014/main" id="{862F51F3-EE61-0ED0-F494-5C7A9212FB93}"/>
                  </a:ext>
                </a:extLst>
              </p:cNvPr>
              <p:cNvSpPr>
                <a:spLocks noGrp="1" noRot="1" noChangeAspect="1" noMove="1" noResize="1" noEditPoints="1" noAdjustHandles="1" noChangeArrowheads="1" noChangeShapeType="1" noTextEdit="1"/>
              </p:cNvSpPr>
              <p:nvPr>
                <p:ph idx="1"/>
              </p:nvPr>
            </p:nvSpPr>
            <p:spPr>
              <a:blipFill>
                <a:blip r:embed="rId3"/>
                <a:stretch>
                  <a:fillRect t="-1802"/>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DBBCCE26-7704-ED07-33BA-001189169E1A}"/>
              </a:ext>
            </a:extLst>
          </p:cNvPr>
          <p:cNvSpPr>
            <a:spLocks noGrp="1"/>
          </p:cNvSpPr>
          <p:nvPr>
            <p:ph type="title"/>
          </p:nvPr>
        </p:nvSpPr>
        <p:spPr>
          <a:xfrm>
            <a:off x="904875" y="131032"/>
            <a:ext cx="7207279" cy="1072753"/>
          </a:xfrm>
        </p:spPr>
        <p:txBody>
          <a:bodyPr/>
          <a:lstStyle/>
          <a:p>
            <a:r>
              <a:rPr lang="en-US" dirty="0"/>
              <a:t>3.1	Background</a:t>
            </a:r>
            <a:br>
              <a:rPr lang="en-US" dirty="0"/>
            </a:br>
            <a:r>
              <a:rPr lang="en-US" sz="2400" b="0" i="1" dirty="0"/>
              <a:t>Graph theory of Knowledge Graph Reasoning</a:t>
            </a:r>
            <a:endParaRPr lang="en-GB" sz="2400" b="0" i="1" dirty="0"/>
          </a:p>
        </p:txBody>
      </p:sp>
      <p:sp>
        <p:nvSpPr>
          <p:cNvPr id="5" name="Date Placeholder 4">
            <a:extLst>
              <a:ext uri="{FF2B5EF4-FFF2-40B4-BE49-F238E27FC236}">
                <a16:creationId xmlns:a16="http://schemas.microsoft.com/office/drawing/2014/main" id="{4D9DEE53-1297-7CA0-62AE-FA4646D2C1FA}"/>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B67113B5-A974-43F9-5AD9-388DA088249F}"/>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6EC95B71-79FC-46A4-497C-33B59A9CE667}"/>
              </a:ext>
            </a:extLst>
          </p:cNvPr>
          <p:cNvSpPr>
            <a:spLocks noGrp="1"/>
          </p:cNvSpPr>
          <p:nvPr>
            <p:ph type="sldNum" sz="quarter" idx="12"/>
          </p:nvPr>
        </p:nvSpPr>
        <p:spPr/>
        <p:txBody>
          <a:bodyPr/>
          <a:lstStyle/>
          <a:p>
            <a:fld id="{E1E1CD7C-2161-7D43-862E-CE4C333CD873}" type="slidenum">
              <a:rPr lang="fr-FR" smtClean="0"/>
              <a:pPr/>
              <a:t>11</a:t>
            </a:fld>
            <a:endParaRPr lang="fr-FR" dirty="0"/>
          </a:p>
        </p:txBody>
      </p:sp>
      <p:pic>
        <p:nvPicPr>
          <p:cNvPr id="13" name="Picture 12" descr="A diagram of a molecule&#10;&#10;AI-generated content may be incorrect.">
            <a:extLst>
              <a:ext uri="{FF2B5EF4-FFF2-40B4-BE49-F238E27FC236}">
                <a16:creationId xmlns:a16="http://schemas.microsoft.com/office/drawing/2014/main" id="{112229C7-B97A-D76F-5070-A6AE8829C746}"/>
              </a:ext>
            </a:extLst>
          </p:cNvPr>
          <p:cNvPicPr>
            <a:picLocks noChangeAspect="1"/>
          </p:cNvPicPr>
          <p:nvPr/>
        </p:nvPicPr>
        <p:blipFill>
          <a:blip r:embed="rId4"/>
          <a:stretch>
            <a:fillRect/>
          </a:stretch>
        </p:blipFill>
        <p:spPr>
          <a:xfrm>
            <a:off x="1630708" y="3666526"/>
            <a:ext cx="5755611" cy="1345942"/>
          </a:xfrm>
          <a:prstGeom prst="rect">
            <a:avLst/>
          </a:prstGeom>
        </p:spPr>
      </p:pic>
    </p:spTree>
    <p:extLst>
      <p:ext uri="{BB962C8B-B14F-4D97-AF65-F5344CB8AC3E}">
        <p14:creationId xmlns:p14="http://schemas.microsoft.com/office/powerpoint/2010/main" val="3547022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9" dur="500"/>
                                        <p:tgtEl>
                                          <p:spTgt spid="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randombar(horizontal)">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88137-17B0-8D71-B1DF-CB95CF10ACF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C997F95A-935B-2A32-F194-641C7FA5AF5D}"/>
                  </a:ext>
                </a:extLst>
              </p:cNvPr>
              <p:cNvSpPr>
                <a:spLocks noGrp="1"/>
              </p:cNvSpPr>
              <p:nvPr>
                <p:ph idx="1"/>
              </p:nvPr>
            </p:nvSpPr>
            <p:spPr/>
            <p:txBody>
              <a:bodyPr>
                <a:normAutofit/>
              </a:bodyPr>
              <a:lstStyle/>
              <a:p>
                <a:r>
                  <a:rPr lang="en-US" dirty="0">
                    <a:latin typeface="+mj-lt"/>
                  </a:rPr>
                  <a:t>Link prediction</a:t>
                </a:r>
              </a:p>
              <a:p>
                <a:pPr lvl="1"/>
                <a:r>
                  <a:rPr lang="en-US" dirty="0">
                    <a:latin typeface="+mj-lt"/>
                  </a:rPr>
                  <a:t>Dataset: </a:t>
                </a:r>
                <a14:m>
                  <m:oMath xmlns:m="http://schemas.openxmlformats.org/officeDocument/2006/math">
                    <m:r>
                      <a:rPr lang="en-US" b="0" i="1" smtClean="0">
                        <a:latin typeface="Cambria Math" panose="02040503050406030204" pitchFamily="18" charset="0"/>
                      </a:rPr>
                      <m:t>𝒟</m:t>
                    </m:r>
                    <m:r>
                      <a:rPr lang="en-US" b="0" i="1" smtClean="0">
                        <a:latin typeface="Cambria Math" panose="02040503050406030204" pitchFamily="18" charset="0"/>
                      </a:rPr>
                      <m:t>=</m:t>
                    </m:r>
                    <m:r>
                      <m:rPr>
                        <m:lit/>
                      </m:rP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𝑖</m:t>
                            </m:r>
                          </m:sub>
                        </m:sSub>
                      </m:e>
                    </m:d>
                    <m:sSubSup>
                      <m:sSubSupPr>
                        <m:ctrlPr>
                          <a:rPr lang="en-US" b="0" i="1" smtClean="0">
                            <a:latin typeface="Cambria Math" panose="02040503050406030204" pitchFamily="18" charset="0"/>
                          </a:rPr>
                        </m:ctrlPr>
                      </m:sSubSupPr>
                      <m:e>
                        <m:r>
                          <m:rPr>
                            <m:lit/>
                          </m:rPr>
                          <a:rPr lang="en-US" b="0" i="1" smtClean="0">
                            <a:latin typeface="Cambria Math" panose="02040503050406030204" pitchFamily="18" charset="0"/>
                          </a:rPr>
                          <m:t>}</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sSubSup>
                  </m:oMath>
                </a14:m>
                <a:endParaRPr lang="en-US" dirty="0">
                  <a:latin typeface="+mj-lt"/>
                </a:endParaRPr>
              </a:p>
              <a:p>
                <a:pPr lvl="1"/>
                <a:r>
                  <a:rPr lang="en-US" dirty="0">
                    <a:latin typeface="+mj-lt"/>
                  </a:rPr>
                  <a:t>Model: </a:t>
                </a:r>
                <a14:m>
                  <m:oMath xmlns:m="http://schemas.openxmlformats.org/officeDocument/2006/math">
                    <m:r>
                      <a:rPr lang="en-US" b="0" i="1" smtClean="0">
                        <a:latin typeface="Cambria Math" panose="02040503050406030204" pitchFamily="18" charset="0"/>
                      </a:rPr>
                      <m:t>ℙ</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𝒟</m:t>
                        </m:r>
                      </m:e>
                    </m:d>
                    <m:r>
                      <a:rPr lang="en-US" b="0" i="1" smtClean="0">
                        <a:latin typeface="Cambria Math" panose="02040503050406030204" pitchFamily="18" charset="0"/>
                      </a:rPr>
                      <m:t>=</m:t>
                    </m:r>
                    <m:r>
                      <a:rPr lang="en-US" b="0" i="1" smtClean="0">
                        <a:latin typeface="Cambria Math" panose="02040503050406030204" pitchFamily="18" charset="0"/>
                      </a:rPr>
                      <m:t>𝜎</m:t>
                    </m:r>
                    <m:d>
                      <m:dPr>
                        <m:ctrlPr>
                          <a:rPr lang="en-US" b="0" i="1" smtClean="0">
                            <a:latin typeface="Cambria Math" panose="02040503050406030204" pitchFamily="18" charset="0"/>
                          </a:rPr>
                        </m:ctrlPr>
                      </m:dPr>
                      <m:e>
                        <m:r>
                          <a:rPr lang="en-US" b="0" i="1" smtClean="0">
                            <a:latin typeface="Cambria Math" panose="02040503050406030204" pitchFamily="18" charset="0"/>
                          </a:rPr>
                          <m:t>ℓ</m:t>
                        </m:r>
                        <m:d>
                          <m:dPr>
                            <m:ctrlPr>
                              <a:rPr lang="en-US" b="0" i="1" smtClean="0">
                                <a:latin typeface="Cambria Math" panose="02040503050406030204" pitchFamily="18" charset="0"/>
                              </a:rPr>
                            </m:ctrlPr>
                          </m:dPr>
                          <m:e>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e>
                        </m:d>
                      </m:e>
                    </m:d>
                  </m:oMath>
                </a14:m>
                <a:endParaRPr lang="en-US" dirty="0">
                  <a:latin typeface="+mj-lt"/>
                </a:endParaRPr>
              </a:p>
              <a:p>
                <a:pPr lvl="1"/>
                <a:r>
                  <a:rPr lang="en-US" dirty="0">
                    <a:latin typeface="+mj-lt"/>
                  </a:rPr>
                  <a:t>Goal: Classify fact triplets as true or false</a:t>
                </a:r>
              </a:p>
              <a:p>
                <a:pPr lvl="1"/>
                <a:r>
                  <a:rPr lang="en-US" dirty="0">
                    <a:latin typeface="+mj-lt"/>
                  </a:rPr>
                  <a:t>Simple and low-cost</a:t>
                </a:r>
              </a:p>
              <a:p>
                <a:r>
                  <a:rPr lang="en-US" dirty="0">
                    <a:latin typeface="+mj-lt"/>
                  </a:rPr>
                  <a:t>Query answering</a:t>
                </a:r>
              </a:p>
              <a:p>
                <a:pPr lvl="1"/>
                <a:r>
                  <a:rPr lang="en-US" dirty="0">
                    <a:latin typeface="+mj-lt"/>
                  </a:rPr>
                  <a:t>Dataset: </a:t>
                </a:r>
                <a14:m>
                  <m:oMath xmlns:m="http://schemas.openxmlformats.org/officeDocument/2006/math">
                    <m:r>
                      <a:rPr lang="en-US" i="1" smtClean="0">
                        <a:latin typeface="Cambria Math" panose="02040503050406030204" pitchFamily="18" charset="0"/>
                      </a:rPr>
                      <m:t>𝒟</m:t>
                    </m:r>
                    <m:r>
                      <a:rPr lang="en-US" i="1" smtClean="0">
                        <a:latin typeface="Cambria Math" panose="02040503050406030204" pitchFamily="18" charset="0"/>
                      </a:rPr>
                      <m:t>=</m:t>
                    </m:r>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𝑎</m:t>
                                    </m:r>
                                  </m:e>
                                  <m:sub>
                                    <m:r>
                                      <a:rPr lang="en-US" i="1">
                                        <a:latin typeface="Cambria Math" panose="02040503050406030204" pitchFamily="18" charset="0"/>
                                      </a:rPr>
                                      <m:t>𝑖</m:t>
                                    </m:r>
                                  </m:sub>
                                </m:sSub>
                              </m:e>
                            </m:d>
                          </m:e>
                        </m:d>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sSubSup>
                  </m:oMath>
                </a14:m>
                <a:endParaRPr lang="en-US" dirty="0">
                  <a:latin typeface="+mj-lt"/>
                </a:endParaRPr>
              </a:p>
              <a:p>
                <a:pPr lvl="1"/>
                <a:r>
                  <a:rPr lang="en-US" dirty="0">
                    <a:latin typeface="+mj-lt"/>
                  </a:rPr>
                  <a:t>Model: </a:t>
                </a:r>
                <a14:m>
                  <m:oMath xmlns:m="http://schemas.openxmlformats.org/officeDocument/2006/math">
                    <m:r>
                      <a:rPr lang="en-US" i="1">
                        <a:latin typeface="Cambria Math" panose="02040503050406030204" pitchFamily="18" charset="0"/>
                      </a:rPr>
                      <m:t>ℙ</m:t>
                    </m:r>
                    <m:d>
                      <m:dPr>
                        <m:ctrlPr>
                          <a:rPr lang="en-US" i="1">
                            <a:latin typeface="Cambria Math" panose="02040503050406030204" pitchFamily="18" charset="0"/>
                          </a:rPr>
                        </m:ctrlPr>
                      </m:dPr>
                      <m:e>
                        <m:d>
                          <m:dPr>
                            <m:ctrlPr>
                              <a:rPr lang="en-US" i="1">
                                <a:latin typeface="Cambria Math" panose="02040503050406030204" pitchFamily="18" charset="0"/>
                              </a:rPr>
                            </m:ctrlPr>
                          </m:dPr>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i="1">
                            <a:latin typeface="Cambria Math" panose="02040503050406030204" pitchFamily="18" charset="0"/>
                          </a:rPr>
                          <m:t>∈</m:t>
                        </m:r>
                        <m:r>
                          <a:rPr lang="en-US" i="1">
                            <a:latin typeface="Cambria Math" panose="02040503050406030204" pitchFamily="18" charset="0"/>
                          </a:rPr>
                          <m:t>𝒟</m:t>
                        </m:r>
                      </m:e>
                    </m:d>
                    <m:r>
                      <a:rPr lang="en-US" i="1">
                        <a:latin typeface="Cambria Math" panose="02040503050406030204" pitchFamily="18" charset="0"/>
                      </a:rPr>
                      <m:t>=</m:t>
                    </m:r>
                    <m:r>
                      <a:rPr lang="en-US" i="1">
                        <a:latin typeface="Cambria Math" panose="02040503050406030204" pitchFamily="18" charset="0"/>
                      </a:rPr>
                      <m:t>𝜎</m:t>
                    </m:r>
                    <m:d>
                      <m:dPr>
                        <m:ctrlPr>
                          <a:rPr lang="en-US" i="1">
                            <a:latin typeface="Cambria Math" panose="02040503050406030204" pitchFamily="18" charset="0"/>
                          </a:rPr>
                        </m:ctrlPr>
                      </m:dPr>
                      <m:e>
                        <m:r>
                          <a:rPr lang="en-US" b="0" i="1" smtClean="0">
                            <a:latin typeface="Cambria Math" panose="02040503050406030204" pitchFamily="18" charset="0"/>
                          </a:rPr>
                          <m:t>𝑆</m:t>
                        </m:r>
                        <m:d>
                          <m:dPr>
                            <m:ctrlPr>
                              <a:rPr lang="en-US" i="1">
                                <a:latin typeface="Cambria Math" panose="02040503050406030204" pitchFamily="18" charset="0"/>
                              </a:rPr>
                            </m:ctrlPr>
                          </m:dPr>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𝑎</m:t>
                            </m:r>
                          </m:e>
                        </m:d>
                      </m:e>
                    </m:d>
                  </m:oMath>
                </a14:m>
                <a:endParaRPr lang="en-US" i="1" dirty="0">
                  <a:latin typeface="+mj-lt"/>
                </a:endParaRPr>
              </a:p>
              <a:p>
                <a:pPr lvl="1"/>
                <a:r>
                  <a:rPr lang="en-US" dirty="0">
                    <a:latin typeface="+mj-lt"/>
                  </a:rPr>
                  <a:t>Goal: Given </a:t>
                </a:r>
                <a14:m>
                  <m:oMath xmlns:m="http://schemas.openxmlformats.org/officeDocument/2006/math">
                    <m:r>
                      <a:rPr lang="en-US" i="1">
                        <a:latin typeface="Cambria Math" panose="02040503050406030204" pitchFamily="18" charset="0"/>
                      </a:rPr>
                      <m:t>𝑞</m:t>
                    </m:r>
                  </m:oMath>
                </a14:m>
                <a:r>
                  <a:rPr lang="en-US" dirty="0">
                    <a:latin typeface="+mj-lt"/>
                  </a:rPr>
                  <a:t>, find</a:t>
                </a:r>
                <a:r>
                  <a:rPr lang="en-US" dirty="0"/>
                  <a:t> </a:t>
                </a:r>
                <a14:m>
                  <m:oMath xmlns:m="http://schemas.openxmlformats.org/officeDocument/2006/math">
                    <m:r>
                      <a:rPr lang="en-US" i="1" smtClean="0">
                        <a:latin typeface="Cambria Math" panose="02040503050406030204" pitchFamily="18" charset="0"/>
                      </a:rPr>
                      <m:t>𝑎</m:t>
                    </m:r>
                    <m:r>
                      <a:rPr lang="en-US">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arg</m:t>
                        </m:r>
                        <m:r>
                          <a:rPr lang="en-US" b="0" i="0" smtClean="0">
                            <a:latin typeface="Cambria Math" panose="02040503050406030204" pitchFamily="18" charset="0"/>
                          </a:rPr>
                          <m:t> </m:t>
                        </m:r>
                        <m:r>
                          <m:rPr>
                            <m:sty m:val="p"/>
                          </m:rPr>
                          <a:rPr lang="en-US" b="0" i="0" smtClean="0">
                            <a:latin typeface="Cambria Math" panose="02040503050406030204" pitchFamily="18" charset="0"/>
                          </a:rPr>
                          <m:t>max</m:t>
                        </m:r>
                      </m:e>
                      <m:sub>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𝑉</m:t>
                        </m:r>
                      </m:sub>
                    </m:sSub>
                    <m:r>
                      <a:rPr lang="en-US" i="1">
                        <a:latin typeface="Cambria Math" panose="02040503050406030204" pitchFamily="18" charset="0"/>
                      </a:rPr>
                      <m:t>ℙ</m:t>
                    </m:r>
                    <m:d>
                      <m:dPr>
                        <m:ctrlPr>
                          <a:rPr lang="en-US" i="1">
                            <a:latin typeface="Cambria Math" panose="02040503050406030204" pitchFamily="18" charset="0"/>
                          </a:rPr>
                        </m:ctrlPr>
                      </m:dPr>
                      <m:e>
                        <m:d>
                          <m:dPr>
                            <m:ctrlPr>
                              <a:rPr lang="en-US" i="1">
                                <a:latin typeface="Cambria Math" panose="02040503050406030204" pitchFamily="18" charset="0"/>
                              </a:rPr>
                            </m:ctrlPr>
                          </m:dPr>
                          <m:e>
                            <m:r>
                              <a:rPr lang="en-US" i="1">
                                <a:latin typeface="Cambria Math" panose="02040503050406030204" pitchFamily="18" charset="0"/>
                              </a:rPr>
                              <m:t>𝑞</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e>
                        </m:d>
                        <m:r>
                          <a:rPr lang="en-US" i="1">
                            <a:latin typeface="Cambria Math" panose="02040503050406030204" pitchFamily="18" charset="0"/>
                          </a:rPr>
                          <m:t>∈</m:t>
                        </m:r>
                        <m:r>
                          <a:rPr lang="en-US" i="1">
                            <a:latin typeface="Cambria Math" panose="02040503050406030204" pitchFamily="18" charset="0"/>
                          </a:rPr>
                          <m:t>𝒟</m:t>
                        </m:r>
                      </m:e>
                    </m:d>
                  </m:oMath>
                </a14:m>
                <a:endParaRPr lang="en-US" dirty="0">
                  <a:latin typeface="+mj-lt"/>
                </a:endParaRPr>
              </a:p>
              <a:p>
                <a:pPr lvl="1"/>
                <a:r>
                  <a:rPr lang="en-US" i="1" dirty="0">
                    <a:latin typeface="+mj-lt"/>
                  </a:rPr>
                  <a:t>Complex ranking problem with quadratic cost:  </a:t>
                </a:r>
                <a14:m>
                  <m:oMath xmlns:m="http://schemas.openxmlformats.org/officeDocument/2006/math">
                    <m:r>
                      <a:rPr lang="en-US" i="1">
                        <a:latin typeface="Cambria Math" panose="02040503050406030204" pitchFamily="18" charset="0"/>
                      </a:rPr>
                      <m:t>𝑁</m:t>
                    </m:r>
                    <m:d>
                      <m:dPr>
                        <m:begChr m:val="|"/>
                        <m:endChr m:val="|"/>
                        <m:ctrlPr>
                          <a:rPr lang="en-US" i="1">
                            <a:latin typeface="Cambria Math" panose="02040503050406030204" pitchFamily="18" charset="0"/>
                          </a:rPr>
                        </m:ctrlPr>
                      </m:dPr>
                      <m:e>
                        <m:r>
                          <a:rPr lang="en-US" i="1">
                            <a:latin typeface="Cambria Math" panose="02040503050406030204" pitchFamily="18" charset="0"/>
                          </a:rPr>
                          <m:t>𝑉</m:t>
                        </m:r>
                      </m:e>
                    </m:d>
                  </m:oMath>
                </a14:m>
                <a:endParaRPr lang="en-US" dirty="0">
                  <a:latin typeface="+mj-lt"/>
                </a:endParaRPr>
              </a:p>
              <a:p>
                <a:pPr lvl="1"/>
                <a:endParaRPr lang="en-US" dirty="0">
                  <a:latin typeface="+mj-lt"/>
                </a:endParaRPr>
              </a:p>
              <a:p>
                <a:pPr lvl="1"/>
                <a:endParaRPr lang="en-GB" dirty="0">
                  <a:latin typeface="+mj-lt"/>
                </a:endParaRPr>
              </a:p>
            </p:txBody>
          </p:sp>
        </mc:Choice>
        <mc:Fallback xmlns="">
          <p:sp>
            <p:nvSpPr>
              <p:cNvPr id="9" name="Content Placeholder 8">
                <a:extLst>
                  <a:ext uri="{FF2B5EF4-FFF2-40B4-BE49-F238E27FC236}">
                    <a16:creationId xmlns:a16="http://schemas.microsoft.com/office/drawing/2014/main" id="{C997F95A-935B-2A32-F194-641C7FA5AF5D}"/>
                  </a:ext>
                </a:extLst>
              </p:cNvPr>
              <p:cNvSpPr>
                <a:spLocks noGrp="1" noRot="1" noChangeAspect="1" noMove="1" noResize="1" noEditPoints="1" noAdjustHandles="1" noChangeArrowheads="1" noChangeShapeType="1" noTextEdit="1"/>
              </p:cNvSpPr>
              <p:nvPr>
                <p:ph idx="1"/>
              </p:nvPr>
            </p:nvSpPr>
            <p:spPr>
              <a:blipFill>
                <a:blip r:embed="rId3"/>
                <a:stretch>
                  <a:fillRect t="-1802"/>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363E9969-F83C-DF9F-BDF0-6E2981064FDA}"/>
              </a:ext>
            </a:extLst>
          </p:cNvPr>
          <p:cNvSpPr>
            <a:spLocks noGrp="1"/>
          </p:cNvSpPr>
          <p:nvPr>
            <p:ph type="title"/>
          </p:nvPr>
        </p:nvSpPr>
        <p:spPr>
          <a:xfrm>
            <a:off x="904875" y="131032"/>
            <a:ext cx="7207279" cy="1072753"/>
          </a:xfrm>
        </p:spPr>
        <p:txBody>
          <a:bodyPr/>
          <a:lstStyle/>
          <a:p>
            <a:r>
              <a:rPr lang="en-US" dirty="0"/>
              <a:t>3.1	Background</a:t>
            </a:r>
            <a:br>
              <a:rPr lang="en-US" dirty="0"/>
            </a:br>
            <a:r>
              <a:rPr lang="en-US" sz="2400" b="0" i="1" dirty="0"/>
              <a:t>Optimization problems of Knowledge Graph Reasoning</a:t>
            </a:r>
            <a:endParaRPr lang="en-GB" sz="2400" b="0" i="1" dirty="0"/>
          </a:p>
        </p:txBody>
      </p:sp>
      <p:sp>
        <p:nvSpPr>
          <p:cNvPr id="5" name="Date Placeholder 4">
            <a:extLst>
              <a:ext uri="{FF2B5EF4-FFF2-40B4-BE49-F238E27FC236}">
                <a16:creationId xmlns:a16="http://schemas.microsoft.com/office/drawing/2014/main" id="{0E22E88F-04B4-321A-B50A-3510AF6E6702}"/>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DB5AC1E9-897B-1A98-F771-0D38EFCC36D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7112BAF0-0F4D-8FBD-D845-E9D9EAD2C44C}"/>
              </a:ext>
            </a:extLst>
          </p:cNvPr>
          <p:cNvSpPr>
            <a:spLocks noGrp="1"/>
          </p:cNvSpPr>
          <p:nvPr>
            <p:ph type="sldNum" sz="quarter" idx="12"/>
          </p:nvPr>
        </p:nvSpPr>
        <p:spPr/>
        <p:txBody>
          <a:bodyPr/>
          <a:lstStyle/>
          <a:p>
            <a:fld id="{E1E1CD7C-2161-7D43-862E-CE4C333CD873}" type="slidenum">
              <a:rPr lang="fr-FR" smtClean="0"/>
              <a:pPr/>
              <a:t>12</a:t>
            </a:fld>
            <a:endParaRPr lang="fr-FR" dirty="0"/>
          </a:p>
        </p:txBody>
      </p:sp>
    </p:spTree>
    <p:extLst>
      <p:ext uri="{BB962C8B-B14F-4D97-AF65-F5344CB8AC3E}">
        <p14:creationId xmlns:p14="http://schemas.microsoft.com/office/powerpoint/2010/main" val="280734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9" dur="500"/>
                                        <p:tgtEl>
                                          <p:spTgt spid="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0" dur="500"/>
                                        <p:tgtEl>
                                          <p:spTgt spid="9">
                                            <p:txEl>
                                              <p:pRg st="7" end="7"/>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3" dur="500"/>
                                        <p:tgtEl>
                                          <p:spTgt spid="9">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nodeType="clickEffect">
                                  <p:stCondLst>
                                    <p:cond delay="0"/>
                                  </p:stCondLst>
                                  <p:childTnLst>
                                    <p:set>
                                      <p:cBhvr>
                                        <p:cTn id="37" dur="1" fill="hold">
                                          <p:stCondLst>
                                            <p:cond delay="0"/>
                                          </p:stCondLst>
                                        </p:cTn>
                                        <p:tgtEl>
                                          <p:spTgt spid="9">
                                            <p:txEl>
                                              <p:pRg st="9" end="9"/>
                                            </p:txEl>
                                          </p:spTgt>
                                        </p:tgtEl>
                                        <p:attrNameLst>
                                          <p:attrName>style.visibility</p:attrName>
                                        </p:attrNameLst>
                                      </p:cBhvr>
                                      <p:to>
                                        <p:strVal val="visible"/>
                                      </p:to>
                                    </p:set>
                                    <p:animEffect transition="in" filter="randombar(horizontal)">
                                      <p:cBhvr>
                                        <p:cTn id="38"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FE0B4-B11E-45E4-C0FE-AAF61810D9D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6B4BFBB7-2472-62BC-EF9B-2897609CCDCD}"/>
                  </a:ext>
                </a:extLst>
              </p:cNvPr>
              <p:cNvSpPr>
                <a:spLocks noGrp="1"/>
              </p:cNvSpPr>
              <p:nvPr>
                <p:ph idx="1"/>
              </p:nvPr>
            </p:nvSpPr>
            <p:spPr/>
            <p:txBody>
              <a:bodyPr>
                <a:normAutofit/>
              </a:bodyPr>
              <a:lstStyle/>
              <a:p>
                <a:r>
                  <a:rPr lang="en-US" dirty="0">
                    <a:latin typeface="+mj-lt"/>
                  </a:rPr>
                  <a:t>Graph embedding</a:t>
                </a:r>
              </a:p>
              <a:p>
                <a:pPr lvl="1"/>
                <a:r>
                  <a:rPr lang="en-US" dirty="0">
                    <a:latin typeface="+mj-lt"/>
                  </a:rPr>
                  <a:t>Entity embedder: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𝑉</m:t>
                        </m:r>
                      </m:sub>
                    </m:sSub>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ℰ</m:t>
                    </m:r>
                  </m:oMath>
                </a14:m>
                <a:endParaRPr lang="en-US" dirty="0">
                  <a:latin typeface="+mj-lt"/>
                </a:endParaRPr>
              </a:p>
              <a:p>
                <a:pPr lvl="1"/>
                <a:r>
                  <a:rPr lang="en-US" dirty="0">
                    <a:latin typeface="+mj-lt"/>
                  </a:rPr>
                  <a:t>Relation embedder: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𝑅</m:t>
                        </m:r>
                      </m:sub>
                    </m:sSub>
                    <m:r>
                      <a:rPr lang="en-US" i="1">
                        <a:latin typeface="Cambria Math" panose="02040503050406030204" pitchFamily="18" charset="0"/>
                      </a:rPr>
                      <m:t>:</m:t>
                    </m:r>
                    <m:r>
                      <a:rPr lang="en-US" b="0" i="1" smtClean="0">
                        <a:latin typeface="Cambria Math" panose="02040503050406030204" pitchFamily="18" charset="0"/>
                      </a:rPr>
                      <m:t>𝑅</m:t>
                    </m:r>
                    <m:r>
                      <a:rPr lang="en-US" i="1">
                        <a:latin typeface="Cambria Math" panose="02040503050406030204" pitchFamily="18" charset="0"/>
                      </a:rPr>
                      <m:t>→</m:t>
                    </m:r>
                    <m:r>
                      <a:rPr lang="en-US" b="0" i="1" smtClean="0">
                        <a:latin typeface="Cambria Math" panose="02040503050406030204" pitchFamily="18" charset="0"/>
                      </a:rPr>
                      <m:t>ℛ</m:t>
                    </m:r>
                  </m:oMath>
                </a14:m>
                <a:endParaRPr lang="en-US" dirty="0">
                  <a:latin typeface="+mj-lt"/>
                </a:endParaRPr>
              </a:p>
              <a:p>
                <a:r>
                  <a:rPr lang="en-US" dirty="0">
                    <a:latin typeface="+mj-lt"/>
                  </a:rPr>
                  <a:t>Query embedding</a:t>
                </a:r>
              </a:p>
              <a:p>
                <a:pPr lvl="1"/>
                <a:r>
                  <a:rPr lang="en-US" dirty="0">
                    <a:latin typeface="+mj-lt"/>
                  </a:rPr>
                  <a:t>Projection embedder: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𝑃</m:t>
                        </m:r>
                      </m:sub>
                    </m:sSub>
                    <m:r>
                      <a:rPr lang="en-US" i="1">
                        <a:latin typeface="Cambria Math" panose="02040503050406030204" pitchFamily="18" charset="0"/>
                      </a:rPr>
                      <m:t>:</m:t>
                    </m:r>
                    <m:r>
                      <a:rPr lang="en-US" b="0" i="1" smtClean="0">
                        <a:latin typeface="Cambria Math" panose="02040503050406030204" pitchFamily="18" charset="0"/>
                      </a:rPr>
                      <m:t>ℰ</m:t>
                    </m:r>
                    <m:r>
                      <a:rPr lang="en-US" b="0" i="1" smtClean="0">
                        <a:latin typeface="Cambria Math" panose="02040503050406030204" pitchFamily="18" charset="0"/>
                      </a:rPr>
                      <m:t>×</m:t>
                    </m:r>
                    <m:r>
                      <a:rPr lang="en-US" b="0" i="1" smtClean="0">
                        <a:latin typeface="Cambria Math" panose="02040503050406030204" pitchFamily="18" charset="0"/>
                      </a:rPr>
                      <m:t>ℛ</m:t>
                    </m:r>
                    <m:r>
                      <a:rPr lang="en-US" i="1">
                        <a:latin typeface="Cambria Math" panose="02040503050406030204" pitchFamily="18" charset="0"/>
                      </a:rPr>
                      <m:t>→</m:t>
                    </m:r>
                    <m:r>
                      <a:rPr lang="en-US" b="0" i="1" smtClean="0">
                        <a:latin typeface="Cambria Math" panose="02040503050406030204" pitchFamily="18" charset="0"/>
                      </a:rPr>
                      <m:t>ℰ</m:t>
                    </m:r>
                  </m:oMath>
                </a14:m>
                <a:endParaRPr lang="en-US" dirty="0">
                  <a:latin typeface="+mj-lt"/>
                </a:endParaRPr>
              </a:p>
              <a:p>
                <a:pPr lvl="1"/>
                <a:r>
                  <a:rPr lang="en-US" dirty="0">
                    <a:latin typeface="+mj-lt"/>
                  </a:rPr>
                  <a:t>Intersection embedder: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𝐼</m:t>
                        </m:r>
                      </m:sub>
                    </m:sSub>
                    <m:r>
                      <a:rPr lang="en-US" i="1">
                        <a:latin typeface="Cambria Math" panose="02040503050406030204" pitchFamily="18" charset="0"/>
                      </a:rPr>
                      <m:t>:</m:t>
                    </m:r>
                    <m:r>
                      <a:rPr lang="en-US" i="1">
                        <a:latin typeface="Cambria Math" panose="02040503050406030204" pitchFamily="18" charset="0"/>
                      </a:rPr>
                      <m:t>ℰ</m:t>
                    </m:r>
                    <m:r>
                      <a:rPr lang="en-US" i="1">
                        <a:latin typeface="Cambria Math" panose="02040503050406030204" pitchFamily="18" charset="0"/>
                      </a:rPr>
                      <m:t>×</m:t>
                    </m:r>
                    <m:r>
                      <a:rPr lang="en-US" i="1">
                        <a:latin typeface="Cambria Math" panose="02040503050406030204" pitchFamily="18" charset="0"/>
                      </a:rPr>
                      <m:t>ℰ</m:t>
                    </m:r>
                    <m:r>
                      <a:rPr lang="en-US" b="0" i="1" smtClean="0">
                        <a:latin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ℰ</m:t>
                    </m:r>
                  </m:oMath>
                </a14:m>
                <a:endParaRPr lang="en-US" dirty="0">
                  <a:latin typeface="+mj-lt"/>
                </a:endParaRPr>
              </a:p>
              <a:p>
                <a:r>
                  <a:rPr lang="en-US" dirty="0">
                    <a:latin typeface="+mj-lt"/>
                  </a:rPr>
                  <a:t>Scoring</a:t>
                </a:r>
              </a:p>
              <a:p>
                <a:pPr lvl="1"/>
                <a14:m>
                  <m:oMath xmlns:m="http://schemas.openxmlformats.org/officeDocument/2006/math">
                    <m:r>
                      <a:rPr lang="en-US" b="0" i="0" smtClean="0">
                        <a:latin typeface="Cambria Math" panose="02040503050406030204" pitchFamily="18" charset="0"/>
                      </a:rPr>
                      <m:t>𝑓</m:t>
                    </m:r>
                    <m:r>
                      <a:rPr lang="en-US" b="0" i="0" smtClean="0">
                        <a:latin typeface="Cambria Math" panose="02040503050406030204" pitchFamily="18" charset="0"/>
                      </a:rPr>
                      <m:t>:</m:t>
                    </m:r>
                    <m:r>
                      <a:rPr lang="en-US" i="0">
                        <a:latin typeface="Cambria Math" panose="02040503050406030204" pitchFamily="18" charset="0"/>
                      </a:rPr>
                      <m:t>ℰ</m:t>
                    </m:r>
                    <m:r>
                      <a:rPr lang="en-US" i="0">
                        <a:latin typeface="Cambria Math" panose="02040503050406030204" pitchFamily="18" charset="0"/>
                      </a:rPr>
                      <m:t>×</m:t>
                    </m:r>
                    <m:r>
                      <a:rPr lang="en-US" i="0">
                        <a:latin typeface="Cambria Math" panose="02040503050406030204" pitchFamily="18" charset="0"/>
                      </a:rPr>
                      <m:t>ℰ</m:t>
                    </m:r>
                    <m:r>
                      <a:rPr lang="en-US" i="0">
                        <a:latin typeface="Cambria Math" panose="02040503050406030204" pitchFamily="18" charset="0"/>
                      </a:rPr>
                      <m:t>→</m:t>
                    </m:r>
                    <m:r>
                      <a:rPr lang="en-US" b="0" i="0" smtClean="0">
                        <a:latin typeface="Cambria Math" panose="02040503050406030204" pitchFamily="18" charset="0"/>
                      </a:rPr>
                      <m:t>ℝ</m:t>
                    </m:r>
                  </m:oMath>
                </a14:m>
                <a:endParaRPr lang="en-US" dirty="0">
                  <a:latin typeface="+mj-lt"/>
                </a:endParaRPr>
              </a:p>
              <a:p>
                <a:r>
                  <a:rPr lang="en-US" dirty="0">
                    <a:latin typeface="+mj-lt"/>
                  </a:rPr>
                  <a:t>Contrastive loss</a:t>
                </a:r>
              </a:p>
              <a:p>
                <a:pPr lvl="1"/>
                <a14:m>
                  <m:oMath xmlns:m="http://schemas.openxmlformats.org/officeDocument/2006/math">
                    <m:r>
                      <a:rPr lang="en-US" b="0" i="1" smtClean="0">
                        <a:latin typeface="Cambria Math" panose="02040503050406030204" pitchFamily="18" charset="0"/>
                      </a:rPr>
                      <m:t>ℒ</m:t>
                    </m:r>
                    <m:d>
                      <m:dPr>
                        <m:ctrlPr>
                          <a:rPr lang="en-US" b="0" i="1" smtClean="0">
                            <a:latin typeface="Cambria Math" panose="02040503050406030204" pitchFamily="18" charset="0"/>
                          </a:rPr>
                        </m:ctrlPr>
                      </m:dPr>
                      <m:e>
                        <m:r>
                          <a:rPr lang="en-US" b="1" i="0" smtClean="0">
                            <a:latin typeface="Cambria Math" panose="02040503050406030204" pitchFamily="18" charset="0"/>
                          </a:rPr>
                          <m:t>𝐪</m:t>
                        </m:r>
                        <m:r>
                          <a:rPr lang="en-US" b="0" i="1" smtClean="0">
                            <a:latin typeface="Cambria Math" panose="02040503050406030204" pitchFamily="18" charset="0"/>
                          </a:rPr>
                          <m:t>,</m:t>
                        </m:r>
                        <m:r>
                          <a:rPr lang="en-US" b="1" i="0" smtClean="0">
                            <a:latin typeface="Cambria Math" panose="02040503050406030204" pitchFamily="18" charset="0"/>
                          </a:rPr>
                          <m:t>𝐚</m:t>
                        </m:r>
                        <m:r>
                          <a:rPr lang="en-US" b="0" i="1" smtClean="0">
                            <a:latin typeface="Cambria Math" panose="02040503050406030204" pitchFamily="18" charset="0"/>
                          </a:rPr>
                          <m:t>,</m:t>
                        </m:r>
                        <m:r>
                          <m:rPr>
                            <m:lit/>
                          </m:rP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p>
                              <m:sSupPr>
                                <m:ctrlPr>
                                  <a:rPr lang="en-US" b="0" i="1" smtClean="0">
                                    <a:latin typeface="Cambria Math" panose="02040503050406030204" pitchFamily="18" charset="0"/>
                                  </a:rPr>
                                </m:ctrlPr>
                              </m:sSupPr>
                              <m:e>
                                <m:r>
                                  <a:rPr lang="en-US" b="1" i="0" smtClean="0">
                                    <a:latin typeface="Cambria Math" panose="02040503050406030204" pitchFamily="18" charset="0"/>
                                  </a:rPr>
                                  <m:t>𝐚</m:t>
                                </m:r>
                              </m:e>
                              <m:sup>
                                <m:r>
                                  <a:rPr lang="en-US" b="0" i="1" smtClean="0">
                                    <a:latin typeface="Cambria Math" panose="02040503050406030204" pitchFamily="18" charset="0"/>
                                  </a:rPr>
                                  <m:t>′</m:t>
                                </m:r>
                              </m:sup>
                            </m:sSup>
                          </m:e>
                          <m:sub>
                            <m:r>
                              <a:rPr lang="en-US" b="0" i="1" smtClean="0">
                                <a:latin typeface="Cambria Math" panose="02040503050406030204" pitchFamily="18" charset="0"/>
                              </a:rPr>
                              <m:t>𝑖</m:t>
                            </m:r>
                          </m:sub>
                        </m:sSub>
                        <m:sSubSup>
                          <m:sSubSupPr>
                            <m:ctrlPr>
                              <a:rPr lang="en-US" b="0" i="1" smtClean="0">
                                <a:latin typeface="Cambria Math" panose="02040503050406030204" pitchFamily="18" charset="0"/>
                              </a:rPr>
                            </m:ctrlPr>
                          </m:sSubSupPr>
                          <m:e>
                            <m:r>
                              <m:rPr>
                                <m:lit/>
                              </m:rPr>
                              <a:rPr lang="en-US" b="0" i="1" smtClean="0">
                                <a:latin typeface="Cambria Math" panose="02040503050406030204" pitchFamily="18" charset="0"/>
                              </a:rPr>
                              <m:t>}</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𝑚</m:t>
                            </m:r>
                          </m:sup>
                        </m:sSubSup>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𝜎</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1" i="0" smtClean="0">
                                        <a:latin typeface="Cambria Math" panose="02040503050406030204" pitchFamily="18" charset="0"/>
                                      </a:rPr>
                                      <m:t>𝐪</m:t>
                                    </m:r>
                                    <m:r>
                                      <a:rPr lang="en-US" b="0" i="1" smtClean="0">
                                        <a:latin typeface="Cambria Math" panose="02040503050406030204" pitchFamily="18" charset="0"/>
                                      </a:rPr>
                                      <m:t>,</m:t>
                                    </m:r>
                                    <m:r>
                                      <a:rPr lang="en-US" b="1" i="0" smtClean="0">
                                        <a:latin typeface="Cambria Math" panose="02040503050406030204" pitchFamily="18" charset="0"/>
                                      </a:rPr>
                                      <m:t>𝐚</m:t>
                                    </m:r>
                                  </m:e>
                                </m:d>
                              </m:e>
                            </m:d>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𝑚</m:t>
                        </m:r>
                      </m:den>
                    </m:f>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𝑚</m:t>
                        </m:r>
                      </m:sup>
                      <m:e>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i="1">
                                    <a:latin typeface="Cambria Math" panose="02040503050406030204" pitchFamily="18" charset="0"/>
                                  </a:rPr>
                                  <m:t>𝜎</m:t>
                                </m:r>
                                <m:d>
                                  <m:dPr>
                                    <m:ctrlPr>
                                      <a:rPr lang="en-US" i="1">
                                        <a:latin typeface="Cambria Math" panose="02040503050406030204" pitchFamily="18" charset="0"/>
                                      </a:rPr>
                                    </m:ctrlPr>
                                  </m:dPr>
                                  <m:e>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b="1" i="0">
                                            <a:latin typeface="Cambria Math" panose="02040503050406030204" pitchFamily="18" charset="0"/>
                                          </a:rPr>
                                          <m:t>𝐪</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1" i="0">
                                                <a:latin typeface="Cambria Math" panose="02040503050406030204" pitchFamily="18" charset="0"/>
                                              </a:rPr>
                                              <m:t>𝐚</m:t>
                                            </m:r>
                                          </m:e>
                                          <m:sub>
                                            <m:r>
                                              <a:rPr lang="en-US" i="1">
                                                <a:latin typeface="Cambria Math" panose="02040503050406030204" pitchFamily="18" charset="0"/>
                                              </a:rPr>
                                              <m:t>𝑖</m:t>
                                            </m:r>
                                          </m:sub>
                                          <m:sup>
                                            <m:r>
                                              <a:rPr lang="en-US" i="1">
                                                <a:latin typeface="Cambria Math" panose="02040503050406030204" pitchFamily="18" charset="0"/>
                                              </a:rPr>
                                              <m:t>′</m:t>
                                            </m:r>
                                          </m:sup>
                                        </m:sSubSup>
                                      </m:e>
                                    </m:d>
                                  </m:e>
                                </m:d>
                              </m:e>
                            </m:d>
                          </m:e>
                        </m:func>
                      </m:e>
                    </m:nary>
                  </m:oMath>
                </a14:m>
                <a:endParaRPr lang="en-US" dirty="0">
                  <a:latin typeface="+mj-lt"/>
                </a:endParaRPr>
              </a:p>
              <a:p>
                <a:pPr lvl="1"/>
                <a:endParaRPr lang="en-US" dirty="0">
                  <a:latin typeface="+mj-lt"/>
                </a:endParaRPr>
              </a:p>
              <a:p>
                <a:pPr marL="0" indent="0">
                  <a:buNone/>
                </a:pPr>
                <a:endParaRPr lang="en-US" dirty="0">
                  <a:latin typeface="+mj-lt"/>
                </a:endParaRPr>
              </a:p>
              <a:p>
                <a:pPr lvl="1"/>
                <a:endParaRPr lang="en-US" dirty="0">
                  <a:latin typeface="+mj-lt"/>
                </a:endParaRPr>
              </a:p>
              <a:p>
                <a:pPr lvl="1"/>
                <a:endParaRPr lang="en-GB" dirty="0">
                  <a:latin typeface="+mj-lt"/>
                </a:endParaRPr>
              </a:p>
            </p:txBody>
          </p:sp>
        </mc:Choice>
        <mc:Fallback xmlns="">
          <p:sp>
            <p:nvSpPr>
              <p:cNvPr id="9" name="Content Placeholder 8">
                <a:extLst>
                  <a:ext uri="{FF2B5EF4-FFF2-40B4-BE49-F238E27FC236}">
                    <a16:creationId xmlns:a16="http://schemas.microsoft.com/office/drawing/2014/main" id="{6B4BFBB7-2472-62BC-EF9B-2897609CCDCD}"/>
                  </a:ext>
                </a:extLst>
              </p:cNvPr>
              <p:cNvSpPr>
                <a:spLocks noGrp="1" noRot="1" noChangeAspect="1" noMove="1" noResize="1" noEditPoints="1" noAdjustHandles="1" noChangeArrowheads="1" noChangeShapeType="1" noTextEdit="1"/>
              </p:cNvSpPr>
              <p:nvPr>
                <p:ph idx="1"/>
              </p:nvPr>
            </p:nvSpPr>
            <p:spPr>
              <a:blipFill>
                <a:blip r:embed="rId3"/>
                <a:stretch>
                  <a:fillRect t="-1802" b="-7748"/>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FA33E9A7-8A03-F166-1FB6-6AEC9A7B2A8C}"/>
              </a:ext>
            </a:extLst>
          </p:cNvPr>
          <p:cNvSpPr>
            <a:spLocks noGrp="1"/>
          </p:cNvSpPr>
          <p:nvPr>
            <p:ph type="title"/>
          </p:nvPr>
        </p:nvSpPr>
        <p:spPr>
          <a:xfrm>
            <a:off x="904875" y="131032"/>
            <a:ext cx="7207279" cy="1072753"/>
          </a:xfrm>
        </p:spPr>
        <p:txBody>
          <a:bodyPr/>
          <a:lstStyle/>
          <a:p>
            <a:r>
              <a:rPr lang="en-US" dirty="0"/>
              <a:t>3.1	Background</a:t>
            </a:r>
            <a:br>
              <a:rPr lang="en-US" dirty="0"/>
            </a:br>
            <a:r>
              <a:rPr lang="en-US" sz="2400" b="0" i="1" dirty="0"/>
              <a:t>Representation theory of Knowledge Graph Reasoning</a:t>
            </a:r>
            <a:endParaRPr lang="en-GB" sz="2400" b="0" i="1" dirty="0"/>
          </a:p>
        </p:txBody>
      </p:sp>
      <p:sp>
        <p:nvSpPr>
          <p:cNvPr id="5" name="Date Placeholder 4">
            <a:extLst>
              <a:ext uri="{FF2B5EF4-FFF2-40B4-BE49-F238E27FC236}">
                <a16:creationId xmlns:a16="http://schemas.microsoft.com/office/drawing/2014/main" id="{C6107C6E-215C-BB39-87A6-36BA73801426}"/>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8EE733F2-27FF-92D2-6102-921B11AD3DD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F0BB404C-B52E-F2C0-0CD4-199EDACECF6F}"/>
              </a:ext>
            </a:extLst>
          </p:cNvPr>
          <p:cNvSpPr>
            <a:spLocks noGrp="1"/>
          </p:cNvSpPr>
          <p:nvPr>
            <p:ph type="sldNum" sz="quarter" idx="12"/>
          </p:nvPr>
        </p:nvSpPr>
        <p:spPr/>
        <p:txBody>
          <a:bodyPr/>
          <a:lstStyle/>
          <a:p>
            <a:fld id="{E1E1CD7C-2161-7D43-862E-CE4C333CD873}" type="slidenum">
              <a:rPr lang="fr-FR" smtClean="0"/>
              <a:pPr/>
              <a:t>13</a:t>
            </a:fld>
            <a:endParaRPr lang="fr-FR" dirty="0"/>
          </a:p>
        </p:txBody>
      </p:sp>
    </p:spTree>
    <p:extLst>
      <p:ext uri="{BB962C8B-B14F-4D97-AF65-F5344CB8AC3E}">
        <p14:creationId xmlns:p14="http://schemas.microsoft.com/office/powerpoint/2010/main" val="195014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8" dur="500"/>
                                        <p:tgtEl>
                                          <p:spTgt spid="9">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1" dur="500"/>
                                        <p:tgtEl>
                                          <p:spTgt spid="9">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9" dur="500"/>
                                        <p:tgtEl>
                                          <p:spTgt spid="9">
                                            <p:txEl>
                                              <p:pRg st="6" end="6"/>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2" dur="500"/>
                                        <p:tgtEl>
                                          <p:spTgt spid="9">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7" dur="500"/>
                                        <p:tgtEl>
                                          <p:spTgt spid="9">
                                            <p:txEl>
                                              <p:pRg st="8" end="8"/>
                                            </p:txEl>
                                          </p:spTgt>
                                        </p:tgtEl>
                                      </p:cBhvr>
                                    </p:animEffect>
                                  </p:childTnLst>
                                </p:cTn>
                              </p:par>
                              <p:par>
                                <p:cTn id="38" presetID="14" presetClass="entr" presetSubtype="10" fill="hold" nodeType="withEffect">
                                  <p:stCondLst>
                                    <p:cond delay="0"/>
                                  </p:stCondLst>
                                  <p:childTnLst>
                                    <p:set>
                                      <p:cBhvr>
                                        <p:cTn id="39" dur="1" fill="hold">
                                          <p:stCondLst>
                                            <p:cond delay="0"/>
                                          </p:stCondLst>
                                        </p:cTn>
                                        <p:tgtEl>
                                          <p:spTgt spid="9">
                                            <p:txEl>
                                              <p:pRg st="9" end="9"/>
                                            </p:txEl>
                                          </p:spTgt>
                                        </p:tgtEl>
                                        <p:attrNameLst>
                                          <p:attrName>style.visibility</p:attrName>
                                        </p:attrNameLst>
                                      </p:cBhvr>
                                      <p:to>
                                        <p:strVal val="visible"/>
                                      </p:to>
                                    </p:set>
                                    <p:animEffect transition="in" filter="randombar(horizontal)">
                                      <p:cBhvr>
                                        <p:cTn id="40"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5E942-1F6A-7BF0-C2F2-19E81F91004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E777135A-8524-9FD9-45AA-1C6411B63AC5}"/>
                  </a:ext>
                </a:extLst>
              </p:cNvPr>
              <p:cNvSpPr>
                <a:spLocks noGrp="1"/>
              </p:cNvSpPr>
              <p:nvPr>
                <p:ph idx="1"/>
              </p:nvPr>
            </p:nvSpPr>
            <p:spPr/>
            <p:txBody>
              <a:bodyPr>
                <a:normAutofit fontScale="92500" lnSpcReduction="10000"/>
              </a:bodyPr>
              <a:lstStyle/>
              <a:p>
                <a:r>
                  <a:rPr lang="en-US" i="1" dirty="0">
                    <a:latin typeface="+mj-lt"/>
                  </a:rPr>
                  <a:t>Co</a:t>
                </a:r>
                <a:r>
                  <a:rPr lang="en-US" dirty="0">
                    <a:latin typeface="+mj-lt"/>
                  </a:rPr>
                  <a:t>mmunity-</a:t>
                </a:r>
                <a:r>
                  <a:rPr lang="en-US" i="1" dirty="0">
                    <a:latin typeface="+mj-lt"/>
                  </a:rPr>
                  <a:t>In</a:t>
                </a:r>
                <a:r>
                  <a:rPr lang="en-US" dirty="0">
                    <a:latin typeface="+mj-lt"/>
                  </a:rPr>
                  <a:t>spired Graph Embedding</a:t>
                </a:r>
                <a:r>
                  <a:rPr lang="en-US" i="1" dirty="0">
                    <a:latin typeface="+mj-lt"/>
                  </a:rPr>
                  <a:t>s</a:t>
                </a:r>
              </a:p>
              <a:p>
                <a:pPr lvl="1"/>
                <a:r>
                  <a:rPr lang="en-US" i="1" dirty="0">
                    <a:latin typeface="+mj-lt"/>
                  </a:rPr>
                  <a:t>Accelerating KG query answering even on a single CPU/GPU</a:t>
                </a:r>
              </a:p>
              <a:p>
                <a:pPr lvl="1"/>
                <a:r>
                  <a:rPr lang="en-US" i="1" dirty="0">
                    <a:latin typeface="+mj-lt"/>
                  </a:rPr>
                  <a:t>Model-based knowledge graph partitioning with multi-level graph representations</a:t>
                </a:r>
              </a:p>
              <a:p>
                <a:pPr lvl="1"/>
                <a:r>
                  <a:rPr lang="en-US" i="1" dirty="0">
                    <a:latin typeface="+mj-lt"/>
                  </a:rPr>
                  <a:t>Universal: replaces traditional query answering inference and evaluation</a:t>
                </a:r>
              </a:p>
              <a:p>
                <a:r>
                  <a:rPr lang="en-US" dirty="0">
                    <a:latin typeface="+mj-lt"/>
                  </a:rPr>
                  <a:t>Coarsen KG and all samples</a:t>
                </a:r>
              </a:p>
              <a:p>
                <a:pPr lvl="1"/>
                <a:r>
                  <a:rPr lang="en-US" dirty="0">
                    <a:latin typeface="+mj-lt"/>
                  </a:rPr>
                  <a:t>Entity grouping: </a:t>
                </a:r>
                <a14:m>
                  <m:oMath xmlns:m="http://schemas.openxmlformats.org/officeDocument/2006/math">
                    <m:r>
                      <a:rPr lang="en-US" i="1" smtClean="0">
                        <a:latin typeface="Cambria Math" panose="02040503050406030204" pitchFamily="18" charset="0"/>
                      </a:rPr>
                      <m:t>𝑐</m:t>
                    </m:r>
                    <m:r>
                      <a:rPr lang="en-US" i="1" smtClean="0">
                        <a:latin typeface="Cambria Math" panose="02040503050406030204" pitchFamily="18" charset="0"/>
                      </a:rPr>
                      <m:t>:</m:t>
                    </m:r>
                    <m:r>
                      <a:rPr lang="en-US" i="1" smtClean="0">
                        <a:latin typeface="Cambria Math" panose="02040503050406030204" pitchFamily="18" charset="0"/>
                      </a:rPr>
                      <m:t>𝑉</m:t>
                    </m:r>
                    <m:r>
                      <a:rPr lang="en-US" i="1" smtClean="0">
                        <a:latin typeface="Cambria Math" panose="02040503050406030204" pitchFamily="18" charset="0"/>
                      </a:rPr>
                      <m:t>→</m:t>
                    </m:r>
                    <m:r>
                      <a:rPr lang="en-US" i="1" smtClean="0">
                        <a:latin typeface="Cambria Math" panose="02040503050406030204" pitchFamily="18" charset="0"/>
                      </a:rPr>
                      <m:t>𝒞</m:t>
                    </m:r>
                    <m:r>
                      <a:rPr lang="en-US" b="0" i="1" smtClean="0">
                        <a:latin typeface="Cambria Math" panose="02040503050406030204" pitchFamily="18" charset="0"/>
                      </a:rPr>
                      <m:t>,</m:t>
                    </m:r>
                    <m:r>
                      <a:rPr lang="en-US" i="1">
                        <a:latin typeface="Cambria Math" panose="02040503050406030204" pitchFamily="18" charset="0"/>
                      </a:rPr>
                      <m:t>𝒞</m:t>
                    </m:r>
                    <m:r>
                      <a:rPr lang="en-US" b="0" i="1" smtClean="0">
                        <a:latin typeface="Cambria Math" panose="02040503050406030204" pitchFamily="18" charset="0"/>
                      </a:rPr>
                      <m:t>=</m:t>
                    </m:r>
                    <m:r>
                      <m:rPr>
                        <m:lit/>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sSubSup>
                      <m:sSubSupPr>
                        <m:ctrlPr>
                          <a:rPr lang="en-US" b="0" i="1" smtClean="0">
                            <a:latin typeface="Cambria Math" panose="02040503050406030204" pitchFamily="18" charset="0"/>
                          </a:rPr>
                        </m:ctrlPr>
                      </m:sSubSupPr>
                      <m:e>
                        <m:r>
                          <m:rPr>
                            <m:lit/>
                          </m:rPr>
                          <a:rPr lang="en-US" i="1">
                            <a:latin typeface="Cambria Math" panose="02040503050406030204" pitchFamily="18" charset="0"/>
                          </a:rPr>
                          <m:t>}</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sSubSup>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𝐾</m:t>
                        </m:r>
                      </m:sup>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𝑉</m:t>
                        </m:r>
                      </m:e>
                    </m:nary>
                  </m:oMath>
                </a14:m>
                <a:endParaRPr lang="en-US" b="0" i="1" dirty="0">
                  <a:latin typeface="Cambria Math" panose="02040503050406030204" pitchFamily="18" charset="0"/>
                </a:endParaRPr>
              </a:p>
              <a:p>
                <a:pPr lvl="1"/>
                <a:r>
                  <a:rPr lang="en-US" b="0" dirty="0">
                    <a:latin typeface="+mj-lt"/>
                  </a:rPr>
                  <a:t>Group-level </a:t>
                </a:r>
                <a:r>
                  <a:rPr lang="en-US" dirty="0">
                    <a:latin typeface="+mj-lt"/>
                  </a:rPr>
                  <a:t>graph: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𝐺</m:t>
                        </m:r>
                      </m:e>
                      <m:sup>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i="1">
                            <a:latin typeface="Cambria Math" panose="02040503050406030204" pitchFamily="18" charset="0"/>
                          </a:rPr>
                          <m:t>𝒞</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𝐸</m:t>
                            </m:r>
                          </m:e>
                          <m:sub>
                            <m:r>
                              <a:rPr lang="en-US" b="0" i="1" smtClean="0">
                                <a:latin typeface="Cambria Math" panose="02040503050406030204" pitchFamily="18" charset="0"/>
                              </a:rPr>
                              <m:t>𝑅</m:t>
                            </m:r>
                          </m:sub>
                          <m:sup>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sup>
                        </m:sSubSup>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𝐸</m:t>
                        </m:r>
                      </m:e>
                      <m:sub>
                        <m:r>
                          <a:rPr lang="en-US" i="1">
                            <a:latin typeface="Cambria Math" panose="02040503050406030204" pitchFamily="18" charset="0"/>
                          </a:rPr>
                          <m:t>𝑅</m:t>
                        </m:r>
                      </m:sub>
                      <m:sup>
                        <m:r>
                          <a:rPr lang="en-US" b="0" i="1" smtClean="0">
                            <a:latin typeface="Cambria Math" panose="02040503050406030204" pitchFamily="18" charset="0"/>
                          </a:rPr>
                          <m:t>(</m:t>
                        </m:r>
                        <m:r>
                          <a:rPr lang="en-US" i="1">
                            <a:latin typeface="Cambria Math" panose="02040503050406030204" pitchFamily="18" charset="0"/>
                          </a:rPr>
                          <m:t>𝐶</m:t>
                        </m:r>
                        <m:r>
                          <a:rPr lang="en-US" b="0" i="1" smtClean="0">
                            <a:latin typeface="Cambria Math" panose="02040503050406030204" pitchFamily="18" charset="0"/>
                          </a:rPr>
                          <m:t>)</m:t>
                        </m:r>
                      </m:sup>
                    </m:sSubSup>
                    <m:r>
                      <a:rPr lang="en-US" b="0" i="1" smtClean="0">
                        <a:latin typeface="Cambria Math" panose="02040503050406030204" pitchFamily="18" charset="0"/>
                      </a:rPr>
                      <m:t>=</m:t>
                    </m:r>
                    <m:d>
                      <m:dPr>
                        <m:begChr m:val="{"/>
                        <m:endChr m:val="}"/>
                        <m:sep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𝑐</m:t>
                            </m:r>
                            <m:d>
                              <m:dPr>
                                <m:ctrlPr>
                                  <a:rPr lang="en-US" b="0" i="1" smtClean="0">
                                    <a:latin typeface="Cambria Math" panose="02040503050406030204" pitchFamily="18" charset="0"/>
                                  </a:rPr>
                                </m:ctrlPr>
                              </m:dPr>
                              <m:e>
                                <m:r>
                                  <a:rPr lang="en-US" b="0" i="1" smtClean="0">
                                    <a:latin typeface="Cambria Math" panose="02040503050406030204" pitchFamily="18" charset="0"/>
                                  </a:rPr>
                                  <m:t>h</m:t>
                                </m:r>
                              </m:e>
                            </m:d>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𝑐</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e>
                        <m:d>
                          <m:dPr>
                            <m:ctrlPr>
                              <a:rPr lang="en-US" b="0" i="1" smtClean="0">
                                <a:latin typeface="Cambria Math" panose="02040503050406030204" pitchFamily="18" charset="0"/>
                              </a:rPr>
                            </m:ctrlPr>
                          </m:dPr>
                          <m:e>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𝑅</m:t>
                            </m:r>
                          </m:sub>
                        </m:sSub>
                      </m:e>
                    </m:d>
                  </m:oMath>
                </a14:m>
                <a:endParaRPr lang="en-US" dirty="0">
                  <a:latin typeface="+mj-lt"/>
                </a:endParaRPr>
              </a:p>
              <a:p>
                <a:pPr lvl="1"/>
                <a:r>
                  <a:rPr lang="en-US" dirty="0">
                    <a:latin typeface="+mj-lt"/>
                  </a:rPr>
                  <a:t>Group-level query-answer pairs: </a:t>
                </a:r>
                <a14:m>
                  <m:oMath xmlns:m="http://schemas.openxmlformats.org/officeDocument/2006/math">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𝑞</m:t>
                            </m:r>
                          </m:e>
                          <m:sup>
                            <m:d>
                              <m:dPr>
                                <m:ctrlPr>
                                  <a:rPr lang="en-US" b="0" i="1" smtClean="0">
                                    <a:latin typeface="Cambria Math" panose="02040503050406030204" pitchFamily="18" charset="0"/>
                                  </a:rPr>
                                </m:ctrlPr>
                              </m:dPr>
                              <m:e>
                                <m:r>
                                  <a:rPr lang="en-US" b="0" i="1" smtClean="0">
                                    <a:latin typeface="Cambria Math" panose="02040503050406030204" pitchFamily="18" charset="0"/>
                                  </a:rPr>
                                  <m:t>𝐶</m:t>
                                </m:r>
                              </m:e>
                            </m:d>
                          </m:sup>
                        </m:sSup>
                        <m:r>
                          <a:rPr lang="en-US" b="0" i="1" smtClean="0">
                            <a:latin typeface="Cambria Math" panose="02040503050406030204" pitchFamily="18" charset="0"/>
                          </a:rPr>
                          <m:t>,</m:t>
                        </m:r>
                        <m:r>
                          <a:rPr lang="en-US" b="0" i="1" smtClean="0">
                            <a:latin typeface="Cambria Math" panose="02040503050406030204" pitchFamily="18" charset="0"/>
                          </a:rPr>
                          <m:t>𝑐</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e>
                    </m:d>
                  </m:oMath>
                </a14:m>
                <a:endParaRPr lang="en-US" dirty="0">
                  <a:latin typeface="+mj-lt"/>
                </a:endParaRPr>
              </a:p>
              <a:p>
                <a:r>
                  <a:rPr lang="en-US" dirty="0">
                    <a:latin typeface="+mj-lt"/>
                  </a:rPr>
                  <a:t>Two-step reasoning</a:t>
                </a:r>
              </a:p>
              <a:p>
                <a:pPr marL="742950" lvl="1" indent="-400050">
                  <a:buFont typeface="+mj-lt"/>
                  <a:buAutoNum type="romanUcPeriod"/>
                </a:pPr>
                <a:r>
                  <a:rPr lang="en-US" dirty="0">
                    <a:latin typeface="+mj-lt"/>
                  </a:rPr>
                  <a:t>Answer group-level query</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 </m:t>
                        </m:r>
                        <m:r>
                          <a:rPr lang="en-US" i="1">
                            <a:latin typeface="Cambria Math" panose="02040503050406030204" pitchFamily="18" charset="0"/>
                          </a:rPr>
                          <m:t>𝑞</m:t>
                        </m:r>
                      </m:e>
                      <m:sup>
                        <m:d>
                          <m:dPr>
                            <m:ctrlPr>
                              <a:rPr lang="en-US" i="1">
                                <a:latin typeface="Cambria Math" panose="02040503050406030204" pitchFamily="18" charset="0"/>
                              </a:rPr>
                            </m:ctrlPr>
                          </m:dPr>
                          <m:e>
                            <m:r>
                              <a:rPr lang="en-US" i="1">
                                <a:latin typeface="Cambria Math" panose="02040503050406030204" pitchFamily="18" charset="0"/>
                              </a:rPr>
                              <m:t>𝐶</m:t>
                            </m:r>
                          </m:e>
                        </m:d>
                      </m:sup>
                    </m:sSup>
                  </m:oMath>
                </a14:m>
                <a:r>
                  <a:rPr lang="en-US" dirty="0">
                    <a:latin typeface="+mj-lt"/>
                  </a:rPr>
                  <a:t> to predict </a:t>
                </a:r>
                <a14:m>
                  <m:oMath xmlns:m="http://schemas.openxmlformats.org/officeDocument/2006/math">
                    <m:r>
                      <a:rPr lang="en-US" i="1">
                        <a:latin typeface="Cambria Math" panose="02040503050406030204" pitchFamily="18" charset="0"/>
                      </a:rPr>
                      <m:t>𝑐</m:t>
                    </m:r>
                    <m:d>
                      <m:dPr>
                        <m:ctrlPr>
                          <a:rPr lang="en-US" i="1">
                            <a:latin typeface="Cambria Math" panose="02040503050406030204" pitchFamily="18" charset="0"/>
                          </a:rPr>
                        </m:ctrlPr>
                      </m:dPr>
                      <m:e>
                        <m:r>
                          <a:rPr lang="en-US" i="1">
                            <a:latin typeface="Cambria Math" panose="02040503050406030204" pitchFamily="18" charset="0"/>
                          </a:rPr>
                          <m:t>𝑎</m:t>
                        </m:r>
                      </m:e>
                    </m:d>
                  </m:oMath>
                </a14:m>
                <a:endParaRPr lang="en-US" dirty="0">
                  <a:latin typeface="+mj-lt"/>
                </a:endParaRPr>
              </a:p>
              <a:p>
                <a:pPr marL="742950" lvl="1" indent="-400050">
                  <a:buFont typeface="+mj-lt"/>
                  <a:buAutoNum type="romanUcPeriod"/>
                </a:pPr>
                <a:r>
                  <a:rPr lang="en-US" dirty="0">
                    <a:latin typeface="+mj-lt"/>
                  </a:rPr>
                  <a:t>Search for answer of node-level query </a:t>
                </a:r>
                <a14:m>
                  <m:oMath xmlns:m="http://schemas.openxmlformats.org/officeDocument/2006/math">
                    <m:r>
                      <a:rPr lang="en-US" i="1">
                        <a:latin typeface="Cambria Math" panose="02040503050406030204" pitchFamily="18" charset="0"/>
                      </a:rPr>
                      <m:t>𝑞</m:t>
                    </m:r>
                  </m:oMath>
                </a14:m>
                <a:r>
                  <a:rPr lang="en-US" dirty="0">
                    <a:latin typeface="+mj-lt"/>
                  </a:rPr>
                  <a:t> only among entities in </a:t>
                </a:r>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𝑐</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sub>
                    </m:sSub>
                  </m:oMath>
                </a14:m>
                <a:endParaRPr lang="en-US" dirty="0">
                  <a:latin typeface="+mj-lt"/>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ℙ</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𝑎</m:t>
                              </m:r>
                            </m:e>
                          </m:d>
                        </m:e>
                      </m:d>
                      <m:r>
                        <a:rPr lang="en-US" b="0" i="1" smtClean="0">
                          <a:latin typeface="Cambria Math" panose="02040503050406030204" pitchFamily="18" charset="0"/>
                        </a:rPr>
                        <m:t>=</m:t>
                      </m:r>
                      <m:r>
                        <a:rPr lang="en-US" i="1">
                          <a:latin typeface="Cambria Math" panose="02040503050406030204" pitchFamily="18" charset="0"/>
                        </a:rPr>
                        <m:t>ℙ</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𝑞</m:t>
                                  </m:r>
                                </m:e>
                                <m:sup>
                                  <m:d>
                                    <m:dPr>
                                      <m:ctrlPr>
                                        <a:rPr lang="en-US" b="0" i="1" smtClean="0">
                                          <a:latin typeface="Cambria Math" panose="02040503050406030204" pitchFamily="18" charset="0"/>
                                        </a:rPr>
                                      </m:ctrlPr>
                                    </m:dPr>
                                    <m:e>
                                      <m:r>
                                        <a:rPr lang="en-US" b="0" i="1" smtClean="0">
                                          <a:latin typeface="Cambria Math" panose="02040503050406030204" pitchFamily="18" charset="0"/>
                                        </a:rPr>
                                        <m:t>𝐶</m:t>
                                      </m:r>
                                    </m:e>
                                  </m:d>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𝑎</m:t>
                                  </m:r>
                                </m:e>
                                <m:sup>
                                  <m:d>
                                    <m:dPr>
                                      <m:ctrlPr>
                                        <a:rPr lang="en-US" i="1">
                                          <a:latin typeface="Cambria Math" panose="02040503050406030204" pitchFamily="18" charset="0"/>
                                        </a:rPr>
                                      </m:ctrlPr>
                                    </m:dPr>
                                    <m:e>
                                      <m:r>
                                        <a:rPr lang="en-US" i="1">
                                          <a:latin typeface="Cambria Math" panose="02040503050406030204" pitchFamily="18" charset="0"/>
                                        </a:rPr>
                                        <m:t>𝐶</m:t>
                                      </m:r>
                                    </m:e>
                                  </m:d>
                                </m:sup>
                              </m:sSup>
                            </m:e>
                          </m:d>
                        </m:e>
                      </m:d>
                      <m:r>
                        <a:rPr lang="en-US" i="1">
                          <a:latin typeface="Cambria Math" panose="02040503050406030204" pitchFamily="18" charset="0"/>
                        </a:rPr>
                        <m:t>ℙ</m:t>
                      </m:r>
                      <m:d>
                        <m:dPr>
                          <m:sep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𝑎</m:t>
                              </m:r>
                            </m:e>
                          </m:d>
                        </m:e>
                        <m:e>
                          <m:r>
                            <a:rPr lang="en-US" b="0" i="1" smtClean="0">
                              <a:latin typeface="Cambria Math" panose="02040503050406030204" pitchFamily="18" charset="0"/>
                            </a:rPr>
                            <m:t>𝑐</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d>
                                <m:dPr>
                                  <m:ctrlPr>
                                    <a:rPr lang="en-US" i="1">
                                      <a:latin typeface="Cambria Math" panose="02040503050406030204" pitchFamily="18" charset="0"/>
                                    </a:rPr>
                                  </m:ctrlPr>
                                </m:dPr>
                                <m:e>
                                  <m:r>
                                    <a:rPr lang="en-US" i="1">
                                      <a:latin typeface="Cambria Math" panose="02040503050406030204" pitchFamily="18" charset="0"/>
                                    </a:rPr>
                                    <m:t>𝐶</m:t>
                                  </m:r>
                                </m:e>
                              </m:d>
                            </m:sup>
                          </m:sSup>
                        </m:e>
                      </m:d>
                    </m:oMath>
                  </m:oMathPara>
                </a14:m>
                <a:endParaRPr lang="en-US" i="1" dirty="0">
                  <a:latin typeface="+mj-lt"/>
                </a:endParaRPr>
              </a:p>
              <a:p>
                <a:pPr marL="742950" lvl="1" indent="-400050">
                  <a:buFont typeface="+mj-lt"/>
                  <a:buAutoNum type="romanUcPeriod"/>
                </a:pPr>
                <a:endParaRPr lang="en-US" dirty="0">
                  <a:latin typeface="+mj-lt"/>
                </a:endParaRPr>
              </a:p>
              <a:p>
                <a:endParaRPr lang="en-US" dirty="0">
                  <a:latin typeface="+mj-lt"/>
                </a:endParaRPr>
              </a:p>
              <a:p>
                <a:pPr lvl="1"/>
                <a:endParaRPr lang="en-US" i="1" dirty="0">
                  <a:latin typeface="+mj-lt"/>
                </a:endParaRPr>
              </a:p>
              <a:p>
                <a:pPr marL="0" indent="0">
                  <a:buNone/>
                </a:pPr>
                <a:endParaRPr lang="en-US" dirty="0">
                  <a:latin typeface="+mj-lt"/>
                </a:endParaRPr>
              </a:p>
              <a:p>
                <a:pPr lvl="1"/>
                <a:endParaRPr lang="en-US" dirty="0">
                  <a:latin typeface="+mj-lt"/>
                </a:endParaRPr>
              </a:p>
              <a:p>
                <a:pPr lvl="1"/>
                <a:endParaRPr lang="en-GB" dirty="0">
                  <a:latin typeface="+mj-lt"/>
                </a:endParaRPr>
              </a:p>
            </p:txBody>
          </p:sp>
        </mc:Choice>
        <mc:Fallback xmlns="">
          <p:sp>
            <p:nvSpPr>
              <p:cNvPr id="9" name="Content Placeholder 8">
                <a:extLst>
                  <a:ext uri="{FF2B5EF4-FFF2-40B4-BE49-F238E27FC236}">
                    <a16:creationId xmlns:a16="http://schemas.microsoft.com/office/drawing/2014/main" id="{E777135A-8524-9FD9-45AA-1C6411B63AC5}"/>
                  </a:ext>
                </a:extLst>
              </p:cNvPr>
              <p:cNvSpPr>
                <a:spLocks noGrp="1" noRot="1" noChangeAspect="1" noMove="1" noResize="1" noEditPoints="1" noAdjustHandles="1" noChangeArrowheads="1" noChangeShapeType="1" noTextEdit="1"/>
              </p:cNvSpPr>
              <p:nvPr>
                <p:ph idx="1"/>
              </p:nvPr>
            </p:nvSpPr>
            <p:spPr>
              <a:blipFill>
                <a:blip r:embed="rId3"/>
                <a:stretch>
                  <a:fillRect t="-2162"/>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468AEF5F-1B07-94B2-2BBD-CB3BA385EB3E}"/>
              </a:ext>
            </a:extLst>
          </p:cNvPr>
          <p:cNvSpPr>
            <a:spLocks noGrp="1"/>
          </p:cNvSpPr>
          <p:nvPr>
            <p:ph type="title"/>
          </p:nvPr>
        </p:nvSpPr>
        <p:spPr>
          <a:xfrm>
            <a:off x="904875" y="131032"/>
            <a:ext cx="7207279" cy="1072753"/>
          </a:xfrm>
        </p:spPr>
        <p:txBody>
          <a:bodyPr/>
          <a:lstStyle/>
          <a:p>
            <a:r>
              <a:rPr lang="en-US" dirty="0"/>
              <a:t>3.1	Contributions</a:t>
            </a:r>
            <a:br>
              <a:rPr lang="en-US" dirty="0"/>
            </a:br>
            <a:r>
              <a:rPr lang="en-US" sz="2400" b="0" i="1" dirty="0"/>
              <a:t>Idea</a:t>
            </a:r>
            <a:endParaRPr lang="en-GB" sz="2400" b="0" i="1" dirty="0"/>
          </a:p>
        </p:txBody>
      </p:sp>
      <p:sp>
        <p:nvSpPr>
          <p:cNvPr id="5" name="Date Placeholder 4">
            <a:extLst>
              <a:ext uri="{FF2B5EF4-FFF2-40B4-BE49-F238E27FC236}">
                <a16:creationId xmlns:a16="http://schemas.microsoft.com/office/drawing/2014/main" id="{E836BC64-29B7-F94E-C891-945BE6F02CD0}"/>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9A0835E4-6735-AD63-7D6C-D4B72C24ADEC}"/>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DFA6CA2E-89ED-321A-6EB8-95F261945EF4}"/>
              </a:ext>
            </a:extLst>
          </p:cNvPr>
          <p:cNvSpPr>
            <a:spLocks noGrp="1"/>
          </p:cNvSpPr>
          <p:nvPr>
            <p:ph type="sldNum" sz="quarter" idx="12"/>
          </p:nvPr>
        </p:nvSpPr>
        <p:spPr/>
        <p:txBody>
          <a:bodyPr/>
          <a:lstStyle/>
          <a:p>
            <a:fld id="{E1E1CD7C-2161-7D43-862E-CE4C333CD873}" type="slidenum">
              <a:rPr lang="fr-FR" smtClean="0"/>
              <a:pPr/>
              <a:t>14</a:t>
            </a:fld>
            <a:endParaRPr lang="fr-FR" dirty="0"/>
          </a:p>
        </p:txBody>
      </p:sp>
    </p:spTree>
    <p:extLst>
      <p:ext uri="{BB962C8B-B14F-4D97-AF65-F5344CB8AC3E}">
        <p14:creationId xmlns:p14="http://schemas.microsoft.com/office/powerpoint/2010/main" val="265988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1" dur="500"/>
                                        <p:tgtEl>
                                          <p:spTgt spid="9">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0" dur="500"/>
                                        <p:tgtEl>
                                          <p:spTgt spid="9">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5" dur="500"/>
                                        <p:tgtEl>
                                          <p:spTgt spid="9">
                                            <p:txEl>
                                              <p:pRg st="8" end="8"/>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9">
                                            <p:txEl>
                                              <p:pRg st="9" end="9"/>
                                            </p:txEl>
                                          </p:spTgt>
                                        </p:tgtEl>
                                        <p:attrNameLst>
                                          <p:attrName>style.visibility</p:attrName>
                                        </p:attrNameLst>
                                      </p:cBhvr>
                                      <p:to>
                                        <p:strVal val="visible"/>
                                      </p:to>
                                    </p:set>
                                    <p:animEffect transition="in" filter="randombar(horizontal)">
                                      <p:cBhvr>
                                        <p:cTn id="38" dur="500"/>
                                        <p:tgtEl>
                                          <p:spTgt spid="9">
                                            <p:txEl>
                                              <p:pRg st="9" end="9"/>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9">
                                            <p:txEl>
                                              <p:pRg st="10" end="10"/>
                                            </p:txEl>
                                          </p:spTgt>
                                        </p:tgtEl>
                                        <p:attrNameLst>
                                          <p:attrName>style.visibility</p:attrName>
                                        </p:attrNameLst>
                                      </p:cBhvr>
                                      <p:to>
                                        <p:strVal val="visible"/>
                                      </p:to>
                                    </p:set>
                                    <p:animEffect transition="in" filter="randombar(horizontal)">
                                      <p:cBhvr>
                                        <p:cTn id="41" dur="500"/>
                                        <p:tgtEl>
                                          <p:spTgt spid="9">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nodeType="clickEffect">
                                  <p:stCondLst>
                                    <p:cond delay="0"/>
                                  </p:stCondLst>
                                  <p:childTnLst>
                                    <p:set>
                                      <p:cBhvr>
                                        <p:cTn id="45" dur="1" fill="hold">
                                          <p:stCondLst>
                                            <p:cond delay="0"/>
                                          </p:stCondLst>
                                        </p:cTn>
                                        <p:tgtEl>
                                          <p:spTgt spid="9">
                                            <p:txEl>
                                              <p:pRg st="11" end="11"/>
                                            </p:txEl>
                                          </p:spTgt>
                                        </p:tgtEl>
                                        <p:attrNameLst>
                                          <p:attrName>style.visibility</p:attrName>
                                        </p:attrNameLst>
                                      </p:cBhvr>
                                      <p:to>
                                        <p:strVal val="visible"/>
                                      </p:to>
                                    </p:set>
                                    <p:animEffect transition="in" filter="randombar(horizontal)">
                                      <p:cBhvr>
                                        <p:cTn id="46" dur="500"/>
                                        <p:tgtEl>
                                          <p:spTgt spid="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96220-924C-0D0F-CC7B-5558D7ACCDD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0A45E4CE-2066-4F47-AD2C-031546F8F83C}"/>
                  </a:ext>
                </a:extLst>
              </p:cNvPr>
              <p:cNvSpPr>
                <a:spLocks noGrp="1"/>
              </p:cNvSpPr>
              <p:nvPr>
                <p:ph idx="1"/>
              </p:nvPr>
            </p:nvSpPr>
            <p:spPr/>
            <p:txBody>
              <a:bodyPr>
                <a:normAutofit fontScale="92500" lnSpcReduction="10000"/>
              </a:bodyPr>
              <a:lstStyle/>
              <a:p>
                <a:r>
                  <a:rPr lang="en-US" dirty="0">
                    <a:latin typeface="+mj-lt"/>
                  </a:rPr>
                  <a:t>Computational complexity and bounds</a:t>
                </a:r>
              </a:p>
              <a:p>
                <a:pPr marL="3429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𝑁</m:t>
                      </m:r>
                      <m:rad>
                        <m:radPr>
                          <m:degHide m:val="on"/>
                          <m:ctrlPr>
                            <a:rPr lang="en-US" b="0" i="1" smtClean="0">
                              <a:latin typeface="Cambria Math" panose="02040503050406030204" pitchFamily="18" charset="0"/>
                            </a:rPr>
                          </m:ctrlPr>
                        </m:radPr>
                        <m:deg/>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ra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e>
                          <m:d>
                            <m:dPr>
                              <m:ctrlPr>
                                <a:rPr lang="en-US" b="0" i="1" smtClean="0">
                                  <a:latin typeface="Cambria Math" panose="02040503050406030204" pitchFamily="18" charset="0"/>
                                </a:rPr>
                              </m:ctrlPr>
                            </m:dPr>
                            <m:e>
                              <m:r>
                                <a:rPr lang="en-US" b="0" i="1" smtClean="0">
                                  <a:latin typeface="Cambria Math" panose="02040503050406030204" pitchFamily="18" charset="0"/>
                                </a:rPr>
                                <m:t>𝐾</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e>
                              </m:d>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𝑘</m:t>
                              </m:r>
                            </m:sub>
                          </m:sSub>
                        </m:e>
                      </m:nary>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+1</m:t>
                          </m:r>
                        </m:e>
                      </m:d>
                    </m:oMath>
                  </m:oMathPara>
                </a14:m>
                <a:endParaRPr lang="en-US" i="1" dirty="0">
                  <a:latin typeface="+mj-lt"/>
                </a:endParaRPr>
              </a:p>
              <a:p>
                <a:pPr lvl="1"/>
                <a:r>
                  <a:rPr lang="en-US" i="1" dirty="0">
                    <a:latin typeface="+mj-lt"/>
                  </a:rPr>
                  <a:t>Potential of acceleration scaling with </a:t>
                </a:r>
                <a14:m>
                  <m:oMath xmlns:m="http://schemas.openxmlformats.org/officeDocument/2006/math">
                    <m:rad>
                      <m:radPr>
                        <m:degHide m:val="on"/>
                        <m:ctrlPr>
                          <a:rPr lang="en-US" b="0" i="1" smtClean="0">
                            <a:latin typeface="Cambria Math" panose="02040503050406030204" pitchFamily="18" charset="0"/>
                          </a:rPr>
                        </m:ctrlPr>
                      </m:radPr>
                      <m:deg/>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rad>
                  </m:oMath>
                </a14:m>
                <a:r>
                  <a:rPr lang="en-US" i="1" dirty="0">
                    <a:latin typeface="+mj-lt"/>
                  </a:rPr>
                  <a:t>!</a:t>
                </a:r>
              </a:p>
              <a:p>
                <a:pPr lvl="1"/>
                <a:r>
                  <a:rPr lang="en-US" i="1" dirty="0">
                    <a:latin typeface="+mj-lt"/>
                  </a:rPr>
                  <a:t>Achieved when entity group sizes are balanced</a:t>
                </a:r>
              </a:p>
              <a:p>
                <a:r>
                  <a:rPr lang="en-US" dirty="0">
                    <a:latin typeface="+mj-lt"/>
                  </a:rPr>
                  <a:t>Query locality</a:t>
                </a:r>
              </a:p>
              <a:p>
                <a:pPr lvl="1"/>
                <a:r>
                  <a:rPr lang="en-US" dirty="0">
                    <a:latin typeface="+mj-lt"/>
                  </a:rPr>
                  <a:t>Preserving baseline query answering performance </a:t>
                </a:r>
                <a14:m>
                  <m:oMath xmlns:m="http://schemas.openxmlformats.org/officeDocument/2006/math">
                    <m:r>
                      <a:rPr lang="en-US" b="0" i="1" smtClean="0">
                        <a:latin typeface="Cambria Math" panose="02040503050406030204" pitchFamily="18" charset="0"/>
                      </a:rPr>
                      <m:t>⇒</m:t>
                    </m:r>
                  </m:oMath>
                </a14:m>
                <a:r>
                  <a:rPr lang="en-US" dirty="0">
                    <a:latin typeface="+mj-lt"/>
                  </a:rPr>
                  <a:t> need predictable group membership</a:t>
                </a:r>
              </a:p>
              <a:p>
                <a:pPr lvl="1"/>
                <a:r>
                  <a:rPr lang="en-US" dirty="0">
                    <a:latin typeface="+mj-lt"/>
                  </a:rPr>
                  <a:t>Leiden community detection </a:t>
                </a:r>
                <a14:m>
                  <m:oMath xmlns:m="http://schemas.openxmlformats.org/officeDocument/2006/math">
                    <m:r>
                      <a:rPr lang="en-US" i="1">
                        <a:latin typeface="Cambria Math" panose="02040503050406030204" pitchFamily="18" charset="0"/>
                      </a:rPr>
                      <m:t>⇒</m:t>
                    </m:r>
                  </m:oMath>
                </a14:m>
                <a:r>
                  <a:rPr lang="en-US" dirty="0">
                    <a:latin typeface="+mj-lt"/>
                  </a:rPr>
                  <a:t> few inter-group entities </a:t>
                </a:r>
                <a14:m>
                  <m:oMath xmlns:m="http://schemas.openxmlformats.org/officeDocument/2006/math">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m:t>
                            </m:r>
                          </m:sup>
                        </m:sSup>
                      </m:e>
                    </m:d>
                  </m:oMath>
                </a14:m>
                <a:endParaRPr lang="en-US" dirty="0">
                  <a:latin typeface="+mj-lt"/>
                </a:endParaRPr>
              </a:p>
              <a:p>
                <a:r>
                  <a:rPr lang="en-US" dirty="0">
                    <a:latin typeface="+mj-lt"/>
                  </a:rPr>
                  <a:t>Feasibility trade-off</a:t>
                </a:r>
              </a:p>
              <a:p>
                <a:pPr lvl="1"/>
                <a:r>
                  <a:rPr lang="en-US" dirty="0">
                    <a:latin typeface="+mj-lt"/>
                  </a:rPr>
                  <a:t>Comparison of expected time to correct query answers between COINs and baselines</a:t>
                </a:r>
              </a:p>
              <a:p>
                <a:pPr marL="342900" lvl="1" indent="0">
                  <a:buNone/>
                </a:pPr>
                <a14:m>
                  <m:oMathPara xmlns:m="http://schemas.openxmlformats.org/officeDocument/2006/math">
                    <m:oMathParaPr>
                      <m:jc m:val="centerGroup"/>
                    </m:oMathParaPr>
                    <m:oMath xmlns:m="http://schemas.openxmlformats.org/officeDocument/2006/math">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𝑘</m:t>
                                  </m:r>
                                </m:sub>
                              </m:sSub>
                            </m:num>
                            <m:den>
                              <m:r>
                                <a:rPr lang="en-US" b="0" i="1" smtClean="0">
                                  <a:latin typeface="Cambria Math" panose="02040503050406030204" pitchFamily="18" charset="0"/>
                                </a:rPr>
                                <m:t>𝑁</m:t>
                              </m:r>
                            </m:den>
                          </m:f>
                          <m:f>
                            <m:fPr>
                              <m:ctrlPr>
                                <a:rPr lang="en-US" b="0" i="1" smtClean="0">
                                  <a:latin typeface="Cambria Math" panose="02040503050406030204" pitchFamily="18" charset="0"/>
                                </a:rPr>
                              </m:ctrlPr>
                            </m:fPr>
                            <m:num>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𝑘</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𝑘</m:t>
                                  </m:r>
                                </m:sub>
                              </m:sSub>
                            </m:den>
                          </m:f>
                        </m:e>
                      </m:nary>
                      <m:r>
                        <a:rPr lang="en-US" b="0" i="1" smtClean="0">
                          <a:latin typeface="Cambria Math" panose="02040503050406030204" pitchFamily="18" charset="0"/>
                        </a:rPr>
                        <m:t>≤1</m:t>
                      </m:r>
                    </m:oMath>
                  </m:oMathPara>
                </a14:m>
                <a:endParaRPr lang="en-US" dirty="0">
                  <a:latin typeface="+mj-lt"/>
                </a:endParaRPr>
              </a:p>
              <a:p>
                <a:pPr marL="742950" lvl="1" indent="-400050">
                  <a:buFont typeface="+mj-lt"/>
                  <a:buAutoNum type="romanUcPeriod"/>
                </a:pPr>
                <a:endParaRPr lang="en-US" dirty="0">
                  <a:latin typeface="+mj-lt"/>
                </a:endParaRPr>
              </a:p>
              <a:p>
                <a:endParaRPr lang="en-US" dirty="0">
                  <a:latin typeface="+mj-lt"/>
                </a:endParaRPr>
              </a:p>
              <a:p>
                <a:pPr lvl="1"/>
                <a:endParaRPr lang="en-US" i="1" dirty="0">
                  <a:latin typeface="+mj-lt"/>
                </a:endParaRPr>
              </a:p>
              <a:p>
                <a:pPr marL="0" indent="0">
                  <a:buNone/>
                </a:pPr>
                <a:endParaRPr lang="en-US" dirty="0">
                  <a:latin typeface="+mj-lt"/>
                </a:endParaRPr>
              </a:p>
              <a:p>
                <a:pPr lvl="1"/>
                <a:endParaRPr lang="en-US" dirty="0">
                  <a:latin typeface="+mj-lt"/>
                </a:endParaRPr>
              </a:p>
              <a:p>
                <a:pPr lvl="1"/>
                <a:endParaRPr lang="en-GB" dirty="0">
                  <a:latin typeface="+mj-lt"/>
                </a:endParaRPr>
              </a:p>
            </p:txBody>
          </p:sp>
        </mc:Choice>
        <mc:Fallback xmlns="">
          <p:sp>
            <p:nvSpPr>
              <p:cNvPr id="9" name="Content Placeholder 8">
                <a:extLst>
                  <a:ext uri="{FF2B5EF4-FFF2-40B4-BE49-F238E27FC236}">
                    <a16:creationId xmlns:a16="http://schemas.microsoft.com/office/drawing/2014/main" id="{0A45E4CE-2066-4F47-AD2C-031546F8F83C}"/>
                  </a:ext>
                </a:extLst>
              </p:cNvPr>
              <p:cNvSpPr>
                <a:spLocks noGrp="1" noRot="1" noChangeAspect="1" noMove="1" noResize="1" noEditPoints="1" noAdjustHandles="1" noChangeArrowheads="1" noChangeShapeType="1" noTextEdit="1"/>
              </p:cNvSpPr>
              <p:nvPr>
                <p:ph idx="1"/>
              </p:nvPr>
            </p:nvSpPr>
            <p:spPr>
              <a:blipFill>
                <a:blip r:embed="rId3"/>
                <a:stretch>
                  <a:fillRect t="-2162"/>
                </a:stretch>
              </a:blipFill>
            </p:spPr>
            <p:txBody>
              <a:bodyPr/>
              <a:lstStyle/>
              <a:p>
                <a:r>
                  <a:rPr lang="en-GB">
                    <a:noFill/>
                  </a:rPr>
                  <a:t> </a:t>
                </a:r>
              </a:p>
            </p:txBody>
          </p:sp>
        </mc:Fallback>
      </mc:AlternateContent>
      <p:sp>
        <p:nvSpPr>
          <p:cNvPr id="8" name="Title 7">
            <a:extLst>
              <a:ext uri="{FF2B5EF4-FFF2-40B4-BE49-F238E27FC236}">
                <a16:creationId xmlns:a16="http://schemas.microsoft.com/office/drawing/2014/main" id="{B7217F71-5096-BDFF-D08B-22780CB0A51C}"/>
              </a:ext>
            </a:extLst>
          </p:cNvPr>
          <p:cNvSpPr>
            <a:spLocks noGrp="1"/>
          </p:cNvSpPr>
          <p:nvPr>
            <p:ph type="title"/>
          </p:nvPr>
        </p:nvSpPr>
        <p:spPr>
          <a:xfrm>
            <a:off x="904875" y="131032"/>
            <a:ext cx="7207279" cy="1072753"/>
          </a:xfrm>
        </p:spPr>
        <p:txBody>
          <a:bodyPr/>
          <a:lstStyle/>
          <a:p>
            <a:r>
              <a:rPr lang="en-US" dirty="0"/>
              <a:t>3.1	Contributions</a:t>
            </a:r>
            <a:br>
              <a:rPr lang="en-US" dirty="0"/>
            </a:br>
            <a:r>
              <a:rPr lang="en-US" sz="2400" b="0" i="1" dirty="0"/>
              <a:t>Theory</a:t>
            </a:r>
            <a:endParaRPr lang="en-GB" sz="2400" b="0" i="1" dirty="0"/>
          </a:p>
        </p:txBody>
      </p:sp>
      <p:sp>
        <p:nvSpPr>
          <p:cNvPr id="5" name="Date Placeholder 4">
            <a:extLst>
              <a:ext uri="{FF2B5EF4-FFF2-40B4-BE49-F238E27FC236}">
                <a16:creationId xmlns:a16="http://schemas.microsoft.com/office/drawing/2014/main" id="{CD8A79B5-C0E8-1C1D-7787-A1C76E4AD4AC}"/>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FBE75838-461B-96CB-923D-169919D67E9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7C93E2AB-62CA-84F6-FDFA-F28A4B9A82CE}"/>
              </a:ext>
            </a:extLst>
          </p:cNvPr>
          <p:cNvSpPr>
            <a:spLocks noGrp="1"/>
          </p:cNvSpPr>
          <p:nvPr>
            <p:ph type="sldNum" sz="quarter" idx="12"/>
          </p:nvPr>
        </p:nvSpPr>
        <p:spPr/>
        <p:txBody>
          <a:bodyPr/>
          <a:lstStyle/>
          <a:p>
            <a:fld id="{E1E1CD7C-2161-7D43-862E-CE4C333CD873}" type="slidenum">
              <a:rPr lang="fr-FR" smtClean="0"/>
              <a:pPr/>
              <a:t>15</a:t>
            </a:fld>
            <a:endParaRPr lang="fr-FR" dirty="0"/>
          </a:p>
        </p:txBody>
      </p:sp>
    </p:spTree>
    <p:extLst>
      <p:ext uri="{BB962C8B-B14F-4D97-AF65-F5344CB8AC3E}">
        <p14:creationId xmlns:p14="http://schemas.microsoft.com/office/powerpoint/2010/main" val="3368964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horizontal)">
                                      <p:cBhvr>
                                        <p:cTn id="7" dur="500"/>
                                        <p:tgtEl>
                                          <p:spTgt spid="9">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0" dur="500"/>
                                        <p:tgtEl>
                                          <p:spTgt spid="9">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3" dur="500"/>
                                        <p:tgtEl>
                                          <p:spTgt spid="9">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randombar(horizontal)">
                                      <p:cBhvr>
                                        <p:cTn id="16" dur="500"/>
                                        <p:tgtEl>
                                          <p:spTgt spid="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1" dur="500"/>
                                        <p:tgtEl>
                                          <p:spTgt spid="9">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4" dur="500"/>
                                        <p:tgtEl>
                                          <p:spTgt spid="9">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randombar(horizontal)">
                                      <p:cBhvr>
                                        <p:cTn id="27" dur="500"/>
                                        <p:tgtEl>
                                          <p:spTgt spid="9">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2" dur="500"/>
                                        <p:tgtEl>
                                          <p:spTgt spid="9">
                                            <p:txEl>
                                              <p:pRg st="7" end="7"/>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Effect transition="in" filter="randombar(horizontal)">
                                      <p:cBhvr>
                                        <p:cTn id="35" dur="500"/>
                                        <p:tgtEl>
                                          <p:spTgt spid="9">
                                            <p:txEl>
                                              <p:pRg st="8" end="8"/>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9">
                                            <p:txEl>
                                              <p:pRg st="9" end="9"/>
                                            </p:txEl>
                                          </p:spTgt>
                                        </p:tgtEl>
                                        <p:attrNameLst>
                                          <p:attrName>style.visibility</p:attrName>
                                        </p:attrNameLst>
                                      </p:cBhvr>
                                      <p:to>
                                        <p:strVal val="visible"/>
                                      </p:to>
                                    </p:set>
                                    <p:animEffect transition="in" filter="randombar(horizontal)">
                                      <p:cBhvr>
                                        <p:cTn id="38"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D5435-B1EF-D177-CAAF-7F252E2CE5C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9467C76-635B-0C23-8326-1B2FC2E8D322}"/>
              </a:ext>
            </a:extLst>
          </p:cNvPr>
          <p:cNvSpPr>
            <a:spLocks noGrp="1"/>
          </p:cNvSpPr>
          <p:nvPr>
            <p:ph type="title"/>
          </p:nvPr>
        </p:nvSpPr>
        <p:spPr>
          <a:xfrm>
            <a:off x="904875" y="131032"/>
            <a:ext cx="7207279" cy="1072753"/>
          </a:xfrm>
        </p:spPr>
        <p:txBody>
          <a:bodyPr/>
          <a:lstStyle/>
          <a:p>
            <a:r>
              <a:rPr lang="en-US" dirty="0"/>
              <a:t>3.1	Methodology</a:t>
            </a:r>
            <a:br>
              <a:rPr lang="en-US" dirty="0"/>
            </a:br>
            <a:r>
              <a:rPr lang="en-US" sz="2400" b="0" i="1" dirty="0"/>
              <a:t>The COINs architecture</a:t>
            </a:r>
            <a:endParaRPr lang="en-GB" sz="2400" b="0" i="1" dirty="0"/>
          </a:p>
        </p:txBody>
      </p:sp>
      <p:sp>
        <p:nvSpPr>
          <p:cNvPr id="5" name="Date Placeholder 4">
            <a:extLst>
              <a:ext uri="{FF2B5EF4-FFF2-40B4-BE49-F238E27FC236}">
                <a16:creationId xmlns:a16="http://schemas.microsoft.com/office/drawing/2014/main" id="{B0DF60D5-B5E5-D895-0B2E-0323177727BB}"/>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6870B660-CCAD-D878-94AC-09F7B189E52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E9CA041F-473F-B3C5-2B52-B60B7E912804}"/>
              </a:ext>
            </a:extLst>
          </p:cNvPr>
          <p:cNvSpPr>
            <a:spLocks noGrp="1"/>
          </p:cNvSpPr>
          <p:nvPr>
            <p:ph type="sldNum" sz="quarter" idx="12"/>
          </p:nvPr>
        </p:nvSpPr>
        <p:spPr/>
        <p:txBody>
          <a:bodyPr/>
          <a:lstStyle/>
          <a:p>
            <a:fld id="{E1E1CD7C-2161-7D43-862E-CE4C333CD873}" type="slidenum">
              <a:rPr lang="fr-FR" smtClean="0"/>
              <a:pPr/>
              <a:t>16</a:t>
            </a:fld>
            <a:endParaRPr lang="fr-FR" dirty="0"/>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D7200C6-A19B-266B-EAB2-03E7705933CB}"/>
                  </a:ext>
                </a:extLst>
              </p:cNvPr>
              <p:cNvSpPr>
                <a:spLocks noGrp="1"/>
              </p:cNvSpPr>
              <p:nvPr>
                <p:ph idx="1"/>
              </p:nvPr>
            </p:nvSpPr>
            <p:spPr/>
            <p:txBody>
              <a:bodyPr/>
              <a:lstStyle/>
              <a:p>
                <a:r>
                  <a:rPr lang="en-US" dirty="0">
                    <a:latin typeface="+mj-lt"/>
                  </a:rPr>
                  <a:t>Unchanged:</a:t>
                </a:r>
                <a14:m>
                  <m:oMath xmlns:m="http://schemas.openxmlformats.org/officeDocument/2006/math">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0" smtClean="0">
                            <a:latin typeface="Cambria Math" panose="02040503050406030204" pitchFamily="18" charset="0"/>
                          </a:rPr>
                          <m:t>𝑔</m:t>
                        </m:r>
                      </m:e>
                      <m:sub>
                        <m:r>
                          <a:rPr lang="en-US" b="0" i="0" smtClean="0">
                            <a:latin typeface="Cambria Math" panose="02040503050406030204" pitchFamily="18" charset="0"/>
                          </a:rPr>
                          <m:t>𝑅</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𝑃</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𝐼</m:t>
                        </m:r>
                      </m:sub>
                    </m:sSub>
                  </m:oMath>
                </a14:m>
                <a:endParaRPr lang="en-US" dirty="0">
                  <a:latin typeface="+mj-lt"/>
                </a:endParaRPr>
              </a:p>
              <a:p>
                <a:r>
                  <a:rPr lang="en-US" dirty="0">
                    <a:latin typeface="+mj-lt"/>
                  </a:rPr>
                  <a:t>Community embedding models:</a:t>
                </a: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𝑔</m:t>
                          </m:r>
                        </m:e>
                        <m:sub>
                          <m:r>
                            <a:rPr lang="en-US" b="0" i="1" smtClean="0">
                              <a:latin typeface="Cambria Math" panose="02040503050406030204" pitchFamily="18" charset="0"/>
                            </a:rPr>
                            <m:t>𝑉</m:t>
                          </m:r>
                        </m:sub>
                        <m:sup>
                          <m:d>
                            <m:dPr>
                              <m:ctrlPr>
                                <a:rPr lang="en-US" b="0" i="1" smtClean="0">
                                  <a:latin typeface="Cambria Math" panose="02040503050406030204" pitchFamily="18" charset="0"/>
                                </a:rPr>
                              </m:ctrlPr>
                            </m:dPr>
                            <m:e>
                              <m:r>
                                <a:rPr lang="en-US" b="0" i="1" smtClean="0">
                                  <a:latin typeface="Cambria Math" panose="02040503050406030204" pitchFamily="18" charset="0"/>
                                </a:rPr>
                                <m:t>𝐶</m:t>
                              </m:r>
                            </m:e>
                          </m:d>
                        </m:sup>
                      </m:sSubSup>
                      <m:r>
                        <a:rPr lang="en-US" b="0" i="1" smtClean="0">
                          <a:latin typeface="Cambria Math" panose="02040503050406030204" pitchFamily="18" charset="0"/>
                        </a:rPr>
                        <m:t>:</m:t>
                      </m:r>
                      <m:r>
                        <a:rPr lang="en-US" b="0" i="1" smtClean="0">
                          <a:latin typeface="Cambria Math" panose="02040503050406030204" pitchFamily="18" charset="0"/>
                        </a:rPr>
                        <m:t>𝒞</m:t>
                      </m:r>
                      <m:r>
                        <a:rPr lang="en-US" b="0" i="1" smtClean="0">
                          <a:latin typeface="Cambria Math" panose="02040503050406030204" pitchFamily="18" charset="0"/>
                        </a:rPr>
                        <m:t>→</m:t>
                      </m:r>
                      <m:r>
                        <a:rPr lang="en-US" b="0" i="1" smtClean="0">
                          <a:latin typeface="Cambria Math" panose="02040503050406030204" pitchFamily="18" charset="0"/>
                        </a:rPr>
                        <m:t>ℰ</m:t>
                      </m:r>
                      <m:r>
                        <a:rPr lang="en-US" b="0" i="1" smtClean="0">
                          <a:latin typeface="Cambria Math" panose="02040503050406030204" pitchFamily="18" charset="0"/>
                        </a:rPr>
                        <m:t>,</m:t>
                      </m:r>
                      <m:sSubSup>
                        <m:sSubSupPr>
                          <m:ctrlPr>
                            <a:rPr lang="en-US" i="1" smtClean="0">
                              <a:latin typeface="Cambria Math" panose="02040503050406030204" pitchFamily="18" charset="0"/>
                            </a:rPr>
                          </m:ctrlPr>
                        </m:sSubSupPr>
                        <m:e>
                          <m:r>
                            <a:rPr lang="en-US" i="1">
                              <a:latin typeface="Cambria Math" panose="02040503050406030204" pitchFamily="18" charset="0"/>
                            </a:rPr>
                            <m:t>𝑔</m:t>
                          </m:r>
                        </m:e>
                        <m:sub>
                          <m:r>
                            <a:rPr lang="en-US" b="0" i="1" smtClean="0">
                              <a:latin typeface="Cambria Math" panose="02040503050406030204" pitchFamily="18" charset="0"/>
                            </a:rPr>
                            <m:t>𝑅</m:t>
                          </m:r>
                        </m:sub>
                        <m:sup>
                          <m:d>
                            <m:dPr>
                              <m:ctrlPr>
                                <a:rPr lang="en-US" b="0" i="1" smtClean="0">
                                  <a:latin typeface="Cambria Math" panose="02040503050406030204" pitchFamily="18" charset="0"/>
                                </a:rPr>
                              </m:ctrlPr>
                            </m:dPr>
                            <m:e>
                              <m:r>
                                <a:rPr lang="en-US" i="1">
                                  <a:latin typeface="Cambria Math" panose="02040503050406030204" pitchFamily="18" charset="0"/>
                                </a:rPr>
                                <m:t>𝐶</m:t>
                              </m:r>
                            </m:e>
                          </m:d>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𝑔</m:t>
                          </m:r>
                        </m:e>
                        <m:sub>
                          <m:r>
                            <a:rPr lang="en-US" b="0" i="1" smtClean="0">
                              <a:latin typeface="Cambria Math" panose="02040503050406030204" pitchFamily="18" charset="0"/>
                            </a:rPr>
                            <m:t>𝑃</m:t>
                          </m:r>
                        </m:sub>
                        <m:sup>
                          <m:d>
                            <m:dPr>
                              <m:ctrlPr>
                                <a:rPr lang="en-US" b="0" i="1" smtClean="0">
                                  <a:latin typeface="Cambria Math" panose="02040503050406030204" pitchFamily="18" charset="0"/>
                                </a:rPr>
                              </m:ctrlPr>
                            </m:dPr>
                            <m:e>
                              <m:r>
                                <a:rPr lang="en-US" i="1">
                                  <a:latin typeface="Cambria Math" panose="02040503050406030204" pitchFamily="18" charset="0"/>
                                </a:rPr>
                                <m:t>𝐶</m:t>
                              </m:r>
                            </m:e>
                          </m:d>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𝑔</m:t>
                          </m:r>
                        </m:e>
                        <m:sub>
                          <m:r>
                            <a:rPr lang="en-US" b="0" i="1" smtClean="0">
                              <a:latin typeface="Cambria Math" panose="02040503050406030204" pitchFamily="18" charset="0"/>
                            </a:rPr>
                            <m:t>𝐼</m:t>
                          </m:r>
                        </m:sub>
                        <m:sup>
                          <m:d>
                            <m:dPr>
                              <m:ctrlPr>
                                <a:rPr lang="en-US" b="0" i="1" smtClean="0">
                                  <a:latin typeface="Cambria Math" panose="02040503050406030204" pitchFamily="18" charset="0"/>
                                </a:rPr>
                              </m:ctrlPr>
                            </m:dPr>
                            <m:e>
                              <m:r>
                                <a:rPr lang="en-US" i="1">
                                  <a:latin typeface="Cambria Math" panose="02040503050406030204" pitchFamily="18" charset="0"/>
                                </a:rPr>
                                <m:t>𝐶</m:t>
                              </m:r>
                            </m:e>
                          </m:d>
                        </m:sup>
                      </m:sSubSup>
                    </m:oMath>
                  </m:oMathPara>
                </a14:m>
                <a:endParaRPr lang="en-GB" dirty="0">
                  <a:latin typeface="+mj-lt"/>
                </a:endParaRPr>
              </a:p>
              <a:p>
                <a:r>
                  <a:rPr lang="en-GB" dirty="0">
                    <a:latin typeface="+mj-lt"/>
                  </a:rPr>
                  <a:t>Intra-community node embedding models:</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𝑔</m:t>
                                  </m:r>
                                </m:e>
                                <m:sub>
                                  <m:r>
                                    <a:rPr lang="en-US" b="0" i="1" smtClean="0">
                                      <a:latin typeface="Cambria Math" panose="02040503050406030204" pitchFamily="18" charset="0"/>
                                    </a:rPr>
                                    <m:t>𝑉</m:t>
                                  </m:r>
                                </m:sub>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bSup>
                            </m:e>
                          </m:d>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𝑔</m:t>
                          </m:r>
                        </m:e>
                        <m:sub>
                          <m:r>
                            <a:rPr lang="en-US" i="1">
                              <a:latin typeface="Cambria Math" panose="02040503050406030204" pitchFamily="18" charset="0"/>
                            </a:rPr>
                            <m:t>𝑉</m:t>
                          </m:r>
                        </m:sub>
                        <m:sup>
                          <m:d>
                            <m:dPr>
                              <m:ctrlPr>
                                <a:rPr lang="en-US" i="1">
                                  <a:latin typeface="Cambria Math" panose="02040503050406030204" pitchFamily="18" charset="0"/>
                                </a:rPr>
                              </m:ctrlPr>
                            </m:dPr>
                            <m:e>
                              <m:r>
                                <a:rPr lang="en-US" i="1">
                                  <a:latin typeface="Cambria Math" panose="02040503050406030204" pitchFamily="18" charset="0"/>
                                </a:rPr>
                                <m:t>𝑘</m:t>
                              </m:r>
                            </m:e>
                          </m:d>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ℰ</m:t>
                      </m:r>
                    </m:oMath>
                  </m:oMathPara>
                </a14:m>
                <a:endParaRPr lang="en-GB" dirty="0">
                  <a:latin typeface="+mj-lt"/>
                </a:endParaRPr>
              </a:p>
              <a:p>
                <a:r>
                  <a:rPr lang="en-GB" dirty="0">
                    <a:latin typeface="+mj-lt"/>
                  </a:rPr>
                  <a:t>Inter-community node embedding model:</a:t>
                </a:r>
              </a:p>
              <a:p>
                <a:pPr marL="0" indent="0">
                  <a:buNone/>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𝑔</m:t>
                          </m:r>
                        </m:e>
                        <m:sub>
                          <m:r>
                            <a:rPr lang="en-US" i="1">
                              <a:latin typeface="Cambria Math" panose="02040503050406030204" pitchFamily="18" charset="0"/>
                            </a:rPr>
                            <m:t>𝑉</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𝜔</m:t>
                          </m:r>
                        </m:sub>
                        <m:sup>
                          <m:r>
                            <a:rPr lang="en-US" b="0" i="1" smtClean="0">
                              <a:latin typeface="Cambria Math" panose="02040503050406030204" pitchFamily="18" charset="0"/>
                            </a:rPr>
                            <m:t>∗</m:t>
                          </m:r>
                        </m:sup>
                      </m:sSubSup>
                      <m:r>
                        <a:rPr lang="en-US" b="0" i="1" smtClean="0">
                          <a:latin typeface="Cambria Math" panose="02040503050406030204" pitchFamily="18" charset="0"/>
                        </a:rPr>
                        <m:t>→</m:t>
                      </m:r>
                      <m:r>
                        <a:rPr lang="en-US" b="0" i="1" smtClean="0">
                          <a:latin typeface="Cambria Math" panose="02040503050406030204" pitchFamily="18" charset="0"/>
                        </a:rPr>
                        <m:t>ℰ</m:t>
                      </m:r>
                    </m:oMath>
                  </m:oMathPara>
                </a14:m>
                <a:endParaRPr lang="en-US" dirty="0">
                  <a:latin typeface="+mj-lt"/>
                </a:endParaRPr>
              </a:p>
              <a:p>
                <a:r>
                  <a:rPr lang="en-US" dirty="0">
                    <a:latin typeface="+mj-lt"/>
                  </a:rPr>
                  <a:t>Aggregation weights: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𝐖</m:t>
                      </m:r>
                      <m:r>
                        <a:rPr lang="en-US" b="0" i="1" smtClean="0">
                          <a:latin typeface="Cambria Math" panose="02040503050406030204" pitchFamily="18" charset="0"/>
                        </a:rPr>
                        <m:t>,</m:t>
                      </m:r>
                      <m:r>
                        <a:rPr lang="en-US" b="0" i="1" smtClean="0">
                          <a:latin typeface="Cambria Math" panose="02040503050406030204" pitchFamily="18" charset="0"/>
                        </a:rPr>
                        <m:t>𝐰</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𝐰</m:t>
                          </m:r>
                        </m:e>
                        <m:sub>
                          <m:r>
                            <a:rPr lang="en-US" b="0" i="1" smtClean="0">
                              <a:latin typeface="Cambria Math" panose="02040503050406030204" pitchFamily="18" charset="0"/>
                            </a:rPr>
                            <m:t>𝐑</m:t>
                          </m:r>
                        </m:sub>
                      </m:sSub>
                    </m:oMath>
                  </m:oMathPara>
                </a14:m>
                <a:endParaRPr lang="en-US" dirty="0">
                  <a:latin typeface="+mj-lt"/>
                </a:endParaRPr>
              </a:p>
              <a:p>
                <a:endParaRPr lang="en-GB" dirty="0">
                  <a:latin typeface="+mj-lt"/>
                </a:endParaRPr>
              </a:p>
            </p:txBody>
          </p:sp>
        </mc:Choice>
        <mc:Fallback xmlns="">
          <p:sp>
            <p:nvSpPr>
              <p:cNvPr id="10" name="Content Placeholder 9">
                <a:extLst>
                  <a:ext uri="{FF2B5EF4-FFF2-40B4-BE49-F238E27FC236}">
                    <a16:creationId xmlns:a16="http://schemas.microsoft.com/office/drawing/2014/main" id="{4D7200C6-A19B-266B-EAB2-03E7705933CB}"/>
                  </a:ext>
                </a:extLst>
              </p:cNvPr>
              <p:cNvSpPr>
                <a:spLocks noGrp="1" noRot="1" noChangeAspect="1" noMove="1" noResize="1" noEditPoints="1" noAdjustHandles="1" noChangeArrowheads="1" noChangeShapeType="1" noTextEdit="1"/>
              </p:cNvSpPr>
              <p:nvPr>
                <p:ph idx="1"/>
              </p:nvPr>
            </p:nvSpPr>
            <p:spPr>
              <a:blipFill>
                <a:blip r:embed="rId3"/>
                <a:stretch>
                  <a:fillRect t="-1802"/>
                </a:stretch>
              </a:blipFill>
            </p:spPr>
            <p:txBody>
              <a:bodyPr/>
              <a:lstStyle/>
              <a:p>
                <a:r>
                  <a:rPr lang="en-GB">
                    <a:noFill/>
                  </a:rPr>
                  <a:t> </a:t>
                </a:r>
              </a:p>
            </p:txBody>
          </p:sp>
        </mc:Fallback>
      </mc:AlternateContent>
    </p:spTree>
    <p:extLst>
      <p:ext uri="{BB962C8B-B14F-4D97-AF65-F5344CB8AC3E}">
        <p14:creationId xmlns:p14="http://schemas.microsoft.com/office/powerpoint/2010/main" val="71148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randombar(horizontal)">
                                      <p:cBhvr>
                                        <p:cTn id="12" dur="500"/>
                                        <p:tgtEl>
                                          <p:spTgt spid="10">
                                            <p:txEl>
                                              <p:pRg st="1" end="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randombar(horizontal)">
                                      <p:cBhvr>
                                        <p:cTn id="15" dur="500"/>
                                        <p:tgtEl>
                                          <p:spTgt spid="10">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10">
                                            <p:txEl>
                                              <p:pRg st="3" end="3"/>
                                            </p:txEl>
                                          </p:spTgt>
                                        </p:tgtEl>
                                        <p:attrNameLst>
                                          <p:attrName>style.visibility</p:attrName>
                                        </p:attrNameLst>
                                      </p:cBhvr>
                                      <p:to>
                                        <p:strVal val="visible"/>
                                      </p:to>
                                    </p:set>
                                    <p:animEffect transition="in" filter="randombar(horizontal)">
                                      <p:cBhvr>
                                        <p:cTn id="20" dur="500"/>
                                        <p:tgtEl>
                                          <p:spTgt spid="10">
                                            <p:txEl>
                                              <p:pRg st="3" end="3"/>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randombar(horizontal)">
                                      <p:cBhvr>
                                        <p:cTn id="23" dur="500"/>
                                        <p:tgtEl>
                                          <p:spTgt spid="10">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10">
                                            <p:txEl>
                                              <p:pRg st="5" end="5"/>
                                            </p:txEl>
                                          </p:spTgt>
                                        </p:tgtEl>
                                        <p:attrNameLst>
                                          <p:attrName>style.visibility</p:attrName>
                                        </p:attrNameLst>
                                      </p:cBhvr>
                                      <p:to>
                                        <p:strVal val="visible"/>
                                      </p:to>
                                    </p:set>
                                    <p:animEffect transition="in" filter="randombar(horizontal)">
                                      <p:cBhvr>
                                        <p:cTn id="28" dur="500"/>
                                        <p:tgtEl>
                                          <p:spTgt spid="10">
                                            <p:txEl>
                                              <p:pRg st="5" end="5"/>
                                            </p:txEl>
                                          </p:spTgt>
                                        </p:tgtEl>
                                      </p:cBhvr>
                                    </p:animEffect>
                                  </p:childTnLst>
                                </p:cTn>
                              </p:par>
                              <p:par>
                                <p:cTn id="29" presetID="14" presetClass="entr" presetSubtype="10" fill="hold" nodeType="with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animEffect transition="in" filter="randombar(horizontal)">
                                      <p:cBhvr>
                                        <p:cTn id="31" dur="500"/>
                                        <p:tgtEl>
                                          <p:spTgt spid="10">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10">
                                            <p:txEl>
                                              <p:pRg st="7" end="7"/>
                                            </p:txEl>
                                          </p:spTgt>
                                        </p:tgtEl>
                                        <p:attrNameLst>
                                          <p:attrName>style.visibility</p:attrName>
                                        </p:attrNameLst>
                                      </p:cBhvr>
                                      <p:to>
                                        <p:strVal val="visible"/>
                                      </p:to>
                                    </p:set>
                                    <p:animEffect transition="in" filter="randombar(horizontal)">
                                      <p:cBhvr>
                                        <p:cTn id="36" dur="500"/>
                                        <p:tgtEl>
                                          <p:spTgt spid="10">
                                            <p:txEl>
                                              <p:pRg st="7" end="7"/>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10">
                                            <p:txEl>
                                              <p:pRg st="8" end="8"/>
                                            </p:txEl>
                                          </p:spTgt>
                                        </p:tgtEl>
                                        <p:attrNameLst>
                                          <p:attrName>style.visibility</p:attrName>
                                        </p:attrNameLst>
                                      </p:cBhvr>
                                      <p:to>
                                        <p:strVal val="visible"/>
                                      </p:to>
                                    </p:set>
                                    <p:animEffect transition="in" filter="randombar(horizontal)">
                                      <p:cBhvr>
                                        <p:cTn id="39"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8F0F5-1DEB-7090-6453-99D98097B30F}"/>
            </a:ext>
          </a:extLst>
        </p:cNvPr>
        <p:cNvGrpSpPr/>
        <p:nvPr/>
      </p:nvGrpSpPr>
      <p:grpSpPr>
        <a:xfrm>
          <a:off x="0" y="0"/>
          <a:ext cx="0" cy="0"/>
          <a:chOff x="0" y="0"/>
          <a:chExt cx="0" cy="0"/>
        </a:xfrm>
      </p:grpSpPr>
      <p:pic>
        <p:nvPicPr>
          <p:cNvPr id="3" name="Content Placeholder 2" descr="A diagram of a diagram of a diagram&#10;&#10;AI-generated content may be incorrect.">
            <a:extLst>
              <a:ext uri="{FF2B5EF4-FFF2-40B4-BE49-F238E27FC236}">
                <a16:creationId xmlns:a16="http://schemas.microsoft.com/office/drawing/2014/main" id="{0E15AB2B-25C3-A65A-B2EF-F4B952CB0FA0}"/>
              </a:ext>
            </a:extLst>
          </p:cNvPr>
          <p:cNvPicPr>
            <a:picLocks noGrp="1" noChangeAspect="1"/>
          </p:cNvPicPr>
          <p:nvPr>
            <p:ph idx="1"/>
          </p:nvPr>
        </p:nvPicPr>
        <p:blipFill>
          <a:blip r:embed="rId3"/>
          <a:stretch>
            <a:fillRect/>
          </a:stretch>
        </p:blipFill>
        <p:spPr>
          <a:xfrm>
            <a:off x="904875" y="1566233"/>
            <a:ext cx="7726363" cy="3381046"/>
          </a:xfrm>
        </p:spPr>
      </p:pic>
      <p:sp>
        <p:nvSpPr>
          <p:cNvPr id="8" name="Title 7">
            <a:extLst>
              <a:ext uri="{FF2B5EF4-FFF2-40B4-BE49-F238E27FC236}">
                <a16:creationId xmlns:a16="http://schemas.microsoft.com/office/drawing/2014/main" id="{9085D50F-868A-A097-2DB1-FDF0EE20F0A1}"/>
              </a:ext>
            </a:extLst>
          </p:cNvPr>
          <p:cNvSpPr>
            <a:spLocks noGrp="1"/>
          </p:cNvSpPr>
          <p:nvPr>
            <p:ph type="title"/>
          </p:nvPr>
        </p:nvSpPr>
        <p:spPr>
          <a:xfrm>
            <a:off x="904875" y="131032"/>
            <a:ext cx="7207279" cy="1072753"/>
          </a:xfrm>
        </p:spPr>
        <p:txBody>
          <a:bodyPr/>
          <a:lstStyle/>
          <a:p>
            <a:r>
              <a:rPr lang="en-US" dirty="0"/>
              <a:t>3.1	Methodology</a:t>
            </a:r>
            <a:br>
              <a:rPr lang="en-US" dirty="0"/>
            </a:br>
            <a:r>
              <a:rPr lang="en-US" sz="2400" b="0" i="1" dirty="0"/>
              <a:t>The COINs KG representation process</a:t>
            </a:r>
            <a:endParaRPr lang="en-GB" sz="2400" b="0" i="1" dirty="0"/>
          </a:p>
        </p:txBody>
      </p:sp>
      <p:sp>
        <p:nvSpPr>
          <p:cNvPr id="5" name="Date Placeholder 4">
            <a:extLst>
              <a:ext uri="{FF2B5EF4-FFF2-40B4-BE49-F238E27FC236}">
                <a16:creationId xmlns:a16="http://schemas.microsoft.com/office/drawing/2014/main" id="{18A836E6-2162-BAA2-F7E5-5127B4A94313}"/>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9091F1D6-2836-17E0-D84E-51C0E8484323}"/>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5762CC1A-B72B-6CE4-C234-DC63103DA7EC}"/>
              </a:ext>
            </a:extLst>
          </p:cNvPr>
          <p:cNvSpPr>
            <a:spLocks noGrp="1"/>
          </p:cNvSpPr>
          <p:nvPr>
            <p:ph type="sldNum" sz="quarter" idx="12"/>
          </p:nvPr>
        </p:nvSpPr>
        <p:spPr/>
        <p:txBody>
          <a:bodyPr/>
          <a:lstStyle/>
          <a:p>
            <a:fld id="{E1E1CD7C-2161-7D43-862E-CE4C333CD873}" type="slidenum">
              <a:rPr lang="fr-FR" smtClean="0"/>
              <a:pPr/>
              <a:t>17</a:t>
            </a:fld>
            <a:endParaRPr lang="fr-FR" dirty="0"/>
          </a:p>
        </p:txBody>
      </p:sp>
    </p:spTree>
    <p:extLst>
      <p:ext uri="{BB962C8B-B14F-4D97-AF65-F5344CB8AC3E}">
        <p14:creationId xmlns:p14="http://schemas.microsoft.com/office/powerpoint/2010/main" val="312779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C229B-6A8D-4246-323E-0E272FC9133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88CFC6-7172-6912-1A34-18D8F2CB5DD4}"/>
              </a:ext>
            </a:extLst>
          </p:cNvPr>
          <p:cNvSpPr>
            <a:spLocks noGrp="1"/>
          </p:cNvSpPr>
          <p:nvPr>
            <p:ph sz="half" idx="2"/>
          </p:nvPr>
        </p:nvSpPr>
        <p:spPr/>
        <p:txBody>
          <a:bodyPr/>
          <a:lstStyle/>
          <a:p>
            <a:r>
              <a:rPr lang="en-US" i="1" dirty="0">
                <a:latin typeface="+mj-lt"/>
              </a:rPr>
              <a:t>Generalization:</a:t>
            </a:r>
            <a:r>
              <a:rPr lang="en-US" dirty="0">
                <a:latin typeface="+mj-lt"/>
              </a:rPr>
              <a:t> queries spanning multiple communities are treated differently</a:t>
            </a:r>
          </a:p>
          <a:p>
            <a:r>
              <a:rPr lang="en-US" i="1" dirty="0">
                <a:latin typeface="+mj-lt"/>
              </a:rPr>
              <a:t>Training speed-up:</a:t>
            </a:r>
            <a:r>
              <a:rPr lang="en-US" dirty="0">
                <a:latin typeface="+mj-lt"/>
              </a:rPr>
              <a:t> the number of different node embeddings to compute per query is capped</a:t>
            </a:r>
          </a:p>
          <a:p>
            <a:r>
              <a:rPr lang="en-US" i="1" dirty="0">
                <a:latin typeface="+mj-lt"/>
              </a:rPr>
              <a:t>Adaptivity and stability:</a:t>
            </a:r>
            <a:r>
              <a:rPr lang="en-US" dirty="0">
                <a:latin typeface="+mj-lt"/>
              </a:rPr>
              <a:t> embedding refinement links community and node embeddings</a:t>
            </a:r>
            <a:endParaRPr lang="en-GB" dirty="0">
              <a:latin typeface="+mj-lt"/>
            </a:endParaRPr>
          </a:p>
        </p:txBody>
      </p:sp>
      <p:sp>
        <p:nvSpPr>
          <p:cNvPr id="8" name="Title 7">
            <a:extLst>
              <a:ext uri="{FF2B5EF4-FFF2-40B4-BE49-F238E27FC236}">
                <a16:creationId xmlns:a16="http://schemas.microsoft.com/office/drawing/2014/main" id="{88DD9E3D-73D8-F697-6B77-9019A0FD7EDA}"/>
              </a:ext>
            </a:extLst>
          </p:cNvPr>
          <p:cNvSpPr>
            <a:spLocks noGrp="1"/>
          </p:cNvSpPr>
          <p:nvPr>
            <p:ph type="title"/>
          </p:nvPr>
        </p:nvSpPr>
        <p:spPr/>
        <p:txBody>
          <a:bodyPr/>
          <a:lstStyle/>
          <a:p>
            <a:r>
              <a:rPr lang="en-US" dirty="0"/>
              <a:t>3.1	Methodology</a:t>
            </a:r>
            <a:br>
              <a:rPr lang="en-US" dirty="0"/>
            </a:br>
            <a:r>
              <a:rPr lang="en-US" sz="2400" b="0" i="1" dirty="0"/>
              <a:t>Algorithm and  properties</a:t>
            </a:r>
            <a:endParaRPr lang="en-GB" sz="2400" b="0" i="1" dirty="0"/>
          </a:p>
        </p:txBody>
      </p:sp>
      <p:sp>
        <p:nvSpPr>
          <p:cNvPr id="5" name="Date Placeholder 4">
            <a:extLst>
              <a:ext uri="{FF2B5EF4-FFF2-40B4-BE49-F238E27FC236}">
                <a16:creationId xmlns:a16="http://schemas.microsoft.com/office/drawing/2014/main" id="{A8234C18-DD40-6D7F-EE37-34E5D85DCA38}"/>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2472C05B-B19F-0858-5259-5CAD14C77BC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FC28D7F2-1C13-72FF-5A3A-37AFA09366F8}"/>
              </a:ext>
            </a:extLst>
          </p:cNvPr>
          <p:cNvSpPr>
            <a:spLocks noGrp="1"/>
          </p:cNvSpPr>
          <p:nvPr>
            <p:ph type="sldNum" sz="quarter" idx="12"/>
          </p:nvPr>
        </p:nvSpPr>
        <p:spPr/>
        <p:txBody>
          <a:bodyPr/>
          <a:lstStyle/>
          <a:p>
            <a:fld id="{E1E1CD7C-2161-7D43-862E-CE4C333CD873}" type="slidenum">
              <a:rPr lang="fr-FR" smtClean="0"/>
              <a:pPr/>
              <a:t>18</a:t>
            </a:fld>
            <a:endParaRPr lang="fr-FR" dirty="0"/>
          </a:p>
        </p:txBody>
      </p:sp>
      <p:pic>
        <p:nvPicPr>
          <p:cNvPr id="11" name="Content Placeholder 10" descr="A screenshot of a math equation&#10;&#10;AI-generated content may be incorrect.">
            <a:extLst>
              <a:ext uri="{FF2B5EF4-FFF2-40B4-BE49-F238E27FC236}">
                <a16:creationId xmlns:a16="http://schemas.microsoft.com/office/drawing/2014/main" id="{BF5F9698-F30E-455D-7EF3-042D8091DEE1}"/>
              </a:ext>
            </a:extLst>
          </p:cNvPr>
          <p:cNvPicPr>
            <a:picLocks noGrp="1" noChangeAspect="1"/>
          </p:cNvPicPr>
          <p:nvPr>
            <p:ph sz="half" idx="1"/>
          </p:nvPr>
        </p:nvPicPr>
        <p:blipFill>
          <a:blip r:embed="rId3"/>
          <a:stretch>
            <a:fillRect/>
          </a:stretch>
        </p:blipFill>
        <p:spPr>
          <a:xfrm>
            <a:off x="904875" y="2203806"/>
            <a:ext cx="3671888" cy="1983663"/>
          </a:xfrm>
        </p:spPr>
      </p:pic>
    </p:spTree>
    <p:extLst>
      <p:ext uri="{BB962C8B-B14F-4D97-AF65-F5344CB8AC3E}">
        <p14:creationId xmlns:p14="http://schemas.microsoft.com/office/powerpoint/2010/main" val="3180588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2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6BBC3-E8F0-752C-4A1C-5F0B5902F5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5242D6-0634-5E69-9E05-E44C7BBA4529}"/>
              </a:ext>
            </a:extLst>
          </p:cNvPr>
          <p:cNvSpPr>
            <a:spLocks noGrp="1"/>
          </p:cNvSpPr>
          <p:nvPr>
            <p:ph sz="half" idx="1"/>
          </p:nvPr>
        </p:nvSpPr>
        <p:spPr/>
        <p:txBody>
          <a:bodyPr>
            <a:normAutofit lnSpcReduction="10000"/>
          </a:bodyPr>
          <a:lstStyle/>
          <a:p>
            <a:r>
              <a:rPr lang="en-US" dirty="0">
                <a:latin typeface="+mj-lt"/>
              </a:rPr>
              <a:t>Data</a:t>
            </a:r>
          </a:p>
          <a:p>
            <a:pPr lvl="1"/>
            <a:r>
              <a:rPr lang="en-US" dirty="0">
                <a:latin typeface="+mj-lt"/>
              </a:rPr>
              <a:t>FB15k-237</a:t>
            </a:r>
          </a:p>
          <a:p>
            <a:pPr lvl="1"/>
            <a:r>
              <a:rPr lang="en-US" dirty="0">
                <a:latin typeface="+mj-lt"/>
              </a:rPr>
              <a:t>WN18RR</a:t>
            </a:r>
          </a:p>
          <a:p>
            <a:pPr lvl="1"/>
            <a:r>
              <a:rPr lang="en-US" dirty="0">
                <a:latin typeface="+mj-lt"/>
              </a:rPr>
              <a:t>NELL-995</a:t>
            </a:r>
          </a:p>
          <a:p>
            <a:r>
              <a:rPr lang="en-US" dirty="0">
                <a:latin typeface="+mj-lt"/>
              </a:rPr>
              <a:t>KG embedding models</a:t>
            </a:r>
          </a:p>
          <a:p>
            <a:pPr lvl="1"/>
            <a:r>
              <a:rPr lang="en-US" dirty="0">
                <a:latin typeface="+mj-lt"/>
              </a:rPr>
              <a:t>TransE, </a:t>
            </a:r>
            <a:r>
              <a:rPr lang="en-US" dirty="0" err="1">
                <a:latin typeface="+mj-lt"/>
              </a:rPr>
              <a:t>DistMult</a:t>
            </a:r>
            <a:r>
              <a:rPr lang="en-US" dirty="0">
                <a:latin typeface="+mj-lt"/>
              </a:rPr>
              <a:t>, </a:t>
            </a:r>
            <a:r>
              <a:rPr lang="en-US" dirty="0" err="1">
                <a:latin typeface="+mj-lt"/>
              </a:rPr>
              <a:t>ComplEx</a:t>
            </a:r>
            <a:r>
              <a:rPr lang="en-US" dirty="0">
                <a:latin typeface="+mj-lt"/>
              </a:rPr>
              <a:t>, </a:t>
            </a:r>
            <a:r>
              <a:rPr lang="en-US" dirty="0" err="1">
                <a:latin typeface="+mj-lt"/>
              </a:rPr>
              <a:t>RotatE</a:t>
            </a:r>
            <a:endParaRPr lang="en-US" dirty="0">
              <a:latin typeface="+mj-lt"/>
            </a:endParaRPr>
          </a:p>
          <a:p>
            <a:pPr lvl="1"/>
            <a:r>
              <a:rPr lang="en-US" dirty="0">
                <a:latin typeface="+mj-lt"/>
              </a:rPr>
              <a:t>KBGAT</a:t>
            </a:r>
          </a:p>
          <a:p>
            <a:pPr lvl="1"/>
            <a:r>
              <a:rPr lang="en-US" dirty="0">
                <a:latin typeface="+mj-lt"/>
              </a:rPr>
              <a:t>Query2Box</a:t>
            </a:r>
          </a:p>
          <a:p>
            <a:r>
              <a:rPr lang="en-US" dirty="0">
                <a:latin typeface="+mj-lt"/>
              </a:rPr>
              <a:t>Training and evaluation</a:t>
            </a:r>
          </a:p>
          <a:p>
            <a:pPr lvl="1"/>
            <a:r>
              <a:rPr lang="en-US" dirty="0">
                <a:latin typeface="+mj-lt"/>
              </a:rPr>
              <a:t>Within-community negative examples</a:t>
            </a:r>
          </a:p>
          <a:p>
            <a:pPr lvl="1"/>
            <a:r>
              <a:rPr lang="en-US" dirty="0">
                <a:latin typeface="+mj-lt"/>
              </a:rPr>
              <a:t>SMORE query sampling</a:t>
            </a:r>
          </a:p>
          <a:p>
            <a:pPr lvl="1"/>
            <a:r>
              <a:rPr lang="en-US" dirty="0">
                <a:latin typeface="+mj-lt"/>
              </a:rPr>
              <a:t>Metrics: </a:t>
            </a:r>
            <a:r>
              <a:rPr lang="en-US" dirty="0" err="1">
                <a:latin typeface="+mj-lt"/>
              </a:rPr>
              <a:t>Hits@k</a:t>
            </a:r>
            <a:r>
              <a:rPr lang="en-US" dirty="0">
                <a:latin typeface="+mj-lt"/>
              </a:rPr>
              <a:t>, MR, MRR</a:t>
            </a:r>
            <a:endParaRPr lang="en-GB" dirty="0">
              <a:latin typeface="+mj-lt"/>
            </a:endParaRPr>
          </a:p>
        </p:txBody>
      </p:sp>
      <p:sp>
        <p:nvSpPr>
          <p:cNvPr id="8" name="Title 7">
            <a:extLst>
              <a:ext uri="{FF2B5EF4-FFF2-40B4-BE49-F238E27FC236}">
                <a16:creationId xmlns:a16="http://schemas.microsoft.com/office/drawing/2014/main" id="{94228064-4434-D193-38F7-23906C7B1380}"/>
              </a:ext>
            </a:extLst>
          </p:cNvPr>
          <p:cNvSpPr>
            <a:spLocks noGrp="1"/>
          </p:cNvSpPr>
          <p:nvPr>
            <p:ph type="title"/>
          </p:nvPr>
        </p:nvSpPr>
        <p:spPr/>
        <p:txBody>
          <a:bodyPr/>
          <a:lstStyle/>
          <a:p>
            <a:r>
              <a:rPr lang="en-US" dirty="0"/>
              <a:t>3.1	Methodology</a:t>
            </a:r>
            <a:br>
              <a:rPr lang="en-US" dirty="0"/>
            </a:br>
            <a:r>
              <a:rPr lang="en-US" sz="2400" b="0" i="1" dirty="0"/>
              <a:t>Experiments</a:t>
            </a:r>
            <a:endParaRPr lang="en-GB" sz="2400" b="0" i="1" dirty="0"/>
          </a:p>
        </p:txBody>
      </p:sp>
      <p:sp>
        <p:nvSpPr>
          <p:cNvPr id="5" name="Date Placeholder 4">
            <a:extLst>
              <a:ext uri="{FF2B5EF4-FFF2-40B4-BE49-F238E27FC236}">
                <a16:creationId xmlns:a16="http://schemas.microsoft.com/office/drawing/2014/main" id="{7260F623-E9EF-D374-7A99-F7A6F32D943E}"/>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D86A74A1-B804-74F2-CD6C-47D0115F7D59}"/>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E4C3E2F3-1672-8A48-4ECE-4694F5D51D2E}"/>
              </a:ext>
            </a:extLst>
          </p:cNvPr>
          <p:cNvSpPr>
            <a:spLocks noGrp="1"/>
          </p:cNvSpPr>
          <p:nvPr>
            <p:ph type="sldNum" sz="quarter" idx="12"/>
          </p:nvPr>
        </p:nvSpPr>
        <p:spPr/>
        <p:txBody>
          <a:bodyPr/>
          <a:lstStyle/>
          <a:p>
            <a:fld id="{E1E1CD7C-2161-7D43-862E-CE4C333CD873}" type="slidenum">
              <a:rPr lang="fr-FR" smtClean="0"/>
              <a:pPr/>
              <a:t>19</a:t>
            </a:fld>
            <a:endParaRPr lang="fr-FR" dirty="0"/>
          </a:p>
        </p:txBody>
      </p:sp>
      <p:pic>
        <p:nvPicPr>
          <p:cNvPr id="1030" name="Picture 6" descr="Global Wordnet Formats">
            <a:extLst>
              <a:ext uri="{FF2B5EF4-FFF2-40B4-BE49-F238E27FC236}">
                <a16:creationId xmlns:a16="http://schemas.microsoft.com/office/drawing/2014/main" id="{660456CF-6FB0-378A-6453-9FDAB0B50FE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715753" y="667408"/>
            <a:ext cx="1771732" cy="223469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15277FB7-4858-0CFB-054B-F0309C2304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994" y="195263"/>
            <a:ext cx="2381250" cy="4381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screenshot of a social media post&#10;&#10;AI-generated content may be incorrect.">
            <a:extLst>
              <a:ext uri="{FF2B5EF4-FFF2-40B4-BE49-F238E27FC236}">
                <a16:creationId xmlns:a16="http://schemas.microsoft.com/office/drawing/2014/main" id="{3A38BA88-BCEC-CACB-63A2-752086A91990}"/>
              </a:ext>
            </a:extLst>
          </p:cNvPr>
          <p:cNvPicPr>
            <a:picLocks noChangeAspect="1"/>
          </p:cNvPicPr>
          <p:nvPr/>
        </p:nvPicPr>
        <p:blipFill>
          <a:blip r:embed="rId5"/>
          <a:stretch>
            <a:fillRect/>
          </a:stretch>
        </p:blipFill>
        <p:spPr>
          <a:xfrm>
            <a:off x="5456554" y="3025784"/>
            <a:ext cx="2290130" cy="1992908"/>
          </a:xfrm>
          <a:prstGeom prst="rect">
            <a:avLst/>
          </a:prstGeom>
        </p:spPr>
      </p:pic>
    </p:spTree>
    <p:extLst>
      <p:ext uri="{BB962C8B-B14F-4D97-AF65-F5344CB8AC3E}">
        <p14:creationId xmlns:p14="http://schemas.microsoft.com/office/powerpoint/2010/main" val="382394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3" dur="500"/>
                                        <p:tgtEl>
                                          <p:spTgt spid="2">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6" dur="500"/>
                                        <p:tgtEl>
                                          <p:spTgt spid="2">
                                            <p:txEl>
                                              <p:pRg st="3" end="3"/>
                                            </p:txEl>
                                          </p:spTgt>
                                        </p:tgtEl>
                                      </p:cBhvr>
                                    </p:animEffect>
                                  </p:childTnLst>
                                </p:cTn>
                              </p:par>
                              <p:par>
                                <p:cTn id="17" presetID="14" presetClass="entr" presetSubtype="10" fill="hold" nodeType="withEffect">
                                  <p:stCondLst>
                                    <p:cond delay="1000"/>
                                  </p:stCondLst>
                                  <p:childTnLst>
                                    <p:set>
                                      <p:cBhvr>
                                        <p:cTn id="18" dur="1" fill="hold">
                                          <p:stCondLst>
                                            <p:cond delay="0"/>
                                          </p:stCondLst>
                                        </p:cTn>
                                        <p:tgtEl>
                                          <p:spTgt spid="1030"/>
                                        </p:tgtEl>
                                        <p:attrNameLst>
                                          <p:attrName>style.visibility</p:attrName>
                                        </p:attrNameLst>
                                      </p:cBhvr>
                                      <p:to>
                                        <p:strVal val="visible"/>
                                      </p:to>
                                    </p:set>
                                    <p:animEffect transition="in" filter="randombar(horizontal)">
                                      <p:cBhvr>
                                        <p:cTn id="19" dur="500"/>
                                        <p:tgtEl>
                                          <p:spTgt spid="1030"/>
                                        </p:tgtEl>
                                      </p:cBhvr>
                                    </p:animEffect>
                                  </p:childTnLst>
                                </p:cTn>
                              </p:par>
                              <p:par>
                                <p:cTn id="20" presetID="14" presetClass="entr" presetSubtype="10" fill="hold" nodeType="withEffect">
                                  <p:stCondLst>
                                    <p:cond delay="500"/>
                                  </p:stCondLst>
                                  <p:childTnLst>
                                    <p:set>
                                      <p:cBhvr>
                                        <p:cTn id="21" dur="1" fill="hold">
                                          <p:stCondLst>
                                            <p:cond delay="0"/>
                                          </p:stCondLst>
                                        </p:cTn>
                                        <p:tgtEl>
                                          <p:spTgt spid="1026"/>
                                        </p:tgtEl>
                                        <p:attrNameLst>
                                          <p:attrName>style.visibility</p:attrName>
                                        </p:attrNameLst>
                                      </p:cBhvr>
                                      <p:to>
                                        <p:strVal val="visible"/>
                                      </p:to>
                                    </p:set>
                                    <p:animEffect transition="in" filter="randombar(horizontal)">
                                      <p:cBhvr>
                                        <p:cTn id="22" dur="500"/>
                                        <p:tgtEl>
                                          <p:spTgt spid="1026"/>
                                        </p:tgtEl>
                                      </p:cBhvr>
                                    </p:animEffect>
                                  </p:childTnLst>
                                </p:cTn>
                              </p:par>
                              <p:par>
                                <p:cTn id="23" presetID="14" presetClass="entr" presetSubtype="10" fill="hold" nodeType="withEffect">
                                  <p:stCondLst>
                                    <p:cond delay="1500"/>
                                  </p:stCondLst>
                                  <p:childTnLst>
                                    <p:set>
                                      <p:cBhvr>
                                        <p:cTn id="24" dur="1" fill="hold">
                                          <p:stCondLst>
                                            <p:cond delay="0"/>
                                          </p:stCondLst>
                                        </p:cTn>
                                        <p:tgtEl>
                                          <p:spTgt spid="4"/>
                                        </p:tgtEl>
                                        <p:attrNameLst>
                                          <p:attrName>style.visibility</p:attrName>
                                        </p:attrNameLst>
                                      </p:cBhvr>
                                      <p:to>
                                        <p:strVal val="visible"/>
                                      </p:to>
                                    </p:set>
                                    <p:animEffect transition="in" filter="randombar(horizontal)">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2">
                                            <p:txEl>
                                              <p:pRg st="4" end="4"/>
                                            </p:txEl>
                                          </p:spTgt>
                                        </p:tgtEl>
                                        <p:attrNameLst>
                                          <p:attrName>style.visibility</p:attrName>
                                        </p:attrNameLst>
                                      </p:cBhvr>
                                      <p:to>
                                        <p:strVal val="visible"/>
                                      </p:to>
                                    </p:set>
                                    <p:animEffect transition="in" filter="randombar(horizontal)">
                                      <p:cBhvr>
                                        <p:cTn id="30" dur="500"/>
                                        <p:tgtEl>
                                          <p:spTgt spid="2">
                                            <p:txEl>
                                              <p:pRg st="4" end="4"/>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Effect transition="in" filter="randombar(horizontal)">
                                      <p:cBhvr>
                                        <p:cTn id="33" dur="500"/>
                                        <p:tgtEl>
                                          <p:spTgt spid="2">
                                            <p:txEl>
                                              <p:pRg st="5" end="5"/>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2">
                                            <p:txEl>
                                              <p:pRg st="6" end="6"/>
                                            </p:txEl>
                                          </p:spTgt>
                                        </p:tgtEl>
                                        <p:attrNameLst>
                                          <p:attrName>style.visibility</p:attrName>
                                        </p:attrNameLst>
                                      </p:cBhvr>
                                      <p:to>
                                        <p:strVal val="visible"/>
                                      </p:to>
                                    </p:set>
                                    <p:animEffect transition="in" filter="randombar(horizontal)">
                                      <p:cBhvr>
                                        <p:cTn id="36" dur="500"/>
                                        <p:tgtEl>
                                          <p:spTgt spid="2">
                                            <p:txEl>
                                              <p:pRg st="6" end="6"/>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animEffect transition="in" filter="randombar(horizontal)">
                                      <p:cBhvr>
                                        <p:cTn id="39" dur="500"/>
                                        <p:tgtEl>
                                          <p:spTgt spid="2">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2">
                                            <p:txEl>
                                              <p:pRg st="8" end="8"/>
                                            </p:txEl>
                                          </p:spTgt>
                                        </p:tgtEl>
                                        <p:attrNameLst>
                                          <p:attrName>style.visibility</p:attrName>
                                        </p:attrNameLst>
                                      </p:cBhvr>
                                      <p:to>
                                        <p:strVal val="visible"/>
                                      </p:to>
                                    </p:set>
                                    <p:animEffect transition="in" filter="randombar(horizontal)">
                                      <p:cBhvr>
                                        <p:cTn id="44" dur="500"/>
                                        <p:tgtEl>
                                          <p:spTgt spid="2">
                                            <p:txEl>
                                              <p:pRg st="8" end="8"/>
                                            </p:txEl>
                                          </p:spTgt>
                                        </p:tgtEl>
                                      </p:cBhvr>
                                    </p:animEffect>
                                  </p:childTnLst>
                                </p:cTn>
                              </p:par>
                              <p:par>
                                <p:cTn id="45" presetID="14" presetClass="entr" presetSubtype="10" fill="hold" nodeType="with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randombar(horizontal)">
                                      <p:cBhvr>
                                        <p:cTn id="47" dur="500"/>
                                        <p:tgtEl>
                                          <p:spTgt spid="2">
                                            <p:txEl>
                                              <p:pRg st="9" end="9"/>
                                            </p:txEl>
                                          </p:spTgt>
                                        </p:tgtEl>
                                      </p:cBhvr>
                                    </p:animEffect>
                                  </p:childTnLst>
                                </p:cTn>
                              </p:par>
                              <p:par>
                                <p:cTn id="48" presetID="14" presetClass="entr" presetSubtype="10" fill="hold" nodeType="withEffect">
                                  <p:stCondLst>
                                    <p:cond delay="0"/>
                                  </p:stCondLst>
                                  <p:childTnLst>
                                    <p:set>
                                      <p:cBhvr>
                                        <p:cTn id="49" dur="1" fill="hold">
                                          <p:stCondLst>
                                            <p:cond delay="0"/>
                                          </p:stCondLst>
                                        </p:cTn>
                                        <p:tgtEl>
                                          <p:spTgt spid="2">
                                            <p:txEl>
                                              <p:pRg st="10" end="10"/>
                                            </p:txEl>
                                          </p:spTgt>
                                        </p:tgtEl>
                                        <p:attrNameLst>
                                          <p:attrName>style.visibility</p:attrName>
                                        </p:attrNameLst>
                                      </p:cBhvr>
                                      <p:to>
                                        <p:strVal val="visible"/>
                                      </p:to>
                                    </p:set>
                                    <p:animEffect transition="in" filter="randombar(horizontal)">
                                      <p:cBhvr>
                                        <p:cTn id="50" dur="500"/>
                                        <p:tgtEl>
                                          <p:spTgt spid="2">
                                            <p:txEl>
                                              <p:pRg st="10" end="10"/>
                                            </p:txEl>
                                          </p:spTgt>
                                        </p:tgtEl>
                                      </p:cBhvr>
                                    </p:animEffect>
                                  </p:childTnLst>
                                </p:cTn>
                              </p:par>
                              <p:par>
                                <p:cTn id="51" presetID="14" presetClass="entr" presetSubtype="10" fill="hold" nodeType="withEffect">
                                  <p:stCondLst>
                                    <p:cond delay="0"/>
                                  </p:stCondLst>
                                  <p:childTnLst>
                                    <p:set>
                                      <p:cBhvr>
                                        <p:cTn id="52" dur="1" fill="hold">
                                          <p:stCondLst>
                                            <p:cond delay="0"/>
                                          </p:stCondLst>
                                        </p:cTn>
                                        <p:tgtEl>
                                          <p:spTgt spid="2">
                                            <p:txEl>
                                              <p:pRg st="11" end="11"/>
                                            </p:txEl>
                                          </p:spTgt>
                                        </p:tgtEl>
                                        <p:attrNameLst>
                                          <p:attrName>style.visibility</p:attrName>
                                        </p:attrNameLst>
                                      </p:cBhvr>
                                      <p:to>
                                        <p:strVal val="visible"/>
                                      </p:to>
                                    </p:set>
                                    <p:animEffect transition="in" filter="randombar(horizontal)">
                                      <p:cBhvr>
                                        <p:cTn id="53"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6839E-CA21-B01D-886B-0CB0149F8A9D}"/>
            </a:ext>
          </a:extLst>
        </p:cNvPr>
        <p:cNvGrpSpPr/>
        <p:nvPr/>
      </p:nvGrpSpPr>
      <p:grpSpPr>
        <a:xfrm>
          <a:off x="0" y="0"/>
          <a:ext cx="0" cy="0"/>
          <a:chOff x="0" y="0"/>
          <a:chExt cx="0" cy="0"/>
        </a:xfrm>
      </p:grpSpPr>
      <p:pic>
        <p:nvPicPr>
          <p:cNvPr id="13" name="Content Placeholder 12" descr="A close-up of numbers&#10;&#10;AI-generated content may be incorrect.">
            <a:extLst>
              <a:ext uri="{FF2B5EF4-FFF2-40B4-BE49-F238E27FC236}">
                <a16:creationId xmlns:a16="http://schemas.microsoft.com/office/drawing/2014/main" id="{7E5CD6B3-0EFB-C44D-D362-3CA27FE9B7B2}"/>
              </a:ext>
            </a:extLst>
          </p:cNvPr>
          <p:cNvPicPr>
            <a:picLocks noGrp="1" noChangeAspect="1"/>
          </p:cNvPicPr>
          <p:nvPr>
            <p:ph idx="1"/>
          </p:nvPr>
        </p:nvPicPr>
        <p:blipFill>
          <a:blip r:embed="rId3"/>
          <a:stretch>
            <a:fillRect/>
          </a:stretch>
        </p:blipFill>
        <p:spPr>
          <a:xfrm>
            <a:off x="1042495" y="1563688"/>
            <a:ext cx="7059010" cy="1362265"/>
          </a:xfrm>
        </p:spPr>
      </p:pic>
      <p:sp>
        <p:nvSpPr>
          <p:cNvPr id="8" name="Title 7">
            <a:extLst>
              <a:ext uri="{FF2B5EF4-FFF2-40B4-BE49-F238E27FC236}">
                <a16:creationId xmlns:a16="http://schemas.microsoft.com/office/drawing/2014/main" id="{B19E0588-E3D7-DF63-7EEA-1006F18FBAFC}"/>
              </a:ext>
            </a:extLst>
          </p:cNvPr>
          <p:cNvSpPr>
            <a:spLocks noGrp="1"/>
          </p:cNvSpPr>
          <p:nvPr>
            <p:ph type="title"/>
          </p:nvPr>
        </p:nvSpPr>
        <p:spPr/>
        <p:txBody>
          <a:bodyPr/>
          <a:lstStyle/>
          <a:p>
            <a:r>
              <a:rPr lang="en-US" dirty="0"/>
              <a:t>3.1	Results</a:t>
            </a:r>
            <a:br>
              <a:rPr lang="en-US" dirty="0"/>
            </a:br>
            <a:r>
              <a:rPr lang="en-US" sz="2400" b="0" i="1" dirty="0"/>
              <a:t>Community quality</a:t>
            </a:r>
            <a:endParaRPr lang="en-GB" sz="2400" b="0" i="1" dirty="0"/>
          </a:p>
        </p:txBody>
      </p:sp>
      <p:sp>
        <p:nvSpPr>
          <p:cNvPr id="5" name="Date Placeholder 4">
            <a:extLst>
              <a:ext uri="{FF2B5EF4-FFF2-40B4-BE49-F238E27FC236}">
                <a16:creationId xmlns:a16="http://schemas.microsoft.com/office/drawing/2014/main" id="{3C9FEEA4-D47D-DDC7-6DE0-C6B3DB70FAE5}"/>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5AA707FA-314C-E33E-AE2C-B04FC162372B}"/>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17FE91C6-F476-85C2-56A9-78634A9CE396}"/>
              </a:ext>
            </a:extLst>
          </p:cNvPr>
          <p:cNvSpPr>
            <a:spLocks noGrp="1"/>
          </p:cNvSpPr>
          <p:nvPr>
            <p:ph type="sldNum" sz="quarter" idx="12"/>
          </p:nvPr>
        </p:nvSpPr>
        <p:spPr/>
        <p:txBody>
          <a:bodyPr/>
          <a:lstStyle/>
          <a:p>
            <a:fld id="{E1E1CD7C-2161-7D43-862E-CE4C333CD873}" type="slidenum">
              <a:rPr lang="fr-FR" smtClean="0"/>
              <a:pPr/>
              <a:t>20</a:t>
            </a:fld>
            <a:endParaRPr lang="fr-FR" dirty="0"/>
          </a:p>
        </p:txBody>
      </p:sp>
      <p:pic>
        <p:nvPicPr>
          <p:cNvPr id="15" name="Picture 14" descr="A diagram of a function&#10;&#10;AI-generated content may be incorrect.">
            <a:extLst>
              <a:ext uri="{FF2B5EF4-FFF2-40B4-BE49-F238E27FC236}">
                <a16:creationId xmlns:a16="http://schemas.microsoft.com/office/drawing/2014/main" id="{E9753E3E-8898-F1C5-FF52-744802A0EA5D}"/>
              </a:ext>
            </a:extLst>
          </p:cNvPr>
          <p:cNvPicPr>
            <a:picLocks noChangeAspect="1"/>
          </p:cNvPicPr>
          <p:nvPr/>
        </p:nvPicPr>
        <p:blipFill>
          <a:blip r:embed="rId4"/>
          <a:stretch>
            <a:fillRect/>
          </a:stretch>
        </p:blipFill>
        <p:spPr>
          <a:xfrm>
            <a:off x="969105" y="3219074"/>
            <a:ext cx="7205790" cy="1366001"/>
          </a:xfrm>
          <a:prstGeom prst="rect">
            <a:avLst/>
          </a:prstGeom>
        </p:spPr>
      </p:pic>
    </p:spTree>
    <p:extLst>
      <p:ext uri="{BB962C8B-B14F-4D97-AF65-F5344CB8AC3E}">
        <p14:creationId xmlns:p14="http://schemas.microsoft.com/office/powerpoint/2010/main" val="151605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randombar(horizontal)">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D0450-87CC-B892-CD5E-5FDD1BEC36BB}"/>
            </a:ext>
          </a:extLst>
        </p:cNvPr>
        <p:cNvGrpSpPr/>
        <p:nvPr/>
      </p:nvGrpSpPr>
      <p:grpSpPr>
        <a:xfrm>
          <a:off x="0" y="0"/>
          <a:ext cx="0" cy="0"/>
          <a:chOff x="0" y="0"/>
          <a:chExt cx="0" cy="0"/>
        </a:xfrm>
      </p:grpSpPr>
      <p:pic>
        <p:nvPicPr>
          <p:cNvPr id="20" name="Content Placeholder 19" descr="A black and white numbers and a black text&#10;&#10;AI-generated content may be incorrect.">
            <a:extLst>
              <a:ext uri="{FF2B5EF4-FFF2-40B4-BE49-F238E27FC236}">
                <a16:creationId xmlns:a16="http://schemas.microsoft.com/office/drawing/2014/main" id="{883F6102-F5D8-A4A8-C3F2-FD0B7BC8721C}"/>
              </a:ext>
            </a:extLst>
          </p:cNvPr>
          <p:cNvPicPr>
            <a:picLocks noGrp="1" noChangeAspect="1"/>
          </p:cNvPicPr>
          <p:nvPr>
            <p:ph idx="1"/>
          </p:nvPr>
        </p:nvPicPr>
        <p:blipFill>
          <a:blip r:embed="rId3"/>
          <a:stretch>
            <a:fillRect/>
          </a:stretch>
        </p:blipFill>
        <p:spPr>
          <a:xfrm>
            <a:off x="2039187" y="1203785"/>
            <a:ext cx="5065626" cy="1714739"/>
          </a:xfrm>
        </p:spPr>
      </p:pic>
      <p:sp>
        <p:nvSpPr>
          <p:cNvPr id="8" name="Title 7">
            <a:extLst>
              <a:ext uri="{FF2B5EF4-FFF2-40B4-BE49-F238E27FC236}">
                <a16:creationId xmlns:a16="http://schemas.microsoft.com/office/drawing/2014/main" id="{06BAACAB-1686-C9B5-D141-88B9CC16406E}"/>
              </a:ext>
            </a:extLst>
          </p:cNvPr>
          <p:cNvSpPr>
            <a:spLocks noGrp="1"/>
          </p:cNvSpPr>
          <p:nvPr>
            <p:ph type="title"/>
          </p:nvPr>
        </p:nvSpPr>
        <p:spPr/>
        <p:txBody>
          <a:bodyPr/>
          <a:lstStyle/>
          <a:p>
            <a:r>
              <a:rPr lang="en-US" dirty="0"/>
              <a:t>3.1	Results</a:t>
            </a:r>
            <a:br>
              <a:rPr lang="en-US" dirty="0"/>
            </a:br>
            <a:r>
              <a:rPr lang="en-US" sz="2400" b="0" i="1" dirty="0"/>
              <a:t>Query answering MRR</a:t>
            </a:r>
            <a:endParaRPr lang="en-GB" sz="2400" b="0" i="1" dirty="0"/>
          </a:p>
        </p:txBody>
      </p:sp>
      <p:sp>
        <p:nvSpPr>
          <p:cNvPr id="5" name="Date Placeholder 4">
            <a:extLst>
              <a:ext uri="{FF2B5EF4-FFF2-40B4-BE49-F238E27FC236}">
                <a16:creationId xmlns:a16="http://schemas.microsoft.com/office/drawing/2014/main" id="{10174105-35EB-085C-9C6E-3CCB66BCA1D6}"/>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ED39476D-8E36-2EA3-32BA-78D270111F82}"/>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1A47A278-501D-E7BC-EC68-51B362CBC2E9}"/>
              </a:ext>
            </a:extLst>
          </p:cNvPr>
          <p:cNvSpPr>
            <a:spLocks noGrp="1"/>
          </p:cNvSpPr>
          <p:nvPr>
            <p:ph type="sldNum" sz="quarter" idx="12"/>
          </p:nvPr>
        </p:nvSpPr>
        <p:spPr/>
        <p:txBody>
          <a:bodyPr/>
          <a:lstStyle/>
          <a:p>
            <a:fld id="{E1E1CD7C-2161-7D43-862E-CE4C333CD873}" type="slidenum">
              <a:rPr lang="fr-FR" smtClean="0"/>
              <a:pPr/>
              <a:t>21</a:t>
            </a:fld>
            <a:endParaRPr lang="fr-FR" dirty="0"/>
          </a:p>
        </p:txBody>
      </p:sp>
      <p:pic>
        <p:nvPicPr>
          <p:cNvPr id="22" name="Picture 21" descr="A black and white numbers and a white background&#10;&#10;AI-generated content may be incorrect.">
            <a:extLst>
              <a:ext uri="{FF2B5EF4-FFF2-40B4-BE49-F238E27FC236}">
                <a16:creationId xmlns:a16="http://schemas.microsoft.com/office/drawing/2014/main" id="{2C04E9D8-64D3-12EA-3977-D96FA62991EF}"/>
              </a:ext>
            </a:extLst>
          </p:cNvPr>
          <p:cNvPicPr>
            <a:picLocks noChangeAspect="1"/>
          </p:cNvPicPr>
          <p:nvPr/>
        </p:nvPicPr>
        <p:blipFill>
          <a:blip r:embed="rId4"/>
          <a:stretch>
            <a:fillRect/>
          </a:stretch>
        </p:blipFill>
        <p:spPr>
          <a:xfrm>
            <a:off x="2342839" y="2916100"/>
            <a:ext cx="4458322" cy="1971950"/>
          </a:xfrm>
          <a:prstGeom prst="rect">
            <a:avLst/>
          </a:prstGeom>
        </p:spPr>
      </p:pic>
    </p:spTree>
    <p:extLst>
      <p:ext uri="{BB962C8B-B14F-4D97-AF65-F5344CB8AC3E}">
        <p14:creationId xmlns:p14="http://schemas.microsoft.com/office/powerpoint/2010/main" val="225074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randombar(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randombar(horizontal)">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67FB0-5114-15AA-E8DA-B0B5E37016C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24E2FF3-0889-52E1-DE22-50E27189E7C4}"/>
              </a:ext>
            </a:extLst>
          </p:cNvPr>
          <p:cNvSpPr>
            <a:spLocks noGrp="1"/>
          </p:cNvSpPr>
          <p:nvPr>
            <p:ph type="title"/>
          </p:nvPr>
        </p:nvSpPr>
        <p:spPr>
          <a:xfrm>
            <a:off x="904875" y="131032"/>
            <a:ext cx="7726363" cy="1072753"/>
          </a:xfrm>
        </p:spPr>
        <p:txBody>
          <a:bodyPr>
            <a:normAutofit/>
          </a:bodyPr>
          <a:lstStyle/>
          <a:p>
            <a:r>
              <a:rPr lang="en-US" dirty="0"/>
              <a:t>3.1	Results</a:t>
            </a:r>
            <a:br>
              <a:rPr lang="en-US" dirty="0"/>
            </a:br>
            <a:r>
              <a:rPr lang="en-US" sz="2400" b="0" i="1" dirty="0"/>
              <a:t>Comparison to related work on KG scalability</a:t>
            </a:r>
            <a:endParaRPr lang="en-GB" sz="2400" b="0" i="1" dirty="0"/>
          </a:p>
        </p:txBody>
      </p:sp>
      <p:sp>
        <p:nvSpPr>
          <p:cNvPr id="5" name="Date Placeholder 4">
            <a:extLst>
              <a:ext uri="{FF2B5EF4-FFF2-40B4-BE49-F238E27FC236}">
                <a16:creationId xmlns:a16="http://schemas.microsoft.com/office/drawing/2014/main" id="{964582E7-A780-16E2-9631-904BE2F383E1}"/>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02B23728-D47A-636F-E3BC-C114B06171AA}"/>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96309AE1-CF49-6074-F88D-2153418B028E}"/>
              </a:ext>
            </a:extLst>
          </p:cNvPr>
          <p:cNvSpPr>
            <a:spLocks noGrp="1"/>
          </p:cNvSpPr>
          <p:nvPr>
            <p:ph type="sldNum" sz="quarter" idx="12"/>
          </p:nvPr>
        </p:nvSpPr>
        <p:spPr/>
        <p:txBody>
          <a:bodyPr/>
          <a:lstStyle/>
          <a:p>
            <a:fld id="{E1E1CD7C-2161-7D43-862E-CE4C333CD873}" type="slidenum">
              <a:rPr lang="fr-FR" smtClean="0"/>
              <a:pPr/>
              <a:t>22</a:t>
            </a:fld>
            <a:endParaRPr lang="fr-FR" dirty="0"/>
          </a:p>
        </p:txBody>
      </p:sp>
      <p:pic>
        <p:nvPicPr>
          <p:cNvPr id="26" name="Content Placeholder 25" descr="A white rectangular object with black text&#10;&#10;AI-generated content may be incorrect.">
            <a:extLst>
              <a:ext uri="{FF2B5EF4-FFF2-40B4-BE49-F238E27FC236}">
                <a16:creationId xmlns:a16="http://schemas.microsoft.com/office/drawing/2014/main" id="{E18A97D9-BC9F-3D1B-2569-E525028B4F93}"/>
              </a:ext>
            </a:extLst>
          </p:cNvPr>
          <p:cNvPicPr>
            <a:picLocks noGrp="1" noChangeAspect="1"/>
          </p:cNvPicPr>
          <p:nvPr>
            <p:ph idx="1"/>
          </p:nvPr>
        </p:nvPicPr>
        <p:blipFill>
          <a:blip r:embed="rId3"/>
          <a:stretch>
            <a:fillRect/>
          </a:stretch>
        </p:blipFill>
        <p:spPr>
          <a:xfrm>
            <a:off x="2315026" y="2189807"/>
            <a:ext cx="4906060" cy="2133898"/>
          </a:xfrm>
        </p:spPr>
      </p:pic>
    </p:spTree>
    <p:extLst>
      <p:ext uri="{BB962C8B-B14F-4D97-AF65-F5344CB8AC3E}">
        <p14:creationId xmlns:p14="http://schemas.microsoft.com/office/powerpoint/2010/main" val="149080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6D300-2CA8-C2AF-2845-48AADA6EEAD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D166310-8F90-3690-6D79-348CE2319ED4}"/>
              </a:ext>
            </a:extLst>
          </p:cNvPr>
          <p:cNvSpPr>
            <a:spLocks noGrp="1"/>
          </p:cNvSpPr>
          <p:nvPr>
            <p:ph type="title"/>
          </p:nvPr>
        </p:nvSpPr>
        <p:spPr>
          <a:xfrm>
            <a:off x="904875" y="131032"/>
            <a:ext cx="7726363" cy="1072753"/>
          </a:xfrm>
        </p:spPr>
        <p:txBody>
          <a:bodyPr>
            <a:normAutofit/>
          </a:bodyPr>
          <a:lstStyle/>
          <a:p>
            <a:r>
              <a:rPr lang="en-US" dirty="0"/>
              <a:t>3.1	Results</a:t>
            </a:r>
            <a:br>
              <a:rPr lang="en-US" dirty="0"/>
            </a:br>
            <a:r>
              <a:rPr lang="en-US" sz="2400" b="0" i="1" dirty="0"/>
              <a:t>Feasibility</a:t>
            </a:r>
            <a:endParaRPr lang="en-GB" sz="2400" b="0" i="1" dirty="0"/>
          </a:p>
        </p:txBody>
      </p:sp>
      <p:sp>
        <p:nvSpPr>
          <p:cNvPr id="5" name="Date Placeholder 4">
            <a:extLst>
              <a:ext uri="{FF2B5EF4-FFF2-40B4-BE49-F238E27FC236}">
                <a16:creationId xmlns:a16="http://schemas.microsoft.com/office/drawing/2014/main" id="{9461B1C2-7132-C6C9-D7F8-72DC69A85C30}"/>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F112822E-50DA-FEF4-7928-43932D422E01}"/>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9C41A0F8-CE3C-52F9-E318-49801B1DECCC}"/>
              </a:ext>
            </a:extLst>
          </p:cNvPr>
          <p:cNvSpPr>
            <a:spLocks noGrp="1"/>
          </p:cNvSpPr>
          <p:nvPr>
            <p:ph type="sldNum" sz="quarter" idx="12"/>
          </p:nvPr>
        </p:nvSpPr>
        <p:spPr/>
        <p:txBody>
          <a:bodyPr/>
          <a:lstStyle/>
          <a:p>
            <a:fld id="{E1E1CD7C-2161-7D43-862E-CE4C333CD873}" type="slidenum">
              <a:rPr lang="fr-FR" smtClean="0"/>
              <a:pPr/>
              <a:t>23</a:t>
            </a:fld>
            <a:endParaRPr lang="fr-FR" dirty="0"/>
          </a:p>
        </p:txBody>
      </p:sp>
      <p:pic>
        <p:nvPicPr>
          <p:cNvPr id="9" name="Content Placeholder 8" descr="A close-up of several graphs&#10;&#10;AI-generated content may be incorrect.">
            <a:extLst>
              <a:ext uri="{FF2B5EF4-FFF2-40B4-BE49-F238E27FC236}">
                <a16:creationId xmlns:a16="http://schemas.microsoft.com/office/drawing/2014/main" id="{9E2574FB-F4D4-546E-D9BC-A8CC7E84B49B}"/>
              </a:ext>
            </a:extLst>
          </p:cNvPr>
          <p:cNvPicPr>
            <a:picLocks noGrp="1" noChangeAspect="1"/>
          </p:cNvPicPr>
          <p:nvPr>
            <p:ph idx="1"/>
          </p:nvPr>
        </p:nvPicPr>
        <p:blipFill>
          <a:blip r:embed="rId3"/>
          <a:stretch>
            <a:fillRect/>
          </a:stretch>
        </p:blipFill>
        <p:spPr>
          <a:xfrm>
            <a:off x="904875" y="2029782"/>
            <a:ext cx="7726363" cy="2453949"/>
          </a:xfrm>
        </p:spPr>
      </p:pic>
    </p:spTree>
    <p:extLst>
      <p:ext uri="{BB962C8B-B14F-4D97-AF65-F5344CB8AC3E}">
        <p14:creationId xmlns:p14="http://schemas.microsoft.com/office/powerpoint/2010/main" val="75578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FEADA-0709-B6B2-BEF0-17EB992323D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BCE2E7A-778F-58B5-A87E-5F91CF902B82}"/>
              </a:ext>
            </a:extLst>
          </p:cNvPr>
          <p:cNvSpPr>
            <a:spLocks noGrp="1"/>
          </p:cNvSpPr>
          <p:nvPr>
            <p:ph type="title"/>
          </p:nvPr>
        </p:nvSpPr>
        <p:spPr>
          <a:xfrm>
            <a:off x="904875" y="131032"/>
            <a:ext cx="7726363" cy="1072753"/>
          </a:xfrm>
        </p:spPr>
        <p:txBody>
          <a:bodyPr>
            <a:normAutofit/>
          </a:bodyPr>
          <a:lstStyle/>
          <a:p>
            <a:r>
              <a:rPr lang="en-US" dirty="0"/>
              <a:t>3.1	Summary</a:t>
            </a:r>
            <a:br>
              <a:rPr lang="en-US" dirty="0"/>
            </a:br>
            <a:endParaRPr lang="en-GB" sz="2400" b="0" i="1" dirty="0"/>
          </a:p>
        </p:txBody>
      </p:sp>
      <p:sp>
        <p:nvSpPr>
          <p:cNvPr id="5" name="Date Placeholder 4">
            <a:extLst>
              <a:ext uri="{FF2B5EF4-FFF2-40B4-BE49-F238E27FC236}">
                <a16:creationId xmlns:a16="http://schemas.microsoft.com/office/drawing/2014/main" id="{B92DD391-F898-7752-0AE7-EFD61742DF9B}"/>
              </a:ext>
            </a:extLst>
          </p:cNvPr>
          <p:cNvSpPr>
            <a:spLocks noGrp="1"/>
          </p:cNvSpPr>
          <p:nvPr>
            <p:ph type="dt" sz="half" idx="10"/>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9A542E73-49DD-69F3-D5AD-2317C98536F7}"/>
              </a:ext>
            </a:extLst>
          </p:cNvPr>
          <p:cNvSpPr>
            <a:spLocks noGrp="1"/>
          </p:cNvSpPr>
          <p:nvPr>
            <p:ph type="ftr" sz="quarter" idx="11"/>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B0F16A17-A304-C60E-EA35-524A6EF6A38D}"/>
              </a:ext>
            </a:extLst>
          </p:cNvPr>
          <p:cNvSpPr>
            <a:spLocks noGrp="1"/>
          </p:cNvSpPr>
          <p:nvPr>
            <p:ph type="sldNum" sz="quarter" idx="12"/>
          </p:nvPr>
        </p:nvSpPr>
        <p:spPr/>
        <p:txBody>
          <a:bodyPr/>
          <a:lstStyle/>
          <a:p>
            <a:fld id="{E1E1CD7C-2161-7D43-862E-CE4C333CD873}" type="slidenum">
              <a:rPr lang="fr-FR" smtClean="0"/>
              <a:pPr/>
              <a:t>24</a:t>
            </a:fld>
            <a:endParaRPr lang="fr-FR" dirty="0"/>
          </a:p>
        </p:txBody>
      </p:sp>
      <p:sp>
        <p:nvSpPr>
          <p:cNvPr id="3" name="Content Placeholder 2">
            <a:extLst>
              <a:ext uri="{FF2B5EF4-FFF2-40B4-BE49-F238E27FC236}">
                <a16:creationId xmlns:a16="http://schemas.microsoft.com/office/drawing/2014/main" id="{CFD8FD9C-2EC0-4B2B-2294-E381316F77DA}"/>
              </a:ext>
            </a:extLst>
          </p:cNvPr>
          <p:cNvSpPr>
            <a:spLocks noGrp="1"/>
          </p:cNvSpPr>
          <p:nvPr>
            <p:ph idx="1"/>
          </p:nvPr>
        </p:nvSpPr>
        <p:spPr/>
        <p:txBody>
          <a:bodyPr/>
          <a:lstStyle/>
          <a:p>
            <a:r>
              <a:rPr lang="en-US" dirty="0">
                <a:latin typeface="+mj-lt"/>
              </a:rPr>
              <a:t>Scalable method for knowledge graph reasoning - big data with small compute</a:t>
            </a:r>
          </a:p>
          <a:p>
            <a:r>
              <a:rPr lang="en-US" dirty="0">
                <a:latin typeface="+mj-lt"/>
              </a:rPr>
              <a:t>Model-based technique generalizable to diverse applications</a:t>
            </a:r>
          </a:p>
          <a:p>
            <a:r>
              <a:rPr lang="en-US" dirty="0">
                <a:latin typeface="+mj-lt"/>
              </a:rPr>
              <a:t>Theoretical and empirical arguments</a:t>
            </a:r>
          </a:p>
          <a:p>
            <a:r>
              <a:rPr lang="en-US" dirty="0">
                <a:latin typeface="+mj-lt"/>
              </a:rPr>
              <a:t>Community quality highly relevant</a:t>
            </a:r>
          </a:p>
          <a:p>
            <a:r>
              <a:rPr lang="en-US" dirty="0">
                <a:latin typeface="+mj-lt"/>
              </a:rPr>
              <a:t>Global and local graph representation learning - holism + reductionism</a:t>
            </a:r>
          </a:p>
          <a:p>
            <a:r>
              <a:rPr lang="en-US" dirty="0">
                <a:latin typeface="+mj-lt"/>
              </a:rPr>
              <a:t>Future experiments</a:t>
            </a:r>
          </a:p>
          <a:p>
            <a:pPr lvl="1"/>
            <a:r>
              <a:rPr lang="en-US" dirty="0">
                <a:latin typeface="+mj-lt"/>
              </a:rPr>
              <a:t>Integration with more powerful KG models, such as graph transformers</a:t>
            </a:r>
          </a:p>
          <a:p>
            <a:pPr lvl="1"/>
            <a:r>
              <a:rPr lang="en-US" dirty="0">
                <a:latin typeface="+mj-lt"/>
              </a:rPr>
              <a:t>Larger non-standard public knowledge bases</a:t>
            </a:r>
          </a:p>
          <a:p>
            <a:r>
              <a:rPr lang="en-US" dirty="0">
                <a:latin typeface="+mj-lt"/>
              </a:rPr>
              <a:t>Code is publicly available:</a:t>
            </a:r>
          </a:p>
          <a:p>
            <a:pPr lvl="1"/>
            <a:r>
              <a:rPr lang="en-US" dirty="0">
                <a:latin typeface="+mj-lt"/>
                <a:hlinkClick r:id="rId3"/>
              </a:rPr>
              <a:t>github.com/LIONS-EPFL/coins-ict-innovations-2025</a:t>
            </a:r>
            <a:endParaRPr lang="en-GB" dirty="0">
              <a:latin typeface="+mj-lt"/>
            </a:endParaRPr>
          </a:p>
        </p:txBody>
      </p:sp>
    </p:spTree>
    <p:extLst>
      <p:ext uri="{BB962C8B-B14F-4D97-AF65-F5344CB8AC3E}">
        <p14:creationId xmlns:p14="http://schemas.microsoft.com/office/powerpoint/2010/main" val="317819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2" dur="500"/>
                                        <p:tgtEl>
                                          <p:spTgt spid="3">
                                            <p:txEl>
                                              <p:pRg st="5" end="5"/>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5" dur="500"/>
                                        <p:tgtEl>
                                          <p:spTgt spid="3">
                                            <p:txEl>
                                              <p:pRg st="6" end="6"/>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randombar(horizontal)">
                                      <p:cBhvr>
                                        <p:cTn id="43" dur="500"/>
                                        <p:tgtEl>
                                          <p:spTgt spid="3">
                                            <p:txEl>
                                              <p:pRg st="8" end="8"/>
                                            </p:txEl>
                                          </p:spTgt>
                                        </p:tgtEl>
                                      </p:cBhvr>
                                    </p:animEffect>
                                  </p:childTnLst>
                                </p:cTn>
                              </p:par>
                              <p:par>
                                <p:cTn id="44" presetID="14" presetClass="entr" presetSubtype="10" fill="hold"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randombar(horizontal)">
                                      <p:cBhvr>
                                        <p:cTn id="4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1C77E-5A3B-873C-A193-98CDCCDE81A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DCCDDB5-7C9E-859A-A044-1E22666A87AA}"/>
              </a:ext>
            </a:extLst>
          </p:cNvPr>
          <p:cNvSpPr>
            <a:spLocks noGrp="1"/>
          </p:cNvSpPr>
          <p:nvPr>
            <p:ph type="title"/>
          </p:nvPr>
        </p:nvSpPr>
        <p:spPr/>
        <p:txBody>
          <a:bodyPr/>
          <a:lstStyle/>
          <a:p>
            <a:r>
              <a:rPr lang="en-US" dirty="0"/>
              <a:t>Scalable </a:t>
            </a:r>
            <a:br>
              <a:rPr lang="en-US" dirty="0"/>
            </a:br>
            <a:r>
              <a:rPr lang="en-US" dirty="0"/>
              <a:t>Graph Generation</a:t>
            </a:r>
            <a:endParaRPr lang="en-GB" dirty="0"/>
          </a:p>
        </p:txBody>
      </p:sp>
      <p:sp>
        <p:nvSpPr>
          <p:cNvPr id="8" name="Text Placeholder 7">
            <a:extLst>
              <a:ext uri="{FF2B5EF4-FFF2-40B4-BE49-F238E27FC236}">
                <a16:creationId xmlns:a16="http://schemas.microsoft.com/office/drawing/2014/main" id="{684D5042-6AD6-7890-D1CE-BFF7A26E577B}"/>
              </a:ext>
            </a:extLst>
          </p:cNvPr>
          <p:cNvSpPr>
            <a:spLocks noGrp="1"/>
          </p:cNvSpPr>
          <p:nvPr>
            <p:ph type="body" idx="1"/>
          </p:nvPr>
        </p:nvSpPr>
        <p:spPr/>
        <p:txBody>
          <a:bodyPr>
            <a:normAutofit/>
          </a:bodyPr>
          <a:lstStyle/>
          <a:p>
            <a:r>
              <a:rPr lang="en-US" sz="2400" dirty="0">
                <a:latin typeface="+mj-lt"/>
              </a:rPr>
              <a:t>Chapter 4</a:t>
            </a:r>
            <a:endParaRPr lang="en-GB" sz="2400" dirty="0">
              <a:latin typeface="+mj-lt"/>
            </a:endParaRPr>
          </a:p>
        </p:txBody>
      </p:sp>
      <p:sp>
        <p:nvSpPr>
          <p:cNvPr id="4" name="Date Placeholder 3">
            <a:extLst>
              <a:ext uri="{FF2B5EF4-FFF2-40B4-BE49-F238E27FC236}">
                <a16:creationId xmlns:a16="http://schemas.microsoft.com/office/drawing/2014/main" id="{B5C47343-A44B-577F-432B-5020558DEC3C}"/>
              </a:ext>
            </a:extLst>
          </p:cNvPr>
          <p:cNvSpPr>
            <a:spLocks noGrp="1"/>
          </p:cNvSpPr>
          <p:nvPr>
            <p:ph type="dt" sz="half" idx="14"/>
          </p:nvPr>
        </p:nvSpPr>
        <p:spPr/>
        <p:txBody>
          <a:bodyPr/>
          <a:lstStyle/>
          <a:p>
            <a:r>
              <a:rPr lang="en-US" sz="600" dirty="0">
                <a:latin typeface="+mj-lt"/>
              </a:rPr>
              <a:t>EDIC PhD Private Defense / Scalable Methods for Knowledge Graph Reasoning and Generation</a:t>
            </a:r>
          </a:p>
        </p:txBody>
      </p:sp>
      <p:sp>
        <p:nvSpPr>
          <p:cNvPr id="5" name="Footer Placeholder 4">
            <a:extLst>
              <a:ext uri="{FF2B5EF4-FFF2-40B4-BE49-F238E27FC236}">
                <a16:creationId xmlns:a16="http://schemas.microsoft.com/office/drawing/2014/main" id="{2FE08880-9E9D-D234-1953-7590BB46254A}"/>
              </a:ext>
            </a:extLst>
          </p:cNvPr>
          <p:cNvSpPr>
            <a:spLocks noGrp="1"/>
          </p:cNvSpPr>
          <p:nvPr>
            <p:ph type="ftr" sz="quarter" idx="15"/>
          </p:nvPr>
        </p:nvSpPr>
        <p:spPr/>
        <p:txBody>
          <a:bodyPr/>
          <a:lstStyle/>
          <a:p>
            <a:endParaRPr lang="fr-FR" dirty="0">
              <a:latin typeface="+mj-lt"/>
            </a:endParaRPr>
          </a:p>
          <a:p>
            <a:r>
              <a:rPr lang="fr-FR" dirty="0">
                <a:latin typeface="+mj-lt"/>
              </a:rPr>
              <a:t>Andrej Janchevski, EPFL STI IEM LIONS, Lausanne, </a:t>
            </a:r>
            <a:r>
              <a:rPr lang="fr-FR" dirty="0" err="1">
                <a:latin typeface="+mj-lt"/>
              </a:rPr>
              <a:t>Switzerland</a:t>
            </a:r>
            <a:r>
              <a:rPr lang="fr-FR" dirty="0">
                <a:latin typeface="+mj-lt"/>
              </a:rPr>
              <a:t> </a:t>
            </a:r>
          </a:p>
          <a:p>
            <a:r>
              <a:rPr lang="fr-FR" dirty="0"/>
              <a:t> </a:t>
            </a:r>
          </a:p>
        </p:txBody>
      </p:sp>
      <p:sp>
        <p:nvSpPr>
          <p:cNvPr id="6" name="Slide Number Placeholder 5">
            <a:extLst>
              <a:ext uri="{FF2B5EF4-FFF2-40B4-BE49-F238E27FC236}">
                <a16:creationId xmlns:a16="http://schemas.microsoft.com/office/drawing/2014/main" id="{F0C33636-0989-138A-DACD-7A5DAF97F84C}"/>
              </a:ext>
            </a:extLst>
          </p:cNvPr>
          <p:cNvSpPr>
            <a:spLocks noGrp="1"/>
          </p:cNvSpPr>
          <p:nvPr>
            <p:ph type="sldNum" sz="quarter" idx="16"/>
          </p:nvPr>
        </p:nvSpPr>
        <p:spPr/>
        <p:txBody>
          <a:bodyPr/>
          <a:lstStyle/>
          <a:p>
            <a:fld id="{E1E1CD7C-2161-7D43-862E-CE4C333CD873}" type="slidenum">
              <a:rPr lang="fr-FR" smtClean="0"/>
              <a:pPr/>
              <a:t>25</a:t>
            </a:fld>
            <a:endParaRPr lang="fr-FR" dirty="0"/>
          </a:p>
        </p:txBody>
      </p:sp>
      <p:pic>
        <p:nvPicPr>
          <p:cNvPr id="10" name="Picture Placeholder 11" descr="A city next to the water&#10;&#10;AI-generated content may be incorrect.">
            <a:extLst>
              <a:ext uri="{FF2B5EF4-FFF2-40B4-BE49-F238E27FC236}">
                <a16:creationId xmlns:a16="http://schemas.microsoft.com/office/drawing/2014/main" id="{380CD818-660B-88E8-B5FA-633882680B03}"/>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6235" r="26235"/>
          <a:stretch>
            <a:fillRect/>
          </a:stretch>
        </p:blipFill>
        <p:spPr bwMode="auto">
          <a:xfrm>
            <a:off x="904875" y="0"/>
            <a:ext cx="366712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15598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75FDB-1F03-44B4-8F5D-CE55B51AAC7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F8776BE-2B73-5F9D-7173-A7B579B6F113}"/>
              </a:ext>
            </a:extLst>
          </p:cNvPr>
          <p:cNvSpPr>
            <a:spLocks noGrp="1"/>
          </p:cNvSpPr>
          <p:nvPr>
            <p:ph type="title"/>
          </p:nvPr>
        </p:nvSpPr>
        <p:spPr/>
        <p:txBody>
          <a:bodyPr/>
          <a:lstStyle/>
          <a:p>
            <a:r>
              <a:rPr lang="en-US" dirty="0"/>
              <a:t>Conclusion</a:t>
            </a:r>
            <a:endParaRPr lang="en-GB" dirty="0"/>
          </a:p>
        </p:txBody>
      </p:sp>
      <p:sp>
        <p:nvSpPr>
          <p:cNvPr id="8" name="Text Placeholder 7">
            <a:extLst>
              <a:ext uri="{FF2B5EF4-FFF2-40B4-BE49-F238E27FC236}">
                <a16:creationId xmlns:a16="http://schemas.microsoft.com/office/drawing/2014/main" id="{38661638-78F6-68AF-A1C8-241628263577}"/>
              </a:ext>
            </a:extLst>
          </p:cNvPr>
          <p:cNvSpPr>
            <a:spLocks noGrp="1"/>
          </p:cNvSpPr>
          <p:nvPr>
            <p:ph type="body" idx="1"/>
          </p:nvPr>
        </p:nvSpPr>
        <p:spPr/>
        <p:txBody>
          <a:bodyPr>
            <a:normAutofit/>
          </a:bodyPr>
          <a:lstStyle/>
          <a:p>
            <a:r>
              <a:rPr lang="en-US" sz="2400" dirty="0">
                <a:latin typeface="+mj-lt"/>
              </a:rPr>
              <a:t>Chapter 5</a:t>
            </a:r>
            <a:endParaRPr lang="en-GB" sz="2400" dirty="0">
              <a:latin typeface="+mj-lt"/>
            </a:endParaRPr>
          </a:p>
        </p:txBody>
      </p:sp>
      <p:sp>
        <p:nvSpPr>
          <p:cNvPr id="4" name="Date Placeholder 3">
            <a:extLst>
              <a:ext uri="{FF2B5EF4-FFF2-40B4-BE49-F238E27FC236}">
                <a16:creationId xmlns:a16="http://schemas.microsoft.com/office/drawing/2014/main" id="{7993C00B-7548-9DD9-A133-DE4C246D13CA}"/>
              </a:ext>
            </a:extLst>
          </p:cNvPr>
          <p:cNvSpPr>
            <a:spLocks noGrp="1"/>
          </p:cNvSpPr>
          <p:nvPr>
            <p:ph type="dt" sz="half" idx="14"/>
          </p:nvPr>
        </p:nvSpPr>
        <p:spPr/>
        <p:txBody>
          <a:bodyPr/>
          <a:lstStyle/>
          <a:p>
            <a:r>
              <a:rPr lang="en-US" sz="600" dirty="0">
                <a:latin typeface="+mj-lt"/>
              </a:rPr>
              <a:t>EDIC PhD Private Defense / Scalable Methods for Knowledge Graph Reasoning and Generation</a:t>
            </a:r>
          </a:p>
        </p:txBody>
      </p:sp>
      <p:sp>
        <p:nvSpPr>
          <p:cNvPr id="5" name="Footer Placeholder 4">
            <a:extLst>
              <a:ext uri="{FF2B5EF4-FFF2-40B4-BE49-F238E27FC236}">
                <a16:creationId xmlns:a16="http://schemas.microsoft.com/office/drawing/2014/main" id="{27A488C4-61C2-04C9-C181-93C212A4620A}"/>
              </a:ext>
            </a:extLst>
          </p:cNvPr>
          <p:cNvSpPr>
            <a:spLocks noGrp="1"/>
          </p:cNvSpPr>
          <p:nvPr>
            <p:ph type="ftr" sz="quarter" idx="15"/>
          </p:nvPr>
        </p:nvSpPr>
        <p:spPr/>
        <p:txBody>
          <a:bodyPr/>
          <a:lstStyle/>
          <a:p>
            <a:endParaRPr lang="fr-FR" dirty="0">
              <a:latin typeface="+mj-lt"/>
            </a:endParaRPr>
          </a:p>
          <a:p>
            <a:r>
              <a:rPr lang="fr-FR" dirty="0">
                <a:latin typeface="+mj-lt"/>
              </a:rPr>
              <a:t>Andrej Janchevski, EPFL STI IEM LIONS, Lausanne, </a:t>
            </a:r>
            <a:r>
              <a:rPr lang="fr-FR" dirty="0" err="1">
                <a:latin typeface="+mj-lt"/>
              </a:rPr>
              <a:t>Switzerland</a:t>
            </a:r>
            <a:r>
              <a:rPr lang="fr-FR" dirty="0">
                <a:latin typeface="+mj-lt"/>
              </a:rPr>
              <a:t> </a:t>
            </a:r>
          </a:p>
          <a:p>
            <a:r>
              <a:rPr lang="fr-FR" dirty="0"/>
              <a:t> </a:t>
            </a:r>
          </a:p>
        </p:txBody>
      </p:sp>
      <p:sp>
        <p:nvSpPr>
          <p:cNvPr id="6" name="Slide Number Placeholder 5">
            <a:extLst>
              <a:ext uri="{FF2B5EF4-FFF2-40B4-BE49-F238E27FC236}">
                <a16:creationId xmlns:a16="http://schemas.microsoft.com/office/drawing/2014/main" id="{A9202647-7004-E62F-0D8D-D06A73B5A11B}"/>
              </a:ext>
            </a:extLst>
          </p:cNvPr>
          <p:cNvSpPr>
            <a:spLocks noGrp="1"/>
          </p:cNvSpPr>
          <p:nvPr>
            <p:ph type="sldNum" sz="quarter" idx="16"/>
          </p:nvPr>
        </p:nvSpPr>
        <p:spPr/>
        <p:txBody>
          <a:bodyPr/>
          <a:lstStyle/>
          <a:p>
            <a:fld id="{E1E1CD7C-2161-7D43-862E-CE4C333CD873}" type="slidenum">
              <a:rPr lang="fr-FR" smtClean="0"/>
              <a:pPr/>
              <a:t>26</a:t>
            </a:fld>
            <a:endParaRPr lang="fr-FR" dirty="0"/>
          </a:p>
        </p:txBody>
      </p:sp>
      <p:pic>
        <p:nvPicPr>
          <p:cNvPr id="10" name="Picture Placeholder 11" descr="A city next to the water&#10;&#10;AI-generated content may be incorrect.">
            <a:extLst>
              <a:ext uri="{FF2B5EF4-FFF2-40B4-BE49-F238E27FC236}">
                <a16:creationId xmlns:a16="http://schemas.microsoft.com/office/drawing/2014/main" id="{C272525B-5472-033A-5F67-09B84032E075}"/>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6235" r="26235"/>
          <a:stretch>
            <a:fillRect/>
          </a:stretch>
        </p:blipFill>
        <p:spPr bwMode="auto">
          <a:xfrm>
            <a:off x="904875" y="0"/>
            <a:ext cx="366712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9076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2E795-8669-0E65-4C23-D751FA436CB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CF68771-4E07-F643-A8D1-2955191DCC39}"/>
              </a:ext>
            </a:extLst>
          </p:cNvPr>
          <p:cNvSpPr>
            <a:spLocks noGrp="1"/>
          </p:cNvSpPr>
          <p:nvPr>
            <p:ph type="title"/>
          </p:nvPr>
        </p:nvSpPr>
        <p:spPr/>
        <p:txBody>
          <a:bodyPr>
            <a:normAutofit/>
          </a:bodyPr>
          <a:lstStyle/>
          <a:p>
            <a:r>
              <a:rPr lang="en-US" dirty="0"/>
              <a:t>Thank you </a:t>
            </a:r>
            <a:br>
              <a:rPr lang="en-US" dirty="0"/>
            </a:br>
            <a:r>
              <a:rPr lang="en-US" dirty="0"/>
              <a:t>for your attention ♥</a:t>
            </a:r>
            <a:endParaRPr lang="en-GB" sz="2400" b="0" i="1" dirty="0"/>
          </a:p>
        </p:txBody>
      </p:sp>
      <p:sp>
        <p:nvSpPr>
          <p:cNvPr id="2" name="Text Placeholder 1">
            <a:extLst>
              <a:ext uri="{FF2B5EF4-FFF2-40B4-BE49-F238E27FC236}">
                <a16:creationId xmlns:a16="http://schemas.microsoft.com/office/drawing/2014/main" id="{2ABC41C9-0A07-65AB-AE1B-D21E8DC506DB}"/>
              </a:ext>
            </a:extLst>
          </p:cNvPr>
          <p:cNvSpPr>
            <a:spLocks noGrp="1"/>
          </p:cNvSpPr>
          <p:nvPr>
            <p:ph type="body" idx="1"/>
          </p:nvPr>
        </p:nvSpPr>
        <p:spPr/>
        <p:txBody>
          <a:bodyPr>
            <a:normAutofit/>
          </a:bodyPr>
          <a:lstStyle/>
          <a:p>
            <a:r>
              <a:rPr lang="en-US" sz="2400" dirty="0">
                <a:latin typeface="+mj-lt"/>
              </a:rPr>
              <a:t>Any questions?</a:t>
            </a:r>
            <a:endParaRPr lang="en-GB" sz="2400" dirty="0">
              <a:latin typeface="+mj-lt"/>
            </a:endParaRPr>
          </a:p>
        </p:txBody>
      </p:sp>
      <p:sp>
        <p:nvSpPr>
          <p:cNvPr id="5" name="Date Placeholder 4">
            <a:extLst>
              <a:ext uri="{FF2B5EF4-FFF2-40B4-BE49-F238E27FC236}">
                <a16:creationId xmlns:a16="http://schemas.microsoft.com/office/drawing/2014/main" id="{A6FF7C4E-AD72-2C35-9B0A-2CE954FBE207}"/>
              </a:ext>
            </a:extLst>
          </p:cNvPr>
          <p:cNvSpPr>
            <a:spLocks noGrp="1"/>
          </p:cNvSpPr>
          <p:nvPr>
            <p:ph type="dt" sz="half" idx="14"/>
          </p:nvPr>
        </p:nvSpPr>
        <p:spPr/>
        <p:txBody>
          <a:bodyPr/>
          <a:lstStyle/>
          <a:p>
            <a:r>
              <a:rPr lang="en-US" sz="600" dirty="0">
                <a:latin typeface="+mj-lt"/>
              </a:rPr>
              <a:t>EDIC PhD Private Defense / Scalable Methods for Knowledge Graph Reasoning and Generation</a:t>
            </a:r>
          </a:p>
        </p:txBody>
      </p:sp>
      <p:sp>
        <p:nvSpPr>
          <p:cNvPr id="6" name="Footer Placeholder 5">
            <a:extLst>
              <a:ext uri="{FF2B5EF4-FFF2-40B4-BE49-F238E27FC236}">
                <a16:creationId xmlns:a16="http://schemas.microsoft.com/office/drawing/2014/main" id="{B10B3BD9-641B-C99A-334F-5C47DB213424}"/>
              </a:ext>
            </a:extLst>
          </p:cNvPr>
          <p:cNvSpPr>
            <a:spLocks noGrp="1"/>
          </p:cNvSpPr>
          <p:nvPr>
            <p:ph type="ftr" sz="quarter" idx="15"/>
          </p:nvPr>
        </p:nvSpPr>
        <p:spPr/>
        <p:txBody>
          <a:bodyPr/>
          <a:lstStyle/>
          <a:p>
            <a:r>
              <a:rPr lang="fr-FR" dirty="0">
                <a:latin typeface="+mj-lt"/>
              </a:rPr>
              <a:t>Andrej Janchevski, EPFL STI IEM LIONS, Lausanne, </a:t>
            </a:r>
            <a:r>
              <a:rPr lang="fr-FR" dirty="0" err="1">
                <a:latin typeface="+mj-lt"/>
              </a:rPr>
              <a:t>Switzerland</a:t>
            </a:r>
            <a:r>
              <a:rPr lang="fr-FR" dirty="0">
                <a:latin typeface="+mj-lt"/>
              </a:rPr>
              <a:t> </a:t>
            </a:r>
          </a:p>
        </p:txBody>
      </p:sp>
      <p:sp>
        <p:nvSpPr>
          <p:cNvPr id="7" name="Slide Number Placeholder 6">
            <a:extLst>
              <a:ext uri="{FF2B5EF4-FFF2-40B4-BE49-F238E27FC236}">
                <a16:creationId xmlns:a16="http://schemas.microsoft.com/office/drawing/2014/main" id="{E9C208E3-B033-7319-D8AA-A74F2A4F1445}"/>
              </a:ext>
            </a:extLst>
          </p:cNvPr>
          <p:cNvSpPr>
            <a:spLocks noGrp="1"/>
          </p:cNvSpPr>
          <p:nvPr>
            <p:ph type="sldNum" sz="quarter" idx="16"/>
          </p:nvPr>
        </p:nvSpPr>
        <p:spPr/>
        <p:txBody>
          <a:bodyPr/>
          <a:lstStyle/>
          <a:p>
            <a:fld id="{E1E1CD7C-2161-7D43-862E-CE4C333CD873}" type="slidenum">
              <a:rPr lang="fr-FR" smtClean="0"/>
              <a:pPr/>
              <a:t>27</a:t>
            </a:fld>
            <a:endParaRPr lang="fr-FR" dirty="0"/>
          </a:p>
        </p:txBody>
      </p:sp>
      <p:pic>
        <p:nvPicPr>
          <p:cNvPr id="12" name="Picture Placeholder 11" descr="A city next to the water&#10;&#10;AI-generated content may be incorrect.">
            <a:extLst>
              <a:ext uri="{FF2B5EF4-FFF2-40B4-BE49-F238E27FC236}">
                <a16:creationId xmlns:a16="http://schemas.microsoft.com/office/drawing/2014/main" id="{587521C1-EF81-0EF1-1FC7-14405F3AECDD}"/>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6235" r="26235"/>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0843079"/>
      </p:ext>
    </p:extLst>
  </p:cSld>
  <p:clrMapOvr>
    <a:masterClrMapping/>
  </p:clrMapOvr>
</p:sld>
</file>

<file path=ppt/theme/theme1.xml><?xml version="1.0" encoding="utf-8"?>
<a:theme xmlns:a="http://schemas.openxmlformats.org/drawingml/2006/main" name="Thème Office">
  <a:themeElements>
    <a:clrScheme name="EPFL - New Colors 2019">
      <a:dk1>
        <a:srgbClr val="413C3A"/>
      </a:dk1>
      <a:lt1>
        <a:srgbClr val="FFFFFF"/>
      </a:lt1>
      <a:dk2>
        <a:srgbClr val="413C3A"/>
      </a:dk2>
      <a:lt2>
        <a:srgbClr val="CAC7C7"/>
      </a:lt2>
      <a:accent1>
        <a:srgbClr val="E30613"/>
      </a:accent1>
      <a:accent2>
        <a:srgbClr val="00A79F"/>
      </a:accent2>
      <a:accent3>
        <a:srgbClr val="413C3A"/>
      </a:accent3>
      <a:accent4>
        <a:srgbClr val="007480"/>
      </a:accent4>
      <a:accent5>
        <a:srgbClr val="F39869"/>
      </a:accent5>
      <a:accent6>
        <a:srgbClr val="B51F1F"/>
      </a:accent6>
      <a:hlink>
        <a:srgbClr val="ED6E9C"/>
      </a:hlink>
      <a:folHlink>
        <a:srgbClr val="4F8FCC"/>
      </a:folHlink>
    </a:clrScheme>
    <a:fontScheme name="EPFL_Beta2">
      <a:majorFont>
        <a:latin typeface="Franklin Gothic Demi Cond"/>
        <a:ea typeface=""/>
        <a:cs typeface=""/>
      </a:majorFont>
      <a:minorFont>
        <a:latin typeface="Arial"/>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_EPFL_Beta2" id="{6A525B41-3E68-491F-A6C9-0B15EA1321FE}" vid="{993E2952-EB5D-4425-8012-1B04381EBC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BFC127AB4946248A5685C1F92D54FFE" ma:contentTypeVersion="0" ma:contentTypeDescription="Crée un document." ma:contentTypeScope="" ma:versionID="ef3ff242486930b75c69099c0dd02c57">
  <xsd:schema xmlns:xsd="http://www.w3.org/2001/XMLSchema" xmlns:xs="http://www.w3.org/2001/XMLSchema" xmlns:p="http://schemas.microsoft.com/office/2006/metadata/properties" targetNamespace="http://schemas.microsoft.com/office/2006/metadata/properties" ma:root="true" ma:fieldsID="ab09c1ba23edfaa45a5e9d385267c9b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6205E9-12FC-4D6C-B0C7-1E9025EEB158}">
  <ds:schemaRefs>
    <ds:schemaRef ds:uri="http://schemas.microsoft.com/sharepoint/v3/contenttype/forms"/>
  </ds:schemaRefs>
</ds:datastoreItem>
</file>

<file path=customXml/itemProps2.xml><?xml version="1.0" encoding="utf-8"?>
<ds:datastoreItem xmlns:ds="http://schemas.openxmlformats.org/officeDocument/2006/customXml" ds:itemID="{348A6C70-7FF5-480A-B09B-7D0A19B2F431}">
  <ds:schemaRefs>
    <ds:schemaRef ds:uri="http://purl.org/dc/terms/"/>
    <ds:schemaRef ds:uri="http://schemas.microsoft.com/office/2006/metadata/properties"/>
    <ds:schemaRef ds:uri="http://www.w3.org/XML/1998/namespace"/>
    <ds:schemaRef ds:uri="http://purl.org/dc/elements/1.1/"/>
    <ds:schemaRef ds:uri="http://purl.org/dc/dcmitype/"/>
    <ds:schemaRef ds:uri="http://schemas.openxmlformats.org/package/2006/metadata/core-properties"/>
    <ds:schemaRef ds:uri="http://schemas.microsoft.com/office/2006/documentManagement/types"/>
    <ds:schemaRef ds:uri="http://schemas.microsoft.com/office/infopath/2007/PartnerControls"/>
  </ds:schemaRefs>
</ds:datastoreItem>
</file>

<file path=customXml/itemProps3.xml><?xml version="1.0" encoding="utf-8"?>
<ds:datastoreItem xmlns:ds="http://schemas.openxmlformats.org/officeDocument/2006/customXml" ds:itemID="{8F8CE09B-89B1-4B5D-BED2-87C84F0777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Thème Office</Template>
  <TotalTime>3136</TotalTime>
  <Words>3140</Words>
  <Application>Microsoft Macintosh PowerPoint</Application>
  <PresentationFormat>On-screen Show (16:9)</PresentationFormat>
  <Paragraphs>384</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Cambria Math</vt:lpstr>
      <vt:lpstr>Franklin Gothic Demi Cond</vt:lpstr>
      <vt:lpstr>Wingdings</vt:lpstr>
      <vt:lpstr>Thème Office</vt:lpstr>
      <vt:lpstr> Scalable Methods  for Knowledge Graph Reasoning  and Generation</vt:lpstr>
      <vt:lpstr>Agenda</vt:lpstr>
      <vt:lpstr>Introduction</vt:lpstr>
      <vt:lpstr>1. Introduction</vt:lpstr>
      <vt:lpstr>Background</vt:lpstr>
      <vt:lpstr>2.1 Graph Theory &amp; Network Science</vt:lpstr>
      <vt:lpstr>2.2 Graph Machine Learning</vt:lpstr>
      <vt:lpstr>Scalable  Knowledge Graph Reasoning</vt:lpstr>
      <vt:lpstr>3.1 Problem &amp; Challenges Setting</vt:lpstr>
      <vt:lpstr>3.1  Problem &amp; Challenges Related work</vt:lpstr>
      <vt:lpstr>3.1 Background Graph theory of Knowledge Graph Reasoning</vt:lpstr>
      <vt:lpstr>3.1 Background Optimization problems of Knowledge Graph Reasoning</vt:lpstr>
      <vt:lpstr>3.1 Background Representation theory of Knowledge Graph Reasoning</vt:lpstr>
      <vt:lpstr>3.1 Contributions Idea</vt:lpstr>
      <vt:lpstr>3.1 Contributions Theory</vt:lpstr>
      <vt:lpstr>3.1 Methodology The COINs architecture</vt:lpstr>
      <vt:lpstr>3.1 Methodology The COINs KG representation process</vt:lpstr>
      <vt:lpstr>3.1 Methodology Algorithm and  properties</vt:lpstr>
      <vt:lpstr>3.1 Methodology Experiments</vt:lpstr>
      <vt:lpstr>3.1 Results Community quality</vt:lpstr>
      <vt:lpstr>3.1 Results Query answering MRR</vt:lpstr>
      <vt:lpstr>3.1 Results Comparison to related work on KG scalability</vt:lpstr>
      <vt:lpstr>3.1 Results Feasibility</vt:lpstr>
      <vt:lpstr>3.1 Summary </vt:lpstr>
      <vt:lpstr>Scalable  Graph Generation</vt:lpstr>
      <vt:lpstr>Conclusion</vt:lpstr>
      <vt:lpstr>Thank you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EPFL</dc:title>
  <dc:creator>Utilisateur Microsoft Office</dc:creator>
  <cp:lastModifiedBy>Andrej Janchevski</cp:lastModifiedBy>
  <cp:revision>254</cp:revision>
  <dcterms:created xsi:type="dcterms:W3CDTF">2019-04-02T06:24:35Z</dcterms:created>
  <dcterms:modified xsi:type="dcterms:W3CDTF">2025-10-03T14:12:56Z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0x0101001BFC127AB4946248A5685C1F92D54FFE</vt:lpwstr>
  </property>
</Properties>
</file>