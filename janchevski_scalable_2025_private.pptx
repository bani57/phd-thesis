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84"/>
  </p:notesMasterIdLst>
  <p:handoutMasterIdLst>
    <p:handoutMasterId r:id="rId85"/>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13" r:id="rId55"/>
    <p:sldId id="308" r:id="rId56"/>
    <p:sldId id="310" r:id="rId57"/>
    <p:sldId id="311" r:id="rId58"/>
    <p:sldId id="309" r:id="rId59"/>
    <p:sldId id="312" r:id="rId60"/>
    <p:sldId id="314"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279" r:id="rId81"/>
    <p:sldId id="335" r:id="rId82"/>
    <p:sldId id="274" r:id="rId83"/>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675" autoAdjust="0"/>
    <p:restoredTop sz="74771" autoAdjust="0"/>
  </p:normalViewPr>
  <p:slideViewPr>
    <p:cSldViewPr snapToGrid="0" snapToObjects="1" showGuides="1">
      <p:cViewPr varScale="1">
        <p:scale>
          <a:sx n="109" d="100"/>
          <a:sy n="109" d="100"/>
        </p:scale>
        <p:origin x="2244" y="10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notesMaster" Target="notesMasters/notesMaster1.xml"/><Relationship Id="rId89" Type="http://schemas.openxmlformats.org/officeDocument/2006/relationships/tableStyles" Target="tableStyle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BAB726-D7AB-43A2-9B2E-8E3FF5C3C672}" type="doc">
      <dgm:prSet loTypeId="urn:microsoft.com/office/officeart/2005/8/layout/venn1" loCatId="relationship" qsTypeId="urn:microsoft.com/office/officeart/2005/8/quickstyle/simple1" qsCatId="simple" csTypeId="urn:microsoft.com/office/officeart/2005/8/colors/accent1_2" csCatId="accent1" phldr="1"/>
      <dgm:spPr/>
      <dgm:t>
        <a:bodyPr/>
        <a:lstStyle/>
        <a:p>
          <a:endParaRPr lang="en-GB"/>
        </a:p>
      </dgm:t>
    </dgm:pt>
    <dgm:pt modelId="{21B7A1D8-CFF0-41E9-80CC-2CB133876011}">
      <dgm:prSet phldrT="[Text]" phldr="0" custT="1"/>
      <dgm:spPr/>
      <dgm:t>
        <a:bodyPr/>
        <a:lstStyle/>
        <a:p>
          <a:pPr algn="ctr"/>
          <a:r>
            <a:rPr lang="en-US" sz="3200" dirty="0">
              <a:latin typeface="+mj-lt"/>
            </a:rPr>
            <a:t>Reasoning</a:t>
          </a:r>
        </a:p>
        <a:p>
          <a:pPr algn="ctr"/>
          <a:endParaRPr lang="en-US" sz="3200" dirty="0">
            <a:latin typeface="+mj-lt"/>
          </a:endParaRPr>
        </a:p>
        <a:p>
          <a:pPr algn="l"/>
          <a:r>
            <a:rPr lang="en-GB" sz="1800" dirty="0">
              <a:latin typeface="+mj-lt"/>
            </a:rPr>
            <a:t>Logic </a:t>
          </a:r>
          <a:r>
            <a:rPr lang="en-GB" sz="1800" dirty="0" err="1">
              <a:latin typeface="+mj-lt"/>
            </a:rPr>
            <a:t>modeling</a:t>
          </a:r>
          <a:endParaRPr lang="en-GB" sz="1800" dirty="0">
            <a:latin typeface="+mj-lt"/>
          </a:endParaRPr>
        </a:p>
        <a:p>
          <a:pPr algn="l"/>
          <a:r>
            <a:rPr lang="en-GB" sz="1800" dirty="0">
              <a:latin typeface="+mj-lt"/>
            </a:rPr>
            <a:t>Ranking</a:t>
          </a:r>
        </a:p>
        <a:p>
          <a:pPr algn="l"/>
          <a:r>
            <a:rPr lang="en-GB" sz="1800" dirty="0">
              <a:latin typeface="+mj-lt"/>
            </a:rPr>
            <a:t>Veracity classification</a:t>
          </a:r>
        </a:p>
      </dgm:t>
    </dgm:pt>
    <dgm:pt modelId="{A56D25A7-D7C3-4D13-A091-6FDFB84AF3B3}" type="parTrans" cxnId="{281ACBDF-121D-4621-B6A3-995E9FCF0DFF}">
      <dgm:prSet/>
      <dgm:spPr/>
      <dgm:t>
        <a:bodyPr/>
        <a:lstStyle/>
        <a:p>
          <a:endParaRPr lang="en-GB"/>
        </a:p>
      </dgm:t>
    </dgm:pt>
    <dgm:pt modelId="{4085088C-46EF-4BC9-A592-F386A2CC5270}" type="sibTrans" cxnId="{281ACBDF-121D-4621-B6A3-995E9FCF0DFF}">
      <dgm:prSet/>
      <dgm:spPr/>
      <dgm:t>
        <a:bodyPr/>
        <a:lstStyle/>
        <a:p>
          <a:endParaRPr lang="en-GB"/>
        </a:p>
      </dgm:t>
    </dgm:pt>
    <dgm:pt modelId="{AD9D03CC-A6DE-4160-ACA7-963A65D50AD3}">
      <dgm:prSet phldrT="[Text]" phldr="0" custT="1"/>
      <dgm:spPr/>
      <dgm:t>
        <a:bodyPr/>
        <a:lstStyle/>
        <a:p>
          <a:pPr algn="ctr"/>
          <a:r>
            <a:rPr lang="en-US" sz="3200" dirty="0">
              <a:latin typeface="+mj-lt"/>
            </a:rPr>
            <a:t>Generation</a:t>
          </a:r>
        </a:p>
        <a:p>
          <a:pPr algn="ctr"/>
          <a:endParaRPr lang="en-US" sz="3200" dirty="0">
            <a:latin typeface="+mj-lt"/>
          </a:endParaRPr>
        </a:p>
        <a:p>
          <a:pPr algn="r"/>
          <a:r>
            <a:rPr lang="en-GB" sz="1800" dirty="0">
              <a:latin typeface="+mj-lt"/>
            </a:rPr>
            <a:t>Graph-level </a:t>
          </a:r>
          <a:r>
            <a:rPr lang="en-GB" sz="1800" dirty="0" err="1">
              <a:latin typeface="+mj-lt"/>
            </a:rPr>
            <a:t>modeling</a:t>
          </a:r>
          <a:endParaRPr lang="en-GB" sz="1800" dirty="0">
            <a:latin typeface="+mj-lt"/>
          </a:endParaRPr>
        </a:p>
        <a:p>
          <a:pPr algn="r"/>
          <a:r>
            <a:rPr lang="en-GB" sz="1800" dirty="0">
              <a:latin typeface="+mj-lt"/>
            </a:rPr>
            <a:t>Noise estimation</a:t>
          </a:r>
        </a:p>
        <a:p>
          <a:pPr algn="r"/>
          <a:r>
            <a:rPr lang="en-GB" sz="1800" dirty="0">
              <a:latin typeface="+mj-lt"/>
            </a:rPr>
            <a:t>Sample chaining</a:t>
          </a:r>
        </a:p>
      </dgm:t>
    </dgm:pt>
    <dgm:pt modelId="{C56DD3AB-D9E5-4463-8816-E33F074797F3}" type="parTrans" cxnId="{426DF2AE-64EB-4CA7-921E-8CE866DB297A}">
      <dgm:prSet/>
      <dgm:spPr/>
      <dgm:t>
        <a:bodyPr/>
        <a:lstStyle/>
        <a:p>
          <a:endParaRPr lang="en-GB"/>
        </a:p>
      </dgm:t>
    </dgm:pt>
    <dgm:pt modelId="{8EFF6ADA-886C-4558-B208-8FA2F406DCD8}" type="sibTrans" cxnId="{426DF2AE-64EB-4CA7-921E-8CE866DB297A}">
      <dgm:prSet/>
      <dgm:spPr/>
      <dgm:t>
        <a:bodyPr/>
        <a:lstStyle/>
        <a:p>
          <a:endParaRPr lang="en-GB"/>
        </a:p>
      </dgm:t>
    </dgm:pt>
    <dgm:pt modelId="{3F3DB19F-2E7C-439C-8830-8CA3138E136C}" type="pres">
      <dgm:prSet presAssocID="{5CBAB726-D7AB-43A2-9B2E-8E3FF5C3C672}" presName="compositeShape" presStyleCnt="0">
        <dgm:presLayoutVars>
          <dgm:chMax val="7"/>
          <dgm:dir/>
          <dgm:resizeHandles val="exact"/>
        </dgm:presLayoutVars>
      </dgm:prSet>
      <dgm:spPr/>
    </dgm:pt>
    <dgm:pt modelId="{B98EC832-C09D-4678-842C-CD67F3A241DC}" type="pres">
      <dgm:prSet presAssocID="{21B7A1D8-CFF0-41E9-80CC-2CB133876011}" presName="circ1" presStyleLbl="vennNode1" presStyleIdx="0" presStyleCnt="2"/>
      <dgm:spPr/>
    </dgm:pt>
    <dgm:pt modelId="{0912B371-8AD8-4D0A-8136-AACF7FF06BE3}" type="pres">
      <dgm:prSet presAssocID="{21B7A1D8-CFF0-41E9-80CC-2CB133876011}" presName="circ1Tx" presStyleLbl="revTx" presStyleIdx="0" presStyleCnt="0">
        <dgm:presLayoutVars>
          <dgm:chMax val="0"/>
          <dgm:chPref val="0"/>
          <dgm:bulletEnabled val="1"/>
        </dgm:presLayoutVars>
      </dgm:prSet>
      <dgm:spPr/>
    </dgm:pt>
    <dgm:pt modelId="{61E46B28-4725-49B2-A851-3A70A13246FC}" type="pres">
      <dgm:prSet presAssocID="{AD9D03CC-A6DE-4160-ACA7-963A65D50AD3}" presName="circ2" presStyleLbl="vennNode1" presStyleIdx="1" presStyleCnt="2" custLinFactNeighborX="-523" custLinFactNeighborY="274"/>
      <dgm:spPr/>
    </dgm:pt>
    <dgm:pt modelId="{D25B38E4-60CD-40B5-A747-237F60FE8A9F}" type="pres">
      <dgm:prSet presAssocID="{AD9D03CC-A6DE-4160-ACA7-963A65D50AD3}" presName="circ2Tx" presStyleLbl="revTx" presStyleIdx="0" presStyleCnt="0">
        <dgm:presLayoutVars>
          <dgm:chMax val="0"/>
          <dgm:chPref val="0"/>
          <dgm:bulletEnabled val="1"/>
        </dgm:presLayoutVars>
      </dgm:prSet>
      <dgm:spPr/>
    </dgm:pt>
  </dgm:ptLst>
  <dgm:cxnLst>
    <dgm:cxn modelId="{9EE72509-CFF4-4B0A-B79E-18722DC2749A}" type="presOf" srcId="{5CBAB726-D7AB-43A2-9B2E-8E3FF5C3C672}" destId="{3F3DB19F-2E7C-439C-8830-8CA3138E136C}" srcOrd="0" destOrd="0" presId="urn:microsoft.com/office/officeart/2005/8/layout/venn1"/>
    <dgm:cxn modelId="{CB2BE86E-5951-4D6E-8B6B-1758DBE651A4}" type="presOf" srcId="{AD9D03CC-A6DE-4160-ACA7-963A65D50AD3}" destId="{D25B38E4-60CD-40B5-A747-237F60FE8A9F}" srcOrd="1" destOrd="0" presId="urn:microsoft.com/office/officeart/2005/8/layout/venn1"/>
    <dgm:cxn modelId="{426DF2AE-64EB-4CA7-921E-8CE866DB297A}" srcId="{5CBAB726-D7AB-43A2-9B2E-8E3FF5C3C672}" destId="{AD9D03CC-A6DE-4160-ACA7-963A65D50AD3}" srcOrd="1" destOrd="0" parTransId="{C56DD3AB-D9E5-4463-8816-E33F074797F3}" sibTransId="{8EFF6ADA-886C-4558-B208-8FA2F406DCD8}"/>
    <dgm:cxn modelId="{04B1C6C8-8F3D-47E7-93D0-C34C1F53A920}" type="presOf" srcId="{21B7A1D8-CFF0-41E9-80CC-2CB133876011}" destId="{B98EC832-C09D-4678-842C-CD67F3A241DC}" srcOrd="0" destOrd="0" presId="urn:microsoft.com/office/officeart/2005/8/layout/venn1"/>
    <dgm:cxn modelId="{A4F479CB-77A9-4818-AA63-3D6C04EA91A2}" type="presOf" srcId="{21B7A1D8-CFF0-41E9-80CC-2CB133876011}" destId="{0912B371-8AD8-4D0A-8136-AACF7FF06BE3}" srcOrd="1" destOrd="0" presId="urn:microsoft.com/office/officeart/2005/8/layout/venn1"/>
    <dgm:cxn modelId="{281ACBDF-121D-4621-B6A3-995E9FCF0DFF}" srcId="{5CBAB726-D7AB-43A2-9B2E-8E3FF5C3C672}" destId="{21B7A1D8-CFF0-41E9-80CC-2CB133876011}" srcOrd="0" destOrd="0" parTransId="{A56D25A7-D7C3-4D13-A091-6FDFB84AF3B3}" sibTransId="{4085088C-46EF-4BC9-A592-F386A2CC5270}"/>
    <dgm:cxn modelId="{ABA4F9F4-2A5E-4248-8CDC-F5A8BFC139E0}" type="presOf" srcId="{AD9D03CC-A6DE-4160-ACA7-963A65D50AD3}" destId="{61E46B28-4725-49B2-A851-3A70A13246FC}" srcOrd="0" destOrd="0" presId="urn:microsoft.com/office/officeart/2005/8/layout/venn1"/>
    <dgm:cxn modelId="{0E48777F-E730-4220-AA44-3D0D59B8BE47}" type="presParOf" srcId="{3F3DB19F-2E7C-439C-8830-8CA3138E136C}" destId="{B98EC832-C09D-4678-842C-CD67F3A241DC}" srcOrd="0" destOrd="0" presId="urn:microsoft.com/office/officeart/2005/8/layout/venn1"/>
    <dgm:cxn modelId="{9095BFA0-4184-47AB-90B3-C48552AF39E6}" type="presParOf" srcId="{3F3DB19F-2E7C-439C-8830-8CA3138E136C}" destId="{0912B371-8AD8-4D0A-8136-AACF7FF06BE3}" srcOrd="1" destOrd="0" presId="urn:microsoft.com/office/officeart/2005/8/layout/venn1"/>
    <dgm:cxn modelId="{D3203CB3-307E-4800-804F-0E610DC743AE}" type="presParOf" srcId="{3F3DB19F-2E7C-439C-8830-8CA3138E136C}" destId="{61E46B28-4725-49B2-A851-3A70A13246FC}" srcOrd="2" destOrd="0" presId="urn:microsoft.com/office/officeart/2005/8/layout/venn1"/>
    <dgm:cxn modelId="{A4691858-6F3C-4D1B-B259-0E1A0A1075FE}" type="presParOf" srcId="{3F3DB19F-2E7C-439C-8830-8CA3138E136C}" destId="{D25B38E4-60CD-40B5-A747-237F60FE8A9F}" srcOrd="3"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8EC832-C09D-4678-842C-CD67F3A241DC}">
      <dsp:nvSpPr>
        <dsp:cNvPr id="0" name=""/>
        <dsp:cNvSpPr/>
      </dsp:nvSpPr>
      <dsp:spPr>
        <a:xfrm>
          <a:off x="965731" y="921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Reasoning</a:t>
          </a:r>
        </a:p>
        <a:p>
          <a:pPr marL="0" lvl="0" indent="0" algn="ctr" defTabSz="1422400">
            <a:lnSpc>
              <a:spcPct val="90000"/>
            </a:lnSpc>
            <a:spcBef>
              <a:spcPct val="0"/>
            </a:spcBef>
            <a:spcAft>
              <a:spcPct val="35000"/>
            </a:spcAft>
            <a:buNone/>
          </a:pPr>
          <a:endParaRPr lang="en-US" sz="3200" kern="1200" dirty="0">
            <a:latin typeface="+mj-lt"/>
          </a:endParaRPr>
        </a:p>
        <a:p>
          <a:pPr marL="0" lvl="0" indent="0" algn="l" defTabSz="1422400">
            <a:lnSpc>
              <a:spcPct val="90000"/>
            </a:lnSpc>
            <a:spcBef>
              <a:spcPct val="0"/>
            </a:spcBef>
            <a:spcAft>
              <a:spcPct val="35000"/>
            </a:spcAft>
            <a:buNone/>
          </a:pPr>
          <a:r>
            <a:rPr lang="en-GB" sz="1800" kern="1200" dirty="0">
              <a:latin typeface="+mj-lt"/>
            </a:rPr>
            <a:t>Logic </a:t>
          </a:r>
          <a:r>
            <a:rPr lang="en-GB" sz="1800" kern="1200" dirty="0" err="1">
              <a:latin typeface="+mj-lt"/>
            </a:rPr>
            <a:t>modeling</a:t>
          </a:r>
          <a:endParaRPr lang="en-GB" sz="1800" kern="1200" dirty="0">
            <a:latin typeface="+mj-lt"/>
          </a:endParaRPr>
        </a:p>
        <a:p>
          <a:pPr marL="0" lvl="0" indent="0" algn="l" defTabSz="1422400">
            <a:lnSpc>
              <a:spcPct val="90000"/>
            </a:lnSpc>
            <a:spcBef>
              <a:spcPct val="0"/>
            </a:spcBef>
            <a:spcAft>
              <a:spcPct val="35000"/>
            </a:spcAft>
            <a:buNone/>
          </a:pPr>
          <a:r>
            <a:rPr lang="en-GB" sz="1800" kern="1200" dirty="0">
              <a:latin typeface="+mj-lt"/>
            </a:rPr>
            <a:t>Ranking</a:t>
          </a:r>
        </a:p>
        <a:p>
          <a:pPr marL="0" lvl="0" indent="0" algn="l" defTabSz="1422400">
            <a:lnSpc>
              <a:spcPct val="90000"/>
            </a:lnSpc>
            <a:spcBef>
              <a:spcPct val="0"/>
            </a:spcBef>
            <a:spcAft>
              <a:spcPct val="35000"/>
            </a:spcAft>
            <a:buNone/>
          </a:pPr>
          <a:r>
            <a:rPr lang="en-GB" sz="1800" kern="1200" dirty="0">
              <a:latin typeface="+mj-lt"/>
            </a:rPr>
            <a:t>Veracity classification</a:t>
          </a:r>
        </a:p>
      </dsp:txBody>
      <dsp:txXfrm>
        <a:off x="1435998" y="406336"/>
        <a:ext cx="1941746" cy="2573464"/>
      </dsp:txXfrm>
    </dsp:sp>
    <dsp:sp modelId="{61E46B28-4725-49B2-A851-3A70A13246FC}">
      <dsp:nvSpPr>
        <dsp:cNvPr id="0" name=""/>
        <dsp:cNvSpPr/>
      </dsp:nvSpPr>
      <dsp:spPr>
        <a:xfrm>
          <a:off x="3375301" y="1842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Generation</a:t>
          </a:r>
        </a:p>
        <a:p>
          <a:pPr marL="0" lvl="0" indent="0" algn="ctr" defTabSz="1422400">
            <a:lnSpc>
              <a:spcPct val="90000"/>
            </a:lnSpc>
            <a:spcBef>
              <a:spcPct val="0"/>
            </a:spcBef>
            <a:spcAft>
              <a:spcPct val="35000"/>
            </a:spcAft>
            <a:buNone/>
          </a:pPr>
          <a:endParaRPr lang="en-US" sz="3200" kern="1200" dirty="0">
            <a:latin typeface="+mj-lt"/>
          </a:endParaRPr>
        </a:p>
        <a:p>
          <a:pPr marL="0" lvl="0" indent="0" algn="r" defTabSz="1422400">
            <a:lnSpc>
              <a:spcPct val="90000"/>
            </a:lnSpc>
            <a:spcBef>
              <a:spcPct val="0"/>
            </a:spcBef>
            <a:spcAft>
              <a:spcPct val="35000"/>
            </a:spcAft>
            <a:buNone/>
          </a:pPr>
          <a:r>
            <a:rPr lang="en-GB" sz="1800" kern="1200" dirty="0">
              <a:latin typeface="+mj-lt"/>
            </a:rPr>
            <a:t>Graph-level </a:t>
          </a:r>
          <a:r>
            <a:rPr lang="en-GB" sz="1800" kern="1200" dirty="0" err="1">
              <a:latin typeface="+mj-lt"/>
            </a:rPr>
            <a:t>modeling</a:t>
          </a:r>
          <a:endParaRPr lang="en-GB" sz="1800" kern="1200" dirty="0">
            <a:latin typeface="+mj-lt"/>
          </a:endParaRPr>
        </a:p>
        <a:p>
          <a:pPr marL="0" lvl="0" indent="0" algn="r" defTabSz="1422400">
            <a:lnSpc>
              <a:spcPct val="90000"/>
            </a:lnSpc>
            <a:spcBef>
              <a:spcPct val="0"/>
            </a:spcBef>
            <a:spcAft>
              <a:spcPct val="35000"/>
            </a:spcAft>
            <a:buNone/>
          </a:pPr>
          <a:r>
            <a:rPr lang="en-GB" sz="1800" kern="1200" dirty="0">
              <a:latin typeface="+mj-lt"/>
            </a:rPr>
            <a:t>Noise estimation</a:t>
          </a:r>
        </a:p>
        <a:p>
          <a:pPr marL="0" lvl="0" indent="0" algn="r" defTabSz="1422400">
            <a:lnSpc>
              <a:spcPct val="90000"/>
            </a:lnSpc>
            <a:spcBef>
              <a:spcPct val="0"/>
            </a:spcBef>
            <a:spcAft>
              <a:spcPct val="35000"/>
            </a:spcAft>
            <a:buNone/>
          </a:pPr>
          <a:r>
            <a:rPr lang="en-GB" sz="1800" kern="1200" dirty="0">
              <a:latin typeface="+mj-lt"/>
            </a:rPr>
            <a:t>Sample chaining</a:t>
          </a:r>
        </a:p>
      </dsp:txBody>
      <dsp:txXfrm>
        <a:off x="4331004" y="415546"/>
        <a:ext cx="1941746" cy="2573464"/>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15.10.2025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15/10/2025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650E5-FB67-0876-A190-FB4B2FF7E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2279-F50C-3DA2-31AC-97DC35ED5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867D1-660B-14D8-2C4E-0A14D93ADD4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F40946E-2AEB-854E-772E-905DF07B8092}"/>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41865064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4A05A-99D1-D700-1A8E-4FAE2192C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6839A-D6F4-FF67-32FB-7FCFBDC1B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83077-18D8-EF19-41A7-558B5FB79E9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F065FF0-EC42-C449-0EDF-AB8072ECF6C2}"/>
              </a:ext>
            </a:extLst>
          </p:cNvPr>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631262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4D46-95AF-C086-B205-2B96064B57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06AC-3155-CB96-BF4F-571014963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D5161-EA41-11C5-918A-6849264A036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816BEAE-0560-6E98-23EB-147A9255F702}"/>
              </a:ext>
            </a:extLst>
          </p:cNvPr>
          <p:cNvSpPr>
            <a:spLocks noGrp="1"/>
          </p:cNvSpPr>
          <p:nvPr>
            <p:ph type="sldNum" sz="quarter" idx="5"/>
          </p:nvPr>
        </p:nvSpPr>
        <p:spPr/>
        <p:txBody>
          <a:bodyPr/>
          <a:lstStyle/>
          <a:p>
            <a:fld id="{4CF50783-AAED-1941-8BCC-9F6140F0A6B1}" type="slidenum">
              <a:rPr lang="fr-FR" smtClean="0"/>
              <a:pPr/>
              <a:t>47</a:t>
            </a:fld>
            <a:endParaRPr lang="fr-FR" dirty="0"/>
          </a:p>
        </p:txBody>
      </p:sp>
    </p:spTree>
    <p:extLst>
      <p:ext uri="{BB962C8B-B14F-4D97-AF65-F5344CB8AC3E}">
        <p14:creationId xmlns:p14="http://schemas.microsoft.com/office/powerpoint/2010/main" val="33169303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0660-E99E-F021-C1B8-F58D704F3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09578-E165-134C-6E43-98DF8E3E9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8E06EC-7E64-418E-44C6-13C5704C50A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5300547-F52C-95B7-7C3C-E0666D9BEEE3}"/>
              </a:ext>
            </a:extLst>
          </p:cNvPr>
          <p:cNvSpPr>
            <a:spLocks noGrp="1"/>
          </p:cNvSpPr>
          <p:nvPr>
            <p:ph type="sldNum" sz="quarter" idx="5"/>
          </p:nvPr>
        </p:nvSpPr>
        <p:spPr/>
        <p:txBody>
          <a:bodyPr/>
          <a:lstStyle/>
          <a:p>
            <a:fld id="{4CF50783-AAED-1941-8BCC-9F6140F0A6B1}" type="slidenum">
              <a:rPr lang="fr-FR" smtClean="0"/>
              <a:pPr/>
              <a:t>48</a:t>
            </a:fld>
            <a:endParaRPr lang="fr-FR" dirty="0"/>
          </a:p>
        </p:txBody>
      </p:sp>
    </p:spTree>
    <p:extLst>
      <p:ext uri="{BB962C8B-B14F-4D97-AF65-F5344CB8AC3E}">
        <p14:creationId xmlns:p14="http://schemas.microsoft.com/office/powerpoint/2010/main" val="42206312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C0881-517F-4D72-4C54-8448C9880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5C728-CD57-41DD-E426-E8F3B9F8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B0FA9-5961-C80D-D997-5FF0061D29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56F001A-5CF6-CEA1-474C-1D74EB07DF33}"/>
              </a:ext>
            </a:extLst>
          </p:cNvPr>
          <p:cNvSpPr>
            <a:spLocks noGrp="1"/>
          </p:cNvSpPr>
          <p:nvPr>
            <p:ph type="sldNum" sz="quarter" idx="5"/>
          </p:nvPr>
        </p:nvSpPr>
        <p:spPr/>
        <p:txBody>
          <a:bodyPr/>
          <a:lstStyle/>
          <a:p>
            <a:fld id="{4CF50783-AAED-1941-8BCC-9F6140F0A6B1}" type="slidenum">
              <a:rPr lang="fr-FR" smtClean="0"/>
              <a:pPr/>
              <a:t>49</a:t>
            </a:fld>
            <a:endParaRPr lang="fr-FR" dirty="0"/>
          </a:p>
        </p:txBody>
      </p:sp>
    </p:spTree>
    <p:extLst>
      <p:ext uri="{BB962C8B-B14F-4D97-AF65-F5344CB8AC3E}">
        <p14:creationId xmlns:p14="http://schemas.microsoft.com/office/powerpoint/2010/main" val="6682933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B8F9-7A6A-AF3B-7B78-69A15D0E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62C8B-FB19-1C65-4D80-F84B7FAB46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90A16B-E5C1-1E43-F3C3-F8648DF43F7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F90C862-4060-961E-B28D-DE7563665348}"/>
              </a:ext>
            </a:extLst>
          </p:cNvPr>
          <p:cNvSpPr>
            <a:spLocks noGrp="1"/>
          </p:cNvSpPr>
          <p:nvPr>
            <p:ph type="sldNum" sz="quarter" idx="5"/>
          </p:nvPr>
        </p:nvSpPr>
        <p:spPr/>
        <p:txBody>
          <a:bodyPr/>
          <a:lstStyle/>
          <a:p>
            <a:fld id="{4CF50783-AAED-1941-8BCC-9F6140F0A6B1}" type="slidenum">
              <a:rPr lang="fr-FR" smtClean="0"/>
              <a:pPr/>
              <a:t>50</a:t>
            </a:fld>
            <a:endParaRPr lang="fr-FR" dirty="0"/>
          </a:p>
        </p:txBody>
      </p:sp>
    </p:spTree>
    <p:extLst>
      <p:ext uri="{BB962C8B-B14F-4D97-AF65-F5344CB8AC3E}">
        <p14:creationId xmlns:p14="http://schemas.microsoft.com/office/powerpoint/2010/main" val="149247774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0257-A01E-A156-31CD-761B5EECA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EA479-9739-E8B5-0449-1E01F0CC3A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9EEA53-A154-EEFA-B996-738FA9BD3D2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952679B-9758-4579-A0B5-19EEFC3EBEFE}"/>
              </a:ext>
            </a:extLst>
          </p:cNvPr>
          <p:cNvSpPr>
            <a:spLocks noGrp="1"/>
          </p:cNvSpPr>
          <p:nvPr>
            <p:ph type="sldNum" sz="quarter" idx="5"/>
          </p:nvPr>
        </p:nvSpPr>
        <p:spPr/>
        <p:txBody>
          <a:bodyPr/>
          <a:lstStyle/>
          <a:p>
            <a:fld id="{4CF50783-AAED-1941-8BCC-9F6140F0A6B1}" type="slidenum">
              <a:rPr lang="fr-FR" smtClean="0"/>
              <a:pPr/>
              <a:t>51</a:t>
            </a:fld>
            <a:endParaRPr lang="fr-FR" dirty="0"/>
          </a:p>
        </p:txBody>
      </p:sp>
    </p:spTree>
    <p:extLst>
      <p:ext uri="{BB962C8B-B14F-4D97-AF65-F5344CB8AC3E}">
        <p14:creationId xmlns:p14="http://schemas.microsoft.com/office/powerpoint/2010/main" val="21609721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80E9-B421-87EF-EDD5-39785E0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876D3-7781-4E5A-0FEC-BCA76EF91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4624E-DE3D-193E-4344-4B32A57099C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01A263E-B12F-6179-7F79-A6D4269388FF}"/>
              </a:ext>
            </a:extLst>
          </p:cNvPr>
          <p:cNvSpPr>
            <a:spLocks noGrp="1"/>
          </p:cNvSpPr>
          <p:nvPr>
            <p:ph type="sldNum" sz="quarter" idx="5"/>
          </p:nvPr>
        </p:nvSpPr>
        <p:spPr/>
        <p:txBody>
          <a:bodyPr/>
          <a:lstStyle/>
          <a:p>
            <a:fld id="{4CF50783-AAED-1941-8BCC-9F6140F0A6B1}" type="slidenum">
              <a:rPr lang="fr-FR" smtClean="0"/>
              <a:pPr/>
              <a:t>52</a:t>
            </a:fld>
            <a:endParaRPr lang="fr-FR" dirty="0"/>
          </a:p>
        </p:txBody>
      </p:sp>
    </p:spTree>
    <p:extLst>
      <p:ext uri="{BB962C8B-B14F-4D97-AF65-F5344CB8AC3E}">
        <p14:creationId xmlns:p14="http://schemas.microsoft.com/office/powerpoint/2010/main" val="39446244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05D6-F813-24F7-71B1-08AD3F3418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E6D25-E4F1-5DFB-C19C-50A9373B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7C986-D643-B266-285B-4F8D4B34FF3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B7EC6C5-3DAC-3925-1577-2758D3506C51}"/>
              </a:ext>
            </a:extLst>
          </p:cNvPr>
          <p:cNvSpPr>
            <a:spLocks noGrp="1"/>
          </p:cNvSpPr>
          <p:nvPr>
            <p:ph type="sldNum" sz="quarter" idx="5"/>
          </p:nvPr>
        </p:nvSpPr>
        <p:spPr/>
        <p:txBody>
          <a:bodyPr/>
          <a:lstStyle/>
          <a:p>
            <a:fld id="{4CF50783-AAED-1941-8BCC-9F6140F0A6B1}" type="slidenum">
              <a:rPr lang="fr-FR" smtClean="0"/>
              <a:pPr/>
              <a:t>53</a:t>
            </a:fld>
            <a:endParaRPr lang="fr-FR" dirty="0"/>
          </a:p>
        </p:txBody>
      </p:sp>
    </p:spTree>
    <p:extLst>
      <p:ext uri="{BB962C8B-B14F-4D97-AF65-F5344CB8AC3E}">
        <p14:creationId xmlns:p14="http://schemas.microsoft.com/office/powerpoint/2010/main" val="720492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0E505-9CE7-8980-7C36-6FD03284D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43485-F0DA-5739-35AA-93273D2AD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6E93A-1646-AB84-7FD2-6CF79BB417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1F05B94-ABCE-47F9-60F5-ECF78517D1BC}"/>
              </a:ext>
            </a:extLst>
          </p:cNvPr>
          <p:cNvSpPr>
            <a:spLocks noGrp="1"/>
          </p:cNvSpPr>
          <p:nvPr>
            <p:ph type="sldNum" sz="quarter" idx="5"/>
          </p:nvPr>
        </p:nvSpPr>
        <p:spPr/>
        <p:txBody>
          <a:bodyPr/>
          <a:lstStyle/>
          <a:p>
            <a:fld id="{4CF50783-AAED-1941-8BCC-9F6140F0A6B1}" type="slidenum">
              <a:rPr lang="fr-FR" smtClean="0"/>
              <a:pPr/>
              <a:t>54</a:t>
            </a:fld>
            <a:endParaRPr lang="fr-FR" dirty="0"/>
          </a:p>
        </p:txBody>
      </p:sp>
    </p:spTree>
    <p:extLst>
      <p:ext uri="{BB962C8B-B14F-4D97-AF65-F5344CB8AC3E}">
        <p14:creationId xmlns:p14="http://schemas.microsoft.com/office/powerpoint/2010/main" val="33984198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F2FC7-D587-93C8-1776-A0A489071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25FB8-F8C0-F40C-F120-39F642587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3EB66-B8E4-5C54-C5D3-64D44739202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672FE6A-DE99-6A1A-0B3F-CC36519FA3E7}"/>
              </a:ext>
            </a:extLst>
          </p:cNvPr>
          <p:cNvSpPr>
            <a:spLocks noGrp="1"/>
          </p:cNvSpPr>
          <p:nvPr>
            <p:ph type="sldNum" sz="quarter" idx="5"/>
          </p:nvPr>
        </p:nvSpPr>
        <p:spPr/>
        <p:txBody>
          <a:bodyPr/>
          <a:lstStyle/>
          <a:p>
            <a:fld id="{4CF50783-AAED-1941-8BCC-9F6140F0A6B1}" type="slidenum">
              <a:rPr lang="fr-FR" smtClean="0"/>
              <a:pPr/>
              <a:t>55</a:t>
            </a:fld>
            <a:endParaRPr lang="fr-FR" dirty="0"/>
          </a:p>
        </p:txBody>
      </p:sp>
    </p:spTree>
    <p:extLst>
      <p:ext uri="{BB962C8B-B14F-4D97-AF65-F5344CB8AC3E}">
        <p14:creationId xmlns:p14="http://schemas.microsoft.com/office/powerpoint/2010/main" val="18630837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A12D9-823F-0968-4361-1C3433474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D2840-12A7-7800-F73F-14A57FDD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930B1-BAFA-0AEF-9360-F006825EBF3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F2CB776-7114-0E11-B075-5418D4686312}"/>
              </a:ext>
            </a:extLst>
          </p:cNvPr>
          <p:cNvSpPr>
            <a:spLocks noGrp="1"/>
          </p:cNvSpPr>
          <p:nvPr>
            <p:ph type="sldNum" sz="quarter" idx="5"/>
          </p:nvPr>
        </p:nvSpPr>
        <p:spPr/>
        <p:txBody>
          <a:bodyPr/>
          <a:lstStyle/>
          <a:p>
            <a:fld id="{4CF50783-AAED-1941-8BCC-9F6140F0A6B1}" type="slidenum">
              <a:rPr lang="fr-FR" smtClean="0"/>
              <a:pPr/>
              <a:t>56</a:t>
            </a:fld>
            <a:endParaRPr lang="fr-FR" dirty="0"/>
          </a:p>
        </p:txBody>
      </p:sp>
    </p:spTree>
    <p:extLst>
      <p:ext uri="{BB962C8B-B14F-4D97-AF65-F5344CB8AC3E}">
        <p14:creationId xmlns:p14="http://schemas.microsoft.com/office/powerpoint/2010/main" val="3315213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0FBB8-22B0-E7B9-629E-1EAFC7732E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81B3B-3DD5-F140-36EB-315A6326C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3FC8D-E300-0BCB-6150-4EF8F6575A8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A0AB675-5C75-853D-236B-0530DE09DE4D}"/>
              </a:ext>
            </a:extLst>
          </p:cNvPr>
          <p:cNvSpPr>
            <a:spLocks noGrp="1"/>
          </p:cNvSpPr>
          <p:nvPr>
            <p:ph type="sldNum" sz="quarter" idx="5"/>
          </p:nvPr>
        </p:nvSpPr>
        <p:spPr/>
        <p:txBody>
          <a:bodyPr/>
          <a:lstStyle/>
          <a:p>
            <a:fld id="{4CF50783-AAED-1941-8BCC-9F6140F0A6B1}" type="slidenum">
              <a:rPr lang="fr-FR" smtClean="0"/>
              <a:pPr/>
              <a:t>57</a:t>
            </a:fld>
            <a:endParaRPr lang="fr-FR" dirty="0"/>
          </a:p>
        </p:txBody>
      </p:sp>
    </p:spTree>
    <p:extLst>
      <p:ext uri="{BB962C8B-B14F-4D97-AF65-F5344CB8AC3E}">
        <p14:creationId xmlns:p14="http://schemas.microsoft.com/office/powerpoint/2010/main" val="353575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1644-CF1C-7F28-D52B-DA276A98AF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FFCAE-D243-835D-88B7-C436FC0B8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73099-C045-B804-B3A4-8AEDE053171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732B8AD-5E45-A928-3F47-E2EEAE47FAA1}"/>
              </a:ext>
            </a:extLst>
          </p:cNvPr>
          <p:cNvSpPr>
            <a:spLocks noGrp="1"/>
          </p:cNvSpPr>
          <p:nvPr>
            <p:ph type="sldNum" sz="quarter" idx="5"/>
          </p:nvPr>
        </p:nvSpPr>
        <p:spPr/>
        <p:txBody>
          <a:bodyPr/>
          <a:lstStyle/>
          <a:p>
            <a:fld id="{4CF50783-AAED-1941-8BCC-9F6140F0A6B1}" type="slidenum">
              <a:rPr lang="fr-FR" smtClean="0"/>
              <a:pPr/>
              <a:t>58</a:t>
            </a:fld>
            <a:endParaRPr lang="fr-FR" dirty="0"/>
          </a:p>
        </p:txBody>
      </p:sp>
    </p:spTree>
    <p:extLst>
      <p:ext uri="{BB962C8B-B14F-4D97-AF65-F5344CB8AC3E}">
        <p14:creationId xmlns:p14="http://schemas.microsoft.com/office/powerpoint/2010/main" val="41325823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54E01-0D7C-C30C-C607-E85852921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80998-287E-560A-9E90-108BF34F1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028D51-73FC-8564-9C7E-DAD36B91A6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0238BE-F2A9-20DB-3BFA-839D3031782B}"/>
              </a:ext>
            </a:extLst>
          </p:cNvPr>
          <p:cNvSpPr>
            <a:spLocks noGrp="1"/>
          </p:cNvSpPr>
          <p:nvPr>
            <p:ph type="sldNum" sz="quarter" idx="5"/>
          </p:nvPr>
        </p:nvSpPr>
        <p:spPr/>
        <p:txBody>
          <a:bodyPr/>
          <a:lstStyle/>
          <a:p>
            <a:fld id="{4CF50783-AAED-1941-8BCC-9F6140F0A6B1}" type="slidenum">
              <a:rPr lang="fr-FR" smtClean="0"/>
              <a:pPr/>
              <a:t>59</a:t>
            </a:fld>
            <a:endParaRPr lang="fr-FR" dirty="0"/>
          </a:p>
        </p:txBody>
      </p:sp>
    </p:spTree>
    <p:extLst>
      <p:ext uri="{BB962C8B-B14F-4D97-AF65-F5344CB8AC3E}">
        <p14:creationId xmlns:p14="http://schemas.microsoft.com/office/powerpoint/2010/main" val="39680944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2EF2F-F661-C698-551F-FB72C992FE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4A696-3F6F-500E-084B-78873B450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9C3673-71BB-9D9D-BFF2-AD8EA03067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E88CB85-C78B-5C2F-B07D-BD07EB2A9530}"/>
              </a:ext>
            </a:extLst>
          </p:cNvPr>
          <p:cNvSpPr>
            <a:spLocks noGrp="1"/>
          </p:cNvSpPr>
          <p:nvPr>
            <p:ph type="sldNum" sz="quarter" idx="5"/>
          </p:nvPr>
        </p:nvSpPr>
        <p:spPr/>
        <p:txBody>
          <a:bodyPr/>
          <a:lstStyle/>
          <a:p>
            <a:fld id="{4CF50783-AAED-1941-8BCC-9F6140F0A6B1}" type="slidenum">
              <a:rPr lang="fr-FR" smtClean="0"/>
              <a:pPr/>
              <a:t>60</a:t>
            </a:fld>
            <a:endParaRPr lang="fr-FR" dirty="0"/>
          </a:p>
        </p:txBody>
      </p:sp>
    </p:spTree>
    <p:extLst>
      <p:ext uri="{BB962C8B-B14F-4D97-AF65-F5344CB8AC3E}">
        <p14:creationId xmlns:p14="http://schemas.microsoft.com/office/powerpoint/2010/main" val="36195120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E3AA-7900-5318-FB07-E5CB9FB9E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4DE7E-A52B-EC8C-484B-39FC41C27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166DC-6765-C2BB-95F4-F8937813F1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FD8F2F2-51F6-F69D-4401-231B7404C52F}"/>
              </a:ext>
            </a:extLst>
          </p:cNvPr>
          <p:cNvSpPr>
            <a:spLocks noGrp="1"/>
          </p:cNvSpPr>
          <p:nvPr>
            <p:ph type="sldNum" sz="quarter" idx="5"/>
          </p:nvPr>
        </p:nvSpPr>
        <p:spPr/>
        <p:txBody>
          <a:bodyPr/>
          <a:lstStyle/>
          <a:p>
            <a:fld id="{4CF50783-AAED-1941-8BCC-9F6140F0A6B1}" type="slidenum">
              <a:rPr lang="fr-FR" smtClean="0"/>
              <a:pPr/>
              <a:t>61</a:t>
            </a:fld>
            <a:endParaRPr lang="fr-FR" dirty="0"/>
          </a:p>
        </p:txBody>
      </p:sp>
    </p:spTree>
    <p:extLst>
      <p:ext uri="{BB962C8B-B14F-4D97-AF65-F5344CB8AC3E}">
        <p14:creationId xmlns:p14="http://schemas.microsoft.com/office/powerpoint/2010/main" val="408892519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5920-8355-D6D9-B44F-94E6E049E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AC208-02CD-D493-0374-1A72A8B74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54793-9425-5132-6B55-FFE56BF3BEC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A936F-0164-7A45-0AC5-63C5EF1234C2}"/>
              </a:ext>
            </a:extLst>
          </p:cNvPr>
          <p:cNvSpPr>
            <a:spLocks noGrp="1"/>
          </p:cNvSpPr>
          <p:nvPr>
            <p:ph type="sldNum" sz="quarter" idx="5"/>
          </p:nvPr>
        </p:nvSpPr>
        <p:spPr/>
        <p:txBody>
          <a:bodyPr/>
          <a:lstStyle/>
          <a:p>
            <a:fld id="{4CF50783-AAED-1941-8BCC-9F6140F0A6B1}" type="slidenum">
              <a:rPr lang="fr-FR" smtClean="0"/>
              <a:pPr/>
              <a:t>62</a:t>
            </a:fld>
            <a:endParaRPr lang="fr-FR" dirty="0"/>
          </a:p>
        </p:txBody>
      </p:sp>
    </p:spTree>
    <p:extLst>
      <p:ext uri="{BB962C8B-B14F-4D97-AF65-F5344CB8AC3E}">
        <p14:creationId xmlns:p14="http://schemas.microsoft.com/office/powerpoint/2010/main" val="26439255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C1017-A1B9-4C70-00B5-0CC2D2806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B560D-523B-129F-5090-B31C135C6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545C4-73A5-71AB-A862-A27420AB72C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5AC2033-06CB-7D43-348E-C790D8EDC0D8}"/>
              </a:ext>
            </a:extLst>
          </p:cNvPr>
          <p:cNvSpPr>
            <a:spLocks noGrp="1"/>
          </p:cNvSpPr>
          <p:nvPr>
            <p:ph type="sldNum" sz="quarter" idx="5"/>
          </p:nvPr>
        </p:nvSpPr>
        <p:spPr/>
        <p:txBody>
          <a:bodyPr/>
          <a:lstStyle/>
          <a:p>
            <a:fld id="{4CF50783-AAED-1941-8BCC-9F6140F0A6B1}" type="slidenum">
              <a:rPr lang="fr-FR" smtClean="0"/>
              <a:pPr/>
              <a:t>63</a:t>
            </a:fld>
            <a:endParaRPr lang="fr-FR" dirty="0"/>
          </a:p>
        </p:txBody>
      </p:sp>
    </p:spTree>
    <p:extLst>
      <p:ext uri="{BB962C8B-B14F-4D97-AF65-F5344CB8AC3E}">
        <p14:creationId xmlns:p14="http://schemas.microsoft.com/office/powerpoint/2010/main" val="38530831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274B6-376E-75C5-AC2A-09E472F9D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5E6EE-3C55-31F0-6243-3776B11AD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5B92C5-E262-CC30-EE19-DD6B5680347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2F45611-F280-2F13-E352-D697D4925837}"/>
              </a:ext>
            </a:extLst>
          </p:cNvPr>
          <p:cNvSpPr>
            <a:spLocks noGrp="1"/>
          </p:cNvSpPr>
          <p:nvPr>
            <p:ph type="sldNum" sz="quarter" idx="5"/>
          </p:nvPr>
        </p:nvSpPr>
        <p:spPr/>
        <p:txBody>
          <a:bodyPr/>
          <a:lstStyle/>
          <a:p>
            <a:fld id="{4CF50783-AAED-1941-8BCC-9F6140F0A6B1}" type="slidenum">
              <a:rPr lang="fr-FR" smtClean="0"/>
              <a:pPr/>
              <a:t>64</a:t>
            </a:fld>
            <a:endParaRPr lang="fr-FR" dirty="0"/>
          </a:p>
        </p:txBody>
      </p:sp>
    </p:spTree>
    <p:extLst>
      <p:ext uri="{BB962C8B-B14F-4D97-AF65-F5344CB8AC3E}">
        <p14:creationId xmlns:p14="http://schemas.microsoft.com/office/powerpoint/2010/main" val="11748844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9DF2-B1FC-E231-A19A-7BD91DEE1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19B90-997F-32F0-929A-C5E8669D8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244ECF-DF9B-2EC8-2BE4-547C16B573B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EBC142-F447-E2F1-CF63-676B24F1E32C}"/>
              </a:ext>
            </a:extLst>
          </p:cNvPr>
          <p:cNvSpPr>
            <a:spLocks noGrp="1"/>
          </p:cNvSpPr>
          <p:nvPr>
            <p:ph type="sldNum" sz="quarter" idx="5"/>
          </p:nvPr>
        </p:nvSpPr>
        <p:spPr/>
        <p:txBody>
          <a:bodyPr/>
          <a:lstStyle/>
          <a:p>
            <a:fld id="{4CF50783-AAED-1941-8BCC-9F6140F0A6B1}" type="slidenum">
              <a:rPr lang="fr-FR" smtClean="0"/>
              <a:pPr/>
              <a:t>65</a:t>
            </a:fld>
            <a:endParaRPr lang="fr-FR" dirty="0"/>
          </a:p>
        </p:txBody>
      </p:sp>
    </p:spTree>
    <p:extLst>
      <p:ext uri="{BB962C8B-B14F-4D97-AF65-F5344CB8AC3E}">
        <p14:creationId xmlns:p14="http://schemas.microsoft.com/office/powerpoint/2010/main" val="373839185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EEFA-BCBA-B5DE-D819-DBB4FEA88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F066B-5247-44D9-F7C8-DEEDC60FD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17AD89-385B-5DA7-3DF5-273BD4C1EB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A7ADF92-E36A-CB6B-867C-CF7EF3C101A2}"/>
              </a:ext>
            </a:extLst>
          </p:cNvPr>
          <p:cNvSpPr>
            <a:spLocks noGrp="1"/>
          </p:cNvSpPr>
          <p:nvPr>
            <p:ph type="sldNum" sz="quarter" idx="5"/>
          </p:nvPr>
        </p:nvSpPr>
        <p:spPr/>
        <p:txBody>
          <a:bodyPr/>
          <a:lstStyle/>
          <a:p>
            <a:fld id="{4CF50783-AAED-1941-8BCC-9F6140F0A6B1}" type="slidenum">
              <a:rPr lang="fr-FR" smtClean="0"/>
              <a:pPr/>
              <a:t>66</a:t>
            </a:fld>
            <a:endParaRPr lang="fr-FR" dirty="0"/>
          </a:p>
        </p:txBody>
      </p:sp>
    </p:spTree>
    <p:extLst>
      <p:ext uri="{BB962C8B-B14F-4D97-AF65-F5344CB8AC3E}">
        <p14:creationId xmlns:p14="http://schemas.microsoft.com/office/powerpoint/2010/main" val="25341021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E9724-2F1B-3DC3-7A69-9BB05EEF5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C5C2-93A1-AE94-CEA8-948B8F29A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97A80-9D86-2268-5A5D-2391D50A285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2F3582B-1FD1-B648-D066-34BD418C2B9E}"/>
              </a:ext>
            </a:extLst>
          </p:cNvPr>
          <p:cNvSpPr>
            <a:spLocks noGrp="1"/>
          </p:cNvSpPr>
          <p:nvPr>
            <p:ph type="sldNum" sz="quarter" idx="5"/>
          </p:nvPr>
        </p:nvSpPr>
        <p:spPr/>
        <p:txBody>
          <a:bodyPr/>
          <a:lstStyle/>
          <a:p>
            <a:fld id="{4CF50783-AAED-1941-8BCC-9F6140F0A6B1}" type="slidenum">
              <a:rPr lang="fr-FR" smtClean="0"/>
              <a:pPr/>
              <a:t>67</a:t>
            </a:fld>
            <a:endParaRPr lang="fr-FR" dirty="0"/>
          </a:p>
        </p:txBody>
      </p:sp>
    </p:spTree>
    <p:extLst>
      <p:ext uri="{BB962C8B-B14F-4D97-AF65-F5344CB8AC3E}">
        <p14:creationId xmlns:p14="http://schemas.microsoft.com/office/powerpoint/2010/main" val="62148397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C8ACF-7E27-4182-690A-F73E808E1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CFD3B-DA4F-2908-C9CB-3BDFC5820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95C305-5036-2A97-F2AC-94841A4D82F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DA21515-3927-A5DC-9E3F-37B709696122}"/>
              </a:ext>
            </a:extLst>
          </p:cNvPr>
          <p:cNvSpPr>
            <a:spLocks noGrp="1"/>
          </p:cNvSpPr>
          <p:nvPr>
            <p:ph type="sldNum" sz="quarter" idx="5"/>
          </p:nvPr>
        </p:nvSpPr>
        <p:spPr/>
        <p:txBody>
          <a:bodyPr/>
          <a:lstStyle/>
          <a:p>
            <a:fld id="{4CF50783-AAED-1941-8BCC-9F6140F0A6B1}" type="slidenum">
              <a:rPr lang="fr-FR" smtClean="0"/>
              <a:pPr/>
              <a:t>68</a:t>
            </a:fld>
            <a:endParaRPr lang="fr-FR" dirty="0"/>
          </a:p>
        </p:txBody>
      </p:sp>
    </p:spTree>
    <p:extLst>
      <p:ext uri="{BB962C8B-B14F-4D97-AF65-F5344CB8AC3E}">
        <p14:creationId xmlns:p14="http://schemas.microsoft.com/office/powerpoint/2010/main" val="180306038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0886-9A14-D8E8-66DB-3BB5A8746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ADF85-DD9B-9464-3337-859067BBF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E69EA8-3DBC-1CBF-30BC-76293A7E0FF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4AABCF5-9574-A5A5-3956-0E2B3980D55E}"/>
              </a:ext>
            </a:extLst>
          </p:cNvPr>
          <p:cNvSpPr>
            <a:spLocks noGrp="1"/>
          </p:cNvSpPr>
          <p:nvPr>
            <p:ph type="sldNum" sz="quarter" idx="5"/>
          </p:nvPr>
        </p:nvSpPr>
        <p:spPr/>
        <p:txBody>
          <a:bodyPr/>
          <a:lstStyle/>
          <a:p>
            <a:fld id="{4CF50783-AAED-1941-8BCC-9F6140F0A6B1}" type="slidenum">
              <a:rPr lang="fr-FR" smtClean="0"/>
              <a:pPr/>
              <a:t>69</a:t>
            </a:fld>
            <a:endParaRPr lang="fr-FR" dirty="0"/>
          </a:p>
        </p:txBody>
      </p:sp>
    </p:spTree>
    <p:extLst>
      <p:ext uri="{BB962C8B-B14F-4D97-AF65-F5344CB8AC3E}">
        <p14:creationId xmlns:p14="http://schemas.microsoft.com/office/powerpoint/2010/main" val="143126113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32806-5446-5F31-7246-58F803D9E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ED63E5-BFE3-F370-C351-FCB2F0B14F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838AAB-4646-25F8-FC10-A2C63520A6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1008FB2-E2ED-3190-6AD6-562CDD523B1D}"/>
              </a:ext>
            </a:extLst>
          </p:cNvPr>
          <p:cNvSpPr>
            <a:spLocks noGrp="1"/>
          </p:cNvSpPr>
          <p:nvPr>
            <p:ph type="sldNum" sz="quarter" idx="5"/>
          </p:nvPr>
        </p:nvSpPr>
        <p:spPr/>
        <p:txBody>
          <a:bodyPr/>
          <a:lstStyle/>
          <a:p>
            <a:fld id="{4CF50783-AAED-1941-8BCC-9F6140F0A6B1}" type="slidenum">
              <a:rPr lang="fr-FR" smtClean="0"/>
              <a:pPr/>
              <a:t>70</a:t>
            </a:fld>
            <a:endParaRPr lang="fr-FR" dirty="0"/>
          </a:p>
        </p:txBody>
      </p:sp>
    </p:spTree>
    <p:extLst>
      <p:ext uri="{BB962C8B-B14F-4D97-AF65-F5344CB8AC3E}">
        <p14:creationId xmlns:p14="http://schemas.microsoft.com/office/powerpoint/2010/main" val="389056418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E4ACE-460D-3B43-CD64-245627577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1F21C-28C7-1E2B-C4EA-2AE0DB9BF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209C6-84CE-767F-819E-ADAD31E0EC7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E1F40F5-9867-7E09-0F19-03427EE53324}"/>
              </a:ext>
            </a:extLst>
          </p:cNvPr>
          <p:cNvSpPr>
            <a:spLocks noGrp="1"/>
          </p:cNvSpPr>
          <p:nvPr>
            <p:ph type="sldNum" sz="quarter" idx="5"/>
          </p:nvPr>
        </p:nvSpPr>
        <p:spPr/>
        <p:txBody>
          <a:bodyPr/>
          <a:lstStyle/>
          <a:p>
            <a:fld id="{4CF50783-AAED-1941-8BCC-9F6140F0A6B1}" type="slidenum">
              <a:rPr lang="fr-FR" smtClean="0"/>
              <a:pPr/>
              <a:t>71</a:t>
            </a:fld>
            <a:endParaRPr lang="fr-FR" dirty="0"/>
          </a:p>
        </p:txBody>
      </p:sp>
    </p:spTree>
    <p:extLst>
      <p:ext uri="{BB962C8B-B14F-4D97-AF65-F5344CB8AC3E}">
        <p14:creationId xmlns:p14="http://schemas.microsoft.com/office/powerpoint/2010/main" val="228614122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818E8-8EBD-B8ED-E886-E097A9CD2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09CAC3-9B1C-18B9-070E-3D10E0B5D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70081-754E-6899-073A-9E63E19E2C8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DAE472F-5DEF-134D-F426-E7AF8D4A3086}"/>
              </a:ext>
            </a:extLst>
          </p:cNvPr>
          <p:cNvSpPr>
            <a:spLocks noGrp="1"/>
          </p:cNvSpPr>
          <p:nvPr>
            <p:ph type="sldNum" sz="quarter" idx="5"/>
          </p:nvPr>
        </p:nvSpPr>
        <p:spPr/>
        <p:txBody>
          <a:bodyPr/>
          <a:lstStyle/>
          <a:p>
            <a:fld id="{4CF50783-AAED-1941-8BCC-9F6140F0A6B1}" type="slidenum">
              <a:rPr lang="fr-FR" smtClean="0"/>
              <a:pPr/>
              <a:t>72</a:t>
            </a:fld>
            <a:endParaRPr lang="fr-FR" dirty="0"/>
          </a:p>
        </p:txBody>
      </p:sp>
    </p:spTree>
    <p:extLst>
      <p:ext uri="{BB962C8B-B14F-4D97-AF65-F5344CB8AC3E}">
        <p14:creationId xmlns:p14="http://schemas.microsoft.com/office/powerpoint/2010/main" val="7161824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FF83F-7CF9-44C4-236A-1213D5B3D9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B971A-57E5-14B4-1567-78E1D16561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B20B5-AE15-41A3-F2B6-9C4198FB4F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F2A37E4-7536-5335-B293-C762C25EB90E}"/>
              </a:ext>
            </a:extLst>
          </p:cNvPr>
          <p:cNvSpPr>
            <a:spLocks noGrp="1"/>
          </p:cNvSpPr>
          <p:nvPr>
            <p:ph type="sldNum" sz="quarter" idx="5"/>
          </p:nvPr>
        </p:nvSpPr>
        <p:spPr/>
        <p:txBody>
          <a:bodyPr/>
          <a:lstStyle/>
          <a:p>
            <a:fld id="{4CF50783-AAED-1941-8BCC-9F6140F0A6B1}" type="slidenum">
              <a:rPr lang="fr-FR" smtClean="0"/>
              <a:pPr/>
              <a:t>73</a:t>
            </a:fld>
            <a:endParaRPr lang="fr-FR" dirty="0"/>
          </a:p>
        </p:txBody>
      </p:sp>
    </p:spTree>
    <p:extLst>
      <p:ext uri="{BB962C8B-B14F-4D97-AF65-F5344CB8AC3E}">
        <p14:creationId xmlns:p14="http://schemas.microsoft.com/office/powerpoint/2010/main" val="370971655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82057-4E91-48C3-8F4A-ED3EA7CB5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97A93-5658-3C10-B45F-8F8202C92D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5B20B-5184-B8FA-9C0A-1542036A111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ABE490A-3FA2-CE3F-6473-88130D66AD22}"/>
              </a:ext>
            </a:extLst>
          </p:cNvPr>
          <p:cNvSpPr>
            <a:spLocks noGrp="1"/>
          </p:cNvSpPr>
          <p:nvPr>
            <p:ph type="sldNum" sz="quarter" idx="5"/>
          </p:nvPr>
        </p:nvSpPr>
        <p:spPr/>
        <p:txBody>
          <a:bodyPr/>
          <a:lstStyle/>
          <a:p>
            <a:fld id="{4CF50783-AAED-1941-8BCC-9F6140F0A6B1}" type="slidenum">
              <a:rPr lang="fr-FR" smtClean="0"/>
              <a:pPr/>
              <a:t>74</a:t>
            </a:fld>
            <a:endParaRPr lang="fr-FR" dirty="0"/>
          </a:p>
        </p:txBody>
      </p:sp>
    </p:spTree>
    <p:extLst>
      <p:ext uri="{BB962C8B-B14F-4D97-AF65-F5344CB8AC3E}">
        <p14:creationId xmlns:p14="http://schemas.microsoft.com/office/powerpoint/2010/main" val="370318241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CE534-888F-BD96-9977-E456D47537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419A6-D7FF-06B2-9AD5-BEBAEE207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F1070-6AD5-6C86-2D44-A975A1D2E3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108F4A0-8811-4574-C54A-8AFC5413C9EB}"/>
              </a:ext>
            </a:extLst>
          </p:cNvPr>
          <p:cNvSpPr>
            <a:spLocks noGrp="1"/>
          </p:cNvSpPr>
          <p:nvPr>
            <p:ph type="sldNum" sz="quarter" idx="5"/>
          </p:nvPr>
        </p:nvSpPr>
        <p:spPr/>
        <p:txBody>
          <a:bodyPr/>
          <a:lstStyle/>
          <a:p>
            <a:fld id="{4CF50783-AAED-1941-8BCC-9F6140F0A6B1}" type="slidenum">
              <a:rPr lang="fr-FR" smtClean="0"/>
              <a:pPr/>
              <a:t>75</a:t>
            </a:fld>
            <a:endParaRPr lang="fr-FR" dirty="0"/>
          </a:p>
        </p:txBody>
      </p:sp>
    </p:spTree>
    <p:extLst>
      <p:ext uri="{BB962C8B-B14F-4D97-AF65-F5344CB8AC3E}">
        <p14:creationId xmlns:p14="http://schemas.microsoft.com/office/powerpoint/2010/main" val="177524326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D66C-4742-98BD-93DA-E71D7E9BF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D05BC-9A63-77EA-B18A-83762BE22C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D6FBC-4007-6B12-D2C4-542A53E1C69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6BC870F-8D12-B775-5F76-984582E4971B}"/>
              </a:ext>
            </a:extLst>
          </p:cNvPr>
          <p:cNvSpPr>
            <a:spLocks noGrp="1"/>
          </p:cNvSpPr>
          <p:nvPr>
            <p:ph type="sldNum" sz="quarter" idx="5"/>
          </p:nvPr>
        </p:nvSpPr>
        <p:spPr/>
        <p:txBody>
          <a:bodyPr/>
          <a:lstStyle/>
          <a:p>
            <a:fld id="{4CF50783-AAED-1941-8BCC-9F6140F0A6B1}" type="slidenum">
              <a:rPr lang="fr-FR" smtClean="0"/>
              <a:pPr/>
              <a:t>76</a:t>
            </a:fld>
            <a:endParaRPr lang="fr-FR" dirty="0"/>
          </a:p>
        </p:txBody>
      </p:sp>
    </p:spTree>
    <p:extLst>
      <p:ext uri="{BB962C8B-B14F-4D97-AF65-F5344CB8AC3E}">
        <p14:creationId xmlns:p14="http://schemas.microsoft.com/office/powerpoint/2010/main" val="253335530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77</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1E712-9F40-F303-FFAE-0D06F01659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FACDE2-234C-2C0C-26AE-C3D5F5C575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40F7BB-665F-E370-748E-8E75C90BF4C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66CFB08-D1CE-C09F-336F-FE19181A648A}"/>
              </a:ext>
            </a:extLst>
          </p:cNvPr>
          <p:cNvSpPr>
            <a:spLocks noGrp="1"/>
          </p:cNvSpPr>
          <p:nvPr>
            <p:ph type="sldNum" sz="quarter" idx="5"/>
          </p:nvPr>
        </p:nvSpPr>
        <p:spPr/>
        <p:txBody>
          <a:bodyPr/>
          <a:lstStyle/>
          <a:p>
            <a:fld id="{4CF50783-AAED-1941-8BCC-9F6140F0A6B1}" type="slidenum">
              <a:rPr lang="fr-FR" smtClean="0"/>
              <a:pPr/>
              <a:t>78</a:t>
            </a:fld>
            <a:endParaRPr lang="fr-FR" dirty="0"/>
          </a:p>
        </p:txBody>
      </p:sp>
    </p:spTree>
    <p:extLst>
      <p:ext uri="{BB962C8B-B14F-4D97-AF65-F5344CB8AC3E}">
        <p14:creationId xmlns:p14="http://schemas.microsoft.com/office/powerpoint/2010/main" val="100187342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79</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10.xml"/><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4.xml"/><Relationship Id="rId1" Type="http://schemas.openxmlformats.org/officeDocument/2006/relationships/slideLayout" Target="../slideLayouts/slideLayout10.xml"/><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8.xml"/><Relationship Id="rId1" Type="http://schemas.openxmlformats.org/officeDocument/2006/relationships/slideLayout" Target="../slideLayouts/slideLayout5.xml"/><Relationship Id="rId4" Type="http://schemas.openxmlformats.org/officeDocument/2006/relationships/image" Target="../media/image63.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0.xml"/><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2.xml"/><Relationship Id="rId1" Type="http://schemas.openxmlformats.org/officeDocument/2006/relationships/slideLayout" Target="../slideLayouts/slideLayout5.xml"/><Relationship Id="rId5" Type="http://schemas.openxmlformats.org/officeDocument/2006/relationships/image" Target="../media/image68.png"/><Relationship Id="rId4" Type="http://schemas.openxmlformats.org/officeDocument/2006/relationships/image" Target="../media/image67.png"/></Relationships>
</file>

<file path=ppt/slides/_rels/slide6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6.xml"/><Relationship Id="rId1" Type="http://schemas.openxmlformats.org/officeDocument/2006/relationships/slideLayout" Target="../slideLayouts/slideLayout10.xml"/><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0.xml"/><Relationship Id="rId1" Type="http://schemas.openxmlformats.org/officeDocument/2006/relationships/slideLayout" Target="../slideLayouts/slideLayout10.xml"/><Relationship Id="rId4" Type="http://schemas.openxmlformats.org/officeDocument/2006/relationships/image" Target="../media/image77.png"/></Relationships>
</file>

<file path=ppt/slides/_rels/slide7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74.xml"/><Relationship Id="rId1" Type="http://schemas.openxmlformats.org/officeDocument/2006/relationships/slideLayout" Target="../slideLayouts/slideLayout10.xml"/><Relationship Id="rId4" Type="http://schemas.openxmlformats.org/officeDocument/2006/relationships/image" Target="../media/image82.png"/></Relationships>
</file>

<file path=ppt/slides/_rels/slide75.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5.xml"/><Relationship Id="rId1" Type="http://schemas.openxmlformats.org/officeDocument/2006/relationships/slideLayout" Target="../slideLayouts/slideLayout10.xml"/><Relationship Id="rId4" Type="http://schemas.openxmlformats.org/officeDocument/2006/relationships/image" Target="../media/image84.pn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6.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dirty="0"/>
              <a:t>	Scalable Methods</a:t>
            </a:r>
            <a:br>
              <a:rPr lang="fr-FR" dirty="0"/>
            </a:br>
            <a:r>
              <a:rPr lang="fr-FR" dirty="0"/>
              <a:t>	for </a:t>
            </a:r>
            <a:r>
              <a:rPr lang="fr-FR" dirty="0" err="1"/>
              <a:t>Knowledge</a:t>
            </a:r>
            <a:r>
              <a:rPr lang="fr-FR" dirty="0"/>
              <a:t> Graph </a:t>
            </a:r>
            <a:r>
              <a:rPr lang="fr-FR" dirty="0" err="1"/>
              <a:t>Reasoning</a:t>
            </a:r>
            <a:br>
              <a:rPr lang="fr-FR" dirty="0"/>
            </a:br>
            <a:r>
              <a:rPr lang="fr-FR" dirty="0"/>
              <a:t>	and </a:t>
            </a:r>
            <a:r>
              <a:rPr lang="fr-FR" dirty="0" err="1"/>
              <a:t>Generation</a:t>
            </a:r>
            <a:endParaRPr lang="fr-FR"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chor="ct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chor="ct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chor="ct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p>
            </p:txBody>
          </p:sp>
        </mc:Choice>
        <mc:Fallback>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chor="ct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chor="ct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a:t>
            </a: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Problem &amp; Challenges - 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chor="ctr">
                <a:normAutofit/>
              </a:bodyPr>
              <a:lstStyle/>
              <a:p>
                <a:r>
                  <a:rPr lang="en-US" dirty="0">
                    <a:latin typeface="+mj-lt"/>
                  </a:rPr>
                  <a:t>Split the knowledge graph into disjoint subsets, then distribute over a cluster</a:t>
                </a:r>
              </a:p>
              <a:p>
                <a:r>
                  <a:rPr lang="en-US" dirty="0">
                    <a:latin typeface="+mj-lt"/>
                  </a:rPr>
                  <a:t>Cache intermediate results that are reused across multiple evaluation samples</a:t>
                </a:r>
              </a:p>
              <a:p>
                <a:r>
                  <a:rPr lang="en-US" dirty="0">
                    <a:latin typeface="+mj-lt"/>
                  </a:rPr>
                  <a:t>Faster algorithms for sampling training data</a:t>
                </a:r>
              </a:p>
              <a:p>
                <a:r>
                  <a:rPr lang="en-US" dirty="0">
                    <a:latin typeface="+mj-lt"/>
                  </a:rPr>
                  <a:t>Reduce memory complexity and the cost of slower run-time</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a:p>
                <a:pPr lvl="1"/>
                <a:endParaRPr lang="en-GB" dirty="0">
                  <a:latin typeface="+mj-lt"/>
                </a:endParaRPr>
              </a:p>
            </p:txBody>
          </p:sp>
        </mc:Choice>
        <mc:Fallback>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Community-Informed Graph Embeddings</a:t>
            </a:r>
            <a:br>
              <a:rPr lang="en-US" dirty="0"/>
            </a:br>
            <a:r>
              <a:rPr lang="en-US" sz="2400" b="0" i="1" dirty="0"/>
              <a:t>Problem &amp; Challenges - 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Background - 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chor="ct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p:txBody>
          </p:sp>
        </mc:Choice>
        <mc:Fallback>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chor="ct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p:txBody>
          </p:sp>
        </mc:Choice>
        <mc:Fallback>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b="-1153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chor="ct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a:t>
                </a: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dirty="0">
                  <a:latin typeface="+mj-lt"/>
                </a:endParaRPr>
              </a:p>
            </p:txBody>
          </p:sp>
        </mc:Choice>
        <mc:Fallback>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162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chor="ct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p:txBody>
          </p:sp>
        </mc:Choice>
        <mc:Fallback>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54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mc:Choice xmlns:a14="http://schemas.microsoft.com/office/drawing/2010/main"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nchor="ct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p:txBody>
          </p:sp>
        </mc:Choice>
        <mc:Fallback>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nchor="ct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Methodology - 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chor="ct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a:t>
            </a:r>
          </a:p>
          <a:p>
            <a:pPr lvl="1"/>
            <a:r>
              <a:rPr lang="en-US" dirty="0">
                <a:latin typeface="+mj-lt"/>
              </a:rPr>
              <a:t>Query2Box</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a:xfrm>
            <a:off x="904875" y="131032"/>
            <a:ext cx="4506119" cy="1072753"/>
          </a:xfrm>
        </p:spPr>
        <p:txBody>
          <a:bodyPr>
            <a:normAutofit fontScale="90000"/>
          </a:bodyPr>
          <a:lstStyle/>
          <a:p>
            <a:r>
              <a:rPr lang="en-US" dirty="0"/>
              <a:t>3.1	Community-Informed Graph Embeddings</a:t>
            </a:r>
            <a:br>
              <a:rPr lang="en-US" dirty="0"/>
            </a:br>
            <a:r>
              <a:rPr lang="en-US" sz="2400" b="0" i="1" dirty="0"/>
              <a:t>Methodology - 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Summary</a:t>
            </a:r>
            <a:r>
              <a:rPr lang="en-US" sz="2400" dirty="0"/>
              <a:t> </a:t>
            </a: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nchor="ct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*Distributed extension - 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chor="ct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*Distributed extension - 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chor="ct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p:txBody>
          </p:sp>
        </mc:Choice>
        <mc:Fallback>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541" b="-360"/>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chor="ct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chor="ctr">
            <a:normAutofit/>
          </a:bodyPr>
          <a:lstStyle/>
          <a:p>
            <a:r>
              <a:rPr lang="en-US" dirty="0">
                <a:latin typeface="+mj-lt"/>
              </a:rPr>
              <a:t>History of COINs</a:t>
            </a:r>
          </a:p>
          <a:p>
            <a:pPr lvl="1"/>
            <a:r>
              <a:rPr lang="en-US" dirty="0">
                <a:latin typeface="+mj-lt"/>
              </a:rPr>
              <a:t>First version successful on Monty samples</a:t>
            </a:r>
          </a:p>
          <a:p>
            <a:pPr lvl="1"/>
            <a:r>
              <a:rPr lang="en-US" dirty="0">
                <a:latin typeface="+mj-lt"/>
              </a:rPr>
              <a:t>Weak generalization to public data</a:t>
            </a: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chor="ct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nchor="ct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1926858"/>
          </a:xfrm>
        </p:spPr>
        <p:txBody>
          <a:bodyPr anchor="ctr">
            <a:normAutofit fontScale="70000" lnSpcReduction="20000"/>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6" dur="500"/>
                                        <p:tgtEl>
                                          <p:spTgt spid="9">
                                            <p:txEl>
                                              <p:pRg st="8" end="8"/>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1"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
        <p:nvSpPr>
          <p:cNvPr id="4" name="Content Placeholder 3">
            <a:extLst>
              <a:ext uri="{FF2B5EF4-FFF2-40B4-BE49-F238E27FC236}">
                <a16:creationId xmlns:a16="http://schemas.microsoft.com/office/drawing/2014/main" id="{0660FC9E-7CBB-2586-73BD-7BC541FD342A}"/>
              </a:ext>
            </a:extLst>
          </p:cNvPr>
          <p:cNvSpPr>
            <a:spLocks noGrp="1"/>
          </p:cNvSpPr>
          <p:nvPr>
            <p:ph idx="1"/>
          </p:nvPr>
        </p:nvSpPr>
        <p:spPr>
          <a:xfrm>
            <a:off x="904875" y="4065626"/>
            <a:ext cx="7726363" cy="884833"/>
          </a:xfrm>
        </p:spPr>
        <p:txBody>
          <a:bodyPr anchor="ctr">
            <a:normAutofit/>
          </a:bodyPr>
          <a:lstStyle/>
          <a:p>
            <a:r>
              <a:rPr lang="en-US" dirty="0">
                <a:latin typeface="+mj-lt"/>
              </a:rPr>
              <a:t>x728.7 evaluation acceleration, x228.36 less training memory</a:t>
            </a:r>
          </a:p>
          <a:p>
            <a:r>
              <a:rPr lang="en-GB" dirty="0">
                <a:latin typeface="+mj-lt"/>
              </a:rPr>
              <a:t>Experiments fitting in 64GB RAM, 16GB VRAM</a:t>
            </a:r>
          </a:p>
        </p:txBody>
      </p:sp>
      <p:pic>
        <p:nvPicPr>
          <p:cNvPr id="9"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ChangeAspect="1"/>
          </p:cNvPicPr>
          <p:nvPr/>
        </p:nvPicPr>
        <p:blipFill>
          <a:blip r:embed="rId3"/>
          <a:stretch>
            <a:fillRect/>
          </a:stretch>
        </p:blipFill>
        <p:spPr>
          <a:xfrm>
            <a:off x="904874" y="1351493"/>
            <a:ext cx="7726363" cy="2566425"/>
          </a:xfrm>
          <a:prstGeom prst="rect">
            <a:avLst/>
          </a:prstGeom>
        </p:spPr>
      </p:pic>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randombar(horizontal)">
                                      <p:cBhvr>
                                        <p:cTn id="12" dur="500"/>
                                        <p:tgtEl>
                                          <p:spTgt spid="4">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5" dur="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chor="ct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726363" cy="1072753"/>
          </a:xfrm>
        </p:spPr>
        <p:txBody>
          <a:bodyPr>
            <a:normAutofit fontScale="90000"/>
          </a:bodyPr>
          <a:lstStyle/>
          <a:p>
            <a:r>
              <a:rPr lang="en-US" sz="3600" dirty="0"/>
              <a:t>4.1	Geometric Graph Generation with CRPs</a:t>
            </a:r>
            <a:br>
              <a:rPr lang="en-US" sz="3600" dirty="0"/>
            </a:br>
            <a:r>
              <a:rPr lang="en-US" sz="2700" b="0" i="1" dirty="0"/>
              <a:t>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chor="ctr">
                <a:normAutofit fontScale="92500"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𝑿</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oMath>
                  </m:oMathPara>
                </a14:m>
                <a:endParaRPr lang="en-US" b="0" dirty="0">
                  <a:latin typeface="+mj-lt"/>
                </a:endParaRPr>
              </a:p>
              <a:p>
                <a:r>
                  <a:rPr lang="en-US" dirty="0">
                    <a:latin typeface="+mj-lt"/>
                  </a:rPr>
                  <a:t>Wasserstein Generative Adversarial Networks (WGANs)</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p:txBody>
          </p:sp>
        </mc:Choice>
        <mc:Fallback>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Background - 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chor="ct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GG-GAN</a:t>
            </a:r>
            <a:endParaRPr lang="en-GB" sz="2400" b="0" i="1" dirty="0"/>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4194663" cy="3263504"/>
              </a:xfrm>
            </p:spPr>
            <p:txBody>
              <a:bodyPr anchor="ctr">
                <a:normAutofit fontScale="850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4194663" cy="3263504"/>
              </a:xfrm>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The Chinese Restaurant Process (CRP) </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chor="ct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Methodology - 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p:txBody>
          <a:bodyPr anchor="ct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a:t>
            </a:r>
          </a:p>
          <a:p>
            <a:r>
              <a:rPr lang="en-US" dirty="0">
                <a:latin typeface="+mj-lt"/>
              </a:rPr>
              <a:t>Weighted integer partition sampling</a:t>
            </a:r>
          </a:p>
          <a:p>
            <a:pPr lvl="1"/>
            <a:r>
              <a:rPr lang="en-US" dirty="0" err="1">
                <a:latin typeface="+mj-lt"/>
              </a:rPr>
              <a:t>Fristedt’s</a:t>
            </a:r>
            <a:r>
              <a:rPr lang="en-US" dirty="0">
                <a:latin typeface="+mj-lt"/>
              </a:rPr>
              <a:t> method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chor="ctr">
            <a:normAutofit/>
          </a:bodyPr>
          <a:lstStyle/>
          <a:p>
            <a:r>
              <a:rPr lang="en-US" dirty="0">
                <a:latin typeface="+mj-lt"/>
              </a:rPr>
              <a:t>Per-community latent features</a:t>
            </a:r>
          </a:p>
          <a:p>
            <a:r>
              <a:rPr lang="en-US" dirty="0">
                <a:latin typeface="+mj-lt"/>
              </a:rPr>
              <a:t>Autoregressive: edge readout conditioned on discriminator features of the previous graph state</a:t>
            </a:r>
          </a:p>
          <a:p>
            <a:r>
              <a:rPr lang="en-US" dirty="0">
                <a:latin typeface="+mj-lt"/>
              </a:rPr>
              <a:t>Scalable: per-community root, lower memory complexity</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7" dur="500"/>
                                        <p:tgtEl>
                                          <p:spTgt spid="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2" end="2"/>
                                            </p:txEl>
                                          </p:spTgt>
                                        </p:tgtEl>
                                        <p:attrNameLst>
                                          <p:attrName>style.visibility</p:attrName>
                                        </p:attrNameLst>
                                      </p:cBhvr>
                                      <p:to>
                                        <p:strVal val="visible"/>
                                      </p:to>
                                    </p:set>
                                    <p:animEffect transition="in" filter="randombar(horizontal)">
                                      <p:cBhvr>
                                        <p:cTn id="22" dur="500"/>
                                        <p:tgtEl>
                                          <p:spTgt spid="9">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chor="ctr">
                <a:normAutofit/>
              </a:bodyPr>
              <a:lstStyle/>
              <a:p>
                <a:r>
                  <a:rPr lang="en-US" dirty="0">
                    <a:latin typeface="+mj-lt"/>
                  </a:rPr>
                  <a:t>Graph GAN with permutation equivariant autoregressive sampling</a:t>
                </a:r>
              </a:p>
              <a:p>
                <a:r>
                  <a:rPr lang="en-US" dirty="0">
                    <a:latin typeface="+mj-lt"/>
                  </a:rPr>
                  <a:t>Retained isomorphism consistency and high novelty properties of GG-GAN</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normAutofit fontScale="90000"/>
          </a:bodyPr>
          <a:lstStyle/>
          <a:p>
            <a:r>
              <a:rPr lang="en-US" sz="3600" dirty="0"/>
              <a:t>4.1	Geometric Graph Generation with CRPs</a:t>
            </a:r>
            <a:br>
              <a:rPr lang="en-US" sz="3600" dirty="0"/>
            </a:br>
            <a:r>
              <a:rPr lang="en-US" sz="2700" b="0" i="1" dirty="0"/>
              <a:t>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B6DF-464C-6B3E-49B0-5C46DE1B03FC}"/>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CD8748C-9990-6B98-87B1-437F169E150F}"/>
              </a:ext>
            </a:extLst>
          </p:cNvPr>
          <p:cNvSpPr>
            <a:spLocks noGrp="1"/>
          </p:cNvSpPr>
          <p:nvPr>
            <p:ph idx="1"/>
          </p:nvPr>
        </p:nvSpPr>
        <p:spPr/>
        <p:txBody>
          <a:bodyPr anchor="ctr">
            <a:normAutofit/>
          </a:bodyPr>
          <a:lstStyle/>
          <a:p>
            <a:r>
              <a:rPr lang="en-US" dirty="0">
                <a:latin typeface="+mj-lt"/>
              </a:rPr>
              <a:t>Real-world graph datasets beyond small molecules</a:t>
            </a:r>
          </a:p>
          <a:p>
            <a:pPr lvl="1"/>
            <a:r>
              <a:rPr lang="en-US" dirty="0">
                <a:latin typeface="+mj-lt"/>
              </a:rPr>
              <a:t>Social ego-networks, financial transactions, road infrastructure, electronic circuits…</a:t>
            </a:r>
          </a:p>
          <a:p>
            <a:pPr lvl="1"/>
            <a:r>
              <a:rPr lang="en-US" dirty="0">
                <a:latin typeface="+mj-lt"/>
              </a:rPr>
              <a:t>Scalability issues with performance and complexity</a:t>
            </a:r>
          </a:p>
          <a:p>
            <a:pPr lvl="1"/>
            <a:r>
              <a:rPr lang="en-US" dirty="0">
                <a:latin typeface="+mj-lt"/>
              </a:rPr>
              <a:t>Multi-level heterogeneity, local density vs. global sparsity</a:t>
            </a:r>
          </a:p>
          <a:p>
            <a:r>
              <a:rPr lang="en-US" dirty="0">
                <a:latin typeface="+mj-lt"/>
              </a:rPr>
              <a:t>Hierarchical, multi-resolution graph structure modeling and generation</a:t>
            </a:r>
          </a:p>
          <a:p>
            <a:pPr lvl="1"/>
            <a:r>
              <a:rPr lang="en-US" dirty="0">
                <a:latin typeface="+mj-lt"/>
              </a:rPr>
              <a:t>Fractal model consistency as an inductive bias</a:t>
            </a:r>
          </a:p>
          <a:p>
            <a:pPr lvl="1"/>
            <a:r>
              <a:rPr lang="en-US" dirty="0">
                <a:latin typeface="+mj-lt"/>
              </a:rPr>
              <a:t>Coarser representations followed by finer structure generation pre-conditioned on them</a:t>
            </a:r>
          </a:p>
          <a:p>
            <a:pPr lvl="1"/>
            <a:r>
              <a:rPr lang="en-US" dirty="0">
                <a:latin typeface="+mj-lt"/>
              </a:rPr>
              <a:t>Only </a:t>
            </a:r>
            <a:r>
              <a:rPr lang="en-US" i="1" dirty="0">
                <a:latin typeface="+mj-lt"/>
              </a:rPr>
              <a:t>diffusion</a:t>
            </a:r>
            <a:r>
              <a:rPr lang="en-US" dirty="0">
                <a:latin typeface="+mj-lt"/>
              </a:rPr>
              <a:t> </a:t>
            </a:r>
            <a:r>
              <a:rPr lang="en-US" i="1" dirty="0">
                <a:latin typeface="+mj-lt"/>
              </a:rPr>
              <a:t>models</a:t>
            </a:r>
            <a:r>
              <a:rPr lang="en-US" dirty="0">
                <a:latin typeface="+mj-lt"/>
              </a:rPr>
              <a:t> conjectured to have the sufficient representation power</a:t>
            </a:r>
          </a:p>
          <a:p>
            <a:r>
              <a:rPr lang="en-US" dirty="0" err="1">
                <a:latin typeface="+mj-lt"/>
              </a:rPr>
              <a:t>HiGenDiff</a:t>
            </a:r>
            <a:r>
              <a:rPr lang="en-US" dirty="0">
                <a:latin typeface="+mj-lt"/>
              </a:rPr>
              <a:t> (Hierarchical Generative Diffusion)</a:t>
            </a:r>
          </a:p>
          <a:p>
            <a:pPr lvl="1"/>
            <a:r>
              <a:rPr lang="en-US" dirty="0">
                <a:latin typeface="+mj-lt"/>
              </a:rPr>
              <a:t>Extends work of Karami &amp; Krawczuk et al. with new model designs, theoretical analyses and improve experimental results</a:t>
            </a:r>
          </a:p>
        </p:txBody>
      </p:sp>
      <p:sp>
        <p:nvSpPr>
          <p:cNvPr id="8" name="Title 7">
            <a:extLst>
              <a:ext uri="{FF2B5EF4-FFF2-40B4-BE49-F238E27FC236}">
                <a16:creationId xmlns:a16="http://schemas.microsoft.com/office/drawing/2014/main" id="{5846C48E-04F7-A7FB-D832-BEAD444AC327}"/>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273C1C92-0076-F15E-7A9E-01B4D56D792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7213F4E-7CC9-D377-175C-C3493C6E47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3B8AE51-61F8-EA08-053C-D7810CBF4F79}"/>
              </a:ext>
            </a:extLst>
          </p:cNvPr>
          <p:cNvSpPr>
            <a:spLocks noGrp="1"/>
          </p:cNvSpPr>
          <p:nvPr>
            <p:ph type="sldNum" sz="quarter" idx="12"/>
          </p:nvPr>
        </p:nvSpPr>
        <p:spPr/>
        <p:txBody>
          <a:bodyPr/>
          <a:lstStyle/>
          <a:p>
            <a:fld id="{E1E1CD7C-2161-7D43-862E-CE4C333CD873}" type="slidenum">
              <a:rPr lang="fr-FR" smtClean="0"/>
              <a:pPr/>
              <a:t>45</a:t>
            </a:fld>
            <a:endParaRPr lang="fr-FR" dirty="0"/>
          </a:p>
        </p:txBody>
      </p:sp>
    </p:spTree>
    <p:extLst>
      <p:ext uri="{BB962C8B-B14F-4D97-AF65-F5344CB8AC3E}">
        <p14:creationId xmlns:p14="http://schemas.microsoft.com/office/powerpoint/2010/main" val="40897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484E4-1A13-9DE5-D8A7-FB87F2AE63B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DBBB71AA-A60E-AE64-D20E-62E60C50023E}"/>
                  </a:ext>
                </a:extLst>
              </p:cNvPr>
              <p:cNvSpPr>
                <a:spLocks noGrp="1"/>
              </p:cNvSpPr>
              <p:nvPr>
                <p:ph idx="1"/>
              </p:nvPr>
            </p:nvSpPr>
            <p:spPr/>
            <p:txBody>
              <a:bodyPr anchor="ctr">
                <a:normAutofit/>
              </a:bodyPr>
              <a:lstStyle/>
              <a:p>
                <a:r>
                  <a:rPr lang="en-US" dirty="0">
                    <a:latin typeface="+mj-lt"/>
                  </a:rPr>
                  <a:t>Assume a finite </a:t>
                </a:r>
                <a14:m>
                  <m:oMath xmlns:m="http://schemas.openxmlformats.org/officeDocument/2006/math">
                    <m:r>
                      <a:rPr lang="en-US" b="0" i="1" smtClean="0">
                        <a:latin typeface="Cambria Math" panose="02040503050406030204" pitchFamily="18" charset="0"/>
                      </a:rPr>
                      <m:t>𝑇</m:t>
                    </m:r>
                  </m:oMath>
                </a14:m>
                <a:r>
                  <a:rPr lang="en-US" dirty="0">
                    <a:latin typeface="+mj-lt"/>
                  </a:rPr>
                  <a:t>-step Markov chain between any latent noise and true distributions</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 </m:t>
                      </m:r>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b="0" i="1">
                              <a:latin typeface="Cambria Math" panose="02040503050406030204" pitchFamily="18" charset="0"/>
                            </a:rPr>
                            <m:t>0</m:t>
                          </m:r>
                        </m:sub>
                      </m:sSub>
                      <m:r>
                        <a:rPr lang="en-US" i="1">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𝑍</m:t>
                      </m:r>
                    </m:oMath>
                  </m:oMathPara>
                </a14:m>
                <a:endParaRPr lang="en-US" dirty="0">
                  <a:latin typeface="+mj-lt"/>
                </a:endParaRPr>
              </a:p>
              <a:p>
                <a:r>
                  <a:rPr lang="en-US" dirty="0">
                    <a:latin typeface="+mj-lt"/>
                  </a:rPr>
                  <a:t>Likelihood estimation with Markov property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ℙ</m:t>
                      </m:r>
                      <m:d>
                        <m:dPr>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e>
                      </m:d>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i="1">
                              <a:latin typeface="Cambria Math" panose="02040503050406030204" pitchFamily="18" charset="0"/>
                            </a:rPr>
                            <m:t>ℙ</m:t>
                          </m:r>
                          <m:d>
                            <m:dPr>
                              <m:sep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nary>
                    </m:oMath>
                  </m:oMathPara>
                </a14:m>
                <a:endParaRPr lang="en-US" dirty="0">
                  <a:latin typeface="+mj-lt"/>
                </a:endParaRPr>
              </a:p>
              <a:p>
                <a:r>
                  <a:rPr lang="en-US" dirty="0">
                    <a:latin typeface="+mj-lt"/>
                  </a:rPr>
                  <a:t>Sampling through step-by-step denoising with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𝑔</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oMath>
                </a14:m>
                <a:endParaRPr lang="en-US" i="1" dirty="0">
                  <a:latin typeface="+mj-lt"/>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r>
                                    <a:rPr lang="en-US" i="1">
                                      <a:latin typeface="Cambria Math" panose="02040503050406030204" pitchFamily="18" charset="0"/>
                                    </a:rPr>
                                    <m:t>𝑔</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func>
                        </m:e>
                      </m:d>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b="1" i="1">
                                  <a:latin typeface="Cambria Math" panose="02040503050406030204" pitchFamily="18" charset="0"/>
                                </a:rPr>
                                <m:t>𝑿</m:t>
                              </m:r>
                            </m:e>
                          </m:acc>
                        </m:e>
                        <m:sub>
                          <m:r>
                            <a:rPr lang="en-US" b="0" i="1" smtClean="0">
                              <a:latin typeface="Cambria Math" panose="02040503050406030204" pitchFamily="18" charset="0"/>
                            </a:rPr>
                            <m:t>0</m:t>
                          </m:r>
                        </m:sub>
                      </m:sSub>
                      <m:r>
                        <a:rPr lang="en-US"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e>
                      </m:d>
                      <m:d>
                        <m:dPr>
                          <m:ctrlPr>
                            <a:rPr lang="en-US" i="1">
                              <a:latin typeface="Cambria Math" panose="02040503050406030204" pitchFamily="18" charset="0"/>
                            </a:rPr>
                          </m:ctrlPr>
                        </m:dPr>
                        <m:e>
                          <m:r>
                            <a:rPr lang="en-US" i="1" smtClean="0">
                              <a:latin typeface="Cambria Math" panose="02040503050406030204" pitchFamily="18" charset="0"/>
                            </a:rPr>
                            <m:t>𝑍</m:t>
                          </m:r>
                        </m:e>
                      </m:d>
                    </m:oMath>
                  </m:oMathPara>
                </a14:m>
                <a:endParaRPr lang="en-US" sz="2000" i="1" dirty="0"/>
              </a:p>
            </p:txBody>
          </p:sp>
        </mc:Choice>
        <mc:Fallback>
          <p:sp>
            <p:nvSpPr>
              <p:cNvPr id="9" name="Content Placeholder 8">
                <a:extLst>
                  <a:ext uri="{FF2B5EF4-FFF2-40B4-BE49-F238E27FC236}">
                    <a16:creationId xmlns:a16="http://schemas.microsoft.com/office/drawing/2014/main" id="{DBBB71AA-A60E-AE64-D20E-62E60C50023E}"/>
                  </a:ext>
                </a:extLst>
              </p:cNvPr>
              <p:cNvSpPr>
                <a:spLocks noGrp="1" noRot="1" noChangeAspect="1" noMove="1" noResize="1" noEditPoints="1" noAdjustHandles="1" noChangeArrowheads="1" noChangeShapeType="1" noTextEdit="1"/>
              </p:cNvSpPr>
              <p:nvPr>
                <p:ph idx="1"/>
              </p:nvPr>
            </p:nvSpPr>
            <p:spPr>
              <a:blipFill>
                <a:blip r:embed="rId3"/>
                <a:stretch>
                  <a:fillRect r="-63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A69C782-92EB-5E89-2A51-3AB081937BAF}"/>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Diffusion models</a:t>
            </a:r>
            <a:endParaRPr lang="en-GB" sz="2400" b="0" i="1" dirty="0"/>
          </a:p>
        </p:txBody>
      </p:sp>
      <p:sp>
        <p:nvSpPr>
          <p:cNvPr id="5" name="Date Placeholder 4">
            <a:extLst>
              <a:ext uri="{FF2B5EF4-FFF2-40B4-BE49-F238E27FC236}">
                <a16:creationId xmlns:a16="http://schemas.microsoft.com/office/drawing/2014/main" id="{15E1C889-469C-B264-06B0-8693FEC37DB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F567718-F929-DF3A-1110-4CE7CAE67F0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3035225-1D76-1DC6-C782-09E016470CD9}"/>
              </a:ext>
            </a:extLst>
          </p:cNvPr>
          <p:cNvSpPr>
            <a:spLocks noGrp="1"/>
          </p:cNvSpPr>
          <p:nvPr>
            <p:ph type="sldNum" sz="quarter" idx="12"/>
          </p:nvPr>
        </p:nvSpPr>
        <p:spPr/>
        <p:txBody>
          <a:bodyPr/>
          <a:lstStyle/>
          <a:p>
            <a:fld id="{E1E1CD7C-2161-7D43-862E-CE4C333CD873}" type="slidenum">
              <a:rPr lang="fr-FR" smtClean="0"/>
              <a:pPr/>
              <a:t>46</a:t>
            </a:fld>
            <a:endParaRPr lang="fr-FR" dirty="0"/>
          </a:p>
        </p:txBody>
      </p:sp>
    </p:spTree>
    <p:extLst>
      <p:ext uri="{BB962C8B-B14F-4D97-AF65-F5344CB8AC3E}">
        <p14:creationId xmlns:p14="http://schemas.microsoft.com/office/powerpoint/2010/main" val="4187541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ACBF1-9F7A-2100-3644-473469A432C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B1F3BFED-D217-145E-658B-9BF5994151A7}"/>
                  </a:ext>
                </a:extLst>
              </p:cNvPr>
              <p:cNvSpPr>
                <a:spLocks noGrp="1"/>
              </p:cNvSpPr>
              <p:nvPr>
                <p:ph idx="1"/>
              </p:nvPr>
            </p:nvSpPr>
            <p:spPr/>
            <p:txBody>
              <a:bodyPr anchor="ctr">
                <a:normAutofit fontScale="62500" lnSpcReduction="20000"/>
              </a:bodyPr>
              <a:lstStyle/>
              <a:p>
                <a:r>
                  <a:rPr lang="en-US" sz="2100" dirty="0">
                    <a:latin typeface="+mj-lt"/>
                  </a:rPr>
                  <a:t>Discrete diffusion process of </a:t>
                </a:r>
                <a:r>
                  <a:rPr lang="en-US" sz="2100" dirty="0" err="1">
                    <a:latin typeface="+mj-lt"/>
                  </a:rPr>
                  <a:t>DiGress</a:t>
                </a:r>
                <a:endParaRPr lang="en-US" sz="2100" dirty="0">
                  <a:latin typeface="+mj-lt"/>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Categorical</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OneHot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0</m:t>
                                  </m:r>
                                </m:sub>
                              </m:sSub>
                            </m:e>
                          </m:d>
                        </m:e>
                      </m:d>
                    </m:oMath>
                  </m:oMathPara>
                </a14:m>
                <a:endParaRPr lang="en-US"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acc>
                        <m:accPr>
                          <m:chr m:val="̂"/>
                          <m:ctrlPr>
                            <a:rPr lang="en-US" i="1">
                              <a:latin typeface="Cambria Math" panose="02040503050406030204" pitchFamily="18" charset="0"/>
                            </a:rPr>
                          </m:ctrlPr>
                        </m:accPr>
                        <m:e>
                          <m:r>
                            <a:rPr lang="en-US" i="1">
                              <a:latin typeface="Cambria Math" panose="02040503050406030204" pitchFamily="18" charset="0"/>
                            </a:rPr>
                            <m:t>𝑄</m:t>
                          </m:r>
                        </m:e>
                      </m:acc>
                    </m:oMath>
                  </m:oMathPara>
                </a14:m>
                <a:endParaRPr lang="en-US" dirty="0">
                  <a:latin typeface="+mj-lt"/>
                </a:endParaRPr>
              </a:p>
              <a:p>
                <a:r>
                  <a:rPr lang="en-US" sz="2100" dirty="0">
                    <a:latin typeface="+mj-lt"/>
                  </a:rPr>
                  <a:t>Iterative data coarsening with multi-level Louvain</a:t>
                </a:r>
              </a:p>
              <a:p>
                <a:pPr lvl="1"/>
                <a14:m>
                  <m:oMath xmlns:m="http://schemas.openxmlformats.org/officeDocument/2006/math">
                    <m:r>
                      <a:rPr lang="en-US" sz="1800" b="0" i="1" smtClean="0">
                        <a:latin typeface="Cambria Math" panose="02040503050406030204" pitchFamily="18" charset="0"/>
                      </a:rPr>
                      <m:t>𝐺</m:t>
                    </m:r>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d>
                          <m:dPr>
                            <m:begChr m:val="["/>
                            <m:endChr m:val="]"/>
                            <m:ctrlPr>
                              <a:rPr lang="en-US" sz="1800" i="1">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𝐺</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e>
                        </m:d>
                      </m:e>
                      <m:sub>
                        <m:r>
                          <a:rPr lang="en-US" sz="1800" i="1">
                            <a:latin typeface="Cambria Math" panose="02040503050406030204" pitchFamily="18" charset="0"/>
                          </a:rPr>
                          <m:t>𝑙</m:t>
                        </m:r>
                        <m:r>
                          <a:rPr lang="en-US" sz="1800" i="1">
                            <a:latin typeface="Cambria Math" panose="02040503050406030204" pitchFamily="18" charset="0"/>
                          </a:rPr>
                          <m:t>=1</m:t>
                        </m:r>
                      </m:sub>
                      <m:sup>
                        <m:r>
                          <a:rPr lang="en-US" sz="1800" i="1">
                            <a:latin typeface="Cambria Math" panose="02040503050406030204" pitchFamily="18" charset="0"/>
                          </a:rPr>
                          <m:t>𝐿</m:t>
                        </m:r>
                      </m:sup>
                    </m:sSubSup>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1" i="1" smtClean="0">
                                        <a:latin typeface="Cambria Math" panose="02040503050406030204" pitchFamily="18" charset="0"/>
                                      </a:rPr>
                                      <m:t>𝑿</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𝐴</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p>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sup>
                    </m:sSubSup>
                  </m:oMath>
                </a14:m>
                <a:r>
                  <a:rPr lang="en-US" sz="1800" dirty="0"/>
                  <a:t> </a:t>
                </a:r>
                <a14:m>
                  <m:oMath xmlns:m="http://schemas.openxmlformats.org/officeDocument/2006/math">
                    <m:r>
                      <a:rPr lang="en-US" sz="1800" i="1" smtClean="0">
                        <a:latin typeface="Cambria Math" panose="02040503050406030204" pitchFamily="18" charset="0"/>
                      </a:rPr>
                      <m:t>∈</m:t>
                    </m:r>
                    <m:r>
                      <a:rPr lang="en-US" sz="1800" i="1" smtClean="0">
                        <a:latin typeface="Cambria Math" panose="02040503050406030204" pitchFamily="18" charset="0"/>
                      </a:rPr>
                      <m:t>𝒟</m:t>
                    </m:r>
                  </m:oMath>
                </a14:m>
                <a:endParaRPr lang="en-US" sz="1800" dirty="0">
                  <a:latin typeface="+mj-lt"/>
                </a:endParaRPr>
              </a:p>
              <a:p>
                <a:pPr lvl="1"/>
                <a:r>
                  <a:rPr lang="en-US" sz="1800" dirty="0">
                    <a:latin typeface="+mj-lt"/>
                  </a:rPr>
                  <a:t>Root graph, per-level communities and </a:t>
                </a:r>
                <a:r>
                  <a:rPr lang="en-US" sz="1800" dirty="0" err="1">
                    <a:latin typeface="+mj-lt"/>
                  </a:rPr>
                  <a:t>bipartites</a:t>
                </a:r>
                <a:r>
                  <a:rPr lang="en-US" sz="1800" dirty="0">
                    <a:latin typeface="+mj-lt"/>
                  </a:rPr>
                  <a:t> </a:t>
                </a:r>
                <a:endParaRPr lang="en-US" sz="180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𝐺</m:t>
                      </m:r>
                      <m:r>
                        <a:rPr lang="en-US" sz="1800" i="1" smtClean="0">
                          <a:latin typeface="Cambria Math" panose="02040503050406030204" pitchFamily="18" charset="0"/>
                        </a:rPr>
                        <m:t>=</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r>
                                        <m:rPr>
                                          <m:lit/>
                                        </m:rP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𝐶</m:t>
                                          </m:r>
                                        </m:e>
                                        <m:sub>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bSup>
                                      <m:sSubSup>
                                        <m:sSubSupPr>
                                          <m:ctrlPr>
                                            <a:rPr lang="en-US" sz="1800" b="0" i="1" smtClean="0">
                                              <a:latin typeface="Cambria Math" panose="02040503050406030204" pitchFamily="18" charset="0"/>
                                            </a:rPr>
                                          </m:ctrlPr>
                                        </m:sSubSupPr>
                                        <m:e>
                                          <m:r>
                                            <m:rPr>
                                              <m:lit/>
                                            </m:rPr>
                                            <a:rPr lang="en-US" sz="1800" b="0" i="1" smtClean="0">
                                              <a:latin typeface="Cambria Math" panose="02040503050406030204" pitchFamily="18" charset="0"/>
                                            </a:rPr>
                                            <m:t>}</m:t>
                                          </m:r>
                                        </m:e>
                                        <m:sub>
                                          <m:r>
                                            <a:rPr lang="en-US" sz="1800" b="0" i="1" smtClean="0">
                                              <a:latin typeface="Cambria Math" panose="02040503050406030204" pitchFamily="18" charset="0"/>
                                            </a:rPr>
                                            <m:t>𝑘</m:t>
                                          </m:r>
                                          <m:r>
                                            <a:rPr lang="en-US" sz="1800" b="0" i="1" smtClean="0">
                                              <a:latin typeface="Cambria Math" panose="02040503050406030204" pitchFamily="18" charset="0"/>
                                            </a:rPr>
                                            <m:t>=1</m:t>
                                          </m:r>
                                        </m:sub>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r>
                                                    <a:rPr lang="en-US" sz="1800" b="0" i="1" smtClean="0">
                                                      <a:latin typeface="Cambria Math" panose="02040503050406030204" pitchFamily="18" charset="0"/>
                                                    </a:rPr>
                                                    <m:t>+1</m:t>
                                                  </m:r>
                                                </m:e>
                                              </m:d>
                                            </m:sup>
                                          </m:sSup>
                                        </m:sup>
                                      </m:sSubSup>
                                      <m:r>
                                        <a:rPr lang="en-US" sz="1800" b="0" i="1" smtClean="0">
                                          <a:latin typeface="Cambria Math" panose="02040503050406030204" pitchFamily="18" charset="0"/>
                                        </a:rPr>
                                        <m:t>,</m:t>
                                      </m:r>
                                      <m:r>
                                        <m:rPr>
                                          <m:lit/>
                                        </m:rP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b="0" i="1" smtClean="0">
                                              <a:latin typeface="Cambria Math" panose="02040503050406030204" pitchFamily="18" charset="0"/>
                                            </a:rPr>
                                            <m:t>𝐵</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bSup>
                                      <m:sSub>
                                        <m:sSubPr>
                                          <m:ctrlPr>
                                            <a:rPr lang="en-US" sz="1800" b="0" i="1" smtClean="0">
                                              <a:latin typeface="Cambria Math" panose="02040503050406030204" pitchFamily="18" charset="0"/>
                                            </a:rPr>
                                          </m:ctrlPr>
                                        </m:sSubPr>
                                        <m:e>
                                          <m:r>
                                            <m:rPr>
                                              <m:lit/>
                                            </m:rPr>
                                            <a:rPr lang="en-US" sz="1800" i="1">
                                              <a:latin typeface="Cambria Math" panose="02040503050406030204" pitchFamily="18" charset="0"/>
                                            </a:rPr>
                                            <m:t>}</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Sub>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r>
                                <a:rPr lang="en-US" sz="1800" b="0" i="1" smtClean="0">
                                  <a:latin typeface="Cambria Math" panose="02040503050406030204" pitchFamily="18" charset="0"/>
                                </a:rPr>
                                <m:t>−1</m:t>
                              </m:r>
                            </m:sup>
                          </m:sSubSup>
                        </m:e>
                      </m:d>
                    </m:oMath>
                  </m:oMathPara>
                </a14:m>
                <a:endParaRPr lang="en-US" sz="1800" dirty="0">
                  <a:latin typeface="+mj-lt"/>
                </a:endParaRPr>
              </a:p>
              <a:p>
                <a:pPr lvl="1"/>
                <a:r>
                  <a:rPr lang="en-US" sz="1800" dirty="0">
                    <a:latin typeface="+mj-lt"/>
                  </a:rPr>
                  <a:t>Graph coarsening between levels with </a:t>
                </a:r>
                <a14:m>
                  <m:oMath xmlns:m="http://schemas.openxmlformats.org/officeDocument/2006/math">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𝑀</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r>
                      <m:rPr>
                        <m:lit/>
                      </m:rPr>
                      <a:rPr lang="en-US" sz="1800" b="0" i="1" smtClean="0">
                        <a:latin typeface="Cambria Math" panose="02040503050406030204" pitchFamily="18" charset="0"/>
                      </a:rPr>
                      <m:t>{</m:t>
                    </m:r>
                    <m:r>
                      <a:rPr lang="en-US" sz="1800" b="0" i="1" smtClean="0">
                        <a:latin typeface="Cambria Math" panose="02040503050406030204" pitchFamily="18" charset="0"/>
                      </a:rPr>
                      <m:t>0,1</m:t>
                    </m:r>
                    <m:sSup>
                      <m:sSupPr>
                        <m:ctrlPr>
                          <a:rPr lang="en-US" sz="1800" b="0" i="1" smtClean="0">
                            <a:latin typeface="Cambria Math" panose="02040503050406030204" pitchFamily="18" charset="0"/>
                          </a:rPr>
                        </m:ctrlPr>
                      </m:sSupPr>
                      <m:e>
                        <m:r>
                          <m:rPr>
                            <m:lit/>
                          </m:rPr>
                          <a:rPr lang="en-US" sz="1800" b="0" i="1" smtClean="0">
                            <a:latin typeface="Cambria Math" panose="02040503050406030204" pitchFamily="18" charset="0"/>
                          </a:rPr>
                          <m:t>}</m:t>
                        </m:r>
                      </m:e>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b="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p>
                    </m:sSup>
                  </m:oMath>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1" i="1">
                              <a:latin typeface="Cambria Math" panose="02040503050406030204" pitchFamily="18" charset="0"/>
                            </a:rPr>
                            <m:t>𝟏</m:t>
                          </m:r>
                        </m:e>
                        <m:sub>
                          <m:sSup>
                            <m:sSupPr>
                              <m:ctrlPr>
                                <a:rPr lang="en-US" sz="180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b>
                      </m:sSub>
                      <m:r>
                        <a:rPr lang="en-US" sz="1800" b="0" i="1" smtClean="0">
                          <a:latin typeface="Cambria Math" panose="02040503050406030204" pitchFamily="18" charset="0"/>
                        </a:rPr>
                        <m:t>)</m:t>
                      </m:r>
                    </m:oMath>
                  </m:oMathPara>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i="1">
                                  <a:latin typeface="Cambria Math" panose="02040503050406030204" pitchFamily="18" charset="0"/>
                                </a:rPr>
                                <m:t>+1</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smtClean="0">
                              <a:latin typeface="Cambria Math" panose="02040503050406030204" pitchFamily="18" charset="0"/>
                            </a:rPr>
                          </m:ctrlPr>
                        </m:sSupPr>
                        <m:e>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e>
                        <m:sup>
                          <m:r>
                            <a:rPr lang="en-US" sz="1800" b="0" i="1" smtClean="0">
                              <a:latin typeface="Cambria Math" panose="02040503050406030204" pitchFamily="18" charset="0"/>
                            </a:rPr>
                            <m:t>𝑇</m:t>
                          </m:r>
                        </m:sup>
                      </m:sSup>
                    </m:oMath>
                  </m:oMathPara>
                </a14:m>
                <a:endParaRPr lang="en-US" sz="1800" b="0" dirty="0">
                  <a:latin typeface="+mj-lt"/>
                </a:endParaRPr>
              </a:p>
              <a:p>
                <a:r>
                  <a:rPr lang="en-US" sz="2100" dirty="0">
                    <a:latin typeface="+mj-lt"/>
                  </a:rPr>
                  <a:t>Bayes’ rule</a:t>
                </a:r>
              </a:p>
              <a:p>
                <a:pPr marL="0" indent="0">
                  <a:buNone/>
                </a:pPr>
                <a14:m>
                  <m:oMathPara xmlns:m="http://schemas.openxmlformats.org/officeDocument/2006/math">
                    <m:oMathParaPr>
                      <m:jc m:val="centerGroup"/>
                    </m:oMathParaPr>
                    <m:oMath xmlns:m="http://schemas.openxmlformats.org/officeDocument/2006/math">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𝐺</m:t>
                          </m:r>
                        </m:e>
                      </m:d>
                      <m:r>
                        <a:rPr lang="en-US" sz="2100" b="0" i="1" smtClean="0">
                          <a:latin typeface="Cambria Math" panose="02040503050406030204" pitchFamily="18" charset="0"/>
                        </a:rPr>
                        <m:t>=</m:t>
                      </m:r>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𝐿</m:t>
                                  </m:r>
                                </m:e>
                              </m:d>
                            </m:sup>
                          </m:sSup>
                        </m:e>
                      </m:d>
                      <m:nary>
                        <m:naryPr>
                          <m:chr m:val="∏"/>
                          <m:ctrlPr>
                            <a:rPr lang="en-US" sz="2100" b="0" i="1" smtClean="0">
                              <a:latin typeface="Cambria Math" panose="02040503050406030204" pitchFamily="18" charset="0"/>
                            </a:rPr>
                          </m:ctrlPr>
                        </m:naryPr>
                        <m:sub>
                          <m:r>
                            <a:rPr lang="en-US" sz="2100" b="0" i="1" smtClean="0">
                              <a:latin typeface="Cambria Math" panose="02040503050406030204" pitchFamily="18" charset="0"/>
                            </a:rPr>
                            <m:t>𝑙</m:t>
                          </m:r>
                          <m:r>
                            <a:rPr lang="en-US" sz="2100" b="0" i="1" smtClean="0">
                              <a:latin typeface="Cambria Math" panose="02040503050406030204" pitchFamily="18" charset="0"/>
                            </a:rPr>
                            <m:t>=1</m:t>
                          </m:r>
                        </m:sub>
                        <m:sup>
                          <m:r>
                            <a:rPr lang="en-US" sz="2100" b="0" i="1" smtClean="0">
                              <a:latin typeface="Cambria Math" panose="02040503050406030204" pitchFamily="18" charset="0"/>
                            </a:rPr>
                            <m:t>𝐿</m:t>
                          </m:r>
                          <m:r>
                            <a:rPr lang="en-US" sz="2100" b="0" i="1" smtClean="0">
                              <a:latin typeface="Cambria Math" panose="02040503050406030204" pitchFamily="18" charset="0"/>
                            </a:rPr>
                            <m:t>−1</m:t>
                          </m:r>
                        </m:sup>
                        <m:e>
                          <m:r>
                            <a:rPr lang="en-US" sz="2100" b="0" i="1" smtClean="0">
                              <a:latin typeface="Cambria Math" panose="02040503050406030204" pitchFamily="18" charset="0"/>
                            </a:rPr>
                            <m:t>ℙ</m:t>
                          </m:r>
                          <m:d>
                            <m:dPr>
                              <m:sepChr m:val="∣"/>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e>
                                  </m:d>
                                </m:sup>
                              </m:sSup>
                            </m:e>
                            <m:e>
                              <m:sSup>
                                <m:sSupPr>
                                  <m:ctrlPr>
                                    <a:rPr lang="en-US" sz="2100" b="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b="0" i="1" smtClean="0">
                                          <a:latin typeface="Cambria Math" panose="02040503050406030204" pitchFamily="18" charset="0"/>
                                        </a:rPr>
                                        <m:t>+1</m:t>
                                      </m:r>
                                    </m:e>
                                  </m:d>
                                </m:sup>
                              </m:sSup>
                            </m:e>
                          </m:d>
                        </m:e>
                      </m:nary>
                      <m:r>
                        <a:rPr lang="en-US" sz="2100" b="0" i="1" smtClean="0">
                          <a:latin typeface="Cambria Math" panose="02040503050406030204" pitchFamily="18" charset="0"/>
                        </a:rPr>
                        <m:t>=</m:t>
                      </m:r>
                      <m:r>
                        <a:rPr lang="en-US" sz="2100" i="1">
                          <a:latin typeface="Cambria Math" panose="02040503050406030204" pitchFamily="18" charset="0"/>
                        </a:rPr>
                        <m:t>ℙ</m:t>
                      </m:r>
                      <m:d>
                        <m:dPr>
                          <m:ctrlPr>
                            <a:rPr lang="en-US" sz="2100" i="1">
                              <a:latin typeface="Cambria Math" panose="02040503050406030204" pitchFamily="18" charset="0"/>
                            </a:rPr>
                          </m:ctrlPr>
                        </m:d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𝐺</m:t>
                              </m:r>
                            </m:e>
                            <m:sub>
                              <m:r>
                                <a:rPr lang="en-US" sz="2100" b="0" i="1" smtClean="0">
                                  <a:latin typeface="Cambria Math" panose="02040503050406030204" pitchFamily="18" charset="0"/>
                                </a:rPr>
                                <m:t>𝑅</m:t>
                              </m:r>
                            </m:sub>
                          </m:sSub>
                        </m:e>
                      </m:d>
                      <m:nary>
                        <m:naryPr>
                          <m:chr m:val="∏"/>
                          <m:ctrlPr>
                            <a:rPr lang="en-US" sz="2100" i="1">
                              <a:latin typeface="Cambria Math" panose="02040503050406030204" pitchFamily="18" charset="0"/>
                            </a:rPr>
                          </m:ctrlPr>
                        </m:naryPr>
                        <m:sub>
                          <m:r>
                            <a:rPr lang="en-US" sz="2100" i="1">
                              <a:latin typeface="Cambria Math" panose="02040503050406030204" pitchFamily="18" charset="0"/>
                            </a:rPr>
                            <m:t>𝑙</m:t>
                          </m:r>
                          <m:r>
                            <a:rPr lang="en-US" sz="2100" i="1">
                              <a:latin typeface="Cambria Math" panose="02040503050406030204" pitchFamily="18" charset="0"/>
                            </a:rPr>
                            <m:t>=1</m:t>
                          </m:r>
                        </m:sub>
                        <m:sup>
                          <m:r>
                            <a:rPr lang="en-US" sz="2100" i="1">
                              <a:latin typeface="Cambria Math" panose="02040503050406030204" pitchFamily="18" charset="0"/>
                            </a:rPr>
                            <m:t>𝐿</m:t>
                          </m:r>
                          <m:r>
                            <a:rPr lang="en-US" sz="2100" i="1">
                              <a:latin typeface="Cambria Math" panose="02040503050406030204" pitchFamily="18" charset="0"/>
                            </a:rPr>
                            <m:t>−1</m:t>
                          </m:r>
                        </m:sup>
                        <m:e>
                          <m:nary>
                            <m:naryPr>
                              <m:chr m:val="∏"/>
                              <m:ctrlPr>
                                <a:rPr lang="en-US" sz="2100" i="1">
                                  <a:latin typeface="Cambria Math" panose="02040503050406030204" pitchFamily="18" charset="0"/>
                                </a:rPr>
                              </m:ctrlPr>
                            </m:naryPr>
                            <m:sub>
                              <m:r>
                                <a:rPr lang="en-US" sz="2100" b="0" i="1" smtClean="0">
                                  <a:latin typeface="Cambria Math" panose="02040503050406030204" pitchFamily="18" charset="0"/>
                                </a:rPr>
                                <m:t>𝑘</m:t>
                              </m:r>
                              <m:r>
                                <a:rPr lang="en-US" sz="2100" i="1">
                                  <a:latin typeface="Cambria Math" panose="02040503050406030204" pitchFamily="18" charset="0"/>
                                </a:rPr>
                                <m:t>=1</m:t>
                              </m:r>
                            </m:sub>
                            <m:sup>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𝑛</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r>
                                        <a:rPr lang="en-US" sz="2100" b="0" i="1" smtClean="0">
                                          <a:latin typeface="Cambria Math" panose="02040503050406030204" pitchFamily="18" charset="0"/>
                                        </a:rPr>
                                        <m:t>+1</m:t>
                                      </m:r>
                                    </m:e>
                                  </m:d>
                                </m:sup>
                              </m:sSup>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𝐶</m:t>
                                          </m:r>
                                        </m:e>
                                        <m:sub>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e>
                      </m:nary>
                      <m:nary>
                        <m:naryPr>
                          <m:chr m:val="∏"/>
                          <m:supHide m:val="on"/>
                          <m:ctrlPr>
                            <a:rPr lang="en-US" sz="2100" i="1">
                              <a:latin typeface="Cambria Math" panose="02040503050406030204" pitchFamily="18" charset="0"/>
                            </a:rPr>
                          </m:ctrlPr>
                        </m:naryPr>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𝐵</m:t>
                                      </m:r>
                                    </m:e>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oMath>
                  </m:oMathPara>
                </a14:m>
                <a:endParaRPr lang="en-US" dirty="0">
                  <a:latin typeface="+mj-lt"/>
                </a:endParaRPr>
              </a:p>
              <a:p>
                <a:endParaRPr lang="en-US" i="1" dirty="0">
                  <a:latin typeface="+mj-lt"/>
                </a:endParaRPr>
              </a:p>
            </p:txBody>
          </p:sp>
        </mc:Choice>
        <mc:Fallback>
          <p:sp>
            <p:nvSpPr>
              <p:cNvPr id="9" name="Content Placeholder 8">
                <a:extLst>
                  <a:ext uri="{FF2B5EF4-FFF2-40B4-BE49-F238E27FC236}">
                    <a16:creationId xmlns:a16="http://schemas.microsoft.com/office/drawing/2014/main" id="{B1F3BFED-D217-145E-658B-9BF5994151A7}"/>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52B3EC53-EE27-DA32-DD8D-8E79F220535A}"/>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endParaRPr lang="en-GB" sz="2400" b="0" i="1" dirty="0"/>
          </a:p>
        </p:txBody>
      </p:sp>
      <p:sp>
        <p:nvSpPr>
          <p:cNvPr id="5" name="Date Placeholder 4">
            <a:extLst>
              <a:ext uri="{FF2B5EF4-FFF2-40B4-BE49-F238E27FC236}">
                <a16:creationId xmlns:a16="http://schemas.microsoft.com/office/drawing/2014/main" id="{FC197AD7-F512-2C75-D5ED-4009D226BFA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182B606-554B-FC63-12BE-A22DEC42E3D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A6810EC-A457-D138-5085-89BB8635E8BD}"/>
              </a:ext>
            </a:extLst>
          </p:cNvPr>
          <p:cNvSpPr>
            <a:spLocks noGrp="1"/>
          </p:cNvSpPr>
          <p:nvPr>
            <p:ph type="sldNum" sz="quarter" idx="12"/>
          </p:nvPr>
        </p:nvSpPr>
        <p:spPr/>
        <p:txBody>
          <a:bodyPr/>
          <a:lstStyle/>
          <a:p>
            <a:fld id="{E1E1CD7C-2161-7D43-862E-CE4C333CD873}" type="slidenum">
              <a:rPr lang="fr-FR" smtClean="0"/>
              <a:pPr/>
              <a:t>47</a:t>
            </a:fld>
            <a:endParaRPr lang="fr-FR" dirty="0"/>
          </a:p>
        </p:txBody>
      </p:sp>
    </p:spTree>
    <p:extLst>
      <p:ext uri="{BB962C8B-B14F-4D97-AF65-F5344CB8AC3E}">
        <p14:creationId xmlns:p14="http://schemas.microsoft.com/office/powerpoint/2010/main" val="83237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7EC3-0A00-75FD-1B50-AC4F3BA2B98D}"/>
            </a:ext>
          </a:extLst>
        </p:cNvPr>
        <p:cNvGrpSpPr/>
        <p:nvPr/>
      </p:nvGrpSpPr>
      <p:grpSpPr>
        <a:xfrm>
          <a:off x="0" y="0"/>
          <a:ext cx="0" cy="0"/>
          <a:chOff x="0" y="0"/>
          <a:chExt cx="0" cy="0"/>
        </a:xfrm>
      </p:grpSpPr>
      <p:pic>
        <p:nvPicPr>
          <p:cNvPr id="4" name="Content Placeholder 3" descr="A diagram of a triangle with many colored circles and lines&#10;&#10;AI-generated content may be incorrect.">
            <a:extLst>
              <a:ext uri="{FF2B5EF4-FFF2-40B4-BE49-F238E27FC236}">
                <a16:creationId xmlns:a16="http://schemas.microsoft.com/office/drawing/2014/main" id="{5F52F6DA-BB20-90CC-F009-7AD075C8DCDB}"/>
              </a:ext>
            </a:extLst>
          </p:cNvPr>
          <p:cNvPicPr>
            <a:picLocks noGrp="1" noChangeAspect="1"/>
          </p:cNvPicPr>
          <p:nvPr>
            <p:ph sz="half" idx="1"/>
          </p:nvPr>
        </p:nvPicPr>
        <p:blipFill>
          <a:blip r:embed="rId3"/>
          <a:stretch>
            <a:fillRect/>
          </a:stretch>
        </p:blipFill>
        <p:spPr>
          <a:xfrm>
            <a:off x="979759" y="1563688"/>
            <a:ext cx="3522119" cy="3263900"/>
          </a:xfrm>
        </p:spPr>
      </p:pic>
      <p:pic>
        <p:nvPicPr>
          <p:cNvPr id="11" name="Content Placeholder 10" descr="A grid with squares and numbers&#10;&#10;AI-generated content may be incorrect.">
            <a:extLst>
              <a:ext uri="{FF2B5EF4-FFF2-40B4-BE49-F238E27FC236}">
                <a16:creationId xmlns:a16="http://schemas.microsoft.com/office/drawing/2014/main" id="{EEA00160-55DA-64CA-F11A-2B02DB0893F4}"/>
              </a:ext>
            </a:extLst>
          </p:cNvPr>
          <p:cNvPicPr>
            <a:picLocks noGrp="1" noChangeAspect="1"/>
          </p:cNvPicPr>
          <p:nvPr>
            <p:ph sz="half" idx="2"/>
          </p:nvPr>
        </p:nvPicPr>
        <p:blipFill>
          <a:blip r:embed="rId4"/>
          <a:stretch>
            <a:fillRect/>
          </a:stretch>
        </p:blipFill>
        <p:spPr>
          <a:xfrm>
            <a:off x="5226641" y="1563688"/>
            <a:ext cx="3137306" cy="3263900"/>
          </a:xfrm>
        </p:spPr>
      </p:pic>
      <p:sp>
        <p:nvSpPr>
          <p:cNvPr id="8" name="Title 7">
            <a:extLst>
              <a:ext uri="{FF2B5EF4-FFF2-40B4-BE49-F238E27FC236}">
                <a16:creationId xmlns:a16="http://schemas.microsoft.com/office/drawing/2014/main" id="{30A7DBB4-3A44-B3A0-7EA8-0841429A1847}"/>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endParaRPr lang="en-GB" sz="2400" b="0" i="1" dirty="0"/>
          </a:p>
        </p:txBody>
      </p:sp>
      <p:sp>
        <p:nvSpPr>
          <p:cNvPr id="5" name="Date Placeholder 4">
            <a:extLst>
              <a:ext uri="{FF2B5EF4-FFF2-40B4-BE49-F238E27FC236}">
                <a16:creationId xmlns:a16="http://schemas.microsoft.com/office/drawing/2014/main" id="{28C5BF14-4E7F-06F5-6A5B-12B63EEFD6B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2AF5C3-D0D8-0E16-909F-BB118198D34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9AFE27C-0B9C-1AD5-3AFE-FBAA82A7FA58}"/>
              </a:ext>
            </a:extLst>
          </p:cNvPr>
          <p:cNvSpPr>
            <a:spLocks noGrp="1"/>
          </p:cNvSpPr>
          <p:nvPr>
            <p:ph type="sldNum" sz="quarter" idx="12"/>
          </p:nvPr>
        </p:nvSpPr>
        <p:spPr/>
        <p:txBody>
          <a:bodyPr/>
          <a:lstStyle/>
          <a:p>
            <a:fld id="{E1E1CD7C-2161-7D43-862E-CE4C333CD873}" type="slidenum">
              <a:rPr lang="fr-FR" smtClean="0"/>
              <a:pPr/>
              <a:t>48</a:t>
            </a:fld>
            <a:endParaRPr lang="fr-FR" dirty="0"/>
          </a:p>
        </p:txBody>
      </p:sp>
    </p:spTree>
    <p:extLst>
      <p:ext uri="{BB962C8B-B14F-4D97-AF65-F5344CB8AC3E}">
        <p14:creationId xmlns:p14="http://schemas.microsoft.com/office/powerpoint/2010/main" val="329066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randombar(horizontal)">
                                      <p:cBhvr>
                                        <p:cTn id="1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9CA1A-19F3-D519-7767-11BE6596D6C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A711A69C-F690-CF27-BE56-0491FDE3B348}"/>
                  </a:ext>
                </a:extLst>
              </p:cNvPr>
              <p:cNvSpPr>
                <a:spLocks noGrp="1"/>
              </p:cNvSpPr>
              <p:nvPr>
                <p:ph idx="1"/>
              </p:nvPr>
            </p:nvSpPr>
            <p:spPr/>
            <p:txBody>
              <a:bodyPr anchor="ctr">
                <a:normAutofit/>
              </a:bodyPr>
              <a:lstStyle/>
              <a:p>
                <a:r>
                  <a:rPr lang="en-US" dirty="0">
                    <a:latin typeface="+mj-lt"/>
                  </a:rPr>
                  <a:t>Ablation of root graph’s edge weight representation</a:t>
                </a:r>
              </a:p>
              <a:p>
                <a:pPr lvl="1"/>
                <a:r>
                  <a:rPr lang="en-US" dirty="0">
                    <a:latin typeface="+mj-lt"/>
                  </a:rPr>
                  <a:t>Simple: </a:t>
                </a:r>
                <a14:m>
                  <m:oMath xmlns:m="http://schemas.openxmlformats.org/officeDocument/2006/math">
                    <m:r>
                      <a:rPr lang="en-US"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0" smtClean="0">
                            <a:latin typeface="Cambria Math" panose="02040503050406030204" pitchFamily="18" charset="0"/>
                          </a:rPr>
                          <m:t>𝐴</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2×2</m:t>
                        </m:r>
                      </m:sup>
                    </m:sSup>
                  </m:oMath>
                </a14:m>
                <a:endParaRPr lang="en-US" dirty="0">
                  <a:latin typeface="+mj-lt"/>
                </a:endParaRPr>
              </a:p>
              <a:p>
                <a:pPr lvl="1"/>
                <a:r>
                  <a:rPr lang="en-US" dirty="0">
                    <a:latin typeface="+mj-lt"/>
                  </a:rPr>
                  <a:t>Integer: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r>
                          <a:rPr lang="en-US" i="1">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sup>
                    </m:sSup>
                  </m:oMath>
                </a14:m>
                <a:endParaRPr lang="en-US" dirty="0">
                  <a:latin typeface="+mj-lt"/>
                </a:endParaRPr>
              </a:p>
              <a:p>
                <a:pPr lvl="1"/>
                <a:r>
                  <a:rPr lang="en-US" dirty="0">
                    <a:latin typeface="+mj-lt"/>
                  </a:rPr>
                  <a:t>Ordinal: </a:t>
                </a:r>
                <a14:m>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&gt;</m:t>
                    </m:r>
                    <m:r>
                      <a:rPr lang="en-US" i="1">
                        <a:latin typeface="Cambria Math" panose="02040503050406030204" pitchFamily="18" charset="0"/>
                      </a:rPr>
                      <m:t>1</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=0</m:t>
                    </m:r>
                  </m:oMath>
                </a14:m>
                <a:endParaRPr lang="en-US" dirty="0">
                  <a:latin typeface="+mj-lt"/>
                </a:endParaRPr>
              </a:p>
              <a:p>
                <a:pPr lvl="1"/>
                <a:r>
                  <a:rPr lang="en-US" dirty="0" err="1">
                    <a:latin typeface="+mj-lt"/>
                  </a:rPr>
                  <a:t>Bucketization</a:t>
                </a:r>
                <a:r>
                  <a:rPr lang="en-US" dirty="0">
                    <a:latin typeface="+mj-lt"/>
                  </a:rPr>
                  <a:t>: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𝑊</m:t>
                    </m:r>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r>
                          <a:rPr lang="en-US" i="1">
                            <a:latin typeface="Cambria Math" panose="02040503050406030204" pitchFamily="18" charset="0"/>
                          </a:rPr>
                          <m:t>×</m:t>
                        </m:r>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&lt;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endParaRPr lang="en-US" dirty="0">
                  <a:latin typeface="+mj-lt"/>
                </a:endParaRPr>
              </a:p>
              <a:p>
                <a:r>
                  <a:rPr lang="en-US" dirty="0">
                    <a:latin typeface="+mj-lt"/>
                  </a:rPr>
                  <a:t>Naïve </a:t>
                </a:r>
                <a:r>
                  <a:rPr lang="en-US" dirty="0" err="1">
                    <a:latin typeface="+mj-lt"/>
                  </a:rPr>
                  <a:t>HiGenDiff</a:t>
                </a:r>
                <a:endParaRPr lang="en-US" dirty="0">
                  <a:latin typeface="+mj-lt"/>
                </a:endParaRPr>
              </a:p>
              <a:p>
                <a:pPr lvl="1"/>
                <a:r>
                  <a:rPr lang="en-US" dirty="0">
                    <a:latin typeface="+mj-lt"/>
                  </a:rPr>
                  <a:t>Question need for conditioning on full parent graph</a:t>
                </a:r>
              </a:p>
              <a:p>
                <a:pPr lvl="1"/>
                <a:r>
                  <a:rPr lang="en-US" dirty="0">
                    <a:latin typeface="+mj-lt"/>
                  </a:rPr>
                  <a:t>Independent </a:t>
                </a:r>
                <a:r>
                  <a:rPr lang="en-US" dirty="0" err="1">
                    <a:latin typeface="+mj-lt"/>
                  </a:rPr>
                  <a:t>DiGress</a:t>
                </a:r>
                <a:r>
                  <a:rPr lang="en-US" dirty="0">
                    <a:latin typeface="+mj-lt"/>
                  </a:rPr>
                  <a:t> instances</a:t>
                </a:r>
              </a:p>
            </p:txBody>
          </p:sp>
        </mc:Choice>
        <mc:Fallback>
          <p:sp>
            <p:nvSpPr>
              <p:cNvPr id="9" name="Content Placeholder 8">
                <a:extLst>
                  <a:ext uri="{FF2B5EF4-FFF2-40B4-BE49-F238E27FC236}">
                    <a16:creationId xmlns:a16="http://schemas.microsoft.com/office/drawing/2014/main" id="{A711A69C-F690-CF27-BE56-0491FDE3B348}"/>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9E6A701-562E-0988-AA8E-F004E88E1198}"/>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Model designs</a:t>
            </a:r>
            <a:endParaRPr lang="en-GB" sz="2400" b="0" i="1" dirty="0"/>
          </a:p>
        </p:txBody>
      </p:sp>
      <p:sp>
        <p:nvSpPr>
          <p:cNvPr id="5" name="Date Placeholder 4">
            <a:extLst>
              <a:ext uri="{FF2B5EF4-FFF2-40B4-BE49-F238E27FC236}">
                <a16:creationId xmlns:a16="http://schemas.microsoft.com/office/drawing/2014/main" id="{C1F3F2D5-9B35-9198-3207-60C653BE11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5D3A67A-B5C0-05D1-BCCB-99B0FE0A82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8B56E84-DCE5-CFAF-E97F-34D0326EAA5B}"/>
              </a:ext>
            </a:extLst>
          </p:cNvPr>
          <p:cNvSpPr>
            <a:spLocks noGrp="1"/>
          </p:cNvSpPr>
          <p:nvPr>
            <p:ph type="sldNum" sz="quarter" idx="12"/>
          </p:nvPr>
        </p:nvSpPr>
        <p:spPr/>
        <p:txBody>
          <a:bodyPr/>
          <a:lstStyle/>
          <a:p>
            <a:fld id="{E1E1CD7C-2161-7D43-862E-CE4C333CD873}" type="slidenum">
              <a:rPr lang="fr-FR" smtClean="0"/>
              <a:pPr/>
              <a:t>49</a:t>
            </a:fld>
            <a:endParaRPr lang="fr-FR" dirty="0"/>
          </a:p>
        </p:txBody>
      </p:sp>
    </p:spTree>
    <p:extLst>
      <p:ext uri="{BB962C8B-B14F-4D97-AF65-F5344CB8AC3E}">
        <p14:creationId xmlns:p14="http://schemas.microsoft.com/office/powerpoint/2010/main" val="305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A5E-6CC6-0E8F-38DB-F207490B2D2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7D2D6824-7DCD-5817-DFB5-19F1BD1C6592}"/>
                  </a:ext>
                </a:extLst>
              </p:cNvPr>
              <p:cNvSpPr>
                <a:spLocks noGrp="1"/>
              </p:cNvSpPr>
              <p:nvPr>
                <p:ph idx="1"/>
              </p:nvPr>
            </p:nvSpPr>
            <p:spPr/>
            <p:txBody>
              <a:bodyPr anchor="ctr">
                <a:normAutofit/>
              </a:bodyPr>
              <a:lstStyle/>
              <a:p>
                <a:r>
                  <a:rPr lang="en-US" i="1" dirty="0">
                    <a:latin typeface="+mj-lt"/>
                  </a:rPr>
                  <a:t>What is the computational cost of adding an extra graph coarsening layer on top, and when is this feasibly faster than the standard baseline?</a:t>
                </a:r>
              </a:p>
              <a:p>
                <a:r>
                  <a:rPr lang="en-US" dirty="0">
                    <a:latin typeface="+mj-lt"/>
                  </a:rPr>
                  <a:t>Assumption: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m:rPr>
                        <m:sty m:val="p"/>
                      </m:rPr>
                      <a:rPr lang="en-US" b="0" i="0" smtClean="0">
                        <a:latin typeface="Cambria Math" panose="02040503050406030204" pitchFamily="18" charset="0"/>
                      </a:rPr>
                      <m:t>ER</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𝑝</m:t>
                        </m:r>
                      </m:e>
                    </m:d>
                  </m:oMath>
                </a14:m>
                <a:endParaRPr lang="en-US" dirty="0">
                  <a:latin typeface="+mj-lt"/>
                </a:endParaRPr>
              </a:p>
              <a:p>
                <a:pPr marL="342900" indent="-342900">
                  <a:buFont typeface="+mj-lt"/>
                  <a:buAutoNum type="arabicPeriod"/>
                </a:pPr>
                <a:r>
                  <a:rPr lang="en-US" dirty="0">
                    <a:latin typeface="+mj-lt"/>
                  </a:rPr>
                  <a:t>Complexity and bounds</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
                        <a:rPr lang="en-US" i="1">
                          <a:latin typeface="Cambria Math" panose="02040503050406030204" pitchFamily="18" charset="0"/>
                        </a:rPr>
                        <m:t>𝔼</m:t>
                      </m:r>
                      <m:d>
                        <m:dPr>
                          <m:begChr m:val="["/>
                          <m:endChr m:val="]"/>
                          <m:ctrlPr>
                            <a:rPr lang="en-US" i="1">
                              <a:latin typeface="Cambria Math" panose="02040503050406030204" pitchFamily="18" charset="0"/>
                            </a:rPr>
                          </m:ctrlPr>
                        </m:dPr>
                        <m:e>
                          <m:rad>
                            <m:radPr>
                              <m:ctrlPr>
                                <a:rPr lang="en-US" i="1" smtClean="0">
                                  <a:latin typeface="Cambria Math" panose="02040503050406030204" pitchFamily="18" charset="0"/>
                                </a:rPr>
                              </m:ctrlPr>
                            </m:radPr>
                            <m:deg>
                              <m:r>
                                <a:rPr lang="en-US" i="1">
                                  <a:latin typeface="Cambria Math" panose="02040503050406030204" pitchFamily="18" charset="0"/>
                                </a:rPr>
                                <m:t>3</m:t>
                              </m:r>
                            </m:deg>
                            <m:e>
                              <m:r>
                                <a:rPr lang="en-US" b="0" i="1" smtClean="0">
                                  <a:latin typeface="Cambria Math" panose="02040503050406030204" pitchFamily="18" charset="0"/>
                                </a:rPr>
                                <m:t>2</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b="0" i="1" smtClean="0">
                                      <a:latin typeface="Cambria Math" panose="02040503050406030204" pitchFamily="18" charset="0"/>
                                    </a:rPr>
                                    <m:t>4</m:t>
                                  </m:r>
                                </m:sup>
                              </m:sSup>
                            </m:e>
                          </m:rad>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r>
                                            <a:rPr lang="en-US" b="0" i="1" smtClean="0">
                                              <a:latin typeface="Cambria Math" panose="02040503050406030204" pitchFamily="18" charset="0"/>
                                            </a:rPr>
                                            <m:t>+1</m:t>
                                          </m:r>
                                        </m:e>
                                      </m:d>
                                    </m:sup>
                                  </m:sSup>
                                </m:e>
                              </m:d>
                            </m:e>
                            <m:sup>
                              <m:r>
                                <a:rPr lang="en-US" b="0" i="1" smtClean="0">
                                  <a:latin typeface="Cambria Math" panose="02040503050406030204" pitchFamily="18" charset="0"/>
                                </a:rPr>
                                <m:t>2</m:t>
                              </m:r>
                            </m:sup>
                          </m:sSup>
                        </m:e>
                      </m:d>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b="0" i="1" smtClean="0">
                                              <a:latin typeface="Cambria Math" panose="02040503050406030204" pitchFamily="18" charset="0"/>
                                            </a:rPr>
                                            <m:t>𝐿</m:t>
                                          </m:r>
                                        </m:e>
                                      </m:d>
                                    </m:sup>
                                  </m:sSup>
                                </m:e>
                              </m:d>
                            </m:e>
                            <m:sup>
                              <m:r>
                                <a:rPr lang="en-US" i="1">
                                  <a:latin typeface="Cambria Math" panose="02040503050406030204" pitchFamily="18" charset="0"/>
                                </a:rPr>
                                <m:t>2</m:t>
                              </m:r>
                            </m:sup>
                          </m:sSup>
                        </m:e>
                      </m:d>
                      <m:r>
                        <a:rPr lang="en-US" b="0" i="1" smtClean="0">
                          <a:latin typeface="Cambria Math" panose="02040503050406030204" pitchFamily="18" charset="0"/>
                        </a:rPr>
                        <m:t>≤2</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oMath>
                  </m:oMathPara>
                </a14:m>
                <a:endParaRPr lang="en-US" dirty="0">
                  <a:latin typeface="+mj-lt"/>
                </a:endParaRPr>
              </a:p>
              <a:p>
                <a:pPr marL="342900" indent="-342900">
                  <a:buFont typeface="+mj-lt"/>
                  <a:buAutoNum type="arabicPeriod" startAt="2"/>
                </a:pPr>
                <a:r>
                  <a:rPr lang="en-US" dirty="0">
                    <a:latin typeface="+mj-lt"/>
                  </a:rPr>
                  <a:t>Feasibility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𝑝</m:t>
                      </m:r>
                      <m:r>
                        <a:rPr lang="en-US" b="0" i="1" smtClean="0">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r>
                                                <a:rPr lang="en-US" i="1">
                                                  <a:latin typeface="Cambria Math" panose="02040503050406030204" pitchFamily="18" charset="0"/>
                                                </a:rPr>
                                                <m:t>+1</m:t>
                                              </m:r>
                                            </m:e>
                                          </m:d>
                                        </m:sup>
                                      </m:sSup>
                                    </m:e>
                                  </m:d>
                                </m:e>
                                <m:sup>
                                  <m:r>
                                    <a:rPr lang="en-US" i="1">
                                      <a:latin typeface="Cambria Math" panose="02040503050406030204" pitchFamily="18" charset="0"/>
                                    </a:rPr>
                                    <m:t>2</m:t>
                                  </m:r>
                                </m:sup>
                              </m:sSup>
                            </m:e>
                          </m:d>
                        </m:num>
                        <m:den>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den>
                      </m:f>
                    </m:oMath>
                  </m:oMathPara>
                </a14:m>
                <a:endParaRPr lang="en-US" i="1" dirty="0">
                  <a:latin typeface="+mj-lt"/>
                </a:endParaRPr>
              </a:p>
            </p:txBody>
          </p:sp>
        </mc:Choice>
        <mc:Fallback>
          <p:sp>
            <p:nvSpPr>
              <p:cNvPr id="9" name="Content Placeholder 8">
                <a:extLst>
                  <a:ext uri="{FF2B5EF4-FFF2-40B4-BE49-F238E27FC236}">
                    <a16:creationId xmlns:a16="http://schemas.microsoft.com/office/drawing/2014/main" id="{7D2D6824-7DCD-5817-DFB5-19F1BD1C6592}"/>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A94DAE24-0E79-251A-CD6A-4D852C74DCEE}"/>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2B689BDF-B421-9FEB-3C7A-9B3CEDAA34D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51C8FB-8EA0-9C0D-C5EA-348EA24A6A8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270B47-F86F-1C40-C572-F73FAA24BDAC}"/>
              </a:ext>
            </a:extLst>
          </p:cNvPr>
          <p:cNvSpPr>
            <a:spLocks noGrp="1"/>
          </p:cNvSpPr>
          <p:nvPr>
            <p:ph type="sldNum" sz="quarter" idx="12"/>
          </p:nvPr>
        </p:nvSpPr>
        <p:spPr/>
        <p:txBody>
          <a:bodyPr/>
          <a:lstStyle/>
          <a:p>
            <a:fld id="{E1E1CD7C-2161-7D43-862E-CE4C333CD873}" type="slidenum">
              <a:rPr lang="fr-FR" smtClean="0"/>
              <a:pPr/>
              <a:t>50</a:t>
            </a:fld>
            <a:endParaRPr lang="fr-FR" dirty="0"/>
          </a:p>
        </p:txBody>
      </p:sp>
    </p:spTree>
    <p:extLst>
      <p:ext uri="{BB962C8B-B14F-4D97-AF65-F5344CB8AC3E}">
        <p14:creationId xmlns:p14="http://schemas.microsoft.com/office/powerpoint/2010/main" val="322915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0" dur="500"/>
                                        <p:tgtEl>
                                          <p:spTgt spid="9">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E6BA-560C-D5A3-1A80-376A8E88FA2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151319-8F9A-E54D-BE06-3162937D4B3B}"/>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Community detection</a:t>
            </a:r>
            <a:endParaRPr lang="en-GB" sz="2400" b="0" i="1" dirty="0"/>
          </a:p>
        </p:txBody>
      </p:sp>
      <p:sp>
        <p:nvSpPr>
          <p:cNvPr id="5" name="Date Placeholder 4">
            <a:extLst>
              <a:ext uri="{FF2B5EF4-FFF2-40B4-BE49-F238E27FC236}">
                <a16:creationId xmlns:a16="http://schemas.microsoft.com/office/drawing/2014/main" id="{B9F72425-3A5F-68FC-5D90-00A6F4F64C1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883A30-ECB3-CFD4-A131-2DCABED252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7FDCE24-DC0D-030C-EEFA-19A826817EE1}"/>
              </a:ext>
            </a:extLst>
          </p:cNvPr>
          <p:cNvSpPr>
            <a:spLocks noGrp="1"/>
          </p:cNvSpPr>
          <p:nvPr>
            <p:ph type="sldNum" sz="quarter" idx="12"/>
          </p:nvPr>
        </p:nvSpPr>
        <p:spPr/>
        <p:txBody>
          <a:bodyPr/>
          <a:lstStyle/>
          <a:p>
            <a:fld id="{E1E1CD7C-2161-7D43-862E-CE4C333CD873}" type="slidenum">
              <a:rPr lang="fr-FR" smtClean="0"/>
              <a:pPr/>
              <a:t>51</a:t>
            </a:fld>
            <a:endParaRPr lang="fr-FR" dirty="0"/>
          </a:p>
        </p:txBody>
      </p:sp>
      <p:pic>
        <p:nvPicPr>
          <p:cNvPr id="9" name="Content Placeholder 8" descr="A table with numbers and symbols&#10;&#10;AI-generated content may be incorrect.">
            <a:extLst>
              <a:ext uri="{FF2B5EF4-FFF2-40B4-BE49-F238E27FC236}">
                <a16:creationId xmlns:a16="http://schemas.microsoft.com/office/drawing/2014/main" id="{49521BCE-E23E-E10C-ED74-ADE87CBB0668}"/>
              </a:ext>
            </a:extLst>
          </p:cNvPr>
          <p:cNvPicPr>
            <a:picLocks noGrp="1" noChangeAspect="1"/>
          </p:cNvPicPr>
          <p:nvPr>
            <p:ph idx="1"/>
          </p:nvPr>
        </p:nvPicPr>
        <p:blipFill>
          <a:blip r:embed="rId3"/>
          <a:stretch>
            <a:fillRect/>
          </a:stretch>
        </p:blipFill>
        <p:spPr>
          <a:xfrm>
            <a:off x="904875" y="2005789"/>
            <a:ext cx="7726363" cy="2501935"/>
          </a:xfrm>
        </p:spPr>
      </p:pic>
    </p:spTree>
    <p:extLst>
      <p:ext uri="{BB962C8B-B14F-4D97-AF65-F5344CB8AC3E}">
        <p14:creationId xmlns:p14="http://schemas.microsoft.com/office/powerpoint/2010/main" val="85531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73E46-ABD0-D63B-25AE-64FC68F0370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A20CD31-31BD-31E0-6DE1-E4B0B0C2EE46}"/>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0C167BFA-06A6-0231-67AB-B044D99A30D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43EF8BE-0781-4404-2E25-28D0C434218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F477629-FF5C-E2D2-F0D5-5875CBBC2F65}"/>
              </a:ext>
            </a:extLst>
          </p:cNvPr>
          <p:cNvSpPr>
            <a:spLocks noGrp="1"/>
          </p:cNvSpPr>
          <p:nvPr>
            <p:ph type="sldNum" sz="quarter" idx="12"/>
          </p:nvPr>
        </p:nvSpPr>
        <p:spPr/>
        <p:txBody>
          <a:bodyPr/>
          <a:lstStyle/>
          <a:p>
            <a:fld id="{E1E1CD7C-2161-7D43-862E-CE4C333CD873}" type="slidenum">
              <a:rPr lang="fr-FR" smtClean="0"/>
              <a:pPr/>
              <a:t>52</a:t>
            </a:fld>
            <a:endParaRPr lang="fr-FR" dirty="0"/>
          </a:p>
        </p:txBody>
      </p:sp>
      <p:pic>
        <p:nvPicPr>
          <p:cNvPr id="10" name="Content Placeholder 9" descr="A table with numbers and text&#10;&#10;AI-generated content may be incorrect.">
            <a:extLst>
              <a:ext uri="{FF2B5EF4-FFF2-40B4-BE49-F238E27FC236}">
                <a16:creationId xmlns:a16="http://schemas.microsoft.com/office/drawing/2014/main" id="{1E8C9F95-3655-938B-A793-35AE829636F9}"/>
              </a:ext>
            </a:extLst>
          </p:cNvPr>
          <p:cNvPicPr>
            <a:picLocks noGrp="1" noChangeAspect="1"/>
          </p:cNvPicPr>
          <p:nvPr>
            <p:ph idx="1"/>
          </p:nvPr>
        </p:nvPicPr>
        <p:blipFill>
          <a:blip r:embed="rId3"/>
          <a:stretch>
            <a:fillRect/>
          </a:stretch>
        </p:blipFill>
        <p:spPr>
          <a:xfrm>
            <a:off x="904875" y="1859436"/>
            <a:ext cx="7726363" cy="2794641"/>
          </a:xfrm>
        </p:spPr>
      </p:pic>
    </p:spTree>
    <p:extLst>
      <p:ext uri="{BB962C8B-B14F-4D97-AF65-F5344CB8AC3E}">
        <p14:creationId xmlns:p14="http://schemas.microsoft.com/office/powerpoint/2010/main" val="29909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53EFA-BE9C-CDA8-2556-6BC36185C4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593E9A2-E291-EFE0-F482-1F5B1B4CF910}"/>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Real vs. fake graphs</a:t>
            </a:r>
            <a:endParaRPr lang="en-GB" sz="2400" b="0" i="1" dirty="0"/>
          </a:p>
        </p:txBody>
      </p:sp>
      <p:sp>
        <p:nvSpPr>
          <p:cNvPr id="5" name="Date Placeholder 4">
            <a:extLst>
              <a:ext uri="{FF2B5EF4-FFF2-40B4-BE49-F238E27FC236}">
                <a16:creationId xmlns:a16="http://schemas.microsoft.com/office/drawing/2014/main" id="{D4F549FE-6790-BE92-3A6F-200ED47D76C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0BCAD6F-9BAB-9EE2-F2C9-E930D9E94E1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00F6E3E-313A-BB99-B84A-87EC296AEEC5}"/>
              </a:ext>
            </a:extLst>
          </p:cNvPr>
          <p:cNvSpPr>
            <a:spLocks noGrp="1"/>
          </p:cNvSpPr>
          <p:nvPr>
            <p:ph type="sldNum" sz="quarter" idx="12"/>
          </p:nvPr>
        </p:nvSpPr>
        <p:spPr/>
        <p:txBody>
          <a:bodyPr/>
          <a:lstStyle/>
          <a:p>
            <a:fld id="{E1E1CD7C-2161-7D43-862E-CE4C333CD873}" type="slidenum">
              <a:rPr lang="fr-FR" smtClean="0"/>
              <a:pPr/>
              <a:t>53</a:t>
            </a:fld>
            <a:endParaRPr lang="fr-FR" dirty="0"/>
          </a:p>
        </p:txBody>
      </p:sp>
      <p:pic>
        <p:nvPicPr>
          <p:cNvPr id="9" name="Content Placeholder 8" descr="A group of different shapes and colors&#10;&#10;AI-generated content may be incorrect.">
            <a:extLst>
              <a:ext uri="{FF2B5EF4-FFF2-40B4-BE49-F238E27FC236}">
                <a16:creationId xmlns:a16="http://schemas.microsoft.com/office/drawing/2014/main" id="{B6AC4CE1-93E4-E96B-C166-BE21257660F9}"/>
              </a:ext>
            </a:extLst>
          </p:cNvPr>
          <p:cNvPicPr>
            <a:picLocks noGrp="1" noChangeAspect="1"/>
          </p:cNvPicPr>
          <p:nvPr>
            <p:ph idx="1"/>
          </p:nvPr>
        </p:nvPicPr>
        <p:blipFill>
          <a:blip r:embed="rId3"/>
          <a:stretch>
            <a:fillRect/>
          </a:stretch>
        </p:blipFill>
        <p:spPr>
          <a:xfrm>
            <a:off x="1995225" y="1563688"/>
            <a:ext cx="5545663" cy="3386137"/>
          </a:xfrm>
        </p:spPr>
      </p:pic>
    </p:spTree>
    <p:extLst>
      <p:ext uri="{BB962C8B-B14F-4D97-AF65-F5344CB8AC3E}">
        <p14:creationId xmlns:p14="http://schemas.microsoft.com/office/powerpoint/2010/main" val="60686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4233D-78D8-2659-4032-33B9608ACEFF}"/>
            </a:ext>
          </a:extLst>
        </p:cNvPr>
        <p:cNvGrpSpPr/>
        <p:nvPr/>
      </p:nvGrpSpPr>
      <p:grpSpPr>
        <a:xfrm>
          <a:off x="0" y="0"/>
          <a:ext cx="0" cy="0"/>
          <a:chOff x="0" y="0"/>
          <a:chExt cx="0" cy="0"/>
        </a:xfrm>
      </p:grpSpPr>
      <p:pic>
        <p:nvPicPr>
          <p:cNvPr id="13" name="Content Placeholder 12" descr="A graph of different colored bars&#10;&#10;AI-generated content may be incorrect.">
            <a:extLst>
              <a:ext uri="{FF2B5EF4-FFF2-40B4-BE49-F238E27FC236}">
                <a16:creationId xmlns:a16="http://schemas.microsoft.com/office/drawing/2014/main" id="{82D73969-35F8-BB9A-E758-FA15397FBE63}"/>
              </a:ext>
            </a:extLst>
          </p:cNvPr>
          <p:cNvPicPr>
            <a:picLocks noGrp="1" noChangeAspect="1"/>
          </p:cNvPicPr>
          <p:nvPr>
            <p:ph sz="half" idx="2"/>
          </p:nvPr>
        </p:nvPicPr>
        <p:blipFill>
          <a:blip r:embed="rId3"/>
          <a:stretch>
            <a:fillRect/>
          </a:stretch>
        </p:blipFill>
        <p:spPr>
          <a:xfrm>
            <a:off x="4959350" y="1940292"/>
            <a:ext cx="3671888" cy="2510692"/>
          </a:xfrm>
        </p:spPr>
      </p:pic>
      <p:sp>
        <p:nvSpPr>
          <p:cNvPr id="8" name="Title 7">
            <a:extLst>
              <a:ext uri="{FF2B5EF4-FFF2-40B4-BE49-F238E27FC236}">
                <a16:creationId xmlns:a16="http://schemas.microsoft.com/office/drawing/2014/main" id="{619A3E27-C8EB-1682-36C1-50A1F003BDBC}"/>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Ablation</a:t>
            </a:r>
            <a:endParaRPr lang="en-GB" sz="2400" b="0" i="1" dirty="0"/>
          </a:p>
        </p:txBody>
      </p:sp>
      <p:sp>
        <p:nvSpPr>
          <p:cNvPr id="5" name="Date Placeholder 4">
            <a:extLst>
              <a:ext uri="{FF2B5EF4-FFF2-40B4-BE49-F238E27FC236}">
                <a16:creationId xmlns:a16="http://schemas.microsoft.com/office/drawing/2014/main" id="{03B24B9C-FCAE-1CAC-6EC3-2F5229C64C9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3F7852-93BE-959C-FA9C-01AA5C9331F5}"/>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48EEB33-69F8-7025-83DD-869C0309E9CB}"/>
              </a:ext>
            </a:extLst>
          </p:cNvPr>
          <p:cNvSpPr>
            <a:spLocks noGrp="1"/>
          </p:cNvSpPr>
          <p:nvPr>
            <p:ph type="sldNum" sz="quarter" idx="12"/>
          </p:nvPr>
        </p:nvSpPr>
        <p:spPr/>
        <p:txBody>
          <a:bodyPr/>
          <a:lstStyle/>
          <a:p>
            <a:fld id="{E1E1CD7C-2161-7D43-862E-CE4C333CD873}" type="slidenum">
              <a:rPr lang="fr-FR" smtClean="0"/>
              <a:pPr/>
              <a:t>54</a:t>
            </a:fld>
            <a:endParaRPr lang="fr-FR" dirty="0"/>
          </a:p>
        </p:txBody>
      </p:sp>
      <p:pic>
        <p:nvPicPr>
          <p:cNvPr id="11" name="Content Placeholder 10" descr="A graph of different colored bars&#10;&#10;AI-generated content may be incorrect.">
            <a:extLst>
              <a:ext uri="{FF2B5EF4-FFF2-40B4-BE49-F238E27FC236}">
                <a16:creationId xmlns:a16="http://schemas.microsoft.com/office/drawing/2014/main" id="{F60C06C2-DBBE-0DC4-0788-F9A23646111D}"/>
              </a:ext>
            </a:extLst>
          </p:cNvPr>
          <p:cNvPicPr>
            <a:picLocks noGrp="1" noChangeAspect="1"/>
          </p:cNvPicPr>
          <p:nvPr>
            <p:ph sz="half" idx="1"/>
          </p:nvPr>
        </p:nvPicPr>
        <p:blipFill>
          <a:blip r:embed="rId4"/>
          <a:stretch>
            <a:fillRect/>
          </a:stretch>
        </p:blipFill>
        <p:spPr>
          <a:xfrm>
            <a:off x="904875" y="1918460"/>
            <a:ext cx="3671888" cy="2554356"/>
          </a:xfrm>
        </p:spPr>
      </p:pic>
    </p:spTree>
    <p:extLst>
      <p:ext uri="{BB962C8B-B14F-4D97-AF65-F5344CB8AC3E}">
        <p14:creationId xmlns:p14="http://schemas.microsoft.com/office/powerpoint/2010/main" val="361435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randombar(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BFBD-ED45-9E79-ACF3-DFE44F50FFC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D0E7D85-E9D5-8A64-AEA7-9D330B3569BD}"/>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Performance vs. baselines</a:t>
            </a:r>
            <a:endParaRPr lang="en-GB" sz="2400" b="0" i="1" dirty="0"/>
          </a:p>
        </p:txBody>
      </p:sp>
      <p:sp>
        <p:nvSpPr>
          <p:cNvPr id="5" name="Date Placeholder 4">
            <a:extLst>
              <a:ext uri="{FF2B5EF4-FFF2-40B4-BE49-F238E27FC236}">
                <a16:creationId xmlns:a16="http://schemas.microsoft.com/office/drawing/2014/main" id="{90A60856-E224-14D3-9364-FFE2FDF22AA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779D57-E2F6-1884-03BD-805D5ED6E2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7B9AD69-914F-9EA3-BBCA-70D717E2D48F}"/>
              </a:ext>
            </a:extLst>
          </p:cNvPr>
          <p:cNvSpPr>
            <a:spLocks noGrp="1"/>
          </p:cNvSpPr>
          <p:nvPr>
            <p:ph type="sldNum" sz="quarter" idx="12"/>
          </p:nvPr>
        </p:nvSpPr>
        <p:spPr/>
        <p:txBody>
          <a:bodyPr/>
          <a:lstStyle/>
          <a:p>
            <a:fld id="{E1E1CD7C-2161-7D43-862E-CE4C333CD873}" type="slidenum">
              <a:rPr lang="fr-FR" smtClean="0"/>
              <a:pPr/>
              <a:t>55</a:t>
            </a:fld>
            <a:endParaRPr lang="fr-FR" dirty="0"/>
          </a:p>
        </p:txBody>
      </p:sp>
      <p:pic>
        <p:nvPicPr>
          <p:cNvPr id="9" name="Content Placeholder 8" descr="A table of numbers and symbols&#10;&#10;AI-generated content may be incorrect.">
            <a:extLst>
              <a:ext uri="{FF2B5EF4-FFF2-40B4-BE49-F238E27FC236}">
                <a16:creationId xmlns:a16="http://schemas.microsoft.com/office/drawing/2014/main" id="{7308ABCB-2E51-81E3-9A6D-3640A1080BED}"/>
              </a:ext>
            </a:extLst>
          </p:cNvPr>
          <p:cNvPicPr>
            <a:picLocks noGrp="1" noChangeAspect="1"/>
          </p:cNvPicPr>
          <p:nvPr>
            <p:ph idx="1"/>
          </p:nvPr>
        </p:nvPicPr>
        <p:blipFill>
          <a:blip r:embed="rId3"/>
          <a:stretch>
            <a:fillRect/>
          </a:stretch>
        </p:blipFill>
        <p:spPr>
          <a:xfrm>
            <a:off x="2962912" y="1563688"/>
            <a:ext cx="3610289" cy="3386137"/>
          </a:xfrm>
        </p:spPr>
      </p:pic>
    </p:spTree>
    <p:extLst>
      <p:ext uri="{BB962C8B-B14F-4D97-AF65-F5344CB8AC3E}">
        <p14:creationId xmlns:p14="http://schemas.microsoft.com/office/powerpoint/2010/main" val="1065362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CF50-17C6-7052-A1B6-B30D61FC51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9CDB704-23E2-3AB0-B79B-FCEBE5CC0997}"/>
              </a:ext>
            </a:extLst>
          </p:cNvPr>
          <p:cNvSpPr>
            <a:spLocks noGrp="1"/>
          </p:cNvSpPr>
          <p:nvPr>
            <p:ph type="title"/>
          </p:nvPr>
        </p:nvSpPr>
        <p:spPr>
          <a:xfrm>
            <a:off x="904875" y="130271"/>
            <a:ext cx="7726363" cy="1072753"/>
          </a:xfrm>
        </p:spPr>
        <p:txBody>
          <a:bodyPr>
            <a:normAutofit/>
          </a:bodyPr>
          <a:lstStyle/>
          <a:p>
            <a:r>
              <a:rPr lang="en-US" dirty="0"/>
              <a:t>4.2	Hierarchical Generative Graph Diffusion</a:t>
            </a:r>
            <a:br>
              <a:rPr lang="en-US"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788283D4-DD4F-881C-4A62-EFD17C65F15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CAB548-436F-AA04-D4AF-AB29EC54381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FE05411-908A-ED04-1F80-A8F9FA03BC2E}"/>
              </a:ext>
            </a:extLst>
          </p:cNvPr>
          <p:cNvSpPr>
            <a:spLocks noGrp="1"/>
          </p:cNvSpPr>
          <p:nvPr>
            <p:ph type="sldNum" sz="quarter" idx="12"/>
          </p:nvPr>
        </p:nvSpPr>
        <p:spPr/>
        <p:txBody>
          <a:bodyPr/>
          <a:lstStyle/>
          <a:p>
            <a:fld id="{E1E1CD7C-2161-7D43-862E-CE4C333CD873}" type="slidenum">
              <a:rPr lang="fr-FR" smtClean="0"/>
              <a:pPr/>
              <a:t>56</a:t>
            </a:fld>
            <a:endParaRPr lang="fr-FR" dirty="0"/>
          </a:p>
        </p:txBody>
      </p:sp>
      <p:sp>
        <p:nvSpPr>
          <p:cNvPr id="3" name="Content Placeholder 2">
            <a:extLst>
              <a:ext uri="{FF2B5EF4-FFF2-40B4-BE49-F238E27FC236}">
                <a16:creationId xmlns:a16="http://schemas.microsoft.com/office/drawing/2014/main" id="{5510D3B2-39FD-3BC0-011E-3560F919B43D}"/>
              </a:ext>
            </a:extLst>
          </p:cNvPr>
          <p:cNvSpPr>
            <a:spLocks noGrp="1"/>
          </p:cNvSpPr>
          <p:nvPr>
            <p:ph idx="1"/>
          </p:nvPr>
        </p:nvSpPr>
        <p:spPr/>
        <p:txBody>
          <a:bodyPr anchor="ctr"/>
          <a:lstStyle/>
          <a:p>
            <a:r>
              <a:rPr lang="en-CH" dirty="0">
                <a:latin typeface="+mj-lt"/>
              </a:rPr>
              <a:t>Leveraged inherent modularity in real-world graph data to model and sample from complex distributions of graphs</a:t>
            </a:r>
          </a:p>
          <a:p>
            <a:r>
              <a:rPr lang="en-CH" dirty="0">
                <a:latin typeface="+mj-lt"/>
              </a:rPr>
              <a:t>Mirror image of COINs onto the graph generation domain </a:t>
            </a:r>
            <a:r>
              <a:rPr lang="en-GB" dirty="0">
                <a:latin typeface="+mj-lt"/>
              </a:rPr>
              <a:t>with further generalization</a:t>
            </a:r>
            <a:endParaRPr lang="en-CH" dirty="0">
              <a:latin typeface="+mj-lt"/>
            </a:endParaRPr>
          </a:p>
          <a:p>
            <a:r>
              <a:rPr lang="en-CH" dirty="0">
                <a:latin typeface="+mj-lt"/>
              </a:rPr>
              <a:t>Showed </a:t>
            </a:r>
            <a:r>
              <a:rPr lang="en-GB" dirty="0">
                <a:latin typeface="+mj-lt"/>
              </a:rPr>
              <a:t>promise</a:t>
            </a:r>
            <a:r>
              <a:rPr lang="en-CH" dirty="0">
                <a:latin typeface="+mj-lt"/>
              </a:rPr>
              <a:t> but some effort remains</a:t>
            </a:r>
          </a:p>
          <a:p>
            <a:pPr lvl="1"/>
            <a:r>
              <a:rPr lang="en-CH" dirty="0">
                <a:latin typeface="+mj-lt"/>
              </a:rPr>
              <a:t>Overtaking remaining strong baselines</a:t>
            </a:r>
          </a:p>
          <a:p>
            <a:pPr lvl="1"/>
            <a:r>
              <a:rPr lang="en-CH" dirty="0">
                <a:latin typeface="+mj-lt"/>
              </a:rPr>
              <a:t>Further architecture tuning</a:t>
            </a:r>
          </a:p>
          <a:p>
            <a:pPr lvl="1"/>
            <a:r>
              <a:rPr lang="en-CH" dirty="0">
                <a:latin typeface="+mj-lt"/>
              </a:rPr>
              <a:t>Broader dataset and baseline selection</a:t>
            </a:r>
          </a:p>
        </p:txBody>
      </p:sp>
    </p:spTree>
    <p:extLst>
      <p:ext uri="{BB962C8B-B14F-4D97-AF65-F5344CB8AC3E}">
        <p14:creationId xmlns:p14="http://schemas.microsoft.com/office/powerpoint/2010/main" val="392064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731A9-B8A8-E3BD-C586-8EEEF1F6BE6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B7CF88D-ED8A-99FD-E844-90DF361227AC}"/>
              </a:ext>
            </a:extLst>
          </p:cNvPr>
          <p:cNvSpPr>
            <a:spLocks noGrp="1"/>
          </p:cNvSpPr>
          <p:nvPr>
            <p:ph type="title"/>
          </p:nvPr>
        </p:nvSpPr>
        <p:spPr>
          <a:xfrm>
            <a:off x="904875" y="131032"/>
            <a:ext cx="7726363" cy="1072753"/>
          </a:xfrm>
        </p:spPr>
        <p:txBody>
          <a:bodyPr>
            <a:noAutofit/>
          </a:bodyPr>
          <a:lstStyle/>
          <a:p>
            <a:r>
              <a:rPr lang="en-US" dirty="0"/>
              <a:t>4.3	Multi-measurement Diffusion Methods</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602E51B5-001E-F2AA-66C0-5CCB5B7E10D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916153-5408-EB5B-4D5D-73EFBA2A4C7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E689A15-E9E5-F818-D9EF-73281B66F5EA}"/>
              </a:ext>
            </a:extLst>
          </p:cNvPr>
          <p:cNvSpPr>
            <a:spLocks noGrp="1"/>
          </p:cNvSpPr>
          <p:nvPr>
            <p:ph type="sldNum" sz="quarter" idx="12"/>
          </p:nvPr>
        </p:nvSpPr>
        <p:spPr/>
        <p:txBody>
          <a:bodyPr/>
          <a:lstStyle/>
          <a:p>
            <a:fld id="{E1E1CD7C-2161-7D43-862E-CE4C333CD873}" type="slidenum">
              <a:rPr lang="fr-FR" smtClean="0"/>
              <a:pPr/>
              <a:t>57</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16B4D97-FE0E-D561-0065-60F2904757A5}"/>
                  </a:ext>
                </a:extLst>
              </p:cNvPr>
              <p:cNvSpPr>
                <a:spLocks noGrp="1"/>
              </p:cNvSpPr>
              <p:nvPr>
                <p:ph idx="1"/>
              </p:nvPr>
            </p:nvSpPr>
            <p:spPr/>
            <p:txBody>
              <a:bodyPr anchor="ctr"/>
              <a:lstStyle/>
              <a:p>
                <a:r>
                  <a:rPr lang="en-US" dirty="0">
                    <a:latin typeface="+mj-lt"/>
                  </a:rPr>
                  <a:t>The graph diffusion trade-off</a:t>
                </a:r>
              </a:p>
              <a:p>
                <a:pPr lvl="1"/>
                <a:r>
                  <a:rPr lang="en-US" dirty="0">
                    <a:latin typeface="+mj-lt"/>
                  </a:rPr>
                  <a:t>Improved generalization</a:t>
                </a:r>
              </a:p>
              <a:p>
                <a:pPr lvl="1"/>
                <a:r>
                  <a:rPr lang="en-US" dirty="0">
                    <a:latin typeface="+mj-lt"/>
                  </a:rPr>
                  <a:t>Can use </a:t>
                </a:r>
                <a:r>
                  <a:rPr lang="en-US" dirty="0" err="1">
                    <a:latin typeface="+mj-lt"/>
                  </a:rPr>
                  <a:t>HiGenDiff</a:t>
                </a:r>
                <a:r>
                  <a:rPr lang="en-US" dirty="0">
                    <a:latin typeface="+mj-lt"/>
                  </a:rPr>
                  <a:t> to reduce the number of edge probabilities to compute</a:t>
                </a:r>
              </a:p>
              <a:p>
                <a:pPr lvl="1"/>
                <a:r>
                  <a:rPr lang="en-US" dirty="0">
                    <a:latin typeface="+mj-lt"/>
                  </a:rPr>
                  <a:t>But the total complexity increased by a factor of </a:t>
                </a:r>
                <a14:m>
                  <m:oMath xmlns:m="http://schemas.openxmlformats.org/officeDocument/2006/math">
                    <m:r>
                      <a:rPr lang="en-US" b="0" i="1" smtClean="0">
                        <a:latin typeface="Cambria Math" panose="02040503050406030204" pitchFamily="18" charset="0"/>
                      </a:rPr>
                      <m:t>𝑇</m:t>
                    </m:r>
                  </m:oMath>
                </a14:m>
                <a:r>
                  <a:rPr lang="en-US" dirty="0">
                    <a:latin typeface="+mj-lt"/>
                  </a:rPr>
                  <a:t>…</a:t>
                </a:r>
              </a:p>
              <a:p>
                <a:r>
                  <a:rPr lang="en-US" dirty="0">
                    <a:latin typeface="+mj-lt"/>
                  </a:rPr>
                  <a:t>Do we </a:t>
                </a:r>
                <a:r>
                  <a:rPr lang="en-US" i="1" dirty="0">
                    <a:latin typeface="+mj-lt"/>
                  </a:rPr>
                  <a:t>really</a:t>
                </a:r>
                <a:r>
                  <a:rPr lang="en-US" dirty="0">
                    <a:latin typeface="+mj-lt"/>
                  </a:rPr>
                  <a:t> need </a:t>
                </a:r>
                <a14:m>
                  <m:oMath xmlns:m="http://schemas.openxmlformats.org/officeDocument/2006/math">
                    <m:r>
                      <a:rPr lang="en-US" i="1">
                        <a:latin typeface="Cambria Math" panose="02040503050406030204" pitchFamily="18" charset="0"/>
                      </a:rPr>
                      <m:t>𝑇</m:t>
                    </m:r>
                  </m:oMath>
                </a14:m>
                <a:r>
                  <a:rPr lang="en-US" dirty="0">
                    <a:latin typeface="+mj-lt"/>
                  </a:rPr>
                  <a:t> denoising steps?</a:t>
                </a:r>
              </a:p>
              <a:p>
                <a:pPr lvl="1"/>
                <a:r>
                  <a:rPr lang="en-US" dirty="0">
                    <a:latin typeface="+mj-lt"/>
                  </a:rPr>
                  <a:t>Why is </a:t>
                </a:r>
                <a:r>
                  <a:rPr lang="en-US" i="1" dirty="0">
                    <a:latin typeface="+mj-lt"/>
                  </a:rPr>
                  <a:t>annealing</a:t>
                </a:r>
                <a:r>
                  <a:rPr lang="en-US" dirty="0">
                    <a:latin typeface="+mj-lt"/>
                  </a:rPr>
                  <a:t> (gradual removal of noise) necessary?</a:t>
                </a:r>
              </a:p>
              <a:p>
                <a:pPr lvl="1"/>
                <a:r>
                  <a:rPr lang="en-US" dirty="0">
                    <a:latin typeface="+mj-lt"/>
                  </a:rPr>
                  <a:t>Why not transform latent noise into a distribution sample in one step?</a:t>
                </a:r>
              </a:p>
              <a:p>
                <a:pPr lvl="1"/>
                <a:r>
                  <a:rPr lang="en-US" i="1" dirty="0">
                    <a:latin typeface="+mj-lt"/>
                  </a:rPr>
                  <a:t>Single-noise-level log-concave sampling framework for any multi-modal real-world data?</a:t>
                </a:r>
              </a:p>
            </p:txBody>
          </p:sp>
        </mc:Choice>
        <mc:Fallback>
          <p:sp>
            <p:nvSpPr>
              <p:cNvPr id="3" name="Content Placeholder 2">
                <a:extLst>
                  <a:ext uri="{FF2B5EF4-FFF2-40B4-BE49-F238E27FC236}">
                    <a16:creationId xmlns:a16="http://schemas.microsoft.com/office/drawing/2014/main" id="{B16B4D97-FE0E-D561-0065-60F2904757A5}"/>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11103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1C2F8-BB7F-F2F7-FF3C-9B894E6938E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0C1FA0C-CAE7-9D6B-BFD6-511C6CC7CA5B}"/>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reason for time annealing</a:t>
            </a:r>
            <a:endParaRPr lang="en-GB" sz="2400" b="0" i="1" dirty="0"/>
          </a:p>
        </p:txBody>
      </p:sp>
      <p:sp>
        <p:nvSpPr>
          <p:cNvPr id="5" name="Date Placeholder 4">
            <a:extLst>
              <a:ext uri="{FF2B5EF4-FFF2-40B4-BE49-F238E27FC236}">
                <a16:creationId xmlns:a16="http://schemas.microsoft.com/office/drawing/2014/main" id="{7C756B67-A904-C97C-223C-EEEF3272DDA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811AEC-00FE-D7CC-596D-A30CAEB5CF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57D2C4E-72A1-3376-D7FE-398CF9458CFC}"/>
              </a:ext>
            </a:extLst>
          </p:cNvPr>
          <p:cNvSpPr>
            <a:spLocks noGrp="1"/>
          </p:cNvSpPr>
          <p:nvPr>
            <p:ph type="sldNum" sz="quarter" idx="12"/>
          </p:nvPr>
        </p:nvSpPr>
        <p:spPr/>
        <p:txBody>
          <a:bodyPr/>
          <a:lstStyle/>
          <a:p>
            <a:fld id="{E1E1CD7C-2161-7D43-862E-CE4C333CD873}" type="slidenum">
              <a:rPr lang="fr-FR" smtClean="0"/>
              <a:pPr/>
              <a:t>58</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CFE711B-A0CC-419E-943A-AB60D77DBC11}"/>
                  </a:ext>
                </a:extLst>
              </p:cNvPr>
              <p:cNvSpPr>
                <a:spLocks noGrp="1"/>
              </p:cNvSpPr>
              <p:nvPr>
                <p:ph idx="1"/>
              </p:nvPr>
            </p:nvSpPr>
            <p:spPr>
              <a:xfrm>
                <a:off x="904874" y="1057112"/>
                <a:ext cx="7726363" cy="2319134"/>
              </a:xfrm>
            </p:spPr>
            <p:txBody>
              <a:bodyPr anchor="ctr">
                <a:normAutofit fontScale="85000" lnSpcReduction="20000"/>
              </a:bodyPr>
              <a:lstStyle/>
              <a:p>
                <a:r>
                  <a:rPr lang="en-US" dirty="0">
                    <a:latin typeface="+mj-lt"/>
                  </a:rPr>
                  <a:t>Effect of the diffusion assumption</a:t>
                </a:r>
              </a:p>
              <a:p>
                <a:pPr lvl="1"/>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oMath>
                </a14:m>
                <a:endParaRPr lang="en-US" dirty="0">
                  <a:latin typeface="+mj-lt"/>
                </a:endParaRPr>
              </a:p>
              <a:p>
                <a:pPr lvl="1"/>
                <a14:m>
                  <m:oMath xmlns:m="http://schemas.openxmlformats.org/officeDocument/2006/math">
                    <m:r>
                      <a:rPr lang="en-US" b="0" i="1" smtClean="0">
                        <a:latin typeface="Cambria Math" panose="02040503050406030204" pitchFamily="18" charset="0"/>
                      </a:rPr>
                      <m:t>𝑔</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en>
                    </m:f>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b="0" i="1" smtClean="0">
                            <a:latin typeface="Cambria Math" panose="02040503050406030204" pitchFamily="18" charset="0"/>
                          </a:rPr>
                        </m:ctrlPr>
                      </m:sSupPr>
                      <m:e>
                        <m:r>
                          <a:rPr lang="en-US" i="1" smtClean="0">
                            <a:latin typeface="Cambria Math" panose="02040503050406030204" pitchFamily="18" charset="0"/>
                          </a:rPr>
                          <m:t>𝑔</m:t>
                        </m:r>
                      </m:e>
                      <m:sup>
                        <m:r>
                          <a:rPr lang="en-US" b="0" i="1" smtClean="0">
                            <a:latin typeface="Cambria Math" panose="02040503050406030204" pitchFamily="18" charset="0"/>
                          </a:rPr>
                          <m:t>∗</m:t>
                        </m:r>
                      </m:sup>
                    </m:sSup>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𝑇</m:t>
                        </m:r>
                      </m:sub>
                    </m:sSub>
                    <m:r>
                      <a:rPr lang="en-US" b="0" i="1" smtClean="0">
                        <a:latin typeface="Cambria Math" panose="02040503050406030204" pitchFamily="18" charset="0"/>
                      </a:rPr>
                      <m:t>𝑍</m:t>
                    </m:r>
                  </m:oMath>
                </a14:m>
                <a:r>
                  <a:rPr lang="en-US" b="0" dirty="0">
                    <a:latin typeface="+mj-lt"/>
                  </a:rPr>
                  <a:t>, for Gaussian latent noise</a:t>
                </a:r>
              </a:p>
              <a:p>
                <a:pPr lvl="1"/>
                <a:r>
                  <a:rPr lang="en-US" dirty="0">
                    <a:latin typeface="+mj-lt"/>
                  </a:rPr>
                  <a:t>For the often multi-modal</a:t>
                </a:r>
                <a:r>
                  <a:rPr lang="en-US" dirty="0"/>
                  <a:t> </a:t>
                </a: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oMath>
                </a14:m>
                <a:r>
                  <a:rPr lang="en-US" dirty="0">
                    <a:latin typeface="+mj-lt"/>
                  </a:rPr>
                  <a:t>, </a:t>
                </a:r>
                <a14:m>
                  <m:oMath xmlns:m="http://schemas.openxmlformats.org/officeDocument/2006/math">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oMath>
                </a14:m>
                <a:r>
                  <a:rPr lang="en-US" b="0" dirty="0">
                    <a:latin typeface="+mj-lt"/>
                  </a:rPr>
                  <a:t> can be the least likely sample…</a:t>
                </a:r>
              </a:p>
              <a:p>
                <a:r>
                  <a:rPr lang="en-US" dirty="0">
                    <a:latin typeface="+mj-lt"/>
                  </a:rPr>
                  <a:t>Benefit of annealing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den>
                    </m:f>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𝑡</m:t>
                        </m:r>
                      </m:sub>
                    </m:sSub>
                    <m:r>
                      <a:rPr lang="en-US" b="0" i="1" smtClean="0">
                        <a:latin typeface="Cambria Math" panose="02040503050406030204" pitchFamily="18" charset="0"/>
                      </a:rPr>
                      <m:t>𝑍</m:t>
                    </m:r>
                  </m:oMath>
                </a14:m>
                <a:endParaRPr lang="en-US" b="0" dirty="0">
                  <a:latin typeface="+mj-lt"/>
                </a:endParaRPr>
              </a:p>
              <a:p>
                <a:pPr lvl="1"/>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sub>
                    </m:sSub>
                  </m:oMath>
                </a14:m>
                <a:r>
                  <a:rPr lang="en-US" b="0" dirty="0">
                    <a:latin typeface="+mj-lt"/>
                  </a:rPr>
                  <a:t> more likely to be a single mode Gaussian as we increase </a:t>
                </a:r>
                <a14:m>
                  <m:oMath xmlns:m="http://schemas.openxmlformats.org/officeDocument/2006/math">
                    <m:r>
                      <a:rPr lang="en-US" i="1" smtClean="0">
                        <a:latin typeface="Cambria Math" panose="02040503050406030204" pitchFamily="18" charset="0"/>
                      </a:rPr>
                      <m:t>𝑇</m:t>
                    </m:r>
                  </m:oMath>
                </a14:m>
                <a:r>
                  <a:rPr lang="en-US" b="0" dirty="0">
                    <a:latin typeface="+mj-lt"/>
                  </a:rPr>
                  <a:t>!</a:t>
                </a:r>
                <a:endParaRPr lang="en-US" dirty="0">
                  <a:latin typeface="+mj-lt"/>
                </a:endParaRPr>
              </a:p>
            </p:txBody>
          </p:sp>
        </mc:Choice>
        <mc:Fallback>
          <p:sp>
            <p:nvSpPr>
              <p:cNvPr id="3" name="Content Placeholder 2">
                <a:extLst>
                  <a:ext uri="{FF2B5EF4-FFF2-40B4-BE49-F238E27FC236}">
                    <a16:creationId xmlns:a16="http://schemas.microsoft.com/office/drawing/2014/main" id="{FCFE711B-A0CC-419E-943A-AB60D77DBC11}"/>
                  </a:ext>
                </a:extLst>
              </p:cNvPr>
              <p:cNvSpPr>
                <a:spLocks noGrp="1" noRot="1" noChangeAspect="1" noMove="1" noResize="1" noEditPoints="1" noAdjustHandles="1" noChangeArrowheads="1" noChangeShapeType="1" noTextEdit="1"/>
              </p:cNvSpPr>
              <p:nvPr>
                <p:ph idx="1"/>
              </p:nvPr>
            </p:nvSpPr>
            <p:spPr>
              <a:xfrm>
                <a:off x="904874" y="1057112"/>
                <a:ext cx="7726363" cy="2319134"/>
              </a:xfrm>
              <a:blipFill>
                <a:blip r:embed="rId3"/>
                <a:stretch>
                  <a:fillRect t="-2625" b="-2100"/>
                </a:stretch>
              </a:blipFill>
            </p:spPr>
            <p:txBody>
              <a:bodyPr/>
              <a:lstStyle/>
              <a:p>
                <a:r>
                  <a:rPr lang="en-GB">
                    <a:noFill/>
                  </a:rPr>
                  <a:t> </a:t>
                </a:r>
              </a:p>
            </p:txBody>
          </p:sp>
        </mc:Fallback>
      </mc:AlternateContent>
      <p:pic>
        <p:nvPicPr>
          <p:cNvPr id="4" name="Picture 3" descr="A graph on a white sheet&#10;&#10;AI-generated content may be incorrect.">
            <a:extLst>
              <a:ext uri="{FF2B5EF4-FFF2-40B4-BE49-F238E27FC236}">
                <a16:creationId xmlns:a16="http://schemas.microsoft.com/office/drawing/2014/main" id="{75202612-5D6E-61BF-B57C-51D931C2B844}"/>
              </a:ext>
            </a:extLst>
          </p:cNvPr>
          <p:cNvPicPr>
            <a:picLocks noChangeAspect="1"/>
          </p:cNvPicPr>
          <p:nvPr/>
        </p:nvPicPr>
        <p:blipFill>
          <a:blip r:embed="rId4"/>
          <a:stretch>
            <a:fillRect/>
          </a:stretch>
        </p:blipFill>
        <p:spPr>
          <a:xfrm>
            <a:off x="1025642" y="3466447"/>
            <a:ext cx="7484825" cy="1438293"/>
          </a:xfrm>
          <a:prstGeom prst="rect">
            <a:avLst/>
          </a:prstGeom>
        </p:spPr>
      </p:pic>
    </p:spTree>
    <p:extLst>
      <p:ext uri="{BB962C8B-B14F-4D97-AF65-F5344CB8AC3E}">
        <p14:creationId xmlns:p14="http://schemas.microsoft.com/office/powerpoint/2010/main" val="135912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9" dur="500"/>
                                        <p:tgtEl>
                                          <p:spTgt spid="3">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randombar(horizontal)">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7" dur="500"/>
                                        <p:tgtEl>
                                          <p:spTgt spid="3">
                                            <p:txEl>
                                              <p:pRg st="5" end="5"/>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0" dur="500"/>
                                        <p:tgtEl>
                                          <p:spTgt spid="3">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3" dur="500"/>
                                        <p:tgtEl>
                                          <p:spTgt spid="3">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DCAF5-32E4-6800-B484-8EEAC122318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E081805-6D4F-EC49-30E3-A964736CC411}"/>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disadvantages of time annealing</a:t>
            </a:r>
            <a:endParaRPr lang="en-GB" sz="2400" b="0" i="1" dirty="0"/>
          </a:p>
        </p:txBody>
      </p:sp>
      <p:sp>
        <p:nvSpPr>
          <p:cNvPr id="5" name="Date Placeholder 4">
            <a:extLst>
              <a:ext uri="{FF2B5EF4-FFF2-40B4-BE49-F238E27FC236}">
                <a16:creationId xmlns:a16="http://schemas.microsoft.com/office/drawing/2014/main" id="{AA9FDDC5-3583-4EA2-ABA4-2489B15146C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E7839A-D9AE-1783-B153-4DD49683696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F7FAA3E-ED30-2B72-EF82-4DA779D5D528}"/>
              </a:ext>
            </a:extLst>
          </p:cNvPr>
          <p:cNvSpPr>
            <a:spLocks noGrp="1"/>
          </p:cNvSpPr>
          <p:nvPr>
            <p:ph type="sldNum" sz="quarter" idx="12"/>
          </p:nvPr>
        </p:nvSpPr>
        <p:spPr/>
        <p:txBody>
          <a:bodyPr/>
          <a:lstStyle/>
          <a:p>
            <a:fld id="{E1E1CD7C-2161-7D43-862E-CE4C333CD873}" type="slidenum">
              <a:rPr lang="fr-FR" smtClean="0"/>
              <a:pPr/>
              <a:t>59</a:t>
            </a:fld>
            <a:endParaRPr lang="fr-FR" dirty="0"/>
          </a:p>
        </p:txBody>
      </p:sp>
      <p:sp>
        <p:nvSpPr>
          <p:cNvPr id="3" name="Content Placeholder 2">
            <a:extLst>
              <a:ext uri="{FF2B5EF4-FFF2-40B4-BE49-F238E27FC236}">
                <a16:creationId xmlns:a16="http://schemas.microsoft.com/office/drawing/2014/main" id="{754CC029-2A24-F64A-A490-8F75931FCFD0}"/>
              </a:ext>
            </a:extLst>
          </p:cNvPr>
          <p:cNvSpPr>
            <a:spLocks noGrp="1"/>
          </p:cNvSpPr>
          <p:nvPr>
            <p:ph idx="1"/>
          </p:nvPr>
        </p:nvSpPr>
        <p:spPr/>
        <p:txBody>
          <a:bodyPr anchor="ctr"/>
          <a:lstStyle/>
          <a:p>
            <a:r>
              <a:rPr lang="en-US" b="0" dirty="0">
                <a:latin typeface="+mj-lt"/>
              </a:rPr>
              <a:t>A collection of generators </a:t>
            </a:r>
            <a:r>
              <a:rPr lang="en-US" dirty="0">
                <a:latin typeface="+mj-lt"/>
              </a:rPr>
              <a:t>only conceptually</a:t>
            </a:r>
          </a:p>
          <a:p>
            <a:pPr lvl="1"/>
            <a:r>
              <a:rPr lang="en-US" b="0" dirty="0">
                <a:latin typeface="+mj-lt"/>
              </a:rPr>
              <a:t>In practice, only one neural networ</a:t>
            </a:r>
            <a:r>
              <a:rPr lang="en-US" dirty="0">
                <a:latin typeface="+mj-lt"/>
              </a:rPr>
              <a:t>k taking the time step as additional input</a:t>
            </a:r>
          </a:p>
          <a:p>
            <a:pPr lvl="1"/>
            <a:r>
              <a:rPr lang="en-US" b="0" dirty="0">
                <a:latin typeface="+mj-lt"/>
              </a:rPr>
              <a:t>Positional time embeddings, noise schedules…</a:t>
            </a:r>
          </a:p>
          <a:p>
            <a:r>
              <a:rPr lang="en-US" dirty="0">
                <a:latin typeface="+mj-lt"/>
              </a:rPr>
              <a:t>Very difficult training and hyperparameter tuning process</a:t>
            </a:r>
          </a:p>
          <a:p>
            <a:pPr lvl="1"/>
            <a:r>
              <a:rPr lang="en-US" dirty="0">
                <a:latin typeface="+mj-lt"/>
              </a:rPr>
              <a:t>Multi-task learning for the denoiser network</a:t>
            </a:r>
          </a:p>
          <a:p>
            <a:pPr lvl="1"/>
            <a:r>
              <a:rPr lang="en-US" dirty="0">
                <a:latin typeface="+mj-lt"/>
              </a:rPr>
              <a:t>At high noise levels, the denoiser must introduce novel signal components</a:t>
            </a:r>
          </a:p>
          <a:p>
            <a:pPr lvl="1"/>
            <a:r>
              <a:rPr lang="en-US" dirty="0">
                <a:latin typeface="+mj-lt"/>
              </a:rPr>
              <a:t>At low noise levels, the denoiser must solely use high-frequency noise</a:t>
            </a:r>
          </a:p>
          <a:p>
            <a:pPr lvl="1"/>
            <a:r>
              <a:rPr lang="en-US" dirty="0">
                <a:latin typeface="+mj-lt"/>
              </a:rPr>
              <a:t>Many steps adding minimal structural detail</a:t>
            </a:r>
          </a:p>
        </p:txBody>
      </p:sp>
    </p:spTree>
    <p:extLst>
      <p:ext uri="{BB962C8B-B14F-4D97-AF65-F5344CB8AC3E}">
        <p14:creationId xmlns:p14="http://schemas.microsoft.com/office/powerpoint/2010/main" val="640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6A151-DA37-1FE9-3109-2B8F8A78C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813255-1BC5-D972-832B-DE5B0C0F3BBB}"/>
              </a:ext>
            </a:extLst>
          </p:cNvPr>
          <p:cNvSpPr>
            <a:spLocks noGrp="1"/>
          </p:cNvSpPr>
          <p:nvPr>
            <p:ph sz="half" idx="1"/>
          </p:nvPr>
        </p:nvSpPr>
        <p:spPr>
          <a:xfrm>
            <a:off x="904875" y="1563688"/>
            <a:ext cx="4221040" cy="3263504"/>
          </a:xfrm>
        </p:spPr>
        <p:txBody>
          <a:bodyPr anchor="ctr">
            <a:normAutofit fontScale="92500" lnSpcReduction="10000"/>
          </a:bodyPr>
          <a:lstStyle/>
          <a:p>
            <a:r>
              <a:rPr lang="en-US" b="0" dirty="0">
                <a:latin typeface="+mj-lt"/>
              </a:rPr>
              <a:t>Related work - multi-measurements + proximal sampling</a:t>
            </a:r>
          </a:p>
          <a:p>
            <a:r>
              <a:rPr lang="en-US" dirty="0">
                <a:latin typeface="+mj-lt"/>
              </a:rPr>
              <a:t>Multi-measurements of Saremi et al.</a:t>
            </a:r>
          </a:p>
          <a:p>
            <a:pPr lvl="1"/>
            <a:r>
              <a:rPr lang="en-US" dirty="0">
                <a:latin typeface="+mj-lt"/>
              </a:rPr>
              <a:t>Building sample chains from an e</a:t>
            </a:r>
            <a:r>
              <a:rPr lang="en-US" b="0" dirty="0">
                <a:latin typeface="+mj-lt"/>
              </a:rPr>
              <a:t>nsemble of correlated measurements</a:t>
            </a:r>
          </a:p>
          <a:p>
            <a:pPr lvl="1"/>
            <a:r>
              <a:rPr lang="en-US" dirty="0">
                <a:latin typeface="+mj-lt"/>
              </a:rPr>
              <a:t>Only </a:t>
            </a:r>
            <a:r>
              <a:rPr lang="en-US" i="1" dirty="0">
                <a:latin typeface="+mj-lt"/>
              </a:rPr>
              <a:t>increasingly</a:t>
            </a:r>
            <a:r>
              <a:rPr lang="en-US" dirty="0">
                <a:latin typeface="+mj-lt"/>
              </a:rPr>
              <a:t> log-concave </a:t>
            </a:r>
            <a:r>
              <a:rPr lang="en-US" b="0" dirty="0">
                <a:latin typeface="+mj-lt"/>
              </a:rPr>
              <a:t>over time</a:t>
            </a:r>
          </a:p>
          <a:p>
            <a:r>
              <a:rPr lang="en-US" dirty="0">
                <a:latin typeface="+mj-lt"/>
              </a:rPr>
              <a:t>Proximal sampler of Shen et al.</a:t>
            </a:r>
          </a:p>
          <a:p>
            <a:pPr lvl="1"/>
            <a:r>
              <a:rPr lang="en-US" dirty="0">
                <a:latin typeface="+mj-lt"/>
              </a:rPr>
              <a:t>Reducing the difficulty of sampling at high noise levels</a:t>
            </a:r>
          </a:p>
          <a:p>
            <a:pPr lvl="1"/>
            <a:r>
              <a:rPr lang="en-US" b="0" i="1" dirty="0">
                <a:latin typeface="+mj-lt"/>
              </a:rPr>
              <a:t>Heuristics</a:t>
            </a:r>
          </a:p>
          <a:p>
            <a:r>
              <a:rPr lang="en-US" dirty="0">
                <a:latin typeface="+mj-lt"/>
              </a:rPr>
              <a:t>The </a:t>
            </a:r>
            <a:r>
              <a:rPr lang="en-US" dirty="0" err="1">
                <a:latin typeface="+mj-lt"/>
              </a:rPr>
              <a:t>MultiProx</a:t>
            </a:r>
            <a:r>
              <a:rPr lang="en-US" dirty="0">
                <a:latin typeface="+mj-lt"/>
              </a:rPr>
              <a:t> sampler</a:t>
            </a:r>
          </a:p>
          <a:p>
            <a:pPr lvl="1"/>
            <a:r>
              <a:rPr lang="en-US" dirty="0">
                <a:latin typeface="+mj-lt"/>
              </a:rPr>
              <a:t>Theoretically fully log-concave</a:t>
            </a:r>
          </a:p>
          <a:p>
            <a:pPr lvl="1"/>
            <a:r>
              <a:rPr lang="en-US" i="1" dirty="0">
                <a:latin typeface="+mj-lt"/>
              </a:rPr>
              <a:t>Gibbs sampling</a:t>
            </a:r>
          </a:p>
        </p:txBody>
      </p:sp>
      <p:pic>
        <p:nvPicPr>
          <p:cNvPr id="10" name="Content Placeholder 9" descr="A screenshot of a computer program&#10;&#10;AI-generated content may be incorrect.">
            <a:extLst>
              <a:ext uri="{FF2B5EF4-FFF2-40B4-BE49-F238E27FC236}">
                <a16:creationId xmlns:a16="http://schemas.microsoft.com/office/drawing/2014/main" id="{6FF9799D-27E1-D18B-86D5-F263E4873CE3}"/>
              </a:ext>
            </a:extLst>
          </p:cNvPr>
          <p:cNvPicPr>
            <a:picLocks noGrp="1" noChangeAspect="1"/>
          </p:cNvPicPr>
          <p:nvPr>
            <p:ph sz="half" idx="2"/>
          </p:nvPr>
        </p:nvPicPr>
        <p:blipFill>
          <a:blip r:embed="rId3"/>
          <a:stretch>
            <a:fillRect/>
          </a:stretch>
        </p:blipFill>
        <p:spPr>
          <a:xfrm>
            <a:off x="4959350" y="2222894"/>
            <a:ext cx="3671888" cy="1945487"/>
          </a:xfrm>
        </p:spPr>
      </p:pic>
      <p:sp>
        <p:nvSpPr>
          <p:cNvPr id="8" name="Title 7">
            <a:extLst>
              <a:ext uri="{FF2B5EF4-FFF2-40B4-BE49-F238E27FC236}">
                <a16:creationId xmlns:a16="http://schemas.microsoft.com/office/drawing/2014/main" id="{7B5B8BBC-58B4-B863-C654-711DF1062598}"/>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Theory</a:t>
            </a:r>
            <a:endParaRPr lang="en-GB" sz="2400" b="0" i="1" dirty="0"/>
          </a:p>
        </p:txBody>
      </p:sp>
      <p:sp>
        <p:nvSpPr>
          <p:cNvPr id="5" name="Date Placeholder 4">
            <a:extLst>
              <a:ext uri="{FF2B5EF4-FFF2-40B4-BE49-F238E27FC236}">
                <a16:creationId xmlns:a16="http://schemas.microsoft.com/office/drawing/2014/main" id="{C91AB68E-411B-95F7-2CE2-01298E9A018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E2539C-7CC9-4A8F-4E05-87C9CE1B05A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023CB6E2-0108-ECA2-93EA-C5DCA1C96B35}"/>
              </a:ext>
            </a:extLst>
          </p:cNvPr>
          <p:cNvSpPr>
            <a:spLocks noGrp="1"/>
          </p:cNvSpPr>
          <p:nvPr>
            <p:ph type="sldNum" sz="quarter" idx="12"/>
          </p:nvPr>
        </p:nvSpPr>
        <p:spPr/>
        <p:txBody>
          <a:bodyPr/>
          <a:lstStyle/>
          <a:p>
            <a:fld id="{E1E1CD7C-2161-7D43-862E-CE4C333CD873}" type="slidenum">
              <a:rPr lang="fr-FR" smtClean="0"/>
              <a:pPr/>
              <a:t>60</a:t>
            </a:fld>
            <a:endParaRPr lang="fr-FR" dirty="0"/>
          </a:p>
        </p:txBody>
      </p:sp>
    </p:spTree>
    <p:extLst>
      <p:ext uri="{BB962C8B-B14F-4D97-AF65-F5344CB8AC3E}">
        <p14:creationId xmlns:p14="http://schemas.microsoft.com/office/powerpoint/2010/main" val="30052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4" presetClass="entr" presetSubtype="1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4" dur="500"/>
                                        <p:tgtEl>
                                          <p:spTgt spid="3">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7" dur="500"/>
                                        <p:tgtEl>
                                          <p:spTgt spid="3">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randombar(horizontal)">
                                      <p:cBhvr>
                                        <p:cTn id="40" dur="500"/>
                                        <p:tgtEl>
                                          <p:spTgt spid="3">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randombar(horizontal)">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38AF1-EC31-28FC-0A7E-879159E9844B}"/>
            </a:ext>
          </a:extLst>
        </p:cNvPr>
        <p:cNvGrpSpPr/>
        <p:nvPr/>
      </p:nvGrpSpPr>
      <p:grpSpPr>
        <a:xfrm>
          <a:off x="0" y="0"/>
          <a:ext cx="0" cy="0"/>
          <a:chOff x="0" y="0"/>
          <a:chExt cx="0" cy="0"/>
        </a:xfrm>
      </p:grpSpPr>
      <p:pic>
        <p:nvPicPr>
          <p:cNvPr id="11" name="Content Placeholder 10" descr="A screenshot of a computer&#10;&#10;AI-generated content may be incorrect.">
            <a:extLst>
              <a:ext uri="{FF2B5EF4-FFF2-40B4-BE49-F238E27FC236}">
                <a16:creationId xmlns:a16="http://schemas.microsoft.com/office/drawing/2014/main" id="{E65E644D-FE8E-F167-CA85-7F3EF66244A2}"/>
              </a:ext>
            </a:extLst>
          </p:cNvPr>
          <p:cNvPicPr>
            <a:picLocks noGrp="1" noChangeAspect="1"/>
          </p:cNvPicPr>
          <p:nvPr>
            <p:ph idx="1"/>
          </p:nvPr>
        </p:nvPicPr>
        <p:blipFill>
          <a:blip r:embed="rId3"/>
          <a:stretch>
            <a:fillRect/>
          </a:stretch>
        </p:blipFill>
        <p:spPr>
          <a:xfrm>
            <a:off x="1163713" y="1563688"/>
            <a:ext cx="7208686" cy="3386137"/>
          </a:xfrm>
        </p:spPr>
      </p:pic>
      <p:sp>
        <p:nvSpPr>
          <p:cNvPr id="8" name="Title 7">
            <a:extLst>
              <a:ext uri="{FF2B5EF4-FFF2-40B4-BE49-F238E27FC236}">
                <a16:creationId xmlns:a16="http://schemas.microsoft.com/office/drawing/2014/main" id="{2B09D6B3-367E-2E07-F704-F1BD3669E91E}"/>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Visually</a:t>
            </a:r>
            <a:endParaRPr lang="en-GB" sz="2400" b="0" i="1" dirty="0"/>
          </a:p>
        </p:txBody>
      </p:sp>
      <p:sp>
        <p:nvSpPr>
          <p:cNvPr id="5" name="Date Placeholder 4">
            <a:extLst>
              <a:ext uri="{FF2B5EF4-FFF2-40B4-BE49-F238E27FC236}">
                <a16:creationId xmlns:a16="http://schemas.microsoft.com/office/drawing/2014/main" id="{75E4D8B4-EEB7-D373-E488-8547930D1A4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9B5DD0-2BDB-A2C5-6EC5-B3D542A8A51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DE9ED87-EA19-C4F5-3E73-9E7F26E4E04A}"/>
              </a:ext>
            </a:extLst>
          </p:cNvPr>
          <p:cNvSpPr>
            <a:spLocks noGrp="1"/>
          </p:cNvSpPr>
          <p:nvPr>
            <p:ph type="sldNum" sz="quarter" idx="12"/>
          </p:nvPr>
        </p:nvSpPr>
        <p:spPr/>
        <p:txBody>
          <a:bodyPr/>
          <a:lstStyle/>
          <a:p>
            <a:fld id="{E1E1CD7C-2161-7D43-862E-CE4C333CD873}" type="slidenum">
              <a:rPr lang="fr-FR" smtClean="0"/>
              <a:pPr/>
              <a:t>61</a:t>
            </a:fld>
            <a:endParaRPr lang="fr-FR" dirty="0"/>
          </a:p>
        </p:txBody>
      </p:sp>
    </p:spTree>
    <p:extLst>
      <p:ext uri="{BB962C8B-B14F-4D97-AF65-F5344CB8AC3E}">
        <p14:creationId xmlns:p14="http://schemas.microsoft.com/office/powerpoint/2010/main" val="4074774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C6A0-4170-401E-9445-224817B8430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81F8992-A08E-89F7-E2CA-D3CA1B716776}"/>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Images</a:t>
            </a:r>
            <a:endParaRPr lang="en-GB" sz="2400" b="0" i="1" dirty="0"/>
          </a:p>
        </p:txBody>
      </p:sp>
      <p:sp>
        <p:nvSpPr>
          <p:cNvPr id="5" name="Date Placeholder 4">
            <a:extLst>
              <a:ext uri="{FF2B5EF4-FFF2-40B4-BE49-F238E27FC236}">
                <a16:creationId xmlns:a16="http://schemas.microsoft.com/office/drawing/2014/main" id="{93ED1352-8782-A155-ADE1-B4B6BEB26E7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9BB4942-4404-81B0-C25A-DFD519325C4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4D03E0A-DBF2-83A5-6529-BDA4F639E726}"/>
              </a:ext>
            </a:extLst>
          </p:cNvPr>
          <p:cNvSpPr>
            <a:spLocks noGrp="1"/>
          </p:cNvSpPr>
          <p:nvPr>
            <p:ph type="sldNum" sz="quarter" idx="12"/>
          </p:nvPr>
        </p:nvSpPr>
        <p:spPr/>
        <p:txBody>
          <a:bodyPr/>
          <a:lstStyle/>
          <a:p>
            <a:fld id="{E1E1CD7C-2161-7D43-862E-CE4C333CD873}" type="slidenum">
              <a:rPr lang="fr-FR" smtClean="0"/>
              <a:pPr/>
              <a:t>62</a:t>
            </a:fld>
            <a:endParaRPr lang="fr-FR" dirty="0"/>
          </a:p>
        </p:txBody>
      </p:sp>
      <p:pic>
        <p:nvPicPr>
          <p:cNvPr id="9" name="Content Placeholder 8" descr="A collage of images of birds&#10;&#10;AI-generated content may be incorrect.">
            <a:extLst>
              <a:ext uri="{FF2B5EF4-FFF2-40B4-BE49-F238E27FC236}">
                <a16:creationId xmlns:a16="http://schemas.microsoft.com/office/drawing/2014/main" id="{A4C5D4EA-3244-AA5A-F9F8-DBFB9E624429}"/>
              </a:ext>
            </a:extLst>
          </p:cNvPr>
          <p:cNvPicPr>
            <a:picLocks noGrp="1" noChangeAspect="1"/>
          </p:cNvPicPr>
          <p:nvPr>
            <p:ph idx="1"/>
          </p:nvPr>
        </p:nvPicPr>
        <p:blipFill>
          <a:blip r:embed="rId3"/>
          <a:stretch>
            <a:fillRect/>
          </a:stretch>
        </p:blipFill>
        <p:spPr>
          <a:xfrm>
            <a:off x="2287740" y="945587"/>
            <a:ext cx="4960630" cy="793701"/>
          </a:xfrm>
        </p:spPr>
      </p:pic>
      <p:pic>
        <p:nvPicPr>
          <p:cNvPr id="12" name="Picture 11" descr="A collage of different cats&#10;&#10;AI-generated content may be incorrect.">
            <a:extLst>
              <a:ext uri="{FF2B5EF4-FFF2-40B4-BE49-F238E27FC236}">
                <a16:creationId xmlns:a16="http://schemas.microsoft.com/office/drawing/2014/main" id="{48077CDF-5D40-38D5-2D6D-73790C6089B1}"/>
              </a:ext>
            </a:extLst>
          </p:cNvPr>
          <p:cNvPicPr>
            <a:picLocks noChangeAspect="1"/>
          </p:cNvPicPr>
          <p:nvPr/>
        </p:nvPicPr>
        <p:blipFill>
          <a:blip r:embed="rId4"/>
          <a:stretch>
            <a:fillRect/>
          </a:stretch>
        </p:blipFill>
        <p:spPr>
          <a:xfrm>
            <a:off x="2554060" y="1844960"/>
            <a:ext cx="4427991" cy="1106426"/>
          </a:xfrm>
          <a:prstGeom prst="rect">
            <a:avLst/>
          </a:prstGeom>
        </p:spPr>
      </p:pic>
      <p:pic>
        <p:nvPicPr>
          <p:cNvPr id="14" name="Picture 13" descr="A collage of a group of people&#10;&#10;AI-generated content may be incorrect.">
            <a:extLst>
              <a:ext uri="{FF2B5EF4-FFF2-40B4-BE49-F238E27FC236}">
                <a16:creationId xmlns:a16="http://schemas.microsoft.com/office/drawing/2014/main" id="{8677BB90-D35F-8BEF-7065-990DD626681F}"/>
              </a:ext>
            </a:extLst>
          </p:cNvPr>
          <p:cNvPicPr>
            <a:picLocks noChangeAspect="1"/>
          </p:cNvPicPr>
          <p:nvPr/>
        </p:nvPicPr>
        <p:blipFill>
          <a:blip r:embed="rId5"/>
          <a:stretch>
            <a:fillRect/>
          </a:stretch>
        </p:blipFill>
        <p:spPr>
          <a:xfrm>
            <a:off x="2941292" y="3016477"/>
            <a:ext cx="3543307" cy="1771196"/>
          </a:xfrm>
          <a:prstGeom prst="rect">
            <a:avLst/>
          </a:prstGeom>
        </p:spPr>
      </p:pic>
    </p:spTree>
    <p:extLst>
      <p:ext uri="{BB962C8B-B14F-4D97-AF65-F5344CB8AC3E}">
        <p14:creationId xmlns:p14="http://schemas.microsoft.com/office/powerpoint/2010/main" val="2253592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randombar(horizontal)">
                                      <p:cBhvr>
                                        <p:cTn id="11" dur="500"/>
                                        <p:tgtEl>
                                          <p:spTgt spid="12"/>
                                        </p:tgtEl>
                                      </p:cBhvr>
                                    </p:animEffect>
                                  </p:childTnLst>
                                </p:cTn>
                              </p:par>
                            </p:childTnLst>
                          </p:cTn>
                        </p:par>
                        <p:par>
                          <p:cTn id="12" fill="hold">
                            <p:stCondLst>
                              <p:cond delay="1000"/>
                            </p:stCondLst>
                            <p:childTnLst>
                              <p:par>
                                <p:cTn id="13" presetID="14" presetClass="entr" presetSubtype="10"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randombar(horizontal)">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563BE-C9A3-F024-2F7E-A1CB3A86904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E082EBE-43B8-98A3-6E2B-7D55F0E23F63}"/>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9AED6044-95DF-1888-D2EB-6A845A2BAE6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1E26E09-846A-76C7-24EC-EB05183BAE0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46033A-3D6A-51A2-3BE3-53AEFB7C2F8D}"/>
              </a:ext>
            </a:extLst>
          </p:cNvPr>
          <p:cNvSpPr>
            <a:spLocks noGrp="1"/>
          </p:cNvSpPr>
          <p:nvPr>
            <p:ph type="sldNum" sz="quarter" idx="12"/>
          </p:nvPr>
        </p:nvSpPr>
        <p:spPr/>
        <p:txBody>
          <a:bodyPr/>
          <a:lstStyle/>
          <a:p>
            <a:fld id="{E1E1CD7C-2161-7D43-862E-CE4C333CD873}" type="slidenum">
              <a:rPr lang="fr-FR" smtClean="0"/>
              <a:pPr/>
              <a:t>63</a:t>
            </a:fld>
            <a:endParaRPr lang="fr-FR" dirty="0"/>
          </a:p>
        </p:txBody>
      </p:sp>
      <p:sp>
        <p:nvSpPr>
          <p:cNvPr id="3" name="Content Placeholder 2">
            <a:extLst>
              <a:ext uri="{FF2B5EF4-FFF2-40B4-BE49-F238E27FC236}">
                <a16:creationId xmlns:a16="http://schemas.microsoft.com/office/drawing/2014/main" id="{36B70827-C777-361B-FC5C-279A21FA0CE6}"/>
              </a:ext>
            </a:extLst>
          </p:cNvPr>
          <p:cNvSpPr>
            <a:spLocks noGrp="1"/>
          </p:cNvSpPr>
          <p:nvPr>
            <p:ph idx="1"/>
          </p:nvPr>
        </p:nvSpPr>
        <p:spPr>
          <a:xfrm>
            <a:off x="904875" y="3068514"/>
            <a:ext cx="7726363" cy="1881945"/>
          </a:xfrm>
        </p:spPr>
        <p:txBody>
          <a:bodyPr anchor="ctr"/>
          <a:lstStyle/>
          <a:p>
            <a:r>
              <a:rPr lang="en-US" dirty="0">
                <a:latin typeface="Franklin Gothic Demi Cond" panose="020B0706030402020204" pitchFamily="34" charset="0"/>
              </a:rPr>
              <a:t>Longer warm-up period</a:t>
            </a:r>
          </a:p>
          <a:p>
            <a:r>
              <a:rPr lang="en-US" dirty="0">
                <a:latin typeface="Franklin Gothic Demi Cond" panose="020B0706030402020204" pitchFamily="34" charset="0"/>
              </a:rPr>
              <a:t>Expressive, but sample uniqueness falls across chains (mode collapse)</a:t>
            </a:r>
          </a:p>
          <a:p>
            <a:r>
              <a:rPr lang="en-US" dirty="0">
                <a:latin typeface="Franklin Gothic Demi Cond" panose="020B0706030402020204" pitchFamily="34" charset="0"/>
              </a:rPr>
              <a:t>Discreteness of distribution violates assumptions</a:t>
            </a:r>
          </a:p>
          <a:p>
            <a:pPr lvl="1"/>
            <a:r>
              <a:rPr lang="en-US" dirty="0">
                <a:latin typeface="Franklin Gothic Demi Cond" panose="020B0706030402020204" pitchFamily="34" charset="0"/>
              </a:rPr>
              <a:t>Conjecture: noise reduction via graph averaging is less reliable</a:t>
            </a:r>
            <a:endParaRPr lang="en-GB" dirty="0">
              <a:latin typeface="Franklin Gothic Demi Cond" panose="020B0706030402020204" pitchFamily="34" charset="0"/>
            </a:endParaRPr>
          </a:p>
        </p:txBody>
      </p:sp>
      <p:pic>
        <p:nvPicPr>
          <p:cNvPr id="18" name="Picture 17" descr="A group of small black and red symbols&#10;&#10;AI-generated content may be incorrect.">
            <a:extLst>
              <a:ext uri="{FF2B5EF4-FFF2-40B4-BE49-F238E27FC236}">
                <a16:creationId xmlns:a16="http://schemas.microsoft.com/office/drawing/2014/main" id="{36FC7E3C-715E-4733-D618-C74D022A1C61}"/>
              </a:ext>
            </a:extLst>
          </p:cNvPr>
          <p:cNvPicPr>
            <a:picLocks noChangeAspect="1"/>
          </p:cNvPicPr>
          <p:nvPr/>
        </p:nvPicPr>
        <p:blipFill>
          <a:blip r:embed="rId3"/>
          <a:stretch>
            <a:fillRect/>
          </a:stretch>
        </p:blipFill>
        <p:spPr>
          <a:xfrm>
            <a:off x="1339056" y="1107450"/>
            <a:ext cx="6858000" cy="2057400"/>
          </a:xfrm>
          <a:prstGeom prst="rect">
            <a:avLst/>
          </a:prstGeom>
        </p:spPr>
      </p:pic>
    </p:spTree>
    <p:extLst>
      <p:ext uri="{BB962C8B-B14F-4D97-AF65-F5344CB8AC3E}">
        <p14:creationId xmlns:p14="http://schemas.microsoft.com/office/powerpoint/2010/main" val="3096426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randombar(horizontal)">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randombar(horizontal)">
                                      <p:cBhvr>
                                        <p:cTn id="12" dur="500"/>
                                        <p:tgtEl>
                                          <p:spTgt spid="3">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5" dur="500"/>
                                        <p:tgtEl>
                                          <p:spTgt spid="3">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8" dur="500"/>
                                        <p:tgtEl>
                                          <p:spTgt spid="3">
                                            <p:txEl>
                                              <p:pRg st="2" end="2"/>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E76E-F7BA-E437-A674-5681DC3AE0F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8C3BF72-0D0B-9D65-7ECC-EE7815C0812D}"/>
              </a:ext>
            </a:extLst>
          </p:cNvPr>
          <p:cNvSpPr>
            <a:spLocks noGrp="1"/>
          </p:cNvSpPr>
          <p:nvPr>
            <p:ph type="title"/>
          </p:nvPr>
        </p:nvSpPr>
        <p:spPr>
          <a:xfrm>
            <a:off x="904875" y="131032"/>
            <a:ext cx="7726363" cy="1072753"/>
          </a:xfrm>
        </p:spPr>
        <p:txBody>
          <a:bodyPr>
            <a:normAutofit fontScale="90000"/>
          </a:bodyPr>
          <a:lstStyle/>
          <a:p>
            <a:r>
              <a:rPr lang="en-US" sz="3600" dirty="0"/>
              <a:t>4.3	Multi-measurement Diffusion Methods</a:t>
            </a:r>
            <a:br>
              <a:rPr lang="en-US" sz="3600" dirty="0"/>
            </a:br>
            <a:r>
              <a:rPr lang="en-US" sz="2700" b="0" i="1" dirty="0"/>
              <a:t>*The </a:t>
            </a:r>
            <a:r>
              <a:rPr lang="en-US" sz="2700" b="0" i="1" dirty="0" err="1"/>
              <a:t>MultiProxAn</a:t>
            </a:r>
            <a:r>
              <a:rPr lang="en-US" sz="2700" b="0" i="1" dirty="0"/>
              <a:t> sampler</a:t>
            </a:r>
            <a:br>
              <a:rPr lang="en-US" dirty="0"/>
            </a:br>
            <a:endParaRPr lang="en-GB" sz="2400" b="0" i="1" dirty="0"/>
          </a:p>
        </p:txBody>
      </p:sp>
      <p:sp>
        <p:nvSpPr>
          <p:cNvPr id="5" name="Date Placeholder 4">
            <a:extLst>
              <a:ext uri="{FF2B5EF4-FFF2-40B4-BE49-F238E27FC236}">
                <a16:creationId xmlns:a16="http://schemas.microsoft.com/office/drawing/2014/main" id="{EC16BEFD-0EFD-453F-56CD-EBAEBB88453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75ECCDC-1B2C-7C46-1732-1A0000F610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FC1F00-5404-B24E-E581-5ADC7AFDFD4B}"/>
              </a:ext>
            </a:extLst>
          </p:cNvPr>
          <p:cNvSpPr>
            <a:spLocks noGrp="1"/>
          </p:cNvSpPr>
          <p:nvPr>
            <p:ph type="sldNum" sz="quarter" idx="12"/>
          </p:nvPr>
        </p:nvSpPr>
        <p:spPr/>
        <p:txBody>
          <a:bodyPr/>
          <a:lstStyle/>
          <a:p>
            <a:fld id="{E1E1CD7C-2161-7D43-862E-CE4C333CD873}" type="slidenum">
              <a:rPr lang="fr-FR" smtClean="0"/>
              <a:pPr/>
              <a:t>64</a:t>
            </a:fld>
            <a:endParaRPr lang="fr-FR" dirty="0"/>
          </a:p>
        </p:txBody>
      </p:sp>
      <p:pic>
        <p:nvPicPr>
          <p:cNvPr id="9" name="Content Placeholder 8" descr="A screenshot of a computer&#10;&#10;AI-generated content may be incorrect.">
            <a:extLst>
              <a:ext uri="{FF2B5EF4-FFF2-40B4-BE49-F238E27FC236}">
                <a16:creationId xmlns:a16="http://schemas.microsoft.com/office/drawing/2014/main" id="{5F1B94FA-5D63-7110-F6AB-8680EE5ACDC7}"/>
              </a:ext>
            </a:extLst>
          </p:cNvPr>
          <p:cNvPicPr>
            <a:picLocks noGrp="1" noChangeAspect="1"/>
          </p:cNvPicPr>
          <p:nvPr>
            <p:ph idx="1"/>
          </p:nvPr>
        </p:nvPicPr>
        <p:blipFill>
          <a:blip r:embed="rId3"/>
          <a:stretch>
            <a:fillRect/>
          </a:stretch>
        </p:blipFill>
        <p:spPr>
          <a:xfrm>
            <a:off x="1218074" y="1563688"/>
            <a:ext cx="7099964" cy="3386137"/>
          </a:xfrm>
        </p:spPr>
      </p:pic>
    </p:spTree>
    <p:extLst>
      <p:ext uri="{BB962C8B-B14F-4D97-AF65-F5344CB8AC3E}">
        <p14:creationId xmlns:p14="http://schemas.microsoft.com/office/powerpoint/2010/main" val="25688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3642A-2864-4A19-B86B-F59002DC055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700FCC7-CC09-F3FD-30C9-405E88829D55}"/>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D943D5D1-8AA2-A8E0-A17A-8FFBE4FAFE3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85A50D-1517-E079-0C7C-E9CC549CD3B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4E88A44-9F95-2294-F296-B594DDFAC6D3}"/>
              </a:ext>
            </a:extLst>
          </p:cNvPr>
          <p:cNvSpPr>
            <a:spLocks noGrp="1"/>
          </p:cNvSpPr>
          <p:nvPr>
            <p:ph type="sldNum" sz="quarter" idx="12"/>
          </p:nvPr>
        </p:nvSpPr>
        <p:spPr/>
        <p:txBody>
          <a:bodyPr/>
          <a:lstStyle/>
          <a:p>
            <a:fld id="{E1E1CD7C-2161-7D43-862E-CE4C333CD873}" type="slidenum">
              <a:rPr lang="fr-FR" smtClean="0"/>
              <a:pPr/>
              <a:t>65</a:t>
            </a:fld>
            <a:endParaRPr lang="fr-FR" dirty="0"/>
          </a:p>
        </p:txBody>
      </p:sp>
      <p:pic>
        <p:nvPicPr>
          <p:cNvPr id="4" name="Content Placeholder 3" descr="A group of symbols on a white background&#10;&#10;AI-generated content may be incorrect.">
            <a:extLst>
              <a:ext uri="{FF2B5EF4-FFF2-40B4-BE49-F238E27FC236}">
                <a16:creationId xmlns:a16="http://schemas.microsoft.com/office/drawing/2014/main" id="{F122E852-B0B8-D10B-A6E0-E1EABF437765}"/>
              </a:ext>
            </a:extLst>
          </p:cNvPr>
          <p:cNvPicPr>
            <a:picLocks noGrp="1" noChangeAspect="1"/>
          </p:cNvPicPr>
          <p:nvPr>
            <p:ph idx="1"/>
          </p:nvPr>
        </p:nvPicPr>
        <p:blipFill>
          <a:blip r:embed="rId3"/>
          <a:stretch>
            <a:fillRect/>
          </a:stretch>
        </p:blipFill>
        <p:spPr>
          <a:xfrm>
            <a:off x="904875" y="2097802"/>
            <a:ext cx="7726363" cy="2317908"/>
          </a:xfrm>
        </p:spPr>
      </p:pic>
    </p:spTree>
    <p:extLst>
      <p:ext uri="{BB962C8B-B14F-4D97-AF65-F5344CB8AC3E}">
        <p14:creationId xmlns:p14="http://schemas.microsoft.com/office/powerpoint/2010/main" val="20640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ADCB2-FCA7-7902-9CF8-E55AF5BCB75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9F688284-CF1E-E466-AE2A-DD2BE6CA6383}"/>
                  </a:ext>
                </a:extLst>
              </p:cNvPr>
              <p:cNvSpPr>
                <a:spLocks noGrp="1"/>
              </p:cNvSpPr>
              <p:nvPr>
                <p:ph sz="half" idx="1"/>
              </p:nvPr>
            </p:nvSpPr>
            <p:spPr>
              <a:xfrm>
                <a:off x="904875" y="1563688"/>
                <a:ext cx="3886934" cy="3263504"/>
              </a:xfrm>
            </p:spPr>
            <p:txBody>
              <a:bodyPr anchor="ctr"/>
              <a:lstStyle/>
              <a:p>
                <a:r>
                  <a:rPr lang="en-US" dirty="0">
                    <a:latin typeface="+mj-lt"/>
                  </a:rPr>
                  <a:t>Comparison to baseline in generating 100k molecules</a:t>
                </a:r>
              </a:p>
              <a:p>
                <a:r>
                  <a:rPr lang="en-US" dirty="0">
                    <a:latin typeface="+mj-lt"/>
                  </a:rPr>
                  <a:t>More annealing steps always allow to match baseline performance closer, but for a computational cost</a:t>
                </a:r>
              </a:p>
              <a:p>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𝑇</m:t>
                        </m:r>
                      </m:num>
                      <m:den>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’+1</m:t>
                        </m:r>
                      </m:den>
                    </m:f>
                  </m:oMath>
                </a14:m>
                <a:r>
                  <a:rPr lang="en-GB" dirty="0">
                    <a:latin typeface="+mj-lt"/>
                  </a:rPr>
                  <a:t> acceleration factor for a memory complexity increase by a factor of </a:t>
                </a:r>
                <a14:m>
                  <m:oMath xmlns:m="http://schemas.openxmlformats.org/officeDocument/2006/math">
                    <m:r>
                      <a:rPr lang="en-US" b="0" i="1" smtClean="0">
                        <a:latin typeface="Cambria Math" panose="02040503050406030204" pitchFamily="18" charset="0"/>
                      </a:rPr>
                      <m:t>𝑚</m:t>
                    </m:r>
                  </m:oMath>
                </a14:m>
                <a:endParaRPr lang="en-GB" dirty="0">
                  <a:latin typeface="+mj-lt"/>
                </a:endParaRPr>
              </a:p>
            </p:txBody>
          </p:sp>
        </mc:Choice>
        <mc:Fallback>
          <p:sp>
            <p:nvSpPr>
              <p:cNvPr id="9" name="Content Placeholder 8">
                <a:extLst>
                  <a:ext uri="{FF2B5EF4-FFF2-40B4-BE49-F238E27FC236}">
                    <a16:creationId xmlns:a16="http://schemas.microsoft.com/office/drawing/2014/main" id="{9F688284-CF1E-E466-AE2A-DD2BE6CA6383}"/>
                  </a:ext>
                </a:extLst>
              </p:cNvPr>
              <p:cNvSpPr>
                <a:spLocks noGrp="1" noRot="1" noChangeAspect="1" noMove="1" noResize="1" noEditPoints="1" noAdjustHandles="1" noChangeArrowheads="1" noChangeShapeType="1" noTextEdit="1"/>
              </p:cNvSpPr>
              <p:nvPr>
                <p:ph sz="half" idx="1"/>
              </p:nvPr>
            </p:nvSpPr>
            <p:spPr>
              <a:xfrm>
                <a:off x="904875" y="1563688"/>
                <a:ext cx="3886934" cy="3263504"/>
              </a:xfrm>
              <a:blipFill>
                <a:blip r:embed="rId3"/>
                <a:stretch>
                  <a:fillRect r="-1254"/>
                </a:stretch>
              </a:blipFill>
            </p:spPr>
            <p:txBody>
              <a:bodyPr/>
              <a:lstStyle/>
              <a:p>
                <a:r>
                  <a:rPr lang="en-GB">
                    <a:noFill/>
                  </a:rPr>
                  <a:t> </a:t>
                </a:r>
              </a:p>
            </p:txBody>
          </p:sp>
        </mc:Fallback>
      </mc:AlternateContent>
      <p:pic>
        <p:nvPicPr>
          <p:cNvPr id="12" name="Content Placeholder 11" descr="A table with numbers and text&#10;&#10;AI-generated content may be incorrect.">
            <a:extLst>
              <a:ext uri="{FF2B5EF4-FFF2-40B4-BE49-F238E27FC236}">
                <a16:creationId xmlns:a16="http://schemas.microsoft.com/office/drawing/2014/main" id="{B02DDB34-93E5-7B29-AD0C-EC517F2B4654}"/>
              </a:ext>
            </a:extLst>
          </p:cNvPr>
          <p:cNvPicPr>
            <a:picLocks noGrp="1" noChangeAspect="1"/>
          </p:cNvPicPr>
          <p:nvPr>
            <p:ph sz="half" idx="2"/>
          </p:nvPr>
        </p:nvPicPr>
        <p:blipFill>
          <a:blip r:embed="rId4"/>
          <a:stretch>
            <a:fillRect/>
          </a:stretch>
        </p:blipFill>
        <p:spPr>
          <a:xfrm>
            <a:off x="4959350" y="2205487"/>
            <a:ext cx="3671888" cy="1980302"/>
          </a:xfrm>
        </p:spPr>
      </p:pic>
      <p:sp>
        <p:nvSpPr>
          <p:cNvPr id="8" name="Title 7">
            <a:extLst>
              <a:ext uri="{FF2B5EF4-FFF2-40B4-BE49-F238E27FC236}">
                <a16:creationId xmlns:a16="http://schemas.microsoft.com/office/drawing/2014/main" id="{28DBAFDF-1817-5602-3BD4-83C4E41A28BD}"/>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73F2B06D-EDCD-A5E0-ED71-C1320C037D5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8C41FE6-3A61-CBCC-9C07-F49B4807010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102AD-CF5C-A386-000B-14909BFDF3C6}"/>
              </a:ext>
            </a:extLst>
          </p:cNvPr>
          <p:cNvSpPr>
            <a:spLocks noGrp="1"/>
          </p:cNvSpPr>
          <p:nvPr>
            <p:ph type="sldNum" sz="quarter" idx="12"/>
          </p:nvPr>
        </p:nvSpPr>
        <p:spPr/>
        <p:txBody>
          <a:bodyPr/>
          <a:lstStyle/>
          <a:p>
            <a:fld id="{E1E1CD7C-2161-7D43-862E-CE4C333CD873}" type="slidenum">
              <a:rPr lang="fr-FR" smtClean="0"/>
              <a:pPr/>
              <a:t>66</a:t>
            </a:fld>
            <a:endParaRPr lang="fr-FR" dirty="0"/>
          </a:p>
        </p:txBody>
      </p:sp>
    </p:spTree>
    <p:extLst>
      <p:ext uri="{BB962C8B-B14F-4D97-AF65-F5344CB8AC3E}">
        <p14:creationId xmlns:p14="http://schemas.microsoft.com/office/powerpoint/2010/main" val="305953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5" dur="500"/>
                                        <p:tgtEl>
                                          <p:spTgt spid="9">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8" dur="5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16C58-B13A-6D70-7E1B-16E347AFB28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2B1F8ED-A635-26A4-FBD9-A0DDFCDCCCDD}"/>
                  </a:ext>
                </a:extLst>
              </p:cNvPr>
              <p:cNvSpPr>
                <a:spLocks noGrp="1"/>
              </p:cNvSpPr>
              <p:nvPr>
                <p:ph idx="1"/>
              </p:nvPr>
            </p:nvSpPr>
            <p:spPr/>
            <p:txBody>
              <a:bodyPr anchor="ctr"/>
              <a:lstStyle/>
              <a:p>
                <a:r>
                  <a:rPr lang="en-US" dirty="0">
                    <a:latin typeface="+mj-lt"/>
                  </a:rPr>
                  <a:t>Why no generation experiments for knowledge graphs?</a:t>
                </a:r>
              </a:p>
              <a:p>
                <a:pPr lvl="1"/>
                <a:r>
                  <a:rPr lang="en-US" dirty="0">
                    <a:latin typeface="+mj-lt"/>
                  </a:rPr>
                  <a:t>Knowledge base data is curated and follows schemas</a:t>
                </a:r>
              </a:p>
              <a:p>
                <a:pPr lvl="1"/>
                <a:r>
                  <a:rPr lang="en-US" dirty="0">
                    <a:latin typeface="+mj-lt"/>
                  </a:rPr>
                  <a:t>No inherent stochasticity, thus no distribution of graph structures to learn</a:t>
                </a:r>
              </a:p>
              <a:p>
                <a:pPr lvl="1"/>
                <a:r>
                  <a:rPr lang="en-US" dirty="0">
                    <a:latin typeface="+mj-lt"/>
                  </a:rPr>
                  <a:t>Focus on reasoning for new real knowledge instead of generating fake facts</a:t>
                </a:r>
              </a:p>
              <a:p>
                <a:r>
                  <a:rPr lang="en-GB" dirty="0">
                    <a:latin typeface="+mj-lt"/>
                  </a:rPr>
                  <a:t>“No stochasticity”, well…</a:t>
                </a:r>
              </a:p>
              <a:p>
                <a:pPr lvl="1"/>
                <a:r>
                  <a:rPr lang="en-GB" dirty="0">
                    <a:latin typeface="+mj-lt"/>
                  </a:rPr>
                  <a:t>In practice many anomalies are present in knowledge bases</a:t>
                </a:r>
              </a:p>
              <a:p>
                <a:pPr lvl="1"/>
                <a:r>
                  <a:rPr lang="en-GB" dirty="0">
                    <a:latin typeface="+mj-lt"/>
                  </a:rPr>
                  <a:t>False positive and false negative relation triplets</a:t>
                </a:r>
              </a:p>
              <a:p>
                <a:pPr lvl="1"/>
                <a:r>
                  <a:rPr lang="en-GB" dirty="0">
                    <a:latin typeface="+mj-lt"/>
                  </a:rPr>
                  <a:t>Causes: merging heterogeneous knowledge sources and AI-guided data injection</a:t>
                </a:r>
              </a:p>
              <a:p>
                <a:r>
                  <a:rPr lang="en-GB" dirty="0">
                    <a:latin typeface="+mj-lt"/>
                  </a:rPr>
                  <a:t>Setting - set of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latin typeface="+mj-lt"/>
                  </a:rPr>
                  <a:t> blocks of the KG adjacency matrix as noisy subgraph input</a:t>
                </a:r>
              </a:p>
            </p:txBody>
          </p:sp>
        </mc:Choice>
        <mc:Fallback xmlns="">
          <p:sp>
            <p:nvSpPr>
              <p:cNvPr id="4" name="Content Placeholder 3">
                <a:extLst>
                  <a:ext uri="{FF2B5EF4-FFF2-40B4-BE49-F238E27FC236}">
                    <a16:creationId xmlns:a16="http://schemas.microsoft.com/office/drawing/2014/main" id="{C2B1F8ED-A635-26A4-FBD9-A0DDFCDCCCD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E313BCF4-9868-6122-66AF-3B9B006FCE04}"/>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Anomalous knowledge</a:t>
            </a:r>
            <a:endParaRPr lang="en-GB" sz="2400" b="0" i="1" dirty="0"/>
          </a:p>
        </p:txBody>
      </p:sp>
      <p:sp>
        <p:nvSpPr>
          <p:cNvPr id="5" name="Date Placeholder 4">
            <a:extLst>
              <a:ext uri="{FF2B5EF4-FFF2-40B4-BE49-F238E27FC236}">
                <a16:creationId xmlns:a16="http://schemas.microsoft.com/office/drawing/2014/main" id="{6C0602F6-B1B9-968E-0DFD-B0EA05ED4C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FB08F74-4264-62A8-51C2-020080A4871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EF5403-D916-624A-23C9-10F78A62C8F8}"/>
              </a:ext>
            </a:extLst>
          </p:cNvPr>
          <p:cNvSpPr>
            <a:spLocks noGrp="1"/>
          </p:cNvSpPr>
          <p:nvPr>
            <p:ph type="sldNum" sz="quarter" idx="12"/>
          </p:nvPr>
        </p:nvSpPr>
        <p:spPr/>
        <p:txBody>
          <a:bodyPr/>
          <a:lstStyle/>
          <a:p>
            <a:fld id="{E1E1CD7C-2161-7D43-862E-CE4C333CD873}" type="slidenum">
              <a:rPr lang="fr-FR" smtClean="0"/>
              <a:pPr/>
              <a:t>67</a:t>
            </a:fld>
            <a:endParaRPr lang="fr-FR" dirty="0"/>
          </a:p>
        </p:txBody>
      </p:sp>
    </p:spTree>
    <p:extLst>
      <p:ext uri="{BB962C8B-B14F-4D97-AF65-F5344CB8AC3E}">
        <p14:creationId xmlns:p14="http://schemas.microsoft.com/office/powerpoint/2010/main" val="39686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6" dur="500"/>
                                        <p:tgtEl>
                                          <p:spTgt spid="4">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7" dur="500"/>
                                        <p:tgtEl>
                                          <p:spTgt spid="4">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0" dur="500"/>
                                        <p:tgtEl>
                                          <p:spTgt spid="4">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EA4F-76E6-3BC1-E2D3-8C35485C368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8DA12107-02DD-4BCA-423C-7AE5A408D401}"/>
                  </a:ext>
                </a:extLst>
              </p:cNvPr>
              <p:cNvSpPr>
                <a:spLocks noGrp="1"/>
              </p:cNvSpPr>
              <p:nvPr>
                <p:ph idx="1"/>
              </p:nvPr>
            </p:nvSpPr>
            <p:spPr/>
            <p:txBody>
              <a:bodyPr anchor="ctr">
                <a:normAutofit/>
              </a:bodyPr>
              <a:lstStyle/>
              <a:p>
                <a:r>
                  <a:rPr lang="en-US" dirty="0">
                    <a:latin typeface="+mj-lt"/>
                  </a:rPr>
                  <a:t>Assume we have trained perfect link prediction and query answering models</a:t>
                </a:r>
              </a:p>
              <a:p>
                <a:r>
                  <a:rPr lang="en-US" dirty="0">
                    <a:latin typeface="+mj-lt"/>
                  </a:rPr>
                  <a:t>Let’s try to correct KG anomalies with reasoning</a:t>
                </a:r>
              </a:p>
              <a:p>
                <a:pPr marL="685800" lvl="1" indent="-342900">
                  <a:buFont typeface="+mj-lt"/>
                  <a:buAutoNum type="arabicPeriod"/>
                </a:pPr>
                <a:r>
                  <a:rPr lang="en-US" dirty="0">
                    <a:latin typeface="+mj-lt"/>
                  </a:rPr>
                  <a:t>Perform link prediction on the </a:t>
                </a:r>
                <a14:m>
                  <m:oMath xmlns:m="http://schemas.openxmlformats.org/officeDocument/2006/math">
                    <m:r>
                      <a:rPr lang="en-US" i="1">
                        <a:latin typeface="Cambria Math" panose="02040503050406030204" pitchFamily="18" charset="0"/>
                      </a:rPr>
                      <m:t>𝑛</m:t>
                    </m:r>
                    <m:r>
                      <a:rPr lang="en-US" i="1">
                        <a:latin typeface="Cambria Math" panose="02040503050406030204" pitchFamily="18" charset="0"/>
                      </a:rPr>
                      <m:t>×</m:t>
                    </m:r>
                    <m:r>
                      <a:rPr lang="en-US" i="1">
                        <a:latin typeface="Cambria Math" panose="02040503050406030204" pitchFamily="18" charset="0"/>
                      </a:rPr>
                      <m:t>𝑛</m:t>
                    </m:r>
                  </m:oMath>
                </a14:m>
                <a:r>
                  <a:rPr lang="en-US" dirty="0">
                    <a:latin typeface="+mj-lt"/>
                  </a:rPr>
                  <a:t> block, if no false entries stop; otherwise:</a:t>
                </a:r>
              </a:p>
              <a:p>
                <a:pPr marL="685800" lvl="1" indent="-342900">
                  <a:buFont typeface="+mj-lt"/>
                  <a:buAutoNum type="arabicPeriod"/>
                </a:pPr>
                <a:r>
                  <a:rPr lang="en-US" dirty="0">
                    <a:latin typeface="+mj-lt"/>
                  </a:rPr>
                  <a:t>Perform query answering to replace the incorrect entries with correct values, but now:</a:t>
                </a:r>
              </a:p>
              <a:p>
                <a:pPr marL="685800" lvl="1" indent="-342900">
                  <a:buFont typeface="+mj-lt"/>
                  <a:buAutoNum type="arabicPeriod"/>
                </a:pPr>
                <a:r>
                  <a:rPr lang="en-US" dirty="0">
                    <a:latin typeface="+mj-lt"/>
                  </a:rPr>
                  <a:t>Need to re-train the models on the block, requiring restarting everything from step 1</a:t>
                </a:r>
              </a:p>
              <a:p>
                <a:r>
                  <a:rPr lang="en-US" dirty="0">
                    <a:latin typeface="+mj-lt"/>
                  </a:rPr>
                  <a:t>Naïve idea with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4</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1+</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+1</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𝑒</m:t>
                                </m:r>
                              </m:sub>
                            </m:sSub>
                          </m:e>
                        </m:d>
                      </m:e>
                    </m:d>
                  </m:oMath>
                </a14:m>
                <a:r>
                  <a:rPr lang="en-US" dirty="0">
                    <a:latin typeface="+mj-lt"/>
                  </a:rPr>
                  <a:t> cost…</a:t>
                </a:r>
              </a:p>
              <a:p>
                <a:pPr lvl="1"/>
                <a:r>
                  <a:rPr lang="en-US" dirty="0">
                    <a:latin typeface="+mj-lt"/>
                  </a:rPr>
                  <a:t>Only classification and ranking power over edges</a:t>
                </a:r>
              </a:p>
              <a:p>
                <a:pPr lvl="1"/>
                <a:r>
                  <a:rPr lang="en-US" dirty="0">
                    <a:latin typeface="+mj-lt"/>
                  </a:rPr>
                  <a:t>No estimation of noise level of the data</a:t>
                </a:r>
              </a:p>
              <a:p>
                <a:r>
                  <a:rPr lang="en-US" dirty="0">
                    <a:latin typeface="+mj-lt"/>
                  </a:rPr>
                  <a:t>Generative diffusion models</a:t>
                </a:r>
              </a:p>
              <a:p>
                <a:pPr lvl="1"/>
                <a:r>
                  <a:rPr lang="en-US" dirty="0">
                    <a:latin typeface="+mj-lt"/>
                  </a:rPr>
                  <a:t>Trained with data from diverse noise levels</a:t>
                </a:r>
              </a:p>
              <a:p>
                <a:pPr lvl="1"/>
                <a:r>
                  <a:rPr lang="en-US" dirty="0">
                    <a:latin typeface="+mj-lt"/>
                  </a:rPr>
                  <a:t>Structure matching only in expectation, but more scalable with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𝑇</m:t>
                            </m:r>
                            <m:r>
                              <a:rPr lang="en-US" i="1">
                                <a:latin typeface="Cambria Math" panose="02040503050406030204" pitchFamily="18" charset="0"/>
                              </a:rPr>
                              <m:t>𝑛</m:t>
                            </m:r>
                          </m:e>
                          <m:sup>
                            <m:r>
                              <a:rPr lang="en-US" b="0" i="1" smtClean="0">
                                <a:latin typeface="Cambria Math" panose="02040503050406030204" pitchFamily="18" charset="0"/>
                              </a:rPr>
                              <m:t>2</m:t>
                            </m:r>
                          </m:sup>
                        </m:sSup>
                      </m:e>
                    </m:d>
                  </m:oMath>
                </a14:m>
                <a:r>
                  <a:rPr lang="en-US" dirty="0">
                    <a:latin typeface="+mj-lt"/>
                  </a:rPr>
                  <a:t> cost</a:t>
                </a:r>
              </a:p>
            </p:txBody>
          </p:sp>
        </mc:Choice>
        <mc:Fallback>
          <p:sp>
            <p:nvSpPr>
              <p:cNvPr id="4" name="Content Placeholder 3">
                <a:extLst>
                  <a:ext uri="{FF2B5EF4-FFF2-40B4-BE49-F238E27FC236}">
                    <a16:creationId xmlns:a16="http://schemas.microsoft.com/office/drawing/2014/main" id="{8DA12107-02DD-4BCA-423C-7AE5A408D401}"/>
                  </a:ext>
                </a:extLst>
              </p:cNvPr>
              <p:cNvSpPr>
                <a:spLocks noGrp="1" noRot="1" noChangeAspect="1" noMove="1" noResize="1" noEditPoints="1" noAdjustHandles="1" noChangeArrowheads="1" noChangeShapeType="1" noTextEdit="1"/>
              </p:cNvSpPr>
              <p:nvPr>
                <p:ph idx="1"/>
              </p:nvPr>
            </p:nvSpPr>
            <p:spPr>
              <a:blipFill>
                <a:blip r:embed="rId3"/>
                <a:stretch>
                  <a:fillRect t="-541" b="-126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34E8B9B-7545-2889-2CC1-BE976B398E39}"/>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767855A7-1476-594A-794C-E5822F4A825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705BB9-06E4-E011-E963-5F2BC931009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8C4F0C9-E8AE-265E-B943-204F6E44D447}"/>
              </a:ext>
            </a:extLst>
          </p:cNvPr>
          <p:cNvSpPr>
            <a:spLocks noGrp="1"/>
          </p:cNvSpPr>
          <p:nvPr>
            <p:ph type="sldNum" sz="quarter" idx="12"/>
          </p:nvPr>
        </p:nvSpPr>
        <p:spPr/>
        <p:txBody>
          <a:bodyPr/>
          <a:lstStyle/>
          <a:p>
            <a:fld id="{E1E1CD7C-2161-7D43-862E-CE4C333CD873}" type="slidenum">
              <a:rPr lang="fr-FR" smtClean="0"/>
              <a:pPr/>
              <a:t>68</a:t>
            </a:fld>
            <a:endParaRPr lang="fr-FR" dirty="0"/>
          </a:p>
        </p:txBody>
      </p:sp>
    </p:spTree>
    <p:extLst>
      <p:ext uri="{BB962C8B-B14F-4D97-AF65-F5344CB8AC3E}">
        <p14:creationId xmlns:p14="http://schemas.microsoft.com/office/powerpoint/2010/main" val="3410293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5" dur="500"/>
                                        <p:tgtEl>
                                          <p:spTgt spid="4">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7" dur="500"/>
                                        <p:tgtEl>
                                          <p:spTgt spid="4">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4">
                                            <p:txEl>
                                              <p:pRg st="9" end="9"/>
                                            </p:txEl>
                                          </p:spTgt>
                                        </p:tgtEl>
                                        <p:attrNameLst>
                                          <p:attrName>style.visibility</p:attrName>
                                        </p:attrNameLst>
                                      </p:cBhvr>
                                      <p:to>
                                        <p:strVal val="visible"/>
                                      </p:to>
                                    </p:set>
                                    <p:animEffect transition="in" filter="randombar(horizontal)">
                                      <p:cBhvr>
                                        <p:cTn id="40" dur="500"/>
                                        <p:tgtEl>
                                          <p:spTgt spid="4">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animEffect transition="in" filter="randombar(horizontal)">
                                      <p:cBhvr>
                                        <p:cTn id="43" dur="500"/>
                                        <p:tgtEl>
                                          <p:spTgt spid="4">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D7520-3AFD-DBF0-1BBF-351FC363F45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620F9E6-C031-41D3-AADE-200493A73122}"/>
              </a:ext>
            </a:extLst>
          </p:cNvPr>
          <p:cNvSpPr>
            <a:spLocks noGrp="1"/>
          </p:cNvSpPr>
          <p:nvPr>
            <p:ph idx="1"/>
          </p:nvPr>
        </p:nvSpPr>
        <p:spPr/>
        <p:txBody>
          <a:bodyPr anchor="ctr">
            <a:normAutofit/>
          </a:bodyPr>
          <a:lstStyle/>
          <a:p>
            <a:r>
              <a:rPr lang="en-US" dirty="0" err="1">
                <a:latin typeface="+mj-lt"/>
              </a:rPr>
              <a:t>IntelliGraphs</a:t>
            </a:r>
            <a:r>
              <a:rPr lang="en-US" dirty="0">
                <a:latin typeface="+mj-lt"/>
              </a:rPr>
              <a:t> - </a:t>
            </a:r>
            <a:r>
              <a:rPr lang="en-US" dirty="0" err="1">
                <a:latin typeface="+mj-lt"/>
              </a:rPr>
              <a:t>Thanapalasingam</a:t>
            </a:r>
            <a:r>
              <a:rPr lang="en-US" dirty="0">
                <a:latin typeface="+mj-lt"/>
              </a:rPr>
              <a:t> et al.</a:t>
            </a:r>
          </a:p>
          <a:p>
            <a:pPr lvl="1"/>
            <a:r>
              <a:rPr lang="en-US" dirty="0">
                <a:latin typeface="+mj-lt"/>
              </a:rPr>
              <a:t>First approach in extending knowledge graph structure likelihood estimation from edges to whole subgraphs</a:t>
            </a:r>
          </a:p>
          <a:p>
            <a:pPr lvl="1"/>
            <a:r>
              <a:rPr lang="en-US" dirty="0">
                <a:latin typeface="+mj-lt"/>
              </a:rPr>
              <a:t>Negative result, provides some benchmarking datasets</a:t>
            </a:r>
          </a:p>
          <a:p>
            <a:r>
              <a:rPr lang="en-US" dirty="0">
                <a:latin typeface="+mj-lt"/>
              </a:rPr>
              <a:t>VGAEs - </a:t>
            </a:r>
            <a:r>
              <a:rPr lang="en-US" dirty="0" err="1">
                <a:latin typeface="+mj-lt"/>
              </a:rPr>
              <a:t>Mahmoudzadeh</a:t>
            </a:r>
            <a:r>
              <a:rPr lang="en-US" dirty="0">
                <a:latin typeface="+mj-lt"/>
              </a:rPr>
              <a:t> et al.</a:t>
            </a:r>
          </a:p>
          <a:p>
            <a:pPr lvl="1"/>
            <a:r>
              <a:rPr lang="en-US" dirty="0">
                <a:latin typeface="+mj-lt"/>
              </a:rPr>
              <a:t>VAEs for subgraph generation</a:t>
            </a:r>
          </a:p>
          <a:p>
            <a:pPr lvl="1"/>
            <a:r>
              <a:rPr lang="en-US" dirty="0">
                <a:latin typeface="+mj-lt"/>
              </a:rPr>
              <a:t>Still only evaluated for query answering without denoising experiments</a:t>
            </a:r>
          </a:p>
          <a:p>
            <a:r>
              <a:rPr lang="en-US" dirty="0" err="1">
                <a:latin typeface="+mj-lt"/>
              </a:rPr>
              <a:t>LLMsim</a:t>
            </a:r>
            <a:r>
              <a:rPr lang="en-US" dirty="0">
                <a:latin typeface="+mj-lt"/>
              </a:rPr>
              <a:t> - Dong et al.</a:t>
            </a:r>
          </a:p>
          <a:p>
            <a:pPr lvl="1"/>
            <a:r>
              <a:rPr lang="en-US" dirty="0">
                <a:latin typeface="+mj-lt"/>
              </a:rPr>
              <a:t>LLM-as-a-judge for knowledge triplet consistency across graph paths</a:t>
            </a:r>
          </a:p>
          <a:p>
            <a:pPr lvl="1"/>
            <a:r>
              <a:rPr lang="en-US" dirty="0">
                <a:latin typeface="+mj-lt"/>
              </a:rPr>
              <a:t>Requires textual entity and relation names, ignores graph structure checks</a:t>
            </a:r>
          </a:p>
        </p:txBody>
      </p:sp>
      <p:sp>
        <p:nvSpPr>
          <p:cNvPr id="8" name="Title 7">
            <a:extLst>
              <a:ext uri="{FF2B5EF4-FFF2-40B4-BE49-F238E27FC236}">
                <a16:creationId xmlns:a16="http://schemas.microsoft.com/office/drawing/2014/main" id="{79FA36B1-439B-9F0F-09F9-29BA9E5C5CF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773E2C7E-96F6-FC0D-B93B-57923276862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99B5910-1A7C-034C-C2A6-9E049E79F39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BABD2F-6D95-01F4-DF44-29920734D227}"/>
              </a:ext>
            </a:extLst>
          </p:cNvPr>
          <p:cNvSpPr>
            <a:spLocks noGrp="1"/>
          </p:cNvSpPr>
          <p:nvPr>
            <p:ph type="sldNum" sz="quarter" idx="12"/>
          </p:nvPr>
        </p:nvSpPr>
        <p:spPr/>
        <p:txBody>
          <a:bodyPr/>
          <a:lstStyle/>
          <a:p>
            <a:fld id="{E1E1CD7C-2161-7D43-862E-CE4C333CD873}" type="slidenum">
              <a:rPr lang="fr-FR" smtClean="0"/>
              <a:pPr/>
              <a:t>69</a:t>
            </a:fld>
            <a:endParaRPr lang="fr-FR" dirty="0"/>
          </a:p>
        </p:txBody>
      </p:sp>
    </p:spTree>
    <p:extLst>
      <p:ext uri="{BB962C8B-B14F-4D97-AF65-F5344CB8AC3E}">
        <p14:creationId xmlns:p14="http://schemas.microsoft.com/office/powerpoint/2010/main" val="341659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423CA-72E8-9A67-8E11-0D67E728D22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01A7199E-7E77-4F8E-9F48-813E349EAF28}"/>
                  </a:ext>
                </a:extLst>
              </p:cNvPr>
              <p:cNvSpPr>
                <a:spLocks noGrp="1"/>
              </p:cNvSpPr>
              <p:nvPr>
                <p:ph sz="half" idx="1"/>
              </p:nvPr>
            </p:nvSpPr>
            <p:spPr/>
            <p:txBody>
              <a:bodyPr anchor="ctr">
                <a:normAutofit/>
              </a:bodyPr>
              <a:lstStyle/>
              <a:p>
                <a:r>
                  <a:rPr lang="en-US" dirty="0">
                    <a:latin typeface="+mj-lt"/>
                  </a:rPr>
                  <a:t>KG subgraph sources</a:t>
                </a:r>
              </a:p>
              <a:p>
                <a:pPr lvl="1"/>
                <a:r>
                  <a:rPr lang="en-US" dirty="0">
                    <a:latin typeface="+mj-lt"/>
                  </a:rPr>
                  <a:t>Freebase, WordNet, NELL (again)</a:t>
                </a:r>
              </a:p>
              <a:p>
                <a:pPr lvl="1"/>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𝒗</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Entity-labeled subgraphs of a large adjacency matrix</a:t>
                </a:r>
              </a:p>
              <a:p>
                <a:r>
                  <a:rPr lang="en-US" dirty="0">
                    <a:latin typeface="+mj-lt"/>
                  </a:rPr>
                  <a:t>Subgraph sampling</a:t>
                </a:r>
              </a:p>
              <a:p>
                <a:pPr lvl="1"/>
                <a:r>
                  <a:rPr lang="en-US" dirty="0">
                    <a:latin typeface="+mj-lt"/>
                  </a:rPr>
                  <a:t>DFS topological sorting</a:t>
                </a:r>
              </a:p>
              <a:p>
                <a:pPr lvl="1"/>
                <a:r>
                  <a:rPr lang="en-US" dirty="0">
                    <a:latin typeface="+mj-lt"/>
                  </a:rPr>
                  <a:t>Spanning tree splitting</a:t>
                </a:r>
              </a:p>
            </p:txBody>
          </p:sp>
        </mc:Choice>
        <mc:Fallback>
          <p:sp>
            <p:nvSpPr>
              <p:cNvPr id="2" name="Content Placeholder 1">
                <a:extLst>
                  <a:ext uri="{FF2B5EF4-FFF2-40B4-BE49-F238E27FC236}">
                    <a16:creationId xmlns:a16="http://schemas.microsoft.com/office/drawing/2014/main" id="{01A7199E-7E77-4F8E-9F48-813E349EAF28}"/>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10" name="Content Placeholder 9" descr="A grid of colored lines and dots&#10;&#10;AI-generated content may be incorrect.">
            <a:extLst>
              <a:ext uri="{FF2B5EF4-FFF2-40B4-BE49-F238E27FC236}">
                <a16:creationId xmlns:a16="http://schemas.microsoft.com/office/drawing/2014/main" id="{1276975A-4FF2-494A-FBD1-8FB69BACF44E}"/>
              </a:ext>
            </a:extLst>
          </p:cNvPr>
          <p:cNvPicPr>
            <a:picLocks noGrp="1" noChangeAspect="1"/>
          </p:cNvPicPr>
          <p:nvPr>
            <p:ph sz="half" idx="2"/>
          </p:nvPr>
        </p:nvPicPr>
        <p:blipFill>
          <a:blip r:embed="rId4"/>
          <a:stretch>
            <a:fillRect/>
          </a:stretch>
        </p:blipFill>
        <p:spPr>
          <a:xfrm>
            <a:off x="5163344" y="1563688"/>
            <a:ext cx="3263900" cy="3263900"/>
          </a:xfrm>
        </p:spPr>
      </p:pic>
      <p:sp>
        <p:nvSpPr>
          <p:cNvPr id="8" name="Title 7">
            <a:extLst>
              <a:ext uri="{FF2B5EF4-FFF2-40B4-BE49-F238E27FC236}">
                <a16:creationId xmlns:a16="http://schemas.microsoft.com/office/drawing/2014/main" id="{4EB192D1-2F12-8D5D-A8D9-16C0DAEF383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Data</a:t>
            </a:r>
            <a:endParaRPr lang="en-GB" sz="2400" b="0" i="1" dirty="0"/>
          </a:p>
        </p:txBody>
      </p:sp>
      <p:sp>
        <p:nvSpPr>
          <p:cNvPr id="5" name="Date Placeholder 4">
            <a:extLst>
              <a:ext uri="{FF2B5EF4-FFF2-40B4-BE49-F238E27FC236}">
                <a16:creationId xmlns:a16="http://schemas.microsoft.com/office/drawing/2014/main" id="{1D0E5E8F-145F-764B-77A6-9023BB1C56E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39DA48-3B00-BEF0-83A8-AA695C24C3D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241943F-F1CD-3DC2-45F5-70F98F6A2FDB}"/>
              </a:ext>
            </a:extLst>
          </p:cNvPr>
          <p:cNvSpPr>
            <a:spLocks noGrp="1"/>
          </p:cNvSpPr>
          <p:nvPr>
            <p:ph type="sldNum" sz="quarter" idx="12"/>
          </p:nvPr>
        </p:nvSpPr>
        <p:spPr/>
        <p:txBody>
          <a:bodyPr/>
          <a:lstStyle/>
          <a:p>
            <a:fld id="{E1E1CD7C-2161-7D43-862E-CE4C333CD873}" type="slidenum">
              <a:rPr lang="fr-FR" smtClean="0"/>
              <a:pPr/>
              <a:t>70</a:t>
            </a:fld>
            <a:endParaRPr lang="fr-FR" dirty="0"/>
          </a:p>
        </p:txBody>
      </p:sp>
    </p:spTree>
    <p:extLst>
      <p:ext uri="{BB962C8B-B14F-4D97-AF65-F5344CB8AC3E}">
        <p14:creationId xmlns:p14="http://schemas.microsoft.com/office/powerpoint/2010/main" val="3490795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randombar(horizontal)">
                                      <p:cBhvr>
                                        <p:cTn id="3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C8EA7-BFD2-5E43-BFE6-AF46B413272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AB975C25-1285-19DF-5C51-EF889169D3E3}"/>
                  </a:ext>
                </a:extLst>
              </p:cNvPr>
              <p:cNvSpPr>
                <a:spLocks noGrp="1"/>
              </p:cNvSpPr>
              <p:nvPr>
                <p:ph sz="half" idx="1"/>
              </p:nvPr>
            </p:nvSpPr>
            <p:spPr>
              <a:xfrm>
                <a:off x="904875" y="1563688"/>
                <a:ext cx="4493602" cy="3263504"/>
              </a:xfrm>
            </p:spPr>
            <p:txBody>
              <a:bodyPr anchor="ctr">
                <a:normAutofit/>
              </a:bodyPr>
              <a:lstStyle/>
              <a:p>
                <a:r>
                  <a:rPr lang="en-US" dirty="0">
                    <a:latin typeface="+mj-lt"/>
                  </a:rPr>
                  <a:t>Conditional edge diffusion</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 </m:t>
                    </m:r>
                  </m:oMath>
                </a14:m>
                <a:r>
                  <a:rPr lang="en-US" dirty="0">
                    <a:latin typeface="+mj-lt"/>
                  </a:rPr>
                  <a:t>as models of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𝒗</m:t>
                        </m:r>
                      </m:e>
                    </m:d>
                  </m:oMath>
                </a14:m>
                <a:endParaRPr lang="en-GB" dirty="0">
                  <a:latin typeface="+mj-lt"/>
                </a:endParaRP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min</m:t>
                            </m:r>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𝐴</m:t>
                                    </m:r>
                                  </m:sub>
                                </m:sSub>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𝒗</m:t>
                                </m:r>
                              </m:e>
                            </m:d>
                          </m:e>
                        </m:func>
                      </m:e>
                    </m:d>
                  </m:oMath>
                </a14:m>
                <a:endParaRPr lang="en-GB" dirty="0">
                  <a:latin typeface="+mj-lt"/>
                </a:endParaRPr>
              </a:p>
              <a:p>
                <a:r>
                  <a:rPr lang="en-GB" dirty="0">
                    <a:latin typeface="+mj-lt"/>
                  </a:rPr>
                  <a:t>Optional masking for context conditioning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b="0" i="1" smtClean="0">
                            <a:latin typeface="Cambria Math" panose="02040503050406030204" pitchFamily="18" charset="0"/>
                          </a:rPr>
                          <m:t>𝑡</m:t>
                        </m:r>
                      </m:sub>
                    </m:sSub>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1" i="1" smtClean="0">
                            <a:latin typeface="Cambria Math" panose="02040503050406030204" pitchFamily="18" charset="0"/>
                          </a:rPr>
                          <m:t>𝑴</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0</m:t>
                        </m:r>
                      </m:sub>
                    </m:sSub>
                  </m:oMath>
                </a14:m>
                <a:endParaRPr lang="en-US" b="0" i="1"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 </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𝐴</m:t>
                            </m:r>
                          </m:e>
                        </m:acc>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𝑴</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i="1">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b="1" i="1">
                            <a:latin typeface="Cambria Math" panose="02040503050406030204" pitchFamily="18" charset="0"/>
                          </a:rPr>
                          <m:t>𝑴</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0</m:t>
                        </m:r>
                      </m:sub>
                    </m:sSub>
                  </m:oMath>
                </a14:m>
                <a:endParaRPr lang="en-GB" dirty="0"/>
              </a:p>
              <a:p>
                <a:r>
                  <a:rPr lang="en-GB" dirty="0">
                    <a:latin typeface="+mj-lt"/>
                  </a:rPr>
                  <a:t>Modified </a:t>
                </a:r>
                <a:r>
                  <a:rPr lang="en-GB" dirty="0" err="1">
                    <a:latin typeface="+mj-lt"/>
                  </a:rPr>
                  <a:t>DiGress</a:t>
                </a:r>
                <a:r>
                  <a:rPr lang="en-GB" dirty="0">
                    <a:latin typeface="+mj-lt"/>
                  </a:rPr>
                  <a:t> ♥</a:t>
                </a:r>
              </a:p>
            </p:txBody>
          </p:sp>
        </mc:Choice>
        <mc:Fallback>
          <p:sp>
            <p:nvSpPr>
              <p:cNvPr id="2" name="Content Placeholder 1">
                <a:extLst>
                  <a:ext uri="{FF2B5EF4-FFF2-40B4-BE49-F238E27FC236}">
                    <a16:creationId xmlns:a16="http://schemas.microsoft.com/office/drawing/2014/main" id="{AB975C25-1285-19DF-5C51-EF889169D3E3}"/>
                  </a:ext>
                </a:extLst>
              </p:cNvPr>
              <p:cNvSpPr>
                <a:spLocks noGrp="1" noRot="1" noChangeAspect="1" noMove="1" noResize="1" noEditPoints="1" noAdjustHandles="1" noChangeArrowheads="1" noChangeShapeType="1" noTextEdit="1"/>
              </p:cNvSpPr>
              <p:nvPr>
                <p:ph sz="half" idx="1"/>
              </p:nvPr>
            </p:nvSpPr>
            <p:spPr>
              <a:xfrm>
                <a:off x="904875" y="1563688"/>
                <a:ext cx="4493602" cy="3263504"/>
              </a:xfrm>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C55FC76-8FD1-48AC-AB8B-65DD872267DD}"/>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Model</a:t>
            </a:r>
            <a:endParaRPr lang="en-GB" sz="2400" b="0" i="1" dirty="0"/>
          </a:p>
        </p:txBody>
      </p:sp>
      <p:sp>
        <p:nvSpPr>
          <p:cNvPr id="5" name="Date Placeholder 4">
            <a:extLst>
              <a:ext uri="{FF2B5EF4-FFF2-40B4-BE49-F238E27FC236}">
                <a16:creationId xmlns:a16="http://schemas.microsoft.com/office/drawing/2014/main" id="{E735382D-70DF-0569-D76F-56D9707FD9E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E1B12C-D86F-B05B-B54E-93F55D82CBB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167B8DA-B395-8979-4E26-C817AAC2DF85}"/>
              </a:ext>
            </a:extLst>
          </p:cNvPr>
          <p:cNvSpPr>
            <a:spLocks noGrp="1"/>
          </p:cNvSpPr>
          <p:nvPr>
            <p:ph type="sldNum" sz="quarter" idx="12"/>
          </p:nvPr>
        </p:nvSpPr>
        <p:spPr/>
        <p:txBody>
          <a:bodyPr/>
          <a:lstStyle/>
          <a:p>
            <a:fld id="{E1E1CD7C-2161-7D43-862E-CE4C333CD873}" type="slidenum">
              <a:rPr lang="fr-FR" smtClean="0"/>
              <a:pPr/>
              <a:t>71</a:t>
            </a:fld>
            <a:endParaRPr lang="fr-FR" dirty="0"/>
          </a:p>
        </p:txBody>
      </p:sp>
      <p:sp>
        <p:nvSpPr>
          <p:cNvPr id="4" name="Content Placeholder 3">
            <a:extLst>
              <a:ext uri="{FF2B5EF4-FFF2-40B4-BE49-F238E27FC236}">
                <a16:creationId xmlns:a16="http://schemas.microsoft.com/office/drawing/2014/main" id="{356780A1-815E-1EC4-1173-6B285614FA50}"/>
              </a:ext>
            </a:extLst>
          </p:cNvPr>
          <p:cNvSpPr>
            <a:spLocks noGrp="1"/>
          </p:cNvSpPr>
          <p:nvPr>
            <p:ph sz="half" idx="2"/>
          </p:nvPr>
        </p:nvSpPr>
        <p:spPr>
          <a:xfrm>
            <a:off x="5653454" y="1563688"/>
            <a:ext cx="2977784" cy="3263504"/>
          </a:xfrm>
        </p:spPr>
        <p:txBody>
          <a:bodyPr/>
          <a:lstStyle/>
          <a:p>
            <a:endParaRPr lang="en-GB" dirty="0"/>
          </a:p>
        </p:txBody>
      </p:sp>
      <p:sp>
        <p:nvSpPr>
          <p:cNvPr id="9" name="Rectangle 8">
            <a:extLst>
              <a:ext uri="{FF2B5EF4-FFF2-40B4-BE49-F238E27FC236}">
                <a16:creationId xmlns:a16="http://schemas.microsoft.com/office/drawing/2014/main" id="{16D14244-C4B5-CE25-7356-761D9FB33517}"/>
              </a:ext>
            </a:extLst>
          </p:cNvPr>
          <p:cNvSpPr/>
          <p:nvPr/>
        </p:nvSpPr>
        <p:spPr>
          <a:xfrm>
            <a:off x="6062346" y="1794214"/>
            <a:ext cx="2160000" cy="2880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6611A88C-F676-1D31-B63B-07C5708616B9}"/>
              </a:ext>
            </a:extLst>
          </p:cNvPr>
          <p:cNvSpPr>
            <a:spLocks noChangeAspect="1"/>
          </p:cNvSpPr>
          <p:nvPr/>
        </p:nvSpPr>
        <p:spPr>
          <a:xfrm>
            <a:off x="7163945" y="3263014"/>
            <a:ext cx="1058401" cy="1411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735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randombar(horizontal)">
                                      <p:cBhvr>
                                        <p:cTn id="27" dur="500"/>
                                        <p:tgtEl>
                                          <p:spTgt spid="9"/>
                                        </p:tgtEl>
                                      </p:cBhvr>
                                    </p:animEffect>
                                  </p:childTnLst>
                                </p:cTn>
                              </p:par>
                              <p:par>
                                <p:cTn id="28" presetID="14" presetClass="entr" presetSubtype="1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randombar(horizontal)">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5"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43724-49EA-47A3-4D29-B701CDF63241}"/>
            </a:ext>
          </a:extLst>
        </p:cNvPr>
        <p:cNvGrpSpPr/>
        <p:nvPr/>
      </p:nvGrpSpPr>
      <p:grpSpPr>
        <a:xfrm>
          <a:off x="0" y="0"/>
          <a:ext cx="0" cy="0"/>
          <a:chOff x="0" y="0"/>
          <a:chExt cx="0" cy="0"/>
        </a:xfrm>
      </p:grpSpPr>
      <p:pic>
        <p:nvPicPr>
          <p:cNvPr id="3" name="Content Placeholder 2">
            <a:extLst>
              <a:ext uri="{FF2B5EF4-FFF2-40B4-BE49-F238E27FC236}">
                <a16:creationId xmlns:a16="http://schemas.microsoft.com/office/drawing/2014/main" id="{0164CE5E-46E9-1E3E-08A2-58D9487CC7B8}"/>
              </a:ext>
            </a:extLst>
          </p:cNvPr>
          <p:cNvPicPr>
            <a:picLocks noGrp="1" noChangeAspect="1"/>
          </p:cNvPicPr>
          <p:nvPr>
            <p:ph idx="1"/>
          </p:nvPr>
        </p:nvPicPr>
        <p:blipFill>
          <a:blip r:embed="rId3"/>
          <a:stretch>
            <a:fillRect/>
          </a:stretch>
        </p:blipFill>
        <p:spPr>
          <a:xfrm>
            <a:off x="1295453" y="1563688"/>
            <a:ext cx="6945206" cy="3386137"/>
          </a:xfrm>
          <a:prstGeom prst="rect">
            <a:avLst/>
          </a:prstGeom>
        </p:spPr>
      </p:pic>
      <p:sp>
        <p:nvSpPr>
          <p:cNvPr id="8" name="Title 7">
            <a:extLst>
              <a:ext uri="{FF2B5EF4-FFF2-40B4-BE49-F238E27FC236}">
                <a16:creationId xmlns:a16="http://schemas.microsoft.com/office/drawing/2014/main" id="{72F817A3-022D-51C0-6FB2-722E2547B61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Metrics</a:t>
            </a:r>
            <a:endParaRPr lang="en-GB" sz="2400" b="0" i="1" dirty="0"/>
          </a:p>
        </p:txBody>
      </p:sp>
      <p:sp>
        <p:nvSpPr>
          <p:cNvPr id="5" name="Date Placeholder 4">
            <a:extLst>
              <a:ext uri="{FF2B5EF4-FFF2-40B4-BE49-F238E27FC236}">
                <a16:creationId xmlns:a16="http://schemas.microsoft.com/office/drawing/2014/main" id="{28D71620-3765-9F17-2A51-C64A521DF88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C3DF-2351-D8AC-80C7-BFC52A76496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2EE4479-F0E0-A209-C787-74C5FE4F3894}"/>
              </a:ext>
            </a:extLst>
          </p:cNvPr>
          <p:cNvSpPr>
            <a:spLocks noGrp="1"/>
          </p:cNvSpPr>
          <p:nvPr>
            <p:ph type="sldNum" sz="quarter" idx="12"/>
          </p:nvPr>
        </p:nvSpPr>
        <p:spPr/>
        <p:txBody>
          <a:bodyPr/>
          <a:lstStyle/>
          <a:p>
            <a:fld id="{E1E1CD7C-2161-7D43-862E-CE4C333CD873}" type="slidenum">
              <a:rPr lang="fr-FR" smtClean="0"/>
              <a:pPr/>
              <a:t>72</a:t>
            </a:fld>
            <a:endParaRPr lang="fr-FR" dirty="0"/>
          </a:p>
        </p:txBody>
      </p:sp>
    </p:spTree>
    <p:extLst>
      <p:ext uri="{BB962C8B-B14F-4D97-AF65-F5344CB8AC3E}">
        <p14:creationId xmlns:p14="http://schemas.microsoft.com/office/powerpoint/2010/main" val="296967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732C3-E04B-52D4-C2F2-ACA9BEA5A24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C4E6391-2343-89DD-C955-2191712848DA}"/>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Contrastive Loss across denoising steps</a:t>
            </a:r>
            <a:endParaRPr lang="en-GB" sz="2400" b="0" i="1" dirty="0"/>
          </a:p>
        </p:txBody>
      </p:sp>
      <p:sp>
        <p:nvSpPr>
          <p:cNvPr id="5" name="Date Placeholder 4">
            <a:extLst>
              <a:ext uri="{FF2B5EF4-FFF2-40B4-BE49-F238E27FC236}">
                <a16:creationId xmlns:a16="http://schemas.microsoft.com/office/drawing/2014/main" id="{9B0972A0-C21F-132D-E013-AC5C4284A48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3FBC04E-DFF5-00D7-EF76-0D7378DAFD9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67E1DAC-B078-0576-06A7-989F14FAB20D}"/>
              </a:ext>
            </a:extLst>
          </p:cNvPr>
          <p:cNvSpPr>
            <a:spLocks noGrp="1"/>
          </p:cNvSpPr>
          <p:nvPr>
            <p:ph type="sldNum" sz="quarter" idx="12"/>
          </p:nvPr>
        </p:nvSpPr>
        <p:spPr/>
        <p:txBody>
          <a:bodyPr/>
          <a:lstStyle/>
          <a:p>
            <a:fld id="{E1E1CD7C-2161-7D43-862E-CE4C333CD873}" type="slidenum">
              <a:rPr lang="fr-FR" smtClean="0"/>
              <a:pPr/>
              <a:t>73</a:t>
            </a:fld>
            <a:endParaRPr lang="fr-FR" dirty="0"/>
          </a:p>
        </p:txBody>
      </p:sp>
      <p:pic>
        <p:nvPicPr>
          <p:cNvPr id="10" name="Content Placeholder 9">
            <a:extLst>
              <a:ext uri="{FF2B5EF4-FFF2-40B4-BE49-F238E27FC236}">
                <a16:creationId xmlns:a16="http://schemas.microsoft.com/office/drawing/2014/main" id="{5022E84B-A5F9-AFE7-A5D6-8C590678351F}"/>
              </a:ext>
            </a:extLst>
          </p:cNvPr>
          <p:cNvPicPr>
            <a:picLocks noGrp="1" noChangeAspect="1"/>
          </p:cNvPicPr>
          <p:nvPr>
            <p:ph idx="1"/>
          </p:nvPr>
        </p:nvPicPr>
        <p:blipFill>
          <a:blip r:embed="rId3"/>
          <a:stretch>
            <a:fillRect/>
          </a:stretch>
        </p:blipFill>
        <p:spPr>
          <a:xfrm>
            <a:off x="1178397" y="1563688"/>
            <a:ext cx="7179318" cy="3386137"/>
          </a:xfrm>
          <a:prstGeom prst="rect">
            <a:avLst/>
          </a:prstGeom>
        </p:spPr>
      </p:pic>
    </p:spTree>
    <p:extLst>
      <p:ext uri="{BB962C8B-B14F-4D97-AF65-F5344CB8AC3E}">
        <p14:creationId xmlns:p14="http://schemas.microsoft.com/office/powerpoint/2010/main" val="178367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5FD59-BD2F-C562-6D41-C0880BD8F52E}"/>
            </a:ext>
          </a:extLst>
        </p:cNvPr>
        <p:cNvGrpSpPr/>
        <p:nvPr/>
      </p:nvGrpSpPr>
      <p:grpSpPr>
        <a:xfrm>
          <a:off x="0" y="0"/>
          <a:ext cx="0" cy="0"/>
          <a:chOff x="0" y="0"/>
          <a:chExt cx="0" cy="0"/>
        </a:xfrm>
      </p:grpSpPr>
      <p:pic>
        <p:nvPicPr>
          <p:cNvPr id="12" name="Content Placeholder 11" descr="A diagram of a diagram&#10;&#10;AI-generated content may be incorrect.">
            <a:extLst>
              <a:ext uri="{FF2B5EF4-FFF2-40B4-BE49-F238E27FC236}">
                <a16:creationId xmlns:a16="http://schemas.microsoft.com/office/drawing/2014/main" id="{AB9F265D-EEB7-F8E5-2347-0402591FCCC3}"/>
              </a:ext>
            </a:extLst>
          </p:cNvPr>
          <p:cNvPicPr>
            <a:picLocks noGrp="1" noChangeAspect="1"/>
          </p:cNvPicPr>
          <p:nvPr>
            <p:ph sz="half" idx="1"/>
          </p:nvPr>
        </p:nvPicPr>
        <p:blipFill>
          <a:blip r:embed="rId3"/>
          <a:stretch>
            <a:fillRect/>
          </a:stretch>
        </p:blipFill>
        <p:spPr>
          <a:xfrm>
            <a:off x="904875" y="1818680"/>
            <a:ext cx="3671888" cy="2753916"/>
          </a:xfrm>
        </p:spPr>
      </p:pic>
      <p:pic>
        <p:nvPicPr>
          <p:cNvPr id="14" name="Content Placeholder 13" descr="A diagram of a diagram&#10;&#10;AI-generated content may be incorrect.">
            <a:extLst>
              <a:ext uri="{FF2B5EF4-FFF2-40B4-BE49-F238E27FC236}">
                <a16:creationId xmlns:a16="http://schemas.microsoft.com/office/drawing/2014/main" id="{78D52841-6D20-3B8C-3BEC-F1292C83322C}"/>
              </a:ext>
            </a:extLst>
          </p:cNvPr>
          <p:cNvPicPr>
            <a:picLocks noGrp="1" noChangeAspect="1"/>
          </p:cNvPicPr>
          <p:nvPr>
            <p:ph sz="half" idx="2"/>
          </p:nvPr>
        </p:nvPicPr>
        <p:blipFill>
          <a:blip r:embed="rId4"/>
          <a:stretch>
            <a:fillRect/>
          </a:stretch>
        </p:blipFill>
        <p:spPr>
          <a:xfrm>
            <a:off x="4959350" y="1818680"/>
            <a:ext cx="3671888" cy="2753916"/>
          </a:xfrm>
        </p:spPr>
      </p:pic>
      <p:sp>
        <p:nvSpPr>
          <p:cNvPr id="8" name="Title 7">
            <a:extLst>
              <a:ext uri="{FF2B5EF4-FFF2-40B4-BE49-F238E27FC236}">
                <a16:creationId xmlns:a16="http://schemas.microsoft.com/office/drawing/2014/main" id="{D5D739A1-DA29-CF5B-B95F-16B082268982}"/>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Dense subgraph correction visually</a:t>
            </a:r>
            <a:endParaRPr lang="en-GB" sz="2400" b="0" i="1" dirty="0"/>
          </a:p>
        </p:txBody>
      </p:sp>
      <p:sp>
        <p:nvSpPr>
          <p:cNvPr id="5" name="Date Placeholder 4">
            <a:extLst>
              <a:ext uri="{FF2B5EF4-FFF2-40B4-BE49-F238E27FC236}">
                <a16:creationId xmlns:a16="http://schemas.microsoft.com/office/drawing/2014/main" id="{91EF6C5B-5DE6-F620-6CE6-9B7EC788B68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551CCCB-2CEA-AC39-931F-EF860B9C114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5D7FC0-1E82-59FE-60B6-6200D3DA6DCE}"/>
              </a:ext>
            </a:extLst>
          </p:cNvPr>
          <p:cNvSpPr>
            <a:spLocks noGrp="1"/>
          </p:cNvSpPr>
          <p:nvPr>
            <p:ph type="sldNum" sz="quarter" idx="12"/>
          </p:nvPr>
        </p:nvSpPr>
        <p:spPr/>
        <p:txBody>
          <a:bodyPr/>
          <a:lstStyle/>
          <a:p>
            <a:fld id="{E1E1CD7C-2161-7D43-862E-CE4C333CD873}" type="slidenum">
              <a:rPr lang="fr-FR" smtClean="0"/>
              <a:pPr/>
              <a:t>74</a:t>
            </a:fld>
            <a:endParaRPr lang="fr-FR" dirty="0"/>
          </a:p>
        </p:txBody>
      </p:sp>
    </p:spTree>
    <p:extLst>
      <p:ext uri="{BB962C8B-B14F-4D97-AF65-F5344CB8AC3E}">
        <p14:creationId xmlns:p14="http://schemas.microsoft.com/office/powerpoint/2010/main" val="1012304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28EE6-6A22-3C4C-20A9-8B3801ED33A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DB2C80D-2533-80CB-F6FD-ABC561465F6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Bipartite subgraph correction visually</a:t>
            </a:r>
            <a:endParaRPr lang="en-GB" sz="2400" b="0" i="1" dirty="0"/>
          </a:p>
        </p:txBody>
      </p:sp>
      <p:sp>
        <p:nvSpPr>
          <p:cNvPr id="5" name="Date Placeholder 4">
            <a:extLst>
              <a:ext uri="{FF2B5EF4-FFF2-40B4-BE49-F238E27FC236}">
                <a16:creationId xmlns:a16="http://schemas.microsoft.com/office/drawing/2014/main" id="{31304D93-5A13-6EF9-5F80-A0538C1EA77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763DCF-3116-18AA-5852-4B7EBB2D601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F60288-57FB-34A4-75B1-DD307C58BCD1}"/>
              </a:ext>
            </a:extLst>
          </p:cNvPr>
          <p:cNvSpPr>
            <a:spLocks noGrp="1"/>
          </p:cNvSpPr>
          <p:nvPr>
            <p:ph type="sldNum" sz="quarter" idx="12"/>
          </p:nvPr>
        </p:nvSpPr>
        <p:spPr/>
        <p:txBody>
          <a:bodyPr/>
          <a:lstStyle/>
          <a:p>
            <a:fld id="{E1E1CD7C-2161-7D43-862E-CE4C333CD873}" type="slidenum">
              <a:rPr lang="fr-FR" smtClean="0"/>
              <a:pPr/>
              <a:t>75</a:t>
            </a:fld>
            <a:endParaRPr lang="fr-FR" dirty="0"/>
          </a:p>
        </p:txBody>
      </p:sp>
      <p:pic>
        <p:nvPicPr>
          <p:cNvPr id="11" name="Content Placeholder 10" descr="A diagram of a network&#10;&#10;AI-generated content may be incorrect.">
            <a:extLst>
              <a:ext uri="{FF2B5EF4-FFF2-40B4-BE49-F238E27FC236}">
                <a16:creationId xmlns:a16="http://schemas.microsoft.com/office/drawing/2014/main" id="{E365FF56-9B17-DC36-BC27-F6A6A9455C88}"/>
              </a:ext>
            </a:extLst>
          </p:cNvPr>
          <p:cNvPicPr>
            <a:picLocks noGrp="1" noChangeAspect="1"/>
          </p:cNvPicPr>
          <p:nvPr>
            <p:ph sz="half" idx="1"/>
          </p:nvPr>
        </p:nvPicPr>
        <p:blipFill>
          <a:blip r:embed="rId3"/>
          <a:stretch>
            <a:fillRect/>
          </a:stretch>
        </p:blipFill>
        <p:spPr>
          <a:xfrm>
            <a:off x="904875" y="1818680"/>
            <a:ext cx="3671888" cy="2753916"/>
          </a:xfrm>
        </p:spPr>
      </p:pic>
      <p:pic>
        <p:nvPicPr>
          <p:cNvPr id="15" name="Content Placeholder 14" descr="A diagram of a number of lines&#10;&#10;AI-generated content may be incorrect.">
            <a:extLst>
              <a:ext uri="{FF2B5EF4-FFF2-40B4-BE49-F238E27FC236}">
                <a16:creationId xmlns:a16="http://schemas.microsoft.com/office/drawing/2014/main" id="{E3A479B1-F356-61B6-5DBD-3BE3D4C8342D}"/>
              </a:ext>
            </a:extLst>
          </p:cNvPr>
          <p:cNvPicPr>
            <a:picLocks noGrp="1" noChangeAspect="1"/>
          </p:cNvPicPr>
          <p:nvPr>
            <p:ph sz="half" idx="2"/>
          </p:nvPr>
        </p:nvPicPr>
        <p:blipFill>
          <a:blip r:embed="rId4"/>
          <a:stretch>
            <a:fillRect/>
          </a:stretch>
        </p:blipFill>
        <p:spPr>
          <a:xfrm>
            <a:off x="4959350" y="1818680"/>
            <a:ext cx="3671888" cy="2753916"/>
          </a:xfrm>
        </p:spPr>
      </p:pic>
    </p:spTree>
    <p:extLst>
      <p:ext uri="{BB962C8B-B14F-4D97-AF65-F5344CB8AC3E}">
        <p14:creationId xmlns:p14="http://schemas.microsoft.com/office/powerpoint/2010/main" val="230636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378D2-8E40-127B-7AE9-82D452C6521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A8C7DE6-5847-E8BF-5489-C5872031A078}"/>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9C291193-F757-B705-7698-D5C713582EF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5F439DA-80D6-0C5F-FECE-791D6F2D5A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CB1B96B-647D-2A3A-0844-45A963361FB6}"/>
              </a:ext>
            </a:extLst>
          </p:cNvPr>
          <p:cNvSpPr>
            <a:spLocks noGrp="1"/>
          </p:cNvSpPr>
          <p:nvPr>
            <p:ph type="sldNum" sz="quarter" idx="12"/>
          </p:nvPr>
        </p:nvSpPr>
        <p:spPr/>
        <p:txBody>
          <a:bodyPr/>
          <a:lstStyle/>
          <a:p>
            <a:fld id="{E1E1CD7C-2161-7D43-862E-CE4C333CD873}" type="slidenum">
              <a:rPr lang="fr-FR" smtClean="0"/>
              <a:pPr/>
              <a:t>76</a:t>
            </a:fld>
            <a:endParaRPr lang="fr-FR" dirty="0"/>
          </a:p>
        </p:txBody>
      </p:sp>
      <p:graphicFrame>
        <p:nvGraphicFramePr>
          <p:cNvPr id="9" name="Content Placeholder 8">
            <a:extLst>
              <a:ext uri="{FF2B5EF4-FFF2-40B4-BE49-F238E27FC236}">
                <a16:creationId xmlns:a16="http://schemas.microsoft.com/office/drawing/2014/main" id="{8F55DD72-14FF-F2EC-FCBD-CE214A7045DB}"/>
              </a:ext>
            </a:extLst>
          </p:cNvPr>
          <p:cNvGraphicFramePr>
            <a:graphicFrameLocks noGrp="1"/>
          </p:cNvGraphicFramePr>
          <p:nvPr>
            <p:ph idx="1"/>
            <p:extLst>
              <p:ext uri="{D42A27DB-BD31-4B8C-83A1-F6EECF244321}">
                <p14:modId xmlns:p14="http://schemas.microsoft.com/office/powerpoint/2010/main" val="598907529"/>
              </p:ext>
            </p:extLst>
          </p:nvPr>
        </p:nvGraphicFramePr>
        <p:xfrm>
          <a:off x="904875" y="1563688"/>
          <a:ext cx="7726363" cy="33861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0" name="TextBox 9">
            <a:extLst>
              <a:ext uri="{FF2B5EF4-FFF2-40B4-BE49-F238E27FC236}">
                <a16:creationId xmlns:a16="http://schemas.microsoft.com/office/drawing/2014/main" id="{56848C00-7EFC-FB31-7232-9B73F3791AD6}"/>
              </a:ext>
            </a:extLst>
          </p:cNvPr>
          <p:cNvSpPr txBox="1"/>
          <p:nvPr/>
        </p:nvSpPr>
        <p:spPr>
          <a:xfrm>
            <a:off x="4199640" y="2933590"/>
            <a:ext cx="1136832" cy="646331"/>
          </a:xfrm>
          <a:prstGeom prst="rect">
            <a:avLst/>
          </a:prstGeom>
          <a:noFill/>
        </p:spPr>
        <p:txBody>
          <a:bodyPr wrap="square" rtlCol="0">
            <a:spAutoFit/>
          </a:bodyPr>
          <a:lstStyle/>
          <a:p>
            <a:pPr algn="ctr"/>
            <a:r>
              <a:rPr lang="en-US" sz="1800" dirty="0">
                <a:latin typeface="+mj-lt"/>
              </a:rPr>
              <a:t>Edge</a:t>
            </a:r>
          </a:p>
          <a:p>
            <a:pPr algn="ctr"/>
            <a:r>
              <a:rPr lang="en-US" sz="1800" dirty="0">
                <a:latin typeface="+mj-lt"/>
              </a:rPr>
              <a:t>likelihood</a:t>
            </a:r>
            <a:endParaRPr lang="en-GB" sz="1800" dirty="0">
              <a:latin typeface="+mj-lt"/>
            </a:endParaRPr>
          </a:p>
        </p:txBody>
      </p:sp>
    </p:spTree>
    <p:extLst>
      <p:ext uri="{BB962C8B-B14F-4D97-AF65-F5344CB8AC3E}">
        <p14:creationId xmlns:p14="http://schemas.microsoft.com/office/powerpoint/2010/main" val="2567009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randombar(horizontal)">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10"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77</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49310-151B-44AA-666E-D38F85BDCCC5}"/>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9F3F367-8524-CADF-D69A-0477FB4FCC49}"/>
              </a:ext>
            </a:extLst>
          </p:cNvPr>
          <p:cNvSpPr>
            <a:spLocks noGrp="1"/>
          </p:cNvSpPr>
          <p:nvPr>
            <p:ph idx="1"/>
          </p:nvPr>
        </p:nvSpPr>
        <p:spPr/>
        <p:txBody>
          <a:bodyPr anchor="ctr">
            <a:normAutofit/>
          </a:bodyPr>
          <a:lstStyle/>
          <a:p>
            <a:r>
              <a:rPr lang="en-US" dirty="0">
                <a:latin typeface="+mj-lt"/>
              </a:rPr>
              <a:t>Scalability = holism + reductionism</a:t>
            </a:r>
          </a:p>
          <a:p>
            <a:r>
              <a:rPr lang="en-US" dirty="0">
                <a:latin typeface="+mj-lt"/>
              </a:rPr>
              <a:t>Balance of abstraction and fine-grained detail</a:t>
            </a:r>
          </a:p>
          <a:p>
            <a:r>
              <a:rPr lang="en-US" dirty="0">
                <a:latin typeface="+mj-lt"/>
              </a:rPr>
              <a:t>Promising future: unifying reasoning and generation</a:t>
            </a:r>
          </a:p>
          <a:p>
            <a:pPr lvl="1"/>
            <a:r>
              <a:rPr lang="en-US" dirty="0">
                <a:latin typeface="+mj-lt"/>
              </a:rPr>
              <a:t>Predicting and generating correct facts</a:t>
            </a:r>
          </a:p>
          <a:p>
            <a:pPr lvl="1"/>
            <a:r>
              <a:rPr lang="en-US" dirty="0">
                <a:latin typeface="+mj-lt"/>
              </a:rPr>
              <a:t>Controllable abstraction level</a:t>
            </a:r>
          </a:p>
          <a:p>
            <a:pPr lvl="1"/>
            <a:r>
              <a:rPr lang="en-US" dirty="0">
                <a:latin typeface="+mj-lt"/>
              </a:rPr>
              <a:t>Treating graphs as an evolving knowledge system</a:t>
            </a:r>
          </a:p>
          <a:p>
            <a:r>
              <a:rPr lang="en-US" dirty="0">
                <a:latin typeface="+mj-lt"/>
              </a:rPr>
              <a:t>Go solve that 5x5 Rubik’s cube, it’s worth it, you know how to do it now…</a:t>
            </a:r>
          </a:p>
        </p:txBody>
      </p:sp>
      <p:sp>
        <p:nvSpPr>
          <p:cNvPr id="8" name="Title 7">
            <a:extLst>
              <a:ext uri="{FF2B5EF4-FFF2-40B4-BE49-F238E27FC236}">
                <a16:creationId xmlns:a16="http://schemas.microsoft.com/office/drawing/2014/main" id="{655496E2-D7DB-45C4-0FA3-59549B67DC43}"/>
              </a:ext>
            </a:extLst>
          </p:cNvPr>
          <p:cNvSpPr>
            <a:spLocks noGrp="1"/>
          </p:cNvSpPr>
          <p:nvPr>
            <p:ph type="title"/>
          </p:nvPr>
        </p:nvSpPr>
        <p:spPr>
          <a:xfrm>
            <a:off x="904875" y="131032"/>
            <a:ext cx="7726363" cy="1072753"/>
          </a:xfrm>
        </p:spPr>
        <p:txBody>
          <a:bodyPr>
            <a:normAutofit/>
          </a:bodyPr>
          <a:lstStyle/>
          <a:p>
            <a:r>
              <a:rPr lang="en-US" dirty="0"/>
              <a:t>5.	Conclusions &amp; Future Directions</a:t>
            </a:r>
            <a:endParaRPr lang="en-GB" sz="2400" b="0" i="1" dirty="0"/>
          </a:p>
        </p:txBody>
      </p:sp>
      <p:sp>
        <p:nvSpPr>
          <p:cNvPr id="5" name="Date Placeholder 4">
            <a:extLst>
              <a:ext uri="{FF2B5EF4-FFF2-40B4-BE49-F238E27FC236}">
                <a16:creationId xmlns:a16="http://schemas.microsoft.com/office/drawing/2014/main" id="{0BA782D4-5C49-F93F-5D38-79DA9C5D76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DD1A488-8374-E126-A750-FD553E40E9E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24C5A4D-F755-E6CF-82B5-91F2A00FD635}"/>
              </a:ext>
            </a:extLst>
          </p:cNvPr>
          <p:cNvSpPr>
            <a:spLocks noGrp="1"/>
          </p:cNvSpPr>
          <p:nvPr>
            <p:ph type="sldNum" sz="quarter" idx="12"/>
          </p:nvPr>
        </p:nvSpPr>
        <p:spPr/>
        <p:txBody>
          <a:bodyPr/>
          <a:lstStyle/>
          <a:p>
            <a:fld id="{E1E1CD7C-2161-7D43-862E-CE4C333CD873}" type="slidenum">
              <a:rPr lang="fr-FR" smtClean="0"/>
              <a:pPr/>
              <a:t>78</a:t>
            </a:fld>
            <a:endParaRPr lang="fr-FR" dirty="0"/>
          </a:p>
        </p:txBody>
      </p:sp>
    </p:spTree>
    <p:extLst>
      <p:ext uri="{BB962C8B-B14F-4D97-AF65-F5344CB8AC3E}">
        <p14:creationId xmlns:p14="http://schemas.microsoft.com/office/powerpoint/2010/main" val="1136058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7" dur="500"/>
                                        <p:tgtEl>
                                          <p:spTgt spid="4">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randombar(horizontal)">
                                      <p:cBhvr>
                                        <p:cTn id="20" dur="500"/>
                                        <p:tgtEl>
                                          <p:spTgt spid="4">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3" dur="500"/>
                                        <p:tgtEl>
                                          <p:spTgt spid="4">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4" presetClass="entr" presetSubtype="1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randombar(horizontal)">
                                      <p:cBhvr>
                                        <p:cTn id="31"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79</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customXml/itemProps2.xml><?xml version="1.0" encoding="utf-8"?>
<ds:datastoreItem xmlns:ds="http://schemas.openxmlformats.org/officeDocument/2006/customXml" ds:itemID="{266205E9-12FC-4D6C-B0C7-1E9025EEB158}">
  <ds:schemaRefs>
    <ds:schemaRef ds:uri="http://schemas.microsoft.com/sharepoint/v3/contenttype/forms"/>
  </ds:schemaRefs>
</ds:datastoreItem>
</file>

<file path=customXml/itemProps3.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Thème Office</Template>
  <TotalTime>4973</TotalTime>
  <Words>7210</Words>
  <Application>Microsoft Office PowerPoint</Application>
  <PresentationFormat>On-screen Show (16:9)</PresentationFormat>
  <Paragraphs>912</Paragraphs>
  <Slides>79</Slides>
  <Notes>79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79</vt:i4>
      </vt:variant>
    </vt:vector>
  </HeadingPairs>
  <TitlesOfParts>
    <vt:vector size="84" baseType="lpstr">
      <vt:lpstr>Arial</vt:lpstr>
      <vt:lpstr>Cambria Math</vt:lpstr>
      <vt:lpstr>Franklin Gothic Demi Cond</vt:lpstr>
      <vt:lpstr>Wingdings</vt:lpstr>
      <vt:lpstr>Thème Office</vt:lpstr>
      <vt:lpstr> 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Community-Informed Graph Embeddings Problem &amp; Challenges - Setting</vt:lpstr>
      <vt:lpstr>3.1 Community-Informed Graph Embeddings Problem &amp; Challenges - Related work</vt:lpstr>
      <vt:lpstr>3.1 Community-Informed Graph Embeddings Background - Graph theory of Knowledge Graph Reasoning</vt:lpstr>
      <vt:lpstr>3.1 Community-Informed Graph Embeddings Background - Optimization problems of Knowledge Graph Reasoning</vt:lpstr>
      <vt:lpstr>3.1 Community-Informed Graph Embeddings Background - Representation theory of Knowledge Graph Reasoning</vt:lpstr>
      <vt:lpstr>3.1 Community-Informed Graph Embeddings Contributions - Idea</vt:lpstr>
      <vt:lpstr>3.1 Community-Informed Graph Embeddings Contributions - Theory</vt:lpstr>
      <vt:lpstr>3.1 Community-Informed Graph Embeddings Methodology - The COINs architecture</vt:lpstr>
      <vt:lpstr>3.1 Community-Informed Graph Embeddings Methodology - The COINs KG representation process</vt:lpstr>
      <vt:lpstr>3.1 Community-Informed Graph Embeddings Methodology - Algorithm and  properties</vt:lpstr>
      <vt:lpstr>3.1 Community-Informed Graph Embeddings Methodology - Experiments</vt:lpstr>
      <vt:lpstr>3.1 Community-Informed Graph Embeddings Results - Community quality</vt:lpstr>
      <vt:lpstr>3.1 Community-Informed Graph Embeddings Results - Query answering MRR</vt:lpstr>
      <vt:lpstr>3.1 Community-Informed Graph Embeddings Results - Comparison to related work on KG scalability</vt:lpstr>
      <vt:lpstr>3.1 Community-Informed Graph Embeddings Results - Feasibility</vt:lpstr>
      <vt:lpstr>3.1 Community-Informed Graph Embeddings Summary </vt:lpstr>
      <vt:lpstr>3.1 Community-Informed Graph Embeddings *Distributed extension - Idea</vt:lpstr>
      <vt:lpstr>3.1 Community-Informed Graph Embeddings *Distributed extension - Outcomes</vt:lpstr>
      <vt:lpstr>3.2 Real-world Application: The Monty Knowledge Base Motivation - Knowledge Graph Reasoning in Industry</vt:lpstr>
      <vt:lpstr>3.2 Real-world Application: The Monty Knowledge Base Motivation - COINs origins</vt:lpstr>
      <vt:lpstr>3.2 Real-world Application: The Monty Knowledge Base Methodology - Feature extraction</vt:lpstr>
      <vt:lpstr>3.2 Real-world Application: The Monty Knowledge Base Methodology - Statistical comparison</vt:lpstr>
      <vt:lpstr>3.2 Real-world Application: The Monty Knowledge Base Results - Swisscom vs. the world</vt:lpstr>
      <vt:lpstr>3.2 Real-world Application: The Monty Knowledge Base Results - Re-evaluation on Monty after ablation</vt:lpstr>
      <vt:lpstr>Scalable  Graph Generation</vt:lpstr>
      <vt:lpstr>4.1 Geometric Graph Generation with CRPs Motivation </vt:lpstr>
      <vt:lpstr>4.1 Geometric Graph Generation with CRPs Background - Gen AI for graphs</vt:lpstr>
      <vt:lpstr>4.1 Geometric Graph Generation with CRPs Background - GG-GAN</vt:lpstr>
      <vt:lpstr>4.1 Geometric Graph Generation with CRPs Background - The Chinese Restaurant Process (CRP) </vt:lpstr>
      <vt:lpstr>4.1 Geometric Graph Generation with CRPs Methodology - Idea</vt:lpstr>
      <vt:lpstr>4.1 Geometric Graph Generation with CRPs Methodology - Community assignment sampling</vt:lpstr>
      <vt:lpstr>4.1 Geometric Graph Generation with CRPs Methodology - GGG-CRP  autoregressive process</vt:lpstr>
      <vt:lpstr>4.1 Geometric Graph Generation with CRPs Results - Expressivity</vt:lpstr>
      <vt:lpstr>4.1 Geometric Graph Generation with CRPs Results - Expressivity</vt:lpstr>
      <vt:lpstr>4.1 Geometric Graph Generation with CRPs Results - Novelty</vt:lpstr>
      <vt:lpstr>4.1 Geometric Graph Generation with CRPs Summary </vt:lpstr>
      <vt:lpstr>4.2 Hierarchical Generative Graph Diffusion Motivation</vt:lpstr>
      <vt:lpstr>4.2 Hierarchical Generative Graph Diffusion Background - Diffusion models</vt:lpstr>
      <vt:lpstr>4.2 Hierarchical Generative Graph Diffusion Background - Hierarchical Graph Diffusion of MRGrad</vt:lpstr>
      <vt:lpstr>4.2 Hierarchical Generative Graph Diffusion Background - Hierarchical Graph Diffusion of MRGrad</vt:lpstr>
      <vt:lpstr>4.2 Hierarchical Generative Graph Diffusion Contributions - Model designs</vt:lpstr>
      <vt:lpstr>4.2 Hierarchical Generative Graph Diffusion Contributions - Theory</vt:lpstr>
      <vt:lpstr>4.2 Hierarchical Generative Graph Diffusion Results - Community detection</vt:lpstr>
      <vt:lpstr>4.2 Hierarchical Generative Graph Diffusion Results - Expressivity</vt:lpstr>
      <vt:lpstr>4.2 Hierarchical Generative Graph Diffusion Results - Real vs. fake graphs</vt:lpstr>
      <vt:lpstr>4.2 Hierarchical Generative Graph Diffusion Results - Ablation</vt:lpstr>
      <vt:lpstr>4.2 Hierarchical Generative Graph Diffusion Results - Performance vs. baselines</vt:lpstr>
      <vt:lpstr>4.2 Hierarchical Generative Graph Diffusion Summary</vt:lpstr>
      <vt:lpstr>4.3 Multi-measurement Diffusion Methods Motivation</vt:lpstr>
      <vt:lpstr>4.3 Multi-measurement Diffusion Methods Background - The reason for time annealing</vt:lpstr>
      <vt:lpstr>4.3 Multi-measurement Diffusion Methods Background - The disadvantages of time annealing</vt:lpstr>
      <vt:lpstr>4.3 Multi-measurement Diffusion Methods The MultiProx sampler - Theory</vt:lpstr>
      <vt:lpstr>4.3 Multi-measurement Diffusion Methods The MultiProx sampler - Visually</vt:lpstr>
      <vt:lpstr>4.3 Multi-measurement Diffusion Methods Results - Images</vt:lpstr>
      <vt:lpstr>4.3 Multi-measurement Diffusion Methods Results - QM9 graphs with Gaussian DiGress and MultiProx</vt:lpstr>
      <vt:lpstr>4.3 Multi-measurement Diffusion Methods *The MultiProxAn sampler </vt:lpstr>
      <vt:lpstr>4.3 Multi-measurement Diffusion Methods Results - QM9 graphs with Gaussian DiGress and MultiProxAn</vt:lpstr>
      <vt:lpstr>4.3 Multi-measurement Diffusion Methods Results - QM9 graphs with Gaussian DiGress and MultiProxAn</vt:lpstr>
      <vt:lpstr>4.4 Generative KG Anomaly Correction Motivation - Anomalous knowledge</vt:lpstr>
      <vt:lpstr>4.4 Generative KG Anomaly Correction Motivation - Naïve ideas will not work</vt:lpstr>
      <vt:lpstr>4.4 Generative KG Anomaly Correction Related work</vt:lpstr>
      <vt:lpstr>4.4 Generative KG Anomaly Correction Experiment setup - Data</vt:lpstr>
      <vt:lpstr>4.4 Generative KG Anomaly Correction Experiment setup - Model</vt:lpstr>
      <vt:lpstr>4.4 Generative KG Anomaly Correction Results - Metrics</vt:lpstr>
      <vt:lpstr>4.4 Generative KG Anomaly Correction Results - Contrastive Loss across denoising steps</vt:lpstr>
      <vt:lpstr>4.4 Generative KG Anomaly Correction Results - Dense subgraph correction visually</vt:lpstr>
      <vt:lpstr>4.4 Generative KG Anomaly Correction Results - Bipartite subgraph correction visually</vt:lpstr>
      <vt:lpstr>4.4 Generative KG Anomaly Correction Summary</vt:lpstr>
      <vt:lpstr>Conclusion</vt:lpstr>
      <vt:lpstr>5. Conclusions &amp; Future Directions</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379</cp:revision>
  <dcterms:created xsi:type="dcterms:W3CDTF">2019-04-02T06:24:35Z</dcterms:created>
  <dcterms:modified xsi:type="dcterms:W3CDTF">2025-10-15T22:02:04Z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