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90"/>
  </p:notesMasterIdLst>
  <p:handoutMasterIdLst>
    <p:handoutMasterId r:id="rId91"/>
  </p:handoutMasterIdLst>
  <p:sldIdLst>
    <p:sldId id="256" r:id="rId5"/>
    <p:sldId id="257" r:id="rId6"/>
    <p:sldId id="275" r:id="rId7"/>
    <p:sldId id="280" r:id="rId8"/>
    <p:sldId id="276" r:id="rId9"/>
    <p:sldId id="281" r:id="rId10"/>
    <p:sldId id="282" r:id="rId11"/>
    <p:sldId id="277" r:id="rId12"/>
    <p:sldId id="258" r:id="rId13"/>
    <p:sldId id="259" r:id="rId14"/>
    <p:sldId id="261" r:id="rId15"/>
    <p:sldId id="260" r:id="rId16"/>
    <p:sldId id="262" r:id="rId17"/>
    <p:sldId id="263" r:id="rId18"/>
    <p:sldId id="264" r:id="rId19"/>
    <p:sldId id="265" r:id="rId20"/>
    <p:sldId id="267" r:id="rId21"/>
    <p:sldId id="266" r:id="rId22"/>
    <p:sldId id="268" r:id="rId23"/>
    <p:sldId id="269" r:id="rId24"/>
    <p:sldId id="270" r:id="rId25"/>
    <p:sldId id="271" r:id="rId26"/>
    <p:sldId id="272" r:id="rId27"/>
    <p:sldId id="273" r:id="rId28"/>
    <p:sldId id="283" r:id="rId29"/>
    <p:sldId id="286" r:id="rId30"/>
    <p:sldId id="284" r:id="rId31"/>
    <p:sldId id="285" r:id="rId32"/>
    <p:sldId id="287" r:id="rId33"/>
    <p:sldId id="288" r:id="rId34"/>
    <p:sldId id="289" r:id="rId35"/>
    <p:sldId id="290" r:id="rId36"/>
    <p:sldId id="278" r:id="rId37"/>
    <p:sldId id="291" r:id="rId38"/>
    <p:sldId id="293" r:id="rId39"/>
    <p:sldId id="292"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7" r:id="rId53"/>
    <p:sldId id="306" r:id="rId54"/>
    <p:sldId id="313" r:id="rId55"/>
    <p:sldId id="308" r:id="rId56"/>
    <p:sldId id="310" r:id="rId57"/>
    <p:sldId id="311" r:id="rId58"/>
    <p:sldId id="309" r:id="rId59"/>
    <p:sldId id="312" r:id="rId60"/>
    <p:sldId id="314" r:id="rId61"/>
    <p:sldId id="316" r:id="rId62"/>
    <p:sldId id="317" r:id="rId63"/>
    <p:sldId id="318" r:id="rId64"/>
    <p:sldId id="319" r:id="rId65"/>
    <p:sldId id="320" r:id="rId66"/>
    <p:sldId id="321" r:id="rId67"/>
    <p:sldId id="341" r:id="rId68"/>
    <p:sldId id="322" r:id="rId69"/>
    <p:sldId id="323" r:id="rId70"/>
    <p:sldId id="324" r:id="rId71"/>
    <p:sldId id="325" r:id="rId72"/>
    <p:sldId id="326" r:id="rId73"/>
    <p:sldId id="340" r:id="rId74"/>
    <p:sldId id="327" r:id="rId75"/>
    <p:sldId id="328" r:id="rId76"/>
    <p:sldId id="329" r:id="rId77"/>
    <p:sldId id="330" r:id="rId78"/>
    <p:sldId id="331" r:id="rId79"/>
    <p:sldId id="332" r:id="rId80"/>
    <p:sldId id="333" r:id="rId81"/>
    <p:sldId id="334" r:id="rId82"/>
    <p:sldId id="279" r:id="rId83"/>
    <p:sldId id="335" r:id="rId84"/>
    <p:sldId id="336" r:id="rId85"/>
    <p:sldId id="338" r:id="rId86"/>
    <p:sldId id="337" r:id="rId87"/>
    <p:sldId id="339" r:id="rId88"/>
    <p:sldId id="274" r:id="rId89"/>
  </p:sldIdLst>
  <p:sldSz cx="9144000" cy="5143500" type="screen16x9"/>
  <p:notesSz cx="6858000" cy="9144000"/>
  <p:defaultTex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36" autoAdjust="0"/>
    <p:restoredTop sz="74795" autoAdjust="0"/>
  </p:normalViewPr>
  <p:slideViewPr>
    <p:cSldViewPr snapToGrid="0" snapToObjects="1" showGuides="1">
      <p:cViewPr varScale="1">
        <p:scale>
          <a:sx n="109" d="100"/>
          <a:sy n="109" d="100"/>
        </p:scale>
        <p:origin x="588" y="7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50" d="100"/>
          <a:sy n="150" d="100"/>
        </p:scale>
        <p:origin x="608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BAB726-D7AB-43A2-9B2E-8E3FF5C3C672}"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GB"/>
        </a:p>
      </dgm:t>
    </dgm:pt>
    <dgm:pt modelId="{21B7A1D8-CFF0-41E9-80CC-2CB133876011}">
      <dgm:prSet phldrT="[Text]" phldr="0" custT="1"/>
      <dgm:spPr/>
      <dgm:t>
        <a:bodyPr/>
        <a:lstStyle/>
        <a:p>
          <a:pPr algn="ctr"/>
          <a:r>
            <a:rPr lang="en-US" sz="3200" dirty="0">
              <a:latin typeface="+mj-lt"/>
            </a:rPr>
            <a:t>Reasoning</a:t>
          </a:r>
        </a:p>
        <a:p>
          <a:pPr algn="ctr"/>
          <a:endParaRPr lang="en-US" sz="1800" dirty="0">
            <a:latin typeface="+mj-lt"/>
          </a:endParaRPr>
        </a:p>
        <a:p>
          <a:pPr algn="l"/>
          <a:r>
            <a:rPr lang="en-GB" sz="1800" dirty="0">
              <a:latin typeface="+mj-lt"/>
            </a:rPr>
            <a:t>Logic </a:t>
          </a:r>
          <a:r>
            <a:rPr lang="en-GB" sz="1800" dirty="0" err="1">
              <a:latin typeface="+mj-lt"/>
            </a:rPr>
            <a:t>modeling</a:t>
          </a:r>
          <a:endParaRPr lang="en-GB" sz="1800" dirty="0">
            <a:latin typeface="+mj-lt"/>
          </a:endParaRPr>
        </a:p>
        <a:p>
          <a:pPr algn="l"/>
          <a:r>
            <a:rPr lang="en-GB" sz="1800" dirty="0">
              <a:latin typeface="+mj-lt"/>
            </a:rPr>
            <a:t>Ranking</a:t>
          </a:r>
        </a:p>
        <a:p>
          <a:pPr algn="l"/>
          <a:r>
            <a:rPr lang="en-GB" sz="1800" dirty="0">
              <a:latin typeface="+mj-lt"/>
            </a:rPr>
            <a:t>Veracity classification</a:t>
          </a:r>
        </a:p>
      </dgm:t>
    </dgm:pt>
    <dgm:pt modelId="{A56D25A7-D7C3-4D13-A091-6FDFB84AF3B3}" type="parTrans" cxnId="{281ACBDF-121D-4621-B6A3-995E9FCF0DFF}">
      <dgm:prSet/>
      <dgm:spPr/>
      <dgm:t>
        <a:bodyPr/>
        <a:lstStyle/>
        <a:p>
          <a:endParaRPr lang="en-GB"/>
        </a:p>
      </dgm:t>
    </dgm:pt>
    <dgm:pt modelId="{4085088C-46EF-4BC9-A592-F386A2CC5270}" type="sibTrans" cxnId="{281ACBDF-121D-4621-B6A3-995E9FCF0DFF}">
      <dgm:prSet/>
      <dgm:spPr/>
      <dgm:t>
        <a:bodyPr/>
        <a:lstStyle/>
        <a:p>
          <a:endParaRPr lang="en-GB"/>
        </a:p>
      </dgm:t>
    </dgm:pt>
    <dgm:pt modelId="{AD9D03CC-A6DE-4160-ACA7-963A65D50AD3}">
      <dgm:prSet phldrT="[Text]" phldr="0" custT="1"/>
      <dgm:spPr/>
      <dgm:t>
        <a:bodyPr/>
        <a:lstStyle/>
        <a:p>
          <a:pPr algn="ctr"/>
          <a:r>
            <a:rPr lang="en-US" sz="3200" dirty="0">
              <a:latin typeface="+mj-lt"/>
            </a:rPr>
            <a:t>Generation</a:t>
          </a:r>
        </a:p>
        <a:p>
          <a:pPr algn="ctr"/>
          <a:endParaRPr lang="en-US" sz="1800" dirty="0">
            <a:latin typeface="+mj-lt"/>
          </a:endParaRPr>
        </a:p>
        <a:p>
          <a:pPr algn="r"/>
          <a:r>
            <a:rPr lang="en-GB" sz="1800" dirty="0">
              <a:latin typeface="+mj-lt"/>
            </a:rPr>
            <a:t>Graph-level </a:t>
          </a:r>
          <a:r>
            <a:rPr lang="en-GB" sz="1800" dirty="0" err="1">
              <a:latin typeface="+mj-lt"/>
            </a:rPr>
            <a:t>modeling</a:t>
          </a:r>
          <a:endParaRPr lang="en-GB" sz="1800" dirty="0">
            <a:latin typeface="+mj-lt"/>
          </a:endParaRPr>
        </a:p>
        <a:p>
          <a:pPr algn="r"/>
          <a:r>
            <a:rPr lang="en-GB" sz="1800" dirty="0">
              <a:latin typeface="+mj-lt"/>
            </a:rPr>
            <a:t>Noise estimation</a:t>
          </a:r>
        </a:p>
        <a:p>
          <a:pPr algn="r"/>
          <a:r>
            <a:rPr lang="en-GB" sz="1800" dirty="0">
              <a:latin typeface="+mj-lt"/>
            </a:rPr>
            <a:t>Sample chaining</a:t>
          </a:r>
        </a:p>
      </dgm:t>
    </dgm:pt>
    <dgm:pt modelId="{C56DD3AB-D9E5-4463-8816-E33F074797F3}" type="parTrans" cxnId="{426DF2AE-64EB-4CA7-921E-8CE866DB297A}">
      <dgm:prSet/>
      <dgm:spPr/>
      <dgm:t>
        <a:bodyPr/>
        <a:lstStyle/>
        <a:p>
          <a:endParaRPr lang="en-GB"/>
        </a:p>
      </dgm:t>
    </dgm:pt>
    <dgm:pt modelId="{8EFF6ADA-886C-4558-B208-8FA2F406DCD8}" type="sibTrans" cxnId="{426DF2AE-64EB-4CA7-921E-8CE866DB297A}">
      <dgm:prSet/>
      <dgm:spPr/>
      <dgm:t>
        <a:bodyPr/>
        <a:lstStyle/>
        <a:p>
          <a:endParaRPr lang="en-GB"/>
        </a:p>
      </dgm:t>
    </dgm:pt>
    <dgm:pt modelId="{3F3DB19F-2E7C-439C-8830-8CA3138E136C}" type="pres">
      <dgm:prSet presAssocID="{5CBAB726-D7AB-43A2-9B2E-8E3FF5C3C672}" presName="compositeShape" presStyleCnt="0">
        <dgm:presLayoutVars>
          <dgm:chMax val="7"/>
          <dgm:dir/>
          <dgm:resizeHandles val="exact"/>
        </dgm:presLayoutVars>
      </dgm:prSet>
      <dgm:spPr/>
    </dgm:pt>
    <dgm:pt modelId="{B98EC832-C09D-4678-842C-CD67F3A241DC}" type="pres">
      <dgm:prSet presAssocID="{21B7A1D8-CFF0-41E9-80CC-2CB133876011}" presName="circ1" presStyleLbl="vennNode1" presStyleIdx="0" presStyleCnt="2"/>
      <dgm:spPr/>
    </dgm:pt>
    <dgm:pt modelId="{0912B371-8AD8-4D0A-8136-AACF7FF06BE3}" type="pres">
      <dgm:prSet presAssocID="{21B7A1D8-CFF0-41E9-80CC-2CB133876011}" presName="circ1Tx" presStyleLbl="revTx" presStyleIdx="0" presStyleCnt="0">
        <dgm:presLayoutVars>
          <dgm:chMax val="0"/>
          <dgm:chPref val="0"/>
          <dgm:bulletEnabled val="1"/>
        </dgm:presLayoutVars>
      </dgm:prSet>
      <dgm:spPr/>
    </dgm:pt>
    <dgm:pt modelId="{61E46B28-4725-49B2-A851-3A70A13246FC}" type="pres">
      <dgm:prSet presAssocID="{AD9D03CC-A6DE-4160-ACA7-963A65D50AD3}" presName="circ2" presStyleLbl="vennNode1" presStyleIdx="1" presStyleCnt="2" custLinFactNeighborX="-523" custLinFactNeighborY="274"/>
      <dgm:spPr/>
    </dgm:pt>
    <dgm:pt modelId="{D25B38E4-60CD-40B5-A747-237F60FE8A9F}" type="pres">
      <dgm:prSet presAssocID="{AD9D03CC-A6DE-4160-ACA7-963A65D50AD3}" presName="circ2Tx" presStyleLbl="revTx" presStyleIdx="0" presStyleCnt="0">
        <dgm:presLayoutVars>
          <dgm:chMax val="0"/>
          <dgm:chPref val="0"/>
          <dgm:bulletEnabled val="1"/>
        </dgm:presLayoutVars>
      </dgm:prSet>
      <dgm:spPr/>
    </dgm:pt>
  </dgm:ptLst>
  <dgm:cxnLst>
    <dgm:cxn modelId="{9EE72509-CFF4-4B0A-B79E-18722DC2749A}" type="presOf" srcId="{5CBAB726-D7AB-43A2-9B2E-8E3FF5C3C672}" destId="{3F3DB19F-2E7C-439C-8830-8CA3138E136C}" srcOrd="0" destOrd="0" presId="urn:microsoft.com/office/officeart/2005/8/layout/venn1"/>
    <dgm:cxn modelId="{CB2BE86E-5951-4D6E-8B6B-1758DBE651A4}" type="presOf" srcId="{AD9D03CC-A6DE-4160-ACA7-963A65D50AD3}" destId="{D25B38E4-60CD-40B5-A747-237F60FE8A9F}" srcOrd="1" destOrd="0" presId="urn:microsoft.com/office/officeart/2005/8/layout/venn1"/>
    <dgm:cxn modelId="{426DF2AE-64EB-4CA7-921E-8CE866DB297A}" srcId="{5CBAB726-D7AB-43A2-9B2E-8E3FF5C3C672}" destId="{AD9D03CC-A6DE-4160-ACA7-963A65D50AD3}" srcOrd="1" destOrd="0" parTransId="{C56DD3AB-D9E5-4463-8816-E33F074797F3}" sibTransId="{8EFF6ADA-886C-4558-B208-8FA2F406DCD8}"/>
    <dgm:cxn modelId="{04B1C6C8-8F3D-47E7-93D0-C34C1F53A920}" type="presOf" srcId="{21B7A1D8-CFF0-41E9-80CC-2CB133876011}" destId="{B98EC832-C09D-4678-842C-CD67F3A241DC}" srcOrd="0" destOrd="0" presId="urn:microsoft.com/office/officeart/2005/8/layout/venn1"/>
    <dgm:cxn modelId="{A4F479CB-77A9-4818-AA63-3D6C04EA91A2}" type="presOf" srcId="{21B7A1D8-CFF0-41E9-80CC-2CB133876011}" destId="{0912B371-8AD8-4D0A-8136-AACF7FF06BE3}" srcOrd="1" destOrd="0" presId="urn:microsoft.com/office/officeart/2005/8/layout/venn1"/>
    <dgm:cxn modelId="{281ACBDF-121D-4621-B6A3-995E9FCF0DFF}" srcId="{5CBAB726-D7AB-43A2-9B2E-8E3FF5C3C672}" destId="{21B7A1D8-CFF0-41E9-80CC-2CB133876011}" srcOrd="0" destOrd="0" parTransId="{A56D25A7-D7C3-4D13-A091-6FDFB84AF3B3}" sibTransId="{4085088C-46EF-4BC9-A592-F386A2CC5270}"/>
    <dgm:cxn modelId="{ABA4F9F4-2A5E-4248-8CDC-F5A8BFC139E0}" type="presOf" srcId="{AD9D03CC-A6DE-4160-ACA7-963A65D50AD3}" destId="{61E46B28-4725-49B2-A851-3A70A13246FC}" srcOrd="0" destOrd="0" presId="urn:microsoft.com/office/officeart/2005/8/layout/venn1"/>
    <dgm:cxn modelId="{0E48777F-E730-4220-AA44-3D0D59B8BE47}" type="presParOf" srcId="{3F3DB19F-2E7C-439C-8830-8CA3138E136C}" destId="{B98EC832-C09D-4678-842C-CD67F3A241DC}" srcOrd="0" destOrd="0" presId="urn:microsoft.com/office/officeart/2005/8/layout/venn1"/>
    <dgm:cxn modelId="{9095BFA0-4184-47AB-90B3-C48552AF39E6}" type="presParOf" srcId="{3F3DB19F-2E7C-439C-8830-8CA3138E136C}" destId="{0912B371-8AD8-4D0A-8136-AACF7FF06BE3}" srcOrd="1" destOrd="0" presId="urn:microsoft.com/office/officeart/2005/8/layout/venn1"/>
    <dgm:cxn modelId="{D3203CB3-307E-4800-804F-0E610DC743AE}" type="presParOf" srcId="{3F3DB19F-2E7C-439C-8830-8CA3138E136C}" destId="{61E46B28-4725-49B2-A851-3A70A13246FC}" srcOrd="2" destOrd="0" presId="urn:microsoft.com/office/officeart/2005/8/layout/venn1"/>
    <dgm:cxn modelId="{A4691858-6F3C-4D1B-B259-0E1A0A1075FE}" type="presParOf" srcId="{3F3DB19F-2E7C-439C-8830-8CA3138E136C}" destId="{D25B38E4-60CD-40B5-A747-237F60FE8A9F}"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EC832-C09D-4678-842C-CD67F3A241DC}">
      <dsp:nvSpPr>
        <dsp:cNvPr id="0" name=""/>
        <dsp:cNvSpPr/>
      </dsp:nvSpPr>
      <dsp:spPr>
        <a:xfrm>
          <a:off x="965731" y="9210"/>
          <a:ext cx="3367716" cy="33677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mj-lt"/>
            </a:rPr>
            <a:t>Reasoning</a:t>
          </a:r>
        </a:p>
        <a:p>
          <a:pPr marL="0" lvl="0" indent="0" algn="ctr" defTabSz="1422400">
            <a:lnSpc>
              <a:spcPct val="90000"/>
            </a:lnSpc>
            <a:spcBef>
              <a:spcPct val="0"/>
            </a:spcBef>
            <a:spcAft>
              <a:spcPct val="35000"/>
            </a:spcAft>
            <a:buNone/>
          </a:pPr>
          <a:endParaRPr lang="en-US" sz="1800" kern="1200" dirty="0">
            <a:latin typeface="+mj-lt"/>
          </a:endParaRPr>
        </a:p>
        <a:p>
          <a:pPr marL="0" lvl="0" indent="0" algn="l" defTabSz="1422400">
            <a:lnSpc>
              <a:spcPct val="90000"/>
            </a:lnSpc>
            <a:spcBef>
              <a:spcPct val="0"/>
            </a:spcBef>
            <a:spcAft>
              <a:spcPct val="35000"/>
            </a:spcAft>
            <a:buNone/>
          </a:pPr>
          <a:r>
            <a:rPr lang="en-GB" sz="1800" kern="1200" dirty="0">
              <a:latin typeface="+mj-lt"/>
            </a:rPr>
            <a:t>Logic </a:t>
          </a:r>
          <a:r>
            <a:rPr lang="en-GB" sz="1800" kern="1200" dirty="0" err="1">
              <a:latin typeface="+mj-lt"/>
            </a:rPr>
            <a:t>modeling</a:t>
          </a:r>
          <a:endParaRPr lang="en-GB" sz="1800" kern="1200" dirty="0">
            <a:latin typeface="+mj-lt"/>
          </a:endParaRPr>
        </a:p>
        <a:p>
          <a:pPr marL="0" lvl="0" indent="0" algn="l" defTabSz="1422400">
            <a:lnSpc>
              <a:spcPct val="90000"/>
            </a:lnSpc>
            <a:spcBef>
              <a:spcPct val="0"/>
            </a:spcBef>
            <a:spcAft>
              <a:spcPct val="35000"/>
            </a:spcAft>
            <a:buNone/>
          </a:pPr>
          <a:r>
            <a:rPr lang="en-GB" sz="1800" kern="1200" dirty="0">
              <a:latin typeface="+mj-lt"/>
            </a:rPr>
            <a:t>Ranking</a:t>
          </a:r>
        </a:p>
        <a:p>
          <a:pPr marL="0" lvl="0" indent="0" algn="l" defTabSz="1422400">
            <a:lnSpc>
              <a:spcPct val="90000"/>
            </a:lnSpc>
            <a:spcBef>
              <a:spcPct val="0"/>
            </a:spcBef>
            <a:spcAft>
              <a:spcPct val="35000"/>
            </a:spcAft>
            <a:buNone/>
          </a:pPr>
          <a:r>
            <a:rPr lang="en-GB" sz="1800" kern="1200" dirty="0">
              <a:latin typeface="+mj-lt"/>
            </a:rPr>
            <a:t>Veracity classification</a:t>
          </a:r>
        </a:p>
      </dsp:txBody>
      <dsp:txXfrm>
        <a:off x="1435998" y="406336"/>
        <a:ext cx="1941746" cy="2573464"/>
      </dsp:txXfrm>
    </dsp:sp>
    <dsp:sp modelId="{61E46B28-4725-49B2-A851-3A70A13246FC}">
      <dsp:nvSpPr>
        <dsp:cNvPr id="0" name=""/>
        <dsp:cNvSpPr/>
      </dsp:nvSpPr>
      <dsp:spPr>
        <a:xfrm>
          <a:off x="3375301" y="18420"/>
          <a:ext cx="3367716" cy="33677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mj-lt"/>
            </a:rPr>
            <a:t>Generation</a:t>
          </a:r>
        </a:p>
        <a:p>
          <a:pPr marL="0" lvl="0" indent="0" algn="ctr" defTabSz="1422400">
            <a:lnSpc>
              <a:spcPct val="90000"/>
            </a:lnSpc>
            <a:spcBef>
              <a:spcPct val="0"/>
            </a:spcBef>
            <a:spcAft>
              <a:spcPct val="35000"/>
            </a:spcAft>
            <a:buNone/>
          </a:pPr>
          <a:endParaRPr lang="en-US" sz="1800" kern="1200" dirty="0">
            <a:latin typeface="+mj-lt"/>
          </a:endParaRPr>
        </a:p>
        <a:p>
          <a:pPr marL="0" lvl="0" indent="0" algn="r" defTabSz="1422400">
            <a:lnSpc>
              <a:spcPct val="90000"/>
            </a:lnSpc>
            <a:spcBef>
              <a:spcPct val="0"/>
            </a:spcBef>
            <a:spcAft>
              <a:spcPct val="35000"/>
            </a:spcAft>
            <a:buNone/>
          </a:pPr>
          <a:r>
            <a:rPr lang="en-GB" sz="1800" kern="1200" dirty="0">
              <a:latin typeface="+mj-lt"/>
            </a:rPr>
            <a:t>Graph-level </a:t>
          </a:r>
          <a:r>
            <a:rPr lang="en-GB" sz="1800" kern="1200" dirty="0" err="1">
              <a:latin typeface="+mj-lt"/>
            </a:rPr>
            <a:t>modeling</a:t>
          </a:r>
          <a:endParaRPr lang="en-GB" sz="1800" kern="1200" dirty="0">
            <a:latin typeface="+mj-lt"/>
          </a:endParaRPr>
        </a:p>
        <a:p>
          <a:pPr marL="0" lvl="0" indent="0" algn="r" defTabSz="1422400">
            <a:lnSpc>
              <a:spcPct val="90000"/>
            </a:lnSpc>
            <a:spcBef>
              <a:spcPct val="0"/>
            </a:spcBef>
            <a:spcAft>
              <a:spcPct val="35000"/>
            </a:spcAft>
            <a:buNone/>
          </a:pPr>
          <a:r>
            <a:rPr lang="en-GB" sz="1800" kern="1200" dirty="0">
              <a:latin typeface="+mj-lt"/>
            </a:rPr>
            <a:t>Noise estimation</a:t>
          </a:r>
        </a:p>
        <a:p>
          <a:pPr marL="0" lvl="0" indent="0" algn="r" defTabSz="1422400">
            <a:lnSpc>
              <a:spcPct val="90000"/>
            </a:lnSpc>
            <a:spcBef>
              <a:spcPct val="0"/>
            </a:spcBef>
            <a:spcAft>
              <a:spcPct val="35000"/>
            </a:spcAft>
            <a:buNone/>
          </a:pPr>
          <a:r>
            <a:rPr lang="en-GB" sz="1800" kern="1200" dirty="0">
              <a:latin typeface="+mj-lt"/>
            </a:rPr>
            <a:t>Sample chaining</a:t>
          </a:r>
        </a:p>
      </dsp:txBody>
      <dsp:txXfrm>
        <a:off x="4331004" y="415546"/>
        <a:ext cx="1941746" cy="2573464"/>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dirty="0">
              <a:latin typeface="Arial" panose="020B0604020202020204" pitchFamily="34" charset="0"/>
            </a:endParaRP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279B33-A94D-4C8C-88C2-619932967EF3}" type="datetimeFigureOut">
              <a:rPr lang="fr-CH" smtClean="0">
                <a:latin typeface="Arial" panose="020B0604020202020204" pitchFamily="34" charset="0"/>
              </a:rPr>
              <a:t>31.10.2025</a:t>
            </a:fld>
            <a:endParaRPr lang="fr-CH" dirty="0">
              <a:latin typeface="Arial" panose="020B0604020202020204" pitchFamily="34" charset="0"/>
            </a:endParaRP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dirty="0">
              <a:latin typeface="Arial" panose="020B0604020202020204" pitchFamily="34" charset="0"/>
            </a:endParaRP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BF4AF0-8439-436D-BEF0-52070F19E1B6}" type="slidenum">
              <a:rPr lang="fr-CH" smtClean="0">
                <a:latin typeface="Arial" panose="020B0604020202020204" pitchFamily="34" charset="0"/>
              </a:rPr>
              <a:t>‹#›</a:t>
            </a:fld>
            <a:endParaRPr lang="fr-CH" dirty="0">
              <a:latin typeface="Arial" panose="020B0604020202020204" pitchFamily="34" charset="0"/>
            </a:endParaRPr>
          </a:p>
        </p:txBody>
      </p:sp>
    </p:spTree>
    <p:extLst>
      <p:ext uri="{BB962C8B-B14F-4D97-AF65-F5344CB8AC3E}">
        <p14:creationId xmlns:p14="http://schemas.microsoft.com/office/powerpoint/2010/main" val="1324905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F8103E42-5239-1A40-AD33-3EE7E9DDF5FD}" type="datetimeFigureOut">
              <a:rPr lang="fr-FR" smtClean="0"/>
              <a:pPr/>
              <a:t>31/10/2025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4CF50783-AAED-1941-8BCC-9F6140F0A6B1}" type="slidenum">
              <a:rPr lang="fr-FR" smtClean="0"/>
              <a:pPr/>
              <a:t>‹#›</a:t>
            </a:fld>
            <a:endParaRPr lang="fr-FR" dirty="0"/>
          </a:p>
        </p:txBody>
      </p:sp>
    </p:spTree>
    <p:extLst>
      <p:ext uri="{BB962C8B-B14F-4D97-AF65-F5344CB8AC3E}">
        <p14:creationId xmlns:p14="http://schemas.microsoft.com/office/powerpoint/2010/main" val="726742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sincerest gratitude again for agreeing to be part of my thesis committee. Today, I will present my PhD thesis work titled “Scalable Methods for Knowledge Graph Reasoning and Generation” as a summary of the research I did during my time at </a:t>
            </a:r>
            <a:r>
              <a:rPr lang="en-US"/>
              <a:t>LIONS lab.</a:t>
            </a:r>
            <a:endParaRPr lang="en-US"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a:t>
            </a:fld>
            <a:endParaRPr lang="fr-FR" dirty="0"/>
          </a:p>
        </p:txBody>
      </p:sp>
    </p:spTree>
    <p:extLst>
      <p:ext uri="{BB962C8B-B14F-4D97-AF65-F5344CB8AC3E}">
        <p14:creationId xmlns:p14="http://schemas.microsoft.com/office/powerpoint/2010/main" val="749113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today will follow the structure of my thesis. </a:t>
            </a:r>
          </a:p>
          <a:p>
            <a:endParaRPr lang="en-US" dirty="0"/>
          </a:p>
          <a:p>
            <a:r>
              <a:rPr lang="en-US" dirty="0"/>
              <a:t>Namely, I will first introduce the main themes of the thesis work, followed by mentioning briefly which scientific background is relevant for the topic from the field of graph machine learning. </a:t>
            </a:r>
          </a:p>
          <a:p>
            <a:endParaRPr lang="en-US" dirty="0"/>
          </a:p>
          <a:p>
            <a:r>
              <a:rPr lang="en-US" dirty="0"/>
              <a:t>The contributions of the thesis to this field can be split into two main research directions: knowledge graph reasoning, for which we will see a novel technique and its immediate real-world application, and then graph generation in the fourth part, for which we will go over 3 techniques for scalability and one interesting and non-standard application of graph generative models as scalable tools themselves, before concluding.</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a:t>
            </a:fld>
            <a:endParaRPr lang="fr-FR" dirty="0"/>
          </a:p>
        </p:txBody>
      </p:sp>
    </p:spTree>
    <p:extLst>
      <p:ext uri="{BB962C8B-B14F-4D97-AF65-F5344CB8AC3E}">
        <p14:creationId xmlns:p14="http://schemas.microsoft.com/office/powerpoint/2010/main" val="3841520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3</a:t>
            </a:fld>
            <a:endParaRPr lang="fr-FR" dirty="0"/>
          </a:p>
        </p:txBody>
      </p:sp>
    </p:spTree>
    <p:extLst>
      <p:ext uri="{BB962C8B-B14F-4D97-AF65-F5344CB8AC3E}">
        <p14:creationId xmlns:p14="http://schemas.microsoft.com/office/powerpoint/2010/main" val="76658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926D4-A669-B2DF-3B02-B7A8375BF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37793-B06B-AA55-AABE-B04C76192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18D13-4937-82E1-EA4E-3621374F0711}"/>
              </a:ext>
            </a:extLst>
          </p:cNvPr>
          <p:cNvSpPr>
            <a:spLocks noGrp="1"/>
          </p:cNvSpPr>
          <p:nvPr>
            <p:ph type="body" idx="1"/>
          </p:nvPr>
        </p:nvSpPr>
        <p:spPr/>
        <p:txBody>
          <a:bodyPr/>
          <a:lstStyle/>
          <a:p>
            <a:r>
              <a:rPr lang="en-US" dirty="0"/>
              <a:t>To start, we recall that when faced with a very complex, newly proposed scientific problem, researchers propose solution ideas of two opposite flavors. On one hand, holistic approaches assume that we can disregard local or noisy features of the problem and focus only on the global picture, i.e. the whole is more than the sum of its parts. On the other hand, reductionists decompose the complex problem into a sequence of simpler problems whose solution is often already known.  </a:t>
            </a:r>
          </a:p>
          <a:p>
            <a:endParaRPr lang="en-US" dirty="0"/>
          </a:p>
          <a:p>
            <a:r>
              <a:rPr lang="en-US" dirty="0"/>
              <a:t>In computer science, a problem’s complexity is expressed through its computational cost in time and memory, and for graph machine learning problems, as a particular case, graph sizes are what dictate our model’s generalization potential and computational cost. What I would like to argue today is that for this thesis work, incorporating both holism and reductionism yields the best scalability tradeoffs, where the common tool that facilitates this is robust multi-level graph decomposition through the processes of community detection and graph coarsening.</a:t>
            </a:r>
          </a:p>
          <a:p>
            <a:endParaRPr lang="en-US" dirty="0"/>
          </a:p>
          <a:p>
            <a:r>
              <a:rPr lang="en-US" dirty="0"/>
              <a:t>I would find a good analogy to motivate this mindset in the steps in the most intuitive algorithm to solve a 5x5 or higher order Rubik’s cube, where in a first step one builds successively correctly aligned faces and edges so that the cube looks like a unsolved 3x3 cube, then in the second step, we solve it as a 3x3 with more optimistic moves, almost forgetting that there are smaller pieces.    </a:t>
            </a:r>
            <a:endParaRPr lang="en-GB" dirty="0"/>
          </a:p>
        </p:txBody>
      </p:sp>
      <p:sp>
        <p:nvSpPr>
          <p:cNvPr id="4" name="Slide Number Placeholder 3">
            <a:extLst>
              <a:ext uri="{FF2B5EF4-FFF2-40B4-BE49-F238E27FC236}">
                <a16:creationId xmlns:a16="http://schemas.microsoft.com/office/drawing/2014/main" id="{1CDF6A84-A247-3CD7-0D1F-D5B1E0CD660C}"/>
              </a:ext>
            </a:extLst>
          </p:cNvPr>
          <p:cNvSpPr>
            <a:spLocks noGrp="1"/>
          </p:cNvSpPr>
          <p:nvPr>
            <p:ph type="sldNum" sz="quarter" idx="5"/>
          </p:nvPr>
        </p:nvSpPr>
        <p:spPr/>
        <p:txBody>
          <a:bodyPr/>
          <a:lstStyle/>
          <a:p>
            <a:fld id="{4CF50783-AAED-1941-8BCC-9F6140F0A6B1}" type="slidenum">
              <a:rPr lang="fr-FR" smtClean="0"/>
              <a:pPr/>
              <a:t>4</a:t>
            </a:fld>
            <a:endParaRPr lang="fr-FR" dirty="0"/>
          </a:p>
        </p:txBody>
      </p:sp>
    </p:spTree>
    <p:extLst>
      <p:ext uri="{BB962C8B-B14F-4D97-AF65-F5344CB8AC3E}">
        <p14:creationId xmlns:p14="http://schemas.microsoft.com/office/powerpoint/2010/main" val="3416442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82DC-A84F-80DC-2F9E-A7EE48205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EBEE7-F0ED-1FF5-EC75-F7210D1ED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5DA4B-A6F2-5E20-0317-BDAF8A34AAB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A2893C-CFF8-2F1E-6D7C-E4ABF2FA9A52}"/>
              </a:ext>
            </a:extLst>
          </p:cNvPr>
          <p:cNvSpPr>
            <a:spLocks noGrp="1"/>
          </p:cNvSpPr>
          <p:nvPr>
            <p:ph type="sldNum" sz="quarter" idx="5"/>
          </p:nvPr>
        </p:nvSpPr>
        <p:spPr/>
        <p:txBody>
          <a:bodyPr/>
          <a:lstStyle/>
          <a:p>
            <a:fld id="{4CF50783-AAED-1941-8BCC-9F6140F0A6B1}" type="slidenum">
              <a:rPr lang="fr-FR" smtClean="0"/>
              <a:pPr/>
              <a:t>5</a:t>
            </a:fld>
            <a:endParaRPr lang="fr-FR" dirty="0"/>
          </a:p>
        </p:txBody>
      </p:sp>
    </p:spTree>
    <p:extLst>
      <p:ext uri="{BB962C8B-B14F-4D97-AF65-F5344CB8AC3E}">
        <p14:creationId xmlns:p14="http://schemas.microsoft.com/office/powerpoint/2010/main" val="4080373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D5FE-2747-C4C0-C40E-C9D12D6D4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4E1E9-0DC4-D2F6-CE8F-2347D68E7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4BCBF-5CBE-247F-D280-2504969CFFD3}"/>
              </a:ext>
            </a:extLst>
          </p:cNvPr>
          <p:cNvSpPr>
            <a:spLocks noGrp="1"/>
          </p:cNvSpPr>
          <p:nvPr>
            <p:ph type="body" idx="1"/>
          </p:nvPr>
        </p:nvSpPr>
        <p:spPr/>
        <p:txBody>
          <a:bodyPr/>
          <a:lstStyle/>
          <a:p>
            <a:r>
              <a:rPr lang="en-US" dirty="0"/>
              <a:t>For the relevant topics of this presentation, we all know how graph theory introduces these collections of a set of nodes and edges, which, although seeming simple relational data structures at first, hide enormous potential for complexity through the sheer number of different avenues for analysis that are possible. </a:t>
            </a:r>
          </a:p>
          <a:p>
            <a:endParaRPr lang="en-US" dirty="0"/>
          </a:p>
          <a:p>
            <a:r>
              <a:rPr lang="en-US" dirty="0"/>
              <a:t>Even more so, the field of network science showcases how we can even incorporate, e.g., physics and sociology to discover higher-level insights, such as the importance of certain nodes to the population, etc. </a:t>
            </a:r>
          </a:p>
          <a:p>
            <a:endParaRPr lang="en-US" dirty="0"/>
          </a:p>
          <a:p>
            <a:r>
              <a:rPr lang="en-US" dirty="0"/>
              <a:t>Of all the properties graphs can have, community structure for us will be the most relevant, and indeed, it is often the case that graphs are locally dense while globally sparse. We will go over techniques that utilize either disjoint or overlapping community detection to perform layered graph abstraction through node-to-community based graph coarsening.</a:t>
            </a:r>
            <a:endParaRPr lang="en-GB" dirty="0"/>
          </a:p>
        </p:txBody>
      </p:sp>
      <p:sp>
        <p:nvSpPr>
          <p:cNvPr id="4" name="Slide Number Placeholder 3">
            <a:extLst>
              <a:ext uri="{FF2B5EF4-FFF2-40B4-BE49-F238E27FC236}">
                <a16:creationId xmlns:a16="http://schemas.microsoft.com/office/drawing/2014/main" id="{3B88E1F8-2697-03BB-6B5C-1299199572C1}"/>
              </a:ext>
            </a:extLst>
          </p:cNvPr>
          <p:cNvSpPr>
            <a:spLocks noGrp="1"/>
          </p:cNvSpPr>
          <p:nvPr>
            <p:ph type="sldNum" sz="quarter" idx="5"/>
          </p:nvPr>
        </p:nvSpPr>
        <p:spPr/>
        <p:txBody>
          <a:bodyPr/>
          <a:lstStyle/>
          <a:p>
            <a:fld id="{4CF50783-AAED-1941-8BCC-9F6140F0A6B1}" type="slidenum">
              <a:rPr lang="fr-FR" smtClean="0"/>
              <a:pPr/>
              <a:t>6</a:t>
            </a:fld>
            <a:endParaRPr lang="fr-FR" dirty="0"/>
          </a:p>
        </p:txBody>
      </p:sp>
    </p:spTree>
    <p:extLst>
      <p:ext uri="{BB962C8B-B14F-4D97-AF65-F5344CB8AC3E}">
        <p14:creationId xmlns:p14="http://schemas.microsoft.com/office/powerpoint/2010/main" val="2179728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DE9A-B349-E586-4747-82DF49FC6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C3B7E-B878-87FA-5C7F-62E06FCE6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BE95C-AFB0-9AA6-A10F-4EC5582CC9DE}"/>
              </a:ext>
            </a:extLst>
          </p:cNvPr>
          <p:cNvSpPr>
            <a:spLocks noGrp="1"/>
          </p:cNvSpPr>
          <p:nvPr>
            <p:ph type="body" idx="1"/>
          </p:nvPr>
        </p:nvSpPr>
        <p:spPr/>
        <p:txBody>
          <a:bodyPr/>
          <a:lstStyle/>
          <a:p>
            <a:r>
              <a:rPr lang="en-US" dirty="0"/>
              <a:t>On the machine learning side, graph data is not that special, here we also have parametrized models that fit data points</a:t>
            </a:r>
            <a:endParaRPr lang="en-GB" dirty="0"/>
          </a:p>
          <a:p>
            <a:endParaRPr lang="en-GB" dirty="0"/>
          </a:p>
          <a:p>
            <a:r>
              <a:rPr lang="en-GB" dirty="0"/>
              <a:t>and are trained by iteratively minimizing a loss function.</a:t>
            </a:r>
          </a:p>
          <a:p>
            <a:endParaRPr lang="en-GB" dirty="0"/>
          </a:p>
          <a:p>
            <a:r>
              <a:rPr lang="en-GB" dirty="0"/>
              <a:t>Deep neural networks for graphs are also the leaders in approximation power, with the many familiar layer architectures.</a:t>
            </a:r>
          </a:p>
          <a:p>
            <a:endParaRPr lang="en-GB" dirty="0"/>
          </a:p>
          <a:p>
            <a:r>
              <a:rPr lang="en-GB" dirty="0"/>
              <a:t>However, the architecture of graph neural networks follows a specific design to accommodate the structure of the input data. Namely, we refine graph features at the edge, node, and graph level, with aggregations between these 3 granularities to add consistency of representations across different levels as conditioning.</a:t>
            </a:r>
            <a:endParaRPr lang="en-US" dirty="0"/>
          </a:p>
        </p:txBody>
      </p:sp>
      <p:sp>
        <p:nvSpPr>
          <p:cNvPr id="4" name="Slide Number Placeholder 3">
            <a:extLst>
              <a:ext uri="{FF2B5EF4-FFF2-40B4-BE49-F238E27FC236}">
                <a16:creationId xmlns:a16="http://schemas.microsoft.com/office/drawing/2014/main" id="{6C7920E2-5BE0-A551-A40B-AB1AB74177F2}"/>
              </a:ext>
            </a:extLst>
          </p:cNvPr>
          <p:cNvSpPr>
            <a:spLocks noGrp="1"/>
          </p:cNvSpPr>
          <p:nvPr>
            <p:ph type="sldNum" sz="quarter" idx="5"/>
          </p:nvPr>
        </p:nvSpPr>
        <p:spPr/>
        <p:txBody>
          <a:bodyPr/>
          <a:lstStyle/>
          <a:p>
            <a:fld id="{4CF50783-AAED-1941-8BCC-9F6140F0A6B1}" type="slidenum">
              <a:rPr lang="fr-FR" smtClean="0"/>
              <a:pPr/>
              <a:t>7</a:t>
            </a:fld>
            <a:endParaRPr lang="fr-FR" dirty="0"/>
          </a:p>
        </p:txBody>
      </p:sp>
    </p:spTree>
    <p:extLst>
      <p:ext uri="{BB962C8B-B14F-4D97-AF65-F5344CB8AC3E}">
        <p14:creationId xmlns:p14="http://schemas.microsoft.com/office/powerpoint/2010/main" val="1018334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E3A5-E8D8-0375-843A-AC9DAED09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5E0B2-F5B9-7B11-EEAF-AF7768B08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FEF17-D669-607E-F16C-BA545BDB4CDA}"/>
              </a:ext>
            </a:extLst>
          </p:cNvPr>
          <p:cNvSpPr>
            <a:spLocks noGrp="1"/>
          </p:cNvSpPr>
          <p:nvPr>
            <p:ph type="body" idx="1"/>
          </p:nvPr>
        </p:nvSpPr>
        <p:spPr/>
        <p:txBody>
          <a:bodyPr/>
          <a:lstStyle/>
          <a:p>
            <a:r>
              <a:rPr lang="en-US" dirty="0"/>
              <a:t>With that out of the way, let’s begin with our contributions to the first of two graph learning tasks we worked on, namely knowledge graph reasoning. For this part, since our technique changes the foundation of how these kind of tasks are solved, we will first recall the basics of knowledge graph completion to provide relevant context. </a:t>
            </a:r>
            <a:endParaRPr lang="en-GB" dirty="0"/>
          </a:p>
        </p:txBody>
      </p:sp>
      <p:sp>
        <p:nvSpPr>
          <p:cNvPr id="4" name="Slide Number Placeholder 3">
            <a:extLst>
              <a:ext uri="{FF2B5EF4-FFF2-40B4-BE49-F238E27FC236}">
                <a16:creationId xmlns:a16="http://schemas.microsoft.com/office/drawing/2014/main" id="{1DC367E2-7580-D2B9-EE18-04E250ED376A}"/>
              </a:ext>
            </a:extLst>
          </p:cNvPr>
          <p:cNvSpPr>
            <a:spLocks noGrp="1"/>
          </p:cNvSpPr>
          <p:nvPr>
            <p:ph type="sldNum" sz="quarter" idx="5"/>
          </p:nvPr>
        </p:nvSpPr>
        <p:spPr/>
        <p:txBody>
          <a:bodyPr/>
          <a:lstStyle/>
          <a:p>
            <a:fld id="{4CF50783-AAED-1941-8BCC-9F6140F0A6B1}" type="slidenum">
              <a:rPr lang="fr-FR" smtClean="0"/>
              <a:pPr/>
              <a:t>8</a:t>
            </a:fld>
            <a:endParaRPr lang="fr-FR" dirty="0"/>
          </a:p>
        </p:txBody>
      </p:sp>
    </p:spTree>
    <p:extLst>
      <p:ext uri="{BB962C8B-B14F-4D97-AF65-F5344CB8AC3E}">
        <p14:creationId xmlns:p14="http://schemas.microsoft.com/office/powerpoint/2010/main" val="1230476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graphs are networks of entities, their semantic types, properties, and relationships. They represent real-world data across different domains, with the goal of enabling reasoning and inferring novel knowledge. E.g., from the example on the right, we can infer that Andrej is a Person or a Building. KG data is fully human-interpretable like that.</a:t>
            </a:r>
          </a:p>
          <a:p>
            <a:endParaRPr lang="en-US" dirty="0"/>
          </a:p>
          <a:p>
            <a:r>
              <a:rPr lang="en-US" dirty="0"/>
              <a:t>The central graph ML tasks that enable the knowledge completion process are link prediction and query answering. </a:t>
            </a:r>
          </a:p>
          <a:p>
            <a:endParaRPr lang="en-US" dirty="0"/>
          </a:p>
          <a:p>
            <a:r>
              <a:rPr lang="en-US" dirty="0"/>
              <a:t>Unfortunately, the inference process faces scalability issues: as knowledge graphs grow, the computational resources required increase dramatically.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9</a:t>
            </a:fld>
            <a:endParaRPr lang="fr-FR" dirty="0"/>
          </a:p>
        </p:txBody>
      </p:sp>
    </p:spTree>
    <p:extLst>
      <p:ext uri="{BB962C8B-B14F-4D97-AF65-F5344CB8AC3E}">
        <p14:creationId xmlns:p14="http://schemas.microsoft.com/office/powerpoint/2010/main" val="4290993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scalability, much prior work is model-free and splits graphs into subsets or parallelizes over hardware. Examples include </a:t>
            </a:r>
            <a:r>
              <a:rPr lang="en-US" dirty="0" err="1"/>
              <a:t>PyTorch-BigGraph</a:t>
            </a:r>
            <a:r>
              <a:rPr lang="en-US" dirty="0"/>
              <a:t> and DGL-KE, which rely on distributed training, and SMORE and CARL-G, which accelerate sampling. On the other hand, model-based approaches such as </a:t>
            </a:r>
            <a:r>
              <a:rPr lang="en-US" dirty="0" err="1"/>
              <a:t>NodePiece</a:t>
            </a:r>
            <a:r>
              <a:rPr lang="en-US" dirty="0"/>
              <a:t> and EARL reduce model size by tokenizing entity embeddings. </a:t>
            </a:r>
          </a:p>
          <a:p>
            <a:endParaRPr lang="en-US" dirty="0"/>
          </a:p>
          <a:p>
            <a:r>
              <a:rPr lang="en-US" dirty="0"/>
              <a:t>However, all previous work mainly benefits training and not out-of-distribution evaluation; they have substantial hardware requirements, and, above all, any promised acceleration is independent of the graph size. Thus, there is a gap for a model-based technique that accelerates evaluation proportionally to graph size, under limited resources, while also preserving representation power.</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10</a:t>
            </a:fld>
            <a:endParaRPr lang="fr-FR" dirty="0"/>
          </a:p>
        </p:txBody>
      </p:sp>
    </p:spTree>
    <p:extLst>
      <p:ext uri="{BB962C8B-B14F-4D97-AF65-F5344CB8AC3E}">
        <p14:creationId xmlns:p14="http://schemas.microsoft.com/office/powerpoint/2010/main" val="4017917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graphs can be formalized as attributed multiplex heterogeneous networks, in which knowledge base entities and relations form edge triplets. </a:t>
            </a:r>
          </a:p>
          <a:p>
            <a:endParaRPr lang="en-US" dirty="0"/>
          </a:p>
          <a:p>
            <a:r>
              <a:rPr lang="en-US" dirty="0"/>
              <a:t>Knowledge graph queries are anchor entities combined with computational graphs over the graph structure, where edges represent either relation projections or intersections, i.e., logical operations.</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11</a:t>
            </a:fld>
            <a:endParaRPr lang="fr-FR" dirty="0"/>
          </a:p>
        </p:txBody>
      </p:sp>
    </p:spTree>
    <p:extLst>
      <p:ext uri="{BB962C8B-B14F-4D97-AF65-F5344CB8AC3E}">
        <p14:creationId xmlns:p14="http://schemas.microsoft.com/office/powerpoint/2010/main" val="3748382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tasks are cast as optimization problems in continuous spaces. Link prediction entails distinguishing positive examples from sampled negatives using a scoring model. This is thus a simpler task with manageable complexity.</a:t>
            </a:r>
          </a:p>
          <a:p>
            <a:endParaRPr lang="en-US" dirty="0"/>
          </a:p>
          <a:p>
            <a:r>
              <a:rPr lang="en-US" dirty="0"/>
              <a:t>The major computational bottleneck arises during query answering, where we are evaluating queries against all entities in the graph.</a:t>
            </a:r>
          </a:p>
          <a:p>
            <a:endParaRPr lang="en-US" dirty="0"/>
          </a:p>
          <a:p>
            <a:r>
              <a:rPr lang="en-US" dirty="0"/>
              <a:t>This task has thus scary quadratic complexity. This motivates incorporating some method to reduce redundant evaluations, and this is the main goal of research in scalability for knowledge graphs.</a:t>
            </a:r>
          </a:p>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12</a:t>
            </a:fld>
            <a:endParaRPr lang="fr-FR" dirty="0"/>
          </a:p>
        </p:txBody>
      </p:sp>
    </p:spTree>
    <p:extLst>
      <p:ext uri="{BB962C8B-B14F-4D97-AF65-F5344CB8AC3E}">
        <p14:creationId xmlns:p14="http://schemas.microsoft.com/office/powerpoint/2010/main" val="929332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 embedding models map entities and relations into vectors, then apply contrastive learning to obtain a likelihood model for query-answer pairs.</a:t>
            </a:r>
          </a:p>
          <a:p>
            <a:endParaRPr lang="en-US" dirty="0"/>
          </a:p>
          <a:p>
            <a:r>
              <a:rPr lang="en-US" dirty="0"/>
              <a:t>Embedding whole queries involves learning non-linear functions approximating their projection and intersection logical operations, </a:t>
            </a:r>
          </a:p>
          <a:p>
            <a:endParaRPr lang="en-US" dirty="0"/>
          </a:p>
          <a:p>
            <a:r>
              <a:rPr lang="en-US" dirty="0"/>
              <a:t>as well as a sample scoring function.</a:t>
            </a:r>
          </a:p>
          <a:p>
            <a:endParaRPr lang="en-US" dirty="0"/>
          </a:p>
          <a:p>
            <a:r>
              <a:rPr lang="en-US" dirty="0"/>
              <a:t>The optimization problem is minimizing this formula, the contrastive loss, given the embeddings of a real query-answer pair and some negative examples for the query.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13</a:t>
            </a:fld>
            <a:endParaRPr lang="fr-FR" dirty="0"/>
          </a:p>
        </p:txBody>
      </p:sp>
    </p:spTree>
    <p:extLst>
      <p:ext uri="{BB962C8B-B14F-4D97-AF65-F5344CB8AC3E}">
        <p14:creationId xmlns:p14="http://schemas.microsoft.com/office/powerpoint/2010/main" val="3365109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of our COINs proposal is to accelerate inference by using graph embeddings also informed by higher-level abstractions of the data, but performing prediction learning on both coarse and fine levels. In this manner, we address all the shortcomings of previous work.</a:t>
            </a:r>
          </a:p>
          <a:p>
            <a:endParaRPr lang="en-US" dirty="0"/>
          </a:p>
          <a:p>
            <a:r>
              <a:rPr lang="en-US" dirty="0"/>
              <a:t>Data preprocessing steps include coarsening both the knowledge graph and all query answering samples, using a mapping of entities into K disjoint groups.</a:t>
            </a:r>
          </a:p>
          <a:p>
            <a:endParaRPr lang="en-US" dirty="0"/>
          </a:p>
          <a:p>
            <a:r>
              <a:rPr lang="en-US" dirty="0"/>
              <a:t>Then the inference steps are very natural: first, localize the query answer to one group, then search only within that group as a second step. </a:t>
            </a:r>
          </a:p>
          <a:p>
            <a:endParaRPr lang="en-US" dirty="0"/>
          </a:p>
          <a:p>
            <a:r>
              <a:rPr lang="en-US" dirty="0"/>
              <a:t>Mathematically, this is just an application of Bayes' formula, where the main assumption is that we can estimate well enough both of the new probabilities.</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14</a:t>
            </a:fld>
            <a:endParaRPr lang="fr-FR" dirty="0"/>
          </a:p>
        </p:txBody>
      </p:sp>
    </p:spTree>
    <p:extLst>
      <p:ext uri="{BB962C8B-B14F-4D97-AF65-F5344CB8AC3E}">
        <p14:creationId xmlns:p14="http://schemas.microsoft.com/office/powerpoint/2010/main" val="533996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guarantees for our claims, we first provide theoretical bounds on evaluation complexity. Baseline methods scale linearly with graph size, whereas COINs can achieve near–square-root acceleration with its two-step inference process, if group sizes are equal.</a:t>
            </a:r>
          </a:p>
          <a:p>
            <a:endParaRPr lang="en-US" dirty="0"/>
          </a:p>
          <a:p>
            <a:r>
              <a:rPr lang="en-US" dirty="0"/>
              <a:t>But this is not enough, and we also formalize the importance of query locality, showing that well-formed entity groups minimize cross-group interactions and preserve predictive quality in addition to providing acceleration. Community detection with the Leiden algorithm emerged as the empirical optimum for this purpose.</a:t>
            </a:r>
          </a:p>
          <a:p>
            <a:endParaRPr lang="en-US" dirty="0"/>
          </a:p>
          <a:p>
            <a:r>
              <a:rPr lang="en-US" dirty="0"/>
              <a:t>Finally, we provide a result detailing the feasibility condition, i.e., a statistical test to estimate when COINs is worth integrating, based on measuring the expected time to a correct query answer.</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15</a:t>
            </a:fld>
            <a:endParaRPr lang="fr-FR" dirty="0"/>
          </a:p>
        </p:txBody>
      </p:sp>
    </p:spTree>
    <p:extLst>
      <p:ext uri="{BB962C8B-B14F-4D97-AF65-F5344CB8AC3E}">
        <p14:creationId xmlns:p14="http://schemas.microsoft.com/office/powerpoint/2010/main" val="1516877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architecture, we define a collection of embedders that extend or replace the baselines. These include:</a:t>
            </a:r>
          </a:p>
          <a:p>
            <a:r>
              <a:rPr lang="en-US" dirty="0"/>
              <a:t>– community-level,</a:t>
            </a:r>
          </a:p>
          <a:p>
            <a:r>
              <a:rPr lang="en-US" dirty="0"/>
              <a:t>– intra-community,</a:t>
            </a:r>
          </a:p>
          <a:p>
            <a:r>
              <a:rPr lang="en-US" dirty="0"/>
              <a:t>– inter-community,</a:t>
            </a:r>
          </a:p>
          <a:p>
            <a:r>
              <a:rPr lang="en-US" dirty="0"/>
              <a:t>– and node-level embedders.</a:t>
            </a:r>
          </a:p>
          <a:p>
            <a:endParaRPr lang="en-US" dirty="0"/>
          </a:p>
          <a:p>
            <a:r>
              <a:rPr lang="en-US" dirty="0"/>
              <a:t>These components are trained jointly through weighted refinement.</a:t>
            </a:r>
          </a:p>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16</a:t>
            </a:fld>
            <a:endParaRPr lang="fr-FR" dirty="0"/>
          </a:p>
        </p:txBody>
      </p:sp>
    </p:spTree>
    <p:extLst>
      <p:ext uri="{BB962C8B-B14F-4D97-AF65-F5344CB8AC3E}">
        <p14:creationId xmlns:p14="http://schemas.microsoft.com/office/powerpoint/2010/main" val="4276199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details visually. On the left is the starting point, an original knowledge graph and the coarsened graph of its two Leiden communities. The process of a given sample begins in Step I, by mapping queries to community-level anchors and answers. In Step II, if all nodes lie within the same community, intra-community embeddings are applied. Otherwise, inter-community embeddings are used, supported by a padding mechanism, like in the example here. Finally, node-level and community-level embeddings and loss values are combined adaptively, linking coarse and fine structure.</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17</a:t>
            </a:fld>
            <a:endParaRPr lang="fr-FR" dirty="0"/>
          </a:p>
        </p:txBody>
      </p:sp>
    </p:spTree>
    <p:extLst>
      <p:ext uri="{BB962C8B-B14F-4D97-AF65-F5344CB8AC3E}">
        <p14:creationId xmlns:p14="http://schemas.microsoft.com/office/powerpoint/2010/main" val="197149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on the left is the implementation of everything I said for the previous slide, and it has three main properties:</a:t>
            </a:r>
          </a:p>
          <a:p>
            <a:endParaRPr lang="en-US" dirty="0"/>
          </a:p>
          <a:p>
            <a:r>
              <a:rPr lang="en-US" dirty="0"/>
              <a:t>Queries spanning multiple communities are handled separately, enabling generalization.</a:t>
            </a:r>
          </a:p>
          <a:p>
            <a:endParaRPr lang="en-US" dirty="0"/>
          </a:p>
          <a:p>
            <a:r>
              <a:rPr lang="en-US" dirty="0"/>
              <a:t>The number of entity embeddings required per query is capped, providing substantial speed-ups.</a:t>
            </a:r>
          </a:p>
          <a:p>
            <a:endParaRPr lang="en-US" dirty="0"/>
          </a:p>
          <a:p>
            <a:r>
              <a:rPr lang="en-US" dirty="0"/>
              <a:t>Node and community embeddings are refined jointly, improving adaptivity and stability.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18</a:t>
            </a:fld>
            <a:endParaRPr lang="fr-FR" dirty="0"/>
          </a:p>
        </p:txBody>
      </p:sp>
    </p:spTree>
    <p:extLst>
      <p:ext uri="{BB962C8B-B14F-4D97-AF65-F5344CB8AC3E}">
        <p14:creationId xmlns:p14="http://schemas.microsoft.com/office/powerpoint/2010/main" val="1515043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experiments, we evaluated COINs using 3 classical knowledge graph completion datasets.</a:t>
            </a:r>
          </a:p>
          <a:p>
            <a:endParaRPr lang="en-US" dirty="0"/>
          </a:p>
          <a:p>
            <a:r>
              <a:rPr lang="en-US" dirty="0"/>
              <a:t>The baseline models that were considered included 4 purely geometric techniques and one GNN that can only answer single-hop queries, as well as Query2Box, a very powerful architecture for general query answering.</a:t>
            </a:r>
          </a:p>
          <a:p>
            <a:endParaRPr lang="en-US" dirty="0"/>
          </a:p>
          <a:p>
            <a:r>
              <a:rPr lang="en-US" dirty="0"/>
              <a:t>Training employed within-community negative examples and query sampling via the scalable SMORE algorithm of previous work. Evaluation metrics were the classical </a:t>
            </a:r>
            <a:r>
              <a:rPr lang="en-US" dirty="0" err="1"/>
              <a:t>Hits@k</a:t>
            </a:r>
            <a:r>
              <a:rPr lang="en-US" dirty="0"/>
              <a:t>, Mean Rank, and Mean Reciprocal Rank.</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19</a:t>
            </a:fld>
            <a:endParaRPr lang="fr-FR" dirty="0"/>
          </a:p>
        </p:txBody>
      </p:sp>
    </p:spTree>
    <p:extLst>
      <p:ext uri="{BB962C8B-B14F-4D97-AF65-F5344CB8AC3E}">
        <p14:creationId xmlns:p14="http://schemas.microsoft.com/office/powerpoint/2010/main" val="3615459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experiment results, we first analyzed the detected community structures that achieved the best performance for 3 classical KG datasets. Importantly, we obtained a minimum of 4 times speed-up for each dataset. The Freebase graph, due to its edge density, produced larger inter-community sets but still decent acceleration, and successfully addressing these cases is one of the main benefits of our technique.</a:t>
            </a:r>
          </a:p>
          <a:p>
            <a:endParaRPr lang="en-US" dirty="0"/>
          </a:p>
          <a:p>
            <a:r>
              <a:rPr lang="en-US" dirty="0"/>
              <a:t>Tuning the resolution hyperparameter in the Leiden algorithm showed a strong correlation with scalability factors, making it a powerful control tool.</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20</a:t>
            </a:fld>
            <a:endParaRPr lang="fr-FR" dirty="0"/>
          </a:p>
        </p:txBody>
      </p:sp>
    </p:spTree>
    <p:extLst>
      <p:ext uri="{BB962C8B-B14F-4D97-AF65-F5344CB8AC3E}">
        <p14:creationId xmlns:p14="http://schemas.microsoft.com/office/powerpoint/2010/main" val="2479089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single-hop query answering metrics, COINs preserved up to 97% of baseline accuracy for the median evaluation sample.</a:t>
            </a:r>
          </a:p>
          <a:p>
            <a:endParaRPr lang="en-US" dirty="0"/>
          </a:p>
          <a:p>
            <a:r>
              <a:rPr lang="en-US" dirty="0"/>
              <a:t>For many multi-hop query structures, COINs even often exceeded the baseline, and it seems community-level representations helped the logical reasoning regardless of the complexity of the query. In general, accuracy improved when pairing COINs with more expressive models, such as </a:t>
            </a:r>
            <a:r>
              <a:rPr lang="en-US" dirty="0" err="1"/>
              <a:t>RotatE</a:t>
            </a:r>
            <a:r>
              <a:rPr lang="en-US" dirty="0"/>
              <a:t>, the GNN, or Query2Box.</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21</a:t>
            </a:fld>
            <a:endParaRPr lang="fr-FR" dirty="0"/>
          </a:p>
        </p:txBody>
      </p:sp>
    </p:spTree>
    <p:extLst>
      <p:ext uri="{BB962C8B-B14F-4D97-AF65-F5344CB8AC3E}">
        <p14:creationId xmlns:p14="http://schemas.microsoft.com/office/powerpoint/2010/main" val="591673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compared with the previous works that also trade some performance for scalability, COINs consistently achieved a better trade-off. Unlike those methods, which reduce model size through tokenization, it seems that leveraging community structure leads to stronger preservation of performance under acceleration.</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22</a:t>
            </a:fld>
            <a:endParaRPr lang="fr-FR" dirty="0"/>
          </a:p>
        </p:txBody>
      </p:sp>
    </p:spTree>
    <p:extLst>
      <p:ext uri="{BB962C8B-B14F-4D97-AF65-F5344CB8AC3E}">
        <p14:creationId xmlns:p14="http://schemas.microsoft.com/office/powerpoint/2010/main" val="246195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assessed feasibility by comparing acceleration against relative error in MRR. Most experiments fall well inside the feasible region, where speed-up outweighs accuracy loss, unlike the metrics of previous work.</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23</a:t>
            </a:fld>
            <a:endParaRPr lang="fr-FR" dirty="0"/>
          </a:p>
        </p:txBody>
      </p:sp>
    </p:spTree>
    <p:extLst>
      <p:ext uri="{BB962C8B-B14F-4D97-AF65-F5344CB8AC3E}">
        <p14:creationId xmlns:p14="http://schemas.microsoft.com/office/powerpoint/2010/main" val="3256288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Thus, to summarize: COINs is a scalable, model-based method for knowledge graph reasoning that enables big data inference on small compute, </a:t>
            </a:r>
          </a:p>
          <a:p>
            <a:endParaRPr lang="en-US" dirty="0"/>
          </a:p>
          <a:p>
            <a:r>
              <a:rPr lang="en-US" dirty="0"/>
              <a:t>generalizes across embedding models, </a:t>
            </a:r>
          </a:p>
          <a:p>
            <a:endParaRPr lang="en-US" dirty="0"/>
          </a:p>
          <a:p>
            <a:r>
              <a:rPr lang="en-US" dirty="0"/>
              <a:t>and is supported by both theoretical and empirical evidence.</a:t>
            </a:r>
          </a:p>
          <a:p>
            <a:endParaRPr lang="en-US" dirty="0"/>
          </a:p>
          <a:p>
            <a:r>
              <a:rPr lang="en-US" dirty="0"/>
              <a:t>The quality of the community detection emerges as the key factor for success, however we discussed how one can evaluate the feasibility in advance.</a:t>
            </a:r>
          </a:p>
          <a:p>
            <a:endParaRPr lang="en-US" dirty="0"/>
          </a:p>
          <a:p>
            <a:r>
              <a:rPr lang="en-US" dirty="0"/>
              <a:t>The key takeaway, nevertheless, is that both a holistic as well as a reductionist viewpoint were necessary to obtain the best benefits.</a:t>
            </a:r>
          </a:p>
          <a:p>
            <a:endParaRPr lang="en-US" dirty="0"/>
          </a:p>
          <a:p>
            <a:r>
              <a:rPr lang="en-US" dirty="0"/>
              <a:t>Future work could include the integration with more powerful foundation models, such as graph transformers, and could also aim to evaluate COINs on larger and less standardized public knowledge bases, where scalability is critical.</a:t>
            </a:r>
          </a:p>
        </p:txBody>
      </p:sp>
      <p:sp>
        <p:nvSpPr>
          <p:cNvPr id="4" name="Slide Number Placeholder 3"/>
          <p:cNvSpPr>
            <a:spLocks noGrp="1"/>
          </p:cNvSpPr>
          <p:nvPr>
            <p:ph type="sldNum" sz="quarter" idx="5"/>
          </p:nvPr>
        </p:nvSpPr>
        <p:spPr/>
        <p:txBody>
          <a:bodyPr/>
          <a:lstStyle/>
          <a:p>
            <a:fld id="{4CF50783-AAED-1941-8BCC-9F6140F0A6B1}" type="slidenum">
              <a:rPr lang="fr-FR" smtClean="0"/>
              <a:pPr/>
              <a:t>24</a:t>
            </a:fld>
            <a:endParaRPr lang="fr-FR" dirty="0"/>
          </a:p>
        </p:txBody>
      </p:sp>
    </p:spTree>
    <p:extLst>
      <p:ext uri="{BB962C8B-B14F-4D97-AF65-F5344CB8AC3E}">
        <p14:creationId xmlns:p14="http://schemas.microsoft.com/office/powerpoint/2010/main" val="249264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F230-077B-FC1A-20C0-E3389C706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34493-6B29-A657-9265-47AEB688A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F9F13-DE3F-B16B-6832-FA71FED4E0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62D671-05BE-1CB1-147C-76FEEA81CF2E}"/>
              </a:ext>
            </a:extLst>
          </p:cNvPr>
          <p:cNvSpPr>
            <a:spLocks noGrp="1"/>
          </p:cNvSpPr>
          <p:nvPr>
            <p:ph type="sldNum" sz="quarter" idx="5"/>
          </p:nvPr>
        </p:nvSpPr>
        <p:spPr/>
        <p:txBody>
          <a:bodyPr/>
          <a:lstStyle/>
          <a:p>
            <a:fld id="{4CF50783-AAED-1941-8BCC-9F6140F0A6B1}" type="slidenum">
              <a:rPr lang="fr-FR" smtClean="0"/>
              <a:pPr/>
              <a:t>25</a:t>
            </a:fld>
            <a:endParaRPr lang="fr-FR" dirty="0"/>
          </a:p>
        </p:txBody>
      </p:sp>
    </p:spTree>
    <p:extLst>
      <p:ext uri="{BB962C8B-B14F-4D97-AF65-F5344CB8AC3E}">
        <p14:creationId xmlns:p14="http://schemas.microsoft.com/office/powerpoint/2010/main" val="4034205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FA51-6AC1-0E77-3D5C-8EDCDD518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377E6-44FD-845E-E5A8-9E67E6387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D41ED-19BD-D8FB-639E-52316FC73A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4CF6CE-FA3F-DED4-1EA8-EDDE046E97ED}"/>
              </a:ext>
            </a:extLst>
          </p:cNvPr>
          <p:cNvSpPr>
            <a:spLocks noGrp="1"/>
          </p:cNvSpPr>
          <p:nvPr>
            <p:ph type="sldNum" sz="quarter" idx="5"/>
          </p:nvPr>
        </p:nvSpPr>
        <p:spPr/>
        <p:txBody>
          <a:bodyPr/>
          <a:lstStyle/>
          <a:p>
            <a:fld id="{4CF50783-AAED-1941-8BCC-9F6140F0A6B1}" type="slidenum">
              <a:rPr lang="fr-FR" smtClean="0"/>
              <a:pPr/>
              <a:t>26</a:t>
            </a:fld>
            <a:endParaRPr lang="fr-FR" dirty="0"/>
          </a:p>
        </p:txBody>
      </p:sp>
    </p:spTree>
    <p:extLst>
      <p:ext uri="{BB962C8B-B14F-4D97-AF65-F5344CB8AC3E}">
        <p14:creationId xmlns:p14="http://schemas.microsoft.com/office/powerpoint/2010/main" val="3290625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F261-B3EF-40E8-37BB-13AD94C4C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7108A-8045-3626-EBBF-EA176D547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F1237A-FF50-7F38-26C8-805DF60D8648}"/>
              </a:ext>
            </a:extLst>
          </p:cNvPr>
          <p:cNvSpPr>
            <a:spLocks noGrp="1"/>
          </p:cNvSpPr>
          <p:nvPr>
            <p:ph type="body" idx="1"/>
          </p:nvPr>
        </p:nvSpPr>
        <p:spPr/>
        <p:txBody>
          <a:bodyPr/>
          <a:lstStyle/>
          <a:p>
            <a:r>
              <a:rPr lang="en-US" dirty="0"/>
              <a:t>But, it would be incorrect to state that we do not have experiments with COINs on larger real-world knowledge graphs. In fact, we will now go over these findings on large-scale private data that arose from an industry collaboration. </a:t>
            </a:r>
          </a:p>
          <a:p>
            <a:endParaRPr lang="en-US" dirty="0"/>
          </a:p>
          <a:p>
            <a:r>
              <a:rPr lang="en-US" dirty="0"/>
              <a:t>In practice, knowledge graphs make the most sense to apply when we need to store information about who did what where and when, and many businesses and </a:t>
            </a:r>
            <a:r>
              <a:rPr lang="en-US" dirty="0" err="1"/>
              <a:t>organisations</a:t>
            </a:r>
            <a:r>
              <a:rPr lang="en-US" dirty="0"/>
              <a:t> are getting more motivated to keep track of such useful facts.</a:t>
            </a:r>
          </a:p>
          <a:p>
            <a:endParaRPr lang="en-US" dirty="0"/>
          </a:p>
          <a:p>
            <a:r>
              <a:rPr lang="en-US" dirty="0"/>
              <a:t>The specific application we worked on was with the telecom sector, where like many other companies, Swisscom possesses a large knowledge base called Monty, for the purposes of networking diagnostics, customer support etc. </a:t>
            </a:r>
          </a:p>
        </p:txBody>
      </p:sp>
      <p:sp>
        <p:nvSpPr>
          <p:cNvPr id="4" name="Slide Number Placeholder 3">
            <a:extLst>
              <a:ext uri="{FF2B5EF4-FFF2-40B4-BE49-F238E27FC236}">
                <a16:creationId xmlns:a16="http://schemas.microsoft.com/office/drawing/2014/main" id="{40035E30-99A5-C91D-9058-B6BC0765E4DB}"/>
              </a:ext>
            </a:extLst>
          </p:cNvPr>
          <p:cNvSpPr>
            <a:spLocks noGrp="1"/>
          </p:cNvSpPr>
          <p:nvPr>
            <p:ph type="sldNum" sz="quarter" idx="5"/>
          </p:nvPr>
        </p:nvSpPr>
        <p:spPr/>
        <p:txBody>
          <a:bodyPr/>
          <a:lstStyle/>
          <a:p>
            <a:fld id="{4CF50783-AAED-1941-8BCC-9F6140F0A6B1}" type="slidenum">
              <a:rPr lang="fr-FR" smtClean="0"/>
              <a:pPr/>
              <a:t>27</a:t>
            </a:fld>
            <a:endParaRPr lang="fr-FR" dirty="0"/>
          </a:p>
        </p:txBody>
      </p:sp>
    </p:spTree>
    <p:extLst>
      <p:ext uri="{BB962C8B-B14F-4D97-AF65-F5344CB8AC3E}">
        <p14:creationId xmlns:p14="http://schemas.microsoft.com/office/powerpoint/2010/main" val="24922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EA30-9B46-43D4-EE0D-547400492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C8DE3-2FD8-4800-D7C8-71ABD8F18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2C3E8-FABA-83DB-5572-E01F8C246DA1}"/>
              </a:ext>
            </a:extLst>
          </p:cNvPr>
          <p:cNvSpPr>
            <a:spLocks noGrp="1"/>
          </p:cNvSpPr>
          <p:nvPr>
            <p:ph type="body" idx="1"/>
          </p:nvPr>
        </p:nvSpPr>
        <p:spPr/>
        <p:txBody>
          <a:bodyPr/>
          <a:lstStyle/>
          <a:p>
            <a:r>
              <a:rPr lang="en-US" dirty="0"/>
              <a:t>In fact, the first prototype of COINs was actually built for Monty. It performed remarkably well on that dataset but generalized poorly to public benchmarks.</a:t>
            </a:r>
          </a:p>
          <a:p>
            <a:endParaRPr lang="en-US" dirty="0"/>
          </a:p>
          <a:p>
            <a:r>
              <a:rPr lang="en-US" dirty="0"/>
              <a:t>This raised a key research question: *why* did COINs excel on Monty but not elsewhere? To answer it, we conducted a detailed comparative analysis between Monty and a broad range of other knowledge graphs. The investigation involved multi-spectrum feature extraction from the dataset and statistical comparison of distributions, to identify whether model ablation was necessary to generalize, due to the specific compatibility between COINs and Monty not present elsewhere. </a:t>
            </a:r>
          </a:p>
        </p:txBody>
      </p:sp>
      <p:sp>
        <p:nvSpPr>
          <p:cNvPr id="4" name="Slide Number Placeholder 3">
            <a:extLst>
              <a:ext uri="{FF2B5EF4-FFF2-40B4-BE49-F238E27FC236}">
                <a16:creationId xmlns:a16="http://schemas.microsoft.com/office/drawing/2014/main" id="{BF85BD41-7F1B-3A39-73D8-DD4841255727}"/>
              </a:ext>
            </a:extLst>
          </p:cNvPr>
          <p:cNvSpPr>
            <a:spLocks noGrp="1"/>
          </p:cNvSpPr>
          <p:nvPr>
            <p:ph type="sldNum" sz="quarter" idx="5"/>
          </p:nvPr>
        </p:nvSpPr>
        <p:spPr/>
        <p:txBody>
          <a:bodyPr/>
          <a:lstStyle/>
          <a:p>
            <a:fld id="{4CF50783-AAED-1941-8BCC-9F6140F0A6B1}" type="slidenum">
              <a:rPr lang="fr-FR" smtClean="0"/>
              <a:pPr/>
              <a:t>28</a:t>
            </a:fld>
            <a:endParaRPr lang="fr-FR" dirty="0"/>
          </a:p>
        </p:txBody>
      </p:sp>
    </p:spTree>
    <p:extLst>
      <p:ext uri="{BB962C8B-B14F-4D97-AF65-F5344CB8AC3E}">
        <p14:creationId xmlns:p14="http://schemas.microsoft.com/office/powerpoint/2010/main" val="27408680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1719-C36F-AB38-912D-C19257F35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BD0B5-EF7A-D259-4656-1B8C48A0C5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937C5-AC27-5CC2-37FB-87917E2615AC}"/>
              </a:ext>
            </a:extLst>
          </p:cNvPr>
          <p:cNvSpPr>
            <a:spLocks noGrp="1"/>
          </p:cNvSpPr>
          <p:nvPr>
            <p:ph type="body" idx="1"/>
          </p:nvPr>
        </p:nvSpPr>
        <p:spPr/>
        <p:txBody>
          <a:bodyPr/>
          <a:lstStyle/>
          <a:p>
            <a:r>
              <a:rPr lang="en-US" dirty="0"/>
              <a:t>We began by extracting graph-structural features from Monty and the comparison datasets.</a:t>
            </a:r>
          </a:p>
          <a:p>
            <a:r>
              <a:rPr lang="en-US" dirty="0"/>
              <a:t>The features included label frequency distributions, </a:t>
            </a:r>
            <a:r>
              <a:rPr lang="en-US" dirty="0" err="1"/>
              <a:t>assortativity</a:t>
            </a:r>
            <a:r>
              <a:rPr lang="en-US" dirty="0"/>
              <a:t> coefficients, connectivity metrics, sparsity, clustering, and component sizes.</a:t>
            </a:r>
          </a:p>
          <a:p>
            <a:r>
              <a:rPr lang="en-US" dirty="0"/>
              <a:t>We also examined community structures, motifs, and association rules to understand how information is distributed.</a:t>
            </a:r>
          </a:p>
          <a:p>
            <a:r>
              <a:rPr lang="en-US" dirty="0"/>
              <a:t>These analyses revealed that Monty has very distinct characteristics: high modularity, low clustering, and clearly defined hubs and authorities.</a:t>
            </a:r>
          </a:p>
        </p:txBody>
      </p:sp>
      <p:sp>
        <p:nvSpPr>
          <p:cNvPr id="4" name="Slide Number Placeholder 3">
            <a:extLst>
              <a:ext uri="{FF2B5EF4-FFF2-40B4-BE49-F238E27FC236}">
                <a16:creationId xmlns:a16="http://schemas.microsoft.com/office/drawing/2014/main" id="{57DF06E8-4B68-E286-D52B-4747FE9DAF9B}"/>
              </a:ext>
            </a:extLst>
          </p:cNvPr>
          <p:cNvSpPr>
            <a:spLocks noGrp="1"/>
          </p:cNvSpPr>
          <p:nvPr>
            <p:ph type="sldNum" sz="quarter" idx="5"/>
          </p:nvPr>
        </p:nvSpPr>
        <p:spPr/>
        <p:txBody>
          <a:bodyPr/>
          <a:lstStyle/>
          <a:p>
            <a:fld id="{4CF50783-AAED-1941-8BCC-9F6140F0A6B1}" type="slidenum">
              <a:rPr lang="fr-FR" smtClean="0"/>
              <a:pPr/>
              <a:t>29</a:t>
            </a:fld>
            <a:endParaRPr lang="fr-FR" dirty="0"/>
          </a:p>
        </p:txBody>
      </p:sp>
    </p:spTree>
    <p:extLst>
      <p:ext uri="{BB962C8B-B14F-4D97-AF65-F5344CB8AC3E}">
        <p14:creationId xmlns:p14="http://schemas.microsoft.com/office/powerpoint/2010/main" val="2613298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C868-E573-8B38-0553-D2C0A3A7C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0BDB1-B68D-8EC0-76AE-6F720C0D6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801D1-D6A5-3AC7-58E0-6A851A7B89ED}"/>
              </a:ext>
            </a:extLst>
          </p:cNvPr>
          <p:cNvSpPr>
            <a:spLocks noGrp="1"/>
          </p:cNvSpPr>
          <p:nvPr>
            <p:ph type="body" idx="1"/>
          </p:nvPr>
        </p:nvSpPr>
        <p:spPr/>
        <p:txBody>
          <a:bodyPr/>
          <a:lstStyle/>
          <a:p>
            <a:r>
              <a:rPr lang="en-US" dirty="0"/>
              <a:t>To formalize these observations, we applied statistical tests.</a:t>
            </a:r>
          </a:p>
          <a:p>
            <a:r>
              <a:rPr lang="en-US" dirty="0"/>
              <a:t>We gathered public datasets across several domains—Freebase, WordNet, NELL, biological and transport networks, and citation graphs.</a:t>
            </a:r>
          </a:p>
          <a:p>
            <a:r>
              <a:rPr lang="en-US" dirty="0"/>
              <a:t>For each structural metric, we conducted one-sample hypothesis tests to determine distribution types and uniformity, and compared them across datasets using t-tests and Maximum Mean Discrepancy tests.</a:t>
            </a:r>
          </a:p>
          <a:p>
            <a:r>
              <a:rPr lang="en-US" dirty="0"/>
              <a:t>This allowed us to quantify how close or distant Monty’s topology is from the others.</a:t>
            </a:r>
          </a:p>
        </p:txBody>
      </p:sp>
      <p:sp>
        <p:nvSpPr>
          <p:cNvPr id="4" name="Slide Number Placeholder 3">
            <a:extLst>
              <a:ext uri="{FF2B5EF4-FFF2-40B4-BE49-F238E27FC236}">
                <a16:creationId xmlns:a16="http://schemas.microsoft.com/office/drawing/2014/main" id="{52780CFA-BDF4-3F42-22D1-E4A96A2D8D3E}"/>
              </a:ext>
            </a:extLst>
          </p:cNvPr>
          <p:cNvSpPr>
            <a:spLocks noGrp="1"/>
          </p:cNvSpPr>
          <p:nvPr>
            <p:ph type="sldNum" sz="quarter" idx="5"/>
          </p:nvPr>
        </p:nvSpPr>
        <p:spPr/>
        <p:txBody>
          <a:bodyPr/>
          <a:lstStyle/>
          <a:p>
            <a:fld id="{4CF50783-AAED-1941-8BCC-9F6140F0A6B1}" type="slidenum">
              <a:rPr lang="fr-FR" smtClean="0"/>
              <a:pPr/>
              <a:t>30</a:t>
            </a:fld>
            <a:endParaRPr lang="fr-FR" dirty="0"/>
          </a:p>
        </p:txBody>
      </p:sp>
    </p:spTree>
    <p:extLst>
      <p:ext uri="{BB962C8B-B14F-4D97-AF65-F5344CB8AC3E}">
        <p14:creationId xmlns:p14="http://schemas.microsoft.com/office/powerpoint/2010/main" val="8428930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C415-9334-EF28-CE08-1B2AB5211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30DA6-1D4C-F34C-3F27-2E6AC43F9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F456B-4465-60D7-5897-3FB1746B9FA7}"/>
              </a:ext>
            </a:extLst>
          </p:cNvPr>
          <p:cNvSpPr>
            <a:spLocks noGrp="1"/>
          </p:cNvSpPr>
          <p:nvPr>
            <p:ph type="body" idx="1"/>
          </p:nvPr>
        </p:nvSpPr>
        <p:spPr/>
        <p:txBody>
          <a:bodyPr/>
          <a:lstStyle/>
          <a:p>
            <a:r>
              <a:rPr lang="en-US" dirty="0"/>
              <a:t>The findings were striking. </a:t>
            </a:r>
          </a:p>
          <a:p>
            <a:endParaRPr lang="en-US" dirty="0"/>
          </a:p>
          <a:p>
            <a:r>
              <a:rPr lang="en-US" dirty="0"/>
              <a:t>Monty exhibits almost no label </a:t>
            </a:r>
            <a:r>
              <a:rPr lang="en-US" dirty="0" err="1"/>
              <a:t>assortativity</a:t>
            </a:r>
            <a:r>
              <a:rPr lang="en-US" dirty="0"/>
              <a:t>; it is the sparsest of all compared graphs, only weakly connected, and characterized by short paths and small diameter. Its clustering is minimal, yet its modularity exceeds 99 percent, indicating extremely clear community boundaries. </a:t>
            </a:r>
          </a:p>
          <a:p>
            <a:endParaRPr lang="en-US" dirty="0"/>
          </a:p>
          <a:p>
            <a:r>
              <a:rPr lang="en-US" dirty="0"/>
              <a:t>Metric distributions are heavy-tailed but consistent across subgraphs, making Monty highly uniform structurally. In addition, among all datasets, Monty most closely resembles human-curated knowledge graphs and not stochastic graphs like citation networks.</a:t>
            </a:r>
          </a:p>
          <a:p>
            <a:endParaRPr lang="en-US" dirty="0"/>
          </a:p>
          <a:p>
            <a:r>
              <a:rPr lang="en-US" dirty="0"/>
              <a:t>In short, all this explains that Monty is structurally *the easiest* dataset for COINs, and recognizing this helped us design ablation studies to improve generalization.</a:t>
            </a:r>
          </a:p>
        </p:txBody>
      </p:sp>
      <p:sp>
        <p:nvSpPr>
          <p:cNvPr id="4" name="Slide Number Placeholder 3">
            <a:extLst>
              <a:ext uri="{FF2B5EF4-FFF2-40B4-BE49-F238E27FC236}">
                <a16:creationId xmlns:a16="http://schemas.microsoft.com/office/drawing/2014/main" id="{C038AA1F-8293-B612-C26D-38602FC15600}"/>
              </a:ext>
            </a:extLst>
          </p:cNvPr>
          <p:cNvSpPr>
            <a:spLocks noGrp="1"/>
          </p:cNvSpPr>
          <p:nvPr>
            <p:ph type="sldNum" sz="quarter" idx="5"/>
          </p:nvPr>
        </p:nvSpPr>
        <p:spPr/>
        <p:txBody>
          <a:bodyPr/>
          <a:lstStyle/>
          <a:p>
            <a:fld id="{4CF50783-AAED-1941-8BCC-9F6140F0A6B1}" type="slidenum">
              <a:rPr lang="fr-FR" smtClean="0"/>
              <a:pPr/>
              <a:t>31</a:t>
            </a:fld>
            <a:endParaRPr lang="fr-FR" dirty="0"/>
          </a:p>
        </p:txBody>
      </p:sp>
    </p:spTree>
    <p:extLst>
      <p:ext uri="{BB962C8B-B14F-4D97-AF65-F5344CB8AC3E}">
        <p14:creationId xmlns:p14="http://schemas.microsoft.com/office/powerpoint/2010/main" val="29494157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1CCA4-5911-BD84-0A6C-3E4791D7E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6E7CD-7DBE-6914-D2A5-26F801191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A6603-71CC-3998-D7B1-47AE9919EBDD}"/>
              </a:ext>
            </a:extLst>
          </p:cNvPr>
          <p:cNvSpPr>
            <a:spLocks noGrp="1"/>
          </p:cNvSpPr>
          <p:nvPr>
            <p:ph type="body" idx="1"/>
          </p:nvPr>
        </p:nvSpPr>
        <p:spPr/>
        <p:txBody>
          <a:bodyPr/>
          <a:lstStyle/>
          <a:p>
            <a:r>
              <a:rPr lang="en-US" dirty="0"/>
              <a:t>After refining the model to reduce greatly the number of parameters, we re-evaluated it on Monty. The new version maintained comparable accuracy to our academic results, while achieving dramatic efficiency gains—up to 728-fold acceleration in evaluation and more than 200-fold reduction in memory during training. </a:t>
            </a:r>
          </a:p>
          <a:p>
            <a:endParaRPr lang="en-US" dirty="0"/>
          </a:p>
          <a:p>
            <a:r>
              <a:rPr lang="en-US" dirty="0"/>
              <a:t>This allowed all experiments to fit comfortably within 64 GB of RAM and 16 GB of GPU VRAM, demonstrating that practical industrial reasoning at scale is possible on standard hardware.</a:t>
            </a:r>
          </a:p>
        </p:txBody>
      </p:sp>
      <p:sp>
        <p:nvSpPr>
          <p:cNvPr id="4" name="Slide Number Placeholder 3">
            <a:extLst>
              <a:ext uri="{FF2B5EF4-FFF2-40B4-BE49-F238E27FC236}">
                <a16:creationId xmlns:a16="http://schemas.microsoft.com/office/drawing/2014/main" id="{7159B170-07CC-F7CC-71B2-F789A65CFC75}"/>
              </a:ext>
            </a:extLst>
          </p:cNvPr>
          <p:cNvSpPr>
            <a:spLocks noGrp="1"/>
          </p:cNvSpPr>
          <p:nvPr>
            <p:ph type="sldNum" sz="quarter" idx="5"/>
          </p:nvPr>
        </p:nvSpPr>
        <p:spPr/>
        <p:txBody>
          <a:bodyPr/>
          <a:lstStyle/>
          <a:p>
            <a:fld id="{4CF50783-AAED-1941-8BCC-9F6140F0A6B1}" type="slidenum">
              <a:rPr lang="fr-FR" smtClean="0"/>
              <a:pPr/>
              <a:t>32</a:t>
            </a:fld>
            <a:endParaRPr lang="fr-FR" dirty="0"/>
          </a:p>
        </p:txBody>
      </p:sp>
    </p:spTree>
    <p:extLst>
      <p:ext uri="{BB962C8B-B14F-4D97-AF65-F5344CB8AC3E}">
        <p14:creationId xmlns:p14="http://schemas.microsoft.com/office/powerpoint/2010/main" val="2772309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47A0-0319-D8D4-B74C-88DF58D34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0B396-6C2F-5872-77DD-2881185E3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75D36-F3C7-0E14-D8FE-F90B709D228F}"/>
              </a:ext>
            </a:extLst>
          </p:cNvPr>
          <p:cNvSpPr>
            <a:spLocks noGrp="1"/>
          </p:cNvSpPr>
          <p:nvPr>
            <p:ph type="body" idx="1"/>
          </p:nvPr>
        </p:nvSpPr>
        <p:spPr/>
        <p:txBody>
          <a:bodyPr/>
          <a:lstStyle/>
          <a:p>
            <a:r>
              <a:rPr lang="en-US" dirty="0"/>
              <a:t>A</a:t>
            </a:r>
            <a:r>
              <a:rPr lang="en-GB" dirty="0" err="1"/>
              <a:t>fter</a:t>
            </a:r>
            <a:r>
              <a:rPr lang="en-GB" dirty="0"/>
              <a:t> a little break, I will move on to the second sub-field of graph machine learning we contributed to with scalable techniques.</a:t>
            </a:r>
          </a:p>
        </p:txBody>
      </p:sp>
      <p:sp>
        <p:nvSpPr>
          <p:cNvPr id="4" name="Slide Number Placeholder 3">
            <a:extLst>
              <a:ext uri="{FF2B5EF4-FFF2-40B4-BE49-F238E27FC236}">
                <a16:creationId xmlns:a16="http://schemas.microsoft.com/office/drawing/2014/main" id="{5D60A990-8754-98A2-3ECF-19A25577365A}"/>
              </a:ext>
            </a:extLst>
          </p:cNvPr>
          <p:cNvSpPr>
            <a:spLocks noGrp="1"/>
          </p:cNvSpPr>
          <p:nvPr>
            <p:ph type="sldNum" sz="quarter" idx="5"/>
          </p:nvPr>
        </p:nvSpPr>
        <p:spPr/>
        <p:txBody>
          <a:bodyPr/>
          <a:lstStyle/>
          <a:p>
            <a:fld id="{4CF50783-AAED-1941-8BCC-9F6140F0A6B1}" type="slidenum">
              <a:rPr lang="fr-FR" smtClean="0"/>
              <a:pPr/>
              <a:t>33</a:t>
            </a:fld>
            <a:endParaRPr lang="fr-FR" dirty="0"/>
          </a:p>
        </p:txBody>
      </p:sp>
    </p:spTree>
    <p:extLst>
      <p:ext uri="{BB962C8B-B14F-4D97-AF65-F5344CB8AC3E}">
        <p14:creationId xmlns:p14="http://schemas.microsoft.com/office/powerpoint/2010/main" val="11858533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5B681-EF09-A77F-2A96-5FD934DB8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B6588-98E9-1A0D-0AB1-F8C1CBD09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F6FE1-B038-A4B7-3C66-9E146B1F174C}"/>
              </a:ext>
            </a:extLst>
          </p:cNvPr>
          <p:cNvSpPr>
            <a:spLocks noGrp="1"/>
          </p:cNvSpPr>
          <p:nvPr>
            <p:ph type="body" idx="1"/>
          </p:nvPr>
        </p:nvSpPr>
        <p:spPr/>
        <p:txBody>
          <a:bodyPr/>
          <a:lstStyle/>
          <a:p>
            <a:r>
              <a:rPr lang="en-US" dirty="0"/>
              <a:t>Namely, unlike simple edge classification tasks, graph generation commits to the full complexity of discrete distribution learning, where not only we wish to estimate the likelihood of a graph structure being part of our sample set, but also construct valid examples. The applications are diverse, but the field of drug discovery mainly takes precedence due to its societal impact. This motivates to keep proposing better models for this task which maybe expectedly is not a joke, as it is often found in practice that computational scalability and generalization drop below ground already for graph sizes in the hundreds. This is mainly due to the need to sample adjacency matrices, which scale quadratically with graph sizes and thus the memory usage and fitness of the latent edge representations is the main challenge. </a:t>
            </a:r>
          </a:p>
          <a:p>
            <a:endParaRPr lang="en-US" dirty="0"/>
          </a:p>
          <a:p>
            <a:r>
              <a:rPr lang="en-US" dirty="0"/>
              <a:t>To begin the discussion on our first contribution, we stress that a good graph generator should: (1) be able to handle generating a great variety of graph structures, (2) have low computational cost, (3) sample isomorphic graphs with equal probability and (4) hopefully generate likely yet novel structures unseen in training data.</a:t>
            </a:r>
          </a:p>
          <a:p>
            <a:endParaRPr lang="en-US" dirty="0"/>
          </a:p>
          <a:p>
            <a:r>
              <a:rPr lang="en-US" dirty="0"/>
              <a:t>Previous research into permutation-equivariant graph GANs yielded a SOTA model that is very well fitted on points 1 and 3, however autoregressive graph generation could outperform it on points 2 and 4. So, we wondered whether it is possible to combine the two approaches to obtain all the benefits.</a:t>
            </a:r>
            <a:endParaRPr lang="en-GB" dirty="0"/>
          </a:p>
        </p:txBody>
      </p:sp>
      <p:sp>
        <p:nvSpPr>
          <p:cNvPr id="4" name="Slide Number Placeholder 3">
            <a:extLst>
              <a:ext uri="{FF2B5EF4-FFF2-40B4-BE49-F238E27FC236}">
                <a16:creationId xmlns:a16="http://schemas.microsoft.com/office/drawing/2014/main" id="{3C0E38BC-833A-2985-6858-190E8937FDC5}"/>
              </a:ext>
            </a:extLst>
          </p:cNvPr>
          <p:cNvSpPr>
            <a:spLocks noGrp="1"/>
          </p:cNvSpPr>
          <p:nvPr>
            <p:ph type="sldNum" sz="quarter" idx="5"/>
          </p:nvPr>
        </p:nvSpPr>
        <p:spPr/>
        <p:txBody>
          <a:bodyPr/>
          <a:lstStyle/>
          <a:p>
            <a:fld id="{4CF50783-AAED-1941-8BCC-9F6140F0A6B1}" type="slidenum">
              <a:rPr lang="fr-FR" smtClean="0"/>
              <a:pPr/>
              <a:t>34</a:t>
            </a:fld>
            <a:endParaRPr lang="fr-FR" dirty="0"/>
          </a:p>
        </p:txBody>
      </p:sp>
    </p:spTree>
    <p:extLst>
      <p:ext uri="{BB962C8B-B14F-4D97-AF65-F5344CB8AC3E}">
        <p14:creationId xmlns:p14="http://schemas.microsoft.com/office/powerpoint/2010/main" val="1650411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8A0D7-C317-1DB0-5D22-5A1FA76F0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422ECC-6015-2423-7671-065F3B70C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CC63F-BE76-F5C2-8744-427F5DA49F2D}"/>
              </a:ext>
            </a:extLst>
          </p:cNvPr>
          <p:cNvSpPr>
            <a:spLocks noGrp="1"/>
          </p:cNvSpPr>
          <p:nvPr>
            <p:ph type="body" idx="1"/>
          </p:nvPr>
        </p:nvSpPr>
        <p:spPr/>
        <p:txBody>
          <a:bodyPr/>
          <a:lstStyle/>
          <a:p>
            <a:r>
              <a:rPr lang="en-GB" dirty="0"/>
              <a:t>Let us briefly recall the landscape of generative methods for graphs.</a:t>
            </a:r>
          </a:p>
          <a:p>
            <a:r>
              <a:rPr lang="en-GB" dirty="0"/>
              <a:t>Generative Adversarial Networks (GANs) and Variational Autoencoders (VAEs) have been extended to graph domains, producing models such as </a:t>
            </a:r>
            <a:r>
              <a:rPr lang="en-GB" dirty="0" err="1"/>
              <a:t>GraphVAE</a:t>
            </a:r>
            <a:r>
              <a:rPr lang="en-GB" dirty="0"/>
              <a:t>, </a:t>
            </a:r>
            <a:r>
              <a:rPr lang="en-GB" dirty="0" err="1"/>
              <a:t>GraphRNN</a:t>
            </a:r>
            <a:r>
              <a:rPr lang="en-GB" dirty="0"/>
              <a:t>, and </a:t>
            </a:r>
            <a:r>
              <a:rPr lang="en-GB" dirty="0" err="1"/>
              <a:t>GraphGAN</a:t>
            </a:r>
            <a:r>
              <a:rPr lang="en-GB" dirty="0"/>
              <a:t>.</a:t>
            </a:r>
          </a:p>
          <a:p>
            <a:r>
              <a:rPr lang="en-GB" dirty="0"/>
              <a:t>These approaches capture global distributions but are usually limited to small molecules or ego-networks with fewer than a few hundred nodes.</a:t>
            </a:r>
          </a:p>
          <a:p>
            <a:r>
              <a:rPr lang="en-GB" dirty="0"/>
              <a:t>Scaling them up requires additional structural priors—something to constrain the search space without sacrificing novelty.</a:t>
            </a:r>
          </a:p>
          <a:p>
            <a:r>
              <a:rPr lang="en-GB" dirty="0"/>
              <a:t>This motivated our exploration of hierarchical and geometric approaches.</a:t>
            </a:r>
          </a:p>
        </p:txBody>
      </p:sp>
      <p:sp>
        <p:nvSpPr>
          <p:cNvPr id="4" name="Slide Number Placeholder 3">
            <a:extLst>
              <a:ext uri="{FF2B5EF4-FFF2-40B4-BE49-F238E27FC236}">
                <a16:creationId xmlns:a16="http://schemas.microsoft.com/office/drawing/2014/main" id="{E4637E62-A0F2-3EEB-F98D-9A0E298EF629}"/>
              </a:ext>
            </a:extLst>
          </p:cNvPr>
          <p:cNvSpPr>
            <a:spLocks noGrp="1"/>
          </p:cNvSpPr>
          <p:nvPr>
            <p:ph type="sldNum" sz="quarter" idx="5"/>
          </p:nvPr>
        </p:nvSpPr>
        <p:spPr/>
        <p:txBody>
          <a:bodyPr/>
          <a:lstStyle/>
          <a:p>
            <a:fld id="{4CF50783-AAED-1941-8BCC-9F6140F0A6B1}" type="slidenum">
              <a:rPr lang="fr-FR" smtClean="0"/>
              <a:pPr/>
              <a:t>35</a:t>
            </a:fld>
            <a:endParaRPr lang="fr-FR" dirty="0"/>
          </a:p>
        </p:txBody>
      </p:sp>
    </p:spTree>
    <p:extLst>
      <p:ext uri="{BB962C8B-B14F-4D97-AF65-F5344CB8AC3E}">
        <p14:creationId xmlns:p14="http://schemas.microsoft.com/office/powerpoint/2010/main" val="20251744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A2F64-5D22-C545-B4DF-BC8242710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790D1-F27A-EAEF-4895-B8AFA9C9D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F1FCD-72EC-15E5-F195-13D0464BBEA9}"/>
              </a:ext>
            </a:extLst>
          </p:cNvPr>
          <p:cNvSpPr>
            <a:spLocks noGrp="1"/>
          </p:cNvSpPr>
          <p:nvPr>
            <p:ph type="body" idx="1"/>
          </p:nvPr>
        </p:nvSpPr>
        <p:spPr/>
        <p:txBody>
          <a:bodyPr/>
          <a:lstStyle/>
          <a:p>
            <a:r>
              <a:rPr lang="en-US" dirty="0"/>
              <a:t>Thus, on one hand the baseline for this part is the GG-GAN model, an </a:t>
            </a:r>
            <a:r>
              <a:rPr lang="en-US" dirty="0" err="1"/>
              <a:t>Lp</a:t>
            </a:r>
            <a:r>
              <a:rPr lang="en-US" dirty="0"/>
              <a:t>-penalty WGAN that </a:t>
            </a:r>
          </a:p>
          <a:p>
            <a:endParaRPr lang="en-US" dirty="0"/>
          </a:p>
          <a:p>
            <a:r>
              <a:rPr lang="en-US" dirty="0"/>
              <a:t>achieves permutation equivariance through a geometric embedding trick to keep a portion of latent noise dimensions fixed and learnable.</a:t>
            </a:r>
          </a:p>
          <a:p>
            <a:endParaRPr lang="en-US" dirty="0"/>
          </a:p>
          <a:p>
            <a:r>
              <a:rPr lang="en-US" dirty="0"/>
              <a:t>The generator architecture itself is composed of three main sections, and we will attack the high memory complexity of the default structure of the root and readout layers, by changing the size of adjacency matrices that need to be generated.</a:t>
            </a:r>
            <a:endParaRPr lang="en-GB" dirty="0"/>
          </a:p>
        </p:txBody>
      </p:sp>
      <p:sp>
        <p:nvSpPr>
          <p:cNvPr id="4" name="Slide Number Placeholder 3">
            <a:extLst>
              <a:ext uri="{FF2B5EF4-FFF2-40B4-BE49-F238E27FC236}">
                <a16:creationId xmlns:a16="http://schemas.microsoft.com/office/drawing/2014/main" id="{C77182E1-0CF0-C07E-AFE7-703BB2EA1B4A}"/>
              </a:ext>
            </a:extLst>
          </p:cNvPr>
          <p:cNvSpPr>
            <a:spLocks noGrp="1"/>
          </p:cNvSpPr>
          <p:nvPr>
            <p:ph type="sldNum" sz="quarter" idx="5"/>
          </p:nvPr>
        </p:nvSpPr>
        <p:spPr/>
        <p:txBody>
          <a:bodyPr/>
          <a:lstStyle/>
          <a:p>
            <a:fld id="{4CF50783-AAED-1941-8BCC-9F6140F0A6B1}" type="slidenum">
              <a:rPr lang="fr-FR" smtClean="0"/>
              <a:pPr/>
              <a:t>36</a:t>
            </a:fld>
            <a:endParaRPr lang="fr-FR" dirty="0"/>
          </a:p>
        </p:txBody>
      </p:sp>
    </p:spTree>
    <p:extLst>
      <p:ext uri="{BB962C8B-B14F-4D97-AF65-F5344CB8AC3E}">
        <p14:creationId xmlns:p14="http://schemas.microsoft.com/office/powerpoint/2010/main" val="13987684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9709-B4F8-3267-1D95-9C1CF1A3B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5B608-8EFB-8AA0-B789-69599CA33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FCEAA-DBEF-056B-8EEC-35E153758B3E}"/>
              </a:ext>
            </a:extLst>
          </p:cNvPr>
          <p:cNvSpPr>
            <a:spLocks noGrp="1"/>
          </p:cNvSpPr>
          <p:nvPr>
            <p:ph type="body" idx="1"/>
          </p:nvPr>
        </p:nvSpPr>
        <p:spPr/>
        <p:txBody>
          <a:bodyPr/>
          <a:lstStyle/>
          <a:p>
            <a:r>
              <a:rPr lang="en-US" dirty="0"/>
              <a:t>On the other hand, our proposed autoregressive procedure for graph generation was inspired by stochastic processes on integer partitions.</a:t>
            </a:r>
          </a:p>
          <a:p>
            <a:endParaRPr lang="en-US" dirty="0"/>
          </a:p>
          <a:p>
            <a:r>
              <a:rPr lang="en-US" dirty="0"/>
              <a:t>Namely, we employ Chinese Restaurant Processes, inspired by how customers at a Chinese restaurant are more likely to sit at a table with more people.</a:t>
            </a:r>
          </a:p>
          <a:p>
            <a:endParaRPr lang="en-US" dirty="0"/>
          </a:p>
          <a:p>
            <a:r>
              <a:rPr lang="en-US" dirty="0"/>
              <a:t>The relevant property here is that the integer partitions generated are exchangeable sequences, namely the probability of each final seating arrangement is independent of the order in which the customers arrived.</a:t>
            </a:r>
          </a:p>
          <a:p>
            <a:endParaRPr lang="en-US" dirty="0"/>
          </a:p>
          <a:p>
            <a:r>
              <a:rPr lang="en-US" dirty="0"/>
              <a:t>Replacing in the analogy customers with graph nodes and tables with graph communities, this immediately gives the idea how one can generate graph samples piece by piece in an equivariant manner, because with CRPs only sampling a partition of the node numbers into community sizes is enough to uniquely specify a global structure.</a:t>
            </a:r>
            <a:endParaRPr lang="en-GB" dirty="0"/>
          </a:p>
        </p:txBody>
      </p:sp>
      <p:sp>
        <p:nvSpPr>
          <p:cNvPr id="4" name="Slide Number Placeholder 3">
            <a:extLst>
              <a:ext uri="{FF2B5EF4-FFF2-40B4-BE49-F238E27FC236}">
                <a16:creationId xmlns:a16="http://schemas.microsoft.com/office/drawing/2014/main" id="{E63BF7C1-4D88-BA1E-85CB-B9510E48BF9F}"/>
              </a:ext>
            </a:extLst>
          </p:cNvPr>
          <p:cNvSpPr>
            <a:spLocks noGrp="1"/>
          </p:cNvSpPr>
          <p:nvPr>
            <p:ph type="sldNum" sz="quarter" idx="5"/>
          </p:nvPr>
        </p:nvSpPr>
        <p:spPr/>
        <p:txBody>
          <a:bodyPr/>
          <a:lstStyle/>
          <a:p>
            <a:fld id="{4CF50783-AAED-1941-8BCC-9F6140F0A6B1}" type="slidenum">
              <a:rPr lang="fr-FR" smtClean="0"/>
              <a:pPr/>
              <a:t>37</a:t>
            </a:fld>
            <a:endParaRPr lang="fr-FR" dirty="0"/>
          </a:p>
        </p:txBody>
      </p:sp>
    </p:spTree>
    <p:extLst>
      <p:ext uri="{BB962C8B-B14F-4D97-AF65-F5344CB8AC3E}">
        <p14:creationId xmlns:p14="http://schemas.microsoft.com/office/powerpoint/2010/main" val="4024011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070F-17A0-214B-0024-0D338E337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4AEBF-6A5A-1C02-F1CC-B8D4C2196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E5D74-2985-CBD2-2D34-F2ADF3592A03}"/>
              </a:ext>
            </a:extLst>
          </p:cNvPr>
          <p:cNvSpPr>
            <a:spLocks noGrp="1"/>
          </p:cNvSpPr>
          <p:nvPr>
            <p:ph type="body" idx="1"/>
          </p:nvPr>
        </p:nvSpPr>
        <p:spPr/>
        <p:txBody>
          <a:bodyPr/>
          <a:lstStyle/>
          <a:p>
            <a:r>
              <a:rPr lang="en-US" dirty="0"/>
              <a:t>The GGG-CRP model we propose employs exactly that. Namely, as a first step we sample a node-to-community assignment, then use a modified GG-GAN to autoregressively generate the final graph by building it one community at a time.</a:t>
            </a:r>
          </a:p>
          <a:p>
            <a:endParaRPr lang="en-US" dirty="0"/>
          </a:p>
          <a:p>
            <a:r>
              <a:rPr lang="en-US" dirty="0"/>
              <a:t>Overlapping communities were chosen instead of disjoint ones here, as this will allow the overlapping regions between communities to be refined multiple times.</a:t>
            </a:r>
          </a:p>
          <a:p>
            <a:endParaRPr lang="en-US" dirty="0"/>
          </a:p>
          <a:p>
            <a:r>
              <a:rPr lang="en-US" dirty="0"/>
              <a:t>Sampling the node-to-community assignments requires recording a big categorical distribution of possible partition sizes in the data.</a:t>
            </a:r>
            <a:endParaRPr lang="en-GB" dirty="0"/>
          </a:p>
        </p:txBody>
      </p:sp>
      <p:sp>
        <p:nvSpPr>
          <p:cNvPr id="4" name="Slide Number Placeholder 3">
            <a:extLst>
              <a:ext uri="{FF2B5EF4-FFF2-40B4-BE49-F238E27FC236}">
                <a16:creationId xmlns:a16="http://schemas.microsoft.com/office/drawing/2014/main" id="{6347DFD5-6BBD-CF3E-889F-D93E1DDA5994}"/>
              </a:ext>
            </a:extLst>
          </p:cNvPr>
          <p:cNvSpPr>
            <a:spLocks noGrp="1"/>
          </p:cNvSpPr>
          <p:nvPr>
            <p:ph type="sldNum" sz="quarter" idx="5"/>
          </p:nvPr>
        </p:nvSpPr>
        <p:spPr/>
        <p:txBody>
          <a:bodyPr/>
          <a:lstStyle/>
          <a:p>
            <a:fld id="{4CF50783-AAED-1941-8BCC-9F6140F0A6B1}" type="slidenum">
              <a:rPr lang="fr-FR" smtClean="0"/>
              <a:pPr/>
              <a:t>38</a:t>
            </a:fld>
            <a:endParaRPr lang="fr-FR" dirty="0"/>
          </a:p>
        </p:txBody>
      </p:sp>
    </p:spTree>
    <p:extLst>
      <p:ext uri="{BB962C8B-B14F-4D97-AF65-F5344CB8AC3E}">
        <p14:creationId xmlns:p14="http://schemas.microsoft.com/office/powerpoint/2010/main" val="2742436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90E71-962D-2E9A-C9C4-80356C796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812D3-BA4D-76D4-ED3F-A9B888675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06BE8-377D-4E10-36EB-FBEE802420DF}"/>
              </a:ext>
            </a:extLst>
          </p:cNvPr>
          <p:cNvSpPr>
            <a:spLocks noGrp="1"/>
          </p:cNvSpPr>
          <p:nvPr>
            <p:ph type="body" idx="1"/>
          </p:nvPr>
        </p:nvSpPr>
        <p:spPr/>
        <p:txBody>
          <a:bodyPr/>
          <a:lstStyle/>
          <a:p>
            <a:r>
              <a:rPr lang="en-GB" dirty="0"/>
              <a:t>To realize this process computationally, we treat the node-community assignment matrix as a bipartite graph.</a:t>
            </a:r>
          </a:p>
          <a:p>
            <a:r>
              <a:rPr lang="en-GB" dirty="0"/>
              <a:t>We estimate degree distributions on both sides—nodes and communities—and sample assignments using the configuration model or the Havel–Hakimi algorithm.</a:t>
            </a:r>
          </a:p>
          <a:p>
            <a:r>
              <a:rPr lang="en-GB" dirty="0"/>
              <a:t>Weighted integer partition sampling, following </a:t>
            </a:r>
            <a:r>
              <a:rPr lang="en-GB" dirty="0" err="1"/>
              <a:t>Fristedt’s</a:t>
            </a:r>
            <a:r>
              <a:rPr lang="en-GB" dirty="0"/>
              <a:t> method with rejection, ensures that community sizes conform to realistic empirical distributions.</a:t>
            </a:r>
          </a:p>
          <a:p>
            <a:r>
              <a:rPr lang="en-GB" dirty="0"/>
              <a:t>This statistical rigor guarantees that generated partitions resemble those observed in real data.</a:t>
            </a:r>
          </a:p>
          <a:p>
            <a:endParaRPr lang="en-GB" dirty="0"/>
          </a:p>
        </p:txBody>
      </p:sp>
      <p:sp>
        <p:nvSpPr>
          <p:cNvPr id="4" name="Slide Number Placeholder 3">
            <a:extLst>
              <a:ext uri="{FF2B5EF4-FFF2-40B4-BE49-F238E27FC236}">
                <a16:creationId xmlns:a16="http://schemas.microsoft.com/office/drawing/2014/main" id="{DF553DBE-9A58-ACA0-E552-48183BA6D8DA}"/>
              </a:ext>
            </a:extLst>
          </p:cNvPr>
          <p:cNvSpPr>
            <a:spLocks noGrp="1"/>
          </p:cNvSpPr>
          <p:nvPr>
            <p:ph type="sldNum" sz="quarter" idx="5"/>
          </p:nvPr>
        </p:nvSpPr>
        <p:spPr/>
        <p:txBody>
          <a:bodyPr/>
          <a:lstStyle/>
          <a:p>
            <a:fld id="{4CF50783-AAED-1941-8BCC-9F6140F0A6B1}" type="slidenum">
              <a:rPr lang="fr-FR" smtClean="0"/>
              <a:pPr/>
              <a:t>39</a:t>
            </a:fld>
            <a:endParaRPr lang="fr-FR" dirty="0"/>
          </a:p>
        </p:txBody>
      </p:sp>
    </p:spTree>
    <p:extLst>
      <p:ext uri="{BB962C8B-B14F-4D97-AF65-F5344CB8AC3E}">
        <p14:creationId xmlns:p14="http://schemas.microsoft.com/office/powerpoint/2010/main" val="7251751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DFE9-4236-C683-BC4B-483AA68DA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9C55F-418A-9EE0-F975-B1166594E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17589-7DB5-4064-7C4E-A5358F3F9525}"/>
              </a:ext>
            </a:extLst>
          </p:cNvPr>
          <p:cNvSpPr>
            <a:spLocks noGrp="1"/>
          </p:cNvSpPr>
          <p:nvPr>
            <p:ph type="body" idx="1"/>
          </p:nvPr>
        </p:nvSpPr>
        <p:spPr/>
        <p:txBody>
          <a:bodyPr/>
          <a:lstStyle/>
          <a:p>
            <a:r>
              <a:rPr lang="en-GB" dirty="0"/>
              <a:t>Once the integer partitions are sampled, graph generation proceeds autoregressively as mentioned before, and the pseudocode on the right specifies the full procedure.</a:t>
            </a:r>
          </a:p>
          <a:p>
            <a:endParaRPr lang="en-GB" dirty="0"/>
          </a:p>
          <a:p>
            <a:r>
              <a:rPr lang="en-GB" dirty="0"/>
              <a:t>GG-GAN latent root features as well as output readout values are sampled per-community, thus the overall memory complexity during training is capped by the size of the largest possible community.</a:t>
            </a:r>
          </a:p>
          <a:p>
            <a:endParaRPr lang="en-GB" dirty="0"/>
          </a:p>
          <a:p>
            <a:r>
              <a:rPr lang="en-GB" dirty="0"/>
              <a:t>The autoregressive nature of the model is implemented via how edges are drawn conditioned on the discriminator’s output from the previous state.</a:t>
            </a:r>
          </a:p>
          <a:p>
            <a:endParaRPr lang="en-GB" dirty="0"/>
          </a:p>
          <a:p>
            <a:r>
              <a:rPr lang="en-GB" dirty="0"/>
              <a:t>Moreover, this multi-level regularization encourages consistency between fine-grained and coarsened graphs by maximizing the discriminator’s likelihood for both.</a:t>
            </a:r>
          </a:p>
        </p:txBody>
      </p:sp>
      <p:sp>
        <p:nvSpPr>
          <p:cNvPr id="4" name="Slide Number Placeholder 3">
            <a:extLst>
              <a:ext uri="{FF2B5EF4-FFF2-40B4-BE49-F238E27FC236}">
                <a16:creationId xmlns:a16="http://schemas.microsoft.com/office/drawing/2014/main" id="{F6A37198-8A0E-FC64-3759-72D5F935A5F6}"/>
              </a:ext>
            </a:extLst>
          </p:cNvPr>
          <p:cNvSpPr>
            <a:spLocks noGrp="1"/>
          </p:cNvSpPr>
          <p:nvPr>
            <p:ph type="sldNum" sz="quarter" idx="5"/>
          </p:nvPr>
        </p:nvSpPr>
        <p:spPr/>
        <p:txBody>
          <a:bodyPr/>
          <a:lstStyle/>
          <a:p>
            <a:fld id="{4CF50783-AAED-1941-8BCC-9F6140F0A6B1}" type="slidenum">
              <a:rPr lang="fr-FR" smtClean="0"/>
              <a:pPr/>
              <a:t>40</a:t>
            </a:fld>
            <a:endParaRPr lang="fr-FR" dirty="0"/>
          </a:p>
        </p:txBody>
      </p:sp>
    </p:spTree>
    <p:extLst>
      <p:ext uri="{BB962C8B-B14F-4D97-AF65-F5344CB8AC3E}">
        <p14:creationId xmlns:p14="http://schemas.microsoft.com/office/powerpoint/2010/main" val="3606936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0C1D0-4850-CEFA-1A35-97AF138F9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E762F-5655-346B-9074-BDC25370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AA553-34D5-A923-49D5-4835568A6C92}"/>
              </a:ext>
            </a:extLst>
          </p:cNvPr>
          <p:cNvSpPr>
            <a:spLocks noGrp="1"/>
          </p:cNvSpPr>
          <p:nvPr>
            <p:ph type="body" idx="1"/>
          </p:nvPr>
        </p:nvSpPr>
        <p:spPr/>
        <p:txBody>
          <a:bodyPr/>
          <a:lstStyle/>
          <a:p>
            <a:r>
              <a:rPr lang="en-GB" dirty="0"/>
              <a:t>In terms of expressivity, GGG-CRP matches or exceeds existing state-of-the-art generative models on standard benchmarks, while training and sampling much faster.</a:t>
            </a:r>
          </a:p>
          <a:p>
            <a:r>
              <a:rPr lang="en-GB" dirty="0"/>
              <a:t>It successfully captures both local motifs and global degree distributions, producing realistic and diverse graphs.</a:t>
            </a:r>
          </a:p>
        </p:txBody>
      </p:sp>
      <p:sp>
        <p:nvSpPr>
          <p:cNvPr id="4" name="Slide Number Placeholder 3">
            <a:extLst>
              <a:ext uri="{FF2B5EF4-FFF2-40B4-BE49-F238E27FC236}">
                <a16:creationId xmlns:a16="http://schemas.microsoft.com/office/drawing/2014/main" id="{9AFCEB89-6947-4338-DACF-332DEF9271E5}"/>
              </a:ext>
            </a:extLst>
          </p:cNvPr>
          <p:cNvSpPr>
            <a:spLocks noGrp="1"/>
          </p:cNvSpPr>
          <p:nvPr>
            <p:ph type="sldNum" sz="quarter" idx="5"/>
          </p:nvPr>
        </p:nvSpPr>
        <p:spPr/>
        <p:txBody>
          <a:bodyPr/>
          <a:lstStyle/>
          <a:p>
            <a:fld id="{4CF50783-AAED-1941-8BCC-9F6140F0A6B1}" type="slidenum">
              <a:rPr lang="fr-FR" smtClean="0"/>
              <a:pPr/>
              <a:t>41</a:t>
            </a:fld>
            <a:endParaRPr lang="fr-FR" dirty="0"/>
          </a:p>
        </p:txBody>
      </p:sp>
    </p:spTree>
    <p:extLst>
      <p:ext uri="{BB962C8B-B14F-4D97-AF65-F5344CB8AC3E}">
        <p14:creationId xmlns:p14="http://schemas.microsoft.com/office/powerpoint/2010/main" val="30578774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360C2-8556-6135-8C88-560018462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AD0BE-A710-09E4-9461-637EA3566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322DA-07D3-EECA-9F54-C6F066BC879B}"/>
              </a:ext>
            </a:extLst>
          </p:cNvPr>
          <p:cNvSpPr>
            <a:spLocks noGrp="1"/>
          </p:cNvSpPr>
          <p:nvPr>
            <p:ph type="body" idx="1"/>
          </p:nvPr>
        </p:nvSpPr>
        <p:spPr/>
        <p:txBody>
          <a:bodyPr/>
          <a:lstStyle/>
          <a:p>
            <a:r>
              <a:rPr lang="en-US" dirty="0"/>
              <a:t>On the experiment side, unlike GG-GAN, GGG-CRP was able to scale to the </a:t>
            </a:r>
            <a:r>
              <a:rPr lang="en-US" dirty="0" err="1"/>
              <a:t>HouseFloorplan</a:t>
            </a:r>
            <a:r>
              <a:rPr lang="en-US" dirty="0"/>
              <a:t> dataset </a:t>
            </a:r>
            <a:r>
              <a:rPr lang="en-US" dirty="0" err="1"/>
              <a:t>w.r.t.</a:t>
            </a:r>
            <a:r>
              <a:rPr lang="en-US" dirty="0"/>
              <a:t> compute and expressivity, having a very good fit of graph feature distributions both numerically and visually.</a:t>
            </a:r>
          </a:p>
          <a:p>
            <a:endParaRPr lang="en-US" dirty="0"/>
          </a:p>
          <a:p>
            <a:r>
              <a:rPr lang="en-US" dirty="0"/>
              <a:t>Unfortunately, some other graph structures like the QM9 molecule graphs were more challenging.</a:t>
            </a:r>
            <a:endParaRPr lang="en-GB" dirty="0"/>
          </a:p>
        </p:txBody>
      </p:sp>
      <p:sp>
        <p:nvSpPr>
          <p:cNvPr id="4" name="Slide Number Placeholder 3">
            <a:extLst>
              <a:ext uri="{FF2B5EF4-FFF2-40B4-BE49-F238E27FC236}">
                <a16:creationId xmlns:a16="http://schemas.microsoft.com/office/drawing/2014/main" id="{360828C3-505B-D6F0-DB65-7B8E52B42179}"/>
              </a:ext>
            </a:extLst>
          </p:cNvPr>
          <p:cNvSpPr>
            <a:spLocks noGrp="1"/>
          </p:cNvSpPr>
          <p:nvPr>
            <p:ph type="sldNum" sz="quarter" idx="5"/>
          </p:nvPr>
        </p:nvSpPr>
        <p:spPr/>
        <p:txBody>
          <a:bodyPr/>
          <a:lstStyle/>
          <a:p>
            <a:fld id="{4CF50783-AAED-1941-8BCC-9F6140F0A6B1}" type="slidenum">
              <a:rPr lang="fr-FR" smtClean="0"/>
              <a:pPr/>
              <a:t>42</a:t>
            </a:fld>
            <a:endParaRPr lang="fr-FR" dirty="0"/>
          </a:p>
        </p:txBody>
      </p:sp>
    </p:spTree>
    <p:extLst>
      <p:ext uri="{BB962C8B-B14F-4D97-AF65-F5344CB8AC3E}">
        <p14:creationId xmlns:p14="http://schemas.microsoft.com/office/powerpoint/2010/main" val="29111340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89EB-1470-D600-0F32-8E4B4C790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9FB49-9691-98A2-04F3-17DAAC729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B150E-AF44-41A4-6908-FD09FF8252DE}"/>
              </a:ext>
            </a:extLst>
          </p:cNvPr>
          <p:cNvSpPr>
            <a:spLocks noGrp="1"/>
          </p:cNvSpPr>
          <p:nvPr>
            <p:ph type="body" idx="1"/>
          </p:nvPr>
        </p:nvSpPr>
        <p:spPr/>
        <p:txBody>
          <a:bodyPr/>
          <a:lstStyle/>
          <a:p>
            <a:r>
              <a:rPr lang="en-GB" dirty="0"/>
              <a:t>Regarding novelty of generated samples, on the other hand, we outperformed the baseline. This was measured by the number of different isomorphism classes generated during evaluation.</a:t>
            </a:r>
          </a:p>
        </p:txBody>
      </p:sp>
      <p:sp>
        <p:nvSpPr>
          <p:cNvPr id="4" name="Slide Number Placeholder 3">
            <a:extLst>
              <a:ext uri="{FF2B5EF4-FFF2-40B4-BE49-F238E27FC236}">
                <a16:creationId xmlns:a16="http://schemas.microsoft.com/office/drawing/2014/main" id="{70E732E2-379C-1B85-C809-AFE6ECC80C34}"/>
              </a:ext>
            </a:extLst>
          </p:cNvPr>
          <p:cNvSpPr>
            <a:spLocks noGrp="1"/>
          </p:cNvSpPr>
          <p:nvPr>
            <p:ph type="sldNum" sz="quarter" idx="5"/>
          </p:nvPr>
        </p:nvSpPr>
        <p:spPr/>
        <p:txBody>
          <a:bodyPr/>
          <a:lstStyle/>
          <a:p>
            <a:fld id="{4CF50783-AAED-1941-8BCC-9F6140F0A6B1}" type="slidenum">
              <a:rPr lang="fr-FR" smtClean="0"/>
              <a:pPr/>
              <a:t>43</a:t>
            </a:fld>
            <a:endParaRPr lang="fr-FR" dirty="0"/>
          </a:p>
        </p:txBody>
      </p:sp>
    </p:spTree>
    <p:extLst>
      <p:ext uri="{BB962C8B-B14F-4D97-AF65-F5344CB8AC3E}">
        <p14:creationId xmlns:p14="http://schemas.microsoft.com/office/powerpoint/2010/main" val="2370124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ED82-392F-1F4D-3A3D-B12A0997B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0963C-3965-B0D6-11BD-F467F89FF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A3125-A0CB-64C4-0DEE-6D4054788154}"/>
              </a:ext>
            </a:extLst>
          </p:cNvPr>
          <p:cNvSpPr>
            <a:spLocks noGrp="1"/>
          </p:cNvSpPr>
          <p:nvPr>
            <p:ph type="body" idx="1"/>
          </p:nvPr>
        </p:nvSpPr>
        <p:spPr/>
        <p:txBody>
          <a:bodyPr/>
          <a:lstStyle/>
          <a:p>
            <a:r>
              <a:rPr lang="en-US" dirty="0"/>
              <a:t>To summarize, our first technique was a permutation-equivariant autoregressive GAN.</a:t>
            </a:r>
          </a:p>
          <a:p>
            <a:endParaRPr lang="en-US" dirty="0"/>
          </a:p>
          <a:p>
            <a:r>
              <a:rPr lang="en-US" dirty="0"/>
              <a:t>We saw how it made the GG-GAN baseline’s samples more novel, while still preserving the isomorphism consistency property.</a:t>
            </a:r>
          </a:p>
          <a:p>
            <a:endParaRPr lang="en-GB" dirty="0"/>
          </a:p>
          <a:p>
            <a:r>
              <a:rPr lang="en-US" dirty="0"/>
              <a:t>GGG-CRP also reaped the scalability benefits of autoregressive models, yet unfortunately it inherited some of their issues with overfitting causing low expressivity.</a:t>
            </a:r>
          </a:p>
          <a:p>
            <a:endParaRPr lang="en-US" dirty="0"/>
          </a:p>
          <a:p>
            <a:r>
              <a:rPr lang="en-US" dirty="0"/>
              <a:t>We conjectured that the issue lay most likely in the choice to sample communities via a categorical distribution and that it is most likely required to generatively model graphs between communities as well. In addition, we know GANs are difficult to train and that more powerful generative models have been developed in recent years.</a:t>
            </a:r>
            <a:endParaRPr lang="en-GB" dirty="0"/>
          </a:p>
        </p:txBody>
      </p:sp>
      <p:sp>
        <p:nvSpPr>
          <p:cNvPr id="4" name="Slide Number Placeholder 3">
            <a:extLst>
              <a:ext uri="{FF2B5EF4-FFF2-40B4-BE49-F238E27FC236}">
                <a16:creationId xmlns:a16="http://schemas.microsoft.com/office/drawing/2014/main" id="{A8D5CC46-2EA0-5F71-C187-ECA776E0B4BF}"/>
              </a:ext>
            </a:extLst>
          </p:cNvPr>
          <p:cNvSpPr>
            <a:spLocks noGrp="1"/>
          </p:cNvSpPr>
          <p:nvPr>
            <p:ph type="sldNum" sz="quarter" idx="5"/>
          </p:nvPr>
        </p:nvSpPr>
        <p:spPr/>
        <p:txBody>
          <a:bodyPr/>
          <a:lstStyle/>
          <a:p>
            <a:fld id="{4CF50783-AAED-1941-8BCC-9F6140F0A6B1}" type="slidenum">
              <a:rPr lang="fr-FR" smtClean="0"/>
              <a:pPr/>
              <a:t>44</a:t>
            </a:fld>
            <a:endParaRPr lang="fr-FR" dirty="0"/>
          </a:p>
        </p:txBody>
      </p:sp>
    </p:spTree>
    <p:extLst>
      <p:ext uri="{BB962C8B-B14F-4D97-AF65-F5344CB8AC3E}">
        <p14:creationId xmlns:p14="http://schemas.microsoft.com/office/powerpoint/2010/main" val="7969757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650E5-FB67-0876-A190-FB4B2FF7E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D2279-F50C-3DA2-31AC-97DC35ED5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867D1-660B-14D8-2C4E-0A14D93ADD46}"/>
              </a:ext>
            </a:extLst>
          </p:cNvPr>
          <p:cNvSpPr>
            <a:spLocks noGrp="1"/>
          </p:cNvSpPr>
          <p:nvPr>
            <p:ph type="body" idx="1"/>
          </p:nvPr>
        </p:nvSpPr>
        <p:spPr/>
        <p:txBody>
          <a:bodyPr/>
          <a:lstStyle/>
          <a:p>
            <a:r>
              <a:rPr lang="en-US" dirty="0"/>
              <a:t>This discussion naturally flows into the motivation behind our second scalable graph generation technique. Here, we fully embraced the fractal nature of large-scale graph data and assume that generative models which are biased to be consistent across different levels of graph abstraction are superior w.r.t scalability in performance, while generating coarser graph levels before finer level generation conditioned on the coarser priors yields the best acceleration benefits. Achieving this “as above, so below” effect was deemed to be possible only by moving from GANs to diffusion models.</a:t>
            </a:r>
          </a:p>
          <a:p>
            <a:endParaRPr lang="en-US" dirty="0"/>
          </a:p>
          <a:p>
            <a:r>
              <a:rPr lang="en-US" dirty="0"/>
              <a:t>This hierarchical graph structure inductive bias is motivated by the often multi-level heterogeneous nature of large-scale real-world graphs like transport networks, electronic circuits, etc.</a:t>
            </a:r>
          </a:p>
          <a:p>
            <a:endParaRPr lang="en-US" dirty="0"/>
          </a:p>
          <a:p>
            <a:r>
              <a:rPr lang="en-US" dirty="0"/>
              <a:t>Thus, now we will present </a:t>
            </a:r>
            <a:r>
              <a:rPr lang="en-US" dirty="0" err="1"/>
              <a:t>HiGenDiff</a:t>
            </a:r>
            <a:r>
              <a:rPr lang="en-US" dirty="0"/>
              <a:t>, an extension of the work of Karami et al. on hierarchical graph generation, with improved experimental results due to more detailed model ablation and formalized theoretical guarantees.</a:t>
            </a:r>
            <a:endParaRPr lang="en-GB" dirty="0"/>
          </a:p>
        </p:txBody>
      </p:sp>
      <p:sp>
        <p:nvSpPr>
          <p:cNvPr id="4" name="Slide Number Placeholder 3">
            <a:extLst>
              <a:ext uri="{FF2B5EF4-FFF2-40B4-BE49-F238E27FC236}">
                <a16:creationId xmlns:a16="http://schemas.microsoft.com/office/drawing/2014/main" id="{9F40946E-2AEB-854E-772E-905DF07B8092}"/>
              </a:ext>
            </a:extLst>
          </p:cNvPr>
          <p:cNvSpPr>
            <a:spLocks noGrp="1"/>
          </p:cNvSpPr>
          <p:nvPr>
            <p:ph type="sldNum" sz="quarter" idx="5"/>
          </p:nvPr>
        </p:nvSpPr>
        <p:spPr/>
        <p:txBody>
          <a:bodyPr/>
          <a:lstStyle/>
          <a:p>
            <a:fld id="{4CF50783-AAED-1941-8BCC-9F6140F0A6B1}" type="slidenum">
              <a:rPr lang="fr-FR" smtClean="0"/>
              <a:pPr/>
              <a:t>45</a:t>
            </a:fld>
            <a:endParaRPr lang="fr-FR" dirty="0"/>
          </a:p>
        </p:txBody>
      </p:sp>
    </p:spTree>
    <p:extLst>
      <p:ext uri="{BB962C8B-B14F-4D97-AF65-F5344CB8AC3E}">
        <p14:creationId xmlns:p14="http://schemas.microsoft.com/office/powerpoint/2010/main" val="41865064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A05A-99D1-D700-1A8E-4FAE2192C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6839A-D6F4-FF67-32FB-7FCFBDC1B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83077-18D8-EF19-41A7-558B5FB79E9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F065FF0-EC42-C449-0EDF-AB8072ECF6C2}"/>
              </a:ext>
            </a:extLst>
          </p:cNvPr>
          <p:cNvSpPr>
            <a:spLocks noGrp="1"/>
          </p:cNvSpPr>
          <p:nvPr>
            <p:ph type="sldNum" sz="quarter" idx="5"/>
          </p:nvPr>
        </p:nvSpPr>
        <p:spPr/>
        <p:txBody>
          <a:bodyPr/>
          <a:lstStyle/>
          <a:p>
            <a:fld id="{4CF50783-AAED-1941-8BCC-9F6140F0A6B1}" type="slidenum">
              <a:rPr lang="fr-FR" smtClean="0"/>
              <a:pPr/>
              <a:t>46</a:t>
            </a:fld>
            <a:endParaRPr lang="fr-FR" dirty="0"/>
          </a:p>
        </p:txBody>
      </p:sp>
    </p:spTree>
    <p:extLst>
      <p:ext uri="{BB962C8B-B14F-4D97-AF65-F5344CB8AC3E}">
        <p14:creationId xmlns:p14="http://schemas.microsoft.com/office/powerpoint/2010/main" val="26312622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4D46-95AF-C086-B205-2B96064B5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406AC-3155-CB96-BF4F-571014963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D5161-EA41-11C5-918A-6849264A03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816BEAE-0560-6E98-23EB-147A9255F702}"/>
              </a:ext>
            </a:extLst>
          </p:cNvPr>
          <p:cNvSpPr>
            <a:spLocks noGrp="1"/>
          </p:cNvSpPr>
          <p:nvPr>
            <p:ph type="sldNum" sz="quarter" idx="5"/>
          </p:nvPr>
        </p:nvSpPr>
        <p:spPr/>
        <p:txBody>
          <a:bodyPr/>
          <a:lstStyle/>
          <a:p>
            <a:fld id="{4CF50783-AAED-1941-8BCC-9F6140F0A6B1}" type="slidenum">
              <a:rPr lang="fr-FR" smtClean="0"/>
              <a:pPr/>
              <a:t>47</a:t>
            </a:fld>
            <a:endParaRPr lang="fr-FR" dirty="0"/>
          </a:p>
        </p:txBody>
      </p:sp>
    </p:spTree>
    <p:extLst>
      <p:ext uri="{BB962C8B-B14F-4D97-AF65-F5344CB8AC3E}">
        <p14:creationId xmlns:p14="http://schemas.microsoft.com/office/powerpoint/2010/main" val="33169303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F0660-E99E-F021-C1B8-F58D704F3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09578-E165-134C-6E43-98DF8E3E9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E06EC-7E64-418E-44C6-13C5704C50A5}"/>
              </a:ext>
            </a:extLst>
          </p:cNvPr>
          <p:cNvSpPr>
            <a:spLocks noGrp="1"/>
          </p:cNvSpPr>
          <p:nvPr>
            <p:ph type="body" idx="1"/>
          </p:nvPr>
        </p:nvSpPr>
        <p:spPr/>
        <p:txBody>
          <a:bodyPr/>
          <a:lstStyle/>
          <a:p>
            <a:r>
              <a:rPr lang="en-GB" dirty="0"/>
              <a:t>Our approach builds on previous hierarchical graph diffusion frameworks, notably </a:t>
            </a:r>
            <a:r>
              <a:rPr lang="en-GB" dirty="0" err="1"/>
              <a:t>MRGrad</a:t>
            </a:r>
            <a:r>
              <a:rPr lang="en-GB" dirty="0"/>
              <a:t>, which introduced multi-resolution graph diffusion. </a:t>
            </a:r>
            <a:r>
              <a:rPr lang="en-GB" dirty="0" err="1"/>
              <a:t>MRGrad</a:t>
            </a:r>
            <a:r>
              <a:rPr lang="en-GB" dirty="0"/>
              <a:t> captures structure at different granularities through nested diffusion chains. </a:t>
            </a:r>
          </a:p>
          <a:p>
            <a:endParaRPr lang="en-GB" dirty="0"/>
          </a:p>
          <a:p>
            <a:r>
              <a:rPr lang="en-GB" dirty="0"/>
              <a:t>Let’s see the idea visually. On the left is an example graph hierarchy with two coarsening levels, the upper coarser graph between communities conditioning which edges can exist between the nodes in the lower finer level. On the right is the adjacency matrix representation of the same structures.</a:t>
            </a:r>
          </a:p>
          <a:p>
            <a:endParaRPr lang="en-GB" dirty="0"/>
          </a:p>
          <a:p>
            <a:r>
              <a:rPr lang="en-GB" dirty="0"/>
              <a:t>Estimating the likelihood of this hierarchical graph and generating it is again a simple application of Bayes’ rule. Namely, one diffusion model handles sampling the root graph i.e. the top level in the hierarchy, while we exploit the independence between intra-community and inter-community edges to have separate diffusion models for community and bipartite subgraphs. The scalability benefits arise from the conditioning, namely from the adjacency matrix representation on the right we observe that the coarse-level diffusion already eliminates checking whole blocks of edge logits so that the finer-level diffusion processes have a lower cost compared to the naïve baseline.</a:t>
            </a:r>
          </a:p>
          <a:p>
            <a:endParaRPr lang="en-GB" dirty="0"/>
          </a:p>
        </p:txBody>
      </p:sp>
      <p:sp>
        <p:nvSpPr>
          <p:cNvPr id="4" name="Slide Number Placeholder 3">
            <a:extLst>
              <a:ext uri="{FF2B5EF4-FFF2-40B4-BE49-F238E27FC236}">
                <a16:creationId xmlns:a16="http://schemas.microsoft.com/office/drawing/2014/main" id="{E5300547-F52C-95B7-7C3C-E0666D9BEEE3}"/>
              </a:ext>
            </a:extLst>
          </p:cNvPr>
          <p:cNvSpPr>
            <a:spLocks noGrp="1"/>
          </p:cNvSpPr>
          <p:nvPr>
            <p:ph type="sldNum" sz="quarter" idx="5"/>
          </p:nvPr>
        </p:nvSpPr>
        <p:spPr/>
        <p:txBody>
          <a:bodyPr/>
          <a:lstStyle/>
          <a:p>
            <a:fld id="{4CF50783-AAED-1941-8BCC-9F6140F0A6B1}" type="slidenum">
              <a:rPr lang="fr-FR" smtClean="0"/>
              <a:pPr/>
              <a:t>48</a:t>
            </a:fld>
            <a:endParaRPr lang="fr-FR" dirty="0"/>
          </a:p>
        </p:txBody>
      </p:sp>
    </p:spTree>
    <p:extLst>
      <p:ext uri="{BB962C8B-B14F-4D97-AF65-F5344CB8AC3E}">
        <p14:creationId xmlns:p14="http://schemas.microsoft.com/office/powerpoint/2010/main" val="42206312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B8F9-7A6A-AF3B-7B78-69A15D0EC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62C8B-FB19-1C65-4D80-F84B7FAB4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0A16B-E5C1-1E43-F3C3-F8648DF43F79}"/>
              </a:ext>
            </a:extLst>
          </p:cNvPr>
          <p:cNvSpPr>
            <a:spLocks noGrp="1"/>
          </p:cNvSpPr>
          <p:nvPr>
            <p:ph type="body" idx="1"/>
          </p:nvPr>
        </p:nvSpPr>
        <p:spPr/>
        <p:txBody>
          <a:bodyPr/>
          <a:lstStyle/>
          <a:p>
            <a:r>
              <a:rPr lang="en-US" dirty="0"/>
              <a:t>This approach seems familiar to COINs, doesn’t it? It seems we are employing the same idea, but in the domain of graph generation. </a:t>
            </a:r>
          </a:p>
          <a:p>
            <a:endParaRPr lang="en-US" dirty="0"/>
          </a:p>
          <a:p>
            <a:r>
              <a:rPr lang="en-US" dirty="0"/>
              <a:t>Thus, we can ask the same theoretical questions as before: what is the computational cost of adding the extra step of generating coarser representations and when it is faster than the baseline? Analogous to comparing the number of generated samples for COINs to the baseline, we compare </a:t>
            </a:r>
            <a:r>
              <a:rPr lang="en-US" dirty="0" err="1"/>
              <a:t>HiGenDiff‘s</a:t>
            </a:r>
            <a:r>
              <a:rPr lang="en-US" dirty="0"/>
              <a:t> expected number of generated adjacency matrix entries.</a:t>
            </a:r>
          </a:p>
          <a:p>
            <a:endParaRPr lang="en-US" dirty="0"/>
          </a:p>
          <a:p>
            <a:r>
              <a:rPr lang="en-US" dirty="0"/>
              <a:t>Under the assumption that the new community assignment produces new top level graphs in the hierarchy that are G(</a:t>
            </a:r>
            <a:r>
              <a:rPr lang="en-US" dirty="0" err="1"/>
              <a:t>n,p</a:t>
            </a:r>
            <a:r>
              <a:rPr lang="en-US" dirty="0"/>
              <a:t>)s, we provide</a:t>
            </a:r>
          </a:p>
          <a:p>
            <a:endParaRPr lang="en-US" dirty="0"/>
          </a:p>
          <a:p>
            <a:r>
              <a:rPr lang="en-US" dirty="0"/>
              <a:t>the computation cost of </a:t>
            </a:r>
            <a:r>
              <a:rPr lang="en-US" dirty="0" err="1"/>
              <a:t>HiGenDiff</a:t>
            </a:r>
            <a:r>
              <a:rPr lang="en-US" dirty="0"/>
              <a:t> and its bounds, showing that in the best that you go down to n^(4/3) cost although the max is twice the baseline, </a:t>
            </a:r>
          </a:p>
          <a:p>
            <a:endParaRPr lang="en-US" dirty="0"/>
          </a:p>
          <a:p>
            <a:r>
              <a:rPr lang="en-US" dirty="0"/>
              <a:t>so there is a maximum density of the new top level graph that will keep </a:t>
            </a:r>
            <a:r>
              <a:rPr lang="en-US" dirty="0" err="1"/>
              <a:t>HiGenDiff</a:t>
            </a:r>
            <a:r>
              <a:rPr lang="en-US" dirty="0"/>
              <a:t> feasibly faster. </a:t>
            </a:r>
          </a:p>
        </p:txBody>
      </p:sp>
      <p:sp>
        <p:nvSpPr>
          <p:cNvPr id="4" name="Slide Number Placeholder 3">
            <a:extLst>
              <a:ext uri="{FF2B5EF4-FFF2-40B4-BE49-F238E27FC236}">
                <a16:creationId xmlns:a16="http://schemas.microsoft.com/office/drawing/2014/main" id="{BF90C862-4060-961E-B28D-DE7563665348}"/>
              </a:ext>
            </a:extLst>
          </p:cNvPr>
          <p:cNvSpPr>
            <a:spLocks noGrp="1"/>
          </p:cNvSpPr>
          <p:nvPr>
            <p:ph type="sldNum" sz="quarter" idx="5"/>
          </p:nvPr>
        </p:nvSpPr>
        <p:spPr/>
        <p:txBody>
          <a:bodyPr/>
          <a:lstStyle/>
          <a:p>
            <a:fld id="{4CF50783-AAED-1941-8BCC-9F6140F0A6B1}" type="slidenum">
              <a:rPr lang="fr-FR" smtClean="0"/>
              <a:pPr/>
              <a:t>49</a:t>
            </a:fld>
            <a:endParaRPr lang="fr-FR" dirty="0"/>
          </a:p>
        </p:txBody>
      </p:sp>
    </p:spTree>
    <p:extLst>
      <p:ext uri="{BB962C8B-B14F-4D97-AF65-F5344CB8AC3E}">
        <p14:creationId xmlns:p14="http://schemas.microsoft.com/office/powerpoint/2010/main" val="14924777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0881-517F-4D72-4C54-8448C9880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5C728-CD57-41DD-E426-E8F3B9F82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B0FA9-5961-C80D-D997-5FF0061D292A}"/>
              </a:ext>
            </a:extLst>
          </p:cNvPr>
          <p:cNvSpPr>
            <a:spLocks noGrp="1"/>
          </p:cNvSpPr>
          <p:nvPr>
            <p:ph type="body" idx="1"/>
          </p:nvPr>
        </p:nvSpPr>
        <p:spPr/>
        <p:txBody>
          <a:bodyPr/>
          <a:lstStyle/>
          <a:p>
            <a:r>
              <a:rPr lang="en-US" dirty="0"/>
              <a:t>On the model design side, our contributions lie in a detailed model ablation of the accuracy of how the root graph’s edge weights are modeled and diffused. Experimentally, this was found to have a great effect on expressivity performance and what separated us from the baselines. To provide more details, the choice is whether to allow the top level’s edge weights to encode how many edges are present in each lower level subgraph as a possibly bucketized ordinal or unordered integer, or just provide binary adjacency information.</a:t>
            </a:r>
          </a:p>
          <a:p>
            <a:endParaRPr lang="en-US" dirty="0"/>
          </a:p>
          <a:p>
            <a:r>
              <a:rPr lang="en-US" dirty="0"/>
              <a:t>In addition, we questioned the need for conditioning the community and bipartite diffusion models on the full parent-level graphs via their embeddings, or one can just provide minimal conditioning through just the expected graph size and generate all levels almost independently. We deemed this the Naïve configuration.</a:t>
            </a:r>
            <a:endParaRPr lang="en-GB" dirty="0"/>
          </a:p>
        </p:txBody>
      </p:sp>
      <p:sp>
        <p:nvSpPr>
          <p:cNvPr id="4" name="Slide Number Placeholder 3">
            <a:extLst>
              <a:ext uri="{FF2B5EF4-FFF2-40B4-BE49-F238E27FC236}">
                <a16:creationId xmlns:a16="http://schemas.microsoft.com/office/drawing/2014/main" id="{C56F001A-5CF6-CEA1-474C-1D74EB07DF33}"/>
              </a:ext>
            </a:extLst>
          </p:cNvPr>
          <p:cNvSpPr>
            <a:spLocks noGrp="1"/>
          </p:cNvSpPr>
          <p:nvPr>
            <p:ph type="sldNum" sz="quarter" idx="5"/>
          </p:nvPr>
        </p:nvSpPr>
        <p:spPr/>
        <p:txBody>
          <a:bodyPr/>
          <a:lstStyle/>
          <a:p>
            <a:fld id="{4CF50783-AAED-1941-8BCC-9F6140F0A6B1}" type="slidenum">
              <a:rPr lang="fr-FR" smtClean="0"/>
              <a:pPr/>
              <a:t>50</a:t>
            </a:fld>
            <a:endParaRPr lang="fr-FR" dirty="0"/>
          </a:p>
        </p:txBody>
      </p:sp>
    </p:spTree>
    <p:extLst>
      <p:ext uri="{BB962C8B-B14F-4D97-AF65-F5344CB8AC3E}">
        <p14:creationId xmlns:p14="http://schemas.microsoft.com/office/powerpoint/2010/main" val="6682933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E0257-A01E-A156-31CD-761B5EECA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EA479-9739-E8B5-0449-1E01F0CC3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EEA53-A154-EEFA-B996-738FA9BD3D2B}"/>
              </a:ext>
            </a:extLst>
          </p:cNvPr>
          <p:cNvSpPr>
            <a:spLocks noGrp="1"/>
          </p:cNvSpPr>
          <p:nvPr>
            <p:ph type="body" idx="1"/>
          </p:nvPr>
        </p:nvSpPr>
        <p:spPr/>
        <p:txBody>
          <a:bodyPr/>
          <a:lstStyle/>
          <a:p>
            <a:r>
              <a:rPr lang="en-GB" dirty="0"/>
              <a:t>To evaluate </a:t>
            </a:r>
            <a:r>
              <a:rPr lang="en-GB" dirty="0" err="1"/>
              <a:t>HiGenDiff</a:t>
            </a:r>
            <a:r>
              <a:rPr lang="en-GB" dirty="0"/>
              <a:t>, we utilized 4 graph collections considered also by the baselines, as well as adding two new interesting community structures from ring-of-cliques and LFR benchmark graphs. We can observe that for all datasets except SBM hierarchies which have very dense root graphs there are some measurable acceleration benefits.</a:t>
            </a:r>
          </a:p>
        </p:txBody>
      </p:sp>
      <p:sp>
        <p:nvSpPr>
          <p:cNvPr id="4" name="Slide Number Placeholder 3">
            <a:extLst>
              <a:ext uri="{FF2B5EF4-FFF2-40B4-BE49-F238E27FC236}">
                <a16:creationId xmlns:a16="http://schemas.microsoft.com/office/drawing/2014/main" id="{7952679B-9758-4579-A0B5-19EEFC3EBEFE}"/>
              </a:ext>
            </a:extLst>
          </p:cNvPr>
          <p:cNvSpPr>
            <a:spLocks noGrp="1"/>
          </p:cNvSpPr>
          <p:nvPr>
            <p:ph type="sldNum" sz="quarter" idx="5"/>
          </p:nvPr>
        </p:nvSpPr>
        <p:spPr/>
        <p:txBody>
          <a:bodyPr/>
          <a:lstStyle/>
          <a:p>
            <a:fld id="{4CF50783-AAED-1941-8BCC-9F6140F0A6B1}" type="slidenum">
              <a:rPr lang="fr-FR" smtClean="0"/>
              <a:pPr/>
              <a:t>51</a:t>
            </a:fld>
            <a:endParaRPr lang="fr-FR" dirty="0"/>
          </a:p>
        </p:txBody>
      </p:sp>
    </p:spTree>
    <p:extLst>
      <p:ext uri="{BB962C8B-B14F-4D97-AF65-F5344CB8AC3E}">
        <p14:creationId xmlns:p14="http://schemas.microsoft.com/office/powerpoint/2010/main" val="21609721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F80E9-B421-87EF-EDD5-39785E0DB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876D3-7781-4E5A-0FEC-BCA76EF91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4624E-DE3D-193E-4344-4B32A57099CB}"/>
              </a:ext>
            </a:extLst>
          </p:cNvPr>
          <p:cNvSpPr>
            <a:spLocks noGrp="1"/>
          </p:cNvSpPr>
          <p:nvPr>
            <p:ph type="body" idx="1"/>
          </p:nvPr>
        </p:nvSpPr>
        <p:spPr/>
        <p:txBody>
          <a:bodyPr/>
          <a:lstStyle/>
          <a:p>
            <a:r>
              <a:rPr lang="en-GB" dirty="0"/>
              <a:t>In terms of expressivity, </a:t>
            </a:r>
            <a:r>
              <a:rPr lang="en-GB" dirty="0" err="1"/>
              <a:t>HiGenDiff</a:t>
            </a:r>
            <a:r>
              <a:rPr lang="en-GB" dirty="0"/>
              <a:t> generated graphs spanning multiple domains—biological, social, and technological—that matched the statistical features of their originals.</a:t>
            </a:r>
          </a:p>
          <a:p>
            <a:r>
              <a:rPr lang="en-GB" dirty="0"/>
              <a:t>It maintained realistic degree and motif distributions while producing novel configurations unseen during training.</a:t>
            </a:r>
          </a:p>
        </p:txBody>
      </p:sp>
      <p:sp>
        <p:nvSpPr>
          <p:cNvPr id="4" name="Slide Number Placeholder 3">
            <a:extLst>
              <a:ext uri="{FF2B5EF4-FFF2-40B4-BE49-F238E27FC236}">
                <a16:creationId xmlns:a16="http://schemas.microsoft.com/office/drawing/2014/main" id="{901A263E-B12F-6179-7F79-A6D4269388FF}"/>
              </a:ext>
            </a:extLst>
          </p:cNvPr>
          <p:cNvSpPr>
            <a:spLocks noGrp="1"/>
          </p:cNvSpPr>
          <p:nvPr>
            <p:ph type="sldNum" sz="quarter" idx="5"/>
          </p:nvPr>
        </p:nvSpPr>
        <p:spPr/>
        <p:txBody>
          <a:bodyPr/>
          <a:lstStyle/>
          <a:p>
            <a:fld id="{4CF50783-AAED-1941-8BCC-9F6140F0A6B1}" type="slidenum">
              <a:rPr lang="fr-FR" smtClean="0"/>
              <a:pPr/>
              <a:t>52</a:t>
            </a:fld>
            <a:endParaRPr lang="fr-FR" dirty="0"/>
          </a:p>
        </p:txBody>
      </p:sp>
    </p:spTree>
    <p:extLst>
      <p:ext uri="{BB962C8B-B14F-4D97-AF65-F5344CB8AC3E}">
        <p14:creationId xmlns:p14="http://schemas.microsoft.com/office/powerpoint/2010/main" val="39446244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005D6-F813-24F7-71B1-08AD3F341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E6D25-E4F1-5DFB-C19C-50A9373BC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7C986-D643-B266-285B-4F8D4B34FF3A}"/>
              </a:ext>
            </a:extLst>
          </p:cNvPr>
          <p:cNvSpPr>
            <a:spLocks noGrp="1"/>
          </p:cNvSpPr>
          <p:nvPr>
            <p:ph type="body" idx="1"/>
          </p:nvPr>
        </p:nvSpPr>
        <p:spPr/>
        <p:txBody>
          <a:bodyPr/>
          <a:lstStyle/>
          <a:p>
            <a:r>
              <a:rPr lang="en-US" dirty="0"/>
              <a:t>Here are some visual examples of true vs generated hierarchical graphs. We can observe amazing matching of the distributions.</a:t>
            </a:r>
            <a:endParaRPr lang="en-GB" dirty="0"/>
          </a:p>
        </p:txBody>
      </p:sp>
      <p:sp>
        <p:nvSpPr>
          <p:cNvPr id="4" name="Slide Number Placeholder 3">
            <a:extLst>
              <a:ext uri="{FF2B5EF4-FFF2-40B4-BE49-F238E27FC236}">
                <a16:creationId xmlns:a16="http://schemas.microsoft.com/office/drawing/2014/main" id="{DB7EC6C5-3DAC-3925-1577-2758D3506C51}"/>
              </a:ext>
            </a:extLst>
          </p:cNvPr>
          <p:cNvSpPr>
            <a:spLocks noGrp="1"/>
          </p:cNvSpPr>
          <p:nvPr>
            <p:ph type="sldNum" sz="quarter" idx="5"/>
          </p:nvPr>
        </p:nvSpPr>
        <p:spPr/>
        <p:txBody>
          <a:bodyPr/>
          <a:lstStyle/>
          <a:p>
            <a:fld id="{4CF50783-AAED-1941-8BCC-9F6140F0A6B1}" type="slidenum">
              <a:rPr lang="fr-FR" smtClean="0"/>
              <a:pPr/>
              <a:t>53</a:t>
            </a:fld>
            <a:endParaRPr lang="fr-FR" dirty="0"/>
          </a:p>
        </p:txBody>
      </p:sp>
    </p:spTree>
    <p:extLst>
      <p:ext uri="{BB962C8B-B14F-4D97-AF65-F5344CB8AC3E}">
        <p14:creationId xmlns:p14="http://schemas.microsoft.com/office/powerpoint/2010/main" val="720492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0E505-9CE7-8980-7C36-6FD03284D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43485-F0DA-5739-35AA-93273D2AD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6E93A-1646-AB84-7FD2-6CF79BB41725}"/>
              </a:ext>
            </a:extLst>
          </p:cNvPr>
          <p:cNvSpPr>
            <a:spLocks noGrp="1"/>
          </p:cNvSpPr>
          <p:nvPr>
            <p:ph type="body" idx="1"/>
          </p:nvPr>
        </p:nvSpPr>
        <p:spPr/>
        <p:txBody>
          <a:bodyPr/>
          <a:lstStyle/>
          <a:p>
            <a:r>
              <a:rPr lang="en-GB" dirty="0"/>
              <a:t>Ablation studies confirmed the importance of hierarchical conditioning: removing coarse-level priors caused noticeable drops in both expressivity and structural fidelity.</a:t>
            </a:r>
          </a:p>
          <a:p>
            <a:r>
              <a:rPr lang="en-GB" dirty="0"/>
              <a:t>This supports our theoretical claim that multi-level organization acts as a stabilizing inductive bias.</a:t>
            </a:r>
          </a:p>
        </p:txBody>
      </p:sp>
      <p:sp>
        <p:nvSpPr>
          <p:cNvPr id="4" name="Slide Number Placeholder 3">
            <a:extLst>
              <a:ext uri="{FF2B5EF4-FFF2-40B4-BE49-F238E27FC236}">
                <a16:creationId xmlns:a16="http://schemas.microsoft.com/office/drawing/2014/main" id="{81F05B94-ABCE-47F9-60F5-ECF78517D1BC}"/>
              </a:ext>
            </a:extLst>
          </p:cNvPr>
          <p:cNvSpPr>
            <a:spLocks noGrp="1"/>
          </p:cNvSpPr>
          <p:nvPr>
            <p:ph type="sldNum" sz="quarter" idx="5"/>
          </p:nvPr>
        </p:nvSpPr>
        <p:spPr/>
        <p:txBody>
          <a:bodyPr/>
          <a:lstStyle/>
          <a:p>
            <a:fld id="{4CF50783-AAED-1941-8BCC-9F6140F0A6B1}" type="slidenum">
              <a:rPr lang="fr-FR" smtClean="0"/>
              <a:pPr/>
              <a:t>54</a:t>
            </a:fld>
            <a:endParaRPr lang="fr-FR" dirty="0"/>
          </a:p>
        </p:txBody>
      </p:sp>
    </p:spTree>
    <p:extLst>
      <p:ext uri="{BB962C8B-B14F-4D97-AF65-F5344CB8AC3E}">
        <p14:creationId xmlns:p14="http://schemas.microsoft.com/office/powerpoint/2010/main" val="33984198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F2FC7-D587-93C8-1776-A0A489071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25FB8-F8C0-F40C-F120-39F642587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83EB66-B8E4-5C54-C5D3-64D447392027}"/>
              </a:ext>
            </a:extLst>
          </p:cNvPr>
          <p:cNvSpPr>
            <a:spLocks noGrp="1"/>
          </p:cNvSpPr>
          <p:nvPr>
            <p:ph type="body" idx="1"/>
          </p:nvPr>
        </p:nvSpPr>
        <p:spPr/>
        <p:txBody>
          <a:bodyPr/>
          <a:lstStyle/>
          <a:p>
            <a:r>
              <a:rPr lang="en-US" dirty="0"/>
              <a:t>However, to put the performance in context, we compare graph feature distribution distances between true and generated distributions to those of baselines, and we can see that often </a:t>
            </a:r>
            <a:r>
              <a:rPr lang="en-US" dirty="0" err="1"/>
              <a:t>HiGenDiff</a:t>
            </a:r>
            <a:r>
              <a:rPr lang="en-US" dirty="0"/>
              <a:t> is the best model, if not the second best. Interestingly, in some cases even the Naïve configuration already beats all baselines.</a:t>
            </a:r>
            <a:endParaRPr lang="en-GB" dirty="0"/>
          </a:p>
        </p:txBody>
      </p:sp>
      <p:sp>
        <p:nvSpPr>
          <p:cNvPr id="4" name="Slide Number Placeholder 3">
            <a:extLst>
              <a:ext uri="{FF2B5EF4-FFF2-40B4-BE49-F238E27FC236}">
                <a16:creationId xmlns:a16="http://schemas.microsoft.com/office/drawing/2014/main" id="{1672FE6A-DE99-6A1A-0B3F-CC36519FA3E7}"/>
              </a:ext>
            </a:extLst>
          </p:cNvPr>
          <p:cNvSpPr>
            <a:spLocks noGrp="1"/>
          </p:cNvSpPr>
          <p:nvPr>
            <p:ph type="sldNum" sz="quarter" idx="5"/>
          </p:nvPr>
        </p:nvSpPr>
        <p:spPr/>
        <p:txBody>
          <a:bodyPr/>
          <a:lstStyle/>
          <a:p>
            <a:fld id="{4CF50783-AAED-1941-8BCC-9F6140F0A6B1}" type="slidenum">
              <a:rPr lang="fr-FR" smtClean="0"/>
              <a:pPr/>
              <a:t>55</a:t>
            </a:fld>
            <a:endParaRPr lang="fr-FR" dirty="0"/>
          </a:p>
        </p:txBody>
      </p:sp>
    </p:spTree>
    <p:extLst>
      <p:ext uri="{BB962C8B-B14F-4D97-AF65-F5344CB8AC3E}">
        <p14:creationId xmlns:p14="http://schemas.microsoft.com/office/powerpoint/2010/main" val="18630837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A12D9-823F-0968-4361-1C3433474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D2840-12A7-7800-F73F-14A57FDDB7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930B1-BAFA-0AEF-9360-F006825EBF39}"/>
              </a:ext>
            </a:extLst>
          </p:cNvPr>
          <p:cNvSpPr>
            <a:spLocks noGrp="1"/>
          </p:cNvSpPr>
          <p:nvPr>
            <p:ph type="body" idx="1"/>
          </p:nvPr>
        </p:nvSpPr>
        <p:spPr/>
        <p:txBody>
          <a:bodyPr/>
          <a:lstStyle/>
          <a:p>
            <a:r>
              <a:rPr lang="en-GB" dirty="0"/>
              <a:t>In summary, </a:t>
            </a:r>
            <a:r>
              <a:rPr lang="en-GB" dirty="0" err="1"/>
              <a:t>HiGenDiff</a:t>
            </a:r>
            <a:r>
              <a:rPr lang="en-GB" dirty="0"/>
              <a:t> leverages the inherent modularity of real-world graphs to model and sample from complex distributions efficiently.</a:t>
            </a:r>
          </a:p>
          <a:p>
            <a:endParaRPr lang="en-GB" dirty="0"/>
          </a:p>
          <a:p>
            <a:r>
              <a:rPr lang="en-GB" dirty="0"/>
              <a:t>Conceptually, it serves as the mirror image of COINs: just as COINs reasons downward from the global to the local, </a:t>
            </a:r>
            <a:r>
              <a:rPr lang="en-GB" dirty="0" err="1"/>
              <a:t>HiGenDiff</a:t>
            </a:r>
            <a:r>
              <a:rPr lang="en-GB" dirty="0"/>
              <a:t> generates downward from coarse to fine.</a:t>
            </a:r>
          </a:p>
          <a:p>
            <a:endParaRPr lang="en-GB" dirty="0"/>
          </a:p>
          <a:p>
            <a:r>
              <a:rPr lang="en-GB" dirty="0"/>
              <a:t>With further architecture refinement and broader experiment selection, </a:t>
            </a:r>
            <a:r>
              <a:rPr lang="en-GB" dirty="0" err="1"/>
              <a:t>HiGenDiff</a:t>
            </a:r>
            <a:r>
              <a:rPr lang="en-GB" dirty="0"/>
              <a:t> has great potential in emerging as the SOTA for graph generation.</a:t>
            </a:r>
          </a:p>
        </p:txBody>
      </p:sp>
      <p:sp>
        <p:nvSpPr>
          <p:cNvPr id="4" name="Slide Number Placeholder 3">
            <a:extLst>
              <a:ext uri="{FF2B5EF4-FFF2-40B4-BE49-F238E27FC236}">
                <a16:creationId xmlns:a16="http://schemas.microsoft.com/office/drawing/2014/main" id="{CF2CB776-7114-0E11-B075-5418D4686312}"/>
              </a:ext>
            </a:extLst>
          </p:cNvPr>
          <p:cNvSpPr>
            <a:spLocks noGrp="1"/>
          </p:cNvSpPr>
          <p:nvPr>
            <p:ph type="sldNum" sz="quarter" idx="5"/>
          </p:nvPr>
        </p:nvSpPr>
        <p:spPr/>
        <p:txBody>
          <a:bodyPr/>
          <a:lstStyle/>
          <a:p>
            <a:fld id="{4CF50783-AAED-1941-8BCC-9F6140F0A6B1}" type="slidenum">
              <a:rPr lang="fr-FR" smtClean="0"/>
              <a:pPr/>
              <a:t>56</a:t>
            </a:fld>
            <a:endParaRPr lang="fr-FR" dirty="0"/>
          </a:p>
        </p:txBody>
      </p:sp>
    </p:spTree>
    <p:extLst>
      <p:ext uri="{BB962C8B-B14F-4D97-AF65-F5344CB8AC3E}">
        <p14:creationId xmlns:p14="http://schemas.microsoft.com/office/powerpoint/2010/main" val="33152134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FBB8-22B0-E7B9-629E-1EAFC7732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81B3B-3DD5-F140-36EB-315A6326C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3FC8D-E300-0BCB-6150-4EF8F6575A84}"/>
              </a:ext>
            </a:extLst>
          </p:cNvPr>
          <p:cNvSpPr>
            <a:spLocks noGrp="1"/>
          </p:cNvSpPr>
          <p:nvPr>
            <p:ph type="body" idx="1"/>
          </p:nvPr>
        </p:nvSpPr>
        <p:spPr/>
        <p:txBody>
          <a:bodyPr/>
          <a:lstStyle/>
          <a:p>
            <a:r>
              <a:rPr lang="en-US" dirty="0"/>
              <a:t>So we just saw how applying diffusion models hierarchically aids in better generalization and computational cost reductions for edge generation, however, we neglected to explain the fact that the choice of utilizing diffusion models by itself implies that instead of computing each edge probability once, we do it T times, and this is a very ugly trade-off. </a:t>
            </a:r>
          </a:p>
          <a:p>
            <a:endParaRPr lang="en-US" dirty="0"/>
          </a:p>
          <a:p>
            <a:r>
              <a:rPr lang="en-US" dirty="0"/>
              <a:t>Thus we really need to go back to the foundations and ask why are T denoising steps even necessary, why could we not just map latent noise to signal in one step? </a:t>
            </a:r>
          </a:p>
          <a:p>
            <a:endParaRPr lang="en-US" dirty="0"/>
          </a:p>
          <a:p>
            <a:r>
              <a:rPr lang="en-US" dirty="0"/>
              <a:t>Our third graph generation contribution is exploring answering these questions, i.e., is it possible to have log-concave sampling of any multi-modal distribution by operating denoisers at just a few noise levels. </a:t>
            </a:r>
            <a:endParaRPr lang="en-GB" dirty="0"/>
          </a:p>
        </p:txBody>
      </p:sp>
      <p:sp>
        <p:nvSpPr>
          <p:cNvPr id="4" name="Slide Number Placeholder 3">
            <a:extLst>
              <a:ext uri="{FF2B5EF4-FFF2-40B4-BE49-F238E27FC236}">
                <a16:creationId xmlns:a16="http://schemas.microsoft.com/office/drawing/2014/main" id="{FA0AB675-5C75-853D-236B-0530DE09DE4D}"/>
              </a:ext>
            </a:extLst>
          </p:cNvPr>
          <p:cNvSpPr>
            <a:spLocks noGrp="1"/>
          </p:cNvSpPr>
          <p:nvPr>
            <p:ph type="sldNum" sz="quarter" idx="5"/>
          </p:nvPr>
        </p:nvSpPr>
        <p:spPr/>
        <p:txBody>
          <a:bodyPr/>
          <a:lstStyle/>
          <a:p>
            <a:fld id="{4CF50783-AAED-1941-8BCC-9F6140F0A6B1}" type="slidenum">
              <a:rPr lang="fr-FR" smtClean="0"/>
              <a:pPr/>
              <a:t>57</a:t>
            </a:fld>
            <a:endParaRPr lang="fr-FR" dirty="0"/>
          </a:p>
        </p:txBody>
      </p:sp>
    </p:spTree>
    <p:extLst>
      <p:ext uri="{BB962C8B-B14F-4D97-AF65-F5344CB8AC3E}">
        <p14:creationId xmlns:p14="http://schemas.microsoft.com/office/powerpoint/2010/main" val="3535755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1644-CF1C-7F28-D52B-DA276A98A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FFCAE-D243-835D-88B7-C436FC0B8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073099-C045-B804-B3A4-8AEDE0531714}"/>
              </a:ext>
            </a:extLst>
          </p:cNvPr>
          <p:cNvSpPr>
            <a:spLocks noGrp="1"/>
          </p:cNvSpPr>
          <p:nvPr>
            <p:ph type="body" idx="1"/>
          </p:nvPr>
        </p:nvSpPr>
        <p:spPr/>
        <p:txBody>
          <a:bodyPr/>
          <a:lstStyle/>
          <a:p>
            <a:r>
              <a:rPr lang="en-US" dirty="0"/>
              <a:t>To begin motivating this research direction, let’s see why annealing i.e. the gradual removal of noise applied by diffusion models is necessary.</a:t>
            </a:r>
          </a:p>
          <a:p>
            <a:endParaRPr lang="en-US" dirty="0"/>
          </a:p>
          <a:p>
            <a:r>
              <a:rPr lang="en-US" dirty="0"/>
              <a:t>You see, regardless of the assumption that we can always transform any signal into Gaussian noise with a fixed number of steps of adding progressively more noise, denoising directly </a:t>
            </a:r>
            <a:r>
              <a:rPr lang="en-US" dirty="0" err="1"/>
              <a:t>latents</a:t>
            </a:r>
            <a:r>
              <a:rPr lang="en-US" dirty="0"/>
              <a:t> into distribution samples is too optimistic. This is because we can show the optimal generator model builds outputs around that conditional expectation of a distribution which is very multi-modal, thus samples around the expectation will often actually be one of the least likely.</a:t>
            </a:r>
          </a:p>
          <a:p>
            <a:endParaRPr lang="en-US" dirty="0"/>
          </a:p>
          <a:p>
            <a:r>
              <a:rPr lang="en-US" dirty="0"/>
              <a:t>However, if we decompose the generator model into separate models for moving between each pair of consecutive noise levels, the more total denoising steps we have, the more likely it will be that the conditional distribution will be unimodal.</a:t>
            </a:r>
            <a:endParaRPr lang="en-GB" dirty="0"/>
          </a:p>
        </p:txBody>
      </p:sp>
      <p:sp>
        <p:nvSpPr>
          <p:cNvPr id="4" name="Slide Number Placeholder 3">
            <a:extLst>
              <a:ext uri="{FF2B5EF4-FFF2-40B4-BE49-F238E27FC236}">
                <a16:creationId xmlns:a16="http://schemas.microsoft.com/office/drawing/2014/main" id="{2732B8AD-5E45-A928-3F47-E2EEAE47FAA1}"/>
              </a:ext>
            </a:extLst>
          </p:cNvPr>
          <p:cNvSpPr>
            <a:spLocks noGrp="1"/>
          </p:cNvSpPr>
          <p:nvPr>
            <p:ph type="sldNum" sz="quarter" idx="5"/>
          </p:nvPr>
        </p:nvSpPr>
        <p:spPr/>
        <p:txBody>
          <a:bodyPr/>
          <a:lstStyle/>
          <a:p>
            <a:fld id="{4CF50783-AAED-1941-8BCC-9F6140F0A6B1}" type="slidenum">
              <a:rPr lang="fr-FR" smtClean="0"/>
              <a:pPr/>
              <a:t>58</a:t>
            </a:fld>
            <a:endParaRPr lang="fr-FR" dirty="0"/>
          </a:p>
        </p:txBody>
      </p:sp>
    </p:spTree>
    <p:extLst>
      <p:ext uri="{BB962C8B-B14F-4D97-AF65-F5344CB8AC3E}">
        <p14:creationId xmlns:p14="http://schemas.microsoft.com/office/powerpoint/2010/main" val="41325823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4E01-0D7C-C30C-C607-E85852921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80998-287E-560A-9E90-108BF34F1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28D51-73FC-8564-9C7E-DAD36B91A6D0}"/>
              </a:ext>
            </a:extLst>
          </p:cNvPr>
          <p:cNvSpPr>
            <a:spLocks noGrp="1"/>
          </p:cNvSpPr>
          <p:nvPr>
            <p:ph type="body" idx="1"/>
          </p:nvPr>
        </p:nvSpPr>
        <p:spPr/>
        <p:txBody>
          <a:bodyPr/>
          <a:lstStyle/>
          <a:p>
            <a:r>
              <a:rPr lang="en-US" dirty="0"/>
              <a:t>Now, this solution conceptually sounds amazing, but in practice it doesn’t scale. We cannot simply multiply the number of generator parameters we have by T so we use purely empirically proven techniques such as positional time embeddings, complicated noise schedules etc. just to in the end still greatly increase the time complexity.</a:t>
            </a:r>
          </a:p>
          <a:p>
            <a:endParaRPr lang="en-US" dirty="0"/>
          </a:p>
          <a:p>
            <a:r>
              <a:rPr lang="en-US" dirty="0"/>
              <a:t>These weight sharing techniques I mentioned also unfortunately cause training difficulties, as now a single neural network has to solve a complicated multi-task problem. </a:t>
            </a:r>
            <a:endParaRPr lang="en-GB" dirty="0"/>
          </a:p>
        </p:txBody>
      </p:sp>
      <p:sp>
        <p:nvSpPr>
          <p:cNvPr id="4" name="Slide Number Placeholder 3">
            <a:extLst>
              <a:ext uri="{FF2B5EF4-FFF2-40B4-BE49-F238E27FC236}">
                <a16:creationId xmlns:a16="http://schemas.microsoft.com/office/drawing/2014/main" id="{320238BE-F2A9-20DB-3BFA-839D3031782B}"/>
              </a:ext>
            </a:extLst>
          </p:cNvPr>
          <p:cNvSpPr>
            <a:spLocks noGrp="1"/>
          </p:cNvSpPr>
          <p:nvPr>
            <p:ph type="sldNum" sz="quarter" idx="5"/>
          </p:nvPr>
        </p:nvSpPr>
        <p:spPr/>
        <p:txBody>
          <a:bodyPr/>
          <a:lstStyle/>
          <a:p>
            <a:fld id="{4CF50783-AAED-1941-8BCC-9F6140F0A6B1}" type="slidenum">
              <a:rPr lang="fr-FR" smtClean="0"/>
              <a:pPr/>
              <a:t>59</a:t>
            </a:fld>
            <a:endParaRPr lang="fr-FR" dirty="0"/>
          </a:p>
        </p:txBody>
      </p:sp>
    </p:spTree>
    <p:extLst>
      <p:ext uri="{BB962C8B-B14F-4D97-AF65-F5344CB8AC3E}">
        <p14:creationId xmlns:p14="http://schemas.microsoft.com/office/powerpoint/2010/main" val="39680944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2EF2F-F661-C698-551F-FB72C992F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4A696-3F6F-500E-084B-78873B450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C3673-71BB-9D9D-BFF2-AD8EA03067D0}"/>
              </a:ext>
            </a:extLst>
          </p:cNvPr>
          <p:cNvSpPr>
            <a:spLocks noGrp="1"/>
          </p:cNvSpPr>
          <p:nvPr>
            <p:ph type="body" idx="1"/>
          </p:nvPr>
        </p:nvSpPr>
        <p:spPr/>
        <p:txBody>
          <a:bodyPr/>
          <a:lstStyle/>
          <a:p>
            <a:r>
              <a:rPr lang="en-US" dirty="0"/>
              <a:t>Thus, we focused on building the </a:t>
            </a:r>
            <a:r>
              <a:rPr lang="en-US" dirty="0" err="1"/>
              <a:t>MultiProx</a:t>
            </a:r>
            <a:r>
              <a:rPr lang="en-US" dirty="0"/>
              <a:t> sampler as an alternative, inspired by multi-measurement and proximal sampling theory.</a:t>
            </a:r>
          </a:p>
          <a:p>
            <a:endParaRPr lang="en-US" dirty="0"/>
          </a:p>
          <a:p>
            <a:r>
              <a:rPr lang="en-US" dirty="0"/>
              <a:t>On one side, the work by Saremi et al. shows that one can replace annealing with just averaging from a collection of correlated measurements,</a:t>
            </a:r>
          </a:p>
          <a:p>
            <a:endParaRPr lang="en-US" dirty="0"/>
          </a:p>
          <a:p>
            <a:r>
              <a:rPr lang="en-US" dirty="0"/>
              <a:t>while Shen motivates proximal samplers to reduce the difficulty of the multi-task learning problem. We merge these two approaches into one, with also providing for the first time complete theoretical guarantees for the sampling framework being fully log-concave.  </a:t>
            </a:r>
            <a:endParaRPr lang="en-GB" dirty="0"/>
          </a:p>
        </p:txBody>
      </p:sp>
      <p:sp>
        <p:nvSpPr>
          <p:cNvPr id="4" name="Slide Number Placeholder 3">
            <a:extLst>
              <a:ext uri="{FF2B5EF4-FFF2-40B4-BE49-F238E27FC236}">
                <a16:creationId xmlns:a16="http://schemas.microsoft.com/office/drawing/2014/main" id="{BE88CB85-C78B-5C2F-B07D-BD07EB2A9530}"/>
              </a:ext>
            </a:extLst>
          </p:cNvPr>
          <p:cNvSpPr>
            <a:spLocks noGrp="1"/>
          </p:cNvSpPr>
          <p:nvPr>
            <p:ph type="sldNum" sz="quarter" idx="5"/>
          </p:nvPr>
        </p:nvSpPr>
        <p:spPr/>
        <p:txBody>
          <a:bodyPr/>
          <a:lstStyle/>
          <a:p>
            <a:fld id="{4CF50783-AAED-1941-8BCC-9F6140F0A6B1}" type="slidenum">
              <a:rPr lang="fr-FR" smtClean="0"/>
              <a:pPr/>
              <a:t>60</a:t>
            </a:fld>
            <a:endParaRPr lang="fr-FR" dirty="0"/>
          </a:p>
        </p:txBody>
      </p:sp>
    </p:spTree>
    <p:extLst>
      <p:ext uri="{BB962C8B-B14F-4D97-AF65-F5344CB8AC3E}">
        <p14:creationId xmlns:p14="http://schemas.microsoft.com/office/powerpoint/2010/main" val="36195120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E3AA-7900-5318-FB07-E5CB9FB9E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4DE7E-A52B-EC8C-484B-39FC41C27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166DC-6765-C2BB-95F4-F8937813F183}"/>
              </a:ext>
            </a:extLst>
          </p:cNvPr>
          <p:cNvSpPr>
            <a:spLocks noGrp="1"/>
          </p:cNvSpPr>
          <p:nvPr>
            <p:ph type="body" idx="1"/>
          </p:nvPr>
        </p:nvSpPr>
        <p:spPr/>
        <p:txBody>
          <a:bodyPr/>
          <a:lstStyle/>
          <a:p>
            <a:r>
              <a:rPr lang="en-US" dirty="0"/>
              <a:t>This visualization summarizes the whole approach. First, unlike classical denoising diffusion frameworks which operate at T different noise levels, for </a:t>
            </a:r>
            <a:r>
              <a:rPr lang="en-US" dirty="0" err="1"/>
              <a:t>MultiProx</a:t>
            </a:r>
            <a:r>
              <a:rPr lang="en-US" dirty="0"/>
              <a:t> one picks as a hyperparameter a fixed single noise level t to operate on, as well as the size of the multi-measurement ensemble. After this, the method consists of building chains of correlated multi-measurements using Gibbs sampling, while the final samples are denoised by applying a Restricted Gaussian Oracle on the mean of the current state of the multi-measurements. For real-world distributions for which the sample density is not exactly known, we assume that a pre-trained generator model </a:t>
            </a:r>
            <a:r>
              <a:rPr lang="en-US" dirty="0" err="1"/>
              <a:t>g_t</a:t>
            </a:r>
            <a:r>
              <a:rPr lang="en-US" dirty="0"/>
              <a:t> is a decent RGO. The theoretical conditions for full log-concavity of this approach are given on the right.</a:t>
            </a:r>
            <a:endParaRPr lang="en-GB" dirty="0"/>
          </a:p>
        </p:txBody>
      </p:sp>
      <p:sp>
        <p:nvSpPr>
          <p:cNvPr id="4" name="Slide Number Placeholder 3">
            <a:extLst>
              <a:ext uri="{FF2B5EF4-FFF2-40B4-BE49-F238E27FC236}">
                <a16:creationId xmlns:a16="http://schemas.microsoft.com/office/drawing/2014/main" id="{7FD8F2F2-51F6-F69D-4401-231B7404C52F}"/>
              </a:ext>
            </a:extLst>
          </p:cNvPr>
          <p:cNvSpPr>
            <a:spLocks noGrp="1"/>
          </p:cNvSpPr>
          <p:nvPr>
            <p:ph type="sldNum" sz="quarter" idx="5"/>
          </p:nvPr>
        </p:nvSpPr>
        <p:spPr/>
        <p:txBody>
          <a:bodyPr/>
          <a:lstStyle/>
          <a:p>
            <a:fld id="{4CF50783-AAED-1941-8BCC-9F6140F0A6B1}" type="slidenum">
              <a:rPr lang="fr-FR" smtClean="0"/>
              <a:pPr/>
              <a:t>61</a:t>
            </a:fld>
            <a:endParaRPr lang="fr-FR" dirty="0"/>
          </a:p>
        </p:txBody>
      </p:sp>
    </p:spTree>
    <p:extLst>
      <p:ext uri="{BB962C8B-B14F-4D97-AF65-F5344CB8AC3E}">
        <p14:creationId xmlns:p14="http://schemas.microsoft.com/office/powerpoint/2010/main" val="40889251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5920-8355-D6D9-B44F-94E6E049E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AC208-02CD-D493-0374-1A72A8B74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54793-9425-5132-6B55-FFE56BF3BEC8}"/>
              </a:ext>
            </a:extLst>
          </p:cNvPr>
          <p:cNvSpPr>
            <a:spLocks noGrp="1"/>
          </p:cNvSpPr>
          <p:nvPr>
            <p:ph type="body" idx="1"/>
          </p:nvPr>
        </p:nvSpPr>
        <p:spPr/>
        <p:txBody>
          <a:bodyPr/>
          <a:lstStyle/>
          <a:p>
            <a:r>
              <a:rPr lang="en-US" dirty="0"/>
              <a:t>To showcase </a:t>
            </a:r>
            <a:r>
              <a:rPr lang="en-US" dirty="0" err="1"/>
              <a:t>MultiProx</a:t>
            </a:r>
            <a:r>
              <a:rPr lang="en-US" dirty="0"/>
              <a:t> at work, here are some results with image generation. The important thing to note is that always at the beginning of the Gibbs chains there is a short warm-up period with bad samples, but then we very beautifully travel between many different modes of the distribution.</a:t>
            </a:r>
            <a:endParaRPr lang="en-GB" dirty="0"/>
          </a:p>
        </p:txBody>
      </p:sp>
      <p:sp>
        <p:nvSpPr>
          <p:cNvPr id="4" name="Slide Number Placeholder 3">
            <a:extLst>
              <a:ext uri="{FF2B5EF4-FFF2-40B4-BE49-F238E27FC236}">
                <a16:creationId xmlns:a16="http://schemas.microsoft.com/office/drawing/2014/main" id="{58AA936F-0164-7A45-0AC5-63C5EF1234C2}"/>
              </a:ext>
            </a:extLst>
          </p:cNvPr>
          <p:cNvSpPr>
            <a:spLocks noGrp="1"/>
          </p:cNvSpPr>
          <p:nvPr>
            <p:ph type="sldNum" sz="quarter" idx="5"/>
          </p:nvPr>
        </p:nvSpPr>
        <p:spPr/>
        <p:txBody>
          <a:bodyPr/>
          <a:lstStyle/>
          <a:p>
            <a:fld id="{4CF50783-AAED-1941-8BCC-9F6140F0A6B1}" type="slidenum">
              <a:rPr lang="fr-FR" smtClean="0"/>
              <a:pPr/>
              <a:t>62</a:t>
            </a:fld>
            <a:endParaRPr lang="fr-FR" dirty="0"/>
          </a:p>
        </p:txBody>
      </p:sp>
    </p:spTree>
    <p:extLst>
      <p:ext uri="{BB962C8B-B14F-4D97-AF65-F5344CB8AC3E}">
        <p14:creationId xmlns:p14="http://schemas.microsoft.com/office/powerpoint/2010/main" val="26439255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C1017-A1B9-4C70-00B5-0CC2D2806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B560D-523B-129F-5090-B31C135C6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545C4-73A5-71AB-A862-A27420AB72CF}"/>
              </a:ext>
            </a:extLst>
          </p:cNvPr>
          <p:cNvSpPr>
            <a:spLocks noGrp="1"/>
          </p:cNvSpPr>
          <p:nvPr>
            <p:ph type="body" idx="1"/>
          </p:nvPr>
        </p:nvSpPr>
        <p:spPr/>
        <p:txBody>
          <a:bodyPr/>
          <a:lstStyle/>
          <a:p>
            <a:r>
              <a:rPr lang="en-US" dirty="0"/>
              <a:t>This motivated us of course to try </a:t>
            </a:r>
            <a:r>
              <a:rPr lang="en-US" dirty="0" err="1"/>
              <a:t>Multiprox</a:t>
            </a:r>
            <a:r>
              <a:rPr lang="en-US" dirty="0"/>
              <a:t> for graph generation as that’s what we are interested in the most. Here is an example chain of QM9 molecules with </a:t>
            </a:r>
            <a:r>
              <a:rPr lang="en-US" dirty="0" err="1"/>
              <a:t>DiGress</a:t>
            </a:r>
            <a:r>
              <a:rPr lang="en-US" dirty="0"/>
              <a:t> as the generator, and even though we successfully sampled correlated graphs of decent quality, unfortunately we can immediately notice certain issues not present before. Namely, the warm-up period for graphs seems to be much longer, and when molecules reach sufficient quality, then the sample chains get stuck around only a few different modes.</a:t>
            </a:r>
          </a:p>
          <a:p>
            <a:endParaRPr lang="en-US" dirty="0"/>
          </a:p>
          <a:p>
            <a:r>
              <a:rPr lang="en-US" dirty="0"/>
              <a:t>We conjectured that this is due to the too holistic assumption that with just averaging one can obtain a unimodal sampling distribution for graphs. In practice as well, it is hard to pick a single optimal fixed noise level, as at higher levels </a:t>
            </a:r>
            <a:r>
              <a:rPr lang="en-US" dirty="0" err="1"/>
              <a:t>DiGress</a:t>
            </a:r>
            <a:r>
              <a:rPr lang="en-US" dirty="0"/>
              <a:t> makes many edge modifications but with high noise, while the inverse happens at lower noise levels.</a:t>
            </a:r>
            <a:endParaRPr lang="en-GB" dirty="0"/>
          </a:p>
        </p:txBody>
      </p:sp>
      <p:sp>
        <p:nvSpPr>
          <p:cNvPr id="4" name="Slide Number Placeholder 3">
            <a:extLst>
              <a:ext uri="{FF2B5EF4-FFF2-40B4-BE49-F238E27FC236}">
                <a16:creationId xmlns:a16="http://schemas.microsoft.com/office/drawing/2014/main" id="{95AC2033-06CB-7D43-348E-C790D8EDC0D8}"/>
              </a:ext>
            </a:extLst>
          </p:cNvPr>
          <p:cNvSpPr>
            <a:spLocks noGrp="1"/>
          </p:cNvSpPr>
          <p:nvPr>
            <p:ph type="sldNum" sz="quarter" idx="5"/>
          </p:nvPr>
        </p:nvSpPr>
        <p:spPr/>
        <p:txBody>
          <a:bodyPr/>
          <a:lstStyle/>
          <a:p>
            <a:fld id="{4CF50783-AAED-1941-8BCC-9F6140F0A6B1}" type="slidenum">
              <a:rPr lang="fr-FR" smtClean="0"/>
              <a:pPr/>
              <a:t>63</a:t>
            </a:fld>
            <a:endParaRPr lang="fr-FR" dirty="0"/>
          </a:p>
        </p:txBody>
      </p:sp>
    </p:spTree>
    <p:extLst>
      <p:ext uri="{BB962C8B-B14F-4D97-AF65-F5344CB8AC3E}">
        <p14:creationId xmlns:p14="http://schemas.microsoft.com/office/powerpoint/2010/main" val="38530831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442F-A0C3-F3C0-9734-E294ED5AC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D4E69-3057-9AA6-EB45-11E66CB1E9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BBD64-5E1D-E464-4162-EDD4FB3D6DF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6700DED-3DBA-2482-FF66-B6FB74430209}"/>
              </a:ext>
            </a:extLst>
          </p:cNvPr>
          <p:cNvSpPr>
            <a:spLocks noGrp="1"/>
          </p:cNvSpPr>
          <p:nvPr>
            <p:ph type="sldNum" sz="quarter" idx="5"/>
          </p:nvPr>
        </p:nvSpPr>
        <p:spPr/>
        <p:txBody>
          <a:bodyPr/>
          <a:lstStyle/>
          <a:p>
            <a:fld id="{4CF50783-AAED-1941-8BCC-9F6140F0A6B1}" type="slidenum">
              <a:rPr lang="fr-FR" smtClean="0"/>
              <a:pPr/>
              <a:t>64</a:t>
            </a:fld>
            <a:endParaRPr lang="fr-FR" dirty="0"/>
          </a:p>
        </p:txBody>
      </p:sp>
    </p:spTree>
    <p:extLst>
      <p:ext uri="{BB962C8B-B14F-4D97-AF65-F5344CB8AC3E}">
        <p14:creationId xmlns:p14="http://schemas.microsoft.com/office/powerpoint/2010/main" val="6481972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74B6-376E-75C5-AC2A-09E472F9D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5E6EE-3C55-31F0-6243-3776B11AD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B92C5-E262-CC30-EE19-DD6B56803478}"/>
              </a:ext>
            </a:extLst>
          </p:cNvPr>
          <p:cNvSpPr>
            <a:spLocks noGrp="1"/>
          </p:cNvSpPr>
          <p:nvPr>
            <p:ph type="body" idx="1"/>
          </p:nvPr>
        </p:nvSpPr>
        <p:spPr/>
        <p:txBody>
          <a:bodyPr/>
          <a:lstStyle/>
          <a:p>
            <a:r>
              <a:rPr lang="en-US" dirty="0"/>
              <a:t>So I proposed incorporating a little bit of reductionism as a fix, where now we can generalize to use a partially annealed generator as the RGO. In other words, we keep moving the Gibbs chains at a higher noise level t, but yield samples denoised up until a lower noise level t’. </a:t>
            </a:r>
            <a:endParaRPr lang="en-GB" dirty="0"/>
          </a:p>
        </p:txBody>
      </p:sp>
      <p:sp>
        <p:nvSpPr>
          <p:cNvPr id="4" name="Slide Number Placeholder 3">
            <a:extLst>
              <a:ext uri="{FF2B5EF4-FFF2-40B4-BE49-F238E27FC236}">
                <a16:creationId xmlns:a16="http://schemas.microsoft.com/office/drawing/2014/main" id="{42F45611-F280-2F13-E352-D697D4925837}"/>
              </a:ext>
            </a:extLst>
          </p:cNvPr>
          <p:cNvSpPr>
            <a:spLocks noGrp="1"/>
          </p:cNvSpPr>
          <p:nvPr>
            <p:ph type="sldNum" sz="quarter" idx="5"/>
          </p:nvPr>
        </p:nvSpPr>
        <p:spPr/>
        <p:txBody>
          <a:bodyPr/>
          <a:lstStyle/>
          <a:p>
            <a:fld id="{4CF50783-AAED-1941-8BCC-9F6140F0A6B1}" type="slidenum">
              <a:rPr lang="fr-FR" smtClean="0"/>
              <a:pPr/>
              <a:t>65</a:t>
            </a:fld>
            <a:endParaRPr lang="fr-FR" dirty="0"/>
          </a:p>
        </p:txBody>
      </p:sp>
    </p:spTree>
    <p:extLst>
      <p:ext uri="{BB962C8B-B14F-4D97-AF65-F5344CB8AC3E}">
        <p14:creationId xmlns:p14="http://schemas.microsoft.com/office/powerpoint/2010/main" val="11748844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39DF2-B1FC-E231-A19A-7BD91DEE1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19B90-997F-32F0-929A-C5E8669D8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44ECF-DF9B-2EC8-2BE4-547C16B573B4}"/>
              </a:ext>
            </a:extLst>
          </p:cNvPr>
          <p:cNvSpPr>
            <a:spLocks noGrp="1"/>
          </p:cNvSpPr>
          <p:nvPr>
            <p:ph type="body" idx="1"/>
          </p:nvPr>
        </p:nvSpPr>
        <p:spPr/>
        <p:txBody>
          <a:bodyPr/>
          <a:lstStyle/>
          <a:p>
            <a:r>
              <a:rPr lang="en-US" dirty="0"/>
              <a:t>We tried this new </a:t>
            </a:r>
            <a:r>
              <a:rPr lang="en-US" dirty="0" err="1"/>
              <a:t>MultiProxAn</a:t>
            </a:r>
            <a:r>
              <a:rPr lang="en-US" dirty="0"/>
              <a:t> sampler and after configuring the two noise level hyperparameters optimally, the differences are obvious.</a:t>
            </a:r>
            <a:endParaRPr lang="en-GB" dirty="0"/>
          </a:p>
        </p:txBody>
      </p:sp>
      <p:sp>
        <p:nvSpPr>
          <p:cNvPr id="4" name="Slide Number Placeholder 3">
            <a:extLst>
              <a:ext uri="{FF2B5EF4-FFF2-40B4-BE49-F238E27FC236}">
                <a16:creationId xmlns:a16="http://schemas.microsoft.com/office/drawing/2014/main" id="{55EBC142-F447-E2F1-CF63-676B24F1E32C}"/>
              </a:ext>
            </a:extLst>
          </p:cNvPr>
          <p:cNvSpPr>
            <a:spLocks noGrp="1"/>
          </p:cNvSpPr>
          <p:nvPr>
            <p:ph type="sldNum" sz="quarter" idx="5"/>
          </p:nvPr>
        </p:nvSpPr>
        <p:spPr/>
        <p:txBody>
          <a:bodyPr/>
          <a:lstStyle/>
          <a:p>
            <a:fld id="{4CF50783-AAED-1941-8BCC-9F6140F0A6B1}" type="slidenum">
              <a:rPr lang="fr-FR" smtClean="0"/>
              <a:pPr/>
              <a:t>66</a:t>
            </a:fld>
            <a:endParaRPr lang="fr-FR" dirty="0"/>
          </a:p>
        </p:txBody>
      </p:sp>
    </p:spTree>
    <p:extLst>
      <p:ext uri="{BB962C8B-B14F-4D97-AF65-F5344CB8AC3E}">
        <p14:creationId xmlns:p14="http://schemas.microsoft.com/office/powerpoint/2010/main" val="37383918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EEFA-BCBA-B5DE-D819-DBB4FEA88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F066B-5247-44D9-F7C8-DEEDC60FD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7AD89-385B-5DA7-3DF5-273BD4C1EB0F}"/>
              </a:ext>
            </a:extLst>
          </p:cNvPr>
          <p:cNvSpPr>
            <a:spLocks noGrp="1"/>
          </p:cNvSpPr>
          <p:nvPr>
            <p:ph type="body" idx="1"/>
          </p:nvPr>
        </p:nvSpPr>
        <p:spPr/>
        <p:txBody>
          <a:bodyPr/>
          <a:lstStyle/>
          <a:p>
            <a:r>
              <a:rPr lang="en-US" dirty="0"/>
              <a:t>During parameter validation, we observed how adding more annealing steps naturally always helped to match the baseline performance better, however this is at the cost of more computation time, yet due to the partial annealing this was always still faster. </a:t>
            </a:r>
          </a:p>
          <a:p>
            <a:endParaRPr lang="en-US" dirty="0"/>
          </a:p>
          <a:p>
            <a:r>
              <a:rPr lang="en-US" dirty="0"/>
              <a:t>The overall tradeoff is obtaining this acceleration factor for the cost of increasing memory complexity by a factor of the ensemble size.</a:t>
            </a:r>
            <a:endParaRPr lang="en-GB" dirty="0"/>
          </a:p>
        </p:txBody>
      </p:sp>
      <p:sp>
        <p:nvSpPr>
          <p:cNvPr id="4" name="Slide Number Placeholder 3">
            <a:extLst>
              <a:ext uri="{FF2B5EF4-FFF2-40B4-BE49-F238E27FC236}">
                <a16:creationId xmlns:a16="http://schemas.microsoft.com/office/drawing/2014/main" id="{3A7ADF92-E36A-CB6B-867C-CF7EF3C101A2}"/>
              </a:ext>
            </a:extLst>
          </p:cNvPr>
          <p:cNvSpPr>
            <a:spLocks noGrp="1"/>
          </p:cNvSpPr>
          <p:nvPr>
            <p:ph type="sldNum" sz="quarter" idx="5"/>
          </p:nvPr>
        </p:nvSpPr>
        <p:spPr/>
        <p:txBody>
          <a:bodyPr/>
          <a:lstStyle/>
          <a:p>
            <a:fld id="{4CF50783-AAED-1941-8BCC-9F6140F0A6B1}" type="slidenum">
              <a:rPr lang="fr-FR" smtClean="0"/>
              <a:pPr/>
              <a:t>67</a:t>
            </a:fld>
            <a:endParaRPr lang="fr-FR" dirty="0"/>
          </a:p>
        </p:txBody>
      </p:sp>
    </p:spTree>
    <p:extLst>
      <p:ext uri="{BB962C8B-B14F-4D97-AF65-F5344CB8AC3E}">
        <p14:creationId xmlns:p14="http://schemas.microsoft.com/office/powerpoint/2010/main" val="25341021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E9724-2F1B-3DC3-7A69-9BB05EEF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C5C2-93A1-AE94-CEA8-948B8F29A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97A80-9D86-2268-5A5D-2391D50A2851}"/>
              </a:ext>
            </a:extLst>
          </p:cNvPr>
          <p:cNvSpPr>
            <a:spLocks noGrp="1"/>
          </p:cNvSpPr>
          <p:nvPr>
            <p:ph type="body" idx="1"/>
          </p:nvPr>
        </p:nvSpPr>
        <p:spPr/>
        <p:txBody>
          <a:bodyPr/>
          <a:lstStyle/>
          <a:p>
            <a:r>
              <a:rPr lang="en-US" dirty="0"/>
              <a:t>And now we begin discussing our final contributions to graph generation by reminding that curiously, we have yet to present generation experiments for knowledge graphs. This is to be expected however as there is no natural interest for this application. Inherently knowledge graph data is schematic, there is no stochasticity or reasons to learn distributions of graph structures, and also I do not need to mention the real-world implications of learning to publish fake facts.</a:t>
            </a:r>
          </a:p>
          <a:p>
            <a:endParaRPr lang="en-US" dirty="0"/>
          </a:p>
          <a:p>
            <a:r>
              <a:rPr lang="en-GB" dirty="0"/>
              <a:t>Well, what I just said is only a dream scenario, as in recent years, productionized knowledge graphs have grown so large that they need to be maintained from large heterogeneous data sources that are inconsistent between each other, and Large Language Models started to be used for fact extraction from parsed documents. These practices result in knowledge graphs having many false positive and false negative edges, thus performing anomaly correction for knowledge graphs emerged as a very contemporary task.</a:t>
            </a:r>
          </a:p>
          <a:p>
            <a:endParaRPr lang="en-GB" dirty="0"/>
          </a:p>
          <a:p>
            <a:r>
              <a:rPr lang="en-GB" dirty="0"/>
              <a:t>The setting we considered for this part was that we assume we have a large KG for which some n by n blocks of adjacency entries have been flagged as potentially anomalous, and we need to correct these subgraphs somehow by finding the optimal alternative local graph structure.</a:t>
            </a:r>
          </a:p>
        </p:txBody>
      </p:sp>
      <p:sp>
        <p:nvSpPr>
          <p:cNvPr id="4" name="Slide Number Placeholder 3">
            <a:extLst>
              <a:ext uri="{FF2B5EF4-FFF2-40B4-BE49-F238E27FC236}">
                <a16:creationId xmlns:a16="http://schemas.microsoft.com/office/drawing/2014/main" id="{E2F3582B-1FD1-B648-D066-34BD418C2B9E}"/>
              </a:ext>
            </a:extLst>
          </p:cNvPr>
          <p:cNvSpPr>
            <a:spLocks noGrp="1"/>
          </p:cNvSpPr>
          <p:nvPr>
            <p:ph type="sldNum" sz="quarter" idx="5"/>
          </p:nvPr>
        </p:nvSpPr>
        <p:spPr/>
        <p:txBody>
          <a:bodyPr/>
          <a:lstStyle/>
          <a:p>
            <a:fld id="{4CF50783-AAED-1941-8BCC-9F6140F0A6B1}" type="slidenum">
              <a:rPr lang="fr-FR" smtClean="0"/>
              <a:pPr/>
              <a:t>68</a:t>
            </a:fld>
            <a:endParaRPr lang="fr-FR" dirty="0"/>
          </a:p>
        </p:txBody>
      </p:sp>
    </p:spTree>
    <p:extLst>
      <p:ext uri="{BB962C8B-B14F-4D97-AF65-F5344CB8AC3E}">
        <p14:creationId xmlns:p14="http://schemas.microsoft.com/office/powerpoint/2010/main" val="62148397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C8ACF-7E27-4182-690A-F73E808E1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CFD3B-DA4F-2908-C9CB-3BDFC5820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5C305-5036-2A97-F2AC-94841A4D82F0}"/>
              </a:ext>
            </a:extLst>
          </p:cNvPr>
          <p:cNvSpPr>
            <a:spLocks noGrp="1"/>
          </p:cNvSpPr>
          <p:nvPr>
            <p:ph type="body" idx="1"/>
          </p:nvPr>
        </p:nvSpPr>
        <p:spPr/>
        <p:txBody>
          <a:bodyPr/>
          <a:lstStyle/>
          <a:p>
            <a:r>
              <a:rPr lang="en-US" dirty="0"/>
              <a:t>But, from chapter 3 we saw how knowledge graph reasoning models are very good at estimating the likelihood of edges through the link prediction task and finding the best way to complete the knowledge graph with new facts through the query answering task. So let’s assume we have perfect reasoning oracles and devise a first approach how to perform the anomaly correction. </a:t>
            </a:r>
          </a:p>
          <a:p>
            <a:endParaRPr lang="en-US" dirty="0"/>
          </a:p>
          <a:p>
            <a:r>
              <a:rPr lang="en-US" dirty="0"/>
              <a:t>We could first apply the link prediction model to detect the false entries in the n by n blocks, then perform query answering to correct their values, however since the knowledge graph changed now we need to re-train our models on the correct data, but this also implies that we need to restart everything, because the now more accurate models might identify new false entries. </a:t>
            </a:r>
            <a:endParaRPr lang="en-GB" dirty="0"/>
          </a:p>
        </p:txBody>
      </p:sp>
      <p:sp>
        <p:nvSpPr>
          <p:cNvPr id="4" name="Slide Number Placeholder 3">
            <a:extLst>
              <a:ext uri="{FF2B5EF4-FFF2-40B4-BE49-F238E27FC236}">
                <a16:creationId xmlns:a16="http://schemas.microsoft.com/office/drawing/2014/main" id="{ADA21515-3927-A5DC-9E3F-37B709696122}"/>
              </a:ext>
            </a:extLst>
          </p:cNvPr>
          <p:cNvSpPr>
            <a:spLocks noGrp="1"/>
          </p:cNvSpPr>
          <p:nvPr>
            <p:ph type="sldNum" sz="quarter" idx="5"/>
          </p:nvPr>
        </p:nvSpPr>
        <p:spPr/>
        <p:txBody>
          <a:bodyPr/>
          <a:lstStyle/>
          <a:p>
            <a:fld id="{4CF50783-AAED-1941-8BCC-9F6140F0A6B1}" type="slidenum">
              <a:rPr lang="fr-FR" smtClean="0"/>
              <a:pPr/>
              <a:t>69</a:t>
            </a:fld>
            <a:endParaRPr lang="fr-FR" dirty="0"/>
          </a:p>
        </p:txBody>
      </p:sp>
    </p:spTree>
    <p:extLst>
      <p:ext uri="{BB962C8B-B14F-4D97-AF65-F5344CB8AC3E}">
        <p14:creationId xmlns:p14="http://schemas.microsoft.com/office/powerpoint/2010/main" val="18030603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B8CC-E253-388B-50D2-0A500FFE6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8BA02-1C36-ECC1-1834-E12E08F293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317E3-7F32-A09C-9745-CC334F977AE6}"/>
              </a:ext>
            </a:extLst>
          </p:cNvPr>
          <p:cNvSpPr>
            <a:spLocks noGrp="1"/>
          </p:cNvSpPr>
          <p:nvPr>
            <p:ph type="body" idx="1"/>
          </p:nvPr>
        </p:nvSpPr>
        <p:spPr/>
        <p:txBody>
          <a:bodyPr/>
          <a:lstStyle/>
          <a:p>
            <a:r>
              <a:rPr lang="en-US" dirty="0"/>
              <a:t>If you do the math, it comes out that this naïve approach will have a horrible cost proportional to n^4 and |V|. Why did this happen? Because we only had the power to estimate likelihood at the edge level and not for whole subgraphs, and the reasoning models do not inherently estimate the noise level in the data to know exactly what transformations to perform depending on the type of noise.</a:t>
            </a:r>
          </a:p>
          <a:p>
            <a:endParaRPr lang="en-US" dirty="0"/>
          </a:p>
          <a:p>
            <a:r>
              <a:rPr lang="en-US" dirty="0"/>
              <a:t>But on the other hand, we have been presenting previously how diffusion models are very good at denoising due to being trained on data with diverse amounts of noise. In this way, we could obtain a corrected subgraph with cost scaling with n^2 and T instead, at the cost of performance guarantees being provided only in expectation due to the inexactness of sampling.</a:t>
            </a:r>
            <a:endParaRPr lang="en-GB" dirty="0"/>
          </a:p>
        </p:txBody>
      </p:sp>
      <p:sp>
        <p:nvSpPr>
          <p:cNvPr id="4" name="Slide Number Placeholder 3">
            <a:extLst>
              <a:ext uri="{FF2B5EF4-FFF2-40B4-BE49-F238E27FC236}">
                <a16:creationId xmlns:a16="http://schemas.microsoft.com/office/drawing/2014/main" id="{19974AA5-BE48-EA5E-0C07-8B8752E60A6E}"/>
              </a:ext>
            </a:extLst>
          </p:cNvPr>
          <p:cNvSpPr>
            <a:spLocks noGrp="1"/>
          </p:cNvSpPr>
          <p:nvPr>
            <p:ph type="sldNum" sz="quarter" idx="5"/>
          </p:nvPr>
        </p:nvSpPr>
        <p:spPr/>
        <p:txBody>
          <a:bodyPr/>
          <a:lstStyle/>
          <a:p>
            <a:fld id="{4CF50783-AAED-1941-8BCC-9F6140F0A6B1}" type="slidenum">
              <a:rPr lang="fr-FR" smtClean="0"/>
              <a:pPr/>
              <a:t>70</a:t>
            </a:fld>
            <a:endParaRPr lang="fr-FR" dirty="0"/>
          </a:p>
        </p:txBody>
      </p:sp>
    </p:spTree>
    <p:extLst>
      <p:ext uri="{BB962C8B-B14F-4D97-AF65-F5344CB8AC3E}">
        <p14:creationId xmlns:p14="http://schemas.microsoft.com/office/powerpoint/2010/main" val="2475110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0886-9A14-D8E8-66DB-3BB5A8746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ADF85-DD9B-9464-3337-859067BBF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69EA8-3DBC-1CBF-30BC-76293A7E0F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4AABCF5-9574-A5A5-3956-0E2B3980D55E}"/>
              </a:ext>
            </a:extLst>
          </p:cNvPr>
          <p:cNvSpPr>
            <a:spLocks noGrp="1"/>
          </p:cNvSpPr>
          <p:nvPr>
            <p:ph type="sldNum" sz="quarter" idx="5"/>
          </p:nvPr>
        </p:nvSpPr>
        <p:spPr/>
        <p:txBody>
          <a:bodyPr/>
          <a:lstStyle/>
          <a:p>
            <a:fld id="{4CF50783-AAED-1941-8BCC-9F6140F0A6B1}" type="slidenum">
              <a:rPr lang="fr-FR" smtClean="0"/>
              <a:pPr/>
              <a:t>71</a:t>
            </a:fld>
            <a:endParaRPr lang="fr-FR" dirty="0"/>
          </a:p>
        </p:txBody>
      </p:sp>
    </p:spTree>
    <p:extLst>
      <p:ext uri="{BB962C8B-B14F-4D97-AF65-F5344CB8AC3E}">
        <p14:creationId xmlns:p14="http://schemas.microsoft.com/office/powerpoint/2010/main" val="14312611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32806-5446-5F31-7246-58F803D9E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D63E5-BFE3-F370-C351-FCB2F0B14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38AAB-4646-25F8-FC10-A2C63520A683}"/>
              </a:ext>
            </a:extLst>
          </p:cNvPr>
          <p:cNvSpPr>
            <a:spLocks noGrp="1"/>
          </p:cNvSpPr>
          <p:nvPr>
            <p:ph type="body" idx="1"/>
          </p:nvPr>
        </p:nvSpPr>
        <p:spPr/>
        <p:txBody>
          <a:bodyPr/>
          <a:lstStyle/>
          <a:p>
            <a:r>
              <a:rPr lang="en-US" dirty="0"/>
              <a:t>So our contributions here are showing promising experiments in applying denoising diffusion to datasets of entity-labeled knowledge subgraphs. </a:t>
            </a:r>
          </a:p>
          <a:p>
            <a:endParaRPr lang="en-US" dirty="0"/>
          </a:p>
          <a:p>
            <a:r>
              <a:rPr lang="en-US" dirty="0"/>
              <a:t>We sample these from the standard academic knowledge graphs by running depth-first-search to topologically sort all the KG entities and then split them into groups according to the DFS spanning tree like in the example on the right. </a:t>
            </a:r>
            <a:endParaRPr lang="en-GB" dirty="0"/>
          </a:p>
        </p:txBody>
      </p:sp>
      <p:sp>
        <p:nvSpPr>
          <p:cNvPr id="4" name="Slide Number Placeholder 3">
            <a:extLst>
              <a:ext uri="{FF2B5EF4-FFF2-40B4-BE49-F238E27FC236}">
                <a16:creationId xmlns:a16="http://schemas.microsoft.com/office/drawing/2014/main" id="{D1008FB2-E2ED-3190-6AD6-562CDD523B1D}"/>
              </a:ext>
            </a:extLst>
          </p:cNvPr>
          <p:cNvSpPr>
            <a:spLocks noGrp="1"/>
          </p:cNvSpPr>
          <p:nvPr>
            <p:ph type="sldNum" sz="quarter" idx="5"/>
          </p:nvPr>
        </p:nvSpPr>
        <p:spPr/>
        <p:txBody>
          <a:bodyPr/>
          <a:lstStyle/>
          <a:p>
            <a:fld id="{4CF50783-AAED-1941-8BCC-9F6140F0A6B1}" type="slidenum">
              <a:rPr lang="fr-FR" smtClean="0"/>
              <a:pPr/>
              <a:t>72</a:t>
            </a:fld>
            <a:endParaRPr lang="fr-FR" dirty="0"/>
          </a:p>
        </p:txBody>
      </p:sp>
    </p:spTree>
    <p:extLst>
      <p:ext uri="{BB962C8B-B14F-4D97-AF65-F5344CB8AC3E}">
        <p14:creationId xmlns:p14="http://schemas.microsoft.com/office/powerpoint/2010/main" val="38905641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E4ACE-460D-3B43-CD64-245627577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1F21C-28C7-1E2B-C4EA-2AE0DB9BF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209C6-84CE-767F-819E-ADAD31E0EC70}"/>
              </a:ext>
            </a:extLst>
          </p:cNvPr>
          <p:cNvSpPr>
            <a:spLocks noGrp="1"/>
          </p:cNvSpPr>
          <p:nvPr>
            <p:ph type="body" idx="1"/>
          </p:nvPr>
        </p:nvSpPr>
        <p:spPr/>
        <p:txBody>
          <a:bodyPr/>
          <a:lstStyle/>
          <a:p>
            <a:r>
              <a:rPr lang="en-US" dirty="0"/>
              <a:t>Due to the need to constrain the diffusion process to affect only a single subgraph of the KG, we model and generate from edge likelihoods conditioned on which set of entities the edges are for.</a:t>
            </a:r>
          </a:p>
          <a:p>
            <a:endParaRPr lang="en-US" dirty="0"/>
          </a:p>
          <a:p>
            <a:r>
              <a:rPr lang="en-US" dirty="0"/>
              <a:t>I also considered a simpler problem of denoising only a part of the subgraph’s adjacency matrix through masked diffusion.</a:t>
            </a:r>
          </a:p>
          <a:p>
            <a:endParaRPr lang="en-US" dirty="0"/>
          </a:p>
          <a:p>
            <a:r>
              <a:rPr lang="en-US" dirty="0"/>
              <a:t>And for the nth time, the diffusion model itself is something based on the </a:t>
            </a:r>
            <a:r>
              <a:rPr lang="en-US" dirty="0" err="1"/>
              <a:t>DiGress</a:t>
            </a:r>
            <a:r>
              <a:rPr lang="en-US" dirty="0"/>
              <a:t> architecture which we are very proud of.</a:t>
            </a:r>
            <a:endParaRPr lang="en-GB" dirty="0"/>
          </a:p>
        </p:txBody>
      </p:sp>
      <p:sp>
        <p:nvSpPr>
          <p:cNvPr id="4" name="Slide Number Placeholder 3">
            <a:extLst>
              <a:ext uri="{FF2B5EF4-FFF2-40B4-BE49-F238E27FC236}">
                <a16:creationId xmlns:a16="http://schemas.microsoft.com/office/drawing/2014/main" id="{5E1F40F5-9867-7E09-0F19-03427EE53324}"/>
              </a:ext>
            </a:extLst>
          </p:cNvPr>
          <p:cNvSpPr>
            <a:spLocks noGrp="1"/>
          </p:cNvSpPr>
          <p:nvPr>
            <p:ph type="sldNum" sz="quarter" idx="5"/>
          </p:nvPr>
        </p:nvSpPr>
        <p:spPr/>
        <p:txBody>
          <a:bodyPr/>
          <a:lstStyle/>
          <a:p>
            <a:fld id="{4CF50783-AAED-1941-8BCC-9F6140F0A6B1}" type="slidenum">
              <a:rPr lang="fr-FR" smtClean="0"/>
              <a:pPr/>
              <a:t>73</a:t>
            </a:fld>
            <a:endParaRPr lang="fr-FR" dirty="0"/>
          </a:p>
        </p:txBody>
      </p:sp>
    </p:spTree>
    <p:extLst>
      <p:ext uri="{BB962C8B-B14F-4D97-AF65-F5344CB8AC3E}">
        <p14:creationId xmlns:p14="http://schemas.microsoft.com/office/powerpoint/2010/main" val="228614122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18E8-8EBD-B8ED-E886-E097A9CD2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9CAC3-9B1C-18B9-070E-3D10E0B5D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70081-754E-6899-073A-9E63E19E2C8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AE472F-5DEF-134D-F426-E7AF8D4A3086}"/>
              </a:ext>
            </a:extLst>
          </p:cNvPr>
          <p:cNvSpPr>
            <a:spLocks noGrp="1"/>
          </p:cNvSpPr>
          <p:nvPr>
            <p:ph type="sldNum" sz="quarter" idx="5"/>
          </p:nvPr>
        </p:nvSpPr>
        <p:spPr/>
        <p:txBody>
          <a:bodyPr/>
          <a:lstStyle/>
          <a:p>
            <a:fld id="{4CF50783-AAED-1941-8BCC-9F6140F0A6B1}" type="slidenum">
              <a:rPr lang="fr-FR" smtClean="0"/>
              <a:pPr/>
              <a:t>74</a:t>
            </a:fld>
            <a:endParaRPr lang="fr-FR" dirty="0"/>
          </a:p>
        </p:txBody>
      </p:sp>
    </p:spTree>
    <p:extLst>
      <p:ext uri="{BB962C8B-B14F-4D97-AF65-F5344CB8AC3E}">
        <p14:creationId xmlns:p14="http://schemas.microsoft.com/office/powerpoint/2010/main" val="7161824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FF83F-7CF9-44C4-236A-1213D5B3D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B971A-57E5-14B4-1567-78E1D1656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B20B5-AE15-41A3-F2B6-9C4198FB4F64}"/>
              </a:ext>
            </a:extLst>
          </p:cNvPr>
          <p:cNvSpPr>
            <a:spLocks noGrp="1"/>
          </p:cNvSpPr>
          <p:nvPr>
            <p:ph type="body" idx="1"/>
          </p:nvPr>
        </p:nvSpPr>
        <p:spPr/>
        <p:txBody>
          <a:bodyPr/>
          <a:lstStyle/>
          <a:p>
            <a:r>
              <a:rPr lang="en-US" dirty="0"/>
              <a:t>About the experimental results I can first summarize that according to the opinion of graph generation metrics we always match the distributions of graph metrics between generated and true graphs. However, here we have an additional dimension: whether the fact likelihood in the subgraphs increased also from a reasoning perspective. </a:t>
            </a:r>
          </a:p>
          <a:p>
            <a:endParaRPr lang="en-US" dirty="0"/>
          </a:p>
          <a:p>
            <a:r>
              <a:rPr lang="en-US" dirty="0"/>
              <a:t>So in these first plots we showcase how for one dataset the contrastive loss for KGs changed across diffusion steps, in comparison to the minimum possible to achieve according to the pre-trained reasoning model. We can observe the benefits of diffusion for this problem, as no matter the noise level the model was able to continuously improve the subgraph likelihood over time. The only issue is that unfortunately there is some downstream underfitting and overfitting.</a:t>
            </a:r>
          </a:p>
          <a:p>
            <a:endParaRPr lang="en-US" dirty="0"/>
          </a:p>
          <a:p>
            <a:r>
              <a:rPr lang="en-US" dirty="0"/>
              <a:t>Promisingly however, this was often not the case for the simpler masked correction experiments, where we could more closely match the reasoning performance.</a:t>
            </a:r>
            <a:endParaRPr lang="en-GB" dirty="0"/>
          </a:p>
        </p:txBody>
      </p:sp>
      <p:sp>
        <p:nvSpPr>
          <p:cNvPr id="4" name="Slide Number Placeholder 3">
            <a:extLst>
              <a:ext uri="{FF2B5EF4-FFF2-40B4-BE49-F238E27FC236}">
                <a16:creationId xmlns:a16="http://schemas.microsoft.com/office/drawing/2014/main" id="{1F2A37E4-7536-5335-B293-C762C25EB90E}"/>
              </a:ext>
            </a:extLst>
          </p:cNvPr>
          <p:cNvSpPr>
            <a:spLocks noGrp="1"/>
          </p:cNvSpPr>
          <p:nvPr>
            <p:ph type="sldNum" sz="quarter" idx="5"/>
          </p:nvPr>
        </p:nvSpPr>
        <p:spPr/>
        <p:txBody>
          <a:bodyPr/>
          <a:lstStyle/>
          <a:p>
            <a:fld id="{4CF50783-AAED-1941-8BCC-9F6140F0A6B1}" type="slidenum">
              <a:rPr lang="fr-FR" smtClean="0"/>
              <a:pPr/>
              <a:t>75</a:t>
            </a:fld>
            <a:endParaRPr lang="fr-FR" dirty="0"/>
          </a:p>
        </p:txBody>
      </p:sp>
    </p:spTree>
    <p:extLst>
      <p:ext uri="{BB962C8B-B14F-4D97-AF65-F5344CB8AC3E}">
        <p14:creationId xmlns:p14="http://schemas.microsoft.com/office/powerpoint/2010/main" val="37097165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2057-4E91-48C3-8F4A-ED3EA7CB5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97A93-5658-3C10-B45F-8F8202C92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5B20B-5184-B8FA-9C0A-1542036A111A}"/>
              </a:ext>
            </a:extLst>
          </p:cNvPr>
          <p:cNvSpPr>
            <a:spLocks noGrp="1"/>
          </p:cNvSpPr>
          <p:nvPr>
            <p:ph type="body" idx="1"/>
          </p:nvPr>
        </p:nvSpPr>
        <p:spPr/>
        <p:txBody>
          <a:bodyPr/>
          <a:lstStyle/>
          <a:p>
            <a:r>
              <a:rPr lang="en-US" dirty="0"/>
              <a:t>Let’s see thus some visual examples. Here we are in the masked case, where some relations linking concepts tangential to espionage have been misplaced. </a:t>
            </a:r>
          </a:p>
          <a:p>
            <a:endParaRPr lang="en-US" dirty="0"/>
          </a:p>
          <a:p>
            <a:r>
              <a:rPr lang="en-US" dirty="0"/>
              <a:t>The resulting denoised graph from the generator seems to be a correct alternative local structure.</a:t>
            </a:r>
            <a:endParaRPr lang="en-GB" dirty="0"/>
          </a:p>
        </p:txBody>
      </p:sp>
      <p:sp>
        <p:nvSpPr>
          <p:cNvPr id="4" name="Slide Number Placeholder 3">
            <a:extLst>
              <a:ext uri="{FF2B5EF4-FFF2-40B4-BE49-F238E27FC236}">
                <a16:creationId xmlns:a16="http://schemas.microsoft.com/office/drawing/2014/main" id="{BABE490A-3FA2-CE3F-6473-88130D66AD22}"/>
              </a:ext>
            </a:extLst>
          </p:cNvPr>
          <p:cNvSpPr>
            <a:spLocks noGrp="1"/>
          </p:cNvSpPr>
          <p:nvPr>
            <p:ph type="sldNum" sz="quarter" idx="5"/>
          </p:nvPr>
        </p:nvSpPr>
        <p:spPr/>
        <p:txBody>
          <a:bodyPr/>
          <a:lstStyle/>
          <a:p>
            <a:fld id="{4CF50783-AAED-1941-8BCC-9F6140F0A6B1}" type="slidenum">
              <a:rPr lang="fr-FR" smtClean="0"/>
              <a:pPr/>
              <a:t>76</a:t>
            </a:fld>
            <a:endParaRPr lang="fr-FR" dirty="0"/>
          </a:p>
        </p:txBody>
      </p:sp>
    </p:spTree>
    <p:extLst>
      <p:ext uri="{BB962C8B-B14F-4D97-AF65-F5344CB8AC3E}">
        <p14:creationId xmlns:p14="http://schemas.microsoft.com/office/powerpoint/2010/main" val="370318241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CE534-888F-BD96-9977-E456D4753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419A6-D7FF-06B2-9AD5-BEBAEE207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F1070-6AD5-6C86-2D44-A975A1D2E30F}"/>
              </a:ext>
            </a:extLst>
          </p:cNvPr>
          <p:cNvSpPr>
            <a:spLocks noGrp="1"/>
          </p:cNvSpPr>
          <p:nvPr>
            <p:ph type="body" idx="1"/>
          </p:nvPr>
        </p:nvSpPr>
        <p:spPr/>
        <p:txBody>
          <a:bodyPr/>
          <a:lstStyle/>
          <a:p>
            <a:r>
              <a:rPr lang="en-US" dirty="0"/>
              <a:t>Here’s on the other hand a fully noisy bipartite graph with many issues.</a:t>
            </a:r>
          </a:p>
          <a:p>
            <a:endParaRPr lang="en-US" dirty="0"/>
          </a:p>
          <a:p>
            <a:r>
              <a:rPr lang="en-US" dirty="0"/>
              <a:t>Yet, our output correctly untangles the spaghetti and retrieves the information about which people and places should be associated with the US states of Wyoming and Nevada.</a:t>
            </a:r>
            <a:endParaRPr lang="en-GB" dirty="0"/>
          </a:p>
        </p:txBody>
      </p:sp>
      <p:sp>
        <p:nvSpPr>
          <p:cNvPr id="4" name="Slide Number Placeholder 3">
            <a:extLst>
              <a:ext uri="{FF2B5EF4-FFF2-40B4-BE49-F238E27FC236}">
                <a16:creationId xmlns:a16="http://schemas.microsoft.com/office/drawing/2014/main" id="{C108F4A0-8811-4574-C54A-8AFC5413C9EB}"/>
              </a:ext>
            </a:extLst>
          </p:cNvPr>
          <p:cNvSpPr>
            <a:spLocks noGrp="1"/>
          </p:cNvSpPr>
          <p:nvPr>
            <p:ph type="sldNum" sz="quarter" idx="5"/>
          </p:nvPr>
        </p:nvSpPr>
        <p:spPr/>
        <p:txBody>
          <a:bodyPr/>
          <a:lstStyle/>
          <a:p>
            <a:fld id="{4CF50783-AAED-1941-8BCC-9F6140F0A6B1}" type="slidenum">
              <a:rPr lang="fr-FR" smtClean="0"/>
              <a:pPr/>
              <a:t>77</a:t>
            </a:fld>
            <a:endParaRPr lang="fr-FR" dirty="0"/>
          </a:p>
        </p:txBody>
      </p:sp>
    </p:spTree>
    <p:extLst>
      <p:ext uri="{BB962C8B-B14F-4D97-AF65-F5344CB8AC3E}">
        <p14:creationId xmlns:p14="http://schemas.microsoft.com/office/powerpoint/2010/main" val="17752432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D66C-4742-98BD-93DA-E71D7E9BF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D05BC-9A63-77EA-B18A-83762BE22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D6FBC-4007-6B12-D2C4-542A53E1C694}"/>
              </a:ext>
            </a:extLst>
          </p:cNvPr>
          <p:cNvSpPr>
            <a:spLocks noGrp="1"/>
          </p:cNvSpPr>
          <p:nvPr>
            <p:ph type="body" idx="1"/>
          </p:nvPr>
        </p:nvSpPr>
        <p:spPr/>
        <p:txBody>
          <a:bodyPr/>
          <a:lstStyle/>
          <a:p>
            <a:r>
              <a:rPr lang="en-US" dirty="0"/>
              <a:t>As a summary of these experiments and maybe the topics of this thesis work as a whole, we present this Venn diagram. We were able to apply graph generation models for a knowledge graph application because both reasoning and generative models are able to estimate edge likelihoods. On one hand we utilized the noise estimation and graph-level expressive powers of generative models to more </a:t>
            </a:r>
            <a:r>
              <a:rPr lang="en-US" dirty="0" err="1"/>
              <a:t>scalably</a:t>
            </a:r>
            <a:r>
              <a:rPr lang="en-US" dirty="0"/>
              <a:t> solve the anomaly correction task, however it was sometimes difficult to match the edge classification and ranking power of KG reasoning models.</a:t>
            </a:r>
            <a:endParaRPr lang="en-GB" dirty="0"/>
          </a:p>
        </p:txBody>
      </p:sp>
      <p:sp>
        <p:nvSpPr>
          <p:cNvPr id="4" name="Slide Number Placeholder 3">
            <a:extLst>
              <a:ext uri="{FF2B5EF4-FFF2-40B4-BE49-F238E27FC236}">
                <a16:creationId xmlns:a16="http://schemas.microsoft.com/office/drawing/2014/main" id="{B6BC870F-8D12-B775-5F76-984582E4971B}"/>
              </a:ext>
            </a:extLst>
          </p:cNvPr>
          <p:cNvSpPr>
            <a:spLocks noGrp="1"/>
          </p:cNvSpPr>
          <p:nvPr>
            <p:ph type="sldNum" sz="quarter" idx="5"/>
          </p:nvPr>
        </p:nvSpPr>
        <p:spPr/>
        <p:txBody>
          <a:bodyPr/>
          <a:lstStyle/>
          <a:p>
            <a:fld id="{4CF50783-AAED-1941-8BCC-9F6140F0A6B1}" type="slidenum">
              <a:rPr lang="fr-FR" smtClean="0"/>
              <a:pPr/>
              <a:t>78</a:t>
            </a:fld>
            <a:endParaRPr lang="fr-FR" dirty="0"/>
          </a:p>
        </p:txBody>
      </p:sp>
    </p:spTree>
    <p:extLst>
      <p:ext uri="{BB962C8B-B14F-4D97-AF65-F5344CB8AC3E}">
        <p14:creationId xmlns:p14="http://schemas.microsoft.com/office/powerpoint/2010/main" val="25333553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D403-0EE7-1222-5BEA-3B5CDE4D1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1FED0-9A9A-61BB-443D-0E7A02A31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47F6A-DECF-8231-B85D-4DCFA0082C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EDC82B7-6511-8A90-117E-953BF1C9A3F9}"/>
              </a:ext>
            </a:extLst>
          </p:cNvPr>
          <p:cNvSpPr>
            <a:spLocks noGrp="1"/>
          </p:cNvSpPr>
          <p:nvPr>
            <p:ph type="sldNum" sz="quarter" idx="5"/>
          </p:nvPr>
        </p:nvSpPr>
        <p:spPr/>
        <p:txBody>
          <a:bodyPr/>
          <a:lstStyle/>
          <a:p>
            <a:fld id="{4CF50783-AAED-1941-8BCC-9F6140F0A6B1}" type="slidenum">
              <a:rPr lang="fr-FR" smtClean="0"/>
              <a:pPr/>
              <a:t>79</a:t>
            </a:fld>
            <a:endParaRPr lang="fr-FR" dirty="0"/>
          </a:p>
        </p:txBody>
      </p:sp>
    </p:spTree>
    <p:extLst>
      <p:ext uri="{BB962C8B-B14F-4D97-AF65-F5344CB8AC3E}">
        <p14:creationId xmlns:p14="http://schemas.microsoft.com/office/powerpoint/2010/main" val="2129910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E712-9F40-F303-FFAE-0D06F0165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ACDE2-234C-2C0C-26AE-C3D5F5C57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0F7BB-665F-E370-748E-8E75C90BF4C3}"/>
              </a:ext>
            </a:extLst>
          </p:cNvPr>
          <p:cNvSpPr>
            <a:spLocks noGrp="1"/>
          </p:cNvSpPr>
          <p:nvPr>
            <p:ph type="body" idx="1"/>
          </p:nvPr>
        </p:nvSpPr>
        <p:spPr/>
        <p:txBody>
          <a:bodyPr/>
          <a:lstStyle/>
          <a:p>
            <a:r>
              <a:rPr lang="en-US" dirty="0"/>
              <a:t>So, as overall concluding remarks we can first note that for all the proposed techniques scalability arose from trade-offs between holistic and reductionist ideas, </a:t>
            </a:r>
          </a:p>
          <a:p>
            <a:endParaRPr lang="en-US" dirty="0"/>
          </a:p>
          <a:p>
            <a:r>
              <a:rPr lang="en-US" dirty="0"/>
              <a:t>i.e., from the balance of abstractions and fine-grained detail. </a:t>
            </a:r>
          </a:p>
          <a:p>
            <a:endParaRPr lang="en-US" dirty="0"/>
          </a:p>
          <a:p>
            <a:r>
              <a:rPr lang="en-US" dirty="0"/>
              <a:t>I believe the most promising future extensions of this work is to consider unifying reasoning and generation ideas to treat graphs as an evolving system of knowledge that constantly needs to be predicted and generated, with potentially controllable data abstraction levels.</a:t>
            </a:r>
          </a:p>
          <a:p>
            <a:endParaRPr lang="en-US" dirty="0"/>
          </a:p>
          <a:p>
            <a:r>
              <a:rPr lang="en-US" dirty="0"/>
              <a:t>Before concluding, let’s contemplate how for each technique we presented today, you can find an analogy in the ideas of how to solve those 5x5 Rubik’s cubes.</a:t>
            </a:r>
          </a:p>
        </p:txBody>
      </p:sp>
      <p:sp>
        <p:nvSpPr>
          <p:cNvPr id="4" name="Slide Number Placeholder 3">
            <a:extLst>
              <a:ext uri="{FF2B5EF4-FFF2-40B4-BE49-F238E27FC236}">
                <a16:creationId xmlns:a16="http://schemas.microsoft.com/office/drawing/2014/main" id="{466CFB08-D1CE-C09F-336F-FE19181A648A}"/>
              </a:ext>
            </a:extLst>
          </p:cNvPr>
          <p:cNvSpPr>
            <a:spLocks noGrp="1"/>
          </p:cNvSpPr>
          <p:nvPr>
            <p:ph type="sldNum" sz="quarter" idx="5"/>
          </p:nvPr>
        </p:nvSpPr>
        <p:spPr/>
        <p:txBody>
          <a:bodyPr/>
          <a:lstStyle/>
          <a:p>
            <a:fld id="{4CF50783-AAED-1941-8BCC-9F6140F0A6B1}" type="slidenum">
              <a:rPr lang="fr-FR" smtClean="0"/>
              <a:pPr/>
              <a:t>80</a:t>
            </a:fld>
            <a:endParaRPr lang="fr-FR" dirty="0"/>
          </a:p>
        </p:txBody>
      </p:sp>
    </p:spTree>
    <p:extLst>
      <p:ext uri="{BB962C8B-B14F-4D97-AF65-F5344CB8AC3E}">
        <p14:creationId xmlns:p14="http://schemas.microsoft.com/office/powerpoint/2010/main" val="10018734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7043-E56F-7934-AC04-E8194E60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4766-3181-E986-F6D2-3833154CF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E377A-F7B7-C4EC-4AF4-706BDE8A8C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B76812-9800-F364-717D-D37903647C64}"/>
              </a:ext>
            </a:extLst>
          </p:cNvPr>
          <p:cNvSpPr>
            <a:spLocks noGrp="1"/>
          </p:cNvSpPr>
          <p:nvPr>
            <p:ph type="sldNum" sz="quarter" idx="5"/>
          </p:nvPr>
        </p:nvSpPr>
        <p:spPr/>
        <p:txBody>
          <a:bodyPr/>
          <a:lstStyle/>
          <a:p>
            <a:fld id="{4CF50783-AAED-1941-8BCC-9F6140F0A6B1}" type="slidenum">
              <a:rPr lang="fr-FR" smtClean="0"/>
              <a:pPr/>
              <a:t>81</a:t>
            </a:fld>
            <a:endParaRPr lang="fr-FR" dirty="0"/>
          </a:p>
        </p:txBody>
      </p:sp>
    </p:spTree>
    <p:extLst>
      <p:ext uri="{BB962C8B-B14F-4D97-AF65-F5344CB8AC3E}">
        <p14:creationId xmlns:p14="http://schemas.microsoft.com/office/powerpoint/2010/main" val="4758135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7043-E56F-7934-AC04-E8194E60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4766-3181-E986-F6D2-3833154CF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E377A-F7B7-C4EC-4AF4-706BDE8A8C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B76812-9800-F364-717D-D37903647C64}"/>
              </a:ext>
            </a:extLst>
          </p:cNvPr>
          <p:cNvSpPr>
            <a:spLocks noGrp="1"/>
          </p:cNvSpPr>
          <p:nvPr>
            <p:ph type="sldNum" sz="quarter" idx="5"/>
          </p:nvPr>
        </p:nvSpPr>
        <p:spPr/>
        <p:txBody>
          <a:bodyPr/>
          <a:lstStyle/>
          <a:p>
            <a:fld id="{4CF50783-AAED-1941-8BCC-9F6140F0A6B1}" type="slidenum">
              <a:rPr lang="fr-FR" smtClean="0"/>
              <a:pPr/>
              <a:t>82</a:t>
            </a:fld>
            <a:endParaRPr lang="fr-FR" dirty="0"/>
          </a:p>
        </p:txBody>
      </p:sp>
    </p:spTree>
    <p:extLst>
      <p:ext uri="{BB962C8B-B14F-4D97-AF65-F5344CB8AC3E}">
        <p14:creationId xmlns:p14="http://schemas.microsoft.com/office/powerpoint/2010/main" val="10465574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7043-E56F-7934-AC04-E8194E60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4766-3181-E986-F6D2-3833154CF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E377A-F7B7-C4EC-4AF4-706BDE8A8C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B76812-9800-F364-717D-D37903647C64}"/>
              </a:ext>
            </a:extLst>
          </p:cNvPr>
          <p:cNvSpPr>
            <a:spLocks noGrp="1"/>
          </p:cNvSpPr>
          <p:nvPr>
            <p:ph type="sldNum" sz="quarter" idx="5"/>
          </p:nvPr>
        </p:nvSpPr>
        <p:spPr/>
        <p:txBody>
          <a:bodyPr/>
          <a:lstStyle/>
          <a:p>
            <a:fld id="{4CF50783-AAED-1941-8BCC-9F6140F0A6B1}" type="slidenum">
              <a:rPr lang="fr-FR" smtClean="0"/>
              <a:pPr/>
              <a:t>83</a:t>
            </a:fld>
            <a:endParaRPr lang="fr-FR" dirty="0"/>
          </a:p>
        </p:txBody>
      </p:sp>
    </p:spTree>
    <p:extLst>
      <p:ext uri="{BB962C8B-B14F-4D97-AF65-F5344CB8AC3E}">
        <p14:creationId xmlns:p14="http://schemas.microsoft.com/office/powerpoint/2010/main" val="31833054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7043-E56F-7934-AC04-E8194E60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4766-3181-E986-F6D2-3833154CF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E377A-F7B7-C4EC-4AF4-706BDE8A8C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B76812-9800-F364-717D-D37903647C64}"/>
              </a:ext>
            </a:extLst>
          </p:cNvPr>
          <p:cNvSpPr>
            <a:spLocks noGrp="1"/>
          </p:cNvSpPr>
          <p:nvPr>
            <p:ph type="sldNum" sz="quarter" idx="5"/>
          </p:nvPr>
        </p:nvSpPr>
        <p:spPr/>
        <p:txBody>
          <a:bodyPr/>
          <a:lstStyle/>
          <a:p>
            <a:fld id="{4CF50783-AAED-1941-8BCC-9F6140F0A6B1}" type="slidenum">
              <a:rPr lang="fr-FR" smtClean="0"/>
              <a:pPr/>
              <a:t>84</a:t>
            </a:fld>
            <a:endParaRPr lang="fr-FR" dirty="0"/>
          </a:p>
        </p:txBody>
      </p:sp>
    </p:spTree>
    <p:extLst>
      <p:ext uri="{BB962C8B-B14F-4D97-AF65-F5344CB8AC3E}">
        <p14:creationId xmlns:p14="http://schemas.microsoft.com/office/powerpoint/2010/main" val="41968542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was all the new knowledge for today. Thank you for your attention, and I will be happy to take any questions you may have.</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85</a:t>
            </a:fld>
            <a:endParaRPr lang="fr-FR" dirty="0"/>
          </a:p>
        </p:txBody>
      </p:sp>
    </p:spTree>
    <p:extLst>
      <p:ext uri="{BB962C8B-B14F-4D97-AF65-F5344CB8AC3E}">
        <p14:creationId xmlns:p14="http://schemas.microsoft.com/office/powerpoint/2010/main" val="2126906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4CF6F629-51E7-9F40-939D-F50AE3925ADE}"/>
              </a:ext>
            </a:extLst>
          </p:cNvPr>
          <p:cNvSpPr>
            <a:spLocks noGrp="1"/>
          </p:cNvSpPr>
          <p:nvPr>
            <p:ph type="pic" sz="quarter" idx="10"/>
          </p:nvPr>
        </p:nvSpPr>
        <p:spPr>
          <a:xfrm>
            <a:off x="1331913" y="0"/>
            <a:ext cx="7812087" cy="4948238"/>
          </a:xfrm>
        </p:spPr>
        <p:txBody>
          <a:bodyPr/>
          <a:lstStyle/>
          <a:p>
            <a:r>
              <a:rPr lang="fr-FR"/>
              <a:t>Cliquez sur l'icône pour ajouter une image</a:t>
            </a:r>
          </a:p>
        </p:txBody>
      </p:sp>
      <p:sp>
        <p:nvSpPr>
          <p:cNvPr id="2" name="Title 1"/>
          <p:cNvSpPr>
            <a:spLocks noGrp="1"/>
          </p:cNvSpPr>
          <p:nvPr>
            <p:ph type="ctrTitle"/>
          </p:nvPr>
        </p:nvSpPr>
        <p:spPr>
          <a:xfrm>
            <a:off x="6405563" y="786535"/>
            <a:ext cx="2738437" cy="2338387"/>
          </a:xfrm>
          <a:solidFill>
            <a:schemeClr val="accent1"/>
          </a:solidFill>
        </p:spPr>
        <p:txBody>
          <a:bodyPr lIns="216000" anchor="ctr" anchorCtr="0">
            <a:normAutofit/>
          </a:bodyPr>
          <a:lstStyle>
            <a:lvl1pPr algn="l">
              <a:defRPr sz="3600">
                <a:solidFill>
                  <a:schemeClr val="bg1"/>
                </a:solidFill>
              </a:defRPr>
            </a:lvl1pPr>
          </a:lstStyle>
          <a:p>
            <a:r>
              <a:rPr lang="fr-FR"/>
              <a:t>Modifiez le style du titre</a:t>
            </a:r>
            <a:endParaRPr lang="en-US" dirty="0"/>
          </a:p>
        </p:txBody>
      </p:sp>
      <p:sp>
        <p:nvSpPr>
          <p:cNvPr id="3" name="Subtitle 2"/>
          <p:cNvSpPr>
            <a:spLocks noGrp="1"/>
          </p:cNvSpPr>
          <p:nvPr>
            <p:ph type="subTitle" idx="1"/>
          </p:nvPr>
        </p:nvSpPr>
        <p:spPr>
          <a:xfrm>
            <a:off x="4576763" y="3124922"/>
            <a:ext cx="1828800" cy="1568450"/>
          </a:xfrm>
          <a:solidFill>
            <a:schemeClr val="tx1"/>
          </a:solidFill>
        </p:spPr>
        <p:txBody>
          <a:bodyPr lIns="90000" anchor="ctr" anchorCtr="0">
            <a:normAutofit/>
          </a:bodyPr>
          <a:lstStyle>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pic>
        <p:nvPicPr>
          <p:cNvPr id="9" name="Image 8">
            <a:extLst>
              <a:ext uri="{FF2B5EF4-FFF2-40B4-BE49-F238E27FC236}">
                <a16:creationId xmlns:a16="http://schemas.microsoft.com/office/drawing/2014/main" id="{6535A482-EC85-1C41-A1E4-7882A0E39FFD}"/>
              </a:ext>
            </a:extLst>
          </p:cNvPr>
          <p:cNvPicPr>
            <a:picLocks noChangeAspect="1"/>
          </p:cNvPicPr>
          <p:nvPr userDrawn="1"/>
        </p:nvPicPr>
        <p:blipFill>
          <a:blip r:embed="rId2"/>
          <a:stretch>
            <a:fillRect/>
          </a:stretch>
        </p:blipFill>
        <p:spPr>
          <a:xfrm>
            <a:off x="82647" y="80283"/>
            <a:ext cx="1175301" cy="508655"/>
          </a:xfrm>
          <a:prstGeom prst="rect">
            <a:avLst/>
          </a:prstGeom>
        </p:spPr>
      </p:pic>
      <p:sp>
        <p:nvSpPr>
          <p:cNvPr id="16" name="Espace réservé du texte 4">
            <a:extLst>
              <a:ext uri="{FF2B5EF4-FFF2-40B4-BE49-F238E27FC236}">
                <a16:creationId xmlns:a16="http://schemas.microsoft.com/office/drawing/2014/main" id="{01960462-6F28-0740-916D-499D3BEDB2BE}"/>
              </a:ext>
            </a:extLst>
          </p:cNvPr>
          <p:cNvSpPr>
            <a:spLocks noGrp="1"/>
          </p:cNvSpPr>
          <p:nvPr>
            <p:ph type="body" sz="quarter" idx="11"/>
          </p:nvPr>
        </p:nvSpPr>
        <p:spPr>
          <a:xfrm>
            <a:off x="6400800" y="4683125"/>
            <a:ext cx="1828800" cy="460375"/>
          </a:xfrm>
          <a:solidFill>
            <a:schemeClr val="bg1"/>
          </a:solidFill>
        </p:spPr>
        <p:txBody>
          <a:bodyPr lIns="90000" anchor="ctr">
            <a:noAutofit/>
          </a:bodyPr>
          <a:lstStyle>
            <a:lvl1pPr marL="0" indent="0" algn="ctr">
              <a:buNone/>
              <a:defRPr sz="1100"/>
            </a:lvl1pPr>
          </a:lstStyle>
          <a:p>
            <a:pPr lvl="0"/>
            <a:r>
              <a:rPr lang="fr-FR"/>
              <a:t>Modifier les styles du texte du masque
Deuxième niveau
Troisième niveau
Quatrième niveau
Cinquième niveau</a:t>
            </a:r>
          </a:p>
        </p:txBody>
      </p:sp>
      <p:sp>
        <p:nvSpPr>
          <p:cNvPr id="5" name="Espace réservé du texte 4">
            <a:extLst>
              <a:ext uri="{FF2B5EF4-FFF2-40B4-BE49-F238E27FC236}">
                <a16:creationId xmlns:a16="http://schemas.microsoft.com/office/drawing/2014/main" id="{1E187583-F16A-6F41-8B68-000F9C9C20D3}"/>
              </a:ext>
            </a:extLst>
          </p:cNvPr>
          <p:cNvSpPr>
            <a:spLocks noGrp="1"/>
          </p:cNvSpPr>
          <p:nvPr>
            <p:ph type="body" sz="quarter" idx="12"/>
          </p:nvPr>
        </p:nvSpPr>
        <p:spPr>
          <a:xfrm>
            <a:off x="82550" y="4440264"/>
            <a:ext cx="698500" cy="507975"/>
          </a:xfrm>
        </p:spPr>
        <p:txBody>
          <a:bodyPr lIns="0" tIns="0" rIns="0" bIns="0" anchor="b" anchorCtr="0">
            <a:noAutofit/>
          </a:bodyPr>
          <a:lstStyle>
            <a:lvl1pPr marL="114300" indent="-107950">
              <a:buFontTx/>
              <a:buBlip>
                <a:blip r:embed="rId3"/>
              </a:buBlip>
              <a:tabLst/>
              <a:defRPr sz="700">
                <a:solidFill>
                  <a:schemeClr val="tx1"/>
                </a:solidFill>
              </a:defRPr>
            </a:lvl1pPr>
          </a:lstStyle>
          <a:p>
            <a:r>
              <a:rPr lang="fr-FR" dirty="0"/>
              <a:t>Modifier les styles du texte du masque</a:t>
            </a:r>
          </a:p>
        </p:txBody>
      </p:sp>
    </p:spTree>
    <p:extLst>
      <p:ext uri="{BB962C8B-B14F-4D97-AF65-F5344CB8AC3E}">
        <p14:creationId xmlns:p14="http://schemas.microsoft.com/office/powerpoint/2010/main" val="57788087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pos="126" userDrawn="1">
          <p15:clr>
            <a:srgbClr val="FBAE40"/>
          </p15:clr>
        </p15:guide>
        <p15:guide id="5" orient="horz" pos="123" userDrawn="1">
          <p15:clr>
            <a:srgbClr val="FBAE40"/>
          </p15:clr>
        </p15:guide>
        <p15:guide id="6" orient="horz" pos="3117" userDrawn="1">
          <p15:clr>
            <a:srgbClr val="FBAE40"/>
          </p15:clr>
        </p15:guide>
        <p15:guide id="7" pos="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dirty="0"/>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12" name="Espace réservé de la date 11"/>
          <p:cNvSpPr>
            <a:spLocks noGrp="1"/>
          </p:cNvSpPr>
          <p:nvPr>
            <p:ph type="dt" sz="half" idx="14"/>
          </p:nvPr>
        </p:nvSpPr>
        <p:spPr/>
        <p:txBody>
          <a:bodyPr/>
          <a:lstStyle/>
          <a:p>
            <a:r>
              <a:rPr lang="fr-CH"/>
              <a:t>NAME EVENT / NAME PRESENTATION</a:t>
            </a:r>
            <a:endParaRPr lang="fr-FR" dirty="0"/>
          </a:p>
        </p:txBody>
      </p:sp>
      <p:sp>
        <p:nvSpPr>
          <p:cNvPr id="13" name="Espace réservé du pied de page 12"/>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4" name="Espace réservé du numéro de diapositive 13"/>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398886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dirty="0"/>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12" name="Espace réservé de la date 11"/>
          <p:cNvSpPr>
            <a:spLocks noGrp="1"/>
          </p:cNvSpPr>
          <p:nvPr>
            <p:ph type="dt" sz="half" idx="14"/>
          </p:nvPr>
        </p:nvSpPr>
        <p:spPr/>
        <p:txBody>
          <a:bodyPr/>
          <a:lstStyle/>
          <a:p>
            <a:r>
              <a:rPr lang="fr-CH"/>
              <a:t>NAME EVENT / NAME PRESENTATION</a:t>
            </a:r>
            <a:endParaRPr lang="fr-FR" dirty="0"/>
          </a:p>
        </p:txBody>
      </p:sp>
      <p:sp>
        <p:nvSpPr>
          <p:cNvPr id="13" name="Espace réservé du pied de page 12"/>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4" name="Espace réservé du numéro de diapositive 13"/>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468177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8" name="Espace réservé de la date 7"/>
          <p:cNvSpPr>
            <a:spLocks noGrp="1"/>
          </p:cNvSpPr>
          <p:nvPr>
            <p:ph type="dt" sz="half" idx="14"/>
          </p:nvPr>
        </p:nvSpPr>
        <p:spPr/>
        <p:txBody>
          <a:bodyPr/>
          <a:lstStyle/>
          <a:p>
            <a:r>
              <a:rPr lang="fr-CH"/>
              <a:t>NAME EVENT / NAME PRESENTATION</a:t>
            </a:r>
            <a:endParaRPr lang="fr-FR" dirty="0"/>
          </a:p>
        </p:txBody>
      </p:sp>
      <p:sp>
        <p:nvSpPr>
          <p:cNvPr id="10" name="Espace réservé du pied de page 9"/>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1" name="Espace réservé du numéro de diapositive 10"/>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03222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A30C78BE-DAD0-D748-8B93-AD898D00C88C}"/>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131A8490-33AC-9443-A9FC-9A5E9322967C}"/>
              </a:ext>
            </a:extLst>
          </p:cNvPr>
          <p:cNvSpPr>
            <a:spLocks noGrp="1"/>
          </p:cNvSpPr>
          <p:nvPr>
            <p:ph type="dt" sz="half" idx="10"/>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B875139C-6471-774D-89EF-2B93FAD2CB2A}"/>
              </a:ext>
            </a:extLst>
          </p:cNvPr>
          <p:cNvSpPr>
            <a:spLocks noGrp="1"/>
          </p:cNvSpPr>
          <p:nvPr>
            <p:ph type="ftr" sz="quarter" idx="11"/>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3942AF23-4BDC-8C4A-9212-AF88439C6122}"/>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369627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a:xfrm>
            <a:off x="904875" y="1563688"/>
            <a:ext cx="4581525" cy="3386772"/>
          </a:xfrm>
        </p:spPr>
        <p:txBody>
          <a:bodyPr/>
          <a:lstStyle/>
          <a:p>
            <a:pPr lvl="0"/>
            <a:r>
              <a:rPr lang="fr-FR"/>
              <a:t>Modifier les styles du texte du masque
Deuxième niveau
Troisième niveau
Quatrième niveau
Cinquième niveau</a:t>
            </a:r>
          </a:p>
        </p:txBody>
      </p:sp>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5486400" y="0"/>
            <a:ext cx="3144838" cy="5143500"/>
          </a:xfrm>
        </p:spPr>
        <p:txBody>
          <a:bodyPr/>
          <a:lstStyle/>
          <a:p>
            <a:r>
              <a:rPr lang="fr-FR"/>
              <a:t>Cliquez sur l'icône pour ajouter une image</a:t>
            </a:r>
          </a:p>
        </p:txBody>
      </p:sp>
      <p:sp>
        <p:nvSpPr>
          <p:cNvPr id="5" name="Titre 4">
            <a:extLst>
              <a:ext uri="{FF2B5EF4-FFF2-40B4-BE49-F238E27FC236}">
                <a16:creationId xmlns:a16="http://schemas.microsoft.com/office/drawing/2014/main" id="{55F20A3C-6DA6-684F-8F84-A7C8F1339C00}"/>
              </a:ext>
            </a:extLst>
          </p:cNvPr>
          <p:cNvSpPr>
            <a:spLocks noGrp="1"/>
          </p:cNvSpPr>
          <p:nvPr>
            <p:ph type="title"/>
          </p:nvPr>
        </p:nvSpPr>
        <p:spPr/>
        <p:txBody>
          <a:bodyPr/>
          <a:lstStyle/>
          <a:p>
            <a:r>
              <a:rPr lang="fr-FR"/>
              <a:t>Modifiez le style du titre</a:t>
            </a:r>
          </a:p>
        </p:txBody>
      </p:sp>
      <p:sp>
        <p:nvSpPr>
          <p:cNvPr id="6" name="Espace réservé de la date 5">
            <a:extLst>
              <a:ext uri="{FF2B5EF4-FFF2-40B4-BE49-F238E27FC236}">
                <a16:creationId xmlns:a16="http://schemas.microsoft.com/office/drawing/2014/main" id="{B633A2CC-2D27-AE47-AE09-87A5F61228B8}"/>
              </a:ext>
            </a:extLst>
          </p:cNvPr>
          <p:cNvSpPr>
            <a:spLocks noGrp="1"/>
          </p:cNvSpPr>
          <p:nvPr>
            <p:ph type="dt" sz="half" idx="14"/>
          </p:nvPr>
        </p:nvSpPr>
        <p:spPr/>
        <p:txBody>
          <a:bodyPr/>
          <a:lstStyle/>
          <a:p>
            <a:r>
              <a:rPr lang="fr-CH"/>
              <a:t>NAME EVENT / NAME PRESENTATION</a:t>
            </a:r>
            <a:endParaRPr lang="fr-FR" dirty="0"/>
          </a:p>
        </p:txBody>
      </p:sp>
      <p:sp>
        <p:nvSpPr>
          <p:cNvPr id="11" name="Espace réservé du pied de page 10">
            <a:extLst>
              <a:ext uri="{FF2B5EF4-FFF2-40B4-BE49-F238E27FC236}">
                <a16:creationId xmlns:a16="http://schemas.microsoft.com/office/drawing/2014/main" id="{CABC000E-4E22-1A40-9D3F-FE2F141E5CA4}"/>
              </a:ext>
            </a:extLst>
          </p:cNvPr>
          <p:cNvSpPr>
            <a:spLocks noGrp="1"/>
          </p:cNvSpPr>
          <p:nvPr>
            <p:ph type="ftr" sz="quarter" idx="15"/>
          </p:nvPr>
        </p:nvSpPr>
        <p:spPr/>
        <p:txBody>
          <a:bodyPr/>
          <a:lstStyle/>
          <a:p>
            <a:r>
              <a:rPr lang="fr-FR"/>
              <a:t>Speaker </a:t>
            </a:r>
            <a:endParaRPr lang="fr-FR" dirty="0"/>
          </a:p>
        </p:txBody>
      </p:sp>
      <p:sp>
        <p:nvSpPr>
          <p:cNvPr id="12" name="Espace réservé du numéro de diapositive 11">
            <a:extLst>
              <a:ext uri="{FF2B5EF4-FFF2-40B4-BE49-F238E27FC236}">
                <a16:creationId xmlns:a16="http://schemas.microsoft.com/office/drawing/2014/main" id="{0AF49D93-C78A-F646-92B0-A7932C43D9EE}"/>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4143184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0"/>
            <a:ext cx="3144838" cy="5143500"/>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A02A0D73-096C-844E-97C3-C4A4AF580FDE}"/>
              </a:ext>
            </a:extLst>
          </p:cNvPr>
          <p:cNvSpPr>
            <a:spLocks noGrp="1"/>
          </p:cNvSpPr>
          <p:nvPr>
            <p:ph type="dt" sz="half" idx="14"/>
          </p:nvPr>
        </p:nvSpPr>
        <p:spPr/>
        <p:txBody>
          <a:bodyPr/>
          <a:lstStyle/>
          <a:p>
            <a:r>
              <a:rPr lang="fr-CH"/>
              <a:t>NAME EVENT / NAME PRESENTATION</a:t>
            </a:r>
            <a:endParaRPr lang="fr-FR" dirty="0"/>
          </a:p>
        </p:txBody>
      </p:sp>
      <p:sp>
        <p:nvSpPr>
          <p:cNvPr id="9" name="Espace réservé du pied de page 8">
            <a:extLst>
              <a:ext uri="{FF2B5EF4-FFF2-40B4-BE49-F238E27FC236}">
                <a16:creationId xmlns:a16="http://schemas.microsoft.com/office/drawing/2014/main" id="{CEF5AC5C-A2B6-2848-8C47-96A168E211DF}"/>
              </a:ext>
            </a:extLst>
          </p:cNvPr>
          <p:cNvSpPr>
            <a:spLocks noGrp="1"/>
          </p:cNvSpPr>
          <p:nvPr>
            <p:ph type="ftr" sz="quarter" idx="15"/>
          </p:nvPr>
        </p:nvSpPr>
        <p:spPr/>
        <p:txBody>
          <a:bodyPr/>
          <a:lstStyle/>
          <a:p>
            <a:r>
              <a:rPr lang="fr-FR"/>
              <a:t>Speaker </a:t>
            </a:r>
            <a:endParaRPr lang="fr-FR" dirty="0"/>
          </a:p>
        </p:txBody>
      </p:sp>
      <p:sp>
        <p:nvSpPr>
          <p:cNvPr id="10" name="Espace réservé du numéro de diapositive 9">
            <a:extLst>
              <a:ext uri="{FF2B5EF4-FFF2-40B4-BE49-F238E27FC236}">
                <a16:creationId xmlns:a16="http://schemas.microsoft.com/office/drawing/2014/main" id="{31B90E33-03D8-2143-B49F-B1474EE1A1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3FC7B5EC-066E-EC4A-B320-77DF64E6E0F0}"/>
              </a:ext>
            </a:extLst>
          </p:cNvPr>
          <p:cNvSpPr>
            <a:spLocks noGrp="1"/>
          </p:cNvSpPr>
          <p:nvPr>
            <p:ph type="title"/>
          </p:nvPr>
        </p:nvSpPr>
        <p:spPr>
          <a:xfrm>
            <a:off x="904876" y="131032"/>
            <a:ext cx="3144520" cy="1072753"/>
          </a:xfrm>
        </p:spPr>
        <p:txBody>
          <a:bodyPr/>
          <a:lstStyle/>
          <a:p>
            <a:r>
              <a:rPr lang="fr-FR" dirty="0"/>
              <a:t>Modifiez le style du titre</a:t>
            </a:r>
          </a:p>
        </p:txBody>
      </p:sp>
    </p:spTree>
    <p:extLst>
      <p:ext uri="{BB962C8B-B14F-4D97-AF65-F5344CB8AC3E}">
        <p14:creationId xmlns:p14="http://schemas.microsoft.com/office/powerpoint/2010/main" val="169895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0"/>
            <a:ext cx="3144838" cy="5143500"/>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A02A0D73-096C-844E-97C3-C4A4AF580FDE}"/>
              </a:ext>
            </a:extLst>
          </p:cNvPr>
          <p:cNvSpPr>
            <a:spLocks noGrp="1"/>
          </p:cNvSpPr>
          <p:nvPr>
            <p:ph type="dt" sz="half" idx="14"/>
          </p:nvPr>
        </p:nvSpPr>
        <p:spPr/>
        <p:txBody>
          <a:bodyPr/>
          <a:lstStyle/>
          <a:p>
            <a:r>
              <a:rPr lang="fr-CH"/>
              <a:t>NAME EVENT / NAME PRESENTATION</a:t>
            </a:r>
            <a:endParaRPr lang="fr-FR" dirty="0"/>
          </a:p>
        </p:txBody>
      </p:sp>
      <p:sp>
        <p:nvSpPr>
          <p:cNvPr id="9" name="Espace réservé du pied de page 8">
            <a:extLst>
              <a:ext uri="{FF2B5EF4-FFF2-40B4-BE49-F238E27FC236}">
                <a16:creationId xmlns:a16="http://schemas.microsoft.com/office/drawing/2014/main" id="{CEF5AC5C-A2B6-2848-8C47-96A168E211DF}"/>
              </a:ext>
            </a:extLst>
          </p:cNvPr>
          <p:cNvSpPr>
            <a:spLocks noGrp="1"/>
          </p:cNvSpPr>
          <p:nvPr>
            <p:ph type="ftr" sz="quarter" idx="15"/>
          </p:nvPr>
        </p:nvSpPr>
        <p:spPr/>
        <p:txBody>
          <a:bodyPr/>
          <a:lstStyle/>
          <a:p>
            <a:r>
              <a:rPr lang="fr-FR"/>
              <a:t>Speaker </a:t>
            </a:r>
            <a:endParaRPr lang="fr-FR" dirty="0"/>
          </a:p>
        </p:txBody>
      </p:sp>
      <p:sp>
        <p:nvSpPr>
          <p:cNvPr id="10" name="Espace réservé du numéro de diapositive 9">
            <a:extLst>
              <a:ext uri="{FF2B5EF4-FFF2-40B4-BE49-F238E27FC236}">
                <a16:creationId xmlns:a16="http://schemas.microsoft.com/office/drawing/2014/main" id="{31B90E33-03D8-2143-B49F-B1474EE1A1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3FC7B5EC-066E-EC4A-B320-77DF64E6E0F0}"/>
              </a:ext>
            </a:extLst>
          </p:cNvPr>
          <p:cNvSpPr>
            <a:spLocks noGrp="1"/>
          </p:cNvSpPr>
          <p:nvPr>
            <p:ph type="title"/>
          </p:nvPr>
        </p:nvSpPr>
        <p:spPr>
          <a:xfrm>
            <a:off x="4049395" y="131032"/>
            <a:ext cx="3144520" cy="1072753"/>
          </a:xfrm>
        </p:spPr>
        <p:txBody>
          <a:bodyPr/>
          <a:lstStyle/>
          <a:p>
            <a:r>
              <a:rPr lang="fr-FR" dirty="0"/>
              <a:t>Modifiez le style du titre</a:t>
            </a:r>
          </a:p>
        </p:txBody>
      </p:sp>
    </p:spTree>
    <p:extLst>
      <p:ext uri="{BB962C8B-B14F-4D97-AF65-F5344CB8AC3E}">
        <p14:creationId xmlns:p14="http://schemas.microsoft.com/office/powerpoint/2010/main" val="2531427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1563688"/>
            <a:ext cx="3144838" cy="3579812"/>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Titre 6">
            <a:extLst>
              <a:ext uri="{FF2B5EF4-FFF2-40B4-BE49-F238E27FC236}">
                <a16:creationId xmlns:a16="http://schemas.microsoft.com/office/drawing/2014/main" id="{C026A30B-6F8E-1445-88F0-A5FB77E124E9}"/>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826567D5-4A83-9E48-B441-CCB2A72BA6D1}"/>
              </a:ext>
            </a:extLst>
          </p:cNvPr>
          <p:cNvSpPr>
            <a:spLocks noGrp="1"/>
          </p:cNvSpPr>
          <p:nvPr>
            <p:ph type="dt" sz="half" idx="14"/>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C830A539-93F1-2541-B9F0-330893BD5190}"/>
              </a:ext>
            </a:extLst>
          </p:cNvPr>
          <p:cNvSpPr>
            <a:spLocks noGrp="1"/>
          </p:cNvSpPr>
          <p:nvPr>
            <p:ph type="ftr" sz="quarter" idx="15"/>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82F21D18-8706-7E4D-8FBE-C1E2584541D1}"/>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434545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04875" y="1563688"/>
            <a:ext cx="3671466" cy="3263504"/>
          </a:xfrm>
        </p:spPr>
        <p:txBody>
          <a:bodyPr/>
          <a:lstStyle/>
          <a:p>
            <a:pPr lvl="0"/>
            <a:r>
              <a:rPr lang="fr-FR"/>
              <a:t>Modifier les styles du texte du masque
Deuxième niveau
Troisième niveau
Quatrième niveau
Cinquième niveau</a:t>
            </a:r>
          </a:p>
        </p:txBody>
      </p:sp>
      <p:sp>
        <p:nvSpPr>
          <p:cNvPr id="4" name="Content Placeholder 3"/>
          <p:cNvSpPr>
            <a:spLocks noGrp="1"/>
          </p:cNvSpPr>
          <p:nvPr>
            <p:ph sz="half" idx="2"/>
          </p:nvPr>
        </p:nvSpPr>
        <p:spPr>
          <a:xfrm>
            <a:off x="4959772" y="1563688"/>
            <a:ext cx="3671466" cy="3263504"/>
          </a:xfrm>
        </p:spPr>
        <p:txBody>
          <a:bodyPr/>
          <a:lstStyle/>
          <a:p>
            <a:pPr lvl="0"/>
            <a:r>
              <a:rPr lang="fr-F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6897D737-724C-984A-82E1-2A2DBD5F6249}"/>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E34C2B73-67B7-BB4C-AE0F-7D16D8DDD2B2}"/>
              </a:ext>
            </a:extLst>
          </p:cNvPr>
          <p:cNvSpPr>
            <a:spLocks noGrp="1"/>
          </p:cNvSpPr>
          <p:nvPr>
            <p:ph type="dt" sz="half" idx="10"/>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C9FF6AA9-AC16-D748-B815-56221BFFFB93}"/>
              </a:ext>
            </a:extLst>
          </p:cNvPr>
          <p:cNvSpPr>
            <a:spLocks noGrp="1"/>
          </p:cNvSpPr>
          <p:nvPr>
            <p:ph type="ftr" sz="quarter" idx="11"/>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DD59D891-3F23-D04C-AB43-6FA4220AFE80}"/>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776706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9BFFD8D9-6AAA-B44F-8BD5-98D7A6546A6C}"/>
              </a:ext>
            </a:extLst>
          </p:cNvPr>
          <p:cNvSpPr>
            <a:spLocks noGrp="1"/>
          </p:cNvSpPr>
          <p:nvPr>
            <p:ph type="title"/>
          </p:nvPr>
        </p:nvSpPr>
        <p:spPr/>
        <p:txBody>
          <a:bodyPr/>
          <a:lstStyle/>
          <a:p>
            <a:r>
              <a:rPr lang="fr-FR"/>
              <a:t>Modifiez le style du titre</a:t>
            </a:r>
          </a:p>
        </p:txBody>
      </p:sp>
      <p:sp>
        <p:nvSpPr>
          <p:cNvPr id="7" name="Espace réservé de la date 6">
            <a:extLst>
              <a:ext uri="{FF2B5EF4-FFF2-40B4-BE49-F238E27FC236}">
                <a16:creationId xmlns:a16="http://schemas.microsoft.com/office/drawing/2014/main" id="{084C64CE-C88F-2044-AD84-19F588F18902}"/>
              </a:ext>
            </a:extLst>
          </p:cNvPr>
          <p:cNvSpPr>
            <a:spLocks noGrp="1"/>
          </p:cNvSpPr>
          <p:nvPr>
            <p:ph type="dt" sz="half" idx="10"/>
          </p:nvPr>
        </p:nvSpPr>
        <p:spPr/>
        <p:txBody>
          <a:bodyPr/>
          <a:lstStyle/>
          <a:p>
            <a:r>
              <a:rPr lang="fr-CH"/>
              <a:t>NAME EVENT / NAME PRESENTATION</a:t>
            </a:r>
            <a:endParaRPr lang="fr-FR" dirty="0"/>
          </a:p>
        </p:txBody>
      </p:sp>
      <p:sp>
        <p:nvSpPr>
          <p:cNvPr id="8" name="Espace réservé du pied de page 7">
            <a:extLst>
              <a:ext uri="{FF2B5EF4-FFF2-40B4-BE49-F238E27FC236}">
                <a16:creationId xmlns:a16="http://schemas.microsoft.com/office/drawing/2014/main" id="{A948AF20-C2DF-3542-BB6A-8354A9817325}"/>
              </a:ext>
            </a:extLst>
          </p:cNvPr>
          <p:cNvSpPr>
            <a:spLocks noGrp="1"/>
          </p:cNvSpPr>
          <p:nvPr>
            <p:ph type="ftr" sz="quarter" idx="11"/>
          </p:nvPr>
        </p:nvSpPr>
        <p:spPr/>
        <p:txBody>
          <a:bodyPr/>
          <a:lstStyle/>
          <a:p>
            <a:r>
              <a:rPr lang="fr-FR"/>
              <a:t>Speaker </a:t>
            </a:r>
            <a:endParaRPr lang="fr-FR" dirty="0"/>
          </a:p>
        </p:txBody>
      </p:sp>
      <p:sp>
        <p:nvSpPr>
          <p:cNvPr id="9" name="Espace réservé du numéro de diapositive 8">
            <a:extLst>
              <a:ext uri="{FF2B5EF4-FFF2-40B4-BE49-F238E27FC236}">
                <a16:creationId xmlns:a16="http://schemas.microsoft.com/office/drawing/2014/main" id="{71083942-1443-BC45-9F95-32C82A8DCDEF}"/>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3074039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0"/>
            <a:ext cx="8239125" cy="5143500"/>
          </a:xfrm>
        </p:spPr>
        <p:txBody>
          <a:bodyPr/>
          <a:lstStyle/>
          <a:p>
            <a:r>
              <a:rPr lang="fr-FR"/>
              <a:t>Cliquez sur l'icône pour ajouter une image</a:t>
            </a:r>
          </a:p>
        </p:txBody>
      </p:sp>
      <p:sp>
        <p:nvSpPr>
          <p:cNvPr id="2" name="Title 1"/>
          <p:cNvSpPr>
            <a:spLocks noGrp="1"/>
          </p:cNvSpPr>
          <p:nvPr>
            <p:ph type="title"/>
          </p:nvPr>
        </p:nvSpPr>
        <p:spPr>
          <a:xfrm>
            <a:off x="6405563" y="2571750"/>
            <a:ext cx="2738437" cy="2111375"/>
          </a:xfrm>
          <a:solidFill>
            <a:schemeClr val="accent2"/>
          </a:solidFill>
        </p:spPr>
        <p:txBody>
          <a:bodyPr anchor="ctr" anchorCtr="0"/>
          <a:lstStyle>
            <a:lvl1pPr>
              <a:defRPr>
                <a:solidFill>
                  <a:schemeClr val="bg1"/>
                </a:solidFill>
              </a:defRPr>
            </a:lvl1pPr>
          </a:lstStyle>
          <a:p>
            <a:r>
              <a:rPr lang="fr-FR"/>
              <a:t>Modifiez le style du titre</a:t>
            </a:r>
            <a:endParaRPr lang="en-US" dirty="0"/>
          </a:p>
        </p:txBody>
      </p:sp>
      <p:sp>
        <p:nvSpPr>
          <p:cNvPr id="3" name="Espace réservé de la date 2">
            <a:extLst>
              <a:ext uri="{FF2B5EF4-FFF2-40B4-BE49-F238E27FC236}">
                <a16:creationId xmlns:a16="http://schemas.microsoft.com/office/drawing/2014/main" id="{60E5EA1C-63CE-2C4F-B9F4-39FDBC14B9A3}"/>
              </a:ext>
            </a:extLst>
          </p:cNvPr>
          <p:cNvSpPr>
            <a:spLocks noGrp="1"/>
          </p:cNvSpPr>
          <p:nvPr>
            <p:ph type="dt" sz="half" idx="14"/>
          </p:nvPr>
        </p:nvSpPr>
        <p:spPr/>
        <p:txBody>
          <a:bodyPr/>
          <a:lstStyle/>
          <a:p>
            <a:r>
              <a:rPr lang="fr-CH"/>
              <a:t>NAME EVENT / NAME PRESENTATION</a:t>
            </a:r>
            <a:endParaRPr lang="fr-FR" dirty="0"/>
          </a:p>
        </p:txBody>
      </p:sp>
      <p:sp>
        <p:nvSpPr>
          <p:cNvPr id="4" name="Espace réservé du pied de page 3">
            <a:extLst>
              <a:ext uri="{FF2B5EF4-FFF2-40B4-BE49-F238E27FC236}">
                <a16:creationId xmlns:a16="http://schemas.microsoft.com/office/drawing/2014/main" id="{8E7A5892-F23D-BD48-84D1-FD279BA16865}"/>
              </a:ext>
            </a:extLst>
          </p:cNvPr>
          <p:cNvSpPr>
            <a:spLocks noGrp="1"/>
          </p:cNvSpPr>
          <p:nvPr>
            <p:ph type="ftr" sz="quarter" idx="15"/>
          </p:nvPr>
        </p:nvSpPr>
        <p:spPr/>
        <p:txBody>
          <a:bodyPr/>
          <a:lstStyle/>
          <a:p>
            <a:r>
              <a:rPr lang="fr-FR"/>
              <a:t>Speaker </a:t>
            </a:r>
            <a:endParaRPr lang="fr-FR" dirty="0"/>
          </a:p>
        </p:txBody>
      </p:sp>
      <p:sp>
        <p:nvSpPr>
          <p:cNvPr id="5" name="Espace réservé du numéro de diapositive 4">
            <a:extLst>
              <a:ext uri="{FF2B5EF4-FFF2-40B4-BE49-F238E27FC236}">
                <a16:creationId xmlns:a16="http://schemas.microsoft.com/office/drawing/2014/main" id="{6C516D46-C7BB-2141-A4EE-18D1756414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040948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0"/>
            <a:ext cx="7726363" cy="5143500"/>
          </a:xfrm>
        </p:spPr>
        <p:txBody>
          <a:bodyPr/>
          <a:lstStyle/>
          <a:p>
            <a:r>
              <a:rPr lang="fr-FR"/>
              <a:t>Cliquez sur l'icône pour ajouter une image</a:t>
            </a:r>
          </a:p>
        </p:txBody>
      </p:sp>
      <p:sp>
        <p:nvSpPr>
          <p:cNvPr id="5" name="Espace réservé de la date 4">
            <a:extLst>
              <a:ext uri="{FF2B5EF4-FFF2-40B4-BE49-F238E27FC236}">
                <a16:creationId xmlns:a16="http://schemas.microsoft.com/office/drawing/2014/main" id="{91E6F4EB-CC02-6E4D-9146-CE4A7A789A95}"/>
              </a:ext>
            </a:extLst>
          </p:cNvPr>
          <p:cNvSpPr>
            <a:spLocks noGrp="1"/>
          </p:cNvSpPr>
          <p:nvPr>
            <p:ph type="dt" sz="half" idx="14"/>
          </p:nvPr>
        </p:nvSpPr>
        <p:spPr/>
        <p:txBody>
          <a:bodyPr/>
          <a:lstStyle/>
          <a:p>
            <a:r>
              <a:rPr lang="fr-CH"/>
              <a:t>NAME EVENT / NAME PRESENTATION</a:t>
            </a:r>
            <a:endParaRPr lang="fr-FR" dirty="0"/>
          </a:p>
        </p:txBody>
      </p:sp>
      <p:sp>
        <p:nvSpPr>
          <p:cNvPr id="6" name="Espace réservé du pied de page 5">
            <a:extLst>
              <a:ext uri="{FF2B5EF4-FFF2-40B4-BE49-F238E27FC236}">
                <a16:creationId xmlns:a16="http://schemas.microsoft.com/office/drawing/2014/main" id="{DED4AA2C-29B3-CA42-B7C3-C932911A7586}"/>
              </a:ext>
            </a:extLst>
          </p:cNvPr>
          <p:cNvSpPr>
            <a:spLocks noGrp="1"/>
          </p:cNvSpPr>
          <p:nvPr>
            <p:ph type="ftr" sz="quarter" idx="15"/>
          </p:nvPr>
        </p:nvSpPr>
        <p:spPr/>
        <p:txBody>
          <a:bodyPr/>
          <a:lstStyle/>
          <a:p>
            <a:r>
              <a:rPr lang="fr-FR"/>
              <a:t>Speaker </a:t>
            </a:r>
            <a:endParaRPr lang="fr-FR" dirty="0"/>
          </a:p>
        </p:txBody>
      </p:sp>
      <p:sp>
        <p:nvSpPr>
          <p:cNvPr id="8" name="Espace réservé du numéro de diapositive 7">
            <a:extLst>
              <a:ext uri="{FF2B5EF4-FFF2-40B4-BE49-F238E27FC236}">
                <a16:creationId xmlns:a16="http://schemas.microsoft.com/office/drawing/2014/main" id="{0FE7A1E3-AAEC-7641-B6C5-8D9FC0B6A211}"/>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201727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3114674"/>
            <a:ext cx="8239125" cy="2028825"/>
          </a:xfrm>
        </p:spPr>
        <p:txBody>
          <a:bodyPr/>
          <a:lstStyle/>
          <a:p>
            <a:r>
              <a:rPr lang="fr-FR"/>
              <a:t>Cliquez sur l'icône pour ajouter une image</a:t>
            </a:r>
          </a:p>
        </p:txBody>
      </p:sp>
      <p:sp>
        <p:nvSpPr>
          <p:cNvPr id="4" name="Espace réservé du texte 3"/>
          <p:cNvSpPr>
            <a:spLocks noGrp="1"/>
          </p:cNvSpPr>
          <p:nvPr>
            <p:ph type="body" sz="quarter" idx="17"/>
          </p:nvPr>
        </p:nvSpPr>
        <p:spPr>
          <a:xfrm>
            <a:off x="904875" y="1563688"/>
            <a:ext cx="7646988" cy="1436687"/>
          </a:xfrm>
        </p:spPr>
        <p:txBody>
          <a:bodyPr/>
          <a:lstStyle>
            <a:lvl4pPr>
              <a:defRPr>
                <a:latin typeface="Arial" panose="020B0604020202020204" pitchFamily="34" charset="0"/>
              </a:defRPr>
            </a:lvl4pPr>
            <a:lvl5pPr>
              <a:defRPr>
                <a:latin typeface="Arial" panose="020B0604020202020204" pitchFamily="34" charset="0"/>
              </a:defRPr>
            </a:lvl5pPr>
          </a:lstStyle>
          <a:p>
            <a:pPr lvl="0"/>
            <a:r>
              <a:rPr lang="fr-FR"/>
              <a:t>Modifier les styles du texte du masque
Deuxième niveau
Troisième niveau
Quatrième niveau
Cinquième niveau</a:t>
            </a:r>
            <a:endParaRPr lang="fr-CH" dirty="0"/>
          </a:p>
        </p:txBody>
      </p:sp>
      <p:sp>
        <p:nvSpPr>
          <p:cNvPr id="6" name="Espace réservé de la date 5">
            <a:extLst>
              <a:ext uri="{FF2B5EF4-FFF2-40B4-BE49-F238E27FC236}">
                <a16:creationId xmlns:a16="http://schemas.microsoft.com/office/drawing/2014/main" id="{37CF3032-2465-874C-B786-95E1B594A5AB}"/>
              </a:ext>
            </a:extLst>
          </p:cNvPr>
          <p:cNvSpPr>
            <a:spLocks noGrp="1"/>
          </p:cNvSpPr>
          <p:nvPr>
            <p:ph type="dt" sz="half" idx="18"/>
          </p:nvPr>
        </p:nvSpPr>
        <p:spPr/>
        <p:txBody>
          <a:bodyPr/>
          <a:lstStyle/>
          <a:p>
            <a:r>
              <a:rPr lang="fr-CH"/>
              <a:t>NAME EVENT / NAME PRESENTATION</a:t>
            </a:r>
            <a:endParaRPr lang="fr-FR" dirty="0"/>
          </a:p>
        </p:txBody>
      </p:sp>
      <p:sp>
        <p:nvSpPr>
          <p:cNvPr id="8" name="Espace réservé du pied de page 7">
            <a:extLst>
              <a:ext uri="{FF2B5EF4-FFF2-40B4-BE49-F238E27FC236}">
                <a16:creationId xmlns:a16="http://schemas.microsoft.com/office/drawing/2014/main" id="{AAF73E2A-22D7-894A-9267-185CB4E4B13E}"/>
              </a:ext>
            </a:extLst>
          </p:cNvPr>
          <p:cNvSpPr>
            <a:spLocks noGrp="1"/>
          </p:cNvSpPr>
          <p:nvPr>
            <p:ph type="ftr" sz="quarter" idx="19"/>
          </p:nvPr>
        </p:nvSpPr>
        <p:spPr/>
        <p:txBody>
          <a:bodyPr/>
          <a:lstStyle/>
          <a:p>
            <a:r>
              <a:rPr lang="fr-FR"/>
              <a:t>Speaker </a:t>
            </a:r>
            <a:endParaRPr lang="fr-FR" dirty="0"/>
          </a:p>
        </p:txBody>
      </p:sp>
      <p:sp>
        <p:nvSpPr>
          <p:cNvPr id="9" name="Espace réservé du numéro de diapositive 8">
            <a:extLst>
              <a:ext uri="{FF2B5EF4-FFF2-40B4-BE49-F238E27FC236}">
                <a16:creationId xmlns:a16="http://schemas.microsoft.com/office/drawing/2014/main" id="{39D9777C-EC90-1141-9E30-4B4F669C2BE1}"/>
              </a:ext>
            </a:extLst>
          </p:cNvPr>
          <p:cNvSpPr>
            <a:spLocks noGrp="1"/>
          </p:cNvSpPr>
          <p:nvPr>
            <p:ph type="sldNum" sz="quarter" idx="20"/>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0E011164-727C-4C46-B34E-7729CB350E3E}"/>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531156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4D8101AB-8ACE-BB4C-9D61-B4AABFE11591}"/>
              </a:ext>
            </a:extLst>
          </p:cNvPr>
          <p:cNvSpPr>
            <a:spLocks noGrp="1"/>
          </p:cNvSpPr>
          <p:nvPr>
            <p:ph type="dt" sz="half" idx="10"/>
          </p:nvPr>
        </p:nvSpPr>
        <p:spPr/>
        <p:txBody>
          <a:bodyPr/>
          <a:lstStyle/>
          <a:p>
            <a:r>
              <a:rPr lang="fr-CH"/>
              <a:t>NAME EVENT / NAME PRESENTATION</a:t>
            </a:r>
            <a:endParaRPr lang="fr-FR" dirty="0"/>
          </a:p>
        </p:txBody>
      </p:sp>
      <p:sp>
        <p:nvSpPr>
          <p:cNvPr id="6" name="Espace réservé du pied de page 5">
            <a:extLst>
              <a:ext uri="{FF2B5EF4-FFF2-40B4-BE49-F238E27FC236}">
                <a16:creationId xmlns:a16="http://schemas.microsoft.com/office/drawing/2014/main" id="{5F9CFC1D-0B2A-0A4E-9C0D-682EECA55703}"/>
              </a:ext>
            </a:extLst>
          </p:cNvPr>
          <p:cNvSpPr>
            <a:spLocks noGrp="1"/>
          </p:cNvSpPr>
          <p:nvPr>
            <p:ph type="ftr" sz="quarter" idx="11"/>
          </p:nvPr>
        </p:nvSpPr>
        <p:spPr/>
        <p:txBody>
          <a:bodyPr/>
          <a:lstStyle/>
          <a:p>
            <a:r>
              <a:rPr lang="fr-FR"/>
              <a:t>Speaker </a:t>
            </a:r>
            <a:endParaRPr lang="fr-FR" dirty="0"/>
          </a:p>
        </p:txBody>
      </p:sp>
      <p:sp>
        <p:nvSpPr>
          <p:cNvPr id="7" name="Espace réservé du numéro de diapositive 6">
            <a:extLst>
              <a:ext uri="{FF2B5EF4-FFF2-40B4-BE49-F238E27FC236}">
                <a16:creationId xmlns:a16="http://schemas.microsoft.com/office/drawing/2014/main" id="{56622065-A833-2340-B0FD-ACB065A3B8CF}"/>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89484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04875" y="131032"/>
            <a:ext cx="3667125" cy="1072753"/>
          </a:xfrm>
          <a:prstGeom prst="rect">
            <a:avLst/>
          </a:prstGeom>
        </p:spPr>
        <p:txBody>
          <a:bodyPr vert="horz" lIns="180000" tIns="0" rIns="72000" bIns="46800" rtlCol="0" anchor="t">
            <a:normAutofit/>
          </a:bodyPr>
          <a:lstStyle/>
          <a:p>
            <a:r>
              <a:rPr lang="fr-FR" dirty="0"/>
              <a:t>Modifiez le style du titre</a:t>
            </a:r>
            <a:endParaRPr lang="en-US" dirty="0"/>
          </a:p>
        </p:txBody>
      </p:sp>
      <p:sp>
        <p:nvSpPr>
          <p:cNvPr id="3" name="Text Placeholder 2"/>
          <p:cNvSpPr>
            <a:spLocks noGrp="1"/>
          </p:cNvSpPr>
          <p:nvPr>
            <p:ph type="body" idx="1"/>
          </p:nvPr>
        </p:nvSpPr>
        <p:spPr>
          <a:xfrm>
            <a:off x="904875" y="1563688"/>
            <a:ext cx="7726363" cy="3386772"/>
          </a:xfrm>
          <a:prstGeom prst="rect">
            <a:avLst/>
          </a:prstGeom>
        </p:spPr>
        <p:txBody>
          <a:bodyPr vert="horz" lIns="180000" tIns="45720" rIns="91440" bIns="45720" rtlCol="0">
            <a:normAutofit/>
          </a:bodyPr>
          <a:lstStyle/>
          <a:p>
            <a:pPr lvl="0"/>
            <a:r>
              <a:rPr lang="fr-FR" dirty="0"/>
              <a:t>Modifier les styles du texte du masque</a:t>
            </a:r>
          </a:p>
          <a:p>
            <a:pPr lvl="1"/>
            <a:r>
              <a:rPr lang="fr-FR" dirty="0"/>
              <a:t>Deuxième niveau</a:t>
            </a:r>
          </a:p>
          <a:p>
            <a:pPr lvl="2"/>
            <a:r>
              <a:rPr lang="fr-FR" dirty="0"/>
              <a:t>Troisième niveau
Quatrième niveau
Cinquième niveau</a:t>
            </a:r>
            <a:endParaRPr lang="en-US" dirty="0"/>
          </a:p>
        </p:txBody>
      </p:sp>
      <p:sp>
        <p:nvSpPr>
          <p:cNvPr id="4" name="Date Placeholder 3"/>
          <p:cNvSpPr>
            <a:spLocks noGrp="1"/>
          </p:cNvSpPr>
          <p:nvPr>
            <p:ph type="dt" sz="half" idx="2"/>
          </p:nvPr>
        </p:nvSpPr>
        <p:spPr>
          <a:xfrm rot="16200000">
            <a:off x="-1221413" y="2778452"/>
            <a:ext cx="3341052" cy="911524"/>
          </a:xfrm>
          <a:prstGeom prst="rect">
            <a:avLst/>
          </a:prstGeom>
        </p:spPr>
        <p:txBody>
          <a:bodyPr vert="horz" lIns="91440" tIns="45720" rIns="91440" bIns="45720" rtlCol="0" anchor="ctr"/>
          <a:lstStyle>
            <a:lvl1pPr algn="l">
              <a:defRPr sz="700">
                <a:solidFill>
                  <a:schemeClr val="accent1"/>
                </a:solidFill>
                <a:latin typeface="Arial" panose="020B0604020202020204" pitchFamily="34" charset="0"/>
              </a:defRPr>
            </a:lvl1pPr>
          </a:lstStyle>
          <a:p>
            <a:r>
              <a:rPr lang="fr-CH"/>
              <a:t>NAME EVENT / NAME PRESENTATION</a:t>
            </a:r>
            <a:endParaRPr lang="fr-FR" dirty="0"/>
          </a:p>
        </p:txBody>
      </p:sp>
      <p:sp>
        <p:nvSpPr>
          <p:cNvPr id="5" name="Footer Placeholder 4"/>
          <p:cNvSpPr>
            <a:spLocks noGrp="1"/>
          </p:cNvSpPr>
          <p:nvPr>
            <p:ph type="ftr" sz="quarter" idx="3"/>
          </p:nvPr>
        </p:nvSpPr>
        <p:spPr>
          <a:xfrm rot="16200000">
            <a:off x="7115989" y="1874064"/>
            <a:ext cx="3543260" cy="512762"/>
          </a:xfrm>
          <a:prstGeom prst="rect">
            <a:avLst/>
          </a:prstGeom>
        </p:spPr>
        <p:txBody>
          <a:bodyPr vert="horz" lIns="91440" tIns="45720" rIns="91440" bIns="45720" rtlCol="0" anchor="ctr"/>
          <a:lstStyle>
            <a:lvl1pPr algn="r">
              <a:defRPr sz="700">
                <a:solidFill>
                  <a:schemeClr val="tx1"/>
                </a:solidFill>
                <a:latin typeface="Arial" panose="020B0604020202020204" pitchFamily="34" charset="0"/>
              </a:defRPr>
            </a:lvl1pPr>
          </a:lstStyle>
          <a:p>
            <a:r>
              <a:rPr lang="fr-FR" dirty="0"/>
              <a:t>Speaker </a:t>
            </a:r>
          </a:p>
        </p:txBody>
      </p:sp>
      <p:sp>
        <p:nvSpPr>
          <p:cNvPr id="6" name="Slide Number Placeholder 5"/>
          <p:cNvSpPr>
            <a:spLocks noGrp="1"/>
          </p:cNvSpPr>
          <p:nvPr>
            <p:ph type="sldNum" sz="quarter" idx="4"/>
          </p:nvPr>
        </p:nvSpPr>
        <p:spPr>
          <a:xfrm>
            <a:off x="8631238" y="195263"/>
            <a:ext cx="512762" cy="163552"/>
          </a:xfrm>
          <a:prstGeom prst="rect">
            <a:avLst/>
          </a:prstGeom>
        </p:spPr>
        <p:txBody>
          <a:bodyPr vert="horz" lIns="90000" tIns="0" rIns="90000" bIns="0" rtlCol="0" anchor="t"/>
          <a:lstStyle>
            <a:lvl1pPr algn="ctr">
              <a:defRPr sz="700" b="1">
                <a:solidFill>
                  <a:schemeClr val="tx1"/>
                </a:solidFill>
                <a:latin typeface="+mj-lt"/>
              </a:defRPr>
            </a:lvl1pPr>
          </a:lstStyle>
          <a:p>
            <a:fld id="{E1E1CD7C-2161-7D43-862E-CE4C333CD873}" type="slidenum">
              <a:rPr lang="fr-FR" smtClean="0"/>
              <a:pPr/>
              <a:t>‹#›</a:t>
            </a:fld>
            <a:endParaRPr lang="fr-FR" dirty="0"/>
          </a:p>
        </p:txBody>
      </p:sp>
      <p:pic>
        <p:nvPicPr>
          <p:cNvPr id="13" name="Image 12">
            <a:extLst>
              <a:ext uri="{FF2B5EF4-FFF2-40B4-BE49-F238E27FC236}">
                <a16:creationId xmlns:a16="http://schemas.microsoft.com/office/drawing/2014/main" id="{717E6E68-87EB-C34E-85D5-C26372DFEC99}"/>
              </a:ext>
            </a:extLst>
          </p:cNvPr>
          <p:cNvPicPr>
            <a:picLocks noChangeAspect="1"/>
          </p:cNvPicPr>
          <p:nvPr userDrawn="1"/>
        </p:nvPicPr>
        <p:blipFill>
          <a:blip r:embed="rId17"/>
          <a:stretch>
            <a:fillRect/>
          </a:stretch>
        </p:blipFill>
        <p:spPr>
          <a:xfrm>
            <a:off x="130273" y="132334"/>
            <a:ext cx="653952" cy="283022"/>
          </a:xfrm>
          <a:prstGeom prst="rect">
            <a:avLst/>
          </a:prstGeom>
        </p:spPr>
      </p:pic>
      <p:sp>
        <p:nvSpPr>
          <p:cNvPr id="14" name="Rectangle 13">
            <a:extLst>
              <a:ext uri="{FF2B5EF4-FFF2-40B4-BE49-F238E27FC236}">
                <a16:creationId xmlns:a16="http://schemas.microsoft.com/office/drawing/2014/main" id="{75D7A1C0-94CD-D94F-A99F-21847E542637}"/>
              </a:ext>
            </a:extLst>
          </p:cNvPr>
          <p:cNvSpPr/>
          <p:nvPr userDrawn="1"/>
        </p:nvSpPr>
        <p:spPr>
          <a:xfrm rot="16200000">
            <a:off x="430003" y="4897709"/>
            <a:ext cx="45719" cy="59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Arial" panose="020B0604020202020204" pitchFamily="34" charset="0"/>
            </a:endParaRPr>
          </a:p>
        </p:txBody>
      </p:sp>
    </p:spTree>
    <p:extLst>
      <p:ext uri="{BB962C8B-B14F-4D97-AF65-F5344CB8AC3E}">
        <p14:creationId xmlns:p14="http://schemas.microsoft.com/office/powerpoint/2010/main" val="356948683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1" r:id="rId3"/>
    <p:sldLayoutId id="2147483673" r:id="rId4"/>
    <p:sldLayoutId id="2147483662" r:id="rId5"/>
    <p:sldLayoutId id="2147483674" r:id="rId6"/>
    <p:sldLayoutId id="2147483675" r:id="rId7"/>
    <p:sldLayoutId id="2147483682" r:id="rId8"/>
    <p:sldLayoutId id="2147483676" r:id="rId9"/>
    <p:sldLayoutId id="2147483664" r:id="rId10"/>
    <p:sldLayoutId id="2147483666" r:id="rId11"/>
    <p:sldLayoutId id="2147483677" r:id="rId12"/>
    <p:sldLayoutId id="2147483678" r:id="rId13"/>
    <p:sldLayoutId id="2147483679" r:id="rId14"/>
    <p:sldLayoutId id="2147483667" r:id="rId15"/>
  </p:sldLayoutIdLst>
  <p:hf hdr="0"/>
  <p:txStyles>
    <p:titleStyle>
      <a:lvl1pPr algn="l" defTabSz="685800" rtl="0" eaLnBrk="1" latinLnBrk="0" hangingPunct="1">
        <a:lnSpc>
          <a:spcPct val="90000"/>
        </a:lnSpc>
        <a:spcBef>
          <a:spcPct val="0"/>
        </a:spcBef>
        <a:buNone/>
        <a:defRPr sz="3200" b="1" i="0" kern="1000" spc="-70" baseline="0">
          <a:solidFill>
            <a:schemeClr val="tx1"/>
          </a:solidFill>
          <a:latin typeface="Franklin Gothic Demi Cond" panose="020B0706030402020204" pitchFamily="34" charset="0"/>
          <a:ea typeface="Roboto Black" panose="02000000000000000000" pitchFamily="2" charset="0"/>
          <a:cs typeface="Arial" panose="020B0604020202020204" pitchFamily="34" charset="0"/>
        </a:defRPr>
      </a:lvl1pPr>
    </p:titleStyle>
    <p:bodyStyle>
      <a:lvl1pPr marL="171450" indent="-171450" algn="l" defTabSz="685800" rtl="0" eaLnBrk="1" latinLnBrk="0" hangingPunct="1">
        <a:lnSpc>
          <a:spcPct val="90000"/>
        </a:lnSpc>
        <a:spcBef>
          <a:spcPts val="750"/>
        </a:spcBef>
        <a:buClr>
          <a:schemeClr val="accent1"/>
        </a:buClr>
        <a:buSzPct val="90000"/>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Clr>
          <a:schemeClr val="accent1"/>
        </a:buClr>
        <a:buSzPct val="100000"/>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90000"/>
        <a:buFont typeface="Wingdings" pitchFamily="2" charset="2"/>
        <a:buChar char="§"/>
        <a:defRPr sz="1500" b="0" i="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126" userDrawn="1">
          <p15:clr>
            <a:srgbClr val="F26B43"/>
          </p15:clr>
        </p15:guide>
        <p15:guide id="3" pos="5602" userDrawn="1">
          <p15:clr>
            <a:srgbClr val="F26B43"/>
          </p15:clr>
        </p15:guide>
        <p15:guide id="4" pos="2880" userDrawn="1">
          <p15:clr>
            <a:srgbClr val="F26B43"/>
          </p15:clr>
        </p15:guide>
        <p15:guide id="5" orient="horz" pos="123" userDrawn="1">
          <p15:clr>
            <a:srgbClr val="F26B43"/>
          </p15:clr>
        </p15:guide>
        <p15:guide id="6" orient="horz" pos="3117" userDrawn="1">
          <p15:clr>
            <a:srgbClr val="F26B43"/>
          </p15:clr>
        </p15:guide>
        <p15:guide id="7" pos="570" userDrawn="1">
          <p15:clr>
            <a:srgbClr val="F26B43"/>
          </p15:clr>
        </p15:guide>
        <p15:guide id="8" pos="1155" userDrawn="1">
          <p15:clr>
            <a:srgbClr val="F26B43"/>
          </p15:clr>
        </p15:guide>
        <p15:guide id="9" pos="1728" userDrawn="1">
          <p15:clr>
            <a:srgbClr val="F26B43"/>
          </p15:clr>
        </p15:guide>
        <p15:guide id="10" pos="2304" userDrawn="1">
          <p15:clr>
            <a:srgbClr val="F26B43"/>
          </p15:clr>
        </p15:guide>
        <p15:guide id="11" pos="3456" userDrawn="1">
          <p15:clr>
            <a:srgbClr val="F26B43"/>
          </p15:clr>
        </p15:guide>
        <p15:guide id="12" pos="4035" userDrawn="1">
          <p15:clr>
            <a:srgbClr val="F26B43"/>
          </p15:clr>
        </p15:guide>
        <p15:guide id="13" pos="4608" userDrawn="1">
          <p15:clr>
            <a:srgbClr val="F26B43"/>
          </p15:clr>
        </p15:guide>
        <p15:guide id="14" pos="5180" userDrawn="1">
          <p15:clr>
            <a:srgbClr val="F26B43"/>
          </p15:clr>
        </p15:guide>
        <p15:guide id="15" orient="horz" pos="490" userDrawn="1">
          <p15:clr>
            <a:srgbClr val="F26B43"/>
          </p15:clr>
        </p15:guide>
        <p15:guide id="16" orient="horz" pos="985" userDrawn="1">
          <p15:clr>
            <a:srgbClr val="F26B43"/>
          </p15:clr>
        </p15:guide>
        <p15:guide id="17" orient="horz" pos="1475" userDrawn="1">
          <p15:clr>
            <a:srgbClr val="F26B43"/>
          </p15:clr>
        </p15:guide>
        <p15:guide id="18" orient="horz" pos="1962" userDrawn="1">
          <p15:clr>
            <a:srgbClr val="F26B43"/>
          </p15:clr>
        </p15:guide>
        <p15:guide id="19" orient="horz" pos="2458" userDrawn="1">
          <p15:clr>
            <a:srgbClr val="F26B43"/>
          </p15:clr>
        </p15:guide>
        <p15:guide id="20" orient="horz" pos="2950" userDrawn="1">
          <p15:clr>
            <a:srgbClr val="F26B43"/>
          </p15:clr>
        </p15:guide>
        <p15:guide id="21" pos="5437" userDrawn="1">
          <p15:clr>
            <a:srgbClr val="F26B43"/>
          </p15:clr>
        </p15:guide>
        <p15:guide id="22" orient="horz" userDrawn="1">
          <p15:clr>
            <a:srgbClr val="F26B43"/>
          </p15:clr>
        </p15:guide>
        <p15:guide id="23" pos="5760" userDrawn="1">
          <p15:clr>
            <a:srgbClr val="F26B43"/>
          </p15:clr>
        </p15:guide>
        <p15:guide id="24" orient="horz" pos="3240" userDrawn="1">
          <p15:clr>
            <a:srgbClr val="F26B43"/>
          </p15:clr>
        </p15:guide>
        <p15:guide id="2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0.xml"/><Relationship Id="rId5" Type="http://schemas.openxmlformats.org/officeDocument/2006/relationships/image" Target="../media/image53.png"/><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0.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5.xml"/><Relationship Id="rId5" Type="http://schemas.openxmlformats.org/officeDocument/2006/relationships/image" Target="../media/image67.png"/><Relationship Id="rId4" Type="http://schemas.openxmlformats.org/officeDocument/2006/relationships/image" Target="../media/image66.png"/></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10.xml"/><Relationship Id="rId4" Type="http://schemas.openxmlformats.org/officeDocument/2006/relationships/image" Target="../media/image72.png"/></Relationships>
</file>

<file path=ppt/slides/_rels/slide68.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2.xml"/><Relationship Id="rId1" Type="http://schemas.openxmlformats.org/officeDocument/2006/relationships/slideLayout" Target="../slideLayouts/slideLayout10.xml"/><Relationship Id="rId4" Type="http://schemas.openxmlformats.org/officeDocument/2006/relationships/image" Target="../media/image77.png"/></Relationships>
</file>

<file path=ppt/slides/_rels/slide7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5.xml"/><Relationship Id="rId1" Type="http://schemas.openxmlformats.org/officeDocument/2006/relationships/slideLayout" Target="../slideLayouts/slideLayout5.xml"/><Relationship Id="rId4" Type="http://schemas.openxmlformats.org/officeDocument/2006/relationships/image" Target="../media/image81.png"/></Relationships>
</file>

<file path=ppt/slides/_rels/slide7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6.xml"/><Relationship Id="rId1" Type="http://schemas.openxmlformats.org/officeDocument/2006/relationships/slideLayout" Target="../slideLayouts/slideLayout10.xml"/><Relationship Id="rId4" Type="http://schemas.openxmlformats.org/officeDocument/2006/relationships/image" Target="../media/image83.png"/></Relationships>
</file>

<file path=ppt/slides/_rels/slide7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7.xml"/><Relationship Id="rId1" Type="http://schemas.openxmlformats.org/officeDocument/2006/relationships/slideLayout" Target="../slideLayouts/slideLayout10.xml"/><Relationship Id="rId4" Type="http://schemas.openxmlformats.org/officeDocument/2006/relationships/image" Target="../media/image85.png"/></Relationships>
</file>

<file path=ppt/slides/_rels/slide7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8.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8" Type="http://schemas.openxmlformats.org/officeDocument/2006/relationships/hyperlink" Target="https://proceedings.mlr.press/v70/arjovsky17a.html" TargetMode="External"/><Relationship Id="rId3" Type="http://schemas.openxmlformats.org/officeDocument/2006/relationships/hyperlink" Target="https://doi.org/10.1137/0111010" TargetMode="External"/><Relationship Id="rId7" Type="http://schemas.openxmlformats.org/officeDocument/2006/relationships/hyperlink" Target="https://proceedings.mlr.press/v37/sohl-dickstein15.html" TargetMode="External"/><Relationship Id="rId2" Type="http://schemas.openxmlformats.org/officeDocument/2006/relationships/notesSlide" Target="../notesSlides/notesSlide81.xml"/><Relationship Id="rId1" Type="http://schemas.openxmlformats.org/officeDocument/2006/relationships/slideLayout" Target="../slideLayouts/slideLayout5.xml"/><Relationship Id="rId6" Type="http://schemas.openxmlformats.org/officeDocument/2006/relationships/hyperlink" Target="https://research.utwente.nl/en/publications/graph-abstraction-and-abstract-graph-transformation" TargetMode="External"/><Relationship Id="rId5" Type="http://schemas.openxmlformats.org/officeDocument/2006/relationships/hyperlink" Target="https://doi.org/10.1090/S0002-9947-1993-1094553-1" TargetMode="External"/><Relationship Id="rId4" Type="http://schemas.openxmlformats.org/officeDocument/2006/relationships/hyperlink" Target="https://doi.org/10.1007/BFb0099421" TargetMode="External"/><Relationship Id="rId9" Type="http://schemas.openxmlformats.org/officeDocument/2006/relationships/hyperlink" Target="http://arxiv.org/abs/1806.01261" TargetMode="External"/></Relationships>
</file>

<file path=ppt/slides/_rels/slide82.xml.rels><?xml version="1.0" encoding="UTF-8" standalone="yes"?>
<Relationships xmlns="http://schemas.openxmlformats.org/package/2006/relationships"><Relationship Id="rId8" Type="http://schemas.openxmlformats.org/officeDocument/2006/relationships/hyperlink" Target="https://openreview.net/forum?id=qiAxL3Xqx1o" TargetMode="External"/><Relationship Id="rId3" Type="http://schemas.openxmlformats.org/officeDocument/2006/relationships/hyperlink" Target="https://proceedings.mlsys.org/paper/2019/hash/e2c420d928d4bf8ce0ff2ec19b371514-Abstract.html" TargetMode="External"/><Relationship Id="rId7" Type="http://schemas.openxmlformats.org/officeDocument/2006/relationships/hyperlink" Target="https://doi.org/10.1145/3397271.3401172" TargetMode="External"/><Relationship Id="rId2" Type="http://schemas.openxmlformats.org/officeDocument/2006/relationships/notesSlide" Target="../notesSlides/notesSlide82.xml"/><Relationship Id="rId1" Type="http://schemas.openxmlformats.org/officeDocument/2006/relationships/slideLayout" Target="../slideLayouts/slideLayout5.xml"/><Relationship Id="rId6" Type="http://schemas.openxmlformats.org/officeDocument/2006/relationships/hyperlink" Target="https://doi.org/10.48550/arXiv.2006.05976" TargetMode="External"/><Relationship Id="rId5" Type="http://schemas.openxmlformats.org/officeDocument/2006/relationships/hyperlink" Target="https://openreview.net/forum?id=BJgr4kSFDS" TargetMode="External"/><Relationship Id="rId4" Type="http://schemas.openxmlformats.org/officeDocument/2006/relationships/hyperlink" Target="https://doi.org/10.18653/v1/P19-1466" TargetMode="External"/><Relationship Id="rId9" Type="http://schemas.openxmlformats.org/officeDocument/2006/relationships/hyperlink" Target="https://doi.org/10.1145/3447772" TargetMode="External"/></Relationships>
</file>

<file path=ppt/slides/_rels/slide83.xml.rels><?xml version="1.0" encoding="UTF-8" standalone="yes"?>
<Relationships xmlns="http://schemas.openxmlformats.org/package/2006/relationships"><Relationship Id="rId8" Type="http://schemas.openxmlformats.org/officeDocument/2006/relationships/hyperlink" Target="https://doi.org/10.1145/3580305.3599268" TargetMode="External"/><Relationship Id="rId3" Type="http://schemas.openxmlformats.org/officeDocument/2006/relationships/hyperlink" Target="https://infoscience.epfl.ch/handle/20.500.14299/253964" TargetMode="External"/><Relationship Id="rId7" Type="http://schemas.openxmlformats.org/officeDocument/2006/relationships/hyperlink" Target="https://doi.org/10.1609/aaai.v37i4.25535" TargetMode="External"/><Relationship Id="rId2" Type="http://schemas.openxmlformats.org/officeDocument/2006/relationships/notesSlide" Target="../notesSlides/notesSlide83.xml"/><Relationship Id="rId1" Type="http://schemas.openxmlformats.org/officeDocument/2006/relationships/slideLayout" Target="../slideLayouts/slideLayout5.xml"/><Relationship Id="rId6" Type="http://schemas.openxmlformats.org/officeDocument/2006/relationships/hyperlink" Target="https://openreview.net/forum?id=UaAD-Nu86WX" TargetMode="External"/><Relationship Id="rId5" Type="http://schemas.openxmlformats.org/officeDocument/2006/relationships/hyperlink" Target="https://openreview.net/forum?id=xMJWUKJnFSw" TargetMode="External"/><Relationship Id="rId10" Type="http://schemas.openxmlformats.org/officeDocument/2006/relationships/hyperlink" Target="https://openreview.net/forum?id=KNvubydSB5" TargetMode="External"/><Relationship Id="rId4" Type="http://schemas.openxmlformats.org/officeDocument/2006/relationships/hyperlink" Target="https://doi.org/10.48550/arXiv.2110.14890" TargetMode="External"/><Relationship Id="rId9" Type="http://schemas.openxmlformats.org/officeDocument/2006/relationships/hyperlink" Target="https://doi.org/10.48550/arXiv.2307.06698" TargetMode="External"/></Relationships>
</file>

<file path=ppt/slides/_rels/slide84.xml.rels><?xml version="1.0" encoding="UTF-8" standalone="yes"?>
<Relationships xmlns="http://schemas.openxmlformats.org/package/2006/relationships"><Relationship Id="rId8" Type="http://schemas.openxmlformats.org/officeDocument/2006/relationships/hyperlink" Target="https://aclanthology.org/2025.genaik-1.9/" TargetMode="External"/><Relationship Id="rId3" Type="http://schemas.openxmlformats.org/officeDocument/2006/relationships/hyperlink" Target="https://openreview.net/forum?id=0rZiMEOzh0" TargetMode="External"/><Relationship Id="rId7" Type="http://schemas.openxmlformats.org/officeDocument/2006/relationships/hyperlink" Target="https://openreview.net/forum?id=xkiI5tou6J" TargetMode="External"/><Relationship Id="rId2" Type="http://schemas.openxmlformats.org/officeDocument/2006/relationships/notesSlide" Target="../notesSlides/notesSlide84.xml"/><Relationship Id="rId1" Type="http://schemas.openxmlformats.org/officeDocument/2006/relationships/slideLayout" Target="../slideLayouts/slideLayout5.xml"/><Relationship Id="rId6" Type="http://schemas.openxmlformats.org/officeDocument/2006/relationships/hyperlink" Target="https://doi.org/10.48550/arXiv.2408.04053" TargetMode="External"/><Relationship Id="rId5" Type="http://schemas.openxmlformats.org/officeDocument/2006/relationships/hyperlink" Target="https://openreview.net/forum?id=yiMB2DOjsR" TargetMode="External"/><Relationship Id="rId4" Type="http://schemas.openxmlformats.org/officeDocument/2006/relationships/hyperlink" Target="https://doi.org/10.5075/epfl-thesis-9020"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5A5C923-5A79-224D-A6A6-8267C64759A4}"/>
              </a:ext>
            </a:extLst>
          </p:cNvPr>
          <p:cNvSpPr>
            <a:spLocks noGrp="1" noChangeAspect="1"/>
          </p:cNvSpPr>
          <p:nvPr>
            <p:ph type="ctrTitle"/>
          </p:nvPr>
        </p:nvSpPr>
        <p:spPr>
          <a:xfrm>
            <a:off x="1331913" y="786535"/>
            <a:ext cx="7812088" cy="2338387"/>
          </a:xfrm>
        </p:spPr>
        <p:txBody>
          <a:bodyPr>
            <a:normAutofit/>
          </a:bodyPr>
          <a:lstStyle/>
          <a:p>
            <a:r>
              <a:rPr lang="fr-FR" sz="4000" dirty="0"/>
              <a:t>Scalable Methods for </a:t>
            </a:r>
            <a:r>
              <a:rPr lang="fr-FR" sz="4000" dirty="0" err="1"/>
              <a:t>Knowledge</a:t>
            </a:r>
            <a:r>
              <a:rPr lang="fr-FR" sz="4000" dirty="0"/>
              <a:t> Graph </a:t>
            </a:r>
            <a:r>
              <a:rPr lang="fr-FR" sz="4000" dirty="0" err="1"/>
              <a:t>Reasoning</a:t>
            </a:r>
            <a:r>
              <a:rPr lang="fr-FR" sz="4000" dirty="0"/>
              <a:t> and </a:t>
            </a:r>
            <a:r>
              <a:rPr lang="fr-FR" sz="4000" dirty="0" err="1"/>
              <a:t>Generation</a:t>
            </a:r>
            <a:endParaRPr lang="fr-FR" sz="4000" dirty="0"/>
          </a:p>
        </p:txBody>
      </p:sp>
      <p:sp>
        <p:nvSpPr>
          <p:cNvPr id="4" name="Sous-titre 3">
            <a:extLst>
              <a:ext uri="{FF2B5EF4-FFF2-40B4-BE49-F238E27FC236}">
                <a16:creationId xmlns:a16="http://schemas.microsoft.com/office/drawing/2014/main" id="{34F3CA74-E434-844A-9C90-0FE7EB8DBFC3}"/>
              </a:ext>
            </a:extLst>
          </p:cNvPr>
          <p:cNvSpPr>
            <a:spLocks noGrp="1"/>
          </p:cNvSpPr>
          <p:nvPr>
            <p:ph type="subTitle" idx="1"/>
          </p:nvPr>
        </p:nvSpPr>
        <p:spPr>
          <a:xfrm>
            <a:off x="4576762" y="3124922"/>
            <a:ext cx="4567237" cy="708847"/>
          </a:xfrm>
        </p:spPr>
        <p:txBody>
          <a:bodyPr/>
          <a:lstStyle/>
          <a:p>
            <a:r>
              <a:rPr lang="fr-FR" dirty="0">
                <a:latin typeface="+mj-lt"/>
              </a:rPr>
              <a:t>EDIC PhD Public </a:t>
            </a:r>
            <a:r>
              <a:rPr lang="fr-FR" dirty="0" err="1">
                <a:latin typeface="+mj-lt"/>
              </a:rPr>
              <a:t>Defense</a:t>
            </a:r>
            <a:endParaRPr lang="fr-FR" dirty="0">
              <a:latin typeface="+mj-lt"/>
            </a:endParaRPr>
          </a:p>
          <a:p>
            <a:r>
              <a:rPr lang="fr-FR" dirty="0">
                <a:latin typeface="+mj-lt"/>
              </a:rPr>
              <a:t>Andrej Janchevski, EPFL STI IEM LIONS</a:t>
            </a:r>
          </a:p>
        </p:txBody>
      </p:sp>
      <p:sp>
        <p:nvSpPr>
          <p:cNvPr id="5" name="Espace réservé du texte 4">
            <a:extLst>
              <a:ext uri="{FF2B5EF4-FFF2-40B4-BE49-F238E27FC236}">
                <a16:creationId xmlns:a16="http://schemas.microsoft.com/office/drawing/2014/main" id="{BC3BCA55-E2C0-5C4E-89C0-5D85ED2FB439}"/>
              </a:ext>
            </a:extLst>
          </p:cNvPr>
          <p:cNvSpPr>
            <a:spLocks noGrp="1"/>
          </p:cNvSpPr>
          <p:nvPr>
            <p:ph type="body" sz="quarter" idx="11"/>
          </p:nvPr>
        </p:nvSpPr>
        <p:spPr/>
        <p:txBody>
          <a:bodyPr/>
          <a:lstStyle/>
          <a:p>
            <a:r>
              <a:rPr lang="fr-FR" dirty="0">
                <a:latin typeface="+mj-lt"/>
              </a:rPr>
              <a:t>Lausanne, 1?.12.2025</a:t>
            </a:r>
          </a:p>
        </p:txBody>
      </p:sp>
      <p:sp>
        <p:nvSpPr>
          <p:cNvPr id="6" name="Espace réservé du texte 5">
            <a:extLst>
              <a:ext uri="{FF2B5EF4-FFF2-40B4-BE49-F238E27FC236}">
                <a16:creationId xmlns:a16="http://schemas.microsoft.com/office/drawing/2014/main" id="{18A3154D-FCB0-A34B-BBBC-167C625558EC}"/>
              </a:ext>
            </a:extLst>
          </p:cNvPr>
          <p:cNvSpPr>
            <a:spLocks noGrp="1"/>
          </p:cNvSpPr>
          <p:nvPr>
            <p:ph type="body" sz="quarter" idx="12"/>
          </p:nvPr>
        </p:nvSpPr>
        <p:spPr/>
        <p:txBody>
          <a:bodyPr/>
          <a:lstStyle/>
          <a:p>
            <a:r>
              <a:rPr lang="fr-FR" dirty="0">
                <a:latin typeface="+mj-lt"/>
              </a:rPr>
              <a:t>CC BY 1.0</a:t>
            </a:r>
          </a:p>
        </p:txBody>
      </p:sp>
      <p:pic>
        <p:nvPicPr>
          <p:cNvPr id="1032" name="Picture 8">
            <a:extLst>
              <a:ext uri="{FF2B5EF4-FFF2-40B4-BE49-F238E27FC236}">
                <a16:creationId xmlns:a16="http://schemas.microsoft.com/office/drawing/2014/main" id="{F918387C-D90C-4E72-A62C-2503908784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803" y="77688"/>
            <a:ext cx="2286000" cy="6191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LIONS-EPFL">
            <a:extLst>
              <a:ext uri="{FF2B5EF4-FFF2-40B4-BE49-F238E27FC236}">
                <a16:creationId xmlns:a16="http://schemas.microsoft.com/office/drawing/2014/main" id="{669BF9B3-AAE2-F4CB-687D-6CC16D7C9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3875"/>
            <a:ext cx="6667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27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440C47E-7ABF-A149-1D70-B9253A94368D}"/>
              </a:ext>
            </a:extLst>
          </p:cNvPr>
          <p:cNvSpPr>
            <a:spLocks noGrp="1"/>
          </p:cNvSpPr>
          <p:nvPr>
            <p:ph idx="1"/>
          </p:nvPr>
        </p:nvSpPr>
        <p:spPr/>
        <p:txBody>
          <a:bodyPr anchor="ctr">
            <a:normAutofit fontScale="92500" lnSpcReduction="20000"/>
          </a:bodyPr>
          <a:lstStyle/>
          <a:p>
            <a:pPr marL="342900" indent="-342900">
              <a:buFont typeface="+mj-lt"/>
              <a:buAutoNum type="arabicPeriod"/>
            </a:pPr>
            <a:r>
              <a:rPr lang="en-US" sz="2400" dirty="0">
                <a:latin typeface="+mj-lt"/>
              </a:rPr>
              <a:t>Introduction</a:t>
            </a:r>
          </a:p>
          <a:p>
            <a:pPr marL="342900" indent="-342900">
              <a:buFont typeface="+mj-lt"/>
              <a:buAutoNum type="arabicPeriod"/>
            </a:pPr>
            <a:r>
              <a:rPr lang="en-US" sz="2400" dirty="0">
                <a:latin typeface="+mj-lt"/>
              </a:rPr>
              <a:t>Background</a:t>
            </a:r>
          </a:p>
          <a:p>
            <a:pPr marL="342900" indent="-342900">
              <a:buFont typeface="+mj-lt"/>
              <a:buAutoNum type="arabicPeriod"/>
            </a:pPr>
            <a:r>
              <a:rPr lang="en-US" sz="2400" dirty="0">
                <a:latin typeface="+mj-lt"/>
              </a:rPr>
              <a:t>Scalable Knowledge Graph Reasoning</a:t>
            </a:r>
          </a:p>
          <a:p>
            <a:pPr marL="685800" lvl="1" indent="-342900">
              <a:buFont typeface="+mj-lt"/>
              <a:buAutoNum type="arabicPeriod"/>
            </a:pPr>
            <a:r>
              <a:rPr lang="en-US" sz="1900" dirty="0">
                <a:latin typeface="+mj-lt"/>
              </a:rPr>
              <a:t>Community-Informed Graph Embeddings</a:t>
            </a:r>
          </a:p>
          <a:p>
            <a:pPr marL="685800" lvl="1" indent="-342900">
              <a:buFont typeface="+mj-lt"/>
              <a:buAutoNum type="arabicPeriod"/>
            </a:pPr>
            <a:r>
              <a:rPr lang="en-US" sz="1900" dirty="0">
                <a:latin typeface="+mj-lt"/>
              </a:rPr>
              <a:t>Real-world Application: The Monty Knowledge Base</a:t>
            </a:r>
          </a:p>
          <a:p>
            <a:pPr marL="342900" indent="-342900">
              <a:buFont typeface="+mj-lt"/>
              <a:buAutoNum type="arabicPeriod"/>
            </a:pPr>
            <a:r>
              <a:rPr lang="en-US" sz="2400" dirty="0">
                <a:latin typeface="+mj-lt"/>
              </a:rPr>
              <a:t>Scalable Graph Generation</a:t>
            </a:r>
          </a:p>
          <a:p>
            <a:pPr marL="685800" lvl="1" indent="-342900">
              <a:buFont typeface="+mj-lt"/>
              <a:buAutoNum type="arabicPeriod"/>
            </a:pPr>
            <a:r>
              <a:rPr lang="en-US" sz="1900" dirty="0">
                <a:latin typeface="+mj-lt"/>
              </a:rPr>
              <a:t>Geometric Graph Generation with Chinese Restaurant Processes</a:t>
            </a:r>
          </a:p>
          <a:p>
            <a:pPr marL="685800" lvl="1" indent="-342900">
              <a:buFont typeface="+mj-lt"/>
              <a:buAutoNum type="arabicPeriod"/>
            </a:pPr>
            <a:r>
              <a:rPr lang="en-US" sz="1900" dirty="0">
                <a:latin typeface="+mj-lt"/>
              </a:rPr>
              <a:t>Hierarchical Generative Graph Diffusion</a:t>
            </a:r>
          </a:p>
          <a:p>
            <a:pPr marL="685800" lvl="1" indent="-342900">
              <a:buFont typeface="+mj-lt"/>
              <a:buAutoNum type="arabicPeriod"/>
            </a:pPr>
            <a:r>
              <a:rPr lang="en-US" sz="1900" dirty="0">
                <a:latin typeface="+mj-lt"/>
              </a:rPr>
              <a:t>Multi-measurement Methods for Graph Diffusion Acceleration</a:t>
            </a:r>
          </a:p>
          <a:p>
            <a:pPr marL="685800" lvl="1" indent="-342900">
              <a:buFont typeface="+mj-lt"/>
              <a:buAutoNum type="arabicPeriod"/>
            </a:pPr>
            <a:r>
              <a:rPr lang="en-US" sz="1900" dirty="0">
                <a:latin typeface="+mj-lt"/>
              </a:rPr>
              <a:t>Generative Knowledge Graph Anomaly Correction</a:t>
            </a:r>
          </a:p>
          <a:p>
            <a:pPr marL="342900" indent="-342900">
              <a:buFont typeface="+mj-lt"/>
              <a:buAutoNum type="arabicPeriod"/>
            </a:pPr>
            <a:r>
              <a:rPr lang="en-US" sz="2400" dirty="0">
                <a:latin typeface="+mj-lt"/>
              </a:rPr>
              <a:t>Conclusion</a:t>
            </a:r>
            <a:endParaRPr lang="en-GB" sz="2400" dirty="0">
              <a:latin typeface="+mj-lt"/>
            </a:endParaRPr>
          </a:p>
        </p:txBody>
      </p:sp>
      <p:sp>
        <p:nvSpPr>
          <p:cNvPr id="8" name="Title 7">
            <a:extLst>
              <a:ext uri="{FF2B5EF4-FFF2-40B4-BE49-F238E27FC236}">
                <a16:creationId xmlns:a16="http://schemas.microsoft.com/office/drawing/2014/main" id="{FF0F514E-0864-EDDB-3D12-A61E24FEF2B6}"/>
              </a:ext>
            </a:extLst>
          </p:cNvPr>
          <p:cNvSpPr>
            <a:spLocks noGrp="1"/>
          </p:cNvSpPr>
          <p:nvPr>
            <p:ph type="title"/>
          </p:nvPr>
        </p:nvSpPr>
        <p:spPr/>
        <p:txBody>
          <a:bodyPr/>
          <a:lstStyle/>
          <a:p>
            <a:r>
              <a:rPr lang="en-US" dirty="0"/>
              <a:t>Agenda</a:t>
            </a:r>
            <a:endParaRPr lang="en-GB" dirty="0"/>
          </a:p>
        </p:txBody>
      </p:sp>
      <p:sp>
        <p:nvSpPr>
          <p:cNvPr id="5" name="Date Placeholder 4">
            <a:extLst>
              <a:ext uri="{FF2B5EF4-FFF2-40B4-BE49-F238E27FC236}">
                <a16:creationId xmlns:a16="http://schemas.microsoft.com/office/drawing/2014/main" id="{051B1449-90F7-9D4C-AEA8-D0D12431A76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endParaRPr lang="fr-FR" sz="600" dirty="0">
              <a:latin typeface="+mj-lt"/>
            </a:endParaRPr>
          </a:p>
        </p:txBody>
      </p:sp>
      <p:sp>
        <p:nvSpPr>
          <p:cNvPr id="6" name="Footer Placeholder 5">
            <a:extLst>
              <a:ext uri="{FF2B5EF4-FFF2-40B4-BE49-F238E27FC236}">
                <a16:creationId xmlns:a16="http://schemas.microsoft.com/office/drawing/2014/main" id="{C5DBFF27-07ED-80B7-3449-B5541D24D8B0}"/>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14D9E5F-8DE0-D4BC-CCDC-D69B322568E4}"/>
              </a:ext>
            </a:extLst>
          </p:cNvPr>
          <p:cNvSpPr>
            <a:spLocks noGrp="1"/>
          </p:cNvSpPr>
          <p:nvPr>
            <p:ph type="sldNum" sz="quarter" idx="12"/>
          </p:nvPr>
        </p:nvSpPr>
        <p:spPr/>
        <p:txBody>
          <a:bodyPr/>
          <a:lstStyle/>
          <a:p>
            <a:fld id="{E1E1CD7C-2161-7D43-862E-CE4C333CD873}" type="slidenum">
              <a:rPr lang="fr-FR" smtClean="0"/>
              <a:pPr/>
              <a:t>2</a:t>
            </a:fld>
            <a:endParaRPr lang="fr-FR" dirty="0"/>
          </a:p>
        </p:txBody>
      </p:sp>
    </p:spTree>
    <p:extLst>
      <p:ext uri="{BB962C8B-B14F-4D97-AF65-F5344CB8AC3E}">
        <p14:creationId xmlns:p14="http://schemas.microsoft.com/office/powerpoint/2010/main" val="1673806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9054AB-E69B-49BD-6443-39E9AED0207C}"/>
              </a:ext>
            </a:extLst>
          </p:cNvPr>
          <p:cNvSpPr>
            <a:spLocks noGrp="1"/>
          </p:cNvSpPr>
          <p:nvPr>
            <p:ph type="title"/>
          </p:nvPr>
        </p:nvSpPr>
        <p:spPr/>
        <p:txBody>
          <a:bodyPr/>
          <a:lstStyle/>
          <a:p>
            <a:r>
              <a:rPr lang="en-US" dirty="0"/>
              <a:t>Introduction</a:t>
            </a:r>
            <a:endParaRPr lang="en-GB" dirty="0"/>
          </a:p>
        </p:txBody>
      </p:sp>
      <p:sp>
        <p:nvSpPr>
          <p:cNvPr id="8" name="Text Placeholder 7">
            <a:extLst>
              <a:ext uri="{FF2B5EF4-FFF2-40B4-BE49-F238E27FC236}">
                <a16:creationId xmlns:a16="http://schemas.microsoft.com/office/drawing/2014/main" id="{762427C8-5173-2FAE-16A3-AA708901905A}"/>
              </a:ext>
            </a:extLst>
          </p:cNvPr>
          <p:cNvSpPr>
            <a:spLocks noGrp="1"/>
          </p:cNvSpPr>
          <p:nvPr>
            <p:ph type="body" idx="1"/>
          </p:nvPr>
        </p:nvSpPr>
        <p:spPr/>
        <p:txBody>
          <a:bodyPr>
            <a:normAutofit/>
          </a:bodyPr>
          <a:lstStyle/>
          <a:p>
            <a:r>
              <a:rPr lang="en-US" sz="2400" dirty="0">
                <a:latin typeface="+mj-lt"/>
              </a:rPr>
              <a:t>Chapter 1</a:t>
            </a:r>
            <a:endParaRPr lang="en-GB" sz="2400" dirty="0">
              <a:latin typeface="+mj-lt"/>
            </a:endParaRPr>
          </a:p>
        </p:txBody>
      </p:sp>
      <p:sp>
        <p:nvSpPr>
          <p:cNvPr id="4" name="Date Placeholder 3">
            <a:extLst>
              <a:ext uri="{FF2B5EF4-FFF2-40B4-BE49-F238E27FC236}">
                <a16:creationId xmlns:a16="http://schemas.microsoft.com/office/drawing/2014/main" id="{5751FED3-C36F-426D-39B0-F93F3B412C3D}"/>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5" name="Footer Placeholder 4">
            <a:extLst>
              <a:ext uri="{FF2B5EF4-FFF2-40B4-BE49-F238E27FC236}">
                <a16:creationId xmlns:a16="http://schemas.microsoft.com/office/drawing/2014/main" id="{01436E2B-6C6B-2BBB-CDDF-4BFF19B93179}"/>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1CECEE65-7D03-DBD2-DD71-1F87BF9F8775}"/>
              </a:ext>
            </a:extLst>
          </p:cNvPr>
          <p:cNvSpPr>
            <a:spLocks noGrp="1"/>
          </p:cNvSpPr>
          <p:nvPr>
            <p:ph type="sldNum" sz="quarter" idx="16"/>
          </p:nvPr>
        </p:nvSpPr>
        <p:spPr/>
        <p:txBody>
          <a:bodyPr/>
          <a:lstStyle/>
          <a:p>
            <a:fld id="{E1E1CD7C-2161-7D43-862E-CE4C333CD873}" type="slidenum">
              <a:rPr lang="fr-FR" smtClean="0"/>
              <a:pPr/>
              <a:t>3</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7D023253-089C-DCAE-E050-51618063576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13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D0C56-A144-A790-71F9-4C3D711980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3B1140-37FE-9C9D-6190-1C5D9C0FB60C}"/>
              </a:ext>
            </a:extLst>
          </p:cNvPr>
          <p:cNvSpPr>
            <a:spLocks noGrp="1"/>
          </p:cNvSpPr>
          <p:nvPr>
            <p:ph sz="half" idx="1"/>
          </p:nvPr>
        </p:nvSpPr>
        <p:spPr>
          <a:xfrm>
            <a:off x="904875" y="1563688"/>
            <a:ext cx="4310592" cy="3263504"/>
          </a:xfrm>
        </p:spPr>
        <p:txBody>
          <a:bodyPr anchor="ctr">
            <a:normAutofit/>
          </a:bodyPr>
          <a:lstStyle/>
          <a:p>
            <a:r>
              <a:rPr lang="en-CH" dirty="0">
                <a:latin typeface="+mj-lt"/>
              </a:rPr>
              <a:t>Novel complex scientific problem</a:t>
            </a:r>
          </a:p>
          <a:p>
            <a:pPr lvl="1"/>
            <a:r>
              <a:rPr lang="en-CH" dirty="0">
                <a:latin typeface="+mj-lt"/>
              </a:rPr>
              <a:t>Computer science:  </a:t>
            </a:r>
            <a:r>
              <a:rPr lang="en-CH" i="1" dirty="0">
                <a:latin typeface="+mj-lt"/>
              </a:rPr>
              <a:t>computational</a:t>
            </a:r>
            <a:r>
              <a:rPr lang="en-CH" dirty="0">
                <a:latin typeface="+mj-lt"/>
              </a:rPr>
              <a:t> complexity</a:t>
            </a:r>
          </a:p>
          <a:p>
            <a:pPr lvl="1"/>
            <a:r>
              <a:rPr lang="en-CH" dirty="0">
                <a:latin typeface="+mj-lt"/>
              </a:rPr>
              <a:t>Solution idea camps: </a:t>
            </a:r>
            <a:r>
              <a:rPr lang="en-CH" i="1" dirty="0">
                <a:latin typeface="+mj-lt"/>
              </a:rPr>
              <a:t>holism</a:t>
            </a:r>
            <a:r>
              <a:rPr lang="en-CH" dirty="0">
                <a:latin typeface="+mj-lt"/>
              </a:rPr>
              <a:t> vs. </a:t>
            </a:r>
            <a:r>
              <a:rPr lang="en-CH" i="1" dirty="0">
                <a:latin typeface="+mj-lt"/>
              </a:rPr>
              <a:t>reductionism</a:t>
            </a:r>
          </a:p>
          <a:p>
            <a:pPr lvl="1"/>
            <a:r>
              <a:rPr lang="en-CH" dirty="0">
                <a:latin typeface="+mj-lt"/>
              </a:rPr>
              <a:t>Discard </a:t>
            </a:r>
            <a:r>
              <a:rPr lang="en-GB" dirty="0">
                <a:latin typeface="+mj-lt"/>
              </a:rPr>
              <a:t>local/noisy</a:t>
            </a:r>
            <a:r>
              <a:rPr lang="en-CH" dirty="0">
                <a:latin typeface="+mj-lt"/>
              </a:rPr>
              <a:t> features vs. decompose</a:t>
            </a:r>
          </a:p>
          <a:p>
            <a:r>
              <a:rPr lang="en-CH" dirty="0">
                <a:latin typeface="+mj-lt"/>
              </a:rPr>
              <a:t>This thesis</a:t>
            </a:r>
          </a:p>
          <a:p>
            <a:pPr lvl="1"/>
            <a:r>
              <a:rPr lang="en-CH" dirty="0">
                <a:latin typeface="+mj-lt"/>
              </a:rPr>
              <a:t>Graph machine learning problems</a:t>
            </a:r>
          </a:p>
          <a:p>
            <a:pPr lvl="1"/>
            <a:r>
              <a:rPr lang="en-CH" dirty="0">
                <a:latin typeface="+mj-lt"/>
              </a:rPr>
              <a:t>Scalability issues from graph sizes</a:t>
            </a:r>
          </a:p>
          <a:p>
            <a:pPr lvl="1"/>
            <a:r>
              <a:rPr lang="en-CH" dirty="0">
                <a:latin typeface="+mj-lt"/>
              </a:rPr>
              <a:t>KG reasoning and graph generation</a:t>
            </a:r>
          </a:p>
          <a:p>
            <a:pPr lvl="1"/>
            <a:r>
              <a:rPr lang="en-CH" dirty="0">
                <a:latin typeface="+mj-lt"/>
              </a:rPr>
              <a:t>Mix of </a:t>
            </a:r>
            <a:r>
              <a:rPr lang="en-GB" dirty="0">
                <a:latin typeface="+mj-lt"/>
              </a:rPr>
              <a:t>holistic </a:t>
            </a:r>
            <a:r>
              <a:rPr lang="en-GB" i="1" dirty="0">
                <a:latin typeface="+mj-lt"/>
              </a:rPr>
              <a:t>and</a:t>
            </a:r>
            <a:r>
              <a:rPr lang="en-GB" dirty="0">
                <a:latin typeface="+mj-lt"/>
              </a:rPr>
              <a:t> reductionist views</a:t>
            </a:r>
          </a:p>
          <a:p>
            <a:pPr lvl="1"/>
            <a:r>
              <a:rPr lang="en-GB" dirty="0">
                <a:latin typeface="+mj-lt"/>
              </a:rPr>
              <a:t>Community detection + graph coarsening</a:t>
            </a:r>
          </a:p>
          <a:p>
            <a:pPr lvl="1"/>
            <a:r>
              <a:rPr lang="en-GB" dirty="0">
                <a:latin typeface="+mj-lt"/>
              </a:rPr>
              <a:t>5x5 Rubik’s Cubes…</a:t>
            </a:r>
            <a:endParaRPr lang="en-CH" dirty="0">
              <a:latin typeface="+mj-lt"/>
            </a:endParaRPr>
          </a:p>
        </p:txBody>
      </p:sp>
      <p:sp>
        <p:nvSpPr>
          <p:cNvPr id="8" name="Title 7">
            <a:extLst>
              <a:ext uri="{FF2B5EF4-FFF2-40B4-BE49-F238E27FC236}">
                <a16:creationId xmlns:a16="http://schemas.microsoft.com/office/drawing/2014/main" id="{F782E0B8-4F5A-258F-276B-555C3F25A674}"/>
              </a:ext>
            </a:extLst>
          </p:cNvPr>
          <p:cNvSpPr>
            <a:spLocks noGrp="1"/>
          </p:cNvSpPr>
          <p:nvPr>
            <p:ph type="title"/>
          </p:nvPr>
        </p:nvSpPr>
        <p:spPr/>
        <p:txBody>
          <a:bodyPr/>
          <a:lstStyle/>
          <a:p>
            <a:r>
              <a:rPr lang="en-US" dirty="0"/>
              <a:t>1.	Introduction</a:t>
            </a:r>
            <a:endParaRPr lang="en-GB" dirty="0"/>
          </a:p>
        </p:txBody>
      </p:sp>
      <p:sp>
        <p:nvSpPr>
          <p:cNvPr id="5" name="Date Placeholder 4">
            <a:extLst>
              <a:ext uri="{FF2B5EF4-FFF2-40B4-BE49-F238E27FC236}">
                <a16:creationId xmlns:a16="http://schemas.microsoft.com/office/drawing/2014/main" id="{3D02C016-2998-BE78-58DA-FFC05A9525E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endParaRPr lang="fr-FR" sz="600" dirty="0">
              <a:latin typeface="+mj-lt"/>
            </a:endParaRPr>
          </a:p>
        </p:txBody>
      </p:sp>
      <p:sp>
        <p:nvSpPr>
          <p:cNvPr id="6" name="Footer Placeholder 5">
            <a:extLst>
              <a:ext uri="{FF2B5EF4-FFF2-40B4-BE49-F238E27FC236}">
                <a16:creationId xmlns:a16="http://schemas.microsoft.com/office/drawing/2014/main" id="{F6B3629B-752D-B6E7-3BE6-47EE17B6F3C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5458CD1-F209-233E-C193-F1D1A15447F3}"/>
              </a:ext>
            </a:extLst>
          </p:cNvPr>
          <p:cNvSpPr>
            <a:spLocks noGrp="1"/>
          </p:cNvSpPr>
          <p:nvPr>
            <p:ph type="sldNum" sz="quarter" idx="12"/>
          </p:nvPr>
        </p:nvSpPr>
        <p:spPr/>
        <p:txBody>
          <a:bodyPr/>
          <a:lstStyle/>
          <a:p>
            <a:fld id="{E1E1CD7C-2161-7D43-862E-CE4C333CD873}" type="slidenum">
              <a:rPr lang="fr-FR" smtClean="0"/>
              <a:pPr/>
              <a:t>4</a:t>
            </a:fld>
            <a:endParaRPr lang="fr-FR" dirty="0"/>
          </a:p>
        </p:txBody>
      </p:sp>
      <p:pic>
        <p:nvPicPr>
          <p:cNvPr id="17" name="Content Placeholder 16" descr="A colorful cube with black background&#10;&#10;AI-generated content may be incorrect.">
            <a:extLst>
              <a:ext uri="{FF2B5EF4-FFF2-40B4-BE49-F238E27FC236}">
                <a16:creationId xmlns:a16="http://schemas.microsoft.com/office/drawing/2014/main" id="{32D42F86-6274-9188-3897-96B094645C8E}"/>
              </a:ext>
            </a:extLst>
          </p:cNvPr>
          <p:cNvPicPr>
            <a:picLocks noGrp="1" noChangeAspect="1"/>
          </p:cNvPicPr>
          <p:nvPr>
            <p:ph sz="half" idx="2"/>
          </p:nvPr>
        </p:nvPicPr>
        <p:blipFill>
          <a:blip r:embed="rId3"/>
          <a:stretch>
            <a:fillRect/>
          </a:stretch>
        </p:blipFill>
        <p:spPr>
          <a:xfrm>
            <a:off x="5828189" y="43353"/>
            <a:ext cx="1546860" cy="1600200"/>
          </a:xfrm>
        </p:spPr>
      </p:pic>
      <p:pic>
        <p:nvPicPr>
          <p:cNvPr id="19" name="Picture 18" descr="A cube with different colored squares&#10;&#10;AI-generated content may be incorrect.">
            <a:extLst>
              <a:ext uri="{FF2B5EF4-FFF2-40B4-BE49-F238E27FC236}">
                <a16:creationId xmlns:a16="http://schemas.microsoft.com/office/drawing/2014/main" id="{52BCCD3B-AA16-720A-78C2-5768DF21F938}"/>
              </a:ext>
            </a:extLst>
          </p:cNvPr>
          <p:cNvPicPr>
            <a:picLocks noChangeAspect="1"/>
          </p:cNvPicPr>
          <p:nvPr/>
        </p:nvPicPr>
        <p:blipFill>
          <a:blip r:embed="rId4"/>
          <a:stretch>
            <a:fillRect/>
          </a:stretch>
        </p:blipFill>
        <p:spPr>
          <a:xfrm>
            <a:off x="5820569" y="1707158"/>
            <a:ext cx="1562100" cy="1600200"/>
          </a:xfrm>
          <a:prstGeom prst="rect">
            <a:avLst/>
          </a:prstGeom>
        </p:spPr>
      </p:pic>
      <p:pic>
        <p:nvPicPr>
          <p:cNvPr id="21" name="Picture 20" descr="A cube with different colored squares&#10;&#10;AI-generated content may be incorrect.">
            <a:extLst>
              <a:ext uri="{FF2B5EF4-FFF2-40B4-BE49-F238E27FC236}">
                <a16:creationId xmlns:a16="http://schemas.microsoft.com/office/drawing/2014/main" id="{67AB955C-60BF-E161-C24E-61DDD03FF6AA}"/>
              </a:ext>
            </a:extLst>
          </p:cNvPr>
          <p:cNvPicPr>
            <a:picLocks noChangeAspect="1"/>
          </p:cNvPicPr>
          <p:nvPr/>
        </p:nvPicPr>
        <p:blipFill>
          <a:blip r:embed="rId5"/>
          <a:stretch>
            <a:fillRect/>
          </a:stretch>
        </p:blipFill>
        <p:spPr>
          <a:xfrm>
            <a:off x="5824910" y="3370963"/>
            <a:ext cx="1577340" cy="1653540"/>
          </a:xfrm>
          <a:prstGeom prst="rect">
            <a:avLst/>
          </a:prstGeom>
        </p:spPr>
      </p:pic>
    </p:spTree>
    <p:extLst>
      <p:ext uri="{BB962C8B-B14F-4D97-AF65-F5344CB8AC3E}">
        <p14:creationId xmlns:p14="http://schemas.microsoft.com/office/powerpoint/2010/main" val="137815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4" dur="500"/>
                                        <p:tgtEl>
                                          <p:spTgt spid="2">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7" dur="500"/>
                                        <p:tgtEl>
                                          <p:spTgt spid="2">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0" dur="500"/>
                                        <p:tgtEl>
                                          <p:spTgt spid="2">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3" dur="500"/>
                                        <p:tgtEl>
                                          <p:spTgt spid="2">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randombar(horizontal)">
                                      <p:cBhvr>
                                        <p:cTn id="36" dur="500"/>
                                        <p:tgtEl>
                                          <p:spTgt spid="2">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41" dur="500"/>
                                        <p:tgtEl>
                                          <p:spTgt spid="2">
                                            <p:txEl>
                                              <p:pRg st="10" end="10"/>
                                            </p:txEl>
                                          </p:spTgt>
                                        </p:tgtEl>
                                      </p:cBhvr>
                                    </p:animEffect>
                                  </p:childTnLst>
                                </p:cTn>
                              </p:par>
                            </p:childTnLst>
                          </p:cTn>
                        </p:par>
                        <p:par>
                          <p:cTn id="42" fill="hold">
                            <p:stCondLst>
                              <p:cond delay="500"/>
                            </p:stCondLst>
                            <p:childTnLst>
                              <p:par>
                                <p:cTn id="43" presetID="14" presetClass="entr" presetSubtype="1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randombar(horizontal)">
                                      <p:cBhvr>
                                        <p:cTn id="45" dur="500"/>
                                        <p:tgtEl>
                                          <p:spTgt spid="17"/>
                                        </p:tgtEl>
                                      </p:cBhvr>
                                    </p:animEffect>
                                  </p:childTnLst>
                                </p:cTn>
                              </p:par>
                            </p:childTnLst>
                          </p:cTn>
                        </p:par>
                        <p:par>
                          <p:cTn id="46" fill="hold">
                            <p:stCondLst>
                              <p:cond delay="1000"/>
                            </p:stCondLst>
                            <p:childTnLst>
                              <p:par>
                                <p:cTn id="47" presetID="14" presetClass="entr" presetSubtype="10"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randombar(horizontal)">
                                      <p:cBhvr>
                                        <p:cTn id="49" dur="500"/>
                                        <p:tgtEl>
                                          <p:spTgt spid="19"/>
                                        </p:tgtEl>
                                      </p:cBhvr>
                                    </p:animEffect>
                                  </p:childTnLst>
                                </p:cTn>
                              </p:par>
                            </p:childTnLst>
                          </p:cTn>
                        </p:par>
                        <p:par>
                          <p:cTn id="50" fill="hold">
                            <p:stCondLst>
                              <p:cond delay="1500"/>
                            </p:stCondLst>
                            <p:childTnLst>
                              <p:par>
                                <p:cTn id="51" presetID="14" presetClass="entr" presetSubtype="10" fill="hold"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randombar(horizontal)">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1E700-93CD-3B97-28E3-E03EA94B51E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606254-2A12-C49B-0DE5-F28F4BF72A35}"/>
              </a:ext>
            </a:extLst>
          </p:cNvPr>
          <p:cNvSpPr>
            <a:spLocks noGrp="1"/>
          </p:cNvSpPr>
          <p:nvPr>
            <p:ph type="title"/>
          </p:nvPr>
        </p:nvSpPr>
        <p:spPr/>
        <p:txBody>
          <a:bodyPr/>
          <a:lstStyle/>
          <a:p>
            <a:r>
              <a:rPr lang="en-US" dirty="0"/>
              <a:t>Background</a:t>
            </a:r>
            <a:endParaRPr lang="en-GB" dirty="0"/>
          </a:p>
        </p:txBody>
      </p:sp>
      <p:sp>
        <p:nvSpPr>
          <p:cNvPr id="8" name="Text Placeholder 7">
            <a:extLst>
              <a:ext uri="{FF2B5EF4-FFF2-40B4-BE49-F238E27FC236}">
                <a16:creationId xmlns:a16="http://schemas.microsoft.com/office/drawing/2014/main" id="{57C68295-DCBF-4740-F53D-B52C8BD5A96E}"/>
              </a:ext>
            </a:extLst>
          </p:cNvPr>
          <p:cNvSpPr>
            <a:spLocks noGrp="1"/>
          </p:cNvSpPr>
          <p:nvPr>
            <p:ph type="body" idx="1"/>
          </p:nvPr>
        </p:nvSpPr>
        <p:spPr/>
        <p:txBody>
          <a:bodyPr>
            <a:normAutofit/>
          </a:bodyPr>
          <a:lstStyle/>
          <a:p>
            <a:r>
              <a:rPr lang="en-US" sz="2400" dirty="0">
                <a:latin typeface="+mj-lt"/>
              </a:rPr>
              <a:t>Chapter 2</a:t>
            </a:r>
            <a:endParaRPr lang="en-GB" sz="2400" dirty="0">
              <a:latin typeface="+mj-lt"/>
            </a:endParaRPr>
          </a:p>
        </p:txBody>
      </p:sp>
      <p:sp>
        <p:nvSpPr>
          <p:cNvPr id="4" name="Date Placeholder 3">
            <a:extLst>
              <a:ext uri="{FF2B5EF4-FFF2-40B4-BE49-F238E27FC236}">
                <a16:creationId xmlns:a16="http://schemas.microsoft.com/office/drawing/2014/main" id="{5166B582-C792-B7A3-DE19-45D7E538472C}"/>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5" name="Footer Placeholder 4">
            <a:extLst>
              <a:ext uri="{FF2B5EF4-FFF2-40B4-BE49-F238E27FC236}">
                <a16:creationId xmlns:a16="http://schemas.microsoft.com/office/drawing/2014/main" id="{7D6B2E06-CF19-6EF3-5446-BA5DDCC4F871}"/>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EE55C852-765A-75AA-A28E-AB7F1BB650FE}"/>
              </a:ext>
            </a:extLst>
          </p:cNvPr>
          <p:cNvSpPr>
            <a:spLocks noGrp="1"/>
          </p:cNvSpPr>
          <p:nvPr>
            <p:ph type="sldNum" sz="quarter" idx="16"/>
          </p:nvPr>
        </p:nvSpPr>
        <p:spPr/>
        <p:txBody>
          <a:bodyPr/>
          <a:lstStyle/>
          <a:p>
            <a:fld id="{E1E1CD7C-2161-7D43-862E-CE4C333CD873}" type="slidenum">
              <a:rPr lang="fr-FR" smtClean="0"/>
              <a:pPr/>
              <a:t>5</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A32A2321-4877-EE7B-ED00-A004ABABACBF}"/>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890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BA6DB-2A63-EBB5-8441-EFCD40A5E8F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86C03D2-4E07-16F4-6C46-869551A8C93F}"/>
                  </a:ext>
                </a:extLst>
              </p:cNvPr>
              <p:cNvSpPr>
                <a:spLocks noGrp="1"/>
              </p:cNvSpPr>
              <p:nvPr>
                <p:ph sz="half" idx="1"/>
              </p:nvPr>
            </p:nvSpPr>
            <p:spPr/>
            <p:txBody>
              <a:bodyPr anchor="ctr">
                <a:normAutofit fontScale="77500" lnSpcReduction="20000"/>
              </a:bodyPr>
              <a:lstStyle/>
              <a:p>
                <a:r>
                  <a:rPr lang="en-CH" dirty="0">
                    <a:latin typeface="+mj-lt"/>
                  </a:rPr>
                  <a:t>Graphs – </a:t>
                </a:r>
                <a:r>
                  <a:rPr lang="en-CH" i="1" dirty="0">
                    <a:latin typeface="+mj-lt"/>
                  </a:rPr>
                  <a:t>relational</a:t>
                </a:r>
                <a:r>
                  <a:rPr lang="en-CH" dirty="0">
                    <a:latin typeface="+mj-lt"/>
                  </a:rPr>
                  <a:t> data with a surprisingly rich number of avenues for analysis</a:t>
                </a:r>
              </a:p>
              <a:p>
                <a:pPr lvl="1"/>
                <a:r>
                  <a:rPr lang="en-US" dirty="0">
                    <a:latin typeface="+mj-lt"/>
                  </a:rPr>
                  <a:t>Set of nodes and edges: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e>
                    </m:d>
                  </m:oMath>
                </a14:m>
                <a:endParaRPr lang="en-CH" dirty="0">
                  <a:latin typeface="+mj-lt"/>
                </a:endParaRPr>
              </a:p>
              <a:p>
                <a:pPr lvl="1"/>
                <a:r>
                  <a:rPr lang="en-CH" dirty="0">
                    <a:latin typeface="+mj-lt"/>
                  </a:rPr>
                  <a:t>Directed vs. undirected, adjacency matrices</a:t>
                </a:r>
              </a:p>
              <a:p>
                <a:pPr lvl="1"/>
                <a:r>
                  <a:rPr lang="en-CH" dirty="0">
                    <a:latin typeface="+mj-lt"/>
                  </a:rPr>
                  <a:t>Node neighborhoods and degrees, paths and cycles, subgraphs</a:t>
                </a:r>
              </a:p>
              <a:p>
                <a:pPr lvl="1"/>
                <a:r>
                  <a:rPr lang="en-CH" dirty="0">
                    <a:latin typeface="+mj-lt"/>
                  </a:rPr>
                  <a:t>Connected components, Laplacian and spectral decomposition, orbits</a:t>
                </a:r>
              </a:p>
              <a:p>
                <a:r>
                  <a:rPr lang="en-CH" dirty="0">
                    <a:latin typeface="+mj-lt"/>
                  </a:rPr>
                  <a:t>Network Science – </a:t>
                </a:r>
                <a:r>
                  <a:rPr lang="en-CH" i="1" dirty="0">
                    <a:latin typeface="+mj-lt"/>
                  </a:rPr>
                  <a:t>importance</a:t>
                </a:r>
                <a:r>
                  <a:rPr lang="en-CH" dirty="0">
                    <a:latin typeface="+mj-lt"/>
                  </a:rPr>
                  <a:t> measures</a:t>
                </a:r>
              </a:p>
              <a:p>
                <a:pPr lvl="1"/>
                <a:r>
                  <a:rPr lang="en-CH" dirty="0">
                    <a:latin typeface="+mj-lt"/>
                  </a:rPr>
                  <a:t>Centralities</a:t>
                </a:r>
              </a:p>
              <a:p>
                <a:pPr lvl="1"/>
                <a:r>
                  <a:rPr lang="en-CH" dirty="0">
                    <a:latin typeface="+mj-lt"/>
                  </a:rPr>
                  <a:t>Clustering coefficients</a:t>
                </a:r>
              </a:p>
              <a:p>
                <a:pPr lvl="1"/>
                <a:r>
                  <a:rPr lang="en-CH" dirty="0">
                    <a:latin typeface="+mj-lt"/>
                  </a:rPr>
                  <a:t>HITS, PageRank</a:t>
                </a:r>
              </a:p>
              <a:p>
                <a:r>
                  <a:rPr lang="en-CH" dirty="0">
                    <a:latin typeface="+mj-lt"/>
                  </a:rPr>
                  <a:t>Community structure</a:t>
                </a:r>
              </a:p>
              <a:p>
                <a:pPr lvl="1"/>
                <a:r>
                  <a:rPr lang="en-CH" dirty="0">
                    <a:latin typeface="+mj-lt"/>
                  </a:rPr>
                  <a:t>Local density, global sparsity</a:t>
                </a:r>
              </a:p>
              <a:p>
                <a:pPr lvl="1"/>
                <a:r>
                  <a:rPr lang="en-CH" dirty="0">
                    <a:latin typeface="+mj-lt"/>
                  </a:rPr>
                  <a:t>Disjoint vs. overlapping communities</a:t>
                </a:r>
              </a:p>
              <a:p>
                <a:pPr lvl="1"/>
                <a:r>
                  <a:rPr lang="en-CH" dirty="0">
                    <a:latin typeface="+mj-lt"/>
                  </a:rPr>
                  <a:t>Graph abstraction through coarsening</a:t>
                </a:r>
                <a:r>
                  <a:rPr lang="en-US" dirty="0">
                    <a:latin typeface="+mj-lt"/>
                  </a:rPr>
                  <a:t> </a:t>
                </a:r>
                <a:r>
                  <a:rPr lang="en-US" dirty="0">
                    <a:solidFill>
                      <a:schemeClr val="accent1"/>
                    </a:solidFill>
                    <a:latin typeface="+mj-lt"/>
                  </a:rPr>
                  <a:t>[4]</a:t>
                </a:r>
                <a:endParaRPr lang="en-CH" dirty="0">
                  <a:solidFill>
                    <a:schemeClr val="accent1"/>
                  </a:solidFill>
                  <a:latin typeface="+mj-lt"/>
                </a:endParaRPr>
              </a:p>
            </p:txBody>
          </p:sp>
        </mc:Choice>
        <mc:Fallback xmlns="">
          <p:sp>
            <p:nvSpPr>
              <p:cNvPr id="2" name="Content Placeholder 1">
                <a:extLst>
                  <a:ext uri="{FF2B5EF4-FFF2-40B4-BE49-F238E27FC236}">
                    <a16:creationId xmlns:a16="http://schemas.microsoft.com/office/drawing/2014/main" id="{C86C03D2-4E07-16F4-6C46-869551A8C93F}"/>
                  </a:ext>
                </a:extLst>
              </p:cNvPr>
              <p:cNvSpPr>
                <a:spLocks noGrp="1" noRot="1" noChangeAspect="1" noMove="1" noResize="1" noEditPoints="1" noAdjustHandles="1" noChangeArrowheads="1" noChangeShapeType="1" noTextEdit="1"/>
              </p:cNvSpPr>
              <p:nvPr>
                <p:ph sz="half"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1ED8A346-1243-AA21-B288-43D3DBE18806}"/>
              </a:ext>
            </a:extLst>
          </p:cNvPr>
          <p:cNvSpPr>
            <a:spLocks noGrp="1"/>
          </p:cNvSpPr>
          <p:nvPr>
            <p:ph type="title"/>
          </p:nvPr>
        </p:nvSpPr>
        <p:spPr>
          <a:xfrm>
            <a:off x="904875" y="131032"/>
            <a:ext cx="7532688" cy="1072753"/>
          </a:xfrm>
        </p:spPr>
        <p:txBody>
          <a:bodyPr/>
          <a:lstStyle/>
          <a:p>
            <a:r>
              <a:rPr lang="en-US" dirty="0"/>
              <a:t>2.1	Graph Theory &amp; Network Science</a:t>
            </a:r>
            <a:endParaRPr lang="en-GB" dirty="0"/>
          </a:p>
        </p:txBody>
      </p:sp>
      <p:sp>
        <p:nvSpPr>
          <p:cNvPr id="5" name="Date Placeholder 4">
            <a:extLst>
              <a:ext uri="{FF2B5EF4-FFF2-40B4-BE49-F238E27FC236}">
                <a16:creationId xmlns:a16="http://schemas.microsoft.com/office/drawing/2014/main" id="{018B2783-AC6C-0A71-979C-EB9C2FF5C21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endParaRPr lang="fr-FR" sz="600" dirty="0">
              <a:latin typeface="+mj-lt"/>
            </a:endParaRPr>
          </a:p>
        </p:txBody>
      </p:sp>
      <p:sp>
        <p:nvSpPr>
          <p:cNvPr id="6" name="Footer Placeholder 5">
            <a:extLst>
              <a:ext uri="{FF2B5EF4-FFF2-40B4-BE49-F238E27FC236}">
                <a16:creationId xmlns:a16="http://schemas.microsoft.com/office/drawing/2014/main" id="{D93F59AD-8C49-8B9B-7C7D-233804C44B9E}"/>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6E3C4D-9D3D-C43B-EB9F-097EA6E12194}"/>
              </a:ext>
            </a:extLst>
          </p:cNvPr>
          <p:cNvSpPr>
            <a:spLocks noGrp="1"/>
          </p:cNvSpPr>
          <p:nvPr>
            <p:ph type="sldNum" sz="quarter" idx="12"/>
          </p:nvPr>
        </p:nvSpPr>
        <p:spPr/>
        <p:txBody>
          <a:bodyPr/>
          <a:lstStyle/>
          <a:p>
            <a:fld id="{E1E1CD7C-2161-7D43-862E-CE4C333CD873}" type="slidenum">
              <a:rPr lang="fr-FR" smtClean="0"/>
              <a:pPr/>
              <a:t>6</a:t>
            </a:fld>
            <a:endParaRPr lang="fr-FR" dirty="0"/>
          </a:p>
        </p:txBody>
      </p:sp>
      <p:pic>
        <p:nvPicPr>
          <p:cNvPr id="3074" name="Picture 2" descr="The Seven Bridges of Königsberg, Fig. 1 - PICRYL - Public Domain Media  Search Engine Public Domain Search">
            <a:extLst>
              <a:ext uri="{FF2B5EF4-FFF2-40B4-BE49-F238E27FC236}">
                <a16:creationId xmlns:a16="http://schemas.microsoft.com/office/drawing/2014/main" id="{36D69303-F1BC-4A80-7D7E-49B12CC04DA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765675" y="634959"/>
            <a:ext cx="3671888" cy="185745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27AFB34-8218-D916-D131-E3EDBA0B99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3819" y="2656840"/>
            <a:ext cx="28956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46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074"/>
                                        </p:tgtEl>
                                        <p:attrNameLst>
                                          <p:attrName>style.visibility</p:attrName>
                                        </p:attrNameLst>
                                      </p:cBhvr>
                                      <p:to>
                                        <p:strVal val="visible"/>
                                      </p:to>
                                    </p:set>
                                    <p:animEffect transition="in" filter="randombar(horizontal)">
                                      <p:cBhvr>
                                        <p:cTn id="22" dur="500"/>
                                        <p:tgtEl>
                                          <p:spTgt spid="3074"/>
                                        </p:tgtEl>
                                      </p:cBhvr>
                                    </p:animEffect>
                                  </p:childTnLst>
                                </p:cTn>
                              </p:par>
                              <p:par>
                                <p:cTn id="23" presetID="14" presetClass="entr" presetSubtype="10" fill="hold" nodeType="withEffect">
                                  <p:stCondLst>
                                    <p:cond delay="0"/>
                                  </p:stCondLst>
                                  <p:childTnLst>
                                    <p:set>
                                      <p:cBhvr>
                                        <p:cTn id="24" dur="1" fill="hold">
                                          <p:stCondLst>
                                            <p:cond delay="0"/>
                                          </p:stCondLst>
                                        </p:cTn>
                                        <p:tgtEl>
                                          <p:spTgt spid="3076"/>
                                        </p:tgtEl>
                                        <p:attrNameLst>
                                          <p:attrName>style.visibility</p:attrName>
                                        </p:attrNameLst>
                                      </p:cBhvr>
                                      <p:to>
                                        <p:strVal val="visible"/>
                                      </p:to>
                                    </p:set>
                                    <p:animEffect transition="in" filter="randombar(horizontal)">
                                      <p:cBhvr>
                                        <p:cTn id="25" dur="500"/>
                                        <p:tgtEl>
                                          <p:spTgt spid="307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0" dur="500"/>
                                        <p:tgtEl>
                                          <p:spTgt spid="2">
                                            <p:txEl>
                                              <p:pRg st="5" end="5"/>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3" dur="500"/>
                                        <p:tgtEl>
                                          <p:spTgt spid="2">
                                            <p:txEl>
                                              <p:pRg st="6" end="6"/>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6" dur="500"/>
                                        <p:tgtEl>
                                          <p:spTgt spid="2">
                                            <p:txEl>
                                              <p:pRg st="7" end="7"/>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9" dur="500"/>
                                        <p:tgtEl>
                                          <p:spTgt spid="2">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4" dur="500"/>
                                        <p:tgtEl>
                                          <p:spTgt spid="2">
                                            <p:txEl>
                                              <p:pRg st="9" end="9"/>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47" dur="500"/>
                                        <p:tgtEl>
                                          <p:spTgt spid="2">
                                            <p:txEl>
                                              <p:pRg st="10" end="10"/>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2">
                                            <p:txEl>
                                              <p:pRg st="11" end="11"/>
                                            </p:txEl>
                                          </p:spTgt>
                                        </p:tgtEl>
                                        <p:attrNameLst>
                                          <p:attrName>style.visibility</p:attrName>
                                        </p:attrNameLst>
                                      </p:cBhvr>
                                      <p:to>
                                        <p:strVal val="visible"/>
                                      </p:to>
                                    </p:set>
                                    <p:animEffect transition="in" filter="randombar(horizontal)">
                                      <p:cBhvr>
                                        <p:cTn id="50" dur="500"/>
                                        <p:tgtEl>
                                          <p:spTgt spid="2">
                                            <p:txEl>
                                              <p:pRg st="11" end="11"/>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2">
                                            <p:txEl>
                                              <p:pRg st="12" end="12"/>
                                            </p:txEl>
                                          </p:spTgt>
                                        </p:tgtEl>
                                        <p:attrNameLst>
                                          <p:attrName>style.visibility</p:attrName>
                                        </p:attrNameLst>
                                      </p:cBhvr>
                                      <p:to>
                                        <p:strVal val="visible"/>
                                      </p:to>
                                    </p:set>
                                    <p:animEffect transition="in" filter="randombar(horizontal)">
                                      <p:cBhvr>
                                        <p:cTn id="53"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275CE-A8D4-5750-F619-8CEB4B84C2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306EF8-4762-ED3E-E823-77E2197FE9DE}"/>
              </a:ext>
            </a:extLst>
          </p:cNvPr>
          <p:cNvSpPr>
            <a:spLocks noGrp="1"/>
          </p:cNvSpPr>
          <p:nvPr>
            <p:ph sz="half" idx="1"/>
          </p:nvPr>
        </p:nvSpPr>
        <p:spPr>
          <a:xfrm>
            <a:off x="904875" y="1563688"/>
            <a:ext cx="3794125" cy="3263504"/>
          </a:xfrm>
        </p:spPr>
        <p:txBody>
          <a:bodyPr anchor="ctr">
            <a:normAutofit fontScale="92500" lnSpcReduction="10000"/>
          </a:bodyPr>
          <a:lstStyle/>
          <a:p>
            <a:r>
              <a:rPr lang="en-CH" dirty="0">
                <a:latin typeface="+mj-lt"/>
              </a:rPr>
              <a:t>Models, parameters, data points, loss functions…</a:t>
            </a:r>
          </a:p>
          <a:p>
            <a:r>
              <a:rPr lang="en-CH" dirty="0">
                <a:latin typeface="+mj-lt"/>
              </a:rPr>
              <a:t>Optimization algorithms</a:t>
            </a:r>
          </a:p>
          <a:p>
            <a:pPr lvl="1"/>
            <a:r>
              <a:rPr lang="en-CH" dirty="0">
                <a:latin typeface="+mj-lt"/>
              </a:rPr>
              <a:t>Learning model parameters via loss minimization with GD, SGD, Adam…</a:t>
            </a:r>
          </a:p>
          <a:p>
            <a:r>
              <a:rPr lang="en-CH" dirty="0">
                <a:latin typeface="+mj-lt"/>
              </a:rPr>
              <a:t>Neural networks</a:t>
            </a:r>
          </a:p>
          <a:p>
            <a:pPr lvl="1"/>
            <a:r>
              <a:rPr lang="en-CH" dirty="0">
                <a:latin typeface="+mj-lt"/>
              </a:rPr>
              <a:t>Sequence of </a:t>
            </a:r>
            <a:r>
              <a:rPr lang="en-CH" i="1" dirty="0">
                <a:latin typeface="+mj-lt"/>
              </a:rPr>
              <a:t>layer </a:t>
            </a:r>
            <a:r>
              <a:rPr lang="en-CH" dirty="0">
                <a:latin typeface="+mj-lt"/>
              </a:rPr>
              <a:t>models</a:t>
            </a:r>
          </a:p>
          <a:p>
            <a:pPr lvl="1"/>
            <a:r>
              <a:rPr lang="en-CH" dirty="0">
                <a:latin typeface="+mj-lt"/>
              </a:rPr>
              <a:t>Universal approximation</a:t>
            </a:r>
          </a:p>
          <a:p>
            <a:pPr lvl="1"/>
            <a:r>
              <a:rPr lang="en-CH" dirty="0">
                <a:latin typeface="+mj-lt"/>
              </a:rPr>
              <a:t>Importance of depth</a:t>
            </a:r>
          </a:p>
          <a:p>
            <a:pPr lvl="1"/>
            <a:r>
              <a:rPr lang="en-CH" dirty="0">
                <a:latin typeface="+mj-lt"/>
              </a:rPr>
              <a:t>Layer architectures: linear, embedding, dropout, batch normalization…</a:t>
            </a:r>
          </a:p>
          <a:p>
            <a:pPr lvl="1"/>
            <a:r>
              <a:rPr lang="en-CH" dirty="0">
                <a:latin typeface="+mj-lt"/>
              </a:rPr>
              <a:t>Attention</a:t>
            </a:r>
          </a:p>
          <a:p>
            <a:r>
              <a:rPr lang="en-CH" dirty="0">
                <a:latin typeface="+mj-lt"/>
              </a:rPr>
              <a:t>Graph Neural Network (GNN) blocks </a:t>
            </a:r>
            <a:r>
              <a:rPr lang="en-US" dirty="0">
                <a:solidFill>
                  <a:schemeClr val="accent1"/>
                </a:solidFill>
                <a:latin typeface="+mj-lt"/>
              </a:rPr>
              <a:t>[7]</a:t>
            </a:r>
            <a:endParaRPr lang="en-CH" dirty="0">
              <a:solidFill>
                <a:schemeClr val="accent1"/>
              </a:solidFill>
              <a:latin typeface="+mj-lt"/>
            </a:endParaRPr>
          </a:p>
        </p:txBody>
      </p:sp>
      <p:pic>
        <p:nvPicPr>
          <p:cNvPr id="9" name="Content Placeholder 8" descr="A diagram of a block diagram&#10;&#10;AI-generated content may be incorrect.">
            <a:extLst>
              <a:ext uri="{FF2B5EF4-FFF2-40B4-BE49-F238E27FC236}">
                <a16:creationId xmlns:a16="http://schemas.microsoft.com/office/drawing/2014/main" id="{88D96A37-E209-3633-03C2-B1FE95E19218}"/>
              </a:ext>
            </a:extLst>
          </p:cNvPr>
          <p:cNvPicPr>
            <a:picLocks noGrp="1" noChangeAspect="1"/>
          </p:cNvPicPr>
          <p:nvPr>
            <p:ph sz="half" idx="2"/>
          </p:nvPr>
        </p:nvPicPr>
        <p:blipFill>
          <a:blip r:embed="rId3"/>
          <a:stretch>
            <a:fillRect/>
          </a:stretch>
        </p:blipFill>
        <p:spPr>
          <a:xfrm>
            <a:off x="4959350" y="2265383"/>
            <a:ext cx="3671888" cy="1860510"/>
          </a:xfrm>
        </p:spPr>
      </p:pic>
      <p:sp>
        <p:nvSpPr>
          <p:cNvPr id="8" name="Title 7">
            <a:extLst>
              <a:ext uri="{FF2B5EF4-FFF2-40B4-BE49-F238E27FC236}">
                <a16:creationId xmlns:a16="http://schemas.microsoft.com/office/drawing/2014/main" id="{F8D8ADF1-141C-AA98-C3D8-7BB8E3CCCD03}"/>
              </a:ext>
            </a:extLst>
          </p:cNvPr>
          <p:cNvSpPr>
            <a:spLocks noGrp="1"/>
          </p:cNvSpPr>
          <p:nvPr>
            <p:ph type="title"/>
          </p:nvPr>
        </p:nvSpPr>
        <p:spPr>
          <a:xfrm>
            <a:off x="904875" y="131032"/>
            <a:ext cx="7726363" cy="1072753"/>
          </a:xfrm>
        </p:spPr>
        <p:txBody>
          <a:bodyPr/>
          <a:lstStyle/>
          <a:p>
            <a:r>
              <a:rPr lang="en-US" dirty="0"/>
              <a:t>2.2	Graph Machine Learning</a:t>
            </a:r>
            <a:endParaRPr lang="en-GB" dirty="0"/>
          </a:p>
        </p:txBody>
      </p:sp>
      <p:sp>
        <p:nvSpPr>
          <p:cNvPr id="5" name="Date Placeholder 4">
            <a:extLst>
              <a:ext uri="{FF2B5EF4-FFF2-40B4-BE49-F238E27FC236}">
                <a16:creationId xmlns:a16="http://schemas.microsoft.com/office/drawing/2014/main" id="{827D9700-EACD-2B9C-71F5-9A4889EB070E}"/>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endParaRPr lang="fr-FR" sz="600" dirty="0">
              <a:latin typeface="+mj-lt"/>
            </a:endParaRPr>
          </a:p>
        </p:txBody>
      </p:sp>
      <p:sp>
        <p:nvSpPr>
          <p:cNvPr id="6" name="Footer Placeholder 5">
            <a:extLst>
              <a:ext uri="{FF2B5EF4-FFF2-40B4-BE49-F238E27FC236}">
                <a16:creationId xmlns:a16="http://schemas.microsoft.com/office/drawing/2014/main" id="{9CAE30E0-BC4F-2B13-8D4F-18B0EA0CA83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5DFDAA8-A63B-BAFD-1482-FC25BF5AEE84}"/>
              </a:ext>
            </a:extLst>
          </p:cNvPr>
          <p:cNvSpPr>
            <a:spLocks noGrp="1"/>
          </p:cNvSpPr>
          <p:nvPr>
            <p:ph type="sldNum" sz="quarter" idx="12"/>
          </p:nvPr>
        </p:nvSpPr>
        <p:spPr/>
        <p:txBody>
          <a:bodyPr/>
          <a:lstStyle/>
          <a:p>
            <a:fld id="{E1E1CD7C-2161-7D43-862E-CE4C333CD873}" type="slidenum">
              <a:rPr lang="fr-FR" smtClean="0"/>
              <a:pPr/>
              <a:t>7</a:t>
            </a:fld>
            <a:endParaRPr lang="fr-FR" dirty="0"/>
          </a:p>
        </p:txBody>
      </p:sp>
    </p:spTree>
    <p:extLst>
      <p:ext uri="{BB962C8B-B14F-4D97-AF65-F5344CB8AC3E}">
        <p14:creationId xmlns:p14="http://schemas.microsoft.com/office/powerpoint/2010/main" val="80251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0" dur="500"/>
                                        <p:tgtEl>
                                          <p:spTgt spid="2">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6" dur="500"/>
                                        <p:tgtEl>
                                          <p:spTgt spid="2">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9" dur="500"/>
                                        <p:tgtEl>
                                          <p:spTgt spid="2">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2" dur="500"/>
                                        <p:tgtEl>
                                          <p:spTgt spid="2">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5" dur="500"/>
                                        <p:tgtEl>
                                          <p:spTgt spid="2">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0" dur="500"/>
                                        <p:tgtEl>
                                          <p:spTgt spid="2">
                                            <p:txEl>
                                              <p:pRg st="9" end="9"/>
                                            </p:txEl>
                                          </p:spTgt>
                                        </p:tgtEl>
                                      </p:cBhvr>
                                    </p:animEffect>
                                  </p:childTnLst>
                                </p:cTn>
                              </p:par>
                              <p:par>
                                <p:cTn id="41" presetID="14" presetClass="entr" presetSubtype="1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randombar(horizontal)">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B1CD-2C6A-B515-238A-CE22A47DFBA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6033213-A55B-64B3-20B7-E15066DEC93E}"/>
              </a:ext>
            </a:extLst>
          </p:cNvPr>
          <p:cNvSpPr>
            <a:spLocks noGrp="1"/>
          </p:cNvSpPr>
          <p:nvPr>
            <p:ph type="title"/>
          </p:nvPr>
        </p:nvSpPr>
        <p:spPr/>
        <p:txBody>
          <a:bodyPr/>
          <a:lstStyle/>
          <a:p>
            <a:r>
              <a:rPr lang="en-US" dirty="0"/>
              <a:t>Scalable </a:t>
            </a:r>
            <a:br>
              <a:rPr lang="en-US" dirty="0"/>
            </a:br>
            <a:r>
              <a:rPr lang="en-US" dirty="0"/>
              <a:t>Knowledge Graph Reasoning</a:t>
            </a:r>
            <a:endParaRPr lang="en-GB" dirty="0"/>
          </a:p>
        </p:txBody>
      </p:sp>
      <p:sp>
        <p:nvSpPr>
          <p:cNvPr id="8" name="Text Placeholder 7">
            <a:extLst>
              <a:ext uri="{FF2B5EF4-FFF2-40B4-BE49-F238E27FC236}">
                <a16:creationId xmlns:a16="http://schemas.microsoft.com/office/drawing/2014/main" id="{09BDCAAB-5C18-DA52-D529-40A34433360D}"/>
              </a:ext>
            </a:extLst>
          </p:cNvPr>
          <p:cNvSpPr>
            <a:spLocks noGrp="1"/>
          </p:cNvSpPr>
          <p:nvPr>
            <p:ph type="body" idx="1"/>
          </p:nvPr>
        </p:nvSpPr>
        <p:spPr/>
        <p:txBody>
          <a:bodyPr>
            <a:normAutofit/>
          </a:bodyPr>
          <a:lstStyle/>
          <a:p>
            <a:r>
              <a:rPr lang="en-US" sz="2400" dirty="0">
                <a:latin typeface="+mj-lt"/>
              </a:rPr>
              <a:t>Chapter 3</a:t>
            </a:r>
            <a:endParaRPr lang="en-GB" sz="2400" dirty="0">
              <a:latin typeface="+mj-lt"/>
            </a:endParaRPr>
          </a:p>
        </p:txBody>
      </p:sp>
      <p:sp>
        <p:nvSpPr>
          <p:cNvPr id="4" name="Date Placeholder 3">
            <a:extLst>
              <a:ext uri="{FF2B5EF4-FFF2-40B4-BE49-F238E27FC236}">
                <a16:creationId xmlns:a16="http://schemas.microsoft.com/office/drawing/2014/main" id="{4E552FCF-E7B8-73C1-D851-420AD9030949}"/>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5" name="Footer Placeholder 4">
            <a:extLst>
              <a:ext uri="{FF2B5EF4-FFF2-40B4-BE49-F238E27FC236}">
                <a16:creationId xmlns:a16="http://schemas.microsoft.com/office/drawing/2014/main" id="{F9F176B0-0BF8-52C7-65F3-5FB0D5C1324F}"/>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B309DEC8-3F84-1B2A-E286-5BB7D2D5A6A6}"/>
              </a:ext>
            </a:extLst>
          </p:cNvPr>
          <p:cNvSpPr>
            <a:spLocks noGrp="1"/>
          </p:cNvSpPr>
          <p:nvPr>
            <p:ph type="sldNum" sz="quarter" idx="16"/>
          </p:nvPr>
        </p:nvSpPr>
        <p:spPr/>
        <p:txBody>
          <a:bodyPr/>
          <a:lstStyle/>
          <a:p>
            <a:fld id="{E1E1CD7C-2161-7D43-862E-CE4C333CD873}" type="slidenum">
              <a:rPr lang="fr-FR" smtClean="0"/>
              <a:pPr/>
              <a:t>8</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9642FC53-0D29-9F05-01FF-6552C4CF41B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087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86011-ADD7-15A4-D2D2-1491FE489ACF}"/>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4120698-84FF-0E0D-11C8-2FDFFC3CCE41}"/>
              </a:ext>
            </a:extLst>
          </p:cNvPr>
          <p:cNvSpPr>
            <a:spLocks noGrp="1"/>
          </p:cNvSpPr>
          <p:nvPr>
            <p:ph sz="half" idx="1"/>
          </p:nvPr>
        </p:nvSpPr>
        <p:spPr/>
        <p:txBody>
          <a:bodyPr anchor="ctr">
            <a:normAutofit/>
          </a:bodyPr>
          <a:lstStyle/>
          <a:p>
            <a:r>
              <a:rPr lang="en-US" sz="1600" dirty="0">
                <a:latin typeface="Franklin Gothic Demi Cond" panose="020B0706030402020204" pitchFamily="34" charset="0"/>
              </a:rPr>
              <a:t>Knowledge graphs (KGs) - a type of database, a </a:t>
            </a:r>
            <a:r>
              <a:rPr lang="en-US" sz="1600" i="1" dirty="0">
                <a:latin typeface="Franklin Gothic Demi Cond" panose="020B0706030402020204" pitchFamily="34" charset="0"/>
              </a:rPr>
              <a:t>network</a:t>
            </a:r>
            <a:r>
              <a:rPr lang="en-US" sz="1600" dirty="0">
                <a:latin typeface="Franklin Gothic Demi Cond" panose="020B0706030402020204" pitchFamily="34" charset="0"/>
              </a:rPr>
              <a:t> of </a:t>
            </a:r>
            <a:r>
              <a:rPr lang="en-US" sz="1600" i="1" dirty="0">
                <a:latin typeface="Franklin Gothic Demi Cond" panose="020B0706030402020204" pitchFamily="34" charset="0"/>
              </a:rPr>
              <a:t>entities</a:t>
            </a:r>
            <a:r>
              <a:rPr lang="en-US" sz="1600" dirty="0">
                <a:latin typeface="Franklin Gothic Demi Cond" panose="020B0706030402020204" pitchFamily="34" charset="0"/>
              </a:rPr>
              <a:t>, their semantic </a:t>
            </a:r>
            <a:r>
              <a:rPr lang="en-US" sz="1600" i="1" dirty="0">
                <a:latin typeface="Franklin Gothic Demi Cond" panose="020B0706030402020204" pitchFamily="34" charset="0"/>
              </a:rPr>
              <a:t>types</a:t>
            </a:r>
            <a:r>
              <a:rPr lang="en-US" sz="1600" dirty="0">
                <a:latin typeface="Franklin Gothic Demi Cond" panose="020B0706030402020204" pitchFamily="34" charset="0"/>
              </a:rPr>
              <a:t>, </a:t>
            </a:r>
            <a:r>
              <a:rPr lang="en-US" sz="1600" i="1" dirty="0">
                <a:latin typeface="Franklin Gothic Demi Cond" panose="020B0706030402020204" pitchFamily="34" charset="0"/>
              </a:rPr>
              <a:t>properties</a:t>
            </a:r>
            <a:r>
              <a:rPr lang="en-US" sz="1600" dirty="0">
                <a:latin typeface="Franklin Gothic Demi Cond" panose="020B0706030402020204" pitchFamily="34" charset="0"/>
              </a:rPr>
              <a:t>, and </a:t>
            </a:r>
            <a:r>
              <a:rPr lang="en-US" sz="1600" i="1" dirty="0">
                <a:latin typeface="Franklin Gothic Demi Cond" panose="020B0706030402020204" pitchFamily="34" charset="0"/>
              </a:rPr>
              <a:t>relationships </a:t>
            </a:r>
            <a:r>
              <a:rPr lang="en-US" sz="1600" dirty="0">
                <a:solidFill>
                  <a:schemeClr val="accent1"/>
                </a:solidFill>
                <a:latin typeface="Franklin Gothic Demi Cond" panose="020B0706030402020204" pitchFamily="34" charset="0"/>
              </a:rPr>
              <a:t>[14]</a:t>
            </a:r>
            <a:endParaRPr lang="en-US" sz="1600" i="1" dirty="0">
              <a:solidFill>
                <a:schemeClr val="accent1"/>
              </a:solidFill>
              <a:latin typeface="Franklin Gothic Demi Cond" panose="020B0706030402020204" pitchFamily="34" charset="0"/>
            </a:endParaRPr>
          </a:p>
          <a:p>
            <a:r>
              <a:rPr lang="en-US" sz="1600" dirty="0">
                <a:latin typeface="Franklin Gothic Demi Cond" panose="020B0706030402020204" pitchFamily="34" charset="0"/>
              </a:rPr>
              <a:t>Represent real-world data from multiple topical domains</a:t>
            </a:r>
          </a:p>
          <a:p>
            <a:r>
              <a:rPr lang="en-US" sz="1600" dirty="0">
                <a:latin typeface="Franklin Gothic Demi Cond" panose="020B0706030402020204" pitchFamily="34" charset="0"/>
              </a:rPr>
              <a:t>The end goal: using the data to reason, infer novel knowledge</a:t>
            </a:r>
          </a:p>
          <a:p>
            <a:r>
              <a:rPr lang="en-US" sz="1600" dirty="0">
                <a:latin typeface="Franklin Gothic Demi Cond" panose="020B0706030402020204" pitchFamily="34" charset="0"/>
              </a:rPr>
              <a:t>Main tasks - link prediction and</a:t>
            </a:r>
            <a:r>
              <a:rPr lang="en-US" sz="1600" i="1" dirty="0">
                <a:latin typeface="Franklin Gothic Demi Cond" panose="020B0706030402020204" pitchFamily="34" charset="0"/>
              </a:rPr>
              <a:t> </a:t>
            </a:r>
            <a:r>
              <a:rPr lang="en-US" sz="1600" dirty="0">
                <a:latin typeface="Franklin Gothic Demi Cond" panose="020B0706030402020204" pitchFamily="34" charset="0"/>
              </a:rPr>
              <a:t>query answering for graphs</a:t>
            </a:r>
          </a:p>
          <a:p>
            <a:r>
              <a:rPr lang="en-US" sz="1600" i="1" dirty="0">
                <a:latin typeface="Franklin Gothic Demi Cond" panose="020B0706030402020204" pitchFamily="34" charset="0"/>
              </a:rPr>
              <a:t>Scalability</a:t>
            </a:r>
            <a:r>
              <a:rPr lang="en-US" sz="1600" dirty="0">
                <a:latin typeface="Franklin Gothic Demi Cond" panose="020B0706030402020204" pitchFamily="34" charset="0"/>
              </a:rPr>
              <a:t> - KGs grow very large &amp; require significant computational resources</a:t>
            </a:r>
          </a:p>
        </p:txBody>
      </p:sp>
      <p:sp>
        <p:nvSpPr>
          <p:cNvPr id="8" name="Title 7">
            <a:extLst>
              <a:ext uri="{FF2B5EF4-FFF2-40B4-BE49-F238E27FC236}">
                <a16:creationId xmlns:a16="http://schemas.microsoft.com/office/drawing/2014/main" id="{8845FDB2-171F-F762-3002-AFAE861FB560}"/>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Problem &amp; Challenges - Setting</a:t>
            </a:r>
            <a:endParaRPr lang="en-GB" sz="2400" b="0" i="1" dirty="0"/>
          </a:p>
        </p:txBody>
      </p:sp>
      <p:sp>
        <p:nvSpPr>
          <p:cNvPr id="5" name="Date Placeholder 4">
            <a:extLst>
              <a:ext uri="{FF2B5EF4-FFF2-40B4-BE49-F238E27FC236}">
                <a16:creationId xmlns:a16="http://schemas.microsoft.com/office/drawing/2014/main" id="{E4C17409-DB07-57D0-0857-A6D5FC8A5979}"/>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01B1165-E95E-D8B4-E3B8-E9F159BB1049}"/>
              </a:ext>
            </a:extLst>
          </p:cNvPr>
          <p:cNvSpPr>
            <a:spLocks noGrp="1"/>
          </p:cNvSpPr>
          <p:nvPr>
            <p:ph type="ftr" sz="quarter" idx="11"/>
          </p:nvPr>
        </p:nvSpPr>
        <p:spPr/>
        <p:txBody>
          <a:bodyPr/>
          <a:lstStyle/>
          <a:p>
            <a:r>
              <a:rPr lang="fr-FR">
                <a:latin typeface="+mj-lt"/>
              </a:rPr>
              <a:t>Andrej Janchevski, EPFL STI IEM LIONS, Lausanne, Switzerland </a:t>
            </a:r>
            <a:endParaRPr lang="fr-FR" dirty="0">
              <a:latin typeface="+mj-lt"/>
            </a:endParaRPr>
          </a:p>
        </p:txBody>
      </p:sp>
      <p:sp>
        <p:nvSpPr>
          <p:cNvPr id="7" name="Slide Number Placeholder 6">
            <a:extLst>
              <a:ext uri="{FF2B5EF4-FFF2-40B4-BE49-F238E27FC236}">
                <a16:creationId xmlns:a16="http://schemas.microsoft.com/office/drawing/2014/main" id="{4E08B23A-5CB9-62E2-1206-7B0C96E848FA}"/>
              </a:ext>
            </a:extLst>
          </p:cNvPr>
          <p:cNvSpPr>
            <a:spLocks noGrp="1"/>
          </p:cNvSpPr>
          <p:nvPr>
            <p:ph type="sldNum" sz="quarter" idx="12"/>
          </p:nvPr>
        </p:nvSpPr>
        <p:spPr/>
        <p:txBody>
          <a:bodyPr/>
          <a:lstStyle/>
          <a:p>
            <a:fld id="{E1E1CD7C-2161-7D43-862E-CE4C333CD873}" type="slidenum">
              <a:rPr lang="fr-FR" smtClean="0"/>
              <a:pPr/>
              <a:t>9</a:t>
            </a:fld>
            <a:endParaRPr lang="fr-FR" dirty="0"/>
          </a:p>
        </p:txBody>
      </p:sp>
      <p:pic>
        <p:nvPicPr>
          <p:cNvPr id="18" name="Content Placeholder 3" descr="Application, Teams&#10;&#10;Description automatically generated with medium confidence">
            <a:extLst>
              <a:ext uri="{FF2B5EF4-FFF2-40B4-BE49-F238E27FC236}">
                <a16:creationId xmlns:a16="http://schemas.microsoft.com/office/drawing/2014/main" id="{90CA399B-BB9E-D6DB-E902-48DE7F85B20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9350" y="1716118"/>
            <a:ext cx="3671888" cy="2959039"/>
          </a:xfrm>
        </p:spPr>
      </p:pic>
    </p:spTree>
    <p:extLst>
      <p:ext uri="{BB962C8B-B14F-4D97-AF65-F5344CB8AC3E}">
        <p14:creationId xmlns:p14="http://schemas.microsoft.com/office/powerpoint/2010/main" val="420646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randombar(horizont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6"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147B-5A5B-4474-098B-45B04531BBB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E75B6F18-6C9B-5ED3-2065-C2C0F7A0281A}"/>
                  </a:ext>
                </a:extLst>
              </p:cNvPr>
              <p:cNvSpPr>
                <a:spLocks noGrp="1"/>
              </p:cNvSpPr>
              <p:nvPr>
                <p:ph idx="1"/>
              </p:nvPr>
            </p:nvSpPr>
            <p:spPr/>
            <p:txBody>
              <a:bodyPr anchor="ctr">
                <a:normAutofit/>
              </a:bodyPr>
              <a:lstStyle/>
              <a:p>
                <a:r>
                  <a:rPr lang="en-US" dirty="0">
                    <a:latin typeface="+mj-lt"/>
                  </a:rPr>
                  <a:t>Split the knowledge graph into disjoint subsets, then distribute over a cluster </a:t>
                </a:r>
                <a:r>
                  <a:rPr lang="en-US" dirty="0">
                    <a:solidFill>
                      <a:schemeClr val="accent1"/>
                    </a:solidFill>
                    <a:latin typeface="+mj-lt"/>
                  </a:rPr>
                  <a:t>[8, 12]</a:t>
                </a:r>
              </a:p>
              <a:p>
                <a:r>
                  <a:rPr lang="en-US" dirty="0">
                    <a:latin typeface="+mj-lt"/>
                  </a:rPr>
                  <a:t>Cache intermediate results reused across multiple evaluation samples </a:t>
                </a:r>
                <a:r>
                  <a:rPr lang="en-US" dirty="0">
                    <a:solidFill>
                      <a:schemeClr val="accent1"/>
                    </a:solidFill>
                    <a:latin typeface="+mj-lt"/>
                  </a:rPr>
                  <a:t>[16, 20]</a:t>
                </a:r>
              </a:p>
              <a:p>
                <a:r>
                  <a:rPr lang="en-US" dirty="0">
                    <a:latin typeface="+mj-lt"/>
                  </a:rPr>
                  <a:t>Faster algorithms for sampling training data </a:t>
                </a:r>
                <a:r>
                  <a:rPr lang="en-US" dirty="0">
                    <a:solidFill>
                      <a:schemeClr val="accent1"/>
                    </a:solidFill>
                    <a:latin typeface="+mj-lt"/>
                  </a:rPr>
                  <a:t>[16, 20]</a:t>
                </a:r>
              </a:p>
              <a:p>
                <a:r>
                  <a:rPr lang="en-US" dirty="0">
                    <a:latin typeface="+mj-lt"/>
                  </a:rPr>
                  <a:t>Reduce memory complexity and the cost of slower run-time </a:t>
                </a:r>
                <a:r>
                  <a:rPr lang="en-US" dirty="0">
                    <a:solidFill>
                      <a:schemeClr val="accent1"/>
                    </a:solidFill>
                    <a:latin typeface="+mj-lt"/>
                  </a:rPr>
                  <a:t>[17, 19]</a:t>
                </a:r>
              </a:p>
              <a:p>
                <a:r>
                  <a:rPr lang="en-US" dirty="0">
                    <a:latin typeface="+mj-lt"/>
                  </a:rPr>
                  <a:t>Model-free</a:t>
                </a:r>
              </a:p>
              <a:p>
                <a:r>
                  <a:rPr lang="en-US" dirty="0">
                    <a:latin typeface="+mj-lt"/>
                  </a:rPr>
                  <a:t>Common issues</a:t>
                </a:r>
              </a:p>
              <a:p>
                <a:pPr lvl="1"/>
                <a:r>
                  <a:rPr lang="en-US" i="1" dirty="0">
                    <a:latin typeface="+mj-lt"/>
                  </a:rPr>
                  <a:t>Inapplicable to out-of-distribution testing (i.e., all non-academic applications)</a:t>
                </a:r>
              </a:p>
              <a:p>
                <a:pPr lvl="1"/>
                <a:r>
                  <a:rPr lang="en-US" i="1" dirty="0">
                    <a:latin typeface="+mj-lt"/>
                  </a:rPr>
                  <a:t>Require hundreds of compute units (usually GPUs)</a:t>
                </a:r>
              </a:p>
              <a:p>
                <a:pPr lvl="1"/>
                <a:r>
                  <a:rPr lang="en-US" i="1" dirty="0">
                    <a:latin typeface="+mj-lt"/>
                  </a:rPr>
                  <a:t>Acceleration factors independent of graph size </a:t>
                </a:r>
                <a14:m>
                  <m:oMath xmlns:m="http://schemas.openxmlformats.org/officeDocument/2006/math">
                    <m:r>
                      <a:rPr lang="en-US" b="0" i="1" smtClean="0">
                        <a:latin typeface="Cambria Math" panose="02040503050406030204" pitchFamily="18" charset="0"/>
                      </a:rPr>
                      <m:t> ⇒</m:t>
                    </m:r>
                  </m:oMath>
                </a14:m>
                <a:r>
                  <a:rPr lang="en-US" i="1" dirty="0">
                    <a:latin typeface="+mj-lt"/>
                  </a:rPr>
                  <a:t> diminishing returns</a:t>
                </a:r>
              </a:p>
            </p:txBody>
          </p:sp>
        </mc:Choice>
        <mc:Fallback xmlns="">
          <p:sp>
            <p:nvSpPr>
              <p:cNvPr id="9" name="Content Placeholder 8">
                <a:extLst>
                  <a:ext uri="{FF2B5EF4-FFF2-40B4-BE49-F238E27FC236}">
                    <a16:creationId xmlns:a16="http://schemas.microsoft.com/office/drawing/2014/main" id="{E75B6F18-6C9B-5ED3-2065-C2C0F7A0281A}"/>
                  </a:ext>
                </a:extLst>
              </p:cNvPr>
              <p:cNvSpPr>
                <a:spLocks noGrp="1" noRot="1" noChangeAspect="1" noMove="1" noResize="1" noEditPoints="1" noAdjustHandles="1" noChangeArrowheads="1" noChangeShapeType="1" noTextEdit="1"/>
              </p:cNvSpPr>
              <p:nvPr>
                <p:ph idx="1"/>
              </p:nvPr>
            </p:nvSpPr>
            <p:spPr>
              <a:blipFill>
                <a:blip r:embed="rId3"/>
                <a:stretch>
                  <a:fillRect r="-55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3C980A50-C935-37DC-79CC-800D67BFE7A5}"/>
              </a:ext>
            </a:extLst>
          </p:cNvPr>
          <p:cNvSpPr>
            <a:spLocks noGrp="1"/>
          </p:cNvSpPr>
          <p:nvPr>
            <p:ph type="title"/>
          </p:nvPr>
        </p:nvSpPr>
        <p:spPr>
          <a:xfrm>
            <a:off x="904875" y="131032"/>
            <a:ext cx="7219217" cy="1072753"/>
          </a:xfrm>
        </p:spPr>
        <p:txBody>
          <a:bodyPr>
            <a:normAutofit/>
          </a:bodyPr>
          <a:lstStyle/>
          <a:p>
            <a:r>
              <a:rPr lang="en-US" dirty="0"/>
              <a:t>3.1	Community-Informed Graph Embeddings</a:t>
            </a:r>
            <a:br>
              <a:rPr lang="en-US" dirty="0"/>
            </a:br>
            <a:r>
              <a:rPr lang="en-US" sz="2400" b="0" i="1" dirty="0"/>
              <a:t>Problem &amp; Challenges - Related work</a:t>
            </a:r>
            <a:endParaRPr lang="en-GB" sz="2400" b="0" i="1" dirty="0"/>
          </a:p>
        </p:txBody>
      </p:sp>
      <p:sp>
        <p:nvSpPr>
          <p:cNvPr id="5" name="Date Placeholder 4">
            <a:extLst>
              <a:ext uri="{FF2B5EF4-FFF2-40B4-BE49-F238E27FC236}">
                <a16:creationId xmlns:a16="http://schemas.microsoft.com/office/drawing/2014/main" id="{37D92735-99E4-4F50-7CE7-9E52D9274228}"/>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4F3A82D-E24E-0435-A49E-81727C9BB456}"/>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3DE6617-67BE-336F-63D3-8F261DCCFF38}"/>
              </a:ext>
            </a:extLst>
          </p:cNvPr>
          <p:cNvSpPr>
            <a:spLocks noGrp="1"/>
          </p:cNvSpPr>
          <p:nvPr>
            <p:ph type="sldNum" sz="quarter" idx="12"/>
          </p:nvPr>
        </p:nvSpPr>
        <p:spPr/>
        <p:txBody>
          <a:bodyPr/>
          <a:lstStyle/>
          <a:p>
            <a:fld id="{E1E1CD7C-2161-7D43-862E-CE4C333CD873}" type="slidenum">
              <a:rPr lang="fr-FR" smtClean="0"/>
              <a:pPr/>
              <a:t>10</a:t>
            </a:fld>
            <a:endParaRPr lang="fr-FR" dirty="0"/>
          </a:p>
        </p:txBody>
      </p:sp>
    </p:spTree>
    <p:extLst>
      <p:ext uri="{BB962C8B-B14F-4D97-AF65-F5344CB8AC3E}">
        <p14:creationId xmlns:p14="http://schemas.microsoft.com/office/powerpoint/2010/main" val="54198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72E8-71B4-51F8-2290-0C2FDDE185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862F51F3-EE61-0ED0-F494-5C7A9212FB93}"/>
                  </a:ext>
                </a:extLst>
              </p:cNvPr>
              <p:cNvSpPr>
                <a:spLocks noGrp="1"/>
              </p:cNvSpPr>
              <p:nvPr>
                <p:ph idx="1"/>
              </p:nvPr>
            </p:nvSpPr>
            <p:spPr/>
            <p:txBody>
              <a:bodyPr>
                <a:normAutofit/>
              </a:bodyPr>
              <a:lstStyle/>
              <a:p>
                <a:r>
                  <a:rPr lang="en-US" dirty="0">
                    <a:latin typeface="+mj-lt"/>
                  </a:rPr>
                  <a:t>Attributed Multiplex Heterogeneous Networks (AMHENs)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1" i="1" smtClean="0">
                            <a:latin typeface="Cambria Math" panose="02040503050406030204" pitchFamily="18" charset="0"/>
                          </a:rPr>
                          <m:t>𝑿</m:t>
                        </m:r>
                      </m:e>
                    </m:d>
                  </m:oMath>
                </a14:m>
                <a:endParaRPr lang="en-US" i="1" dirty="0">
                  <a:latin typeface="+mj-lt"/>
                </a:endParaRPr>
              </a:p>
              <a:p>
                <a:pPr lvl="1"/>
                <a14:m>
                  <m:oMath xmlns:m="http://schemas.openxmlformats.org/officeDocument/2006/math">
                    <m:r>
                      <a:rPr lang="en-US" i="1">
                        <a:latin typeface="Cambria Math" panose="02040503050406030204" pitchFamily="18" charset="0"/>
                      </a:rPr>
                      <m:t>𝑉</m:t>
                    </m:r>
                  </m:oMath>
                </a14:m>
                <a:r>
                  <a:rPr lang="en-GB" dirty="0">
                    <a:latin typeface="+mj-lt"/>
                  </a:rPr>
                  <a:t>- set of entities/nodes</a:t>
                </a:r>
              </a:p>
              <a:p>
                <a:pPr lvl="1"/>
                <a14:m>
                  <m:oMath xmlns:m="http://schemas.openxmlformats.org/officeDocument/2006/math">
                    <m:r>
                      <a:rPr lang="en-US" b="0" i="1" smtClean="0">
                        <a:latin typeface="Cambria Math" panose="02040503050406030204" pitchFamily="18" charset="0"/>
                      </a:rPr>
                      <m:t>𝑅</m:t>
                    </m:r>
                  </m:oMath>
                </a14:m>
                <a:r>
                  <a:rPr lang="en-GB" dirty="0">
                    <a:latin typeface="+mj-lt"/>
                  </a:rPr>
                  <a:t>- set of relation types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GB" dirty="0">
                    <a:latin typeface="+mj-lt"/>
                  </a:rPr>
                  <a:t> - set of relations/edges</a:t>
                </a:r>
              </a:p>
              <a:p>
                <a:pPr lvl="1"/>
                <a14:m>
                  <m:oMath xmlns:m="http://schemas.openxmlformats.org/officeDocument/2006/math">
                    <m:r>
                      <a:rPr lang="en-US" b="1" i="1" smtClean="0">
                        <a:latin typeface="Cambria Math" panose="02040503050406030204" pitchFamily="18" charset="0"/>
                      </a:rPr>
                      <m:t>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𝐹</m:t>
                        </m:r>
                      </m:sup>
                    </m:sSup>
                  </m:oMath>
                </a14:m>
                <a:r>
                  <a:rPr lang="en-GB" dirty="0">
                    <a:latin typeface="+mj-lt"/>
                  </a:rPr>
                  <a:t> - node attribute matrix</a:t>
                </a:r>
              </a:p>
              <a:p>
                <a:r>
                  <a:rPr lang="en-GB" dirty="0">
                    <a:latin typeface="+mj-lt"/>
                  </a:rPr>
                  <a:t>Knowledge Graph queries</a:t>
                </a:r>
              </a:p>
              <a:p>
                <a:pPr lvl="1"/>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𝒜</m:t>
                            </m:r>
                          </m:e>
                          <m:sub>
                            <m:r>
                              <a:rPr lang="en-US" b="0" i="1" smtClean="0">
                                <a:latin typeface="Cambria Math" panose="02040503050406030204" pitchFamily="18" charset="0"/>
                              </a:rPr>
                              <m:t>𝑞</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𝑞</m:t>
                            </m:r>
                          </m:sub>
                        </m:sSub>
                      </m:e>
                    </m:d>
                  </m:oMath>
                </a14:m>
                <a:r>
                  <a:rPr lang="en-GB" dirty="0">
                    <a:latin typeface="+mj-lt"/>
                  </a:rPr>
                  <a:t> - anchors + computation DAG for answer generation, FOL</a:t>
                </a:r>
              </a:p>
            </p:txBody>
          </p:sp>
        </mc:Choice>
        <mc:Fallback xmlns="">
          <p:sp>
            <p:nvSpPr>
              <p:cNvPr id="9" name="Content Placeholder 8">
                <a:extLst>
                  <a:ext uri="{FF2B5EF4-FFF2-40B4-BE49-F238E27FC236}">
                    <a16:creationId xmlns:a16="http://schemas.microsoft.com/office/drawing/2014/main" id="{862F51F3-EE61-0ED0-F494-5C7A9212FB93}"/>
                  </a:ext>
                </a:extLst>
              </p:cNvPr>
              <p:cNvSpPr>
                <a:spLocks noGrp="1" noRot="1" noChangeAspect="1" noMove="1" noResize="1" noEditPoints="1" noAdjustHandles="1" noChangeArrowheads="1" noChangeShapeType="1" noTextEdit="1"/>
              </p:cNvSpPr>
              <p:nvPr>
                <p:ph idx="1"/>
              </p:nvPr>
            </p:nvSpPr>
            <p:spPr>
              <a:blipFill>
                <a:blip r:embed="rId3"/>
                <a:stretch>
                  <a:fillRect t="-180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DBBCCE26-7704-ED07-33BA-001189169E1A}"/>
              </a:ext>
            </a:extLst>
          </p:cNvPr>
          <p:cNvSpPr>
            <a:spLocks noGrp="1"/>
          </p:cNvSpPr>
          <p:nvPr>
            <p:ph type="title"/>
          </p:nvPr>
        </p:nvSpPr>
        <p:spPr>
          <a:xfrm>
            <a:off x="904875" y="131032"/>
            <a:ext cx="7207279" cy="1072753"/>
          </a:xfrm>
        </p:spPr>
        <p:txBody>
          <a:bodyPr>
            <a:normAutofit/>
          </a:bodyPr>
          <a:lstStyle/>
          <a:p>
            <a:r>
              <a:rPr lang="en-US" dirty="0"/>
              <a:t>3.1	Community-Informed Graph Embeddings</a:t>
            </a:r>
            <a:br>
              <a:rPr lang="en-US" dirty="0"/>
            </a:br>
            <a:r>
              <a:rPr lang="en-US" sz="2400" b="0" i="1" dirty="0"/>
              <a:t>Background - Graph theory of Knowledge Graph Reasoning</a:t>
            </a:r>
            <a:endParaRPr lang="en-GB" sz="2400" b="0" i="1" dirty="0"/>
          </a:p>
        </p:txBody>
      </p:sp>
      <p:sp>
        <p:nvSpPr>
          <p:cNvPr id="5" name="Date Placeholder 4">
            <a:extLst>
              <a:ext uri="{FF2B5EF4-FFF2-40B4-BE49-F238E27FC236}">
                <a16:creationId xmlns:a16="http://schemas.microsoft.com/office/drawing/2014/main" id="{4D9DEE53-1297-7CA0-62AE-FA4646D2C1F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B67113B5-A974-43F9-5AD9-388DA088249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6EC95B71-79FC-46A4-497C-33B59A9CE667}"/>
              </a:ext>
            </a:extLst>
          </p:cNvPr>
          <p:cNvSpPr>
            <a:spLocks noGrp="1"/>
          </p:cNvSpPr>
          <p:nvPr>
            <p:ph type="sldNum" sz="quarter" idx="12"/>
          </p:nvPr>
        </p:nvSpPr>
        <p:spPr/>
        <p:txBody>
          <a:bodyPr/>
          <a:lstStyle/>
          <a:p>
            <a:fld id="{E1E1CD7C-2161-7D43-862E-CE4C333CD873}" type="slidenum">
              <a:rPr lang="fr-FR" smtClean="0"/>
              <a:pPr/>
              <a:t>11</a:t>
            </a:fld>
            <a:endParaRPr lang="fr-FR" dirty="0"/>
          </a:p>
        </p:txBody>
      </p:sp>
      <p:pic>
        <p:nvPicPr>
          <p:cNvPr id="13" name="Picture 12" descr="A diagram of a molecule&#10;&#10;AI-generated content may be incorrect.">
            <a:extLst>
              <a:ext uri="{FF2B5EF4-FFF2-40B4-BE49-F238E27FC236}">
                <a16:creationId xmlns:a16="http://schemas.microsoft.com/office/drawing/2014/main" id="{112229C7-B97A-D76F-5070-A6AE8829C746}"/>
              </a:ext>
            </a:extLst>
          </p:cNvPr>
          <p:cNvPicPr>
            <a:picLocks noChangeAspect="1"/>
          </p:cNvPicPr>
          <p:nvPr/>
        </p:nvPicPr>
        <p:blipFill>
          <a:blip r:embed="rId4"/>
          <a:stretch>
            <a:fillRect/>
          </a:stretch>
        </p:blipFill>
        <p:spPr>
          <a:xfrm>
            <a:off x="1630708" y="3666526"/>
            <a:ext cx="5755611" cy="1345942"/>
          </a:xfrm>
          <a:prstGeom prst="rect">
            <a:avLst/>
          </a:prstGeom>
        </p:spPr>
      </p:pic>
    </p:spTree>
    <p:extLst>
      <p:ext uri="{BB962C8B-B14F-4D97-AF65-F5344CB8AC3E}">
        <p14:creationId xmlns:p14="http://schemas.microsoft.com/office/powerpoint/2010/main" val="354702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randombar(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88137-17B0-8D71-B1DF-CB95CF10AC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997F95A-935B-2A32-F194-641C7FA5AF5D}"/>
                  </a:ext>
                </a:extLst>
              </p:cNvPr>
              <p:cNvSpPr>
                <a:spLocks noGrp="1"/>
              </p:cNvSpPr>
              <p:nvPr>
                <p:ph idx="1"/>
              </p:nvPr>
            </p:nvSpPr>
            <p:spPr/>
            <p:txBody>
              <a:bodyPr anchor="ctr">
                <a:normAutofit/>
              </a:bodyPr>
              <a:lstStyle/>
              <a:p>
                <a:r>
                  <a:rPr lang="en-US" dirty="0">
                    <a:latin typeface="+mj-lt"/>
                  </a:rPr>
                  <a:t>Link prediction</a:t>
                </a:r>
              </a:p>
              <a:p>
                <a:pPr lvl="1"/>
                <a:r>
                  <a:rPr lang="en-US" dirty="0">
                    <a:latin typeface="+mj-lt"/>
                  </a:rPr>
                  <a:t>Dataset: </a:t>
                </a:r>
                <a14:m>
                  <m:oMath xmlns:m="http://schemas.openxmlformats.org/officeDocument/2006/math">
                    <m:r>
                      <a:rPr lang="en-US" b="0" i="1" smtClean="0">
                        <a:latin typeface="Cambria Math" panose="02040503050406030204" pitchFamily="18" charset="0"/>
                      </a:rPr>
                      <m:t>𝒟</m:t>
                    </m:r>
                    <m:r>
                      <a:rPr lang="en-US" b="0" i="1" smtClean="0">
                        <a:latin typeface="Cambria Math" panose="02040503050406030204" pitchFamily="18" charset="0"/>
                      </a:rPr>
                      <m:t>=</m:t>
                    </m:r>
                    <m:r>
                      <m:rPr>
                        <m:lit/>
                      </m:rP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e>
                    </m:d>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Model: </a:t>
                </a:r>
                <a14:m>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𝒟</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ℓ</m:t>
                        </m:r>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e>
                    </m:d>
                  </m:oMath>
                </a14:m>
                <a:endParaRPr lang="en-US" dirty="0">
                  <a:latin typeface="+mj-lt"/>
                </a:endParaRPr>
              </a:p>
              <a:p>
                <a:pPr lvl="1"/>
                <a:r>
                  <a:rPr lang="en-US" dirty="0">
                    <a:latin typeface="+mj-lt"/>
                  </a:rPr>
                  <a:t>Goal: Classify fact triplets as true or false</a:t>
                </a:r>
              </a:p>
              <a:p>
                <a:pPr lvl="1"/>
                <a:r>
                  <a:rPr lang="en-US" dirty="0">
                    <a:latin typeface="+mj-lt"/>
                  </a:rPr>
                  <a:t>Simple and low-cost</a:t>
                </a:r>
              </a:p>
              <a:p>
                <a:r>
                  <a:rPr lang="en-US" dirty="0">
                    <a:latin typeface="+mj-lt"/>
                  </a:rPr>
                  <a:t>Query answering</a:t>
                </a:r>
              </a:p>
              <a:p>
                <a:pPr lvl="1"/>
                <a:r>
                  <a:rPr lang="en-US" dirty="0">
                    <a:latin typeface="+mj-lt"/>
                  </a:rPr>
                  <a:t>Dataset: </a:t>
                </a:r>
                <a14:m>
                  <m:oMath xmlns:m="http://schemas.openxmlformats.org/officeDocument/2006/math">
                    <m:r>
                      <a:rPr lang="en-US" i="1" smtClean="0">
                        <a:latin typeface="Cambria Math" panose="02040503050406030204" pitchFamily="18" charset="0"/>
                      </a:rPr>
                      <m:t>𝒟</m:t>
                    </m:r>
                    <m:r>
                      <a:rPr lang="en-US" i="1" smtClean="0">
                        <a:latin typeface="Cambria Math" panose="02040503050406030204" pitchFamily="18" charset="0"/>
                      </a:rPr>
                      <m:t>=</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𝑖</m:t>
                                    </m:r>
                                  </m:sub>
                                </m:sSub>
                              </m:e>
                            </m:d>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Model: </a:t>
                </a:r>
                <a14:m>
                  <m:oMath xmlns:m="http://schemas.openxmlformats.org/officeDocument/2006/math">
                    <m:r>
                      <a:rPr lang="en-US" i="1">
                        <a:latin typeface="Cambria Math" panose="02040503050406030204" pitchFamily="18" charset="0"/>
                      </a:rPr>
                      <m:t>ℙ</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𝒟</m:t>
                        </m:r>
                      </m:e>
                    </m:d>
                    <m:r>
                      <a:rPr lang="en-US" i="1">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r>
                          <a:rPr lang="en-US" b="0" i="1" smtClean="0">
                            <a:latin typeface="Cambria Math" panose="02040503050406030204" pitchFamily="18" charset="0"/>
                          </a:rPr>
                          <m:t>𝑆</m:t>
                        </m:r>
                        <m:d>
                          <m:dPr>
                            <m:ctrlPr>
                              <a:rPr lang="en-US" i="1">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d>
                  </m:oMath>
                </a14:m>
                <a:endParaRPr lang="en-US" i="1" dirty="0">
                  <a:latin typeface="+mj-lt"/>
                </a:endParaRPr>
              </a:p>
              <a:p>
                <a:pPr lvl="1"/>
                <a:r>
                  <a:rPr lang="en-US" dirty="0">
                    <a:latin typeface="+mj-lt"/>
                  </a:rPr>
                  <a:t>Goal: Given </a:t>
                </a:r>
                <a14:m>
                  <m:oMath xmlns:m="http://schemas.openxmlformats.org/officeDocument/2006/math">
                    <m:r>
                      <a:rPr lang="en-US" i="1">
                        <a:latin typeface="Cambria Math" panose="02040503050406030204" pitchFamily="18" charset="0"/>
                      </a:rPr>
                      <m:t>𝑞</m:t>
                    </m:r>
                  </m:oMath>
                </a14:m>
                <a:r>
                  <a:rPr lang="en-US" dirty="0">
                    <a:latin typeface="+mj-lt"/>
                  </a:rPr>
                  <a:t>, find</a:t>
                </a:r>
                <a:r>
                  <a:rPr lang="en-US" dirty="0"/>
                  <a:t> </a:t>
                </a:r>
                <a14:m>
                  <m:oMath xmlns:m="http://schemas.openxmlformats.org/officeDocument/2006/math">
                    <m:r>
                      <a:rPr lang="en-US" i="1" smtClean="0">
                        <a:latin typeface="Cambria Math" panose="02040503050406030204" pitchFamily="18" charset="0"/>
                      </a:rPr>
                      <m:t>𝑎</m:t>
                    </m:r>
                    <m:r>
                      <a:rPr lang="en-US">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0" smtClean="0">
                            <a:latin typeface="Cambria Math" panose="02040503050406030204" pitchFamily="18" charset="0"/>
                          </a:rPr>
                          <m:t> </m:t>
                        </m:r>
                        <m:r>
                          <m:rPr>
                            <m:sty m:val="p"/>
                          </m:rPr>
                          <a:rPr lang="en-US" b="0" i="0" smtClean="0">
                            <a:latin typeface="Cambria Math" panose="02040503050406030204" pitchFamily="18" charset="0"/>
                          </a:rPr>
                          <m:t>max</m:t>
                        </m:r>
                      </m:e>
                      <m:sub>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𝑉</m:t>
                        </m:r>
                      </m:sub>
                    </m:sSub>
                    <m:r>
                      <a:rPr lang="en-US" i="1">
                        <a:latin typeface="Cambria Math" panose="02040503050406030204" pitchFamily="18" charset="0"/>
                      </a:rPr>
                      <m:t>ℙ</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𝑞</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e>
                        </m:d>
                        <m:r>
                          <a:rPr lang="en-US" i="1">
                            <a:latin typeface="Cambria Math" panose="02040503050406030204" pitchFamily="18" charset="0"/>
                          </a:rPr>
                          <m:t>∈</m:t>
                        </m:r>
                        <m:r>
                          <a:rPr lang="en-US" i="1">
                            <a:latin typeface="Cambria Math" panose="02040503050406030204" pitchFamily="18" charset="0"/>
                          </a:rPr>
                          <m:t>𝒟</m:t>
                        </m:r>
                      </m:e>
                    </m:d>
                  </m:oMath>
                </a14:m>
                <a:endParaRPr lang="en-US" dirty="0">
                  <a:latin typeface="+mj-lt"/>
                </a:endParaRPr>
              </a:p>
              <a:p>
                <a:pPr lvl="1"/>
                <a:r>
                  <a:rPr lang="en-US" i="1" dirty="0">
                    <a:latin typeface="+mj-lt"/>
                  </a:rPr>
                  <a:t>Complex ranking problem with quadratic cost:  </a:t>
                </a:r>
                <a14:m>
                  <m:oMath xmlns:m="http://schemas.openxmlformats.org/officeDocument/2006/math">
                    <m:r>
                      <a:rPr lang="en-US" i="1">
                        <a:latin typeface="Cambria Math" panose="02040503050406030204" pitchFamily="18" charset="0"/>
                      </a:rPr>
                      <m:t>𝑁</m:t>
                    </m:r>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oMath>
                </a14:m>
                <a:endParaRPr lang="en-US" dirty="0">
                  <a:latin typeface="+mj-lt"/>
                </a:endParaRPr>
              </a:p>
            </p:txBody>
          </p:sp>
        </mc:Choice>
        <mc:Fallback xmlns="">
          <p:sp>
            <p:nvSpPr>
              <p:cNvPr id="9" name="Content Placeholder 8">
                <a:extLst>
                  <a:ext uri="{FF2B5EF4-FFF2-40B4-BE49-F238E27FC236}">
                    <a16:creationId xmlns:a16="http://schemas.microsoft.com/office/drawing/2014/main" id="{C997F95A-935B-2A32-F194-641C7FA5AF5D}"/>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363E9969-F83C-DF9F-BDF0-6E2981064FDA}"/>
              </a:ext>
            </a:extLst>
          </p:cNvPr>
          <p:cNvSpPr>
            <a:spLocks noGrp="1"/>
          </p:cNvSpPr>
          <p:nvPr>
            <p:ph type="title"/>
          </p:nvPr>
        </p:nvSpPr>
        <p:spPr>
          <a:xfrm>
            <a:off x="904875" y="131032"/>
            <a:ext cx="7207279" cy="1072753"/>
          </a:xfrm>
        </p:spPr>
        <p:txBody>
          <a:bodyPr>
            <a:normAutofit fontScale="90000"/>
          </a:bodyPr>
          <a:lstStyle/>
          <a:p>
            <a:r>
              <a:rPr lang="en-US" dirty="0"/>
              <a:t>3.1	Community-Informed Graph Embeddings</a:t>
            </a:r>
            <a:br>
              <a:rPr lang="en-US" dirty="0"/>
            </a:br>
            <a:r>
              <a:rPr lang="en-US" sz="2400" b="0" i="1" dirty="0"/>
              <a:t>Background - Optimization problems of Knowledge Graph Reasoning</a:t>
            </a:r>
            <a:endParaRPr lang="en-GB" sz="2400" b="0" i="1" dirty="0"/>
          </a:p>
        </p:txBody>
      </p:sp>
      <p:sp>
        <p:nvSpPr>
          <p:cNvPr id="5" name="Date Placeholder 4">
            <a:extLst>
              <a:ext uri="{FF2B5EF4-FFF2-40B4-BE49-F238E27FC236}">
                <a16:creationId xmlns:a16="http://schemas.microsoft.com/office/drawing/2014/main" id="{0E22E88F-04B4-321A-B50A-3510AF6E670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DB5AC1E9-897B-1A98-F771-0D38EFCC36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112BAF0-0F4D-8FBD-D845-E9D9EAD2C44C}"/>
              </a:ext>
            </a:extLst>
          </p:cNvPr>
          <p:cNvSpPr>
            <a:spLocks noGrp="1"/>
          </p:cNvSpPr>
          <p:nvPr>
            <p:ph type="sldNum" sz="quarter" idx="12"/>
          </p:nvPr>
        </p:nvSpPr>
        <p:spPr/>
        <p:txBody>
          <a:bodyPr/>
          <a:lstStyle/>
          <a:p>
            <a:fld id="{E1E1CD7C-2161-7D43-862E-CE4C333CD873}" type="slidenum">
              <a:rPr lang="fr-FR" smtClean="0"/>
              <a:pPr/>
              <a:t>12</a:t>
            </a:fld>
            <a:endParaRPr lang="fr-FR" dirty="0"/>
          </a:p>
        </p:txBody>
      </p:sp>
    </p:spTree>
    <p:extLst>
      <p:ext uri="{BB962C8B-B14F-4D97-AF65-F5344CB8AC3E}">
        <p14:creationId xmlns:p14="http://schemas.microsoft.com/office/powerpoint/2010/main" val="280734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FE0B4-B11E-45E4-C0FE-AAF61810D9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6B4BFBB7-2472-62BC-EF9B-2897609CCDCD}"/>
                  </a:ext>
                </a:extLst>
              </p:cNvPr>
              <p:cNvSpPr>
                <a:spLocks noGrp="1"/>
              </p:cNvSpPr>
              <p:nvPr>
                <p:ph idx="1"/>
              </p:nvPr>
            </p:nvSpPr>
            <p:spPr/>
            <p:txBody>
              <a:bodyPr anchor="ctr">
                <a:normAutofit/>
              </a:bodyPr>
              <a:lstStyle/>
              <a:p>
                <a:r>
                  <a:rPr lang="en-US" dirty="0">
                    <a:latin typeface="+mj-lt"/>
                  </a:rPr>
                  <a:t>Graph embedding</a:t>
                </a:r>
              </a:p>
              <a:p>
                <a:pPr lvl="1"/>
                <a:r>
                  <a:rPr lang="en-US" dirty="0">
                    <a:latin typeface="+mj-lt"/>
                  </a:rPr>
                  <a:t>Entity embedder: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ℰ</m:t>
                    </m:r>
                  </m:oMath>
                </a14:m>
                <a:endParaRPr lang="en-US" dirty="0">
                  <a:latin typeface="+mj-lt"/>
                </a:endParaRPr>
              </a:p>
              <a:p>
                <a:pPr lvl="1"/>
                <a:r>
                  <a:rPr lang="en-US" dirty="0">
                    <a:latin typeface="+mj-lt"/>
                  </a:rPr>
                  <a:t>Relation embedder: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𝑅</m:t>
                        </m:r>
                      </m:sub>
                    </m:sSub>
                    <m:r>
                      <a:rPr lang="en-US" i="1">
                        <a:latin typeface="Cambria Math" panose="02040503050406030204" pitchFamily="18" charset="0"/>
                      </a:rPr>
                      <m:t>:</m:t>
                    </m:r>
                    <m:r>
                      <a:rPr lang="en-US" b="0" i="1" smtClean="0">
                        <a:latin typeface="Cambria Math" panose="02040503050406030204" pitchFamily="18" charset="0"/>
                      </a:rPr>
                      <m:t>𝑅</m:t>
                    </m:r>
                    <m:r>
                      <a:rPr lang="en-US" i="1">
                        <a:latin typeface="Cambria Math" panose="02040503050406030204" pitchFamily="18" charset="0"/>
                      </a:rPr>
                      <m:t>→</m:t>
                    </m:r>
                    <m:r>
                      <a:rPr lang="en-US" b="0" i="1" smtClean="0">
                        <a:latin typeface="Cambria Math" panose="02040503050406030204" pitchFamily="18" charset="0"/>
                      </a:rPr>
                      <m:t>ℛ</m:t>
                    </m:r>
                  </m:oMath>
                </a14:m>
                <a:endParaRPr lang="en-US" dirty="0">
                  <a:latin typeface="+mj-lt"/>
                </a:endParaRPr>
              </a:p>
              <a:p>
                <a:r>
                  <a:rPr lang="en-US" dirty="0">
                    <a:latin typeface="+mj-lt"/>
                  </a:rPr>
                  <a:t>Query embedding</a:t>
                </a:r>
              </a:p>
              <a:p>
                <a:pPr lvl="1"/>
                <a:r>
                  <a:rPr lang="en-US" dirty="0">
                    <a:latin typeface="+mj-lt"/>
                  </a:rPr>
                  <a:t>Projection embedder: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𝑃</m:t>
                        </m:r>
                      </m:sub>
                    </m:sSub>
                    <m:r>
                      <a:rPr lang="en-US" i="1">
                        <a:latin typeface="Cambria Math" panose="02040503050406030204" pitchFamily="18" charset="0"/>
                      </a:rPr>
                      <m:t>:</m:t>
                    </m:r>
                    <m:r>
                      <a:rPr lang="en-US" b="0" i="1" smtClean="0">
                        <a:latin typeface="Cambria Math" panose="02040503050406030204" pitchFamily="18" charset="0"/>
                      </a:rPr>
                      <m:t>ℰ</m:t>
                    </m:r>
                    <m:r>
                      <a:rPr lang="en-US" b="0" i="1" smtClean="0">
                        <a:latin typeface="Cambria Math" panose="02040503050406030204" pitchFamily="18" charset="0"/>
                      </a:rPr>
                      <m:t>×</m:t>
                    </m:r>
                    <m:r>
                      <a:rPr lang="en-US" b="0" i="1" smtClean="0">
                        <a:latin typeface="Cambria Math" panose="02040503050406030204" pitchFamily="18" charset="0"/>
                      </a:rPr>
                      <m:t>ℛ</m:t>
                    </m:r>
                    <m:r>
                      <a:rPr lang="en-US" i="1">
                        <a:latin typeface="Cambria Math" panose="02040503050406030204" pitchFamily="18" charset="0"/>
                      </a:rPr>
                      <m:t>→</m:t>
                    </m:r>
                    <m:r>
                      <a:rPr lang="en-US" b="0" i="1" smtClean="0">
                        <a:latin typeface="Cambria Math" panose="02040503050406030204" pitchFamily="18" charset="0"/>
                      </a:rPr>
                      <m:t>ℰ</m:t>
                    </m:r>
                  </m:oMath>
                </a14:m>
                <a:endParaRPr lang="en-US" dirty="0">
                  <a:latin typeface="+mj-lt"/>
                </a:endParaRPr>
              </a:p>
              <a:p>
                <a:pPr lvl="1"/>
                <a:r>
                  <a:rPr lang="en-US" dirty="0">
                    <a:latin typeface="+mj-lt"/>
                  </a:rPr>
                  <a:t>Intersection embedder: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𝐼</m:t>
                        </m:r>
                      </m:sub>
                    </m:sSub>
                    <m:r>
                      <a:rPr lang="en-US" i="1">
                        <a:latin typeface="Cambria Math" panose="02040503050406030204" pitchFamily="18" charset="0"/>
                      </a:rPr>
                      <m:t>:</m:t>
                    </m:r>
                    <m:r>
                      <a:rPr lang="en-US" i="1">
                        <a:latin typeface="Cambria Math" panose="02040503050406030204" pitchFamily="18" charset="0"/>
                      </a:rPr>
                      <m:t>ℰ</m:t>
                    </m:r>
                    <m:r>
                      <a:rPr lang="en-US" i="1">
                        <a:latin typeface="Cambria Math" panose="02040503050406030204" pitchFamily="18" charset="0"/>
                      </a:rPr>
                      <m:t>×</m:t>
                    </m:r>
                    <m:r>
                      <a:rPr lang="en-US" i="1">
                        <a:latin typeface="Cambria Math" panose="02040503050406030204" pitchFamily="18" charset="0"/>
                      </a:rPr>
                      <m:t>ℰ</m:t>
                    </m:r>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ℰ</m:t>
                    </m:r>
                  </m:oMath>
                </a14:m>
                <a:endParaRPr lang="en-US" dirty="0">
                  <a:latin typeface="+mj-lt"/>
                </a:endParaRPr>
              </a:p>
              <a:p>
                <a:r>
                  <a:rPr lang="en-US" dirty="0">
                    <a:latin typeface="+mj-lt"/>
                  </a:rPr>
                  <a:t>Scoring</a:t>
                </a:r>
              </a:p>
              <a:p>
                <a:pPr lvl="1"/>
                <a14:m>
                  <m:oMath xmlns:m="http://schemas.openxmlformats.org/officeDocument/2006/math">
                    <m:r>
                      <a:rPr lang="en-US" b="0" i="0" smtClean="0">
                        <a:latin typeface="Cambria Math" panose="02040503050406030204" pitchFamily="18" charset="0"/>
                      </a:rPr>
                      <m:t>𝑓</m:t>
                    </m:r>
                    <m:r>
                      <a:rPr lang="en-US" b="0" i="0" smtClean="0">
                        <a:latin typeface="Cambria Math" panose="02040503050406030204" pitchFamily="18" charset="0"/>
                      </a:rPr>
                      <m:t>:</m:t>
                    </m:r>
                    <m:r>
                      <a:rPr lang="en-US" i="0">
                        <a:latin typeface="Cambria Math" panose="02040503050406030204" pitchFamily="18" charset="0"/>
                      </a:rPr>
                      <m:t>ℰ</m:t>
                    </m:r>
                    <m:r>
                      <a:rPr lang="en-US" i="0">
                        <a:latin typeface="Cambria Math" panose="02040503050406030204" pitchFamily="18" charset="0"/>
                      </a:rPr>
                      <m:t>×</m:t>
                    </m:r>
                    <m:r>
                      <a:rPr lang="en-US" i="0">
                        <a:latin typeface="Cambria Math" panose="02040503050406030204" pitchFamily="18" charset="0"/>
                      </a:rPr>
                      <m:t>ℰ</m:t>
                    </m:r>
                    <m:r>
                      <a:rPr lang="en-US" i="0">
                        <a:latin typeface="Cambria Math" panose="02040503050406030204" pitchFamily="18" charset="0"/>
                      </a:rPr>
                      <m:t>→</m:t>
                    </m:r>
                    <m:r>
                      <a:rPr lang="en-US" b="0" i="0" smtClean="0">
                        <a:latin typeface="Cambria Math" panose="02040503050406030204" pitchFamily="18" charset="0"/>
                      </a:rPr>
                      <m:t>ℝ</m:t>
                    </m:r>
                  </m:oMath>
                </a14:m>
                <a:endParaRPr lang="en-US" dirty="0">
                  <a:latin typeface="+mj-lt"/>
                </a:endParaRPr>
              </a:p>
              <a:p>
                <a:r>
                  <a:rPr lang="en-US" dirty="0">
                    <a:latin typeface="+mj-lt"/>
                  </a:rPr>
                  <a:t>Contrastive loss</a:t>
                </a:r>
              </a:p>
              <a:p>
                <a:pPr lvl="1"/>
                <a14:m>
                  <m:oMath xmlns:m="http://schemas.openxmlformats.org/officeDocument/2006/math">
                    <m:r>
                      <a:rPr lang="en-US" b="0" i="1" smtClean="0">
                        <a:latin typeface="Cambria Math" panose="02040503050406030204" pitchFamily="18" charset="0"/>
                      </a:rPr>
                      <m:t>ℒ</m:t>
                    </m:r>
                    <m:d>
                      <m:dPr>
                        <m:ctrlPr>
                          <a:rPr lang="en-US" b="0" i="1" smtClean="0">
                            <a:latin typeface="Cambria Math" panose="02040503050406030204" pitchFamily="18" charset="0"/>
                          </a:rPr>
                        </m:ctrlPr>
                      </m:dPr>
                      <m:e>
                        <m:r>
                          <a:rPr lang="en-US" b="1" i="0" smtClean="0">
                            <a:latin typeface="Cambria Math" panose="02040503050406030204" pitchFamily="18" charset="0"/>
                          </a:rPr>
                          <m:t>𝐪</m:t>
                        </m:r>
                        <m:r>
                          <a:rPr lang="en-US" b="0" i="1" smtClean="0">
                            <a:latin typeface="Cambria Math" panose="02040503050406030204" pitchFamily="18" charset="0"/>
                          </a:rPr>
                          <m:t>,</m:t>
                        </m:r>
                        <m:r>
                          <a:rPr lang="en-US" b="1" i="0" smtClean="0">
                            <a:latin typeface="Cambria Math" panose="02040503050406030204" pitchFamily="18" charset="0"/>
                          </a:rPr>
                          <m:t>𝐚</m:t>
                        </m:r>
                        <m:r>
                          <a:rPr lang="en-US" b="0" i="1" smtClean="0">
                            <a:latin typeface="Cambria Math" panose="02040503050406030204" pitchFamily="18" charset="0"/>
                          </a:rPr>
                          <m:t>,</m:t>
                        </m:r>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1" i="0" smtClean="0">
                                    <a:latin typeface="Cambria Math" panose="02040503050406030204" pitchFamily="18" charset="0"/>
                                  </a:rPr>
                                  <m:t>𝐚</m:t>
                                </m:r>
                              </m:e>
                              <m:sup>
                                <m:r>
                                  <a:rPr lang="en-US" b="0" i="1" smtClean="0">
                                    <a:latin typeface="Cambria Math" panose="02040503050406030204" pitchFamily="18" charset="0"/>
                                  </a:rPr>
                                  <m:t>′</m:t>
                                </m:r>
                              </m:sup>
                            </m:sSup>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sSubSup>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0" smtClean="0">
                                        <a:latin typeface="Cambria Math" panose="02040503050406030204" pitchFamily="18" charset="0"/>
                                      </a:rPr>
                                      <m:t>𝐪</m:t>
                                    </m:r>
                                    <m:r>
                                      <a:rPr lang="en-US" b="0" i="1" smtClean="0">
                                        <a:latin typeface="Cambria Math" panose="02040503050406030204" pitchFamily="18" charset="0"/>
                                      </a:rPr>
                                      <m:t>,</m:t>
                                    </m:r>
                                    <m:r>
                                      <a:rPr lang="en-US" b="1" i="0" smtClean="0">
                                        <a:latin typeface="Cambria Math" panose="02040503050406030204" pitchFamily="18" charset="0"/>
                                      </a:rPr>
                                      <m:t>𝐚</m:t>
                                    </m:r>
                                  </m:e>
                                </m:d>
                              </m:e>
                            </m:d>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𝑚</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0">
                                            <a:latin typeface="Cambria Math" panose="02040503050406030204" pitchFamily="18" charset="0"/>
                                          </a:rPr>
                                          <m:t>𝐪</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1" i="0">
                                                <a:latin typeface="Cambria Math" panose="02040503050406030204" pitchFamily="18" charset="0"/>
                                              </a:rPr>
                                              <m:t>𝐚</m:t>
                                            </m:r>
                                          </m:e>
                                          <m:sub>
                                            <m:r>
                                              <a:rPr lang="en-US" i="1">
                                                <a:latin typeface="Cambria Math" panose="02040503050406030204" pitchFamily="18" charset="0"/>
                                              </a:rPr>
                                              <m:t>𝑖</m:t>
                                            </m:r>
                                          </m:sub>
                                          <m:sup>
                                            <m:r>
                                              <a:rPr lang="en-US" i="1">
                                                <a:latin typeface="Cambria Math" panose="02040503050406030204" pitchFamily="18" charset="0"/>
                                              </a:rPr>
                                              <m:t>′</m:t>
                                            </m:r>
                                          </m:sup>
                                        </m:sSubSup>
                                      </m:e>
                                    </m:d>
                                  </m:e>
                                </m:d>
                              </m:e>
                            </m:d>
                          </m:e>
                        </m:func>
                      </m:e>
                    </m:nary>
                  </m:oMath>
                </a14:m>
                <a:endParaRPr lang="en-US" dirty="0">
                  <a:latin typeface="+mj-lt"/>
                </a:endParaRPr>
              </a:p>
            </p:txBody>
          </p:sp>
        </mc:Choice>
        <mc:Fallback xmlns="">
          <p:sp>
            <p:nvSpPr>
              <p:cNvPr id="9" name="Content Placeholder 8">
                <a:extLst>
                  <a:ext uri="{FF2B5EF4-FFF2-40B4-BE49-F238E27FC236}">
                    <a16:creationId xmlns:a16="http://schemas.microsoft.com/office/drawing/2014/main" id="{6B4BFBB7-2472-62BC-EF9B-2897609CCDCD}"/>
                  </a:ext>
                </a:extLst>
              </p:cNvPr>
              <p:cNvSpPr>
                <a:spLocks noGrp="1" noRot="1" noChangeAspect="1" noMove="1" noResize="1" noEditPoints="1" noAdjustHandles="1" noChangeArrowheads="1" noChangeShapeType="1" noTextEdit="1"/>
              </p:cNvSpPr>
              <p:nvPr>
                <p:ph idx="1"/>
              </p:nvPr>
            </p:nvSpPr>
            <p:spPr>
              <a:blipFill>
                <a:blip r:embed="rId3"/>
                <a:stretch>
                  <a:fillRect b="-1153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FA33E9A7-8A03-F166-1FB6-6AEC9A7B2A8C}"/>
              </a:ext>
            </a:extLst>
          </p:cNvPr>
          <p:cNvSpPr>
            <a:spLocks noGrp="1"/>
          </p:cNvSpPr>
          <p:nvPr>
            <p:ph type="title"/>
          </p:nvPr>
        </p:nvSpPr>
        <p:spPr>
          <a:xfrm>
            <a:off x="904875" y="131032"/>
            <a:ext cx="7207279" cy="1072753"/>
          </a:xfrm>
        </p:spPr>
        <p:txBody>
          <a:bodyPr>
            <a:normAutofit fontScale="90000"/>
          </a:bodyPr>
          <a:lstStyle/>
          <a:p>
            <a:r>
              <a:rPr lang="en-US" dirty="0"/>
              <a:t>3.1	Community-Informed Graph Embeddings</a:t>
            </a:r>
            <a:br>
              <a:rPr lang="en-US" dirty="0"/>
            </a:br>
            <a:r>
              <a:rPr lang="en-US" sz="2400" b="0" i="1" dirty="0"/>
              <a:t>Background - Representation theory of Knowledge Graph Reasoning</a:t>
            </a:r>
            <a:endParaRPr lang="en-GB" sz="2400" b="0" i="1" dirty="0"/>
          </a:p>
        </p:txBody>
      </p:sp>
      <p:sp>
        <p:nvSpPr>
          <p:cNvPr id="5" name="Date Placeholder 4">
            <a:extLst>
              <a:ext uri="{FF2B5EF4-FFF2-40B4-BE49-F238E27FC236}">
                <a16:creationId xmlns:a16="http://schemas.microsoft.com/office/drawing/2014/main" id="{C6107C6E-215C-BB39-87A6-36BA7380142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8EE733F2-27FF-92D2-6102-921B11AD3D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0BB404C-B52E-F2C0-0CD4-199EDACECF6F}"/>
              </a:ext>
            </a:extLst>
          </p:cNvPr>
          <p:cNvSpPr>
            <a:spLocks noGrp="1"/>
          </p:cNvSpPr>
          <p:nvPr>
            <p:ph type="sldNum" sz="quarter" idx="12"/>
          </p:nvPr>
        </p:nvSpPr>
        <p:spPr/>
        <p:txBody>
          <a:bodyPr/>
          <a:lstStyle/>
          <a:p>
            <a:fld id="{E1E1CD7C-2161-7D43-862E-CE4C333CD873}" type="slidenum">
              <a:rPr lang="fr-FR" smtClean="0"/>
              <a:pPr/>
              <a:t>13</a:t>
            </a:fld>
            <a:endParaRPr lang="fr-FR" dirty="0"/>
          </a:p>
        </p:txBody>
      </p:sp>
    </p:spTree>
    <p:extLst>
      <p:ext uri="{BB962C8B-B14F-4D97-AF65-F5344CB8AC3E}">
        <p14:creationId xmlns:p14="http://schemas.microsoft.com/office/powerpoint/2010/main" val="195014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9" dur="500"/>
                                        <p:tgtEl>
                                          <p:spTgt spid="9">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7" dur="500"/>
                                        <p:tgtEl>
                                          <p:spTgt spid="9">
                                            <p:txEl>
                                              <p:pRg st="8" end="8"/>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9">
                                            <p:txEl>
                                              <p:pRg st="9" end="9"/>
                                            </p:txEl>
                                          </p:spTgt>
                                        </p:tgtEl>
                                        <p:attrNameLst>
                                          <p:attrName>style.visibility</p:attrName>
                                        </p:attrNameLst>
                                      </p:cBhvr>
                                      <p:to>
                                        <p:strVal val="visible"/>
                                      </p:to>
                                    </p:set>
                                    <p:animEffect transition="in" filter="randombar(horizontal)">
                                      <p:cBhvr>
                                        <p:cTn id="40"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5E942-1F6A-7BF0-C2F2-19E81F9100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E777135A-8524-9FD9-45AA-1C6411B63AC5}"/>
                  </a:ext>
                </a:extLst>
              </p:cNvPr>
              <p:cNvSpPr>
                <a:spLocks noGrp="1"/>
              </p:cNvSpPr>
              <p:nvPr>
                <p:ph idx="1"/>
              </p:nvPr>
            </p:nvSpPr>
            <p:spPr/>
            <p:txBody>
              <a:bodyPr anchor="ctr">
                <a:normAutofit fontScale="92500" lnSpcReduction="10000"/>
              </a:bodyPr>
              <a:lstStyle/>
              <a:p>
                <a:r>
                  <a:rPr lang="en-US" dirty="0">
                    <a:latin typeface="+mj-lt"/>
                  </a:rPr>
                  <a:t>(COINs) </a:t>
                </a:r>
                <a:r>
                  <a:rPr lang="en-US" i="1" dirty="0">
                    <a:latin typeface="+mj-lt"/>
                  </a:rPr>
                  <a:t>Co</a:t>
                </a:r>
                <a:r>
                  <a:rPr lang="en-US" dirty="0">
                    <a:latin typeface="+mj-lt"/>
                  </a:rPr>
                  <a:t>mmunity-</a:t>
                </a:r>
                <a:r>
                  <a:rPr lang="en-US" i="1" dirty="0">
                    <a:latin typeface="+mj-lt"/>
                  </a:rPr>
                  <a:t>In</a:t>
                </a:r>
                <a:r>
                  <a:rPr lang="en-US" dirty="0">
                    <a:latin typeface="+mj-lt"/>
                  </a:rPr>
                  <a:t>spired Graph Embedding</a:t>
                </a:r>
                <a:r>
                  <a:rPr lang="en-US" i="1" dirty="0">
                    <a:latin typeface="+mj-lt"/>
                  </a:rPr>
                  <a:t>s </a:t>
                </a:r>
                <a:r>
                  <a:rPr lang="en-US" dirty="0">
                    <a:solidFill>
                      <a:schemeClr val="accent1"/>
                    </a:solidFill>
                    <a:latin typeface="+mj-lt"/>
                  </a:rPr>
                  <a:t>[28]</a:t>
                </a:r>
                <a:endParaRPr lang="en-US" i="1" dirty="0">
                  <a:solidFill>
                    <a:schemeClr val="accent1"/>
                  </a:solidFill>
                  <a:latin typeface="+mj-lt"/>
                </a:endParaRPr>
              </a:p>
              <a:p>
                <a:pPr lvl="1"/>
                <a:r>
                  <a:rPr lang="en-US" i="1" dirty="0">
                    <a:latin typeface="+mj-lt"/>
                  </a:rPr>
                  <a:t>Accelerating KG query answering even on a single CPU/GPU</a:t>
                </a:r>
              </a:p>
              <a:p>
                <a:pPr lvl="1"/>
                <a:r>
                  <a:rPr lang="en-US" i="1" dirty="0">
                    <a:latin typeface="+mj-lt"/>
                  </a:rPr>
                  <a:t>Model-based knowledge graph partitioning with multi-level graph representations</a:t>
                </a:r>
              </a:p>
              <a:p>
                <a:pPr lvl="1"/>
                <a:r>
                  <a:rPr lang="en-US" i="1" dirty="0">
                    <a:latin typeface="+mj-lt"/>
                  </a:rPr>
                  <a:t>Universal: replaces traditional query answering inference and evaluation</a:t>
                </a:r>
              </a:p>
              <a:p>
                <a:r>
                  <a:rPr lang="en-US" dirty="0">
                    <a:latin typeface="+mj-lt"/>
                  </a:rPr>
                  <a:t>Coarsen KG and all samples</a:t>
                </a:r>
              </a:p>
              <a:p>
                <a:pPr lvl="1"/>
                <a:r>
                  <a:rPr lang="en-US" dirty="0">
                    <a:latin typeface="+mj-lt"/>
                  </a:rPr>
                  <a:t>Entity grouping: </a:t>
                </a:r>
                <a14:m>
                  <m:oMath xmlns:m="http://schemas.openxmlformats.org/officeDocument/2006/math">
                    <m:r>
                      <a:rPr lang="en-US" i="1" smtClean="0">
                        <a:latin typeface="Cambria Math" panose="02040503050406030204" pitchFamily="18" charset="0"/>
                      </a:rPr>
                      <m:t>𝑐</m:t>
                    </m:r>
                    <m:r>
                      <a:rPr lang="en-US" i="1" smtClean="0">
                        <a:latin typeface="Cambria Math" panose="02040503050406030204" pitchFamily="18" charset="0"/>
                      </a:rPr>
                      <m:t>:</m:t>
                    </m:r>
                    <m:r>
                      <a:rPr lang="en-US" i="1" smtClean="0">
                        <a:latin typeface="Cambria Math" panose="02040503050406030204" pitchFamily="18" charset="0"/>
                      </a:rPr>
                      <m:t>𝑉</m:t>
                    </m:r>
                    <m:r>
                      <a:rPr lang="en-US" i="1" smtClean="0">
                        <a:latin typeface="Cambria Math" panose="02040503050406030204" pitchFamily="18" charset="0"/>
                      </a:rPr>
                      <m:t>→</m:t>
                    </m:r>
                    <m:r>
                      <a:rPr lang="en-US" i="1" smtClean="0">
                        <a:latin typeface="Cambria Math" panose="02040503050406030204" pitchFamily="18" charset="0"/>
                      </a:rPr>
                      <m:t>𝒞</m:t>
                    </m:r>
                    <m:r>
                      <a:rPr lang="en-US" b="0" i="1" smtClean="0">
                        <a:latin typeface="Cambria Math" panose="02040503050406030204" pitchFamily="18" charset="0"/>
                      </a:rPr>
                      <m:t>,</m:t>
                    </m:r>
                    <m:r>
                      <a:rPr lang="en-US" i="1">
                        <a:latin typeface="Cambria Math" panose="02040503050406030204" pitchFamily="18" charset="0"/>
                      </a:rPr>
                      <m:t>𝒞</m:t>
                    </m:r>
                    <m:r>
                      <a:rPr lang="en-US" b="0" i="1" smtClean="0">
                        <a:latin typeface="Cambria Math" panose="02040503050406030204" pitchFamily="18" charset="0"/>
                      </a:rPr>
                      <m:t>=</m:t>
                    </m:r>
                    <m:r>
                      <m:rPr>
                        <m:lit/>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sSubSup>
                      <m:sSubSupPr>
                        <m:ctrlPr>
                          <a:rPr lang="en-US" b="0" i="1" smtClean="0">
                            <a:latin typeface="Cambria Math" panose="02040503050406030204" pitchFamily="18" charset="0"/>
                          </a:rPr>
                        </m:ctrlPr>
                      </m:sSubSupPr>
                      <m:e>
                        <m:r>
                          <m:rPr>
                            <m:lit/>
                          </m:rPr>
                          <a:rPr lang="en-US" i="1">
                            <a:latin typeface="Cambria Math" panose="02040503050406030204" pitchFamily="18" charset="0"/>
                          </a:rPr>
                          <m:t>}</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sSub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𝐾</m:t>
                        </m:r>
                      </m:sup>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𝑉</m:t>
                        </m:r>
                      </m:e>
                    </m:nary>
                  </m:oMath>
                </a14:m>
                <a:endParaRPr lang="en-US" b="0" i="1" dirty="0">
                  <a:latin typeface="Cambria Math" panose="02040503050406030204" pitchFamily="18" charset="0"/>
                </a:endParaRPr>
              </a:p>
              <a:p>
                <a:pPr lvl="1"/>
                <a:r>
                  <a:rPr lang="en-US" b="0" dirty="0">
                    <a:latin typeface="+mj-lt"/>
                  </a:rPr>
                  <a:t>Group-level </a:t>
                </a:r>
                <a:r>
                  <a:rPr lang="en-US" dirty="0">
                    <a:latin typeface="+mj-lt"/>
                  </a:rPr>
                  <a:t>graph: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e>
                      <m:sup>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a:latin typeface="Cambria Math" panose="02040503050406030204" pitchFamily="18" charset="0"/>
                          </a:rPr>
                          <m:t>𝒞</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𝐸</m:t>
                            </m:r>
                          </m:e>
                          <m:sub>
                            <m:r>
                              <a:rPr lang="en-US" b="0" i="1" smtClean="0">
                                <a:latin typeface="Cambria Math" panose="02040503050406030204" pitchFamily="18" charset="0"/>
                              </a:rPr>
                              <m:t>𝑅</m:t>
                            </m:r>
                          </m:sub>
                          <m:sup>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up>
                        </m:sSub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𝐸</m:t>
                        </m:r>
                      </m:e>
                      <m:sub>
                        <m:r>
                          <a:rPr lang="en-US" i="1">
                            <a:latin typeface="Cambria Math" panose="02040503050406030204" pitchFamily="18" charset="0"/>
                          </a:rPr>
                          <m:t>𝑅</m:t>
                        </m:r>
                      </m:sub>
                      <m:sup>
                        <m:r>
                          <a:rPr lang="en-US" b="0" i="1" smtClean="0">
                            <a:latin typeface="Cambria Math" panose="02040503050406030204" pitchFamily="18" charset="0"/>
                          </a:rPr>
                          <m:t>(</m:t>
                        </m:r>
                        <m:r>
                          <a:rPr lang="en-US" i="1">
                            <a:latin typeface="Cambria Math" panose="02040503050406030204" pitchFamily="18" charset="0"/>
                          </a:rPr>
                          <m:t>𝐶</m:t>
                        </m:r>
                        <m:r>
                          <a:rPr lang="en-US" b="0" i="1" smtClean="0">
                            <a:latin typeface="Cambria Math" panose="02040503050406030204" pitchFamily="18" charset="0"/>
                          </a:rPr>
                          <m:t>)</m:t>
                        </m:r>
                      </m:sup>
                    </m:sSubSup>
                    <m:r>
                      <a:rPr lang="en-US" b="0" i="1" smtClean="0">
                        <a:latin typeface="Cambria Math" panose="02040503050406030204" pitchFamily="18" charset="0"/>
                      </a:rPr>
                      <m:t>=</m:t>
                    </m:r>
                    <m:d>
                      <m:dPr>
                        <m:begChr m:val="{"/>
                        <m:endChr m:val="}"/>
                        <m:sep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e>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e>
                    </m:d>
                  </m:oMath>
                </a14:m>
                <a:endParaRPr lang="en-US" dirty="0">
                  <a:latin typeface="+mj-lt"/>
                </a:endParaRPr>
              </a:p>
              <a:p>
                <a:pPr lvl="1"/>
                <a:r>
                  <a:rPr lang="en-US" dirty="0">
                    <a:latin typeface="+mj-lt"/>
                  </a:rPr>
                  <a:t>Group-level query-answer pairs: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p>
                        <m:r>
                          <a:rPr lang="en-US" b="0" i="1" smtClean="0">
                            <a:latin typeface="Cambria Math" panose="02040503050406030204" pitchFamily="18" charset="0"/>
                          </a:rPr>
                          <m:t>,</m:t>
                        </m:r>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d>
                  </m:oMath>
                </a14:m>
                <a:endParaRPr lang="en-US" dirty="0">
                  <a:latin typeface="+mj-lt"/>
                </a:endParaRPr>
              </a:p>
              <a:p>
                <a:r>
                  <a:rPr lang="en-US" dirty="0">
                    <a:latin typeface="+mj-lt"/>
                  </a:rPr>
                  <a:t>Two-step reasoning</a:t>
                </a:r>
              </a:p>
              <a:p>
                <a:pPr marL="742950" lvl="1" indent="-400050">
                  <a:buFont typeface="+mj-lt"/>
                  <a:buAutoNum type="romanUcPeriod"/>
                </a:pPr>
                <a:r>
                  <a:rPr lang="en-US" dirty="0">
                    <a:latin typeface="+mj-lt"/>
                  </a:rPr>
                  <a:t>Answer group-level query</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 </m:t>
                        </m:r>
                        <m:r>
                          <a:rPr lang="en-US" i="1">
                            <a:latin typeface="Cambria Math" panose="02040503050406030204" pitchFamily="18" charset="0"/>
                          </a:rPr>
                          <m:t>𝑞</m:t>
                        </m:r>
                      </m:e>
                      <m:sup>
                        <m:d>
                          <m:dPr>
                            <m:ctrlPr>
                              <a:rPr lang="en-US" i="1">
                                <a:latin typeface="Cambria Math" panose="02040503050406030204" pitchFamily="18" charset="0"/>
                              </a:rPr>
                            </m:ctrlPr>
                          </m:dPr>
                          <m:e>
                            <m:r>
                              <a:rPr lang="en-US" i="1">
                                <a:latin typeface="Cambria Math" panose="02040503050406030204" pitchFamily="18" charset="0"/>
                              </a:rPr>
                              <m:t>𝐶</m:t>
                            </m:r>
                          </m:e>
                        </m:d>
                      </m:sup>
                    </m:sSup>
                  </m:oMath>
                </a14:m>
                <a:r>
                  <a:rPr lang="en-US" dirty="0">
                    <a:latin typeface="+mj-lt"/>
                  </a:rPr>
                  <a:t> to predict </a:t>
                </a:r>
                <a14:m>
                  <m:oMath xmlns:m="http://schemas.openxmlformats.org/officeDocument/2006/math">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𝑎</m:t>
                        </m:r>
                      </m:e>
                    </m:d>
                  </m:oMath>
                </a14:m>
                <a:endParaRPr lang="en-US" dirty="0">
                  <a:latin typeface="+mj-lt"/>
                </a:endParaRPr>
              </a:p>
              <a:p>
                <a:pPr marL="742950" lvl="1" indent="-400050">
                  <a:buFont typeface="+mj-lt"/>
                  <a:buAutoNum type="romanUcPeriod"/>
                </a:pPr>
                <a:r>
                  <a:rPr lang="en-US" dirty="0">
                    <a:latin typeface="+mj-lt"/>
                  </a:rPr>
                  <a:t>Search for answer of node-level query </a:t>
                </a:r>
                <a14:m>
                  <m:oMath xmlns:m="http://schemas.openxmlformats.org/officeDocument/2006/math">
                    <m:r>
                      <a:rPr lang="en-US" i="1">
                        <a:latin typeface="Cambria Math" panose="02040503050406030204" pitchFamily="18" charset="0"/>
                      </a:rPr>
                      <m:t>𝑞</m:t>
                    </m:r>
                  </m:oMath>
                </a14:m>
                <a:r>
                  <a:rPr lang="en-US" dirty="0">
                    <a:latin typeface="+mj-lt"/>
                  </a:rPr>
                  <a:t> only among entities in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sub>
                    </m:sSub>
                  </m:oMath>
                </a14:m>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d>
                      <m:r>
                        <a:rPr lang="en-US" b="0" i="1" smtClean="0">
                          <a:latin typeface="Cambria Math" panose="02040503050406030204" pitchFamily="18" charset="0"/>
                        </a:rPr>
                        <m:t>=</m:t>
                      </m:r>
                      <m:r>
                        <a:rPr lang="en-US" i="1">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𝑎</m:t>
                                  </m:r>
                                </m:e>
                                <m:sup>
                                  <m:d>
                                    <m:dPr>
                                      <m:ctrlPr>
                                        <a:rPr lang="en-US" i="1">
                                          <a:latin typeface="Cambria Math" panose="02040503050406030204" pitchFamily="18" charset="0"/>
                                        </a:rPr>
                                      </m:ctrlPr>
                                    </m:dPr>
                                    <m:e>
                                      <m:r>
                                        <a:rPr lang="en-US" i="1">
                                          <a:latin typeface="Cambria Math" panose="02040503050406030204" pitchFamily="18" charset="0"/>
                                        </a:rPr>
                                        <m:t>𝐶</m:t>
                                      </m:r>
                                    </m:e>
                                  </m:d>
                                </m:sup>
                              </m:sSup>
                            </m:e>
                          </m:d>
                        </m:e>
                      </m:d>
                      <m:r>
                        <a:rPr lang="en-US" i="1">
                          <a:latin typeface="Cambria Math" panose="02040503050406030204" pitchFamily="18" charset="0"/>
                        </a:rPr>
                        <m:t>ℙ</m:t>
                      </m:r>
                      <m:d>
                        <m:dPr>
                          <m:sep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e>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d>
                                <m:dPr>
                                  <m:ctrlPr>
                                    <a:rPr lang="en-US" i="1">
                                      <a:latin typeface="Cambria Math" panose="02040503050406030204" pitchFamily="18" charset="0"/>
                                    </a:rPr>
                                  </m:ctrlPr>
                                </m:dPr>
                                <m:e>
                                  <m:r>
                                    <a:rPr lang="en-US" i="1">
                                      <a:latin typeface="Cambria Math" panose="02040503050406030204" pitchFamily="18" charset="0"/>
                                    </a:rPr>
                                    <m:t>𝐶</m:t>
                                  </m:r>
                                </m:e>
                              </m:d>
                            </m:sup>
                          </m:sSup>
                        </m:e>
                      </m:d>
                    </m:oMath>
                  </m:oMathPara>
                </a14:m>
                <a:endParaRPr lang="en-US" dirty="0">
                  <a:latin typeface="+mj-lt"/>
                </a:endParaRPr>
              </a:p>
            </p:txBody>
          </p:sp>
        </mc:Choice>
        <mc:Fallback xmlns="">
          <p:sp>
            <p:nvSpPr>
              <p:cNvPr id="9" name="Content Placeholder 8">
                <a:extLst>
                  <a:ext uri="{FF2B5EF4-FFF2-40B4-BE49-F238E27FC236}">
                    <a16:creationId xmlns:a16="http://schemas.microsoft.com/office/drawing/2014/main" id="{E777135A-8524-9FD9-45AA-1C6411B63AC5}"/>
                  </a:ext>
                </a:extLst>
              </p:cNvPr>
              <p:cNvSpPr>
                <a:spLocks noGrp="1" noRot="1" noChangeAspect="1" noMove="1" noResize="1" noEditPoints="1" noAdjustHandles="1" noChangeArrowheads="1" noChangeShapeType="1" noTextEdit="1"/>
              </p:cNvSpPr>
              <p:nvPr>
                <p:ph idx="1"/>
              </p:nvPr>
            </p:nvSpPr>
            <p:spPr>
              <a:blipFill>
                <a:blip r:embed="rId3"/>
                <a:stretch>
                  <a:fillRect t="-162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468AEF5F-1B07-94B2-2BBD-CB3BA385EB3E}"/>
              </a:ext>
            </a:extLst>
          </p:cNvPr>
          <p:cNvSpPr>
            <a:spLocks noGrp="1"/>
          </p:cNvSpPr>
          <p:nvPr>
            <p:ph type="title"/>
          </p:nvPr>
        </p:nvSpPr>
        <p:spPr>
          <a:xfrm>
            <a:off x="904875" y="131032"/>
            <a:ext cx="7207279" cy="1072753"/>
          </a:xfrm>
        </p:spPr>
        <p:txBody>
          <a:bodyPr>
            <a:normAutofit/>
          </a:bodyPr>
          <a:lstStyle/>
          <a:p>
            <a:r>
              <a:rPr lang="en-US" dirty="0"/>
              <a:t>3.1	Community-Informed Graph Embeddings</a:t>
            </a:r>
            <a:br>
              <a:rPr lang="en-US" dirty="0"/>
            </a:br>
            <a:r>
              <a:rPr lang="en-US" sz="2400" b="0" i="1" dirty="0"/>
              <a:t>Contributions - Idea</a:t>
            </a:r>
            <a:endParaRPr lang="en-GB" sz="2400" b="0" i="1" dirty="0"/>
          </a:p>
        </p:txBody>
      </p:sp>
      <p:sp>
        <p:nvSpPr>
          <p:cNvPr id="5" name="Date Placeholder 4">
            <a:extLst>
              <a:ext uri="{FF2B5EF4-FFF2-40B4-BE49-F238E27FC236}">
                <a16:creationId xmlns:a16="http://schemas.microsoft.com/office/drawing/2014/main" id="{E836BC64-29B7-F94E-C891-945BE6F02CD0}"/>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A0835E4-6735-AD63-7D6C-D4B72C24ADE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DFA6CA2E-89ED-321A-6EB8-95F261945EF4}"/>
              </a:ext>
            </a:extLst>
          </p:cNvPr>
          <p:cNvSpPr>
            <a:spLocks noGrp="1"/>
          </p:cNvSpPr>
          <p:nvPr>
            <p:ph type="sldNum" sz="quarter" idx="12"/>
          </p:nvPr>
        </p:nvSpPr>
        <p:spPr/>
        <p:txBody>
          <a:bodyPr/>
          <a:lstStyle/>
          <a:p>
            <a:fld id="{E1E1CD7C-2161-7D43-862E-CE4C333CD873}" type="slidenum">
              <a:rPr lang="fr-FR" smtClean="0"/>
              <a:pPr/>
              <a:t>14</a:t>
            </a:fld>
            <a:endParaRPr lang="fr-FR" dirty="0"/>
          </a:p>
        </p:txBody>
      </p:sp>
    </p:spTree>
    <p:extLst>
      <p:ext uri="{BB962C8B-B14F-4D97-AF65-F5344CB8AC3E}">
        <p14:creationId xmlns:p14="http://schemas.microsoft.com/office/powerpoint/2010/main" val="265988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randombar(horizontal)">
                                      <p:cBhvr>
                                        <p:cTn id="41" dur="500"/>
                                        <p:tgtEl>
                                          <p:spTgt spid="9">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9">
                                            <p:txEl>
                                              <p:pRg st="11" end="11"/>
                                            </p:txEl>
                                          </p:spTgt>
                                        </p:tgtEl>
                                        <p:attrNameLst>
                                          <p:attrName>style.visibility</p:attrName>
                                        </p:attrNameLst>
                                      </p:cBhvr>
                                      <p:to>
                                        <p:strVal val="visible"/>
                                      </p:to>
                                    </p:set>
                                    <p:animEffect transition="in" filter="randombar(horizontal)">
                                      <p:cBhvr>
                                        <p:cTn id="46" dur="500"/>
                                        <p:tgtEl>
                                          <p:spTgt spid="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6220-924C-0D0F-CC7B-5558D7ACCDD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0A45E4CE-2066-4F47-AD2C-031546F8F83C}"/>
                  </a:ext>
                </a:extLst>
              </p:cNvPr>
              <p:cNvSpPr>
                <a:spLocks noGrp="1"/>
              </p:cNvSpPr>
              <p:nvPr>
                <p:ph idx="1"/>
              </p:nvPr>
            </p:nvSpPr>
            <p:spPr/>
            <p:txBody>
              <a:bodyPr anchor="ctr">
                <a:normAutofit fontScale="92500" lnSpcReduction="10000"/>
              </a:bodyPr>
              <a:lstStyle/>
              <a:p>
                <a:r>
                  <a:rPr lang="en-US" dirty="0">
                    <a:latin typeface="+mj-lt"/>
                  </a:rPr>
                  <a:t>Computational complexity and bounds</a:t>
                </a:r>
              </a:p>
              <a:p>
                <a:pPr marL="3429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𝑁</m:t>
                      </m:r>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ra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e>
                      </m:nary>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+1</m:t>
                          </m:r>
                        </m:e>
                      </m:d>
                    </m:oMath>
                  </m:oMathPara>
                </a14:m>
                <a:endParaRPr lang="en-US" i="1" dirty="0">
                  <a:latin typeface="+mj-lt"/>
                </a:endParaRPr>
              </a:p>
              <a:p>
                <a:pPr lvl="1"/>
                <a:r>
                  <a:rPr lang="en-US" i="1" dirty="0">
                    <a:latin typeface="+mj-lt"/>
                  </a:rPr>
                  <a:t>Potential of acceleration scaling with </a:t>
                </a:r>
                <a14:m>
                  <m:oMath xmlns:m="http://schemas.openxmlformats.org/officeDocument/2006/math">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rad>
                  </m:oMath>
                </a14:m>
                <a:r>
                  <a:rPr lang="en-US" i="1" dirty="0">
                    <a:latin typeface="+mj-lt"/>
                  </a:rPr>
                  <a:t>!</a:t>
                </a:r>
              </a:p>
              <a:p>
                <a:pPr lvl="1"/>
                <a:r>
                  <a:rPr lang="en-US" i="1" dirty="0">
                    <a:latin typeface="+mj-lt"/>
                  </a:rPr>
                  <a:t>Achieved when entity group sizes are balanced</a:t>
                </a:r>
              </a:p>
              <a:p>
                <a:r>
                  <a:rPr lang="en-US" dirty="0">
                    <a:latin typeface="+mj-lt"/>
                  </a:rPr>
                  <a:t>Query locality</a:t>
                </a:r>
              </a:p>
              <a:p>
                <a:pPr lvl="1"/>
                <a:r>
                  <a:rPr lang="en-US" dirty="0">
                    <a:latin typeface="+mj-lt"/>
                  </a:rPr>
                  <a:t>Preserving baseline query answering performance </a:t>
                </a:r>
                <a14:m>
                  <m:oMath xmlns:m="http://schemas.openxmlformats.org/officeDocument/2006/math">
                    <m:r>
                      <a:rPr lang="en-US" b="0" i="1" smtClean="0">
                        <a:latin typeface="Cambria Math" panose="02040503050406030204" pitchFamily="18" charset="0"/>
                      </a:rPr>
                      <m:t>⇒</m:t>
                    </m:r>
                  </m:oMath>
                </a14:m>
                <a:r>
                  <a:rPr lang="en-US" dirty="0">
                    <a:latin typeface="+mj-lt"/>
                  </a:rPr>
                  <a:t> need predictable group membership</a:t>
                </a:r>
              </a:p>
              <a:p>
                <a:pPr lvl="1"/>
                <a:r>
                  <a:rPr lang="en-US" dirty="0">
                    <a:latin typeface="+mj-lt"/>
                  </a:rPr>
                  <a:t>Leiden community detection </a:t>
                </a:r>
                <a14:m>
                  <m:oMath xmlns:m="http://schemas.openxmlformats.org/officeDocument/2006/math">
                    <m:r>
                      <a:rPr lang="en-US" i="1">
                        <a:latin typeface="Cambria Math" panose="02040503050406030204" pitchFamily="18" charset="0"/>
                      </a:rPr>
                      <m:t>⇒</m:t>
                    </m:r>
                  </m:oMath>
                </a14:m>
                <a:r>
                  <a:rPr lang="en-US" dirty="0">
                    <a:latin typeface="+mj-lt"/>
                  </a:rPr>
                  <a:t> few inter-group entities </a:t>
                </a:r>
                <a14:m>
                  <m:oMath xmlns:m="http://schemas.openxmlformats.org/officeDocument/2006/math">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e>
                    </m:d>
                  </m:oMath>
                </a14:m>
                <a:endParaRPr lang="en-US" dirty="0">
                  <a:latin typeface="+mj-lt"/>
                </a:endParaRPr>
              </a:p>
              <a:p>
                <a:r>
                  <a:rPr lang="en-US" dirty="0">
                    <a:latin typeface="+mj-lt"/>
                  </a:rPr>
                  <a:t>Feasibility trade-off</a:t>
                </a:r>
              </a:p>
              <a:p>
                <a:pPr lvl="1"/>
                <a:r>
                  <a:rPr lang="en-US" dirty="0">
                    <a:latin typeface="+mj-lt"/>
                  </a:rPr>
                  <a:t>Comparison of expected time to correct query answers between COINs and baselines</a:t>
                </a:r>
              </a:p>
              <a:p>
                <a:pPr marL="342900" lvl="1" indent="0">
                  <a:buNone/>
                </a:pPr>
                <a14:m>
                  <m:oMathPara xmlns:m="http://schemas.openxmlformats.org/officeDocument/2006/math">
                    <m:oMathParaPr>
                      <m:jc m:val="centerGroup"/>
                    </m:oMathParaPr>
                    <m:oMath xmlns:m="http://schemas.openxmlformats.org/officeDocument/2006/math">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num>
                            <m:den>
                              <m:r>
                                <a:rPr lang="en-US" b="0" i="1" smtClean="0">
                                  <a:latin typeface="Cambria Math" panose="02040503050406030204" pitchFamily="18" charset="0"/>
                                </a:rPr>
                                <m:t>𝑁</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𝑘</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𝑘</m:t>
                                  </m:r>
                                </m:sub>
                              </m:sSub>
                            </m:den>
                          </m:f>
                        </m:e>
                      </m:nary>
                      <m:r>
                        <a:rPr lang="en-US" b="0" i="1" smtClean="0">
                          <a:latin typeface="Cambria Math" panose="02040503050406030204" pitchFamily="18" charset="0"/>
                        </a:rPr>
                        <m:t>≤1</m:t>
                      </m:r>
                    </m:oMath>
                  </m:oMathPara>
                </a14:m>
                <a:endParaRPr lang="en-US" dirty="0">
                  <a:latin typeface="+mj-lt"/>
                </a:endParaRPr>
              </a:p>
            </p:txBody>
          </p:sp>
        </mc:Choice>
        <mc:Fallback xmlns="">
          <p:sp>
            <p:nvSpPr>
              <p:cNvPr id="9" name="Content Placeholder 8">
                <a:extLst>
                  <a:ext uri="{FF2B5EF4-FFF2-40B4-BE49-F238E27FC236}">
                    <a16:creationId xmlns:a16="http://schemas.microsoft.com/office/drawing/2014/main" id="{0A45E4CE-2066-4F47-AD2C-031546F8F83C}"/>
                  </a:ext>
                </a:extLst>
              </p:cNvPr>
              <p:cNvSpPr>
                <a:spLocks noGrp="1" noRot="1" noChangeAspect="1" noMove="1" noResize="1" noEditPoints="1" noAdjustHandles="1" noChangeArrowheads="1" noChangeShapeType="1" noTextEdit="1"/>
              </p:cNvSpPr>
              <p:nvPr>
                <p:ph idx="1"/>
              </p:nvPr>
            </p:nvSpPr>
            <p:spPr>
              <a:blipFill>
                <a:blip r:embed="rId3"/>
                <a:stretch>
                  <a:fillRect t="-541"/>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B7217F71-5096-BDFF-D08B-22780CB0A51C}"/>
              </a:ext>
            </a:extLst>
          </p:cNvPr>
          <p:cNvSpPr>
            <a:spLocks noGrp="1"/>
          </p:cNvSpPr>
          <p:nvPr>
            <p:ph type="title"/>
          </p:nvPr>
        </p:nvSpPr>
        <p:spPr>
          <a:xfrm>
            <a:off x="904875" y="131032"/>
            <a:ext cx="7207279" cy="1072753"/>
          </a:xfrm>
        </p:spPr>
        <p:txBody>
          <a:bodyPr>
            <a:normAutofit/>
          </a:bodyPr>
          <a:lstStyle/>
          <a:p>
            <a:r>
              <a:rPr lang="en-US" dirty="0"/>
              <a:t>3.1	Community-Informed Graph Embeddings</a:t>
            </a:r>
            <a:br>
              <a:rPr lang="en-US" dirty="0"/>
            </a:br>
            <a:r>
              <a:rPr lang="en-US" sz="2400" b="0" i="1" dirty="0"/>
              <a:t>Contributions - Theory</a:t>
            </a:r>
            <a:endParaRPr lang="en-GB" sz="2400" b="0" i="1" dirty="0"/>
          </a:p>
        </p:txBody>
      </p:sp>
      <p:sp>
        <p:nvSpPr>
          <p:cNvPr id="5" name="Date Placeholder 4">
            <a:extLst>
              <a:ext uri="{FF2B5EF4-FFF2-40B4-BE49-F238E27FC236}">
                <a16:creationId xmlns:a16="http://schemas.microsoft.com/office/drawing/2014/main" id="{CD8A79B5-C0E8-1C1D-7787-A1C76E4AD4A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FBE75838-461B-96CB-923D-169919D67E9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C93E2AB-62CA-84F6-FDFA-F28A4B9A82CE}"/>
              </a:ext>
            </a:extLst>
          </p:cNvPr>
          <p:cNvSpPr>
            <a:spLocks noGrp="1"/>
          </p:cNvSpPr>
          <p:nvPr>
            <p:ph type="sldNum" sz="quarter" idx="12"/>
          </p:nvPr>
        </p:nvSpPr>
        <p:spPr/>
        <p:txBody>
          <a:bodyPr/>
          <a:lstStyle/>
          <a:p>
            <a:fld id="{E1E1CD7C-2161-7D43-862E-CE4C333CD873}" type="slidenum">
              <a:rPr lang="fr-FR" smtClean="0"/>
              <a:pPr/>
              <a:t>15</a:t>
            </a:fld>
            <a:endParaRPr lang="fr-FR" dirty="0"/>
          </a:p>
        </p:txBody>
      </p:sp>
    </p:spTree>
    <p:extLst>
      <p:ext uri="{BB962C8B-B14F-4D97-AF65-F5344CB8AC3E}">
        <p14:creationId xmlns:p14="http://schemas.microsoft.com/office/powerpoint/2010/main" val="336896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ED5435-B1EF-D177-CAAF-7F252E2CE5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9467C76-635B-0C23-8326-1B2FC2E8D322}"/>
              </a:ext>
            </a:extLst>
          </p:cNvPr>
          <p:cNvSpPr>
            <a:spLocks noGrp="1"/>
          </p:cNvSpPr>
          <p:nvPr>
            <p:ph type="title"/>
          </p:nvPr>
        </p:nvSpPr>
        <p:spPr>
          <a:xfrm>
            <a:off x="904875" y="131032"/>
            <a:ext cx="7207279" cy="1072753"/>
          </a:xfrm>
        </p:spPr>
        <p:txBody>
          <a:bodyPr>
            <a:normAutofit/>
          </a:bodyPr>
          <a:lstStyle/>
          <a:p>
            <a:r>
              <a:rPr lang="en-US" dirty="0"/>
              <a:t>3.1	Community-Informed Graph Embeddings</a:t>
            </a:r>
            <a:br>
              <a:rPr lang="en-US" dirty="0"/>
            </a:br>
            <a:r>
              <a:rPr lang="en-US" sz="2400" b="0" i="1" dirty="0"/>
              <a:t>Methodology - The COINs architecture</a:t>
            </a:r>
            <a:endParaRPr lang="en-GB" sz="2400" b="0" i="1" dirty="0"/>
          </a:p>
        </p:txBody>
      </p:sp>
      <p:sp>
        <p:nvSpPr>
          <p:cNvPr id="5" name="Date Placeholder 4">
            <a:extLst>
              <a:ext uri="{FF2B5EF4-FFF2-40B4-BE49-F238E27FC236}">
                <a16:creationId xmlns:a16="http://schemas.microsoft.com/office/drawing/2014/main" id="{B0DF60D5-B5E5-D895-0B2E-0323177727BB}"/>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870B660-CCAD-D878-94AC-09F7B189E52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CA041F-473F-B3C5-2B52-B60B7E912804}"/>
              </a:ext>
            </a:extLst>
          </p:cNvPr>
          <p:cNvSpPr>
            <a:spLocks noGrp="1"/>
          </p:cNvSpPr>
          <p:nvPr>
            <p:ph type="sldNum" sz="quarter" idx="12"/>
          </p:nvPr>
        </p:nvSpPr>
        <p:spPr/>
        <p:txBody>
          <a:bodyPr/>
          <a:lstStyle/>
          <a:p>
            <a:fld id="{E1E1CD7C-2161-7D43-862E-CE4C333CD873}" type="slidenum">
              <a:rPr lang="fr-FR" smtClean="0"/>
              <a:pPr/>
              <a:t>16</a:t>
            </a:fld>
            <a:endParaRPr lang="fr-FR" dirty="0"/>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D7200C6-A19B-266B-EAB2-03E7705933CB}"/>
                  </a:ext>
                </a:extLst>
              </p:cNvPr>
              <p:cNvSpPr>
                <a:spLocks noGrp="1"/>
              </p:cNvSpPr>
              <p:nvPr>
                <p:ph idx="1"/>
              </p:nvPr>
            </p:nvSpPr>
            <p:spPr/>
            <p:txBody>
              <a:bodyPr anchor="ctr"/>
              <a:lstStyle/>
              <a:p>
                <a:r>
                  <a:rPr lang="en-US" dirty="0">
                    <a:latin typeface="+mj-lt"/>
                  </a:rPr>
                  <a:t>Unchanged:</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0" smtClean="0">
                            <a:latin typeface="Cambria Math" panose="02040503050406030204" pitchFamily="18" charset="0"/>
                          </a:rPr>
                          <m:t>𝑔</m:t>
                        </m:r>
                      </m:e>
                      <m:sub>
                        <m:r>
                          <a:rPr lang="en-US" b="0" i="0" smtClean="0">
                            <a:latin typeface="Cambria Math" panose="02040503050406030204" pitchFamily="18" charset="0"/>
                          </a:rPr>
                          <m:t>𝑅</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𝑃</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𝐼</m:t>
                        </m:r>
                      </m:sub>
                    </m:sSub>
                  </m:oMath>
                </a14:m>
                <a:endParaRPr lang="en-US" dirty="0">
                  <a:latin typeface="+mj-lt"/>
                </a:endParaRPr>
              </a:p>
              <a:p>
                <a:r>
                  <a:rPr lang="en-US" dirty="0">
                    <a:latin typeface="+mj-lt"/>
                  </a:rPr>
                  <a:t>Community embedding models:</a:t>
                </a: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latin typeface="Cambria Math" panose="02040503050406030204" pitchFamily="18" charset="0"/>
                            </a:rPr>
                            <m:t>𝑉</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bSup>
                      <m:r>
                        <a:rPr lang="en-US" b="0" i="1" smtClean="0">
                          <a:latin typeface="Cambria Math" panose="02040503050406030204" pitchFamily="18" charset="0"/>
                        </a:rPr>
                        <m:t>:</m:t>
                      </m:r>
                      <m:r>
                        <a:rPr lang="en-US" b="0" i="1" smtClean="0">
                          <a:latin typeface="Cambria Math" panose="02040503050406030204" pitchFamily="18" charset="0"/>
                        </a:rPr>
                        <m:t>𝒞</m:t>
                      </m:r>
                      <m:r>
                        <a:rPr lang="en-US" b="0" i="1" smtClean="0">
                          <a:latin typeface="Cambria Math" panose="02040503050406030204" pitchFamily="18" charset="0"/>
                        </a:rPr>
                        <m:t>→</m:t>
                      </m:r>
                      <m:r>
                        <a:rPr lang="en-US" b="0" i="1" smtClean="0">
                          <a:latin typeface="Cambria Math" panose="02040503050406030204" pitchFamily="18" charset="0"/>
                        </a:rPr>
                        <m:t>ℰ</m:t>
                      </m:r>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𝑅</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𝑃</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𝐼</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oMath>
                  </m:oMathPara>
                </a14:m>
                <a:endParaRPr lang="en-GB" dirty="0">
                  <a:latin typeface="+mj-lt"/>
                </a:endParaRPr>
              </a:p>
              <a:p>
                <a:r>
                  <a:rPr lang="en-GB" dirty="0">
                    <a:latin typeface="+mj-lt"/>
                  </a:rPr>
                  <a:t>Intra-community node embedding models:</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latin typeface="Cambria Math" panose="02040503050406030204" pitchFamily="18" charset="0"/>
                                    </a:rPr>
                                    <m:t>𝑉</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e>
                          </m:d>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i="1">
                              <a:latin typeface="Cambria Math" panose="02040503050406030204" pitchFamily="18" charset="0"/>
                            </a:rPr>
                            <m:t>𝑉</m:t>
                          </m:r>
                        </m:sub>
                        <m:sup>
                          <m:d>
                            <m:dPr>
                              <m:ctrlPr>
                                <a:rPr lang="en-US" i="1">
                                  <a:latin typeface="Cambria Math" panose="02040503050406030204" pitchFamily="18" charset="0"/>
                                </a:rPr>
                              </m:ctrlPr>
                            </m:dPr>
                            <m:e>
                              <m:r>
                                <a:rPr lang="en-US" i="1">
                                  <a:latin typeface="Cambria Math" panose="02040503050406030204" pitchFamily="18" charset="0"/>
                                </a:rPr>
                                <m:t>𝑘</m:t>
                              </m:r>
                            </m:e>
                          </m:d>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ℰ</m:t>
                      </m:r>
                    </m:oMath>
                  </m:oMathPara>
                </a14:m>
                <a:endParaRPr lang="en-GB" dirty="0">
                  <a:latin typeface="+mj-lt"/>
                </a:endParaRPr>
              </a:p>
              <a:p>
                <a:r>
                  <a:rPr lang="en-GB" dirty="0">
                    <a:latin typeface="+mj-lt"/>
                  </a:rPr>
                  <a:t>Inter-community node embedding model:</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𝑔</m:t>
                          </m:r>
                        </m:e>
                        <m:sub>
                          <m:r>
                            <a:rPr lang="en-US" i="1">
                              <a:latin typeface="Cambria Math" panose="02040503050406030204" pitchFamily="18" charset="0"/>
                            </a:rPr>
                            <m:t>𝑉</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𝜔</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ℰ</m:t>
                      </m:r>
                    </m:oMath>
                  </m:oMathPara>
                </a14:m>
                <a:endParaRPr lang="en-US" dirty="0">
                  <a:latin typeface="+mj-lt"/>
                </a:endParaRPr>
              </a:p>
              <a:p>
                <a:r>
                  <a:rPr lang="en-US" dirty="0">
                    <a:latin typeface="+mj-lt"/>
                  </a:rPr>
                  <a:t>Aggregation weights: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𝐖</m:t>
                      </m:r>
                      <m:r>
                        <a:rPr lang="en-US" b="0" i="1" smtClean="0">
                          <a:latin typeface="Cambria Math" panose="02040503050406030204" pitchFamily="18" charset="0"/>
                        </a:rPr>
                        <m:t>,</m:t>
                      </m:r>
                      <m:r>
                        <a:rPr lang="en-US" b="0" i="1" smtClean="0">
                          <a:latin typeface="Cambria Math" panose="02040503050406030204" pitchFamily="18" charset="0"/>
                        </a:rPr>
                        <m:t>𝐰</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𝐰</m:t>
                          </m:r>
                        </m:e>
                        <m:sub>
                          <m:r>
                            <a:rPr lang="en-US" b="0" i="1" smtClean="0">
                              <a:latin typeface="Cambria Math" panose="02040503050406030204" pitchFamily="18" charset="0"/>
                            </a:rPr>
                            <m:t>𝐑</m:t>
                          </m:r>
                        </m:sub>
                      </m:sSub>
                    </m:oMath>
                  </m:oMathPara>
                </a14:m>
                <a:endParaRPr lang="en-US" dirty="0">
                  <a:latin typeface="+mj-lt"/>
                </a:endParaRPr>
              </a:p>
            </p:txBody>
          </p:sp>
        </mc:Choice>
        <mc:Fallback xmlns="">
          <p:sp>
            <p:nvSpPr>
              <p:cNvPr id="10" name="Content Placeholder 9">
                <a:extLst>
                  <a:ext uri="{FF2B5EF4-FFF2-40B4-BE49-F238E27FC236}">
                    <a16:creationId xmlns:a16="http://schemas.microsoft.com/office/drawing/2014/main" id="{4D7200C6-A19B-266B-EAB2-03E7705933C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7114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12" dur="500"/>
                                        <p:tgtEl>
                                          <p:spTgt spid="10">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15" dur="500"/>
                                        <p:tgtEl>
                                          <p:spTgt spid="1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20" dur="500"/>
                                        <p:tgtEl>
                                          <p:spTgt spid="10">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randombar(horizontal)">
                                      <p:cBhvr>
                                        <p:cTn id="23" dur="500"/>
                                        <p:tgtEl>
                                          <p:spTgt spid="10">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Effect transition="in" filter="randombar(horizontal)">
                                      <p:cBhvr>
                                        <p:cTn id="28" dur="500"/>
                                        <p:tgtEl>
                                          <p:spTgt spid="10">
                                            <p:txEl>
                                              <p:pRg st="5" end="5"/>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Effect transition="in" filter="randombar(horizontal)">
                                      <p:cBhvr>
                                        <p:cTn id="31" dur="500"/>
                                        <p:tgtEl>
                                          <p:spTgt spid="10">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0">
                                            <p:txEl>
                                              <p:pRg st="7" end="7"/>
                                            </p:txEl>
                                          </p:spTgt>
                                        </p:tgtEl>
                                        <p:attrNameLst>
                                          <p:attrName>style.visibility</p:attrName>
                                        </p:attrNameLst>
                                      </p:cBhvr>
                                      <p:to>
                                        <p:strVal val="visible"/>
                                      </p:to>
                                    </p:set>
                                    <p:animEffect transition="in" filter="randombar(horizontal)">
                                      <p:cBhvr>
                                        <p:cTn id="36" dur="500"/>
                                        <p:tgtEl>
                                          <p:spTgt spid="10">
                                            <p:txEl>
                                              <p:pRg st="7" end="7"/>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animEffect transition="in" filter="randombar(horizontal)">
                                      <p:cBhvr>
                                        <p:cTn id="39"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8F0F5-1DEB-7090-6453-99D98097B30F}"/>
            </a:ext>
          </a:extLst>
        </p:cNvPr>
        <p:cNvGrpSpPr/>
        <p:nvPr/>
      </p:nvGrpSpPr>
      <p:grpSpPr>
        <a:xfrm>
          <a:off x="0" y="0"/>
          <a:ext cx="0" cy="0"/>
          <a:chOff x="0" y="0"/>
          <a:chExt cx="0" cy="0"/>
        </a:xfrm>
      </p:grpSpPr>
      <p:pic>
        <p:nvPicPr>
          <p:cNvPr id="3" name="Content Placeholder 2" descr="A diagram of a diagram of a diagram&#10;&#10;AI-generated content may be incorrect.">
            <a:extLst>
              <a:ext uri="{FF2B5EF4-FFF2-40B4-BE49-F238E27FC236}">
                <a16:creationId xmlns:a16="http://schemas.microsoft.com/office/drawing/2014/main" id="{0E15AB2B-25C3-A65A-B2EF-F4B952CB0FA0}"/>
              </a:ext>
            </a:extLst>
          </p:cNvPr>
          <p:cNvPicPr>
            <a:picLocks noGrp="1" noChangeAspect="1"/>
          </p:cNvPicPr>
          <p:nvPr>
            <p:ph idx="1"/>
          </p:nvPr>
        </p:nvPicPr>
        <p:blipFill>
          <a:blip r:embed="rId3"/>
          <a:stretch>
            <a:fillRect/>
          </a:stretch>
        </p:blipFill>
        <p:spPr>
          <a:xfrm>
            <a:off x="904875" y="1566233"/>
            <a:ext cx="7726363" cy="3381046"/>
          </a:xfrm>
        </p:spPr>
      </p:pic>
      <p:sp>
        <p:nvSpPr>
          <p:cNvPr id="8" name="Title 7">
            <a:extLst>
              <a:ext uri="{FF2B5EF4-FFF2-40B4-BE49-F238E27FC236}">
                <a16:creationId xmlns:a16="http://schemas.microsoft.com/office/drawing/2014/main" id="{9085D50F-868A-A097-2DB1-FDF0EE20F0A1}"/>
              </a:ext>
            </a:extLst>
          </p:cNvPr>
          <p:cNvSpPr>
            <a:spLocks noGrp="1"/>
          </p:cNvSpPr>
          <p:nvPr>
            <p:ph type="title"/>
          </p:nvPr>
        </p:nvSpPr>
        <p:spPr>
          <a:xfrm>
            <a:off x="904875" y="131032"/>
            <a:ext cx="7207279" cy="1072753"/>
          </a:xfrm>
        </p:spPr>
        <p:txBody>
          <a:bodyPr>
            <a:normAutofit/>
          </a:bodyPr>
          <a:lstStyle/>
          <a:p>
            <a:r>
              <a:rPr lang="en-US" dirty="0"/>
              <a:t>3.1	Community-Informed Graph Embeddings</a:t>
            </a:r>
            <a:br>
              <a:rPr lang="en-US" dirty="0"/>
            </a:br>
            <a:r>
              <a:rPr lang="en-US" sz="2400" b="0" i="1" dirty="0"/>
              <a:t>Methodology - The COINs KG representation process</a:t>
            </a:r>
            <a:endParaRPr lang="en-GB" sz="2400" b="0" i="1" dirty="0"/>
          </a:p>
        </p:txBody>
      </p:sp>
      <p:sp>
        <p:nvSpPr>
          <p:cNvPr id="5" name="Date Placeholder 4">
            <a:extLst>
              <a:ext uri="{FF2B5EF4-FFF2-40B4-BE49-F238E27FC236}">
                <a16:creationId xmlns:a16="http://schemas.microsoft.com/office/drawing/2014/main" id="{18A836E6-2162-BAA2-F7E5-5127B4A9431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091F1D6-2836-17E0-D84E-51C0E848432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762CC1A-B72B-6CE4-C234-DC63103DA7EC}"/>
              </a:ext>
            </a:extLst>
          </p:cNvPr>
          <p:cNvSpPr>
            <a:spLocks noGrp="1"/>
          </p:cNvSpPr>
          <p:nvPr>
            <p:ph type="sldNum" sz="quarter" idx="12"/>
          </p:nvPr>
        </p:nvSpPr>
        <p:spPr/>
        <p:txBody>
          <a:bodyPr/>
          <a:lstStyle/>
          <a:p>
            <a:fld id="{E1E1CD7C-2161-7D43-862E-CE4C333CD873}" type="slidenum">
              <a:rPr lang="fr-FR" smtClean="0"/>
              <a:pPr/>
              <a:t>17</a:t>
            </a:fld>
            <a:endParaRPr lang="fr-FR" dirty="0"/>
          </a:p>
        </p:txBody>
      </p:sp>
    </p:spTree>
    <p:extLst>
      <p:ext uri="{BB962C8B-B14F-4D97-AF65-F5344CB8AC3E}">
        <p14:creationId xmlns:p14="http://schemas.microsoft.com/office/powerpoint/2010/main" val="312779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4C229B-6A8D-4246-323E-0E272FC913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88CFC6-7172-6912-1A34-18D8F2CB5DD4}"/>
              </a:ext>
            </a:extLst>
          </p:cNvPr>
          <p:cNvSpPr>
            <a:spLocks noGrp="1"/>
          </p:cNvSpPr>
          <p:nvPr>
            <p:ph sz="half" idx="2"/>
          </p:nvPr>
        </p:nvSpPr>
        <p:spPr/>
        <p:txBody>
          <a:bodyPr anchor="ctr"/>
          <a:lstStyle/>
          <a:p>
            <a:r>
              <a:rPr lang="en-US" i="1" dirty="0">
                <a:latin typeface="+mj-lt"/>
              </a:rPr>
              <a:t>Generalization:</a:t>
            </a:r>
            <a:r>
              <a:rPr lang="en-US" dirty="0">
                <a:latin typeface="+mj-lt"/>
              </a:rPr>
              <a:t> queries spanning multiple communities are treated differently</a:t>
            </a:r>
          </a:p>
          <a:p>
            <a:r>
              <a:rPr lang="en-US" i="1" dirty="0">
                <a:latin typeface="+mj-lt"/>
              </a:rPr>
              <a:t>Training speed-up:</a:t>
            </a:r>
            <a:r>
              <a:rPr lang="en-US" dirty="0">
                <a:latin typeface="+mj-lt"/>
              </a:rPr>
              <a:t> the number of different node embeddings to compute per query is capped</a:t>
            </a:r>
          </a:p>
          <a:p>
            <a:r>
              <a:rPr lang="en-US" i="1" dirty="0">
                <a:latin typeface="+mj-lt"/>
              </a:rPr>
              <a:t>Adaptivity and stability:</a:t>
            </a:r>
            <a:r>
              <a:rPr lang="en-US" dirty="0">
                <a:latin typeface="+mj-lt"/>
              </a:rPr>
              <a:t> embedding refinement links community and node embeddings</a:t>
            </a:r>
            <a:endParaRPr lang="en-GB" dirty="0">
              <a:latin typeface="+mj-lt"/>
            </a:endParaRPr>
          </a:p>
        </p:txBody>
      </p:sp>
      <p:sp>
        <p:nvSpPr>
          <p:cNvPr id="8" name="Title 7">
            <a:extLst>
              <a:ext uri="{FF2B5EF4-FFF2-40B4-BE49-F238E27FC236}">
                <a16:creationId xmlns:a16="http://schemas.microsoft.com/office/drawing/2014/main" id="{88DD9E3D-73D8-F697-6B77-9019A0FD7EDA}"/>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Methodology - Algorithm and  properties</a:t>
            </a:r>
            <a:endParaRPr lang="en-GB" sz="2400" b="0" i="1" dirty="0"/>
          </a:p>
        </p:txBody>
      </p:sp>
      <p:sp>
        <p:nvSpPr>
          <p:cNvPr id="5" name="Date Placeholder 4">
            <a:extLst>
              <a:ext uri="{FF2B5EF4-FFF2-40B4-BE49-F238E27FC236}">
                <a16:creationId xmlns:a16="http://schemas.microsoft.com/office/drawing/2014/main" id="{A8234C18-DD40-6D7F-EE37-34E5D85DCA38}"/>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2472C05B-B19F-0858-5259-5CAD14C77BC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C28D7F2-1C13-72FF-5A3A-37AFA09366F8}"/>
              </a:ext>
            </a:extLst>
          </p:cNvPr>
          <p:cNvSpPr>
            <a:spLocks noGrp="1"/>
          </p:cNvSpPr>
          <p:nvPr>
            <p:ph type="sldNum" sz="quarter" idx="12"/>
          </p:nvPr>
        </p:nvSpPr>
        <p:spPr/>
        <p:txBody>
          <a:bodyPr/>
          <a:lstStyle/>
          <a:p>
            <a:fld id="{E1E1CD7C-2161-7D43-862E-CE4C333CD873}" type="slidenum">
              <a:rPr lang="fr-FR" smtClean="0"/>
              <a:pPr/>
              <a:t>18</a:t>
            </a:fld>
            <a:endParaRPr lang="fr-FR" dirty="0"/>
          </a:p>
        </p:txBody>
      </p:sp>
      <p:pic>
        <p:nvPicPr>
          <p:cNvPr id="11" name="Content Placeholder 10" descr="A screenshot of a math equation&#10;&#10;AI-generated content may be incorrect.">
            <a:extLst>
              <a:ext uri="{FF2B5EF4-FFF2-40B4-BE49-F238E27FC236}">
                <a16:creationId xmlns:a16="http://schemas.microsoft.com/office/drawing/2014/main" id="{BF5F9698-F30E-455D-7EF3-042D8091DEE1}"/>
              </a:ext>
            </a:extLst>
          </p:cNvPr>
          <p:cNvPicPr>
            <a:picLocks noGrp="1" noChangeAspect="1"/>
          </p:cNvPicPr>
          <p:nvPr>
            <p:ph sz="half" idx="1"/>
          </p:nvPr>
        </p:nvPicPr>
        <p:blipFill>
          <a:blip r:embed="rId3"/>
          <a:stretch>
            <a:fillRect/>
          </a:stretch>
        </p:blipFill>
        <p:spPr>
          <a:xfrm>
            <a:off x="904875" y="2203806"/>
            <a:ext cx="3671888" cy="1983663"/>
          </a:xfrm>
        </p:spPr>
      </p:pic>
    </p:spTree>
    <p:extLst>
      <p:ext uri="{BB962C8B-B14F-4D97-AF65-F5344CB8AC3E}">
        <p14:creationId xmlns:p14="http://schemas.microsoft.com/office/powerpoint/2010/main" val="318058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26BBC3-E8F0-752C-4A1C-5F0B5902F5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5242D6-0634-5E69-9E05-E44C7BBA4529}"/>
              </a:ext>
            </a:extLst>
          </p:cNvPr>
          <p:cNvSpPr>
            <a:spLocks noGrp="1"/>
          </p:cNvSpPr>
          <p:nvPr>
            <p:ph sz="half" idx="1"/>
          </p:nvPr>
        </p:nvSpPr>
        <p:spPr/>
        <p:txBody>
          <a:bodyPr anchor="ctr">
            <a:normAutofit lnSpcReduction="10000"/>
          </a:bodyPr>
          <a:lstStyle/>
          <a:p>
            <a:r>
              <a:rPr lang="en-US" dirty="0">
                <a:latin typeface="+mj-lt"/>
              </a:rPr>
              <a:t>Data</a:t>
            </a:r>
          </a:p>
          <a:p>
            <a:pPr lvl="1"/>
            <a:r>
              <a:rPr lang="en-US" dirty="0">
                <a:latin typeface="+mj-lt"/>
              </a:rPr>
              <a:t>FB15k-237</a:t>
            </a:r>
          </a:p>
          <a:p>
            <a:pPr lvl="1"/>
            <a:r>
              <a:rPr lang="en-US" dirty="0">
                <a:latin typeface="+mj-lt"/>
              </a:rPr>
              <a:t>WN18RR</a:t>
            </a:r>
          </a:p>
          <a:p>
            <a:pPr lvl="1"/>
            <a:r>
              <a:rPr lang="en-US" dirty="0">
                <a:latin typeface="+mj-lt"/>
              </a:rPr>
              <a:t>NELL-995</a:t>
            </a:r>
          </a:p>
          <a:p>
            <a:r>
              <a:rPr lang="en-US" dirty="0">
                <a:latin typeface="+mj-lt"/>
              </a:rPr>
              <a:t>KG embedding models</a:t>
            </a:r>
          </a:p>
          <a:p>
            <a:pPr lvl="1"/>
            <a:r>
              <a:rPr lang="en-US" dirty="0">
                <a:latin typeface="+mj-lt"/>
              </a:rPr>
              <a:t>TransE, </a:t>
            </a:r>
            <a:r>
              <a:rPr lang="en-US" dirty="0" err="1">
                <a:latin typeface="+mj-lt"/>
              </a:rPr>
              <a:t>DistMult</a:t>
            </a:r>
            <a:r>
              <a:rPr lang="en-US" dirty="0">
                <a:latin typeface="+mj-lt"/>
              </a:rPr>
              <a:t>, </a:t>
            </a:r>
            <a:r>
              <a:rPr lang="en-US" dirty="0" err="1">
                <a:latin typeface="+mj-lt"/>
              </a:rPr>
              <a:t>ComplEx</a:t>
            </a:r>
            <a:r>
              <a:rPr lang="en-US" dirty="0">
                <a:latin typeface="+mj-lt"/>
              </a:rPr>
              <a:t>, </a:t>
            </a:r>
            <a:r>
              <a:rPr lang="en-US" dirty="0" err="1">
                <a:latin typeface="+mj-lt"/>
              </a:rPr>
              <a:t>RotatE</a:t>
            </a:r>
            <a:endParaRPr lang="en-US" dirty="0">
              <a:latin typeface="+mj-lt"/>
            </a:endParaRPr>
          </a:p>
          <a:p>
            <a:pPr lvl="1"/>
            <a:r>
              <a:rPr lang="en-US" dirty="0">
                <a:latin typeface="+mj-lt"/>
              </a:rPr>
              <a:t>KBGAT </a:t>
            </a:r>
            <a:r>
              <a:rPr lang="en-US" dirty="0">
                <a:solidFill>
                  <a:schemeClr val="accent1"/>
                </a:solidFill>
                <a:latin typeface="+mj-lt"/>
              </a:rPr>
              <a:t>[9]</a:t>
            </a:r>
          </a:p>
          <a:p>
            <a:pPr lvl="1"/>
            <a:r>
              <a:rPr lang="en-US" dirty="0">
                <a:latin typeface="+mj-lt"/>
              </a:rPr>
              <a:t>Query2Box </a:t>
            </a:r>
            <a:r>
              <a:rPr lang="en-US" dirty="0">
                <a:solidFill>
                  <a:schemeClr val="accent1"/>
                </a:solidFill>
                <a:latin typeface="+mj-lt"/>
              </a:rPr>
              <a:t>[10]</a:t>
            </a:r>
          </a:p>
          <a:p>
            <a:r>
              <a:rPr lang="en-US" dirty="0">
                <a:latin typeface="+mj-lt"/>
              </a:rPr>
              <a:t>Training and evaluation</a:t>
            </a:r>
          </a:p>
          <a:p>
            <a:pPr lvl="1"/>
            <a:r>
              <a:rPr lang="en-US" dirty="0">
                <a:latin typeface="+mj-lt"/>
              </a:rPr>
              <a:t>Within-community negative examples</a:t>
            </a:r>
          </a:p>
          <a:p>
            <a:pPr lvl="1"/>
            <a:r>
              <a:rPr lang="en-US" dirty="0">
                <a:latin typeface="+mj-lt"/>
              </a:rPr>
              <a:t>SMORE query sampling</a:t>
            </a:r>
          </a:p>
          <a:p>
            <a:pPr lvl="1"/>
            <a:r>
              <a:rPr lang="en-US" dirty="0">
                <a:latin typeface="+mj-lt"/>
              </a:rPr>
              <a:t>Metrics: </a:t>
            </a:r>
            <a:r>
              <a:rPr lang="en-US" dirty="0" err="1">
                <a:latin typeface="+mj-lt"/>
              </a:rPr>
              <a:t>Hits@k</a:t>
            </a:r>
            <a:r>
              <a:rPr lang="en-US" dirty="0">
                <a:latin typeface="+mj-lt"/>
              </a:rPr>
              <a:t>, MR, MRR</a:t>
            </a:r>
            <a:endParaRPr lang="en-GB" dirty="0">
              <a:latin typeface="+mj-lt"/>
            </a:endParaRPr>
          </a:p>
        </p:txBody>
      </p:sp>
      <p:sp>
        <p:nvSpPr>
          <p:cNvPr id="8" name="Title 7">
            <a:extLst>
              <a:ext uri="{FF2B5EF4-FFF2-40B4-BE49-F238E27FC236}">
                <a16:creationId xmlns:a16="http://schemas.microsoft.com/office/drawing/2014/main" id="{94228064-4434-D193-38F7-23906C7B1380}"/>
              </a:ext>
            </a:extLst>
          </p:cNvPr>
          <p:cNvSpPr>
            <a:spLocks noGrp="1"/>
          </p:cNvSpPr>
          <p:nvPr>
            <p:ph type="title"/>
          </p:nvPr>
        </p:nvSpPr>
        <p:spPr>
          <a:xfrm>
            <a:off x="904875" y="131032"/>
            <a:ext cx="4506119" cy="1072753"/>
          </a:xfrm>
        </p:spPr>
        <p:txBody>
          <a:bodyPr>
            <a:normAutofit fontScale="90000"/>
          </a:bodyPr>
          <a:lstStyle/>
          <a:p>
            <a:r>
              <a:rPr lang="en-US" dirty="0"/>
              <a:t>3.1	Community-Informed Graph Embeddings</a:t>
            </a:r>
            <a:br>
              <a:rPr lang="en-US" dirty="0"/>
            </a:br>
            <a:r>
              <a:rPr lang="en-US" sz="2400" b="0" i="1" dirty="0"/>
              <a:t>Methodology - Experiments</a:t>
            </a:r>
            <a:endParaRPr lang="en-GB" sz="2400" b="0" i="1" dirty="0"/>
          </a:p>
        </p:txBody>
      </p:sp>
      <p:sp>
        <p:nvSpPr>
          <p:cNvPr id="5" name="Date Placeholder 4">
            <a:extLst>
              <a:ext uri="{FF2B5EF4-FFF2-40B4-BE49-F238E27FC236}">
                <a16:creationId xmlns:a16="http://schemas.microsoft.com/office/drawing/2014/main" id="{7260F623-E9EF-D374-7A99-F7A6F32D943E}"/>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D86A74A1-B804-74F2-CD6C-47D0115F7D59}"/>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4C3E2F3-1672-8A48-4ECE-4694F5D51D2E}"/>
              </a:ext>
            </a:extLst>
          </p:cNvPr>
          <p:cNvSpPr>
            <a:spLocks noGrp="1"/>
          </p:cNvSpPr>
          <p:nvPr>
            <p:ph type="sldNum" sz="quarter" idx="12"/>
          </p:nvPr>
        </p:nvSpPr>
        <p:spPr/>
        <p:txBody>
          <a:bodyPr/>
          <a:lstStyle/>
          <a:p>
            <a:fld id="{E1E1CD7C-2161-7D43-862E-CE4C333CD873}" type="slidenum">
              <a:rPr lang="fr-FR" smtClean="0"/>
              <a:pPr/>
              <a:t>19</a:t>
            </a:fld>
            <a:endParaRPr lang="fr-FR" dirty="0"/>
          </a:p>
        </p:txBody>
      </p:sp>
      <p:pic>
        <p:nvPicPr>
          <p:cNvPr id="1030" name="Picture 6" descr="Global Wordnet Formats">
            <a:extLst>
              <a:ext uri="{FF2B5EF4-FFF2-40B4-BE49-F238E27FC236}">
                <a16:creationId xmlns:a16="http://schemas.microsoft.com/office/drawing/2014/main" id="{660456CF-6FB0-378A-6453-9FDAB0B50FE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715753" y="667408"/>
            <a:ext cx="1771732" cy="22346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5277FB7-4858-0CFB-054B-F0309C230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994" y="195263"/>
            <a:ext cx="2381250" cy="4381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social media post&#10;&#10;AI-generated content may be incorrect.">
            <a:extLst>
              <a:ext uri="{FF2B5EF4-FFF2-40B4-BE49-F238E27FC236}">
                <a16:creationId xmlns:a16="http://schemas.microsoft.com/office/drawing/2014/main" id="{3A38BA88-BCEC-CACB-63A2-752086A91990}"/>
              </a:ext>
            </a:extLst>
          </p:cNvPr>
          <p:cNvPicPr>
            <a:picLocks noChangeAspect="1"/>
          </p:cNvPicPr>
          <p:nvPr/>
        </p:nvPicPr>
        <p:blipFill>
          <a:blip r:embed="rId5"/>
          <a:stretch>
            <a:fillRect/>
          </a:stretch>
        </p:blipFill>
        <p:spPr>
          <a:xfrm>
            <a:off x="5456554" y="3025784"/>
            <a:ext cx="2290130" cy="1992908"/>
          </a:xfrm>
          <a:prstGeom prst="rect">
            <a:avLst/>
          </a:prstGeom>
        </p:spPr>
      </p:pic>
    </p:spTree>
    <p:extLst>
      <p:ext uri="{BB962C8B-B14F-4D97-AF65-F5344CB8AC3E}">
        <p14:creationId xmlns:p14="http://schemas.microsoft.com/office/powerpoint/2010/main" val="382394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1000"/>
                                  </p:stCondLst>
                                  <p:childTnLst>
                                    <p:set>
                                      <p:cBhvr>
                                        <p:cTn id="18" dur="1" fill="hold">
                                          <p:stCondLst>
                                            <p:cond delay="0"/>
                                          </p:stCondLst>
                                        </p:cTn>
                                        <p:tgtEl>
                                          <p:spTgt spid="1030"/>
                                        </p:tgtEl>
                                        <p:attrNameLst>
                                          <p:attrName>style.visibility</p:attrName>
                                        </p:attrNameLst>
                                      </p:cBhvr>
                                      <p:to>
                                        <p:strVal val="visible"/>
                                      </p:to>
                                    </p:set>
                                    <p:animEffect transition="in" filter="randombar(horizontal)">
                                      <p:cBhvr>
                                        <p:cTn id="19" dur="500"/>
                                        <p:tgtEl>
                                          <p:spTgt spid="1030"/>
                                        </p:tgtEl>
                                      </p:cBhvr>
                                    </p:animEffect>
                                  </p:childTnLst>
                                </p:cTn>
                              </p:par>
                              <p:par>
                                <p:cTn id="20" presetID="14" presetClass="entr" presetSubtype="10" fill="hold" nodeType="withEffect">
                                  <p:stCondLst>
                                    <p:cond delay="500"/>
                                  </p:stCondLst>
                                  <p:childTnLst>
                                    <p:set>
                                      <p:cBhvr>
                                        <p:cTn id="21" dur="1" fill="hold">
                                          <p:stCondLst>
                                            <p:cond delay="0"/>
                                          </p:stCondLst>
                                        </p:cTn>
                                        <p:tgtEl>
                                          <p:spTgt spid="1026"/>
                                        </p:tgtEl>
                                        <p:attrNameLst>
                                          <p:attrName>style.visibility</p:attrName>
                                        </p:attrNameLst>
                                      </p:cBhvr>
                                      <p:to>
                                        <p:strVal val="visible"/>
                                      </p:to>
                                    </p:set>
                                    <p:animEffect transition="in" filter="randombar(horizontal)">
                                      <p:cBhvr>
                                        <p:cTn id="22" dur="500"/>
                                        <p:tgtEl>
                                          <p:spTgt spid="1026"/>
                                        </p:tgtEl>
                                      </p:cBhvr>
                                    </p:animEffect>
                                  </p:childTnLst>
                                </p:cTn>
                              </p:par>
                              <p:par>
                                <p:cTn id="23" presetID="14" presetClass="entr" presetSubtype="10" fill="hold" nodeType="withEffect">
                                  <p:stCondLst>
                                    <p:cond delay="150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30" dur="500"/>
                                        <p:tgtEl>
                                          <p:spTgt spid="2">
                                            <p:txEl>
                                              <p:pRg st="4" end="4"/>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3" dur="500"/>
                                        <p:tgtEl>
                                          <p:spTgt spid="2">
                                            <p:txEl>
                                              <p:pRg st="5" end="5"/>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6" dur="500"/>
                                        <p:tgtEl>
                                          <p:spTgt spid="2">
                                            <p:txEl>
                                              <p:pRg st="6" end="6"/>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9" dur="500"/>
                                        <p:tgtEl>
                                          <p:spTgt spid="2">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Effect transition="in" filter="randombar(horizontal)">
                                      <p:cBhvr>
                                        <p:cTn id="44" dur="500"/>
                                        <p:tgtEl>
                                          <p:spTgt spid="2">
                                            <p:txEl>
                                              <p:pRg st="8" end="8"/>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7" dur="500"/>
                                        <p:tgtEl>
                                          <p:spTgt spid="2">
                                            <p:txEl>
                                              <p:pRg st="9" end="9"/>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50" dur="500"/>
                                        <p:tgtEl>
                                          <p:spTgt spid="2">
                                            <p:txEl>
                                              <p:pRg st="10" end="10"/>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2">
                                            <p:txEl>
                                              <p:pRg st="11" end="11"/>
                                            </p:txEl>
                                          </p:spTgt>
                                        </p:tgtEl>
                                        <p:attrNameLst>
                                          <p:attrName>style.visibility</p:attrName>
                                        </p:attrNameLst>
                                      </p:cBhvr>
                                      <p:to>
                                        <p:strVal val="visible"/>
                                      </p:to>
                                    </p:set>
                                    <p:animEffect transition="in" filter="randombar(horizontal)">
                                      <p:cBhvr>
                                        <p:cTn id="53"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839E-CA21-B01D-886B-0CB0149F8A9D}"/>
            </a:ext>
          </a:extLst>
        </p:cNvPr>
        <p:cNvGrpSpPr/>
        <p:nvPr/>
      </p:nvGrpSpPr>
      <p:grpSpPr>
        <a:xfrm>
          <a:off x="0" y="0"/>
          <a:ext cx="0" cy="0"/>
          <a:chOff x="0" y="0"/>
          <a:chExt cx="0" cy="0"/>
        </a:xfrm>
      </p:grpSpPr>
      <p:pic>
        <p:nvPicPr>
          <p:cNvPr id="13" name="Content Placeholder 12" descr="A close-up of numbers&#10;&#10;AI-generated content may be incorrect.">
            <a:extLst>
              <a:ext uri="{FF2B5EF4-FFF2-40B4-BE49-F238E27FC236}">
                <a16:creationId xmlns:a16="http://schemas.microsoft.com/office/drawing/2014/main" id="{7E5CD6B3-0EFB-C44D-D362-3CA27FE9B7B2}"/>
              </a:ext>
            </a:extLst>
          </p:cNvPr>
          <p:cNvPicPr>
            <a:picLocks noGrp="1" noChangeAspect="1"/>
          </p:cNvPicPr>
          <p:nvPr>
            <p:ph idx="1"/>
          </p:nvPr>
        </p:nvPicPr>
        <p:blipFill>
          <a:blip r:embed="rId3"/>
          <a:stretch>
            <a:fillRect/>
          </a:stretch>
        </p:blipFill>
        <p:spPr>
          <a:xfrm>
            <a:off x="1042495" y="1563688"/>
            <a:ext cx="7059010" cy="1362265"/>
          </a:xfrm>
        </p:spPr>
      </p:pic>
      <p:sp>
        <p:nvSpPr>
          <p:cNvPr id="8" name="Title 7">
            <a:extLst>
              <a:ext uri="{FF2B5EF4-FFF2-40B4-BE49-F238E27FC236}">
                <a16:creationId xmlns:a16="http://schemas.microsoft.com/office/drawing/2014/main" id="{B19E0588-E3D7-DF63-7EEA-1006F18FBAFC}"/>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Results - Community quality</a:t>
            </a:r>
            <a:endParaRPr lang="en-GB" sz="2400" b="0" i="1" dirty="0"/>
          </a:p>
        </p:txBody>
      </p:sp>
      <p:sp>
        <p:nvSpPr>
          <p:cNvPr id="5" name="Date Placeholder 4">
            <a:extLst>
              <a:ext uri="{FF2B5EF4-FFF2-40B4-BE49-F238E27FC236}">
                <a16:creationId xmlns:a16="http://schemas.microsoft.com/office/drawing/2014/main" id="{3C9FEEA4-D47D-DDC7-6DE0-C6B3DB70FAE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5AA707FA-314C-E33E-AE2C-B04FC162372B}"/>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7FE91C6-F476-85C2-56A9-78634A9CE396}"/>
              </a:ext>
            </a:extLst>
          </p:cNvPr>
          <p:cNvSpPr>
            <a:spLocks noGrp="1"/>
          </p:cNvSpPr>
          <p:nvPr>
            <p:ph type="sldNum" sz="quarter" idx="12"/>
          </p:nvPr>
        </p:nvSpPr>
        <p:spPr/>
        <p:txBody>
          <a:bodyPr/>
          <a:lstStyle/>
          <a:p>
            <a:fld id="{E1E1CD7C-2161-7D43-862E-CE4C333CD873}" type="slidenum">
              <a:rPr lang="fr-FR" smtClean="0"/>
              <a:pPr/>
              <a:t>20</a:t>
            </a:fld>
            <a:endParaRPr lang="fr-FR" dirty="0"/>
          </a:p>
        </p:txBody>
      </p:sp>
      <p:pic>
        <p:nvPicPr>
          <p:cNvPr id="15" name="Picture 14" descr="A diagram of a function&#10;&#10;AI-generated content may be incorrect.">
            <a:extLst>
              <a:ext uri="{FF2B5EF4-FFF2-40B4-BE49-F238E27FC236}">
                <a16:creationId xmlns:a16="http://schemas.microsoft.com/office/drawing/2014/main" id="{E9753E3E-8898-F1C5-FF52-744802A0EA5D}"/>
              </a:ext>
            </a:extLst>
          </p:cNvPr>
          <p:cNvPicPr>
            <a:picLocks noChangeAspect="1"/>
          </p:cNvPicPr>
          <p:nvPr/>
        </p:nvPicPr>
        <p:blipFill>
          <a:blip r:embed="rId4"/>
          <a:stretch>
            <a:fillRect/>
          </a:stretch>
        </p:blipFill>
        <p:spPr>
          <a:xfrm>
            <a:off x="969105" y="3219074"/>
            <a:ext cx="7205790" cy="1366001"/>
          </a:xfrm>
          <a:prstGeom prst="rect">
            <a:avLst/>
          </a:prstGeom>
        </p:spPr>
      </p:pic>
    </p:spTree>
    <p:extLst>
      <p:ext uri="{BB962C8B-B14F-4D97-AF65-F5344CB8AC3E}">
        <p14:creationId xmlns:p14="http://schemas.microsoft.com/office/powerpoint/2010/main" val="151605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D0450-87CC-B892-CD5E-5FDD1BEC36BB}"/>
            </a:ext>
          </a:extLst>
        </p:cNvPr>
        <p:cNvGrpSpPr/>
        <p:nvPr/>
      </p:nvGrpSpPr>
      <p:grpSpPr>
        <a:xfrm>
          <a:off x="0" y="0"/>
          <a:ext cx="0" cy="0"/>
          <a:chOff x="0" y="0"/>
          <a:chExt cx="0" cy="0"/>
        </a:xfrm>
      </p:grpSpPr>
      <p:pic>
        <p:nvPicPr>
          <p:cNvPr id="20" name="Content Placeholder 19" descr="A black and white numbers and a black text&#10;&#10;AI-generated content may be incorrect.">
            <a:extLst>
              <a:ext uri="{FF2B5EF4-FFF2-40B4-BE49-F238E27FC236}">
                <a16:creationId xmlns:a16="http://schemas.microsoft.com/office/drawing/2014/main" id="{883F6102-F5D8-A4A8-C3F2-FD0B7BC8721C}"/>
              </a:ext>
            </a:extLst>
          </p:cNvPr>
          <p:cNvPicPr>
            <a:picLocks noGrp="1" noChangeAspect="1"/>
          </p:cNvPicPr>
          <p:nvPr>
            <p:ph idx="1"/>
          </p:nvPr>
        </p:nvPicPr>
        <p:blipFill>
          <a:blip r:embed="rId3"/>
          <a:stretch>
            <a:fillRect/>
          </a:stretch>
        </p:blipFill>
        <p:spPr>
          <a:xfrm>
            <a:off x="2039187" y="1203785"/>
            <a:ext cx="5065626" cy="1714739"/>
          </a:xfrm>
        </p:spPr>
      </p:pic>
      <p:sp>
        <p:nvSpPr>
          <p:cNvPr id="8" name="Title 7">
            <a:extLst>
              <a:ext uri="{FF2B5EF4-FFF2-40B4-BE49-F238E27FC236}">
                <a16:creationId xmlns:a16="http://schemas.microsoft.com/office/drawing/2014/main" id="{06BAACAB-1686-C9B5-D141-88B9CC16406E}"/>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Results - Query answering MRR</a:t>
            </a:r>
            <a:endParaRPr lang="en-GB" sz="2400" b="0" i="1" dirty="0"/>
          </a:p>
        </p:txBody>
      </p:sp>
      <p:sp>
        <p:nvSpPr>
          <p:cNvPr id="5" name="Date Placeholder 4">
            <a:extLst>
              <a:ext uri="{FF2B5EF4-FFF2-40B4-BE49-F238E27FC236}">
                <a16:creationId xmlns:a16="http://schemas.microsoft.com/office/drawing/2014/main" id="{10174105-35EB-085C-9C6E-3CCB66BCA1D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ED39476D-8E36-2EA3-32BA-78D270111F8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A47A278-501D-E7BC-EC68-51B362CBC2E9}"/>
              </a:ext>
            </a:extLst>
          </p:cNvPr>
          <p:cNvSpPr>
            <a:spLocks noGrp="1"/>
          </p:cNvSpPr>
          <p:nvPr>
            <p:ph type="sldNum" sz="quarter" idx="12"/>
          </p:nvPr>
        </p:nvSpPr>
        <p:spPr/>
        <p:txBody>
          <a:bodyPr/>
          <a:lstStyle/>
          <a:p>
            <a:fld id="{E1E1CD7C-2161-7D43-862E-CE4C333CD873}" type="slidenum">
              <a:rPr lang="fr-FR" smtClean="0"/>
              <a:pPr/>
              <a:t>21</a:t>
            </a:fld>
            <a:endParaRPr lang="fr-FR" dirty="0"/>
          </a:p>
        </p:txBody>
      </p:sp>
      <p:pic>
        <p:nvPicPr>
          <p:cNvPr id="22" name="Picture 21" descr="A black and white numbers and a white background&#10;&#10;AI-generated content may be incorrect.">
            <a:extLst>
              <a:ext uri="{FF2B5EF4-FFF2-40B4-BE49-F238E27FC236}">
                <a16:creationId xmlns:a16="http://schemas.microsoft.com/office/drawing/2014/main" id="{2C04E9D8-64D3-12EA-3977-D96FA62991EF}"/>
              </a:ext>
            </a:extLst>
          </p:cNvPr>
          <p:cNvPicPr>
            <a:picLocks noChangeAspect="1"/>
          </p:cNvPicPr>
          <p:nvPr/>
        </p:nvPicPr>
        <p:blipFill>
          <a:blip r:embed="rId4"/>
          <a:stretch>
            <a:fillRect/>
          </a:stretch>
        </p:blipFill>
        <p:spPr>
          <a:xfrm>
            <a:off x="2342839" y="2916100"/>
            <a:ext cx="4458322" cy="1971950"/>
          </a:xfrm>
          <a:prstGeom prst="rect">
            <a:avLst/>
          </a:prstGeom>
        </p:spPr>
      </p:pic>
    </p:spTree>
    <p:extLst>
      <p:ext uri="{BB962C8B-B14F-4D97-AF65-F5344CB8AC3E}">
        <p14:creationId xmlns:p14="http://schemas.microsoft.com/office/powerpoint/2010/main" val="225074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randombar(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67FB0-5114-15AA-E8DA-B0B5E37016C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24E2FF3-0889-52E1-DE22-50E27189E7C4}"/>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Results - Comparison to related work on KG scalability</a:t>
            </a:r>
            <a:endParaRPr lang="en-GB" sz="2400" b="0" i="1" dirty="0"/>
          </a:p>
        </p:txBody>
      </p:sp>
      <p:sp>
        <p:nvSpPr>
          <p:cNvPr id="5" name="Date Placeholder 4">
            <a:extLst>
              <a:ext uri="{FF2B5EF4-FFF2-40B4-BE49-F238E27FC236}">
                <a16:creationId xmlns:a16="http://schemas.microsoft.com/office/drawing/2014/main" id="{964582E7-A780-16E2-9631-904BE2F383E1}"/>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02B23728-D47A-636F-E3BC-C114B06171A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6309AE1-CF49-6074-F88D-2153418B028E}"/>
              </a:ext>
            </a:extLst>
          </p:cNvPr>
          <p:cNvSpPr>
            <a:spLocks noGrp="1"/>
          </p:cNvSpPr>
          <p:nvPr>
            <p:ph type="sldNum" sz="quarter" idx="12"/>
          </p:nvPr>
        </p:nvSpPr>
        <p:spPr/>
        <p:txBody>
          <a:bodyPr/>
          <a:lstStyle/>
          <a:p>
            <a:fld id="{E1E1CD7C-2161-7D43-862E-CE4C333CD873}" type="slidenum">
              <a:rPr lang="fr-FR" smtClean="0"/>
              <a:pPr/>
              <a:t>22</a:t>
            </a:fld>
            <a:endParaRPr lang="fr-FR" dirty="0"/>
          </a:p>
        </p:txBody>
      </p:sp>
      <p:pic>
        <p:nvPicPr>
          <p:cNvPr id="26" name="Content Placeholder 25" descr="A white rectangular object with black text&#10;&#10;AI-generated content may be incorrect.">
            <a:extLst>
              <a:ext uri="{FF2B5EF4-FFF2-40B4-BE49-F238E27FC236}">
                <a16:creationId xmlns:a16="http://schemas.microsoft.com/office/drawing/2014/main" id="{E18A97D9-BC9F-3D1B-2569-E525028B4F93}"/>
              </a:ext>
            </a:extLst>
          </p:cNvPr>
          <p:cNvPicPr>
            <a:picLocks noGrp="1" noChangeAspect="1"/>
          </p:cNvPicPr>
          <p:nvPr>
            <p:ph idx="1"/>
          </p:nvPr>
        </p:nvPicPr>
        <p:blipFill>
          <a:blip r:embed="rId3"/>
          <a:stretch>
            <a:fillRect/>
          </a:stretch>
        </p:blipFill>
        <p:spPr>
          <a:xfrm>
            <a:off x="2315026" y="2189807"/>
            <a:ext cx="4906060" cy="2133898"/>
          </a:xfrm>
        </p:spPr>
      </p:pic>
    </p:spTree>
    <p:extLst>
      <p:ext uri="{BB962C8B-B14F-4D97-AF65-F5344CB8AC3E}">
        <p14:creationId xmlns:p14="http://schemas.microsoft.com/office/powerpoint/2010/main" val="149080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D300-2CA8-C2AF-2845-48AADA6EEAD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166310-8F90-3690-6D79-348CE2319ED4}"/>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Results - Feasibility</a:t>
            </a:r>
            <a:endParaRPr lang="en-GB" sz="2400" b="0" i="1" dirty="0"/>
          </a:p>
        </p:txBody>
      </p:sp>
      <p:sp>
        <p:nvSpPr>
          <p:cNvPr id="5" name="Date Placeholder 4">
            <a:extLst>
              <a:ext uri="{FF2B5EF4-FFF2-40B4-BE49-F238E27FC236}">
                <a16:creationId xmlns:a16="http://schemas.microsoft.com/office/drawing/2014/main" id="{9461B1C2-7132-C6C9-D7F8-72DC69A85C30}"/>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F112822E-50DA-FEF4-7928-43932D422E01}"/>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C41A0F8-CE3C-52F9-E318-49801B1DECCC}"/>
              </a:ext>
            </a:extLst>
          </p:cNvPr>
          <p:cNvSpPr>
            <a:spLocks noGrp="1"/>
          </p:cNvSpPr>
          <p:nvPr>
            <p:ph type="sldNum" sz="quarter" idx="12"/>
          </p:nvPr>
        </p:nvSpPr>
        <p:spPr/>
        <p:txBody>
          <a:bodyPr/>
          <a:lstStyle/>
          <a:p>
            <a:fld id="{E1E1CD7C-2161-7D43-862E-CE4C333CD873}" type="slidenum">
              <a:rPr lang="fr-FR" smtClean="0"/>
              <a:pPr/>
              <a:t>23</a:t>
            </a:fld>
            <a:endParaRPr lang="fr-FR" dirty="0"/>
          </a:p>
        </p:txBody>
      </p:sp>
      <p:pic>
        <p:nvPicPr>
          <p:cNvPr id="9" name="Content Placeholder 8" descr="A close-up of several graphs&#10;&#10;AI-generated content may be incorrect.">
            <a:extLst>
              <a:ext uri="{FF2B5EF4-FFF2-40B4-BE49-F238E27FC236}">
                <a16:creationId xmlns:a16="http://schemas.microsoft.com/office/drawing/2014/main" id="{9E2574FB-F4D4-546E-D9BC-A8CC7E84B49B}"/>
              </a:ext>
            </a:extLst>
          </p:cNvPr>
          <p:cNvPicPr>
            <a:picLocks noGrp="1" noChangeAspect="1"/>
          </p:cNvPicPr>
          <p:nvPr>
            <p:ph idx="1"/>
          </p:nvPr>
        </p:nvPicPr>
        <p:blipFill>
          <a:blip r:embed="rId3"/>
          <a:stretch>
            <a:fillRect/>
          </a:stretch>
        </p:blipFill>
        <p:spPr>
          <a:xfrm>
            <a:off x="904875" y="2029782"/>
            <a:ext cx="7726363" cy="2453949"/>
          </a:xfrm>
        </p:spPr>
      </p:pic>
    </p:spTree>
    <p:extLst>
      <p:ext uri="{BB962C8B-B14F-4D97-AF65-F5344CB8AC3E}">
        <p14:creationId xmlns:p14="http://schemas.microsoft.com/office/powerpoint/2010/main" val="75578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EADA-0709-B6B2-BEF0-17EB992323D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BCE2E7A-778F-58B5-A87E-5F91CF902B82}"/>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sz="2400" dirty="0"/>
            </a:br>
            <a:r>
              <a:rPr lang="en-US" sz="2400" b="0" i="1" dirty="0"/>
              <a:t>Summary</a:t>
            </a:r>
            <a:r>
              <a:rPr lang="en-US" sz="2400" dirty="0"/>
              <a:t> </a:t>
            </a:r>
            <a:endParaRPr lang="en-GB" sz="2400" b="0" i="1" dirty="0"/>
          </a:p>
        </p:txBody>
      </p:sp>
      <p:sp>
        <p:nvSpPr>
          <p:cNvPr id="5" name="Date Placeholder 4">
            <a:extLst>
              <a:ext uri="{FF2B5EF4-FFF2-40B4-BE49-F238E27FC236}">
                <a16:creationId xmlns:a16="http://schemas.microsoft.com/office/drawing/2014/main" id="{B92DD391-F898-7752-0AE7-EFD61742DF9B}"/>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A542E73-49DD-69F3-D5AD-2317C98536F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B0F16A17-A304-C60E-EA35-524A6EF6A38D}"/>
              </a:ext>
            </a:extLst>
          </p:cNvPr>
          <p:cNvSpPr>
            <a:spLocks noGrp="1"/>
          </p:cNvSpPr>
          <p:nvPr>
            <p:ph type="sldNum" sz="quarter" idx="12"/>
          </p:nvPr>
        </p:nvSpPr>
        <p:spPr/>
        <p:txBody>
          <a:bodyPr/>
          <a:lstStyle/>
          <a:p>
            <a:fld id="{E1E1CD7C-2161-7D43-862E-CE4C333CD873}" type="slidenum">
              <a:rPr lang="fr-FR" smtClean="0"/>
              <a:pPr/>
              <a:t>24</a:t>
            </a:fld>
            <a:endParaRPr lang="fr-FR" dirty="0"/>
          </a:p>
        </p:txBody>
      </p:sp>
      <p:sp>
        <p:nvSpPr>
          <p:cNvPr id="3" name="Content Placeholder 2">
            <a:extLst>
              <a:ext uri="{FF2B5EF4-FFF2-40B4-BE49-F238E27FC236}">
                <a16:creationId xmlns:a16="http://schemas.microsoft.com/office/drawing/2014/main" id="{CFD8FD9C-2EC0-4B2B-2294-E381316F77DA}"/>
              </a:ext>
            </a:extLst>
          </p:cNvPr>
          <p:cNvSpPr>
            <a:spLocks noGrp="1"/>
          </p:cNvSpPr>
          <p:nvPr>
            <p:ph idx="1"/>
          </p:nvPr>
        </p:nvSpPr>
        <p:spPr/>
        <p:txBody>
          <a:bodyPr anchor="ctr"/>
          <a:lstStyle/>
          <a:p>
            <a:r>
              <a:rPr lang="en-US" dirty="0">
                <a:latin typeface="+mj-lt"/>
              </a:rPr>
              <a:t>Scalable method for knowledge graph reasoning - big data with small compute</a:t>
            </a:r>
          </a:p>
          <a:p>
            <a:r>
              <a:rPr lang="en-US" dirty="0">
                <a:latin typeface="+mj-lt"/>
              </a:rPr>
              <a:t>Model-based technique generalizable to diverse applications</a:t>
            </a:r>
          </a:p>
          <a:p>
            <a:r>
              <a:rPr lang="en-US" dirty="0">
                <a:latin typeface="+mj-lt"/>
              </a:rPr>
              <a:t>Theoretical and empirical arguments</a:t>
            </a:r>
          </a:p>
          <a:p>
            <a:r>
              <a:rPr lang="en-US" dirty="0">
                <a:latin typeface="+mj-lt"/>
              </a:rPr>
              <a:t>Community quality highly relevant</a:t>
            </a:r>
          </a:p>
          <a:p>
            <a:r>
              <a:rPr lang="en-US" dirty="0">
                <a:latin typeface="+mj-lt"/>
              </a:rPr>
              <a:t>Global and local graph representation learning - holism + reductionism</a:t>
            </a:r>
          </a:p>
          <a:p>
            <a:r>
              <a:rPr lang="en-US" dirty="0">
                <a:latin typeface="+mj-lt"/>
              </a:rPr>
              <a:t>Future experiments</a:t>
            </a:r>
          </a:p>
          <a:p>
            <a:pPr lvl="1"/>
            <a:r>
              <a:rPr lang="en-US" dirty="0">
                <a:latin typeface="+mj-lt"/>
              </a:rPr>
              <a:t>Integration with more powerful KG models, such as graph transformers</a:t>
            </a:r>
          </a:p>
          <a:p>
            <a:pPr lvl="1"/>
            <a:r>
              <a:rPr lang="en-US" dirty="0">
                <a:latin typeface="+mj-lt"/>
              </a:rPr>
              <a:t>Larger non-standard public knowledge bases</a:t>
            </a:r>
          </a:p>
        </p:txBody>
      </p:sp>
    </p:spTree>
    <p:extLst>
      <p:ext uri="{BB962C8B-B14F-4D97-AF65-F5344CB8AC3E}">
        <p14:creationId xmlns:p14="http://schemas.microsoft.com/office/powerpoint/2010/main" val="317819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5" dur="500"/>
                                        <p:tgtEl>
                                          <p:spTgt spid="3">
                                            <p:txEl>
                                              <p:pRg st="6" end="6"/>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002073-8438-A969-719E-055D70512F7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666B6DA-7DAD-8E37-207B-AECF04FF129C}"/>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sz="2400" dirty="0"/>
            </a:br>
            <a:r>
              <a:rPr lang="en-US" sz="2400" b="0" i="1" dirty="0"/>
              <a:t>*Distributed extension - Idea</a:t>
            </a:r>
            <a:endParaRPr lang="en-GB" sz="2400" b="0" i="1" dirty="0"/>
          </a:p>
        </p:txBody>
      </p:sp>
      <p:sp>
        <p:nvSpPr>
          <p:cNvPr id="5" name="Date Placeholder 4">
            <a:extLst>
              <a:ext uri="{FF2B5EF4-FFF2-40B4-BE49-F238E27FC236}">
                <a16:creationId xmlns:a16="http://schemas.microsoft.com/office/drawing/2014/main" id="{3F097AF7-90DC-8B8F-F25C-9807AB709A1F}"/>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4BA05B8-029C-5548-06CF-4C7FBAAFF64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40B5D2A-46C3-1163-BB7A-20EB1BE42B6D}"/>
              </a:ext>
            </a:extLst>
          </p:cNvPr>
          <p:cNvSpPr>
            <a:spLocks noGrp="1"/>
          </p:cNvSpPr>
          <p:nvPr>
            <p:ph type="sldNum" sz="quarter" idx="12"/>
          </p:nvPr>
        </p:nvSpPr>
        <p:spPr/>
        <p:txBody>
          <a:bodyPr/>
          <a:lstStyle/>
          <a:p>
            <a:fld id="{E1E1CD7C-2161-7D43-862E-CE4C333CD873}" type="slidenum">
              <a:rPr lang="fr-FR" smtClean="0"/>
              <a:pPr/>
              <a:t>25</a:t>
            </a:fld>
            <a:endParaRPr lang="fr-F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27F43F-5DB2-9221-A682-466FFB71E2CE}"/>
                  </a:ext>
                </a:extLst>
              </p:cNvPr>
              <p:cNvSpPr>
                <a:spLocks noGrp="1"/>
              </p:cNvSpPr>
              <p:nvPr>
                <p:ph idx="1"/>
              </p:nvPr>
            </p:nvSpPr>
            <p:spPr/>
            <p:txBody>
              <a:bodyPr anchor="ctr">
                <a:normAutofit/>
              </a:bodyPr>
              <a:lstStyle/>
              <a:p>
                <a:r>
                  <a:rPr lang="en-US" dirty="0">
                    <a:latin typeface="+mj-lt"/>
                  </a:rPr>
                  <a:t>Scalability still possible beyond a single machine</a:t>
                </a:r>
              </a:p>
              <a:p>
                <a:r>
                  <a:rPr lang="en-US" dirty="0">
                    <a:latin typeface="+mj-lt"/>
                  </a:rPr>
                  <a:t>Previous work - data &amp; model parallelism scaling only linearly with compute</a:t>
                </a:r>
              </a:p>
              <a:p>
                <a:r>
                  <a:rPr lang="en-US" dirty="0">
                    <a:latin typeface="+mj-lt"/>
                  </a:rPr>
                  <a:t>Distributed COINs</a:t>
                </a:r>
              </a:p>
              <a:p>
                <a:pPr lvl="1"/>
                <a:r>
                  <a:rPr lang="en-US" dirty="0">
                    <a:latin typeface="+mj-lt"/>
                  </a:rPr>
                  <a:t>Partial model parallelism for additional scalability benefits</a:t>
                </a:r>
              </a:p>
              <a:p>
                <a:pPr lvl="1"/>
                <a:r>
                  <a:rPr lang="en-US" dirty="0">
                    <a:latin typeface="+mj-lt"/>
                  </a:rPr>
                  <a:t>Step II sub-models are completely independent, but must wait for Step I results</a:t>
                </a:r>
              </a:p>
              <a:p>
                <a:pPr lvl="1"/>
                <a:r>
                  <a:rPr lang="en-US" dirty="0">
                    <a:latin typeface="+mj-lt"/>
                  </a:rPr>
                  <a:t>Assumption: given set of machines </a:t>
                </a:r>
                <a14:m>
                  <m:oMath xmlns:m="http://schemas.openxmlformats.org/officeDocument/2006/math">
                    <m:r>
                      <a:rPr lang="en-US" b="0" i="1" smtClean="0">
                        <a:latin typeface="Cambria Math" panose="02040503050406030204" pitchFamily="18" charset="0"/>
                      </a:rPr>
                      <m:t>𝑈</m:t>
                    </m:r>
                  </m:oMath>
                </a14:m>
                <a:endParaRPr lang="en-US" dirty="0">
                  <a:latin typeface="+mj-lt"/>
                </a:endParaRPr>
              </a:p>
              <a:p>
                <a:pPr lvl="1"/>
                <a:r>
                  <a:rPr lang="en-US" dirty="0">
                    <a:latin typeface="+mj-lt"/>
                  </a:rPr>
                  <a:t>Assign Step I and aggregation steps to a </a:t>
                </a:r>
                <a:r>
                  <a:rPr lang="en-US" i="1" dirty="0">
                    <a:latin typeface="+mj-lt"/>
                  </a:rPr>
                  <a:t>leader</a:t>
                </a:r>
                <a:r>
                  <a:rPr lang="en-US" dirty="0">
                    <a:latin typeface="+mj-lt"/>
                  </a:rPr>
                  <a:t> node </a:t>
                </a:r>
                <a14:m>
                  <m:oMath xmlns:m="http://schemas.openxmlformats.org/officeDocument/2006/math">
                    <m:sSup>
                      <m:sSupPr>
                        <m:ctrlPr>
                          <a:rPr lang="en-US" b="0" i="1" smtClean="0">
                            <a:latin typeface="Cambria Math" panose="02040503050406030204" pitchFamily="18" charset="0"/>
                          </a:rPr>
                        </m:ctrlPr>
                      </m:sSupPr>
                      <m:e>
                        <m:r>
                          <a:rPr lang="en-US">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i="1">
                        <a:latin typeface="Cambria Math" panose="02040503050406030204" pitchFamily="18" charset="0"/>
                      </a:rPr>
                      <m:t>𝑈</m:t>
                    </m:r>
                  </m:oMath>
                </a14:m>
                <a:endParaRPr lang="en-US" dirty="0">
                  <a:latin typeface="+mj-lt"/>
                </a:endParaRPr>
              </a:p>
              <a:p>
                <a:pPr lvl="1"/>
                <a:r>
                  <a:rPr lang="en-US" dirty="0">
                    <a:latin typeface="+mj-lt"/>
                  </a:rPr>
                  <a:t>Pre-compute optimal </a:t>
                </a:r>
                <a:r>
                  <a:rPr lang="en-US" i="1" dirty="0">
                    <a:latin typeface="+mj-lt"/>
                  </a:rPr>
                  <a:t>follower</a:t>
                </a:r>
                <a:r>
                  <a:rPr lang="en-US" dirty="0">
                    <a:latin typeface="+mj-lt"/>
                  </a:rPr>
                  <a:t> machine assignment for Step II models</a:t>
                </a:r>
              </a:p>
              <a:p>
                <a:pPr lvl="1"/>
                <a:r>
                  <a:rPr lang="en-US" dirty="0">
                    <a:latin typeface="+mj-lt"/>
                  </a:rPr>
                  <a:t>Leader async sends Step II input, sync waits for Step II output</a:t>
                </a:r>
              </a:p>
            </p:txBody>
          </p:sp>
        </mc:Choice>
        <mc:Fallback xmlns="">
          <p:sp>
            <p:nvSpPr>
              <p:cNvPr id="3" name="Content Placeholder 2">
                <a:extLst>
                  <a:ext uri="{FF2B5EF4-FFF2-40B4-BE49-F238E27FC236}">
                    <a16:creationId xmlns:a16="http://schemas.microsoft.com/office/drawing/2014/main" id="{1027F43F-5DB2-9221-A682-466FFB71E2C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1866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6" dur="500"/>
                                        <p:tgtEl>
                                          <p:spTgt spid="3">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9" dur="500"/>
                                        <p:tgtEl>
                                          <p:spTgt spid="3">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2" dur="500"/>
                                        <p:tgtEl>
                                          <p:spTgt spid="3">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55D1A6-614F-5795-78DF-CFDFC0FB003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E8CC38B-68D9-43B4-A864-8C610F0133CB}"/>
              </a:ext>
            </a:extLst>
          </p:cNvPr>
          <p:cNvSpPr>
            <a:spLocks noGrp="1"/>
          </p:cNvSpPr>
          <p:nvPr>
            <p:ph type="title"/>
          </p:nvPr>
        </p:nvSpPr>
        <p:spPr>
          <a:xfrm>
            <a:off x="904875" y="131032"/>
            <a:ext cx="7726363" cy="1072753"/>
          </a:xfrm>
        </p:spPr>
        <p:txBody>
          <a:bodyPr>
            <a:normAutofit/>
          </a:bodyPr>
          <a:lstStyle/>
          <a:p>
            <a:r>
              <a:rPr lang="en-US" dirty="0"/>
              <a:t>3.1	Community-Informed Graph Embeddings</a:t>
            </a:r>
            <a:br>
              <a:rPr lang="en-US" dirty="0"/>
            </a:br>
            <a:r>
              <a:rPr lang="en-US" sz="2400" b="0" i="1" dirty="0"/>
              <a:t>*Distributed extension - Outcomes</a:t>
            </a:r>
            <a:endParaRPr lang="en-GB" sz="2400" b="0" i="1" dirty="0"/>
          </a:p>
        </p:txBody>
      </p:sp>
      <p:sp>
        <p:nvSpPr>
          <p:cNvPr id="5" name="Date Placeholder 4">
            <a:extLst>
              <a:ext uri="{FF2B5EF4-FFF2-40B4-BE49-F238E27FC236}">
                <a16:creationId xmlns:a16="http://schemas.microsoft.com/office/drawing/2014/main" id="{3E0739CF-3D54-0FCD-1157-258B413C7D0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FB865264-99B6-B5F7-D722-CAD67E6B826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0B50AB7-A80D-7250-A751-02093080075F}"/>
              </a:ext>
            </a:extLst>
          </p:cNvPr>
          <p:cNvSpPr>
            <a:spLocks noGrp="1"/>
          </p:cNvSpPr>
          <p:nvPr>
            <p:ph type="sldNum" sz="quarter" idx="12"/>
          </p:nvPr>
        </p:nvSpPr>
        <p:spPr/>
        <p:txBody>
          <a:bodyPr/>
          <a:lstStyle/>
          <a:p>
            <a:fld id="{E1E1CD7C-2161-7D43-862E-CE4C333CD873}" type="slidenum">
              <a:rPr lang="fr-FR" smtClean="0"/>
              <a:pPr/>
              <a:t>26</a:t>
            </a:fld>
            <a:endParaRPr lang="fr-F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16877D-B56F-197B-F4C5-29A8C535CE58}"/>
                  </a:ext>
                </a:extLst>
              </p:cNvPr>
              <p:cNvSpPr>
                <a:spLocks noGrp="1"/>
              </p:cNvSpPr>
              <p:nvPr>
                <p:ph idx="1"/>
              </p:nvPr>
            </p:nvSpPr>
            <p:spPr/>
            <p:txBody>
              <a:bodyPr anchor="ctr">
                <a:normAutofit fontScale="92500" lnSpcReduction="10000"/>
              </a:bodyPr>
              <a:lstStyle/>
              <a:p>
                <a:r>
                  <a:rPr lang="en-US" dirty="0">
                    <a:latin typeface="+mj-lt"/>
                  </a:rPr>
                  <a:t>Updated complexity and bounds</a:t>
                </a:r>
              </a:p>
              <a:p>
                <a:pPr marL="3429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2</m:t>
                          </m:r>
                        </m:den>
                      </m:f>
                      <m:rad>
                        <m:radPr>
                          <m:ctrlPr>
                            <a:rPr lang="en-US" i="1">
                              <a:latin typeface="Cambria Math" panose="02040503050406030204" pitchFamily="18" charset="0"/>
                            </a:rPr>
                          </m:ctrlPr>
                        </m:radPr>
                        <m:deg>
                          <m:r>
                            <a:rPr lang="en-US" i="1" smtClean="0">
                              <a:solidFill>
                                <a:srgbClr val="0000FF"/>
                              </a:solidFill>
                              <a:latin typeface="Cambria Math" panose="02040503050406030204" pitchFamily="18" charset="0"/>
                            </a:rPr>
                            <m:t>3</m:t>
                          </m:r>
                        </m:deg>
                        <m:e>
                          <m:r>
                            <a:rPr lang="en-US" i="1">
                              <a:latin typeface="Cambria Math" panose="02040503050406030204" pitchFamily="18" charset="0"/>
                            </a:rPr>
                            <m:t>2</m:t>
                          </m:r>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e>
                      </m:rad>
                      <m:r>
                        <a:rPr lang="en-US" i="1">
                          <a:latin typeface="Cambria Math" panose="02040503050406030204" pitchFamily="18" charset="0"/>
                        </a:rPr>
                        <m:t>≤</m:t>
                      </m:r>
                      <m:r>
                        <a:rPr lang="en-US" i="1">
                          <a:latin typeface="Cambria Math" panose="02040503050406030204" pitchFamily="18" charset="0"/>
                        </a:rPr>
                        <m:t>𝐾𝑁</m:t>
                      </m:r>
                      <m:r>
                        <a:rPr lang="en-US" i="1">
                          <a:latin typeface="Cambria Math" panose="02040503050406030204" pitchFamily="18" charset="0"/>
                        </a:rPr>
                        <m:t>+</m:t>
                      </m:r>
                      <m:func>
                        <m:funcPr>
                          <m:ctrlPr>
                            <a:rPr lang="en-US" i="1">
                              <a:latin typeface="Cambria Math" panose="02040503050406030204" pitchFamily="18" charset="0"/>
                            </a:rPr>
                          </m:ctrlPr>
                        </m:funcPr>
                        <m:fName>
                          <m:sSubSup>
                            <m:sSubSupPr>
                              <m:ctrlPr>
                                <a:rPr lang="en-US" i="1" smtClean="0">
                                  <a:solidFill>
                                    <a:srgbClr val="0000FF"/>
                                  </a:solidFill>
                                  <a:latin typeface="Cambria Math" panose="02040503050406030204" pitchFamily="18" charset="0"/>
                                </a:rPr>
                              </m:ctrlPr>
                            </m:sSubSupPr>
                            <m:e>
                              <m:r>
                                <m:rPr>
                                  <m:sty m:val="p"/>
                                </m:rPr>
                                <a:rPr lang="en-US" i="0">
                                  <a:solidFill>
                                    <a:srgbClr val="0000FF"/>
                                  </a:solidFill>
                                  <a:latin typeface="Cambria Math" panose="02040503050406030204" pitchFamily="18" charset="0"/>
                                </a:rPr>
                                <m:t>max</m:t>
                              </m:r>
                            </m:e>
                            <m:sub>
                              <m:r>
                                <a:rPr lang="en-US" i="1">
                                  <a:solidFill>
                                    <a:srgbClr val="0000FF"/>
                                  </a:solidFill>
                                  <a:latin typeface="Cambria Math" panose="02040503050406030204" pitchFamily="18" charset="0"/>
                                </a:rPr>
                                <m:t>𝑙</m:t>
                              </m:r>
                              <m:r>
                                <a:rPr lang="en-US" i="1">
                                  <a:solidFill>
                                    <a:srgbClr val="0000FF"/>
                                  </a:solidFill>
                                  <a:latin typeface="Cambria Math" panose="02040503050406030204" pitchFamily="18" charset="0"/>
                                </a:rPr>
                                <m:t>=1</m:t>
                              </m:r>
                            </m:sub>
                            <m:sup>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𝑈</m:t>
                                  </m:r>
                                </m:e>
                              </m:d>
                            </m:sup>
                          </m:sSubSup>
                        </m:fName>
                        <m:e>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𝐾</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𝑘</m:t>
                                          </m:r>
                                        </m:sub>
                                      </m:sSub>
                                      <m:sSub>
                                        <m:sSubPr>
                                          <m:ctrlPr>
                                            <a:rPr lang="en-US" i="1" smtClean="0">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𝛿</m:t>
                                          </m:r>
                                        </m:e>
                                        <m:sub>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𝑙</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𝑘</m:t>
                                              </m:r>
                                            </m:sub>
                                          </m:sSub>
                                        </m:e>
                                      </m:d>
                                      <m:sSub>
                                        <m:sSubPr>
                                          <m:ctrlPr>
                                            <a:rPr lang="en-US" i="1" smtClean="0">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𝛿</m:t>
                                          </m:r>
                                        </m:e>
                                        <m:sub>
                                          <m:r>
                                            <a:rPr lang="en-US" b="0" i="1" smtClean="0">
                                              <a:solidFill>
                                                <a:srgbClr val="0000FF"/>
                                              </a:solidFill>
                                              <a:latin typeface="Cambria Math" panose="02040503050406030204" pitchFamily="18" charset="0"/>
                                            </a:rPr>
                                            <m:t>∗</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𝑙</m:t>
                                          </m:r>
                                        </m:sub>
                                      </m:sSub>
                                    </m:e>
                                  </m:d>
                                </m:e>
                              </m:nary>
                            </m:e>
                          </m:d>
                        </m:e>
                      </m:func>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+1</m:t>
                          </m:r>
                        </m:e>
                      </m:d>
                    </m:oMath>
                  </m:oMathPara>
                </a14:m>
                <a:endParaRPr lang="en-US" dirty="0">
                  <a:latin typeface="+mj-lt"/>
                </a:endParaRPr>
              </a:p>
              <a:p>
                <a:r>
                  <a:rPr lang="en-US" dirty="0">
                    <a:latin typeface="+mj-lt"/>
                  </a:rPr>
                  <a:t>Issues</a:t>
                </a:r>
              </a:p>
              <a:p>
                <a:pPr lvl="1"/>
                <a:r>
                  <a:rPr lang="en-US" dirty="0">
                    <a:latin typeface="+mj-lt"/>
                  </a:rPr>
                  <a:t>Cubic speed-ups only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rad>
                      <m:radPr>
                        <m:ctrlPr>
                          <a:rPr lang="en-US" i="1">
                            <a:latin typeface="Cambria Math" panose="02040503050406030204" pitchFamily="18" charset="0"/>
                          </a:rPr>
                        </m:ctrlPr>
                      </m:radPr>
                      <m:deg>
                        <m:r>
                          <a:rPr lang="en-US" i="1" smtClean="0">
                            <a:solidFill>
                              <a:srgbClr val="000000"/>
                            </a:solidFill>
                            <a:latin typeface="Cambria Math" panose="02040503050406030204" pitchFamily="18" charset="0"/>
                          </a:rPr>
                          <m:t>3</m:t>
                        </m:r>
                      </m:deg>
                      <m:e>
                        <m:r>
                          <a:rPr lang="en-US" i="1">
                            <a:latin typeface="Cambria Math" panose="02040503050406030204" pitchFamily="18" charset="0"/>
                          </a:rPr>
                          <m:t>2</m:t>
                        </m:r>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e>
                    </m:rad>
                  </m:oMath>
                </a14:m>
                <a:endParaRPr lang="en-US" dirty="0">
                  <a:latin typeface="+mj-lt"/>
                </a:endParaRPr>
              </a:p>
              <a:p>
                <a:pPr lvl="1"/>
                <a:r>
                  <a:rPr lang="en-US" dirty="0">
                    <a:latin typeface="+mj-lt"/>
                  </a:rPr>
                  <a:t>Too few communities, harder to preserve baseline performance</a:t>
                </a:r>
              </a:p>
              <a:p>
                <a:pPr lvl="1"/>
                <a:r>
                  <a:rPr lang="en-US" dirty="0">
                    <a:latin typeface="+mj-lt"/>
                  </a:rPr>
                  <a:t>Need to equalize load per machine - 0-1 Knapsack</a:t>
                </a:r>
              </a:p>
              <a:p>
                <a:pPr lvl="1"/>
                <a:r>
                  <a:rPr lang="en-US" dirty="0">
                    <a:latin typeface="+mj-lt"/>
                  </a:rPr>
                  <a:t>In practice at most 1.5x additional speed-up from distribution</a:t>
                </a:r>
              </a:p>
              <a:p>
                <a:r>
                  <a:rPr lang="en-US" dirty="0">
                    <a:latin typeface="+mj-lt"/>
                  </a:rPr>
                  <a:t>Balanced partition problem for optimal Step II assignment</a:t>
                </a:r>
              </a:p>
              <a:p>
                <a:pPr lvl="1"/>
                <a:r>
                  <a:rPr lang="en-US" dirty="0">
                    <a:latin typeface="+mj-lt"/>
                  </a:rPr>
                  <a:t>Brute-force: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e>
                            </m:d>
                          </m:e>
                          <m:sup>
                            <m:r>
                              <a:rPr lang="en-US" b="0" i="1" smtClean="0">
                                <a:latin typeface="Cambria Math" panose="02040503050406030204" pitchFamily="18" charset="0"/>
                              </a:rPr>
                              <m:t>𝐾</m:t>
                            </m:r>
                          </m:sup>
                        </m:sSup>
                      </m:e>
                    </m:d>
                  </m:oMath>
                </a14:m>
                <a:r>
                  <a:rPr lang="en-US" dirty="0">
                    <a:latin typeface="+mj-lt"/>
                  </a:rPr>
                  <a:t> (infeasible)</a:t>
                </a:r>
              </a:p>
              <a:p>
                <a:pPr lvl="1"/>
                <a:r>
                  <a:rPr lang="en-US" dirty="0">
                    <a:latin typeface="+mj-lt"/>
                  </a:rPr>
                  <a:t>Dynamic programming: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b="0" i="1" smtClean="0">
                                <a:latin typeface="Cambria Math" panose="02040503050406030204" pitchFamily="18" charset="0"/>
                              </a:rPr>
                              <m:t>𝐾𝑆</m:t>
                            </m:r>
                          </m:e>
                          <m: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|−1</m:t>
                            </m:r>
                          </m:sup>
                        </m:sSup>
                      </m:e>
                    </m:d>
                  </m:oMath>
                </a14:m>
                <a:r>
                  <a:rPr lang="en-US" dirty="0">
                    <a:latin typeface="+mj-lt"/>
                  </a:rPr>
                  <a:t> (impractical)</a:t>
                </a:r>
              </a:p>
              <a:p>
                <a:pPr lvl="1"/>
                <a:r>
                  <a:rPr lang="en-US" dirty="0">
                    <a:latin typeface="+mj-lt"/>
                  </a:rPr>
                  <a:t>Greedy: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𝐾</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𝐾</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e>
                                </m:d>
                              </m:e>
                            </m:d>
                          </m:e>
                        </m:func>
                      </m:e>
                    </m:d>
                  </m:oMath>
                </a14:m>
                <a:r>
                  <a:rPr lang="en-US" dirty="0">
                    <a:latin typeface="+mj-lt"/>
                  </a:rPr>
                  <a:t> (inexact but scalable)</a:t>
                </a:r>
              </a:p>
            </p:txBody>
          </p:sp>
        </mc:Choice>
        <mc:Fallback xmlns="">
          <p:sp>
            <p:nvSpPr>
              <p:cNvPr id="3" name="Content Placeholder 2">
                <a:extLst>
                  <a:ext uri="{FF2B5EF4-FFF2-40B4-BE49-F238E27FC236}">
                    <a16:creationId xmlns:a16="http://schemas.microsoft.com/office/drawing/2014/main" id="{3C16877D-B56F-197B-F4C5-29A8C535CE58}"/>
                  </a:ext>
                </a:extLst>
              </p:cNvPr>
              <p:cNvSpPr>
                <a:spLocks noGrp="1" noRot="1" noChangeAspect="1" noMove="1" noResize="1" noEditPoints="1" noAdjustHandles="1" noChangeArrowheads="1" noChangeShapeType="1" noTextEdit="1"/>
              </p:cNvSpPr>
              <p:nvPr>
                <p:ph idx="1"/>
              </p:nvPr>
            </p:nvSpPr>
            <p:spPr>
              <a:blipFill>
                <a:blip r:embed="rId3"/>
                <a:stretch>
                  <a:fillRect t="-541" b="-360"/>
                </a:stretch>
              </a:blipFill>
            </p:spPr>
            <p:txBody>
              <a:bodyPr/>
              <a:lstStyle/>
              <a:p>
                <a:r>
                  <a:rPr lang="en-GB">
                    <a:noFill/>
                  </a:rPr>
                  <a:t> </a:t>
                </a:r>
              </a:p>
            </p:txBody>
          </p:sp>
        </mc:Fallback>
      </mc:AlternateContent>
    </p:spTree>
    <p:extLst>
      <p:ext uri="{BB962C8B-B14F-4D97-AF65-F5344CB8AC3E}">
        <p14:creationId xmlns:p14="http://schemas.microsoft.com/office/powerpoint/2010/main" val="282421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4" dur="500"/>
                                        <p:tgtEl>
                                          <p:spTgt spid="3">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2" dur="500"/>
                                        <p:tgtEl>
                                          <p:spTgt spid="3">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5" dur="500"/>
                                        <p:tgtEl>
                                          <p:spTgt spid="3">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38" dur="500"/>
                                        <p:tgtEl>
                                          <p:spTgt spid="3">
                                            <p:txEl>
                                              <p:pRg st="9" end="9"/>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96763-2499-4BFA-8670-B3703031A1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E45940-5989-BBDA-7851-84547BE24E8B}"/>
              </a:ext>
            </a:extLst>
          </p:cNvPr>
          <p:cNvSpPr>
            <a:spLocks noGrp="1"/>
          </p:cNvSpPr>
          <p:nvPr>
            <p:ph sz="half" idx="1"/>
          </p:nvPr>
        </p:nvSpPr>
        <p:spPr>
          <a:xfrm>
            <a:off x="904874" y="1563688"/>
            <a:ext cx="4177079" cy="3263504"/>
          </a:xfrm>
        </p:spPr>
        <p:txBody>
          <a:bodyPr anchor="ctr">
            <a:normAutofit/>
          </a:bodyPr>
          <a:lstStyle/>
          <a:p>
            <a:r>
              <a:rPr lang="en-US" dirty="0">
                <a:latin typeface="+mj-lt"/>
              </a:rPr>
              <a:t>Applications</a:t>
            </a:r>
          </a:p>
          <a:p>
            <a:pPr lvl="1"/>
            <a:r>
              <a:rPr lang="en-US" dirty="0">
                <a:latin typeface="+mj-lt"/>
              </a:rPr>
              <a:t>Journalism</a:t>
            </a:r>
          </a:p>
          <a:p>
            <a:pPr lvl="1"/>
            <a:r>
              <a:rPr lang="en-US" dirty="0">
                <a:latin typeface="+mj-lt"/>
              </a:rPr>
              <a:t>Biomedicine</a:t>
            </a:r>
          </a:p>
          <a:p>
            <a:pPr lvl="1"/>
            <a:r>
              <a:rPr lang="en-US" dirty="0">
                <a:latin typeface="+mj-lt"/>
              </a:rPr>
              <a:t>Social networks</a:t>
            </a:r>
          </a:p>
          <a:p>
            <a:pPr lvl="1"/>
            <a:r>
              <a:rPr lang="en-US" dirty="0">
                <a:latin typeface="+mj-lt"/>
              </a:rPr>
              <a:t>Forensics, security</a:t>
            </a:r>
          </a:p>
          <a:p>
            <a:pPr lvl="1"/>
            <a:r>
              <a:rPr lang="en-US" dirty="0">
                <a:latin typeface="+mj-lt"/>
              </a:rPr>
              <a:t>Telecommunications…</a:t>
            </a:r>
          </a:p>
          <a:p>
            <a:r>
              <a:rPr lang="en-US" dirty="0">
                <a:latin typeface="+mj-lt"/>
              </a:rPr>
              <a:t>Monty</a:t>
            </a:r>
          </a:p>
          <a:p>
            <a:pPr lvl="1"/>
            <a:r>
              <a:rPr lang="en-US" dirty="0">
                <a:latin typeface="+mj-lt"/>
              </a:rPr>
              <a:t>Knowledge base of Swisscom</a:t>
            </a:r>
          </a:p>
          <a:p>
            <a:pPr lvl="1"/>
            <a:r>
              <a:rPr lang="en-US" dirty="0">
                <a:latin typeface="+mj-lt"/>
              </a:rPr>
              <a:t>Analyze infrastructure, predict &amp; diagnose defects, aid customer support…</a:t>
            </a:r>
          </a:p>
        </p:txBody>
      </p:sp>
      <p:sp>
        <p:nvSpPr>
          <p:cNvPr id="8" name="Title 7">
            <a:extLst>
              <a:ext uri="{FF2B5EF4-FFF2-40B4-BE49-F238E27FC236}">
                <a16:creationId xmlns:a16="http://schemas.microsoft.com/office/drawing/2014/main" id="{819DBEA4-D44A-0617-CD81-99B7FF4B4AE4}"/>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Motivation - Knowledge Graph Reasoning in Industry</a:t>
            </a:r>
            <a:endParaRPr lang="en-GB" sz="2400" b="0" i="1" dirty="0"/>
          </a:p>
        </p:txBody>
      </p:sp>
      <p:sp>
        <p:nvSpPr>
          <p:cNvPr id="5" name="Date Placeholder 4">
            <a:extLst>
              <a:ext uri="{FF2B5EF4-FFF2-40B4-BE49-F238E27FC236}">
                <a16:creationId xmlns:a16="http://schemas.microsoft.com/office/drawing/2014/main" id="{29B1E48F-7C2A-3644-CB31-4FA37A28D241}"/>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BB2C8337-F038-4FDD-F305-6BE2914D284D}"/>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326CA10-E54B-BBA2-EC42-6F210AFB38BE}"/>
              </a:ext>
            </a:extLst>
          </p:cNvPr>
          <p:cNvSpPr>
            <a:spLocks noGrp="1"/>
          </p:cNvSpPr>
          <p:nvPr>
            <p:ph type="sldNum" sz="quarter" idx="12"/>
          </p:nvPr>
        </p:nvSpPr>
        <p:spPr/>
        <p:txBody>
          <a:bodyPr/>
          <a:lstStyle/>
          <a:p>
            <a:fld id="{E1E1CD7C-2161-7D43-862E-CE4C333CD873}" type="slidenum">
              <a:rPr lang="fr-FR" smtClean="0"/>
              <a:pPr/>
              <a:t>27</a:t>
            </a:fld>
            <a:endParaRPr lang="fr-FR" dirty="0"/>
          </a:p>
        </p:txBody>
      </p:sp>
      <p:pic>
        <p:nvPicPr>
          <p:cNvPr id="9" name="Content Placeholder 8">
            <a:extLst>
              <a:ext uri="{FF2B5EF4-FFF2-40B4-BE49-F238E27FC236}">
                <a16:creationId xmlns:a16="http://schemas.microsoft.com/office/drawing/2014/main" id="{64B66164-69EB-020C-2554-FBDE32A160F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59350" y="2698403"/>
            <a:ext cx="3671888" cy="994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05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7" dur="500"/>
                                        <p:tgtEl>
                                          <p:spTgt spid="2">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0" dur="500"/>
                                        <p:tgtEl>
                                          <p:spTgt spid="2">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3" dur="500"/>
                                        <p:tgtEl>
                                          <p:spTgt spid="2">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randombar(horizontal)">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A3BFE-4C0D-3CF3-6A21-E8A2535948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877CD0-814C-0595-8F7B-07CE78A86B4E}"/>
              </a:ext>
            </a:extLst>
          </p:cNvPr>
          <p:cNvSpPr>
            <a:spLocks noGrp="1"/>
          </p:cNvSpPr>
          <p:nvPr>
            <p:ph sz="half" idx="1"/>
          </p:nvPr>
        </p:nvSpPr>
        <p:spPr>
          <a:xfrm>
            <a:off x="904874" y="1563688"/>
            <a:ext cx="4054475" cy="3263504"/>
          </a:xfrm>
        </p:spPr>
        <p:txBody>
          <a:bodyPr anchor="ctr">
            <a:normAutofit/>
          </a:bodyPr>
          <a:lstStyle/>
          <a:p>
            <a:r>
              <a:rPr lang="en-US" dirty="0">
                <a:latin typeface="+mj-lt"/>
              </a:rPr>
              <a:t>History of COINs </a:t>
            </a:r>
            <a:r>
              <a:rPr lang="en-US" dirty="0">
                <a:solidFill>
                  <a:schemeClr val="accent1"/>
                </a:solidFill>
                <a:latin typeface="+mj-lt"/>
              </a:rPr>
              <a:t>[15]</a:t>
            </a:r>
          </a:p>
          <a:p>
            <a:pPr lvl="1"/>
            <a:r>
              <a:rPr lang="en-US" dirty="0">
                <a:latin typeface="+mj-lt"/>
              </a:rPr>
              <a:t>First version successful on Monty samples</a:t>
            </a:r>
          </a:p>
          <a:p>
            <a:pPr lvl="1"/>
            <a:r>
              <a:rPr lang="en-US" dirty="0">
                <a:latin typeface="+mj-lt"/>
              </a:rPr>
              <a:t>Weak generalization to public data</a:t>
            </a:r>
          </a:p>
          <a:p>
            <a:r>
              <a:rPr lang="en-US" dirty="0">
                <a:latin typeface="+mj-lt"/>
              </a:rPr>
              <a:t>Need to answer: Why?</a:t>
            </a:r>
          </a:p>
          <a:p>
            <a:pPr lvl="1"/>
            <a:r>
              <a:rPr lang="en-US" dirty="0">
                <a:latin typeface="+mj-lt"/>
              </a:rPr>
              <a:t>Detailed report with comparison between Monty and KGs from many other domains</a:t>
            </a:r>
          </a:p>
          <a:p>
            <a:pPr lvl="1"/>
            <a:r>
              <a:rPr lang="en-US" dirty="0">
                <a:latin typeface="+mj-lt"/>
              </a:rPr>
              <a:t>Model ablation and re-evaluation</a:t>
            </a:r>
          </a:p>
        </p:txBody>
      </p:sp>
      <p:sp>
        <p:nvSpPr>
          <p:cNvPr id="8" name="Title 7">
            <a:extLst>
              <a:ext uri="{FF2B5EF4-FFF2-40B4-BE49-F238E27FC236}">
                <a16:creationId xmlns:a16="http://schemas.microsoft.com/office/drawing/2014/main" id="{6DA7F738-4375-67C1-5DB6-EE361AFBF6E5}"/>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Motivation - COINs origins</a:t>
            </a:r>
            <a:endParaRPr lang="en-GB" sz="2400" b="0" i="1" dirty="0"/>
          </a:p>
        </p:txBody>
      </p:sp>
      <p:sp>
        <p:nvSpPr>
          <p:cNvPr id="5" name="Date Placeholder 4">
            <a:extLst>
              <a:ext uri="{FF2B5EF4-FFF2-40B4-BE49-F238E27FC236}">
                <a16:creationId xmlns:a16="http://schemas.microsoft.com/office/drawing/2014/main" id="{A3BC50A3-F954-A955-9239-33923111E11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F3016CF-A00A-54B3-9869-4024BAE8F5E4}"/>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E9140BC-9C63-860E-1980-621BDC2FB501}"/>
              </a:ext>
            </a:extLst>
          </p:cNvPr>
          <p:cNvSpPr>
            <a:spLocks noGrp="1"/>
          </p:cNvSpPr>
          <p:nvPr>
            <p:ph type="sldNum" sz="quarter" idx="12"/>
          </p:nvPr>
        </p:nvSpPr>
        <p:spPr/>
        <p:txBody>
          <a:bodyPr/>
          <a:lstStyle/>
          <a:p>
            <a:fld id="{E1E1CD7C-2161-7D43-862E-CE4C333CD873}" type="slidenum">
              <a:rPr lang="fr-FR" smtClean="0"/>
              <a:pPr/>
              <a:t>28</a:t>
            </a:fld>
            <a:endParaRPr lang="fr-FR" dirty="0"/>
          </a:p>
        </p:txBody>
      </p:sp>
      <p:pic>
        <p:nvPicPr>
          <p:cNvPr id="9" name="Content Placeholder 8">
            <a:extLst>
              <a:ext uri="{FF2B5EF4-FFF2-40B4-BE49-F238E27FC236}">
                <a16:creationId xmlns:a16="http://schemas.microsoft.com/office/drawing/2014/main" id="{B9B6C7F7-6992-22AF-6263-A71CAFBB1CC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59350" y="2698403"/>
            <a:ext cx="3671888" cy="994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03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8" dur="500"/>
                                        <p:tgtEl>
                                          <p:spTgt spid="2">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80B3FF-F4FA-20F7-62B9-F78C26A7E8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6D8828-DF76-7D84-601B-DFBB8628E8BA}"/>
              </a:ext>
            </a:extLst>
          </p:cNvPr>
          <p:cNvSpPr>
            <a:spLocks noGrp="1"/>
          </p:cNvSpPr>
          <p:nvPr>
            <p:ph sz="half" idx="1"/>
          </p:nvPr>
        </p:nvSpPr>
        <p:spPr>
          <a:xfrm>
            <a:off x="904874" y="1563688"/>
            <a:ext cx="4054475" cy="3263504"/>
          </a:xfrm>
        </p:spPr>
        <p:txBody>
          <a:bodyPr anchor="ctr">
            <a:normAutofit/>
          </a:bodyPr>
          <a:lstStyle/>
          <a:p>
            <a:pPr marL="342900" indent="-342900">
              <a:buFont typeface="+mj-lt"/>
              <a:buAutoNum type="arabicPeriod"/>
            </a:pPr>
            <a:r>
              <a:rPr lang="en-US" dirty="0">
                <a:latin typeface="+mj-lt"/>
              </a:rPr>
              <a:t>Heterogeneity</a:t>
            </a:r>
          </a:p>
          <a:p>
            <a:pPr lvl="1"/>
            <a:r>
              <a:rPr lang="en-US" dirty="0">
                <a:latin typeface="+mj-lt"/>
              </a:rPr>
              <a:t>Label frequencies &amp; </a:t>
            </a:r>
            <a:r>
              <a:rPr lang="en-US" dirty="0" err="1">
                <a:latin typeface="+mj-lt"/>
              </a:rPr>
              <a:t>assortativity</a:t>
            </a:r>
            <a:endParaRPr lang="en-US" dirty="0">
              <a:latin typeface="+mj-lt"/>
            </a:endParaRPr>
          </a:p>
          <a:p>
            <a:pPr marL="342900" indent="-342900">
              <a:buFont typeface="+mj-lt"/>
              <a:buAutoNum type="arabicPeriod"/>
            </a:pPr>
            <a:r>
              <a:rPr lang="en-US" dirty="0">
                <a:latin typeface="+mj-lt"/>
              </a:rPr>
              <a:t>Connectivity</a:t>
            </a:r>
          </a:p>
          <a:p>
            <a:pPr lvl="1"/>
            <a:r>
              <a:rPr lang="en-US" dirty="0">
                <a:latin typeface="+mj-lt"/>
              </a:rPr>
              <a:t>Sparsity, clustering, components</a:t>
            </a:r>
          </a:p>
          <a:p>
            <a:pPr marL="342900" indent="-342900">
              <a:buFont typeface="+mj-lt"/>
              <a:buAutoNum type="arabicPeriod"/>
            </a:pPr>
            <a:r>
              <a:rPr lang="en-US" dirty="0">
                <a:latin typeface="+mj-lt"/>
              </a:rPr>
              <a:t>Importance</a:t>
            </a:r>
          </a:p>
          <a:p>
            <a:pPr marL="342900" indent="-342900">
              <a:buFont typeface="+mj-lt"/>
              <a:buAutoNum type="arabicPeriod"/>
            </a:pPr>
            <a:r>
              <a:rPr lang="en-US" dirty="0" err="1">
                <a:latin typeface="+mj-lt"/>
              </a:rPr>
              <a:t>Subgraphing</a:t>
            </a:r>
            <a:endParaRPr lang="en-US" dirty="0">
              <a:latin typeface="+mj-lt"/>
            </a:endParaRPr>
          </a:p>
          <a:p>
            <a:pPr lvl="1"/>
            <a:r>
              <a:rPr lang="en-US" dirty="0">
                <a:latin typeface="+mj-lt"/>
              </a:rPr>
              <a:t>Communities</a:t>
            </a:r>
          </a:p>
          <a:p>
            <a:pPr lvl="1"/>
            <a:r>
              <a:rPr lang="en-US" dirty="0">
                <a:latin typeface="+mj-lt"/>
              </a:rPr>
              <a:t>Motifs</a:t>
            </a:r>
          </a:p>
          <a:p>
            <a:pPr marL="342900" indent="-342900">
              <a:buFont typeface="+mj-lt"/>
              <a:buAutoNum type="arabicPeriod"/>
            </a:pPr>
            <a:r>
              <a:rPr lang="en-US" dirty="0">
                <a:latin typeface="+mj-lt"/>
              </a:rPr>
              <a:t>Summarization</a:t>
            </a:r>
          </a:p>
          <a:p>
            <a:pPr lvl="1"/>
            <a:r>
              <a:rPr lang="en-US" dirty="0">
                <a:latin typeface="+mj-lt"/>
              </a:rPr>
              <a:t>Association rules, compression</a:t>
            </a:r>
          </a:p>
        </p:txBody>
      </p:sp>
      <p:sp>
        <p:nvSpPr>
          <p:cNvPr id="8" name="Title 7">
            <a:extLst>
              <a:ext uri="{FF2B5EF4-FFF2-40B4-BE49-F238E27FC236}">
                <a16:creationId xmlns:a16="http://schemas.microsoft.com/office/drawing/2014/main" id="{666D5C40-6EF4-E99B-21A3-CF9DF5083C37}"/>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Methodology - Feature extraction</a:t>
            </a:r>
            <a:endParaRPr lang="en-GB" sz="2400" b="0" i="1" dirty="0"/>
          </a:p>
        </p:txBody>
      </p:sp>
      <p:sp>
        <p:nvSpPr>
          <p:cNvPr id="5" name="Date Placeholder 4">
            <a:extLst>
              <a:ext uri="{FF2B5EF4-FFF2-40B4-BE49-F238E27FC236}">
                <a16:creationId xmlns:a16="http://schemas.microsoft.com/office/drawing/2014/main" id="{CE0B312E-9E70-CE0E-3575-B67BF4EEB497}"/>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BA48CDD-A711-6780-68CA-9C6DC559CEB8}"/>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8856E3C-AEB4-C161-916E-A0FB4D3DF4CB}"/>
              </a:ext>
            </a:extLst>
          </p:cNvPr>
          <p:cNvSpPr>
            <a:spLocks noGrp="1"/>
          </p:cNvSpPr>
          <p:nvPr>
            <p:ph type="sldNum" sz="quarter" idx="12"/>
          </p:nvPr>
        </p:nvSpPr>
        <p:spPr/>
        <p:txBody>
          <a:bodyPr/>
          <a:lstStyle/>
          <a:p>
            <a:fld id="{E1E1CD7C-2161-7D43-862E-CE4C333CD873}" type="slidenum">
              <a:rPr lang="fr-FR" smtClean="0"/>
              <a:pPr/>
              <a:t>29</a:t>
            </a:fld>
            <a:endParaRPr lang="fr-FR" dirty="0"/>
          </a:p>
        </p:txBody>
      </p:sp>
      <p:pic>
        <p:nvPicPr>
          <p:cNvPr id="10" name="Content Placeholder 9" descr="A diagram of a graph&#10;&#10;AI-generated content may be incorrect.">
            <a:extLst>
              <a:ext uri="{FF2B5EF4-FFF2-40B4-BE49-F238E27FC236}">
                <a16:creationId xmlns:a16="http://schemas.microsoft.com/office/drawing/2014/main" id="{8503E888-AC45-919D-4932-1EA1875E1E81}"/>
              </a:ext>
            </a:extLst>
          </p:cNvPr>
          <p:cNvPicPr>
            <a:picLocks noGrp="1" noChangeAspect="1"/>
          </p:cNvPicPr>
          <p:nvPr>
            <p:ph sz="half" idx="2"/>
          </p:nvPr>
        </p:nvPicPr>
        <p:blipFill>
          <a:blip r:embed="rId3"/>
          <a:stretch>
            <a:fillRect/>
          </a:stretch>
        </p:blipFill>
        <p:spPr>
          <a:xfrm>
            <a:off x="5579961" y="1563688"/>
            <a:ext cx="2430665" cy="3263900"/>
          </a:xfrm>
        </p:spPr>
      </p:pic>
    </p:spTree>
    <p:extLst>
      <p:ext uri="{BB962C8B-B14F-4D97-AF65-F5344CB8AC3E}">
        <p14:creationId xmlns:p14="http://schemas.microsoft.com/office/powerpoint/2010/main" val="238831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5" dur="500"/>
                                        <p:tgtEl>
                                          <p:spTgt spid="2">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8" dur="500"/>
                                        <p:tgtEl>
                                          <p:spTgt spid="2">
                                            <p:txEl>
                                              <p:pRg st="5" end="5"/>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1" dur="500"/>
                                        <p:tgtEl>
                                          <p:spTgt spid="2">
                                            <p:txEl>
                                              <p:pRg st="6" end="6"/>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4" dur="500"/>
                                        <p:tgtEl>
                                          <p:spTgt spid="2">
                                            <p:txEl>
                                              <p:pRg st="7" end="7"/>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randombar(horizontal)">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42" dur="500"/>
                                        <p:tgtEl>
                                          <p:spTgt spid="2">
                                            <p:txEl>
                                              <p:pRg st="8" end="8"/>
                                            </p:txEl>
                                          </p:spTgt>
                                        </p:tgtEl>
                                      </p:cBhvr>
                                    </p:animEffect>
                                  </p:childTnLst>
                                </p:cTn>
                              </p:par>
                              <p:par>
                                <p:cTn id="43" presetID="14" presetClass="entr" presetSubtype="10" fill="hold" nodeType="withEffect">
                                  <p:stCondLst>
                                    <p:cond delay="0"/>
                                  </p:stCondLst>
                                  <p:childTnLst>
                                    <p:set>
                                      <p:cBhvr>
                                        <p:cTn id="44"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5"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D6E8A4-54BB-8492-5658-E3BDA65E70E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54A354E-74B8-594C-E158-019562C59962}"/>
              </a:ext>
            </a:extLst>
          </p:cNvPr>
          <p:cNvSpPr>
            <a:spLocks noGrp="1"/>
          </p:cNvSpPr>
          <p:nvPr>
            <p:ph idx="1"/>
          </p:nvPr>
        </p:nvSpPr>
        <p:spPr/>
        <p:txBody>
          <a:bodyPr anchor="ctr"/>
          <a:lstStyle/>
          <a:p>
            <a:r>
              <a:rPr lang="en-US" dirty="0">
                <a:latin typeface="+mj-lt"/>
              </a:rPr>
              <a:t>Public data</a:t>
            </a:r>
          </a:p>
          <a:p>
            <a:pPr lvl="1"/>
            <a:r>
              <a:rPr lang="en-US" dirty="0">
                <a:latin typeface="+mj-lt"/>
              </a:rPr>
              <a:t>Freebase, WordNet, NELL</a:t>
            </a:r>
          </a:p>
          <a:p>
            <a:pPr lvl="1"/>
            <a:r>
              <a:rPr lang="en-US" dirty="0">
                <a:latin typeface="+mj-lt"/>
              </a:rPr>
              <a:t>Citation networks: </a:t>
            </a:r>
            <a:r>
              <a:rPr lang="en-US" dirty="0" err="1">
                <a:latin typeface="+mj-lt"/>
              </a:rPr>
              <a:t>redditHyperlinks</a:t>
            </a:r>
            <a:r>
              <a:rPr lang="en-US" dirty="0">
                <a:latin typeface="+mj-lt"/>
              </a:rPr>
              <a:t>, </a:t>
            </a:r>
            <a:r>
              <a:rPr lang="en-US" dirty="0" err="1">
                <a:latin typeface="+mj-lt"/>
              </a:rPr>
              <a:t>HepPh</a:t>
            </a:r>
            <a:r>
              <a:rPr lang="en-US" dirty="0">
                <a:latin typeface="+mj-lt"/>
              </a:rPr>
              <a:t>, </a:t>
            </a:r>
            <a:r>
              <a:rPr lang="en-US" dirty="0" err="1">
                <a:latin typeface="+mj-lt"/>
              </a:rPr>
              <a:t>cit</a:t>
            </a:r>
            <a:r>
              <a:rPr lang="en-US" dirty="0">
                <a:latin typeface="+mj-lt"/>
              </a:rPr>
              <a:t>-patents</a:t>
            </a:r>
          </a:p>
          <a:p>
            <a:pPr lvl="1"/>
            <a:r>
              <a:rPr lang="en-US" dirty="0">
                <a:latin typeface="+mj-lt"/>
              </a:rPr>
              <a:t>Biology: </a:t>
            </a:r>
            <a:r>
              <a:rPr lang="en-US" dirty="0" err="1">
                <a:latin typeface="+mj-lt"/>
              </a:rPr>
              <a:t>ogbl-biokg</a:t>
            </a:r>
            <a:endParaRPr lang="en-US" dirty="0">
              <a:latin typeface="+mj-lt"/>
            </a:endParaRPr>
          </a:p>
          <a:p>
            <a:pPr lvl="1"/>
            <a:r>
              <a:rPr lang="en-US" dirty="0">
                <a:latin typeface="+mj-lt"/>
              </a:rPr>
              <a:t>Transportation networks of 25 cities</a:t>
            </a:r>
          </a:p>
          <a:p>
            <a:r>
              <a:rPr lang="en-US" dirty="0">
                <a:latin typeface="+mj-lt"/>
              </a:rPr>
              <a:t>One-sample hypothesis testing for metric distribution type</a:t>
            </a:r>
          </a:p>
          <a:p>
            <a:pPr lvl="1"/>
            <a:r>
              <a:rPr lang="en-GB" dirty="0">
                <a:latin typeface="+mj-lt"/>
              </a:rPr>
              <a:t>Heavy tails</a:t>
            </a:r>
          </a:p>
          <a:p>
            <a:pPr lvl="1"/>
            <a:r>
              <a:rPr lang="en-GB" dirty="0">
                <a:latin typeface="+mj-lt"/>
              </a:rPr>
              <a:t>Uniformity across subgraphs/communities</a:t>
            </a:r>
          </a:p>
          <a:p>
            <a:r>
              <a:rPr lang="en-GB" dirty="0">
                <a:latin typeface="+mj-lt"/>
              </a:rPr>
              <a:t>Metric distribution comparison</a:t>
            </a:r>
          </a:p>
          <a:p>
            <a:pPr lvl="1"/>
            <a:r>
              <a:rPr lang="en-GB" dirty="0">
                <a:latin typeface="+mj-lt"/>
              </a:rPr>
              <a:t>t-tests for equal means</a:t>
            </a:r>
          </a:p>
          <a:p>
            <a:pPr lvl="1"/>
            <a:r>
              <a:rPr lang="en-GB" dirty="0">
                <a:latin typeface="+mj-lt"/>
              </a:rPr>
              <a:t>Maximum Mean Discrepancy (MMD) tests</a:t>
            </a:r>
          </a:p>
        </p:txBody>
      </p:sp>
      <p:sp>
        <p:nvSpPr>
          <p:cNvPr id="8" name="Title 7">
            <a:extLst>
              <a:ext uri="{FF2B5EF4-FFF2-40B4-BE49-F238E27FC236}">
                <a16:creationId xmlns:a16="http://schemas.microsoft.com/office/drawing/2014/main" id="{2D524572-780A-6ECC-9628-170D00AF59E9}"/>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Methodology - Statistical comparison</a:t>
            </a:r>
            <a:endParaRPr lang="en-GB" sz="2400" b="0" i="1" dirty="0"/>
          </a:p>
        </p:txBody>
      </p:sp>
      <p:sp>
        <p:nvSpPr>
          <p:cNvPr id="5" name="Date Placeholder 4">
            <a:extLst>
              <a:ext uri="{FF2B5EF4-FFF2-40B4-BE49-F238E27FC236}">
                <a16:creationId xmlns:a16="http://schemas.microsoft.com/office/drawing/2014/main" id="{FBF05FBE-E3FA-D38B-EEF2-D2C76D3F0BCD}"/>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3E8AB6A-6623-3ABD-B569-A22208FAA894}"/>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5EF99C6-6BB7-514A-689C-3AC5CAC80B8A}"/>
              </a:ext>
            </a:extLst>
          </p:cNvPr>
          <p:cNvSpPr>
            <a:spLocks noGrp="1"/>
          </p:cNvSpPr>
          <p:nvPr>
            <p:ph type="sldNum" sz="quarter" idx="12"/>
          </p:nvPr>
        </p:nvSpPr>
        <p:spPr/>
        <p:txBody>
          <a:bodyPr/>
          <a:lstStyle/>
          <a:p>
            <a:fld id="{E1E1CD7C-2161-7D43-862E-CE4C333CD873}" type="slidenum">
              <a:rPr lang="fr-FR" smtClean="0"/>
              <a:pPr/>
              <a:t>30</a:t>
            </a:fld>
            <a:endParaRPr lang="fr-FR" dirty="0"/>
          </a:p>
        </p:txBody>
      </p:sp>
    </p:spTree>
    <p:extLst>
      <p:ext uri="{BB962C8B-B14F-4D97-AF65-F5344CB8AC3E}">
        <p14:creationId xmlns:p14="http://schemas.microsoft.com/office/powerpoint/2010/main" val="1431504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randombar(horizontal)">
                                      <p:cBhvr>
                                        <p:cTn id="41"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B051-BEFB-2AEF-419E-BBEBED2918D4}"/>
            </a:ext>
          </a:extLst>
        </p:cNvPr>
        <p:cNvGrpSpPr/>
        <p:nvPr/>
      </p:nvGrpSpPr>
      <p:grpSpPr>
        <a:xfrm>
          <a:off x="0" y="0"/>
          <a:ext cx="0" cy="0"/>
          <a:chOff x="0" y="0"/>
          <a:chExt cx="0" cy="0"/>
        </a:xfrm>
      </p:grpSpPr>
      <p:pic>
        <p:nvPicPr>
          <p:cNvPr id="3" name="Picture 2" descr="A diagram of a triangle&#10;&#10;AI-generated content may be incorrect.">
            <a:extLst>
              <a:ext uri="{FF2B5EF4-FFF2-40B4-BE49-F238E27FC236}">
                <a16:creationId xmlns:a16="http://schemas.microsoft.com/office/drawing/2014/main" id="{5D9496C7-0F81-C2A0-0E59-0A7448C211FE}"/>
              </a:ext>
            </a:extLst>
          </p:cNvPr>
          <p:cNvPicPr>
            <a:picLocks noChangeAspect="1"/>
          </p:cNvPicPr>
          <p:nvPr/>
        </p:nvPicPr>
        <p:blipFill>
          <a:blip r:embed="rId3"/>
          <a:stretch>
            <a:fillRect/>
          </a:stretch>
        </p:blipFill>
        <p:spPr>
          <a:xfrm>
            <a:off x="1553369" y="3554705"/>
            <a:ext cx="6429375" cy="1285875"/>
          </a:xfrm>
          <a:prstGeom prst="rect">
            <a:avLst/>
          </a:prstGeom>
        </p:spPr>
      </p:pic>
      <p:sp>
        <p:nvSpPr>
          <p:cNvPr id="9" name="Content Placeholder 8">
            <a:extLst>
              <a:ext uri="{FF2B5EF4-FFF2-40B4-BE49-F238E27FC236}">
                <a16:creationId xmlns:a16="http://schemas.microsoft.com/office/drawing/2014/main" id="{E633FC14-39C3-0866-278F-E84499F617E7}"/>
              </a:ext>
            </a:extLst>
          </p:cNvPr>
          <p:cNvSpPr>
            <a:spLocks noGrp="1"/>
          </p:cNvSpPr>
          <p:nvPr>
            <p:ph idx="1"/>
          </p:nvPr>
        </p:nvSpPr>
        <p:spPr>
          <a:xfrm>
            <a:off x="904875" y="1563688"/>
            <a:ext cx="7726363" cy="3341052"/>
          </a:xfrm>
        </p:spPr>
        <p:txBody>
          <a:bodyPr anchor="ctr">
            <a:normAutofit/>
          </a:bodyPr>
          <a:lstStyle/>
          <a:p>
            <a:r>
              <a:rPr lang="en-US" dirty="0">
                <a:latin typeface="+mj-lt"/>
              </a:rPr>
              <a:t>Features</a:t>
            </a:r>
          </a:p>
          <a:p>
            <a:pPr lvl="1"/>
            <a:r>
              <a:rPr lang="en-US" dirty="0">
                <a:latin typeface="+mj-lt"/>
              </a:rPr>
              <a:t>Almost no label </a:t>
            </a:r>
            <a:r>
              <a:rPr lang="en-US" dirty="0" err="1">
                <a:latin typeface="+mj-lt"/>
              </a:rPr>
              <a:t>assortativity</a:t>
            </a:r>
            <a:endParaRPr lang="en-US" dirty="0">
              <a:latin typeface="+mj-lt"/>
            </a:endParaRPr>
          </a:p>
          <a:p>
            <a:pPr lvl="1"/>
            <a:r>
              <a:rPr lang="en-US" dirty="0">
                <a:latin typeface="+mj-lt"/>
              </a:rPr>
              <a:t>Sparsest knowledge graph, weekly but not strongly connected, short paths and small diameter, weak clustering (all by design)</a:t>
            </a:r>
          </a:p>
          <a:p>
            <a:pPr lvl="1"/>
            <a:r>
              <a:rPr lang="en-US" dirty="0">
                <a:latin typeface="+mj-lt"/>
              </a:rPr>
              <a:t>Clearly identifiable hubs and authorities</a:t>
            </a:r>
          </a:p>
          <a:p>
            <a:pPr lvl="1"/>
            <a:r>
              <a:rPr lang="en-US" dirty="0">
                <a:latin typeface="+mj-lt"/>
              </a:rPr>
              <a:t>Biggest feature: </a:t>
            </a:r>
            <a:r>
              <a:rPr lang="en-US" i="1" dirty="0">
                <a:latin typeface="+mj-lt"/>
              </a:rPr>
              <a:t>community structure with &gt;99% Leiden modularity</a:t>
            </a:r>
          </a:p>
          <a:p>
            <a:pPr lvl="1"/>
            <a:r>
              <a:rPr lang="en-US" dirty="0">
                <a:latin typeface="+mj-lt"/>
              </a:rPr>
              <a:t>Association rules reverse-engineer schema</a:t>
            </a:r>
          </a:p>
          <a:p>
            <a:r>
              <a:rPr lang="en-US" dirty="0">
                <a:latin typeface="+mj-lt"/>
              </a:rPr>
              <a:t>Metric distributions</a:t>
            </a:r>
          </a:p>
          <a:p>
            <a:pPr lvl="1"/>
            <a:r>
              <a:rPr lang="en-US" dirty="0">
                <a:latin typeface="+mj-lt"/>
              </a:rPr>
              <a:t>Heavy-tailed label frequencies and motifs, uniformity across subgraphs</a:t>
            </a:r>
          </a:p>
          <a:p>
            <a:pPr lvl="1"/>
            <a:r>
              <a:rPr lang="en-US" dirty="0">
                <a:latin typeface="+mj-lt"/>
              </a:rPr>
              <a:t>Most similar to WordNet and transport networks (i.e., unlike random networks)</a:t>
            </a:r>
          </a:p>
          <a:p>
            <a:r>
              <a:rPr lang="en-US" dirty="0">
                <a:latin typeface="+mj-lt"/>
              </a:rPr>
              <a:t>Summary: </a:t>
            </a:r>
            <a:r>
              <a:rPr lang="en-US" i="1" dirty="0">
                <a:latin typeface="+mj-lt"/>
              </a:rPr>
              <a:t>Monty is the easiest dataset for COINs, need to ablate to generalize</a:t>
            </a:r>
          </a:p>
        </p:txBody>
      </p:sp>
      <p:sp>
        <p:nvSpPr>
          <p:cNvPr id="8" name="Title 7">
            <a:extLst>
              <a:ext uri="{FF2B5EF4-FFF2-40B4-BE49-F238E27FC236}">
                <a16:creationId xmlns:a16="http://schemas.microsoft.com/office/drawing/2014/main" id="{2631A99C-0D48-914A-3B8E-87F8AB75C07E}"/>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Results - Swisscom vs. the world</a:t>
            </a:r>
            <a:endParaRPr lang="en-GB" sz="2400" b="0" i="1" dirty="0"/>
          </a:p>
        </p:txBody>
      </p:sp>
      <p:sp>
        <p:nvSpPr>
          <p:cNvPr id="5" name="Date Placeholder 4">
            <a:extLst>
              <a:ext uri="{FF2B5EF4-FFF2-40B4-BE49-F238E27FC236}">
                <a16:creationId xmlns:a16="http://schemas.microsoft.com/office/drawing/2014/main" id="{0133011F-4AF1-BA72-B366-E096C306E2C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3A43BAB-B802-70B3-4DE8-6FF1CE86352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B171B61-B5C3-BFE1-0C00-4851D4FDFCCA}"/>
              </a:ext>
            </a:extLst>
          </p:cNvPr>
          <p:cNvSpPr>
            <a:spLocks noGrp="1"/>
          </p:cNvSpPr>
          <p:nvPr>
            <p:ph type="sldNum" sz="quarter" idx="12"/>
          </p:nvPr>
        </p:nvSpPr>
        <p:spPr/>
        <p:txBody>
          <a:bodyPr/>
          <a:lstStyle/>
          <a:p>
            <a:fld id="{E1E1CD7C-2161-7D43-862E-CE4C333CD873}" type="slidenum">
              <a:rPr lang="fr-FR" smtClean="0"/>
              <a:pPr/>
              <a:t>31</a:t>
            </a:fld>
            <a:endParaRPr lang="fr-FR" dirty="0"/>
          </a:p>
        </p:txBody>
      </p:sp>
    </p:spTree>
    <p:extLst>
      <p:ext uri="{BB962C8B-B14F-4D97-AF65-F5344CB8AC3E}">
        <p14:creationId xmlns:p14="http://schemas.microsoft.com/office/powerpoint/2010/main" val="46312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2" dur="500"/>
                                        <p:tgtEl>
                                          <p:spTgt spid="9">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9">
                                            <p:txEl>
                                              <p:pRg st="6" end="6"/>
                                            </p:txEl>
                                          </p:spTgt>
                                        </p:tgtEl>
                                        <p:attrNameLst>
                                          <p:attrName>style.visibility</p:attrName>
                                        </p:attrNameLst>
                                      </p:cBhvr>
                                      <p:to>
                                        <p:strVal val="visible"/>
                                      </p:to>
                                    </p:set>
                                    <p:animEffect transition="in" filter="randombar(horizontal)">
                                      <p:cBhvr>
                                        <p:cTn id="30" dur="500"/>
                                        <p:tgtEl>
                                          <p:spTgt spid="9">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3" dur="500"/>
                                        <p:tgtEl>
                                          <p:spTgt spid="9">
                                            <p:txEl>
                                              <p:pRg st="7" end="7"/>
                                            </p:txEl>
                                          </p:spTgt>
                                        </p:tgtEl>
                                      </p:cBhvr>
                                    </p:animEffect>
                                  </p:childTnLst>
                                </p:cTn>
                              </p:par>
                              <p:par>
                                <p:cTn id="34" presetID="14" presetClass="exit" presetSubtype="10" fill="hold" nodeType="withEffect">
                                  <p:stCondLst>
                                    <p:cond delay="0"/>
                                  </p:stCondLst>
                                  <p:childTnLst>
                                    <p:animEffect transition="out" filter="randombar(horizontal)">
                                      <p:cBhvr>
                                        <p:cTn id="35" dur="500"/>
                                        <p:tgtEl>
                                          <p:spTgt spid="3"/>
                                        </p:tgtEl>
                                      </p:cBhvr>
                                    </p:animEffect>
                                    <p:set>
                                      <p:cBhvr>
                                        <p:cTn id="36" dur="1" fill="hold">
                                          <p:stCondLst>
                                            <p:cond delay="499"/>
                                          </p:stCondLst>
                                        </p:cTn>
                                        <p:tgtEl>
                                          <p:spTgt spid="3"/>
                                        </p:tgtEl>
                                        <p:attrNameLst>
                                          <p:attrName>style.visibility</p:attrName>
                                        </p:attrNameLst>
                                      </p:cBhvr>
                                      <p:to>
                                        <p:strVal val="hidden"/>
                                      </p:to>
                                    </p:set>
                                  </p:childTnLst>
                                </p:cTn>
                              </p:par>
                              <p:par>
                                <p:cTn id="37" presetID="14" presetClass="entr" presetSubtype="10" fill="hold" nodeType="with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9">
                                            <p:txEl>
                                              <p:pRg st="9" end="9"/>
                                            </p:txEl>
                                          </p:spTgt>
                                        </p:tgtEl>
                                        <p:attrNameLst>
                                          <p:attrName>style.visibility</p:attrName>
                                        </p:attrNameLst>
                                      </p:cBhvr>
                                      <p:to>
                                        <p:strVal val="visible"/>
                                      </p:to>
                                    </p:set>
                                    <p:animEffect transition="in" filter="randombar(horizontal)">
                                      <p:cBhvr>
                                        <p:cTn id="44"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C2602-AC78-017D-7260-2A70AB0908D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93EE83-165E-E4D0-8F53-7E585DF6A34E}"/>
              </a:ext>
            </a:extLst>
          </p:cNvPr>
          <p:cNvSpPr>
            <a:spLocks noGrp="1"/>
          </p:cNvSpPr>
          <p:nvPr>
            <p:ph type="title"/>
          </p:nvPr>
        </p:nvSpPr>
        <p:spPr>
          <a:xfrm>
            <a:off x="904875" y="131032"/>
            <a:ext cx="7726363" cy="1072753"/>
          </a:xfrm>
        </p:spPr>
        <p:txBody>
          <a:bodyPr>
            <a:normAutofit fontScale="90000"/>
          </a:bodyPr>
          <a:lstStyle/>
          <a:p>
            <a:r>
              <a:rPr lang="en-US" dirty="0"/>
              <a:t>3.2	Real-world Application: The Monty Knowledge Base</a:t>
            </a:r>
            <a:br>
              <a:rPr lang="en-US" dirty="0"/>
            </a:br>
            <a:r>
              <a:rPr lang="en-US" sz="2400" b="0" i="1" dirty="0"/>
              <a:t>Results - Re-evaluation on Monty after ablation</a:t>
            </a:r>
            <a:endParaRPr lang="en-GB" sz="2400" b="0" i="1" dirty="0"/>
          </a:p>
        </p:txBody>
      </p:sp>
      <p:sp>
        <p:nvSpPr>
          <p:cNvPr id="5" name="Date Placeholder 4">
            <a:extLst>
              <a:ext uri="{FF2B5EF4-FFF2-40B4-BE49-F238E27FC236}">
                <a16:creationId xmlns:a16="http://schemas.microsoft.com/office/drawing/2014/main" id="{454B3474-BC5A-14D1-1B9C-FA68656C11B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1BDD46E-7B25-E7D0-B5E9-715EE55E8A01}"/>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657BB1F8-B000-2B16-FE4D-FCF2117A3DAB}"/>
              </a:ext>
            </a:extLst>
          </p:cNvPr>
          <p:cNvSpPr>
            <a:spLocks noGrp="1"/>
          </p:cNvSpPr>
          <p:nvPr>
            <p:ph type="sldNum" sz="quarter" idx="12"/>
          </p:nvPr>
        </p:nvSpPr>
        <p:spPr/>
        <p:txBody>
          <a:bodyPr/>
          <a:lstStyle/>
          <a:p>
            <a:fld id="{E1E1CD7C-2161-7D43-862E-CE4C333CD873}" type="slidenum">
              <a:rPr lang="fr-FR" smtClean="0"/>
              <a:pPr/>
              <a:t>32</a:t>
            </a:fld>
            <a:endParaRPr lang="fr-FR" dirty="0"/>
          </a:p>
        </p:txBody>
      </p:sp>
      <p:sp>
        <p:nvSpPr>
          <p:cNvPr id="4" name="Content Placeholder 3">
            <a:extLst>
              <a:ext uri="{FF2B5EF4-FFF2-40B4-BE49-F238E27FC236}">
                <a16:creationId xmlns:a16="http://schemas.microsoft.com/office/drawing/2014/main" id="{0660FC9E-7CBB-2586-73BD-7BC541FD342A}"/>
              </a:ext>
            </a:extLst>
          </p:cNvPr>
          <p:cNvSpPr>
            <a:spLocks noGrp="1"/>
          </p:cNvSpPr>
          <p:nvPr>
            <p:ph idx="1"/>
          </p:nvPr>
        </p:nvSpPr>
        <p:spPr>
          <a:xfrm>
            <a:off x="904875" y="4065626"/>
            <a:ext cx="7726363" cy="884833"/>
          </a:xfrm>
        </p:spPr>
        <p:txBody>
          <a:bodyPr anchor="ctr">
            <a:normAutofit/>
          </a:bodyPr>
          <a:lstStyle/>
          <a:p>
            <a:r>
              <a:rPr lang="en-US" dirty="0">
                <a:latin typeface="+mj-lt"/>
              </a:rPr>
              <a:t>x728.7 evaluation acceleration, x228.36 less training memory</a:t>
            </a:r>
          </a:p>
          <a:p>
            <a:r>
              <a:rPr lang="en-GB" dirty="0">
                <a:latin typeface="+mj-lt"/>
              </a:rPr>
              <a:t>Experiments fitting in 64GB RAM, 16GB VRAM</a:t>
            </a:r>
          </a:p>
        </p:txBody>
      </p:sp>
      <p:pic>
        <p:nvPicPr>
          <p:cNvPr id="9" name="Content Placeholder 2" descr="A table with numbers and text&#10;&#10;AI-generated content may be incorrect.">
            <a:extLst>
              <a:ext uri="{FF2B5EF4-FFF2-40B4-BE49-F238E27FC236}">
                <a16:creationId xmlns:a16="http://schemas.microsoft.com/office/drawing/2014/main" id="{5AF16C2B-5DE3-2B7F-19CC-E992FFD201B7}"/>
              </a:ext>
            </a:extLst>
          </p:cNvPr>
          <p:cNvPicPr>
            <a:picLocks noChangeAspect="1"/>
          </p:cNvPicPr>
          <p:nvPr/>
        </p:nvPicPr>
        <p:blipFill>
          <a:blip r:embed="rId3"/>
          <a:stretch>
            <a:fillRect/>
          </a:stretch>
        </p:blipFill>
        <p:spPr>
          <a:xfrm>
            <a:off x="904874" y="1351493"/>
            <a:ext cx="7726363" cy="2566425"/>
          </a:xfrm>
          <a:prstGeom prst="rect">
            <a:avLst/>
          </a:prstGeom>
        </p:spPr>
      </p:pic>
    </p:spTree>
    <p:extLst>
      <p:ext uri="{BB962C8B-B14F-4D97-AF65-F5344CB8AC3E}">
        <p14:creationId xmlns:p14="http://schemas.microsoft.com/office/powerpoint/2010/main" val="95576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C77E-5A3B-873C-A193-98CDCCDE81A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DCCDDB5-7C9E-859A-A044-1E22666A87AA}"/>
              </a:ext>
            </a:extLst>
          </p:cNvPr>
          <p:cNvSpPr>
            <a:spLocks noGrp="1"/>
          </p:cNvSpPr>
          <p:nvPr>
            <p:ph type="title"/>
          </p:nvPr>
        </p:nvSpPr>
        <p:spPr/>
        <p:txBody>
          <a:bodyPr/>
          <a:lstStyle/>
          <a:p>
            <a:r>
              <a:rPr lang="en-US" dirty="0"/>
              <a:t>Scalable </a:t>
            </a:r>
            <a:br>
              <a:rPr lang="en-US" dirty="0"/>
            </a:br>
            <a:r>
              <a:rPr lang="en-US" dirty="0"/>
              <a:t>Graph Generation</a:t>
            </a:r>
            <a:endParaRPr lang="en-GB" dirty="0"/>
          </a:p>
        </p:txBody>
      </p:sp>
      <p:sp>
        <p:nvSpPr>
          <p:cNvPr id="8" name="Text Placeholder 7">
            <a:extLst>
              <a:ext uri="{FF2B5EF4-FFF2-40B4-BE49-F238E27FC236}">
                <a16:creationId xmlns:a16="http://schemas.microsoft.com/office/drawing/2014/main" id="{684D5042-6AD6-7890-D1CE-BFF7A26E577B}"/>
              </a:ext>
            </a:extLst>
          </p:cNvPr>
          <p:cNvSpPr>
            <a:spLocks noGrp="1"/>
          </p:cNvSpPr>
          <p:nvPr>
            <p:ph type="body" idx="1"/>
          </p:nvPr>
        </p:nvSpPr>
        <p:spPr/>
        <p:txBody>
          <a:bodyPr>
            <a:normAutofit/>
          </a:bodyPr>
          <a:lstStyle/>
          <a:p>
            <a:r>
              <a:rPr lang="en-US" sz="2400" dirty="0">
                <a:latin typeface="+mj-lt"/>
              </a:rPr>
              <a:t>Chapter 4</a:t>
            </a:r>
            <a:endParaRPr lang="en-GB" sz="2400" dirty="0">
              <a:latin typeface="+mj-lt"/>
            </a:endParaRPr>
          </a:p>
        </p:txBody>
      </p:sp>
      <p:sp>
        <p:nvSpPr>
          <p:cNvPr id="4" name="Date Placeholder 3">
            <a:extLst>
              <a:ext uri="{FF2B5EF4-FFF2-40B4-BE49-F238E27FC236}">
                <a16:creationId xmlns:a16="http://schemas.microsoft.com/office/drawing/2014/main" id="{B5C47343-A44B-577F-432B-5020558DEC3C}"/>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5" name="Footer Placeholder 4">
            <a:extLst>
              <a:ext uri="{FF2B5EF4-FFF2-40B4-BE49-F238E27FC236}">
                <a16:creationId xmlns:a16="http://schemas.microsoft.com/office/drawing/2014/main" id="{2FE08880-9E9D-D234-1953-7590BB46254A}"/>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F0C33636-0989-138A-DACD-7A5DAF97F84C}"/>
              </a:ext>
            </a:extLst>
          </p:cNvPr>
          <p:cNvSpPr>
            <a:spLocks noGrp="1"/>
          </p:cNvSpPr>
          <p:nvPr>
            <p:ph type="sldNum" sz="quarter" idx="16"/>
          </p:nvPr>
        </p:nvSpPr>
        <p:spPr/>
        <p:txBody>
          <a:bodyPr/>
          <a:lstStyle/>
          <a:p>
            <a:fld id="{E1E1CD7C-2161-7D43-862E-CE4C333CD873}" type="slidenum">
              <a:rPr lang="fr-FR" smtClean="0"/>
              <a:pPr/>
              <a:t>33</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380CD818-660B-88E8-B5FA-633882680B03}"/>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559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43135-8C6E-D323-55BD-D2EFE1477399}"/>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9A958C0-0792-0ECD-F34F-058F7F147836}"/>
              </a:ext>
            </a:extLst>
          </p:cNvPr>
          <p:cNvSpPr>
            <a:spLocks noGrp="1"/>
          </p:cNvSpPr>
          <p:nvPr>
            <p:ph idx="1"/>
          </p:nvPr>
        </p:nvSpPr>
        <p:spPr/>
        <p:txBody>
          <a:bodyPr anchor="ctr">
            <a:normAutofit/>
          </a:bodyPr>
          <a:lstStyle/>
          <a:p>
            <a:r>
              <a:rPr lang="en-US" dirty="0">
                <a:latin typeface="+mj-lt"/>
              </a:rPr>
              <a:t>Graph generation</a:t>
            </a:r>
          </a:p>
          <a:p>
            <a:pPr lvl="1"/>
            <a:r>
              <a:rPr lang="en-US" dirty="0">
                <a:latin typeface="+mj-lt"/>
              </a:rPr>
              <a:t>Beyond simple edge classification - discrete distribution learning</a:t>
            </a:r>
          </a:p>
          <a:p>
            <a:pPr lvl="1"/>
            <a:r>
              <a:rPr lang="en-US" dirty="0">
                <a:latin typeface="+mj-lt"/>
              </a:rPr>
              <a:t>Dataset of independent graphs instead of an edge subset </a:t>
            </a:r>
          </a:p>
          <a:p>
            <a:pPr lvl="1"/>
            <a:r>
              <a:rPr lang="en-US" dirty="0">
                <a:latin typeface="+mj-lt"/>
              </a:rPr>
              <a:t>Diverse applications, but mainly </a:t>
            </a:r>
            <a:r>
              <a:rPr lang="en-US" i="1" dirty="0">
                <a:latin typeface="+mj-lt"/>
              </a:rPr>
              <a:t>drug discovery - </a:t>
            </a:r>
            <a:r>
              <a:rPr lang="en-US" dirty="0" err="1">
                <a:latin typeface="+mj-lt"/>
              </a:rPr>
              <a:t>biochem</a:t>
            </a:r>
            <a:r>
              <a:rPr lang="en-US" dirty="0">
                <a:latin typeface="+mj-lt"/>
              </a:rPr>
              <a:t> + graph ML</a:t>
            </a:r>
          </a:p>
          <a:p>
            <a:pPr lvl="1"/>
            <a:r>
              <a:rPr lang="en-US" dirty="0">
                <a:latin typeface="+mj-lt"/>
              </a:rPr>
              <a:t>Very difficult task - both scalability and generalization suffer quickly with graph size</a:t>
            </a:r>
          </a:p>
          <a:p>
            <a:r>
              <a:rPr lang="en-US" dirty="0">
                <a:latin typeface="+mj-lt"/>
              </a:rPr>
              <a:t>Desirable model properties</a:t>
            </a:r>
          </a:p>
          <a:p>
            <a:pPr marL="685800" lvl="1" indent="-342900">
              <a:buFont typeface="+mj-lt"/>
              <a:buAutoNum type="arabicPeriod"/>
            </a:pPr>
            <a:r>
              <a:rPr lang="en-US" dirty="0">
                <a:latin typeface="+mj-lt"/>
              </a:rPr>
              <a:t>Expressive power</a:t>
            </a:r>
          </a:p>
          <a:p>
            <a:pPr marL="685800" lvl="1" indent="-342900">
              <a:buFont typeface="+mj-lt"/>
              <a:buAutoNum type="arabicPeriod"/>
            </a:pPr>
            <a:r>
              <a:rPr lang="en-US" dirty="0">
                <a:latin typeface="+mj-lt"/>
              </a:rPr>
              <a:t>Scalability</a:t>
            </a:r>
          </a:p>
          <a:p>
            <a:pPr marL="685800" lvl="1" indent="-342900">
              <a:buFont typeface="+mj-lt"/>
              <a:buAutoNum type="arabicPeriod"/>
            </a:pPr>
            <a:r>
              <a:rPr lang="en-US" dirty="0">
                <a:latin typeface="+mj-lt"/>
              </a:rPr>
              <a:t>Isomorphism consistency</a:t>
            </a:r>
          </a:p>
          <a:p>
            <a:pPr marL="685800" lvl="1" indent="-342900">
              <a:buFont typeface="+mj-lt"/>
              <a:buAutoNum type="arabicPeriod"/>
            </a:pPr>
            <a:r>
              <a:rPr lang="en-US" dirty="0">
                <a:latin typeface="+mj-lt"/>
              </a:rPr>
              <a:t>Novelty</a:t>
            </a:r>
          </a:p>
          <a:p>
            <a:r>
              <a:rPr lang="en-US" i="1" dirty="0">
                <a:latin typeface="+mj-lt"/>
              </a:rPr>
              <a:t>Permutation-equivariant graph GAN with autoregressive sampling?</a:t>
            </a:r>
            <a:endParaRPr lang="en-US" dirty="0">
              <a:latin typeface="+mj-lt"/>
            </a:endParaRPr>
          </a:p>
        </p:txBody>
      </p:sp>
      <p:sp>
        <p:nvSpPr>
          <p:cNvPr id="8" name="Title 7">
            <a:extLst>
              <a:ext uri="{FF2B5EF4-FFF2-40B4-BE49-F238E27FC236}">
                <a16:creationId xmlns:a16="http://schemas.microsoft.com/office/drawing/2014/main" id="{91C12950-B05E-D32E-19F9-C4BC9FCA1DD9}"/>
              </a:ext>
            </a:extLst>
          </p:cNvPr>
          <p:cNvSpPr>
            <a:spLocks noGrp="1"/>
          </p:cNvSpPr>
          <p:nvPr>
            <p:ph type="title"/>
          </p:nvPr>
        </p:nvSpPr>
        <p:spPr>
          <a:xfrm>
            <a:off x="904875" y="131032"/>
            <a:ext cx="7726363" cy="1072753"/>
          </a:xfrm>
        </p:spPr>
        <p:txBody>
          <a:bodyPr>
            <a:normAutofit fontScale="90000"/>
          </a:bodyPr>
          <a:lstStyle/>
          <a:p>
            <a:r>
              <a:rPr lang="en-US" sz="3600" dirty="0"/>
              <a:t>4.1	Geometric Graph Generation with CRPs</a:t>
            </a:r>
            <a:br>
              <a:rPr lang="en-US" sz="3600" dirty="0"/>
            </a:br>
            <a:r>
              <a:rPr lang="en-US" sz="2700" b="0" i="1" dirty="0"/>
              <a:t>Motivation</a:t>
            </a:r>
            <a:br>
              <a:rPr lang="en-US" dirty="0"/>
            </a:br>
            <a:endParaRPr lang="en-GB" sz="2400" b="0" i="1" dirty="0"/>
          </a:p>
        </p:txBody>
      </p:sp>
      <p:sp>
        <p:nvSpPr>
          <p:cNvPr id="5" name="Date Placeholder 4">
            <a:extLst>
              <a:ext uri="{FF2B5EF4-FFF2-40B4-BE49-F238E27FC236}">
                <a16:creationId xmlns:a16="http://schemas.microsoft.com/office/drawing/2014/main" id="{378ED817-B6FD-9B01-A09E-295F7C03BD5B}"/>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B33D32C4-6649-6220-EA62-FB5D756E6C5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598FE89-EDAF-66D0-C4F9-717507CF7EA7}"/>
              </a:ext>
            </a:extLst>
          </p:cNvPr>
          <p:cNvSpPr>
            <a:spLocks noGrp="1"/>
          </p:cNvSpPr>
          <p:nvPr>
            <p:ph type="sldNum" sz="quarter" idx="12"/>
          </p:nvPr>
        </p:nvSpPr>
        <p:spPr/>
        <p:txBody>
          <a:bodyPr/>
          <a:lstStyle/>
          <a:p>
            <a:fld id="{E1E1CD7C-2161-7D43-862E-CE4C333CD873}" type="slidenum">
              <a:rPr lang="fr-FR" smtClean="0"/>
              <a:pPr/>
              <a:t>34</a:t>
            </a:fld>
            <a:endParaRPr lang="fr-FR" dirty="0"/>
          </a:p>
        </p:txBody>
      </p:sp>
    </p:spTree>
    <p:extLst>
      <p:ext uri="{BB962C8B-B14F-4D97-AF65-F5344CB8AC3E}">
        <p14:creationId xmlns:p14="http://schemas.microsoft.com/office/powerpoint/2010/main" val="5650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6" dur="500"/>
                                        <p:tgtEl>
                                          <p:spTgt spid="9">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randombar(horizontal)">
                                      <p:cBhvr>
                                        <p:cTn id="41"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AF4103-D43E-7E8A-23F3-0D4851647C7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52288BF-8539-B841-42B5-27B39398A1DC}"/>
                  </a:ext>
                </a:extLst>
              </p:cNvPr>
              <p:cNvSpPr>
                <a:spLocks noGrp="1"/>
              </p:cNvSpPr>
              <p:nvPr>
                <p:ph idx="1"/>
              </p:nvPr>
            </p:nvSpPr>
            <p:spPr/>
            <p:txBody>
              <a:bodyPr anchor="ctr">
                <a:normAutofit fontScale="92500" lnSpcReduction="10000"/>
              </a:bodyPr>
              <a:lstStyle/>
              <a:p>
                <a:r>
                  <a:rPr lang="en-US" dirty="0">
                    <a:latin typeface="+mj-lt"/>
                  </a:rPr>
                  <a:t>Generative models</a:t>
                </a:r>
              </a:p>
              <a:p>
                <a:pPr lvl="1"/>
                <a:r>
                  <a:rPr lang="en-US" dirty="0">
                    <a:latin typeface="+mj-lt"/>
                  </a:rPr>
                  <a:t>Dataset: </a:t>
                </a:r>
                <a14:m>
                  <m:oMath xmlns:m="http://schemas.openxmlformats.org/officeDocument/2006/math">
                    <m:r>
                      <a:rPr lang="en-US" b="0" i="1" smtClean="0">
                        <a:latin typeface="Cambria Math" panose="02040503050406030204" pitchFamily="18" charset="0"/>
                      </a:rPr>
                      <m:t>𝒟</m:t>
                    </m:r>
                    <m:r>
                      <a:rPr lang="en-US" b="0" i="1" smtClean="0">
                        <a:latin typeface="Cambria Math" panose="02040503050406030204" pitchFamily="18" charset="0"/>
                      </a:rPr>
                      <m:t>=</m:t>
                    </m:r>
                    <m:r>
                      <m:rPr>
                        <m:lit/>
                      </m:rP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Likelihood estimation with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𝐹</m:t>
                        </m:r>
                      </m:sup>
                    </m:sSup>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b="0" dirty="0">
                  <a:latin typeface="+mj-lt"/>
                </a:endParaRPr>
              </a:p>
              <a:p>
                <a:pPr marL="3429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r>
                            <a:rPr lang="en-US" b="1" i="1" smtClean="0">
                              <a:latin typeface="Cambria Math" panose="02040503050406030204" pitchFamily="18" charset="0"/>
                            </a:rPr>
                            <m:t>𝑿</m:t>
                          </m:r>
                          <m:r>
                            <a:rPr lang="en-US" b="0" i="1" smtClean="0">
                              <a:latin typeface="Cambria Math" panose="02040503050406030204" pitchFamily="18" charset="0"/>
                            </a:rPr>
                            <m:t>∈</m:t>
                          </m:r>
                          <m:r>
                            <a:rPr lang="en-US" b="0" i="1" smtClean="0">
                              <a:latin typeface="Cambria Math" panose="02040503050406030204" pitchFamily="18" charset="0"/>
                            </a:rPr>
                            <m:t>𝒟</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1">
                                  <a:latin typeface="Cambria Math" panose="02040503050406030204" pitchFamily="18" charset="0"/>
                                </a:rPr>
                                <m:t>𝑿</m:t>
                              </m:r>
                            </m:e>
                          </m:d>
                        </m:e>
                      </m:d>
                    </m:oMath>
                  </m:oMathPara>
                </a14:m>
                <a:endParaRPr lang="en-US" b="0" i="1" dirty="0">
                  <a:latin typeface="+mj-lt"/>
                </a:endParaRPr>
              </a:p>
              <a:p>
                <a:pPr lvl="1"/>
                <a:r>
                  <a:rPr lang="en-US" dirty="0">
                    <a:latin typeface="+mj-lt"/>
                  </a:rPr>
                  <a:t>Sampling from latent noise </a:t>
                </a:r>
                <a14:m>
                  <m:oMath xmlns:m="http://schemas.openxmlformats.org/officeDocument/2006/math">
                    <m:r>
                      <a:rPr lang="en-US" b="0" i="1" smtClean="0">
                        <a:latin typeface="Cambria Math" panose="02040503050406030204" pitchFamily="18" charset="0"/>
                      </a:rPr>
                      <m:t>𝑍</m:t>
                    </m:r>
                  </m:oMath>
                </a14:m>
                <a:r>
                  <a:rPr lang="en-US" b="0" dirty="0">
                    <a:latin typeface="+mj-lt"/>
                  </a:rPr>
                  <a:t> with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𝐷</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𝐹</m:t>
                        </m:r>
                      </m:sup>
                    </m:sSup>
                  </m:oMath>
                </a14:m>
                <a:endParaRPr lang="en-US" b="0" dirty="0">
                  <a:latin typeface="+mj-lt"/>
                </a:endParaRPr>
              </a:p>
              <a:p>
                <a:pPr marL="342900"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𝑔</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𝒟</m:t>
                                  </m:r>
                                  <m:r>
                                    <a:rPr lang="en-US" b="0" i="1" smtClean="0">
                                      <a:latin typeface="Cambria Math" panose="02040503050406030204" pitchFamily="18" charset="0"/>
                                    </a:rPr>
                                    <m:t>,</m:t>
                                  </m:r>
                                  <m:r>
                                    <a:rPr lang="en-US" b="0" i="1" smtClean="0">
                                      <a:latin typeface="Cambria Math" panose="02040503050406030204" pitchFamily="18" charset="0"/>
                                    </a:rPr>
                                    <m:t>𝑍</m:t>
                                  </m:r>
                                </m:sub>
                              </m:sSub>
                            </m:e>
                          </m:func>
                        </m:e>
                      </m:func>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ℙ</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d>
                                  <m:r>
                                    <a:rPr lang="en-US" b="0" i="1" smtClean="0">
                                      <a:latin typeface="Cambria Math" panose="02040503050406030204" pitchFamily="18" charset="0"/>
                                    </a:rPr>
                                    <m:t>∈</m:t>
                                  </m:r>
                                  <m:r>
                                    <a:rPr lang="en-US" b="0" i="1" smtClean="0">
                                      <a:latin typeface="Cambria Math" panose="02040503050406030204" pitchFamily="18" charset="0"/>
                                    </a:rPr>
                                    <m:t>𝒟</m:t>
                                  </m:r>
                                </m:e>
                              </m:d>
                            </m:e>
                          </m:func>
                        </m:e>
                      </m:d>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1" i="1" smtClean="0">
                              <a:latin typeface="Cambria Math" panose="02040503050406030204" pitchFamily="18" charset="0"/>
                            </a:rPr>
                            <m:t>𝑿</m:t>
                          </m:r>
                        </m:e>
                      </m:acc>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d>
                    </m:oMath>
                  </m:oMathPara>
                </a14:m>
                <a:endParaRPr lang="en-US" b="0" dirty="0">
                  <a:latin typeface="+mj-lt"/>
                </a:endParaRPr>
              </a:p>
              <a:p>
                <a:r>
                  <a:rPr lang="en-US" dirty="0">
                    <a:latin typeface="+mj-lt"/>
                  </a:rPr>
                  <a:t>Wasserstein Generative Adversarial Networks (WGANs) </a:t>
                </a:r>
                <a:r>
                  <a:rPr lang="en-US" dirty="0">
                    <a:solidFill>
                      <a:schemeClr val="accent1"/>
                    </a:solidFill>
                    <a:latin typeface="+mj-lt"/>
                  </a:rPr>
                  <a:t>[6]</a:t>
                </a:r>
              </a:p>
              <a:p>
                <a:pPr lvl="1"/>
                <a:r>
                  <a:rPr lang="en-US" b="0" dirty="0">
                    <a:latin typeface="+mj-lt"/>
                  </a:rPr>
                  <a:t>One of the most powerful generative models</a:t>
                </a:r>
              </a:p>
              <a:p>
                <a:pPr lvl="1"/>
                <a:r>
                  <a:rPr lang="en-US" dirty="0">
                    <a:latin typeface="+mj-lt"/>
                  </a:rPr>
                  <a:t>Generator model optimized against the </a:t>
                </a:r>
                <a:r>
                  <a:rPr lang="en-US" i="1" dirty="0">
                    <a:latin typeface="+mj-lt"/>
                  </a:rPr>
                  <a:t>best</a:t>
                </a:r>
                <a:r>
                  <a:rPr lang="en-US" dirty="0">
                    <a:latin typeface="+mj-lt"/>
                  </a:rPr>
                  <a:t> likelihood model</a:t>
                </a:r>
              </a:p>
              <a:p>
                <a:pPr marL="342900" lvl="1"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𝑔</m:t>
                          </m:r>
                        </m:e>
                        <m:sup>
                          <m:r>
                            <a:rPr lang="en-US" i="1">
                              <a:latin typeface="Cambria Math" panose="02040503050406030204" pitchFamily="18" charset="0"/>
                            </a:rPr>
                            <m:t>∗</m:t>
                          </m:r>
                        </m:sup>
                      </m:s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arg</m:t>
                          </m:r>
                        </m:fName>
                        <m:e>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𝑔</m:t>
                                  </m:r>
                                </m:lim>
                              </m:limLow>
                            </m:fName>
                            <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0" smtClean="0">
                                      <a:latin typeface="Cambria Math" panose="02040503050406030204" pitchFamily="18" charset="0"/>
                                    </a:rPr>
                                    <m:t>1−</m:t>
                                  </m:r>
                                  <m:r>
                                    <m:rPr>
                                      <m:sty m:val="p"/>
                                    </m:rPr>
                                    <a:rPr lang="en-US" b="0" i="0" smtClean="0">
                                      <a:latin typeface="Cambria Math" panose="02040503050406030204" pitchFamily="18" charset="0"/>
                                    </a:rPr>
                                    <m:t>Lipschitz</m:t>
                                  </m:r>
                                  <m:r>
                                    <a:rPr lang="en-US" b="0" i="0" smtClean="0">
                                      <a:latin typeface="Cambria Math" panose="02040503050406030204" pitchFamily="18" charset="0"/>
                                    </a:rPr>
                                    <m:t> </m:t>
                                  </m:r>
                                  <m:r>
                                    <a:rPr lang="en-US" b="0" i="1" smtClean="0">
                                      <a:latin typeface="Cambria Math" panose="02040503050406030204" pitchFamily="18" charset="0"/>
                                    </a:rPr>
                                    <m:t>𝑓</m:t>
                                  </m:r>
                                </m:lim>
                              </m:limLow>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b="1" i="1" smtClean="0">
                                      <a:latin typeface="Cambria Math" panose="02040503050406030204" pitchFamily="18" charset="0"/>
                                    </a:rPr>
                                    <m:t>𝑿</m:t>
                                  </m:r>
                                  <m:r>
                                    <a:rPr lang="en-US" b="0" i="1" smtClean="0">
                                      <a:latin typeface="Cambria Math" panose="02040503050406030204" pitchFamily="18" charset="0"/>
                                    </a:rPr>
                                    <m:t>∈</m:t>
                                  </m:r>
                                  <m:r>
                                    <a:rPr lang="en-US" i="1">
                                      <a:latin typeface="Cambria Math" panose="02040503050406030204" pitchFamily="18" charset="0"/>
                                    </a:rPr>
                                    <m:t>𝒟</m:t>
                                  </m:r>
                                  <m:r>
                                    <a:rPr lang="en-US" i="1">
                                      <a:latin typeface="Cambria Math" panose="02040503050406030204" pitchFamily="18" charset="0"/>
                                    </a:rPr>
                                    <m:t>,</m:t>
                                  </m:r>
                                  <m:r>
                                    <a:rPr lang="en-US" i="1">
                                      <a:latin typeface="Cambria Math" panose="02040503050406030204" pitchFamily="18" charset="0"/>
                                    </a:rPr>
                                    <m:t>𝑍</m:t>
                                  </m:r>
                                </m:sub>
                              </m:sSub>
                            </m:e>
                          </m:func>
                        </m:e>
                      </m:func>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1" smtClean="0">
                                  <a:latin typeface="Cambria Math" panose="02040503050406030204" pitchFamily="18" charset="0"/>
                                </a:rPr>
                                <m:t>𝑿</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d>
                            </m:e>
                          </m:d>
                        </m:e>
                      </m:d>
                    </m:oMath>
                  </m:oMathPara>
                </a14:m>
                <a:endParaRPr lang="en-US" b="0" dirty="0">
                  <a:latin typeface="+mj-lt"/>
                </a:endParaRPr>
              </a:p>
              <a:p>
                <a:r>
                  <a:rPr lang="en-US" b="0" dirty="0">
                    <a:latin typeface="+mj-lt"/>
                  </a:rPr>
                  <a:t>Dense graph generation</a:t>
                </a:r>
              </a:p>
              <a:p>
                <a:pPr lvl="1"/>
                <a:r>
                  <a:rPr lang="en-US" dirty="0">
                    <a:latin typeface="+mj-lt"/>
                  </a:rPr>
                  <a:t>Dataset: </a:t>
                </a:r>
                <a14:m>
                  <m:oMath xmlns:m="http://schemas.openxmlformats.org/officeDocument/2006/math">
                    <m:r>
                      <a:rPr lang="en-US" i="1">
                        <a:latin typeface="Cambria Math" panose="02040503050406030204" pitchFamily="18" charset="0"/>
                      </a:rPr>
                      <m:t>𝒟</m:t>
                    </m:r>
                    <m:r>
                      <a:rPr lang="en-US" i="1">
                        <a:latin typeface="Cambria Math" panose="02040503050406030204" pitchFamily="18" charset="0"/>
                      </a:rPr>
                      <m:t>=</m:t>
                    </m:r>
                    <m:r>
                      <m:rPr>
                        <m:lit/>
                      </m:rPr>
                      <a:rPr lang="en-US" i="1">
                        <a:latin typeface="Cambria Math" panose="02040503050406030204" pitchFamily="18" charset="0"/>
                      </a:rPr>
                      <m:t>{</m:t>
                    </m:r>
                    <m:r>
                      <m:rPr>
                        <m:lit/>
                      </m:rP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m:rPr>
                            <m:lit/>
                          </m:rPr>
                          <a:rPr lang="en-US" i="1">
                            <a:latin typeface="Cambria Math" panose="02040503050406030204" pitchFamily="18" charset="0"/>
                          </a:rPr>
                          <m:t>}</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sSubSup>
                  </m:oMath>
                </a14:m>
                <a:endParaRPr lang="en-US" b="0" dirty="0">
                  <a:latin typeface="+mj-lt"/>
                </a:endParaRPr>
              </a:p>
            </p:txBody>
          </p:sp>
        </mc:Choice>
        <mc:Fallback xmlns="">
          <p:sp>
            <p:nvSpPr>
              <p:cNvPr id="9" name="Content Placeholder 8">
                <a:extLst>
                  <a:ext uri="{FF2B5EF4-FFF2-40B4-BE49-F238E27FC236}">
                    <a16:creationId xmlns:a16="http://schemas.microsoft.com/office/drawing/2014/main" id="{152288BF-8539-B841-42B5-27B39398A1D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C711A9A4-0A62-452A-E92B-B5BF676452F3}"/>
              </a:ext>
            </a:extLst>
          </p:cNvPr>
          <p:cNvSpPr>
            <a:spLocks noGrp="1"/>
          </p:cNvSpPr>
          <p:nvPr>
            <p:ph type="title"/>
          </p:nvPr>
        </p:nvSpPr>
        <p:spPr>
          <a:xfrm>
            <a:off x="904875" y="131032"/>
            <a:ext cx="7207279" cy="1072753"/>
          </a:xfrm>
        </p:spPr>
        <p:txBody>
          <a:bodyPr>
            <a:normAutofit/>
          </a:bodyPr>
          <a:lstStyle/>
          <a:p>
            <a:r>
              <a:rPr lang="en-US" dirty="0"/>
              <a:t>4.1	Geometric Graph Generation with CRPs</a:t>
            </a:r>
            <a:br>
              <a:rPr lang="en-US" dirty="0"/>
            </a:br>
            <a:r>
              <a:rPr lang="en-US" sz="2400" b="0" i="1" dirty="0"/>
              <a:t>Background - Gen AI for graphs</a:t>
            </a:r>
            <a:endParaRPr lang="en-GB" sz="2400" b="0" i="1" dirty="0"/>
          </a:p>
        </p:txBody>
      </p:sp>
      <p:sp>
        <p:nvSpPr>
          <p:cNvPr id="5" name="Date Placeholder 4">
            <a:extLst>
              <a:ext uri="{FF2B5EF4-FFF2-40B4-BE49-F238E27FC236}">
                <a16:creationId xmlns:a16="http://schemas.microsoft.com/office/drawing/2014/main" id="{DA552888-22BC-3F44-1D80-368F03DD0D5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3C99AD4-52CC-31FD-7DC2-FEED21E4D77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39A52DF-13CE-1135-BC19-C4AE63691810}"/>
              </a:ext>
            </a:extLst>
          </p:cNvPr>
          <p:cNvSpPr>
            <a:spLocks noGrp="1"/>
          </p:cNvSpPr>
          <p:nvPr>
            <p:ph type="sldNum" sz="quarter" idx="12"/>
          </p:nvPr>
        </p:nvSpPr>
        <p:spPr/>
        <p:txBody>
          <a:bodyPr/>
          <a:lstStyle/>
          <a:p>
            <a:fld id="{E1E1CD7C-2161-7D43-862E-CE4C333CD873}" type="slidenum">
              <a:rPr lang="fr-FR" smtClean="0"/>
              <a:pPr/>
              <a:t>35</a:t>
            </a:fld>
            <a:endParaRPr lang="fr-FR" dirty="0"/>
          </a:p>
        </p:txBody>
      </p:sp>
    </p:spTree>
    <p:extLst>
      <p:ext uri="{BB962C8B-B14F-4D97-AF65-F5344CB8AC3E}">
        <p14:creationId xmlns:p14="http://schemas.microsoft.com/office/powerpoint/2010/main" val="382562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6" dur="500"/>
                                        <p:tgtEl>
                                          <p:spTgt spid="9">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randombar(horizontal)">
                                      <p:cBhvr>
                                        <p:cTn id="41" dur="500"/>
                                        <p:tgtEl>
                                          <p:spTgt spid="9">
                                            <p:txEl>
                                              <p:pRg st="10" end="10"/>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9">
                                            <p:txEl>
                                              <p:pRg st="11" end="11"/>
                                            </p:txEl>
                                          </p:spTgt>
                                        </p:tgtEl>
                                        <p:attrNameLst>
                                          <p:attrName>style.visibility</p:attrName>
                                        </p:attrNameLst>
                                      </p:cBhvr>
                                      <p:to>
                                        <p:strVal val="visible"/>
                                      </p:to>
                                    </p:set>
                                    <p:animEffect transition="in" filter="randombar(horizontal)">
                                      <p:cBhvr>
                                        <p:cTn id="44" dur="500"/>
                                        <p:tgtEl>
                                          <p:spTgt spid="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30D1D-B2AB-B313-AB65-67CE27644D8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6404063F-CBF1-8B58-C4DA-3FF13AA95E3F}"/>
                  </a:ext>
                </a:extLst>
              </p:cNvPr>
              <p:cNvSpPr>
                <a:spLocks noGrp="1"/>
              </p:cNvSpPr>
              <p:nvPr>
                <p:ph sz="half" idx="1"/>
              </p:nvPr>
            </p:nvSpPr>
            <p:spPr/>
            <p:txBody>
              <a:bodyPr anchor="ctr">
                <a:normAutofit/>
              </a:bodyPr>
              <a:lstStyle/>
              <a:p>
                <a:r>
                  <a:rPr lang="en-US" dirty="0">
                    <a:latin typeface="+mj-lt"/>
                  </a:rPr>
                  <a:t>WGAN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ℓ</m:t>
                        </m:r>
                      </m:e>
                      <m:sub>
                        <m:r>
                          <a:rPr lang="en-US" b="0" i="1" smtClean="0">
                            <a:latin typeface="Cambria Math" panose="02040503050406030204" pitchFamily="18" charset="0"/>
                          </a:rPr>
                          <m:t>𝑝</m:t>
                        </m:r>
                      </m:sub>
                    </m:sSub>
                  </m:oMath>
                </a14:m>
                <a:r>
                  <a:rPr lang="en-US" dirty="0">
                    <a:latin typeface="+mj-lt"/>
                  </a:rPr>
                  <a:t>-penalty Lipschitz regularization</a:t>
                </a:r>
              </a:p>
              <a:p>
                <a:r>
                  <a:rPr lang="en-US" dirty="0">
                    <a:latin typeface="+mj-lt"/>
                  </a:rPr>
                  <a:t>Permutation equivariant</a:t>
                </a:r>
              </a:p>
              <a:p>
                <a:pPr lvl="1"/>
                <a14:m>
                  <m:oMath xmlns:m="http://schemas.openxmlformats.org/officeDocument/2006/math">
                    <m:r>
                      <a:rPr lang="en-US" b="0" i="1" smtClean="0">
                        <a:latin typeface="Cambria Math" panose="02040503050406030204" pitchFamily="18" charset="0"/>
                      </a:rPr>
                      <m:t>𝑃</m:t>
                    </m:r>
                  </m:oMath>
                </a14:m>
                <a:r>
                  <a:rPr lang="en-US" dirty="0">
                    <a:latin typeface="+mj-lt"/>
                  </a:rPr>
                  <a:t> dimensions of latent noise as learnable fixed node features, other </a:t>
                </a:r>
                <a14:m>
                  <m:oMath xmlns:m="http://schemas.openxmlformats.org/officeDocument/2006/math">
                    <m:r>
                      <a:rPr lang="en-US" b="0" i="0" smtClean="0">
                        <a:latin typeface="Cambria Math" panose="02040503050406030204" pitchFamily="18" charset="0"/>
                      </a:rPr>
                      <m:t>𝐷</m:t>
                    </m:r>
                    <m:r>
                      <a:rPr lang="en-US" b="0" i="0" smtClean="0">
                        <a:latin typeface="Cambria Math" panose="02040503050406030204" pitchFamily="18" charset="0"/>
                      </a:rPr>
                      <m:t>−</m:t>
                    </m:r>
                    <m:r>
                      <a:rPr lang="en-US" i="1">
                        <a:latin typeface="Cambria Math" panose="02040503050406030204" pitchFamily="18" charset="0"/>
                      </a:rPr>
                      <m:t>𝑃</m:t>
                    </m:r>
                  </m:oMath>
                </a14:m>
                <a:r>
                  <a:rPr lang="en-US" dirty="0">
                    <a:latin typeface="+mj-lt"/>
                  </a:rPr>
                  <a:t> dimensions a noise vector constant across a single graph</a:t>
                </a:r>
              </a:p>
              <a:p>
                <a:pPr lvl="1"/>
                <a:r>
                  <a:rPr lang="en-US" dirty="0">
                    <a:latin typeface="+mj-lt"/>
                  </a:rPr>
                  <a:t>Network layers only pointwise MLPs or (multi-head) attention</a:t>
                </a:r>
              </a:p>
              <a:p>
                <a:r>
                  <a:rPr lang="en-US" dirty="0">
                    <a:latin typeface="+mj-lt"/>
                  </a:rPr>
                  <a:t>Root, Trunk, Readout - modular generator architecture components </a:t>
                </a:r>
              </a:p>
            </p:txBody>
          </p:sp>
        </mc:Choice>
        <mc:Fallback xmlns="">
          <p:sp>
            <p:nvSpPr>
              <p:cNvPr id="9" name="Content Placeholder 8">
                <a:extLst>
                  <a:ext uri="{FF2B5EF4-FFF2-40B4-BE49-F238E27FC236}">
                    <a16:creationId xmlns:a16="http://schemas.microsoft.com/office/drawing/2014/main" id="{6404063F-CBF1-8B58-C4DA-3FF13AA95E3F}"/>
                  </a:ext>
                </a:extLst>
              </p:cNvPr>
              <p:cNvSpPr>
                <a:spLocks noGrp="1" noRot="1" noChangeAspect="1" noMove="1" noResize="1" noEditPoints="1" noAdjustHandles="1" noChangeArrowheads="1" noChangeShapeType="1" noTextEdit="1"/>
              </p:cNvSpPr>
              <p:nvPr>
                <p:ph sz="half" idx="1"/>
              </p:nvPr>
            </p:nvSpPr>
            <p:spPr>
              <a:blipFill>
                <a:blip r:embed="rId3"/>
                <a:stretch>
                  <a:fillRect/>
                </a:stretch>
              </a:blipFill>
            </p:spPr>
            <p:txBody>
              <a:bodyPr/>
              <a:lstStyle/>
              <a:p>
                <a:r>
                  <a:rPr lang="en-GB">
                    <a:noFill/>
                  </a:rPr>
                  <a:t> </a:t>
                </a:r>
              </a:p>
            </p:txBody>
          </p:sp>
        </mc:Fallback>
      </mc:AlternateContent>
      <p:pic>
        <p:nvPicPr>
          <p:cNvPr id="4" name="Content Placeholder 3" descr="A diagram of a diagram&#10;&#10;AI-generated content may be incorrect.">
            <a:extLst>
              <a:ext uri="{FF2B5EF4-FFF2-40B4-BE49-F238E27FC236}">
                <a16:creationId xmlns:a16="http://schemas.microsoft.com/office/drawing/2014/main" id="{5D1FD8BC-A804-2EA4-A6E8-2822C353E7DC}"/>
              </a:ext>
            </a:extLst>
          </p:cNvPr>
          <p:cNvPicPr>
            <a:picLocks noGrp="1" noChangeAspect="1"/>
          </p:cNvPicPr>
          <p:nvPr>
            <p:ph sz="half" idx="2"/>
          </p:nvPr>
        </p:nvPicPr>
        <p:blipFill>
          <a:blip r:embed="rId4"/>
          <a:stretch>
            <a:fillRect/>
          </a:stretch>
        </p:blipFill>
        <p:spPr>
          <a:xfrm>
            <a:off x="4959350" y="2182228"/>
            <a:ext cx="3671888" cy="2026819"/>
          </a:xfrm>
        </p:spPr>
      </p:pic>
      <p:sp>
        <p:nvSpPr>
          <p:cNvPr id="8" name="Title 7">
            <a:extLst>
              <a:ext uri="{FF2B5EF4-FFF2-40B4-BE49-F238E27FC236}">
                <a16:creationId xmlns:a16="http://schemas.microsoft.com/office/drawing/2014/main" id="{49038022-3F64-EA3D-AA2C-AE270CD54C27}"/>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Background - GG-GAN </a:t>
            </a:r>
            <a:r>
              <a:rPr lang="en-US" sz="2400" b="0" i="1" dirty="0">
                <a:solidFill>
                  <a:schemeClr val="accent1"/>
                </a:solidFill>
              </a:rPr>
              <a:t>[13]</a:t>
            </a:r>
            <a:endParaRPr lang="en-GB" sz="2400" b="0" i="1" dirty="0">
              <a:solidFill>
                <a:schemeClr val="accent1"/>
              </a:solidFill>
            </a:endParaRPr>
          </a:p>
        </p:txBody>
      </p:sp>
      <p:sp>
        <p:nvSpPr>
          <p:cNvPr id="5" name="Date Placeholder 4">
            <a:extLst>
              <a:ext uri="{FF2B5EF4-FFF2-40B4-BE49-F238E27FC236}">
                <a16:creationId xmlns:a16="http://schemas.microsoft.com/office/drawing/2014/main" id="{C9A297DD-A5BC-ACCA-9F47-CCA17738AC1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70FE06D1-2534-A1F1-95F6-8EC944620858}"/>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FAC12B5-6B02-8AD0-FD5C-E29A51D0FCAD}"/>
              </a:ext>
            </a:extLst>
          </p:cNvPr>
          <p:cNvSpPr>
            <a:spLocks noGrp="1"/>
          </p:cNvSpPr>
          <p:nvPr>
            <p:ph type="sldNum" sz="quarter" idx="12"/>
          </p:nvPr>
        </p:nvSpPr>
        <p:spPr/>
        <p:txBody>
          <a:bodyPr/>
          <a:lstStyle/>
          <a:p>
            <a:fld id="{E1E1CD7C-2161-7D43-862E-CE4C333CD873}" type="slidenum">
              <a:rPr lang="fr-FR" smtClean="0"/>
              <a:pPr/>
              <a:t>36</a:t>
            </a:fld>
            <a:endParaRPr lang="fr-FR" dirty="0"/>
          </a:p>
        </p:txBody>
      </p:sp>
    </p:spTree>
    <p:extLst>
      <p:ext uri="{BB962C8B-B14F-4D97-AF65-F5344CB8AC3E}">
        <p14:creationId xmlns:p14="http://schemas.microsoft.com/office/powerpoint/2010/main" val="87295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5" dur="500"/>
                                        <p:tgtEl>
                                          <p:spTgt spid="9">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3" dur="500"/>
                                        <p:tgtEl>
                                          <p:spTgt spid="9">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randombar(horizontal)">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E754-D13D-357B-F5A0-69CD469E722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A3F8211D-DF9F-7F41-6F0F-95518073C575}"/>
                  </a:ext>
                </a:extLst>
              </p:cNvPr>
              <p:cNvSpPr>
                <a:spLocks noGrp="1"/>
              </p:cNvSpPr>
              <p:nvPr>
                <p:ph sz="half" idx="1"/>
              </p:nvPr>
            </p:nvSpPr>
            <p:spPr>
              <a:xfrm>
                <a:off x="904874" y="1563688"/>
                <a:ext cx="5109064" cy="3263504"/>
              </a:xfrm>
            </p:spPr>
            <p:txBody>
              <a:bodyPr anchor="ctr">
                <a:normAutofit fontScale="92500" lnSpcReduction="10000"/>
              </a:bodyPr>
              <a:lstStyle/>
              <a:p>
                <a:r>
                  <a:rPr lang="en-US" dirty="0">
                    <a:latin typeface="+mj-lt"/>
                  </a:rPr>
                  <a:t>Stochastic process within the space of integer partitions</a:t>
                </a:r>
              </a:p>
              <a:p>
                <a:pPr lvl="1"/>
                <a14:m>
                  <m:oMath xmlns:m="http://schemas.openxmlformats.org/officeDocument/2006/math">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nary>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latin typeface="+mj-lt"/>
                </a:endParaRPr>
              </a:p>
              <a:p>
                <a:r>
                  <a:rPr lang="en-US" dirty="0">
                    <a:latin typeface="+mj-lt"/>
                  </a:rPr>
                  <a:t>Chinese restaurant analogy</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num>
                      <m:den>
                        <m:r>
                          <a:rPr lang="en-US" b="0" i="1" smtClean="0">
                            <a:latin typeface="Cambria Math" panose="02040503050406030204" pitchFamily="18" charset="0"/>
                          </a:rPr>
                          <m:t>𝑛</m:t>
                        </m:r>
                      </m:den>
                    </m:f>
                  </m:oMath>
                </a14:m>
                <a:r>
                  <a:rPr lang="en-US" dirty="0">
                    <a:latin typeface="+mj-lt"/>
                  </a:rPr>
                  <a:t> chance to sit at table </a:t>
                </a:r>
                <a14:m>
                  <m:oMath xmlns:m="http://schemas.openxmlformats.org/officeDocument/2006/math">
                    <m:r>
                      <a:rPr lang="en-US" i="1">
                        <a:latin typeface="Cambria Math" panose="02040503050406030204" pitchFamily="18" charset="0"/>
                      </a:rPr>
                      <m:t>𝑘</m:t>
                    </m:r>
                  </m:oMath>
                </a14:m>
                <a:r>
                  <a:rPr lang="en-US" dirty="0">
                    <a:latin typeface="+mj-lt"/>
                  </a:rPr>
                  <a:t> with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sub>
                    </m:sSub>
                  </m:oMath>
                </a14:m>
                <a:r>
                  <a:rPr lang="en-US" dirty="0">
                    <a:latin typeface="+mj-lt"/>
                  </a:rPr>
                  <a:t> customers</a:t>
                </a:r>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r>
                      <a:rPr lang="en-US" b="0" i="0" smtClean="0">
                        <a:latin typeface="Cambria Math" panose="02040503050406030204" pitchFamily="18" charset="0"/>
                      </a:rPr>
                      <m:t> </m:t>
                    </m:r>
                  </m:oMath>
                </a14:m>
                <a:r>
                  <a:rPr lang="en-US" dirty="0">
                    <a:latin typeface="+mj-lt"/>
                  </a:rPr>
                  <a:t>  chance to sit alone at a new table labeled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latin typeface="+mj-lt"/>
                </a:endParaRPr>
              </a:p>
              <a:p>
                <a:r>
                  <a:rPr lang="en-US" dirty="0">
                    <a:latin typeface="+mj-lt"/>
                  </a:rPr>
                  <a:t>Permutation invariant</a:t>
                </a:r>
              </a:p>
              <a:p>
                <a:pPr marL="3429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sSub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r>
                                <a:rPr lang="en-US" b="0" i="1" smtClean="0">
                                  <a:latin typeface="Cambria Math" panose="02040503050406030204" pitchFamily="18" charset="0"/>
                                </a:rPr>
                                <m:t>−1</m:t>
                              </m:r>
                            </m:e>
                          </m:d>
                          <m:r>
                            <a:rPr lang="en-US" b="0" i="1" smtClean="0">
                              <a:latin typeface="Cambria Math" panose="02040503050406030204" pitchFamily="18" charset="0"/>
                            </a:rPr>
                            <m:t>!</m:t>
                          </m:r>
                        </m:e>
                      </m:nary>
                    </m:oMath>
                  </m:oMathPara>
                </a14:m>
                <a:endParaRPr lang="en-US" dirty="0">
                  <a:latin typeface="+mj-lt"/>
                </a:endParaRPr>
              </a:p>
              <a:p>
                <a:r>
                  <a:rPr lang="en-US" dirty="0">
                    <a:latin typeface="+mj-lt"/>
                  </a:rPr>
                  <a:t>Graph generation application</a:t>
                </a:r>
              </a:p>
              <a:p>
                <a:pPr lvl="1"/>
                <a:r>
                  <a:rPr lang="en-US" dirty="0">
                    <a:latin typeface="+mj-lt"/>
                  </a:rPr>
                  <a:t>Customers </a:t>
                </a:r>
                <a14:m>
                  <m:oMath xmlns:m="http://schemas.openxmlformats.org/officeDocument/2006/math">
                    <m:r>
                      <a:rPr lang="en-US" b="0" i="1" smtClean="0">
                        <a:latin typeface="Cambria Math" panose="02040503050406030204" pitchFamily="18" charset="0"/>
                      </a:rPr>
                      <m:t>⇔ </m:t>
                    </m:r>
                  </m:oMath>
                </a14:m>
                <a:r>
                  <a:rPr lang="en-US" dirty="0">
                    <a:latin typeface="+mj-lt"/>
                  </a:rPr>
                  <a:t>nodes</a:t>
                </a:r>
              </a:p>
              <a:p>
                <a:pPr lvl="1"/>
                <a:r>
                  <a:rPr lang="en-US" dirty="0">
                    <a:latin typeface="+mj-lt"/>
                  </a:rPr>
                  <a:t>Tables </a:t>
                </a:r>
                <a14:m>
                  <m:oMath xmlns:m="http://schemas.openxmlformats.org/officeDocument/2006/math">
                    <m:r>
                      <a:rPr lang="en-US" i="1">
                        <a:latin typeface="Cambria Math" panose="02040503050406030204" pitchFamily="18" charset="0"/>
                      </a:rPr>
                      <m:t>⇔</m:t>
                    </m:r>
                  </m:oMath>
                </a14:m>
                <a:r>
                  <a:rPr lang="en-US" dirty="0">
                    <a:latin typeface="+mj-lt"/>
                  </a:rPr>
                  <a:t> communities</a:t>
                </a:r>
              </a:p>
            </p:txBody>
          </p:sp>
        </mc:Choice>
        <mc:Fallback xmlns="">
          <p:sp>
            <p:nvSpPr>
              <p:cNvPr id="9" name="Content Placeholder 8">
                <a:extLst>
                  <a:ext uri="{FF2B5EF4-FFF2-40B4-BE49-F238E27FC236}">
                    <a16:creationId xmlns:a16="http://schemas.microsoft.com/office/drawing/2014/main" id="{A3F8211D-DF9F-7F41-6F0F-95518073C575}"/>
                  </a:ext>
                </a:extLst>
              </p:cNvPr>
              <p:cNvSpPr>
                <a:spLocks noGrp="1" noRot="1" noChangeAspect="1" noMove="1" noResize="1" noEditPoints="1" noAdjustHandles="1" noChangeArrowheads="1" noChangeShapeType="1" noTextEdit="1"/>
              </p:cNvSpPr>
              <p:nvPr>
                <p:ph sz="half" idx="1"/>
              </p:nvPr>
            </p:nvSpPr>
            <p:spPr>
              <a:xfrm>
                <a:off x="904874" y="1563688"/>
                <a:ext cx="5109064" cy="3263504"/>
              </a:xfrm>
              <a:blipFill>
                <a:blip r:embed="rId3"/>
                <a:stretch>
                  <a:fillRect t="-1495" b="-187"/>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6DFE3379-0C66-7A50-AD01-F5BD1549FE35}"/>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Background - The Chinese Restaurant Process (CRP)</a:t>
            </a:r>
            <a:r>
              <a:rPr lang="en-US" sz="2400" b="0" dirty="0"/>
              <a:t> </a:t>
            </a:r>
            <a:r>
              <a:rPr lang="en-US" sz="2400" b="0" i="1" dirty="0">
                <a:solidFill>
                  <a:schemeClr val="accent1"/>
                </a:solidFill>
              </a:rPr>
              <a:t>[2]</a:t>
            </a:r>
            <a:r>
              <a:rPr lang="en-US" sz="2400" b="0" i="1" dirty="0"/>
              <a:t> </a:t>
            </a:r>
            <a:endParaRPr lang="en-GB" sz="2400" b="0" i="1" dirty="0"/>
          </a:p>
        </p:txBody>
      </p:sp>
      <p:sp>
        <p:nvSpPr>
          <p:cNvPr id="5" name="Date Placeholder 4">
            <a:extLst>
              <a:ext uri="{FF2B5EF4-FFF2-40B4-BE49-F238E27FC236}">
                <a16:creationId xmlns:a16="http://schemas.microsoft.com/office/drawing/2014/main" id="{D9D77E64-B2B5-B64B-5492-4E8310842BE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0914C33-8D37-DDA9-D925-862415E86DC4}"/>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A0A4DDC-5D12-B829-A6B7-4B7C03EE2E4D}"/>
              </a:ext>
            </a:extLst>
          </p:cNvPr>
          <p:cNvSpPr>
            <a:spLocks noGrp="1"/>
          </p:cNvSpPr>
          <p:nvPr>
            <p:ph type="sldNum" sz="quarter" idx="12"/>
          </p:nvPr>
        </p:nvSpPr>
        <p:spPr/>
        <p:txBody>
          <a:bodyPr/>
          <a:lstStyle/>
          <a:p>
            <a:fld id="{E1E1CD7C-2161-7D43-862E-CE4C333CD873}" type="slidenum">
              <a:rPr lang="fr-FR" smtClean="0"/>
              <a:pPr/>
              <a:t>37</a:t>
            </a:fld>
            <a:endParaRPr lang="fr-FR" dirty="0"/>
          </a:p>
        </p:txBody>
      </p:sp>
      <p:pic>
        <p:nvPicPr>
          <p:cNvPr id="1026" name="Picture 2" descr="Dirichlet processes. Where do people sit in a Chinese… | by Alberto  Arrigoni | Medium">
            <a:extLst>
              <a:ext uri="{FF2B5EF4-FFF2-40B4-BE49-F238E27FC236}">
                <a16:creationId xmlns:a16="http://schemas.microsoft.com/office/drawing/2014/main" id="{A28844D4-99D7-6CF3-EC45-6D38BE66A742}"/>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959350" y="2282133"/>
            <a:ext cx="3671888" cy="182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53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5" dur="500"/>
                                        <p:tgtEl>
                                          <p:spTgt spid="9">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randombar(horizontal)">
                                      <p:cBhvr>
                                        <p:cTn id="24" dur="500"/>
                                        <p:tgtEl>
                                          <p:spTgt spid="1026"/>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9" dur="500"/>
                                        <p:tgtEl>
                                          <p:spTgt spid="9">
                                            <p:txEl>
                                              <p:pRg st="5" end="5"/>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randombar(horizontal)">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7" dur="500"/>
                                        <p:tgtEl>
                                          <p:spTgt spid="9">
                                            <p:txEl>
                                              <p:pRg st="7" end="7"/>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9">
                                            <p:txEl>
                                              <p:pRg st="8" end="8"/>
                                            </p:txEl>
                                          </p:spTgt>
                                        </p:tgtEl>
                                        <p:attrNameLst>
                                          <p:attrName>style.visibility</p:attrName>
                                        </p:attrNameLst>
                                      </p:cBhvr>
                                      <p:to>
                                        <p:strVal val="visible"/>
                                      </p:to>
                                    </p:set>
                                    <p:animEffect transition="in" filter="randombar(horizontal)">
                                      <p:cBhvr>
                                        <p:cTn id="40" dur="500"/>
                                        <p:tgtEl>
                                          <p:spTgt spid="9">
                                            <p:txEl>
                                              <p:pRg st="8" end="8"/>
                                            </p:txEl>
                                          </p:spTgt>
                                        </p:tgtEl>
                                      </p:cBhvr>
                                    </p:animEffect>
                                  </p:childTnLst>
                                </p:cTn>
                              </p:par>
                              <p:par>
                                <p:cTn id="41" presetID="14" presetClass="entr" presetSubtype="10" fill="hold" nodeType="with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animEffect transition="in" filter="randombar(horizontal)">
                                      <p:cBhvr>
                                        <p:cTn id="43"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C5EA-B415-28EA-62EA-FCE70046AF14}"/>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49B4C93-0D7A-357E-BA3F-988CB057B50F}"/>
              </a:ext>
            </a:extLst>
          </p:cNvPr>
          <p:cNvSpPr>
            <a:spLocks noGrp="1"/>
          </p:cNvSpPr>
          <p:nvPr>
            <p:ph idx="1"/>
          </p:nvPr>
        </p:nvSpPr>
        <p:spPr/>
        <p:txBody>
          <a:bodyPr anchor="ctr">
            <a:normAutofit/>
          </a:bodyPr>
          <a:lstStyle/>
          <a:p>
            <a:r>
              <a:rPr lang="en-US" i="1" dirty="0">
                <a:latin typeface="+mj-lt"/>
              </a:rPr>
              <a:t>GGG-CRP: sample node-community assignment, then autoregressively generate graphs with GG-GAN, one community at a time</a:t>
            </a:r>
          </a:p>
          <a:p>
            <a:r>
              <a:rPr lang="en-US" dirty="0">
                <a:latin typeface="+mj-lt"/>
              </a:rPr>
              <a:t>Overlapping community detection</a:t>
            </a:r>
          </a:p>
          <a:p>
            <a:pPr lvl="1"/>
            <a:r>
              <a:rPr lang="en-US" dirty="0">
                <a:latin typeface="+mj-lt"/>
              </a:rPr>
              <a:t>Overlapping regions between communities will be refined multiple times</a:t>
            </a:r>
          </a:p>
          <a:p>
            <a:pPr lvl="1"/>
            <a:r>
              <a:rPr lang="en-US" dirty="0">
                <a:latin typeface="+mj-lt"/>
              </a:rPr>
              <a:t>Heuristic vs. matrix factorization methods</a:t>
            </a:r>
          </a:p>
          <a:p>
            <a:r>
              <a:rPr lang="en-US" dirty="0">
                <a:latin typeface="+mj-lt"/>
              </a:rPr>
              <a:t>Graph meta-variables </a:t>
            </a:r>
          </a:p>
          <a:p>
            <a:pPr lvl="1"/>
            <a:r>
              <a:rPr lang="en-US" dirty="0">
                <a:latin typeface="+mj-lt"/>
              </a:rPr>
              <a:t>Graph sizes, community sizes, overlapping region sizes…</a:t>
            </a:r>
          </a:p>
          <a:p>
            <a:pPr lvl="1"/>
            <a:r>
              <a:rPr lang="en-US" dirty="0">
                <a:latin typeface="+mj-lt"/>
              </a:rPr>
              <a:t>Required for partition sampling</a:t>
            </a:r>
          </a:p>
          <a:p>
            <a:pPr lvl="1"/>
            <a:r>
              <a:rPr lang="en-US" dirty="0">
                <a:latin typeface="+mj-lt"/>
              </a:rPr>
              <a:t>Estimated from data and sampled jointly from a categorical distribution</a:t>
            </a:r>
          </a:p>
        </p:txBody>
      </p:sp>
      <p:sp>
        <p:nvSpPr>
          <p:cNvPr id="8" name="Title 7">
            <a:extLst>
              <a:ext uri="{FF2B5EF4-FFF2-40B4-BE49-F238E27FC236}">
                <a16:creationId xmlns:a16="http://schemas.microsoft.com/office/drawing/2014/main" id="{24A7FF11-794A-9E00-A756-9356BCC3EBB9}"/>
              </a:ext>
            </a:extLst>
          </p:cNvPr>
          <p:cNvSpPr>
            <a:spLocks noGrp="1"/>
          </p:cNvSpPr>
          <p:nvPr>
            <p:ph type="title"/>
          </p:nvPr>
        </p:nvSpPr>
        <p:spPr>
          <a:xfrm>
            <a:off x="904875" y="131032"/>
            <a:ext cx="7207279" cy="1072753"/>
          </a:xfrm>
        </p:spPr>
        <p:txBody>
          <a:bodyPr>
            <a:normAutofit/>
          </a:bodyPr>
          <a:lstStyle/>
          <a:p>
            <a:r>
              <a:rPr lang="en-US" dirty="0"/>
              <a:t>4.1	Geometric Graph Generation with CRPs</a:t>
            </a:r>
            <a:br>
              <a:rPr lang="en-US" dirty="0"/>
            </a:br>
            <a:r>
              <a:rPr lang="en-US" sz="2400" b="0" i="1" dirty="0"/>
              <a:t>Methodology - Idea</a:t>
            </a:r>
            <a:endParaRPr lang="en-GB" sz="2400" b="0" i="1" dirty="0"/>
          </a:p>
        </p:txBody>
      </p:sp>
      <p:sp>
        <p:nvSpPr>
          <p:cNvPr id="5" name="Date Placeholder 4">
            <a:extLst>
              <a:ext uri="{FF2B5EF4-FFF2-40B4-BE49-F238E27FC236}">
                <a16:creationId xmlns:a16="http://schemas.microsoft.com/office/drawing/2014/main" id="{4648DF7A-0CB0-B210-468E-AEC86DA2C6C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6BA7917-FCCA-C858-8FA8-7BDCC380B07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CA161C4E-52A8-5E2B-C857-36D9EC3C22A4}"/>
              </a:ext>
            </a:extLst>
          </p:cNvPr>
          <p:cNvSpPr>
            <a:spLocks noGrp="1"/>
          </p:cNvSpPr>
          <p:nvPr>
            <p:ph type="sldNum" sz="quarter" idx="12"/>
          </p:nvPr>
        </p:nvSpPr>
        <p:spPr/>
        <p:txBody>
          <a:bodyPr/>
          <a:lstStyle/>
          <a:p>
            <a:fld id="{E1E1CD7C-2161-7D43-862E-CE4C333CD873}" type="slidenum">
              <a:rPr lang="fr-FR" smtClean="0"/>
              <a:pPr/>
              <a:t>38</a:t>
            </a:fld>
            <a:endParaRPr lang="fr-FR" dirty="0"/>
          </a:p>
        </p:txBody>
      </p:sp>
    </p:spTree>
    <p:extLst>
      <p:ext uri="{BB962C8B-B14F-4D97-AF65-F5344CB8AC3E}">
        <p14:creationId xmlns:p14="http://schemas.microsoft.com/office/powerpoint/2010/main" val="9659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5" dur="500"/>
                                        <p:tgtEl>
                                          <p:spTgt spid="9">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3" dur="500"/>
                                        <p:tgtEl>
                                          <p:spTgt spid="9">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6" dur="500"/>
                                        <p:tgtEl>
                                          <p:spTgt spid="9">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9" dur="500"/>
                                        <p:tgtEl>
                                          <p:spTgt spid="9">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04ABB1-1F49-AF2E-710E-42A03D49C4AA}"/>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6AF33D7-7FA4-B55D-2476-493A468E38DC}"/>
              </a:ext>
            </a:extLst>
          </p:cNvPr>
          <p:cNvSpPr>
            <a:spLocks noGrp="1"/>
          </p:cNvSpPr>
          <p:nvPr>
            <p:ph sz="half" idx="1"/>
          </p:nvPr>
        </p:nvSpPr>
        <p:spPr>
          <a:xfrm>
            <a:off x="904875" y="1563688"/>
            <a:ext cx="3763840" cy="3263504"/>
          </a:xfrm>
        </p:spPr>
        <p:txBody>
          <a:bodyPr anchor="ctr">
            <a:normAutofit/>
          </a:bodyPr>
          <a:lstStyle/>
          <a:p>
            <a:r>
              <a:rPr lang="en-US" dirty="0">
                <a:latin typeface="+mj-lt"/>
              </a:rPr>
              <a:t>Node-to-community assignment matrices viewed as </a:t>
            </a:r>
            <a:r>
              <a:rPr lang="en-US" i="1" dirty="0">
                <a:latin typeface="+mj-lt"/>
              </a:rPr>
              <a:t>bipartite graphs</a:t>
            </a:r>
          </a:p>
          <a:p>
            <a:pPr lvl="1"/>
            <a:r>
              <a:rPr lang="en-US" dirty="0">
                <a:latin typeface="+mj-lt"/>
              </a:rPr>
              <a:t>Estimate separately the two degree distributions</a:t>
            </a:r>
          </a:p>
          <a:p>
            <a:pPr lvl="1"/>
            <a:r>
              <a:rPr lang="en-US" dirty="0">
                <a:latin typeface="+mj-lt"/>
              </a:rPr>
              <a:t>Sample graph then with configuration model, Havel-Hakimi </a:t>
            </a:r>
            <a:r>
              <a:rPr lang="en-US" dirty="0">
                <a:solidFill>
                  <a:schemeClr val="accent1"/>
                </a:solidFill>
                <a:latin typeface="+mj-lt"/>
              </a:rPr>
              <a:t>[1]</a:t>
            </a:r>
          </a:p>
          <a:p>
            <a:r>
              <a:rPr lang="en-US" dirty="0">
                <a:latin typeface="+mj-lt"/>
              </a:rPr>
              <a:t>Weighted integer partition sampling</a:t>
            </a:r>
          </a:p>
          <a:p>
            <a:pPr lvl="1"/>
            <a:r>
              <a:rPr lang="en-US" dirty="0" err="1">
                <a:latin typeface="+mj-lt"/>
              </a:rPr>
              <a:t>Fristedt’s</a:t>
            </a:r>
            <a:r>
              <a:rPr lang="en-US" dirty="0">
                <a:latin typeface="+mj-lt"/>
              </a:rPr>
              <a:t> method </a:t>
            </a:r>
            <a:r>
              <a:rPr lang="en-US" dirty="0">
                <a:solidFill>
                  <a:schemeClr val="accent1"/>
                </a:solidFill>
                <a:latin typeface="+mj-lt"/>
              </a:rPr>
              <a:t>[3]</a:t>
            </a:r>
            <a:r>
              <a:rPr lang="en-US" dirty="0">
                <a:latin typeface="+mj-lt"/>
              </a:rPr>
              <a:t> + rejection</a:t>
            </a:r>
          </a:p>
        </p:txBody>
      </p:sp>
      <p:pic>
        <p:nvPicPr>
          <p:cNvPr id="4" name="Content Placeholder 3" descr="A screenshot of a white sheet with black text&#10;&#10;AI-generated content may be incorrect.">
            <a:extLst>
              <a:ext uri="{FF2B5EF4-FFF2-40B4-BE49-F238E27FC236}">
                <a16:creationId xmlns:a16="http://schemas.microsoft.com/office/drawing/2014/main" id="{D39F9512-0054-0733-8CCF-91AF201E416F}"/>
              </a:ext>
            </a:extLst>
          </p:cNvPr>
          <p:cNvPicPr>
            <a:picLocks noGrp="1" noChangeAspect="1"/>
          </p:cNvPicPr>
          <p:nvPr>
            <p:ph sz="half" idx="2"/>
          </p:nvPr>
        </p:nvPicPr>
        <p:blipFill>
          <a:blip r:embed="rId3"/>
          <a:stretch>
            <a:fillRect/>
          </a:stretch>
        </p:blipFill>
        <p:spPr>
          <a:xfrm>
            <a:off x="4959350" y="2218417"/>
            <a:ext cx="3671888" cy="1954441"/>
          </a:xfrm>
        </p:spPr>
      </p:pic>
      <p:sp>
        <p:nvSpPr>
          <p:cNvPr id="8" name="Title 7">
            <a:extLst>
              <a:ext uri="{FF2B5EF4-FFF2-40B4-BE49-F238E27FC236}">
                <a16:creationId xmlns:a16="http://schemas.microsoft.com/office/drawing/2014/main" id="{9F27A272-8A80-360D-9DC7-1CCEF8B6D1E6}"/>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Methodology - Community assignment sampling</a:t>
            </a:r>
            <a:endParaRPr lang="en-GB" sz="2400" b="0" i="1" dirty="0"/>
          </a:p>
        </p:txBody>
      </p:sp>
      <p:sp>
        <p:nvSpPr>
          <p:cNvPr id="5" name="Date Placeholder 4">
            <a:extLst>
              <a:ext uri="{FF2B5EF4-FFF2-40B4-BE49-F238E27FC236}">
                <a16:creationId xmlns:a16="http://schemas.microsoft.com/office/drawing/2014/main" id="{A727E99D-23BC-D360-1CD1-5B3CB06A76D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0F523B42-6E45-9BC5-D8FB-F5855BAE194B}"/>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B959025-CF91-1D88-EC19-CF0F855A303A}"/>
              </a:ext>
            </a:extLst>
          </p:cNvPr>
          <p:cNvSpPr>
            <a:spLocks noGrp="1"/>
          </p:cNvSpPr>
          <p:nvPr>
            <p:ph type="sldNum" sz="quarter" idx="12"/>
          </p:nvPr>
        </p:nvSpPr>
        <p:spPr/>
        <p:txBody>
          <a:bodyPr/>
          <a:lstStyle/>
          <a:p>
            <a:fld id="{E1E1CD7C-2161-7D43-862E-CE4C333CD873}" type="slidenum">
              <a:rPr lang="fr-FR" smtClean="0"/>
              <a:pPr/>
              <a:t>39</a:t>
            </a:fld>
            <a:endParaRPr lang="fr-FR" dirty="0"/>
          </a:p>
        </p:txBody>
      </p:sp>
    </p:spTree>
    <p:extLst>
      <p:ext uri="{BB962C8B-B14F-4D97-AF65-F5344CB8AC3E}">
        <p14:creationId xmlns:p14="http://schemas.microsoft.com/office/powerpoint/2010/main" val="415733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randombar(horizontal)">
                                      <p:cBhvr>
                                        <p:cTn id="10" dur="500"/>
                                        <p:tgtEl>
                                          <p:spTgt spid="9">
                                            <p:txEl>
                                              <p:pRg st="0" end="0"/>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3" dur="500"/>
                                        <p:tgtEl>
                                          <p:spTgt spid="9">
                                            <p:txEl>
                                              <p:pRg st="1" end="1"/>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6" dur="500"/>
                                        <p:tgtEl>
                                          <p:spTgt spid="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1" dur="500"/>
                                        <p:tgtEl>
                                          <p:spTgt spid="9">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A450-6D2E-C968-CA1C-404B9076AAA6}"/>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36DD707-9911-BBB9-E500-8E170E2208E7}"/>
              </a:ext>
            </a:extLst>
          </p:cNvPr>
          <p:cNvSpPr>
            <a:spLocks noGrp="1"/>
          </p:cNvSpPr>
          <p:nvPr>
            <p:ph sz="half" idx="1"/>
          </p:nvPr>
        </p:nvSpPr>
        <p:spPr/>
        <p:txBody>
          <a:bodyPr anchor="ctr">
            <a:normAutofit/>
          </a:bodyPr>
          <a:lstStyle/>
          <a:p>
            <a:r>
              <a:rPr lang="en-US" dirty="0">
                <a:latin typeface="+mj-lt"/>
              </a:rPr>
              <a:t>Per-community latent features</a:t>
            </a:r>
          </a:p>
          <a:p>
            <a:pPr lvl="1"/>
            <a:r>
              <a:rPr lang="en-US" dirty="0">
                <a:latin typeface="+mj-lt"/>
              </a:rPr>
              <a:t>Scalable: per-community root, lower memory complexity</a:t>
            </a:r>
          </a:p>
          <a:p>
            <a:r>
              <a:rPr lang="en-US" dirty="0">
                <a:latin typeface="+mj-lt"/>
              </a:rPr>
              <a:t>Autoregressive: edge readout conditioned on discriminator features of the previous graph state</a:t>
            </a:r>
          </a:p>
          <a:p>
            <a:r>
              <a:rPr lang="en-US" dirty="0">
                <a:latin typeface="+mj-lt"/>
              </a:rPr>
              <a:t>Multi-level regularization: maximize discriminator’s likelihood for the coarsened graph as well</a:t>
            </a:r>
          </a:p>
        </p:txBody>
      </p:sp>
      <p:sp>
        <p:nvSpPr>
          <p:cNvPr id="8" name="Title 7">
            <a:extLst>
              <a:ext uri="{FF2B5EF4-FFF2-40B4-BE49-F238E27FC236}">
                <a16:creationId xmlns:a16="http://schemas.microsoft.com/office/drawing/2014/main" id="{29E53C64-BA92-230B-C6F1-9921D6B7052F}"/>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Methodology - GGG-CRP  autoregressive process</a:t>
            </a:r>
            <a:endParaRPr lang="en-GB" sz="2400" b="0" i="1" dirty="0"/>
          </a:p>
        </p:txBody>
      </p:sp>
      <p:sp>
        <p:nvSpPr>
          <p:cNvPr id="5" name="Date Placeholder 4">
            <a:extLst>
              <a:ext uri="{FF2B5EF4-FFF2-40B4-BE49-F238E27FC236}">
                <a16:creationId xmlns:a16="http://schemas.microsoft.com/office/drawing/2014/main" id="{0068570E-C7C1-5D2D-9CD6-127B0D65583E}"/>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23DDE5B-7BAF-8A1D-1447-934388B1ACE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C54DCF6-86CD-1CD8-97CA-57CBCFC5E3A3}"/>
              </a:ext>
            </a:extLst>
          </p:cNvPr>
          <p:cNvSpPr>
            <a:spLocks noGrp="1"/>
          </p:cNvSpPr>
          <p:nvPr>
            <p:ph type="sldNum" sz="quarter" idx="12"/>
          </p:nvPr>
        </p:nvSpPr>
        <p:spPr/>
        <p:txBody>
          <a:bodyPr/>
          <a:lstStyle/>
          <a:p>
            <a:fld id="{E1E1CD7C-2161-7D43-862E-CE4C333CD873}" type="slidenum">
              <a:rPr lang="fr-FR" smtClean="0"/>
              <a:pPr/>
              <a:t>40</a:t>
            </a:fld>
            <a:endParaRPr lang="fr-FR" dirty="0"/>
          </a:p>
        </p:txBody>
      </p:sp>
      <p:pic>
        <p:nvPicPr>
          <p:cNvPr id="11" name="Content Placeholder 10" descr="A white paper with black text and black text&#10;&#10;AI-generated content may be incorrect.">
            <a:extLst>
              <a:ext uri="{FF2B5EF4-FFF2-40B4-BE49-F238E27FC236}">
                <a16:creationId xmlns:a16="http://schemas.microsoft.com/office/drawing/2014/main" id="{129DEC79-F49B-0CBA-2CA1-C706CD78D9DF}"/>
              </a:ext>
            </a:extLst>
          </p:cNvPr>
          <p:cNvPicPr>
            <a:picLocks noGrp="1" noChangeAspect="1"/>
          </p:cNvPicPr>
          <p:nvPr>
            <p:ph sz="half" idx="2"/>
          </p:nvPr>
        </p:nvPicPr>
        <p:blipFill>
          <a:blip r:embed="rId3"/>
          <a:stretch>
            <a:fillRect/>
          </a:stretch>
        </p:blipFill>
        <p:spPr>
          <a:xfrm>
            <a:off x="4959350" y="2058449"/>
            <a:ext cx="3671888" cy="2274378"/>
          </a:xfrm>
        </p:spPr>
      </p:pic>
    </p:spTree>
    <p:extLst>
      <p:ext uri="{BB962C8B-B14F-4D97-AF65-F5344CB8AC3E}">
        <p14:creationId xmlns:p14="http://schemas.microsoft.com/office/powerpoint/2010/main" val="388644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randombar(horizontal)">
                                      <p:cBhvr>
                                        <p:cTn id="12" dur="500"/>
                                        <p:tgtEl>
                                          <p:spTgt spid="9">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5" dur="500"/>
                                        <p:tgtEl>
                                          <p:spTgt spid="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randombar(horizontal)">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5"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F460D3-3BBE-9BA3-5F92-E029FBA4006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AF42C73-BAE4-BB18-DCEE-78910853A5CA}"/>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Results - Expressivity</a:t>
            </a:r>
            <a:endParaRPr lang="en-GB" sz="2400" b="0" i="1" dirty="0"/>
          </a:p>
        </p:txBody>
      </p:sp>
      <p:sp>
        <p:nvSpPr>
          <p:cNvPr id="5" name="Date Placeholder 4">
            <a:extLst>
              <a:ext uri="{FF2B5EF4-FFF2-40B4-BE49-F238E27FC236}">
                <a16:creationId xmlns:a16="http://schemas.microsoft.com/office/drawing/2014/main" id="{927F9BCC-0E11-AF2F-D90B-4C8B9B218B0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73624098-121E-7176-38F6-E14155BE0059}"/>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39843E42-C3FD-22B2-5F49-1FC4940AC0DC}"/>
              </a:ext>
            </a:extLst>
          </p:cNvPr>
          <p:cNvSpPr>
            <a:spLocks noGrp="1"/>
          </p:cNvSpPr>
          <p:nvPr>
            <p:ph type="sldNum" sz="quarter" idx="12"/>
          </p:nvPr>
        </p:nvSpPr>
        <p:spPr/>
        <p:txBody>
          <a:bodyPr/>
          <a:lstStyle/>
          <a:p>
            <a:fld id="{E1E1CD7C-2161-7D43-862E-CE4C333CD873}" type="slidenum">
              <a:rPr lang="fr-FR" smtClean="0"/>
              <a:pPr/>
              <a:t>41</a:t>
            </a:fld>
            <a:endParaRPr lang="fr-FR" dirty="0"/>
          </a:p>
        </p:txBody>
      </p:sp>
      <p:pic>
        <p:nvPicPr>
          <p:cNvPr id="10" name="Content Placeholder 9" descr="A table of numbers and symbols&#10;&#10;AI-generated content may be incorrect.">
            <a:extLst>
              <a:ext uri="{FF2B5EF4-FFF2-40B4-BE49-F238E27FC236}">
                <a16:creationId xmlns:a16="http://schemas.microsoft.com/office/drawing/2014/main" id="{2D5721ED-DCC6-D97E-AE21-62960B557B4F}"/>
              </a:ext>
            </a:extLst>
          </p:cNvPr>
          <p:cNvPicPr>
            <a:picLocks noGrp="1" noChangeAspect="1"/>
          </p:cNvPicPr>
          <p:nvPr>
            <p:ph idx="1"/>
          </p:nvPr>
        </p:nvPicPr>
        <p:blipFill>
          <a:blip r:embed="rId3"/>
          <a:stretch>
            <a:fillRect/>
          </a:stretch>
        </p:blipFill>
        <p:spPr>
          <a:xfrm>
            <a:off x="904875" y="1837012"/>
            <a:ext cx="7726363" cy="2839488"/>
          </a:xfrm>
        </p:spPr>
      </p:pic>
    </p:spTree>
    <p:extLst>
      <p:ext uri="{BB962C8B-B14F-4D97-AF65-F5344CB8AC3E}">
        <p14:creationId xmlns:p14="http://schemas.microsoft.com/office/powerpoint/2010/main" val="289749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180D-57E9-E9DE-64B4-6D961A025E9E}"/>
            </a:ext>
          </a:extLst>
        </p:cNvPr>
        <p:cNvGrpSpPr/>
        <p:nvPr/>
      </p:nvGrpSpPr>
      <p:grpSpPr>
        <a:xfrm>
          <a:off x="0" y="0"/>
          <a:ext cx="0" cy="0"/>
          <a:chOff x="0" y="0"/>
          <a:chExt cx="0" cy="0"/>
        </a:xfrm>
      </p:grpSpPr>
      <p:pic>
        <p:nvPicPr>
          <p:cNvPr id="12" name="Content Placeholder 11" descr="A screenshot of a graph&#10;&#10;AI-generated content may be incorrect.">
            <a:extLst>
              <a:ext uri="{FF2B5EF4-FFF2-40B4-BE49-F238E27FC236}">
                <a16:creationId xmlns:a16="http://schemas.microsoft.com/office/drawing/2014/main" id="{13B7E177-9244-DE33-E498-F3A8310C500F}"/>
              </a:ext>
            </a:extLst>
          </p:cNvPr>
          <p:cNvPicPr>
            <a:picLocks noGrp="1" noChangeAspect="1"/>
          </p:cNvPicPr>
          <p:nvPr>
            <p:ph sz="half" idx="1"/>
          </p:nvPr>
        </p:nvPicPr>
        <p:blipFill>
          <a:blip r:embed="rId3"/>
          <a:stretch>
            <a:fillRect/>
          </a:stretch>
        </p:blipFill>
        <p:spPr>
          <a:xfrm>
            <a:off x="904875" y="2194469"/>
            <a:ext cx="3671888" cy="2002338"/>
          </a:xfrm>
        </p:spPr>
      </p:pic>
      <p:pic>
        <p:nvPicPr>
          <p:cNvPr id="14" name="Content Placeholder 13" descr="A screenshot of a computer&#10;&#10;AI-generated content may be incorrect.">
            <a:extLst>
              <a:ext uri="{FF2B5EF4-FFF2-40B4-BE49-F238E27FC236}">
                <a16:creationId xmlns:a16="http://schemas.microsoft.com/office/drawing/2014/main" id="{5A3B1C34-ED60-1CF7-D101-951268727A55}"/>
              </a:ext>
            </a:extLst>
          </p:cNvPr>
          <p:cNvPicPr>
            <a:picLocks noGrp="1" noChangeAspect="1"/>
          </p:cNvPicPr>
          <p:nvPr>
            <p:ph sz="half" idx="2"/>
          </p:nvPr>
        </p:nvPicPr>
        <p:blipFill>
          <a:blip r:embed="rId4"/>
          <a:stretch>
            <a:fillRect/>
          </a:stretch>
        </p:blipFill>
        <p:spPr>
          <a:xfrm>
            <a:off x="4959350" y="2194469"/>
            <a:ext cx="3671888" cy="2002338"/>
          </a:xfrm>
        </p:spPr>
      </p:pic>
      <p:sp>
        <p:nvSpPr>
          <p:cNvPr id="8" name="Title 7">
            <a:extLst>
              <a:ext uri="{FF2B5EF4-FFF2-40B4-BE49-F238E27FC236}">
                <a16:creationId xmlns:a16="http://schemas.microsoft.com/office/drawing/2014/main" id="{B319BCDD-C216-9D3A-E6BD-8B79FAAC69C4}"/>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Results - Expressivity</a:t>
            </a:r>
            <a:endParaRPr lang="en-GB" sz="2400" b="0" i="1" dirty="0"/>
          </a:p>
        </p:txBody>
      </p:sp>
      <p:sp>
        <p:nvSpPr>
          <p:cNvPr id="5" name="Date Placeholder 4">
            <a:extLst>
              <a:ext uri="{FF2B5EF4-FFF2-40B4-BE49-F238E27FC236}">
                <a16:creationId xmlns:a16="http://schemas.microsoft.com/office/drawing/2014/main" id="{248BE4E6-1668-150D-4A15-B8555C6843F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DCF1394F-D29F-0570-1FC7-AD33F5082250}"/>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CDC89C09-1F9F-C872-14D7-7E11867C95B2}"/>
              </a:ext>
            </a:extLst>
          </p:cNvPr>
          <p:cNvSpPr>
            <a:spLocks noGrp="1"/>
          </p:cNvSpPr>
          <p:nvPr>
            <p:ph type="sldNum" sz="quarter" idx="12"/>
          </p:nvPr>
        </p:nvSpPr>
        <p:spPr/>
        <p:txBody>
          <a:bodyPr/>
          <a:lstStyle/>
          <a:p>
            <a:fld id="{E1E1CD7C-2161-7D43-862E-CE4C333CD873}" type="slidenum">
              <a:rPr lang="fr-FR" smtClean="0"/>
              <a:pPr/>
              <a:t>42</a:t>
            </a:fld>
            <a:endParaRPr lang="fr-FR" dirty="0"/>
          </a:p>
        </p:txBody>
      </p:sp>
    </p:spTree>
    <p:extLst>
      <p:ext uri="{BB962C8B-B14F-4D97-AF65-F5344CB8AC3E}">
        <p14:creationId xmlns:p14="http://schemas.microsoft.com/office/powerpoint/2010/main" val="67800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39D82-87E7-6B25-EC19-919A86C21C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8251865-2F10-A7BF-2487-FD53C093CF6E}"/>
              </a:ext>
            </a:extLst>
          </p:cNvPr>
          <p:cNvSpPr>
            <a:spLocks noGrp="1"/>
          </p:cNvSpPr>
          <p:nvPr>
            <p:ph type="title"/>
          </p:nvPr>
        </p:nvSpPr>
        <p:spPr>
          <a:xfrm>
            <a:off x="904875" y="131032"/>
            <a:ext cx="7726363" cy="1072753"/>
          </a:xfrm>
        </p:spPr>
        <p:txBody>
          <a:bodyPr>
            <a:normAutofit/>
          </a:bodyPr>
          <a:lstStyle/>
          <a:p>
            <a:r>
              <a:rPr lang="en-US" dirty="0"/>
              <a:t>4.1	Geometric Graph Generation with CRPs</a:t>
            </a:r>
            <a:br>
              <a:rPr lang="en-US" dirty="0"/>
            </a:br>
            <a:r>
              <a:rPr lang="en-US" sz="2400" b="0" i="1" dirty="0"/>
              <a:t>Results - Novelty</a:t>
            </a:r>
            <a:endParaRPr lang="en-GB" sz="2400" b="0" i="1" dirty="0"/>
          </a:p>
        </p:txBody>
      </p:sp>
      <p:sp>
        <p:nvSpPr>
          <p:cNvPr id="5" name="Date Placeholder 4">
            <a:extLst>
              <a:ext uri="{FF2B5EF4-FFF2-40B4-BE49-F238E27FC236}">
                <a16:creationId xmlns:a16="http://schemas.microsoft.com/office/drawing/2014/main" id="{5C5C3173-BF19-7C03-092A-E40DED7E7FBD}"/>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F230CB26-AAB6-B779-235F-60A0FFAA9DFD}"/>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E3E9311-CE96-A594-D85E-33F4A19249C7}"/>
              </a:ext>
            </a:extLst>
          </p:cNvPr>
          <p:cNvSpPr>
            <a:spLocks noGrp="1"/>
          </p:cNvSpPr>
          <p:nvPr>
            <p:ph type="sldNum" sz="quarter" idx="12"/>
          </p:nvPr>
        </p:nvSpPr>
        <p:spPr/>
        <p:txBody>
          <a:bodyPr/>
          <a:lstStyle/>
          <a:p>
            <a:fld id="{E1E1CD7C-2161-7D43-862E-CE4C333CD873}" type="slidenum">
              <a:rPr lang="fr-FR" smtClean="0"/>
              <a:pPr/>
              <a:t>43</a:t>
            </a:fld>
            <a:endParaRPr lang="fr-FR" dirty="0"/>
          </a:p>
        </p:txBody>
      </p:sp>
      <p:pic>
        <p:nvPicPr>
          <p:cNvPr id="9" name="Content Placeholder 8" descr="A white rectangular object with black text&#10;&#10;AI-generated content may be incorrect.">
            <a:extLst>
              <a:ext uri="{FF2B5EF4-FFF2-40B4-BE49-F238E27FC236}">
                <a16:creationId xmlns:a16="http://schemas.microsoft.com/office/drawing/2014/main" id="{59A27FF2-9FFE-351E-2477-86A07FEBC8EA}"/>
              </a:ext>
            </a:extLst>
          </p:cNvPr>
          <p:cNvPicPr>
            <a:picLocks noGrp="1" noChangeAspect="1"/>
          </p:cNvPicPr>
          <p:nvPr>
            <p:ph idx="1"/>
          </p:nvPr>
        </p:nvPicPr>
        <p:blipFill>
          <a:blip r:embed="rId3"/>
          <a:stretch>
            <a:fillRect/>
          </a:stretch>
        </p:blipFill>
        <p:spPr>
          <a:xfrm>
            <a:off x="1267130" y="1575359"/>
            <a:ext cx="7001852" cy="3362794"/>
          </a:xfrm>
        </p:spPr>
      </p:pic>
    </p:spTree>
    <p:extLst>
      <p:ext uri="{BB962C8B-B14F-4D97-AF65-F5344CB8AC3E}">
        <p14:creationId xmlns:p14="http://schemas.microsoft.com/office/powerpoint/2010/main" val="170321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15A83-3161-0C46-E17D-50E01133080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21E063BB-3019-5C4C-C68B-6A8B60FA1571}"/>
                  </a:ext>
                </a:extLst>
              </p:cNvPr>
              <p:cNvSpPr>
                <a:spLocks noGrp="1"/>
              </p:cNvSpPr>
              <p:nvPr>
                <p:ph idx="1"/>
              </p:nvPr>
            </p:nvSpPr>
            <p:spPr/>
            <p:txBody>
              <a:bodyPr anchor="ctr">
                <a:normAutofit/>
              </a:bodyPr>
              <a:lstStyle/>
              <a:p>
                <a:r>
                  <a:rPr lang="en-US" dirty="0">
                    <a:latin typeface="+mj-lt"/>
                  </a:rPr>
                  <a:t>Graph GAN with permutation equivariant autoregressive sampling</a:t>
                </a:r>
              </a:p>
              <a:p>
                <a:r>
                  <a:rPr lang="en-US" dirty="0">
                    <a:latin typeface="+mj-lt"/>
                  </a:rPr>
                  <a:t>Retained isomorphism consistency and high novelty properties </a:t>
                </a:r>
              </a:p>
              <a:p>
                <a:r>
                  <a:rPr lang="en-US" dirty="0">
                    <a:latin typeface="+mj-lt"/>
                  </a:rPr>
                  <a:t>Benefited from the scalability of autoregressive models, but still suffered from their low expressive power (caused by overfitting)</a:t>
                </a:r>
              </a:p>
              <a:p>
                <a:r>
                  <a:rPr lang="en-US" dirty="0">
                    <a:latin typeface="+mj-lt"/>
                  </a:rPr>
                  <a:t>Solutions:</a:t>
                </a:r>
              </a:p>
              <a:p>
                <a:pPr lvl="1"/>
                <a:r>
                  <a:rPr lang="en-US" dirty="0">
                    <a:latin typeface="+mj-lt"/>
                  </a:rPr>
                  <a:t>Sampling community assignments via categorical distribution estimation too holistic </a:t>
                </a:r>
                <a14:m>
                  <m:oMath xmlns:m="http://schemas.openxmlformats.org/officeDocument/2006/math">
                    <m:r>
                      <a:rPr lang="en-US" b="0" i="1" smtClean="0">
                        <a:latin typeface="Cambria Math" panose="02040503050406030204" pitchFamily="18" charset="0"/>
                      </a:rPr>
                      <m:t>⇒</m:t>
                    </m:r>
                  </m:oMath>
                </a14:m>
                <a:r>
                  <a:rPr lang="en-US" dirty="0">
                    <a:latin typeface="+mj-lt"/>
                  </a:rPr>
                  <a:t> </a:t>
                </a:r>
                <a:r>
                  <a:rPr lang="en-US" i="1" dirty="0">
                    <a:latin typeface="+mj-lt"/>
                  </a:rPr>
                  <a:t>full generative modeling for coarsened graphs as well</a:t>
                </a:r>
              </a:p>
              <a:p>
                <a:pPr lvl="1"/>
                <a:r>
                  <a:rPr lang="en-US" dirty="0">
                    <a:latin typeface="+mj-lt"/>
                  </a:rPr>
                  <a:t>GANs are too difficult to train and face difficulties with some graph structures </a:t>
                </a:r>
                <a14:m>
                  <m:oMath xmlns:m="http://schemas.openxmlformats.org/officeDocument/2006/math">
                    <m:r>
                      <a:rPr lang="en-US" i="1">
                        <a:latin typeface="Cambria Math" panose="02040503050406030204" pitchFamily="18" charset="0"/>
                      </a:rPr>
                      <m:t>⇒</m:t>
                    </m:r>
                  </m:oMath>
                </a14:m>
                <a:r>
                  <a:rPr lang="en-US" dirty="0">
                    <a:latin typeface="+mj-lt"/>
                  </a:rPr>
                  <a:t> </a:t>
                </a:r>
                <a:r>
                  <a:rPr lang="en-US" i="1" dirty="0">
                    <a:latin typeface="+mj-lt"/>
                  </a:rPr>
                  <a:t>replace with more powerful generative models</a:t>
                </a:r>
              </a:p>
            </p:txBody>
          </p:sp>
        </mc:Choice>
        <mc:Fallback xmlns="">
          <p:sp>
            <p:nvSpPr>
              <p:cNvPr id="9" name="Content Placeholder 8">
                <a:extLst>
                  <a:ext uri="{FF2B5EF4-FFF2-40B4-BE49-F238E27FC236}">
                    <a16:creationId xmlns:a16="http://schemas.microsoft.com/office/drawing/2014/main" id="{21E063BB-3019-5C4C-C68B-6A8B60FA1571}"/>
                  </a:ext>
                </a:extLst>
              </p:cNvPr>
              <p:cNvSpPr>
                <a:spLocks noGrp="1" noRot="1" noChangeAspect="1" noMove="1" noResize="1" noEditPoints="1" noAdjustHandles="1" noChangeArrowheads="1" noChangeShapeType="1" noTextEdit="1"/>
              </p:cNvSpPr>
              <p:nvPr>
                <p:ph idx="1"/>
              </p:nvPr>
            </p:nvSpPr>
            <p:spPr>
              <a:blipFill>
                <a:blip r:embed="rId3"/>
                <a:stretch>
                  <a:fillRect r="-79"/>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9058575F-250E-762A-84AD-D8B821EB8B00}"/>
              </a:ext>
            </a:extLst>
          </p:cNvPr>
          <p:cNvSpPr>
            <a:spLocks noGrp="1"/>
          </p:cNvSpPr>
          <p:nvPr>
            <p:ph type="title"/>
          </p:nvPr>
        </p:nvSpPr>
        <p:spPr>
          <a:xfrm>
            <a:off x="904875" y="131032"/>
            <a:ext cx="7207279" cy="1072753"/>
          </a:xfrm>
        </p:spPr>
        <p:txBody>
          <a:bodyPr>
            <a:normAutofit fontScale="90000"/>
          </a:bodyPr>
          <a:lstStyle/>
          <a:p>
            <a:r>
              <a:rPr lang="en-US" sz="3600" dirty="0"/>
              <a:t>4.1	Geometric Graph Generation with CRPs</a:t>
            </a:r>
            <a:br>
              <a:rPr lang="en-US" sz="3600" dirty="0"/>
            </a:br>
            <a:r>
              <a:rPr lang="en-US" sz="2700" b="0" i="1" dirty="0"/>
              <a:t>Summary</a:t>
            </a:r>
            <a:br>
              <a:rPr lang="en-US" dirty="0"/>
            </a:br>
            <a:endParaRPr lang="en-GB" sz="2400" b="0" i="1" dirty="0"/>
          </a:p>
        </p:txBody>
      </p:sp>
      <p:sp>
        <p:nvSpPr>
          <p:cNvPr id="5" name="Date Placeholder 4">
            <a:extLst>
              <a:ext uri="{FF2B5EF4-FFF2-40B4-BE49-F238E27FC236}">
                <a16:creationId xmlns:a16="http://schemas.microsoft.com/office/drawing/2014/main" id="{5A3B7800-C04B-B6E5-80A4-877106D9A40B}"/>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B9CF8DE-83B6-3B47-D0D9-333F3B1750C0}"/>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3E2BCD72-6934-6E9E-2EF3-0F6BAEB86234}"/>
              </a:ext>
            </a:extLst>
          </p:cNvPr>
          <p:cNvSpPr>
            <a:spLocks noGrp="1"/>
          </p:cNvSpPr>
          <p:nvPr>
            <p:ph type="sldNum" sz="quarter" idx="12"/>
          </p:nvPr>
        </p:nvSpPr>
        <p:spPr/>
        <p:txBody>
          <a:bodyPr/>
          <a:lstStyle/>
          <a:p>
            <a:fld id="{E1E1CD7C-2161-7D43-862E-CE4C333CD873}" type="slidenum">
              <a:rPr lang="fr-FR" smtClean="0"/>
              <a:pPr/>
              <a:t>44</a:t>
            </a:fld>
            <a:endParaRPr lang="fr-FR" dirty="0"/>
          </a:p>
        </p:txBody>
      </p:sp>
    </p:spTree>
    <p:extLst>
      <p:ext uri="{BB962C8B-B14F-4D97-AF65-F5344CB8AC3E}">
        <p14:creationId xmlns:p14="http://schemas.microsoft.com/office/powerpoint/2010/main" val="146032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2" dur="500"/>
                                        <p:tgtEl>
                                          <p:spTgt spid="9">
                                            <p:txEl>
                                              <p:pRg st="3" end="3"/>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5" dur="500"/>
                                        <p:tgtEl>
                                          <p:spTgt spid="9">
                                            <p:txEl>
                                              <p:pRg st="4" end="4"/>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8"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8B6DF-464C-6B3E-49B0-5C46DE1B03FC}"/>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CD8748C-9990-6B98-87B1-437F169E150F}"/>
              </a:ext>
            </a:extLst>
          </p:cNvPr>
          <p:cNvSpPr>
            <a:spLocks noGrp="1"/>
          </p:cNvSpPr>
          <p:nvPr>
            <p:ph idx="1"/>
          </p:nvPr>
        </p:nvSpPr>
        <p:spPr/>
        <p:txBody>
          <a:bodyPr anchor="ctr">
            <a:normAutofit/>
          </a:bodyPr>
          <a:lstStyle/>
          <a:p>
            <a:r>
              <a:rPr lang="en-US" dirty="0">
                <a:latin typeface="+mj-lt"/>
              </a:rPr>
              <a:t>Hierarchical, multi-resolution graph structure modeling and generation</a:t>
            </a:r>
          </a:p>
          <a:p>
            <a:pPr lvl="1"/>
            <a:r>
              <a:rPr lang="en-US" dirty="0">
                <a:latin typeface="+mj-lt"/>
              </a:rPr>
              <a:t>Fractal model consistency as an inductive bias</a:t>
            </a:r>
          </a:p>
          <a:p>
            <a:pPr lvl="1"/>
            <a:r>
              <a:rPr lang="en-US" dirty="0">
                <a:latin typeface="+mj-lt"/>
              </a:rPr>
              <a:t>Coarser representations followed by finer structure generation pre-conditioned on them</a:t>
            </a:r>
          </a:p>
          <a:p>
            <a:pPr lvl="1"/>
            <a:r>
              <a:rPr lang="en-US" dirty="0">
                <a:latin typeface="+mj-lt"/>
              </a:rPr>
              <a:t>Only </a:t>
            </a:r>
            <a:r>
              <a:rPr lang="en-US" i="1" dirty="0">
                <a:latin typeface="+mj-lt"/>
              </a:rPr>
              <a:t>diffusion</a:t>
            </a:r>
            <a:r>
              <a:rPr lang="en-US" dirty="0">
                <a:latin typeface="+mj-lt"/>
              </a:rPr>
              <a:t> </a:t>
            </a:r>
            <a:r>
              <a:rPr lang="en-US" i="1" dirty="0">
                <a:latin typeface="+mj-lt"/>
              </a:rPr>
              <a:t>models</a:t>
            </a:r>
            <a:r>
              <a:rPr lang="en-US" dirty="0">
                <a:latin typeface="+mj-lt"/>
              </a:rPr>
              <a:t> conjectured to have the sufficient representation power</a:t>
            </a:r>
          </a:p>
          <a:p>
            <a:r>
              <a:rPr lang="en-US" dirty="0">
                <a:latin typeface="+mj-lt"/>
              </a:rPr>
              <a:t>Real-world graph datasets beyond small molecules</a:t>
            </a:r>
          </a:p>
          <a:p>
            <a:pPr lvl="1"/>
            <a:r>
              <a:rPr lang="en-US" dirty="0">
                <a:latin typeface="+mj-lt"/>
              </a:rPr>
              <a:t>Social ego-networks, financial transactions, road infrastructure, electronic circuits…</a:t>
            </a:r>
          </a:p>
          <a:p>
            <a:pPr lvl="1"/>
            <a:r>
              <a:rPr lang="en-US" dirty="0">
                <a:latin typeface="+mj-lt"/>
              </a:rPr>
              <a:t>Scalability issues with performance and complexity</a:t>
            </a:r>
          </a:p>
          <a:p>
            <a:pPr lvl="1"/>
            <a:r>
              <a:rPr lang="en-US" dirty="0">
                <a:latin typeface="+mj-lt"/>
              </a:rPr>
              <a:t>Multi-level heterogeneity, local density vs. global sparsity</a:t>
            </a:r>
          </a:p>
          <a:p>
            <a:r>
              <a:rPr lang="en-US" dirty="0" err="1">
                <a:latin typeface="+mj-lt"/>
              </a:rPr>
              <a:t>HiGenDiff</a:t>
            </a:r>
            <a:r>
              <a:rPr lang="en-US" dirty="0">
                <a:latin typeface="+mj-lt"/>
              </a:rPr>
              <a:t> (Hierarchical Generative Diffusion)</a:t>
            </a:r>
          </a:p>
          <a:p>
            <a:pPr lvl="1"/>
            <a:r>
              <a:rPr lang="en-US" dirty="0">
                <a:latin typeface="+mj-lt"/>
              </a:rPr>
              <a:t>Extends work of Karami &amp; Krawczuk et al. </a:t>
            </a:r>
            <a:r>
              <a:rPr lang="en-US" dirty="0">
                <a:solidFill>
                  <a:schemeClr val="accent1"/>
                </a:solidFill>
                <a:latin typeface="+mj-lt"/>
              </a:rPr>
              <a:t>[22, 23, 24]</a:t>
            </a:r>
            <a:r>
              <a:rPr lang="en-US" dirty="0">
                <a:latin typeface="+mj-lt"/>
              </a:rPr>
              <a:t> with new model designs, theoretical analyses and improved experimental results</a:t>
            </a:r>
          </a:p>
        </p:txBody>
      </p:sp>
      <p:sp>
        <p:nvSpPr>
          <p:cNvPr id="8" name="Title 7">
            <a:extLst>
              <a:ext uri="{FF2B5EF4-FFF2-40B4-BE49-F238E27FC236}">
                <a16:creationId xmlns:a16="http://schemas.microsoft.com/office/drawing/2014/main" id="{5846C48E-04F7-A7FB-D832-BEAD444AC327}"/>
              </a:ext>
            </a:extLst>
          </p:cNvPr>
          <p:cNvSpPr>
            <a:spLocks noGrp="1"/>
          </p:cNvSpPr>
          <p:nvPr>
            <p:ph type="title"/>
          </p:nvPr>
        </p:nvSpPr>
        <p:spPr>
          <a:xfrm>
            <a:off x="904875" y="131032"/>
            <a:ext cx="7207279" cy="1072753"/>
          </a:xfrm>
        </p:spPr>
        <p:txBody>
          <a:bodyPr>
            <a:normAutofit/>
          </a:bodyPr>
          <a:lstStyle/>
          <a:p>
            <a:r>
              <a:rPr lang="en-US" dirty="0"/>
              <a:t>4.2	Hierarchical Generative Graph Diffusion</a:t>
            </a:r>
            <a:br>
              <a:rPr lang="en-US" dirty="0"/>
            </a:br>
            <a:r>
              <a:rPr lang="en-US" sz="2400" b="0" i="1" dirty="0"/>
              <a:t>Motivation</a:t>
            </a:r>
            <a:endParaRPr lang="en-GB" sz="2400" b="0" i="1" dirty="0"/>
          </a:p>
        </p:txBody>
      </p:sp>
      <p:sp>
        <p:nvSpPr>
          <p:cNvPr id="5" name="Date Placeholder 4">
            <a:extLst>
              <a:ext uri="{FF2B5EF4-FFF2-40B4-BE49-F238E27FC236}">
                <a16:creationId xmlns:a16="http://schemas.microsoft.com/office/drawing/2014/main" id="{273C1C92-0076-F15E-7A9E-01B4D56D792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87213F4E-7CC9-D377-175C-C3493C6E472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3B8AE51-61F8-EA08-053C-D7810CBF4F79}"/>
              </a:ext>
            </a:extLst>
          </p:cNvPr>
          <p:cNvSpPr>
            <a:spLocks noGrp="1"/>
          </p:cNvSpPr>
          <p:nvPr>
            <p:ph type="sldNum" sz="quarter" idx="12"/>
          </p:nvPr>
        </p:nvSpPr>
        <p:spPr/>
        <p:txBody>
          <a:bodyPr/>
          <a:lstStyle/>
          <a:p>
            <a:fld id="{E1E1CD7C-2161-7D43-862E-CE4C333CD873}" type="slidenum">
              <a:rPr lang="fr-FR" smtClean="0"/>
              <a:pPr/>
              <a:t>45</a:t>
            </a:fld>
            <a:endParaRPr lang="fr-FR" dirty="0"/>
          </a:p>
        </p:txBody>
      </p:sp>
    </p:spTree>
    <p:extLst>
      <p:ext uri="{BB962C8B-B14F-4D97-AF65-F5344CB8AC3E}">
        <p14:creationId xmlns:p14="http://schemas.microsoft.com/office/powerpoint/2010/main" val="408978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E484E4-1A13-9DE5-D8A7-FB87F2AE63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DBBB71AA-A60E-AE64-D20E-62E60C50023E}"/>
                  </a:ext>
                </a:extLst>
              </p:cNvPr>
              <p:cNvSpPr>
                <a:spLocks noGrp="1"/>
              </p:cNvSpPr>
              <p:nvPr>
                <p:ph idx="1"/>
              </p:nvPr>
            </p:nvSpPr>
            <p:spPr/>
            <p:txBody>
              <a:bodyPr anchor="ctr">
                <a:normAutofit/>
              </a:bodyPr>
              <a:lstStyle/>
              <a:p>
                <a:r>
                  <a:rPr lang="en-US" dirty="0">
                    <a:latin typeface="+mj-lt"/>
                  </a:rPr>
                  <a:t>Assume a finite </a:t>
                </a:r>
                <a14:m>
                  <m:oMath xmlns:m="http://schemas.openxmlformats.org/officeDocument/2006/math">
                    <m:r>
                      <a:rPr lang="en-US" b="0" i="1" smtClean="0">
                        <a:latin typeface="Cambria Math" panose="02040503050406030204" pitchFamily="18" charset="0"/>
                      </a:rPr>
                      <m:t>𝑇</m:t>
                    </m:r>
                  </m:oMath>
                </a14:m>
                <a:r>
                  <a:rPr lang="en-US" dirty="0">
                    <a:latin typeface="+mj-lt"/>
                  </a:rPr>
                  <a:t>-step Markov chain between any latent noise and true distributions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0,1,…,</m:t>
                      </m:r>
                      <m:r>
                        <a:rPr lang="en-US" i="1">
                          <a:latin typeface="Cambria Math" panose="02040503050406030204" pitchFamily="18" charset="0"/>
                        </a:rPr>
                        <m:t>𝑇</m:t>
                      </m:r>
                      <m:r>
                        <m:rPr>
                          <m:lit/>
                        </m:rPr>
                        <a:rPr lang="en-US" i="1">
                          <a:latin typeface="Cambria Math" panose="02040503050406030204" pitchFamily="18" charset="0"/>
                        </a:rPr>
                        <m:t>}</m:t>
                      </m:r>
                      <m:r>
                        <a:rPr lang="en-US" i="1">
                          <a:latin typeface="Cambria Math" panose="02040503050406030204" pitchFamily="18" charset="0"/>
                        </a:rPr>
                        <m:t>, </m:t>
                      </m:r>
                      <m:sSub>
                        <m:sSubPr>
                          <m:ctrlPr>
                            <a:rPr lang="en-US" i="1" smtClean="0">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sub>
                      </m:sSub>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1" i="1">
                              <a:latin typeface="Cambria Math" panose="02040503050406030204" pitchFamily="18" charset="0"/>
                            </a:rPr>
                            <m:t>𝑿</m:t>
                          </m:r>
                        </m:e>
                        <m:sub>
                          <m:r>
                            <a:rPr lang="en-US" b="0"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𝑍</m:t>
                      </m:r>
                    </m:oMath>
                  </m:oMathPara>
                </a14:m>
                <a:endParaRPr lang="en-US" dirty="0">
                  <a:latin typeface="+mj-lt"/>
                </a:endParaRPr>
              </a:p>
              <a:p>
                <a:r>
                  <a:rPr lang="en-US" dirty="0">
                    <a:latin typeface="+mj-lt"/>
                  </a:rPr>
                  <a:t>Likelihood estimation with Markov property and</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𝑇</m:t>
                    </m:r>
                    <m:r>
                      <m:rPr>
                        <m:lit/>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𝐹</m:t>
                        </m:r>
                      </m:sup>
                    </m:sSup>
                    <m:r>
                      <a:rPr lang="en-US" b="0" i="1" smtClean="0">
                        <a:latin typeface="Cambria Math" panose="02040503050406030204" pitchFamily="18" charset="0"/>
                      </a:rPr>
                      <m:t>×</m:t>
                    </m:r>
                    <m:sSup>
                      <m:sSupPr>
                        <m:ctrlPr>
                          <a:rPr lang="en-US" b="0"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𝐹</m:t>
                        </m:r>
                      </m:sup>
                    </m:sSup>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ℙ</m:t>
                      </m:r>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e>
                          </m:d>
                        </m:e>
                      </m:d>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𝒟</m:t>
                          </m:r>
                        </m:e>
                      </m:d>
                      <m:r>
                        <a:rPr lang="en-US" b="0" i="1" smtClean="0">
                          <a:latin typeface="Cambria Math" panose="02040503050406030204" pitchFamily="18" charset="0"/>
                        </a:rPr>
                        <m:t>=</m:t>
                      </m:r>
                      <m:r>
                        <a:rPr lang="en-US" b="0" i="1" smtClean="0">
                          <a:latin typeface="Cambria Math" panose="02040503050406030204" pitchFamily="18" charset="0"/>
                        </a:rPr>
                        <m:t>ℙ</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𝑇</m:t>
                              </m:r>
                            </m:sub>
                          </m:sSub>
                        </m:e>
                      </m:d>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a:rPr lang="en-US" i="1">
                              <a:latin typeface="Cambria Math" panose="02040503050406030204" pitchFamily="18" charset="0"/>
                            </a:rPr>
                            <m:t>ℙ</m:t>
                          </m:r>
                          <m:d>
                            <m:dPr>
                              <m:sep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e>
                          </m:d>
                        </m:e>
                      </m:nary>
                    </m:oMath>
                  </m:oMathPara>
                </a14:m>
                <a:endParaRPr lang="en-US" dirty="0">
                  <a:latin typeface="+mj-lt"/>
                </a:endParaRPr>
              </a:p>
              <a:p>
                <a:r>
                  <a:rPr lang="en-US" dirty="0">
                    <a:latin typeface="+mj-lt"/>
                  </a:rPr>
                  <a:t>Sampling through step-by-step denoising with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𝑇</m:t>
                    </m:r>
                    <m:r>
                      <m:rPr>
                        <m:lit/>
                      </m:rPr>
                      <a:rPr lang="en-US" i="1">
                        <a:latin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𝐹</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𝐹</m:t>
                        </m:r>
                      </m:sup>
                    </m:sSup>
                  </m:oMath>
                </a14:m>
                <a:endParaRPr lang="en-US" i="1" dirty="0">
                  <a:latin typeface="+mj-lt"/>
                </a:endParaRP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arg</m:t>
                          </m:r>
                        </m:fName>
                        <m:e>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𝑔</m:t>
                                  </m:r>
                                </m:lim>
                              </m:limLow>
                            </m:fName>
                            <m:e>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𝒟</m:t>
                                  </m:r>
                                  <m:r>
                                    <a:rPr lang="en-US" i="1">
                                      <a:latin typeface="Cambria Math" panose="02040503050406030204" pitchFamily="18" charset="0"/>
                                    </a:rPr>
                                    <m:t>,</m:t>
                                  </m:r>
                                  <m:r>
                                    <a:rPr lang="en-US" i="1">
                                      <a:latin typeface="Cambria Math" panose="02040503050406030204" pitchFamily="18" charset="0"/>
                                    </a:rPr>
                                    <m:t>𝑍</m:t>
                                  </m:r>
                                </m:sub>
                              </m:sSub>
                            </m:e>
                          </m:func>
                        </m:e>
                      </m:func>
                      <m:d>
                        <m:dPr>
                          <m:begChr m:val="["/>
                          <m:endChr m:val="]"/>
                          <m:ctrlPr>
                            <a:rPr lang="en-US" i="1">
                              <a:latin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ℙ</m:t>
                              </m:r>
                              <m:d>
                                <m:dPr>
                                  <m:ctrlPr>
                                    <a:rPr lang="en-US" i="1">
                                      <a:latin typeface="Cambria Math" panose="02040503050406030204" pitchFamily="18" charset="0"/>
                                    </a:rPr>
                                  </m:ctrlPr>
                                </m:dPr>
                                <m:e>
                                  <m:r>
                                    <a:rPr lang="en-US" i="1">
                                      <a:latin typeface="Cambria Math" panose="02040503050406030204" pitchFamily="18" charset="0"/>
                                    </a:rPr>
                                    <m:t>𝑔</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e>
                              </m:d>
                            </m:e>
                          </m:func>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b="1" i="1">
                                  <a:latin typeface="Cambria Math" panose="02040503050406030204" pitchFamily="18" charset="0"/>
                                </a:rPr>
                                <m:t>𝑿</m:t>
                              </m:r>
                            </m:e>
                          </m:acc>
                        </m:e>
                        <m:sub>
                          <m:r>
                            <a:rPr lang="en-US" b="0" i="1" smtClean="0">
                              <a:latin typeface="Cambria Math" panose="02040503050406030204" pitchFamily="18" charset="0"/>
                            </a:rPr>
                            <m:t>0</m:t>
                          </m:r>
                        </m:sub>
                      </m:sSub>
                      <m:r>
                        <a:rPr lang="en-US" i="1">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e>
                      </m:d>
                      <m:d>
                        <m:dPr>
                          <m:ctrlPr>
                            <a:rPr lang="en-US" i="1">
                              <a:latin typeface="Cambria Math" panose="02040503050406030204" pitchFamily="18" charset="0"/>
                            </a:rPr>
                          </m:ctrlPr>
                        </m:dPr>
                        <m:e>
                          <m:r>
                            <a:rPr lang="en-US" i="1" smtClean="0">
                              <a:latin typeface="Cambria Math" panose="02040503050406030204" pitchFamily="18" charset="0"/>
                            </a:rPr>
                            <m:t>𝑍</m:t>
                          </m:r>
                        </m:e>
                      </m:d>
                    </m:oMath>
                  </m:oMathPara>
                </a14:m>
                <a:endParaRPr lang="en-US" sz="2000" i="1" dirty="0"/>
              </a:p>
            </p:txBody>
          </p:sp>
        </mc:Choice>
        <mc:Fallback xmlns="">
          <p:sp>
            <p:nvSpPr>
              <p:cNvPr id="9" name="Content Placeholder 8">
                <a:extLst>
                  <a:ext uri="{FF2B5EF4-FFF2-40B4-BE49-F238E27FC236}">
                    <a16:creationId xmlns:a16="http://schemas.microsoft.com/office/drawing/2014/main" id="{DBBB71AA-A60E-AE64-D20E-62E60C50023E}"/>
                  </a:ext>
                </a:extLst>
              </p:cNvPr>
              <p:cNvSpPr>
                <a:spLocks noGrp="1" noRot="1" noChangeAspect="1" noMove="1" noResize="1" noEditPoints="1" noAdjustHandles="1" noChangeArrowheads="1" noChangeShapeType="1" noTextEdit="1"/>
              </p:cNvSpPr>
              <p:nvPr>
                <p:ph idx="1"/>
              </p:nvPr>
            </p:nvSpPr>
            <p:spPr>
              <a:blipFill>
                <a:blip r:embed="rId3"/>
                <a:stretch>
                  <a:fillRect r="-631"/>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CA69C782-92EB-5E89-2A51-3AB081937BAF}"/>
              </a:ext>
            </a:extLst>
          </p:cNvPr>
          <p:cNvSpPr>
            <a:spLocks noGrp="1"/>
          </p:cNvSpPr>
          <p:nvPr>
            <p:ph type="title"/>
          </p:nvPr>
        </p:nvSpPr>
        <p:spPr>
          <a:xfrm>
            <a:off x="904875" y="131032"/>
            <a:ext cx="7207279" cy="1072753"/>
          </a:xfrm>
        </p:spPr>
        <p:txBody>
          <a:bodyPr>
            <a:normAutofit/>
          </a:bodyPr>
          <a:lstStyle/>
          <a:p>
            <a:r>
              <a:rPr lang="en-US" dirty="0"/>
              <a:t>4.2	Hierarchical Generative Graph Diffusion</a:t>
            </a:r>
            <a:br>
              <a:rPr lang="en-US" dirty="0"/>
            </a:br>
            <a:r>
              <a:rPr lang="en-US" sz="2400" b="0" i="1" dirty="0"/>
              <a:t>Background - Diffusion models </a:t>
            </a:r>
            <a:r>
              <a:rPr lang="en-US" sz="2400" b="0" i="1" dirty="0">
                <a:solidFill>
                  <a:schemeClr val="accent1"/>
                </a:solidFill>
              </a:rPr>
              <a:t>[5]</a:t>
            </a:r>
            <a:endParaRPr lang="en-GB" sz="2400" b="0" i="1" dirty="0">
              <a:solidFill>
                <a:schemeClr val="accent1"/>
              </a:solidFill>
            </a:endParaRPr>
          </a:p>
        </p:txBody>
      </p:sp>
      <p:sp>
        <p:nvSpPr>
          <p:cNvPr id="5" name="Date Placeholder 4">
            <a:extLst>
              <a:ext uri="{FF2B5EF4-FFF2-40B4-BE49-F238E27FC236}">
                <a16:creationId xmlns:a16="http://schemas.microsoft.com/office/drawing/2014/main" id="{15E1C889-469C-B264-06B0-8693FEC37DB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F567718-F929-DF3A-1110-4CE7CAE67F0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3035225-1D76-1DC6-C782-09E016470CD9}"/>
              </a:ext>
            </a:extLst>
          </p:cNvPr>
          <p:cNvSpPr>
            <a:spLocks noGrp="1"/>
          </p:cNvSpPr>
          <p:nvPr>
            <p:ph type="sldNum" sz="quarter" idx="12"/>
          </p:nvPr>
        </p:nvSpPr>
        <p:spPr/>
        <p:txBody>
          <a:bodyPr/>
          <a:lstStyle/>
          <a:p>
            <a:fld id="{E1E1CD7C-2161-7D43-862E-CE4C333CD873}" type="slidenum">
              <a:rPr lang="fr-FR" smtClean="0"/>
              <a:pPr/>
              <a:t>46</a:t>
            </a:fld>
            <a:endParaRPr lang="fr-FR" dirty="0"/>
          </a:p>
        </p:txBody>
      </p:sp>
    </p:spTree>
    <p:extLst>
      <p:ext uri="{BB962C8B-B14F-4D97-AF65-F5344CB8AC3E}">
        <p14:creationId xmlns:p14="http://schemas.microsoft.com/office/powerpoint/2010/main" val="418754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9" dur="500"/>
                                        <p:tgtEl>
                                          <p:spTgt spid="9">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DACBF1-9F7A-2100-3644-473469A432C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B1F3BFED-D217-145E-658B-9BF5994151A7}"/>
                  </a:ext>
                </a:extLst>
              </p:cNvPr>
              <p:cNvSpPr>
                <a:spLocks noGrp="1"/>
              </p:cNvSpPr>
              <p:nvPr>
                <p:ph idx="1"/>
              </p:nvPr>
            </p:nvSpPr>
            <p:spPr/>
            <p:txBody>
              <a:bodyPr anchor="ctr">
                <a:normAutofit fontScale="92500" lnSpcReduction="10000"/>
              </a:bodyPr>
              <a:lstStyle/>
              <a:p>
                <a:r>
                  <a:rPr lang="en-US" sz="2100" dirty="0">
                    <a:latin typeface="+mj-lt"/>
                  </a:rPr>
                  <a:t>Discrete diffusion process of </a:t>
                </a:r>
                <a:r>
                  <a:rPr lang="en-US" sz="2100" dirty="0" err="1">
                    <a:latin typeface="+mj-lt"/>
                  </a:rPr>
                  <a:t>DiGress</a:t>
                </a:r>
                <a:r>
                  <a:rPr lang="en-US" sz="2100" dirty="0">
                    <a:latin typeface="+mj-lt"/>
                  </a:rPr>
                  <a:t> </a:t>
                </a:r>
                <a:r>
                  <a:rPr lang="en-US" sz="2100" dirty="0">
                    <a:solidFill>
                      <a:schemeClr val="accent1"/>
                    </a:solidFill>
                    <a:latin typeface="+mj-lt"/>
                  </a:rPr>
                  <a:t>[18]</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e>
                        <m:sub>
                          <m:r>
                            <a:rPr lang="en-US" i="1">
                              <a:latin typeface="Cambria Math" panose="02040503050406030204" pitchFamily="18" charset="0"/>
                            </a:rPr>
                            <m:t>𝑡</m:t>
                          </m:r>
                        </m:sub>
                      </m:sSub>
                      <m:r>
                        <a:rPr lang="en-US" i="1">
                          <a:latin typeface="Cambria Math" panose="02040503050406030204" pitchFamily="18" charset="0"/>
                        </a:rPr>
                        <m:t>∼</m:t>
                      </m:r>
                      <m:r>
                        <m:rPr>
                          <m:nor/>
                        </m:rPr>
                        <a:rPr lang="en-US">
                          <a:latin typeface="Cambria Math" panose="02040503050406030204" pitchFamily="18" charset="0"/>
                        </a:rPr>
                        <m:t>Categorical</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r>
                            <m:rPr>
                              <m:nor/>
                            </m:rPr>
                            <a:rPr lang="en-US">
                              <a:latin typeface="Cambria Math" panose="02040503050406030204" pitchFamily="18" charset="0"/>
                            </a:rPr>
                            <m:t>OneHot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e>
                                <m:sub>
                                  <m:r>
                                    <a:rPr lang="en-US" i="1">
                                      <a:latin typeface="Cambria Math" panose="02040503050406030204" pitchFamily="18" charset="0"/>
                                    </a:rPr>
                                    <m:t>0</m:t>
                                  </m:r>
                                </m:sub>
                              </m:sSub>
                            </m:e>
                          </m:d>
                        </m:e>
                      </m:d>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r>
                        <a:rPr lang="en-US" i="1">
                          <a:latin typeface="Cambria Math" panose="02040503050406030204" pitchFamily="18" charset="0"/>
                        </a:rPr>
                        <m:t>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acc>
                        <m:accPr>
                          <m:chr m:val="̂"/>
                          <m:ctrlPr>
                            <a:rPr lang="en-US" i="1">
                              <a:latin typeface="Cambria Math" panose="02040503050406030204" pitchFamily="18" charset="0"/>
                            </a:rPr>
                          </m:ctrlPr>
                        </m:accPr>
                        <m:e>
                          <m:r>
                            <a:rPr lang="en-US" i="1">
                              <a:latin typeface="Cambria Math" panose="02040503050406030204" pitchFamily="18" charset="0"/>
                            </a:rPr>
                            <m:t>𝑄</m:t>
                          </m:r>
                        </m:e>
                      </m:acc>
                    </m:oMath>
                  </m:oMathPara>
                </a14:m>
                <a:endParaRPr lang="en-US" dirty="0">
                  <a:latin typeface="+mj-lt"/>
                </a:endParaRPr>
              </a:p>
              <a:p>
                <a:r>
                  <a:rPr lang="en-US" sz="2100" dirty="0">
                    <a:latin typeface="+mj-lt"/>
                  </a:rPr>
                  <a:t>Iterative data coarsening with multi-level Louvain</a:t>
                </a:r>
              </a:p>
              <a:p>
                <a:pPr lvl="1"/>
                <a14:m>
                  <m:oMath xmlns:m="http://schemas.openxmlformats.org/officeDocument/2006/math">
                    <m:r>
                      <a:rPr lang="en-US" sz="1800" b="0" i="1" smtClean="0">
                        <a:latin typeface="Cambria Math" panose="02040503050406030204" pitchFamily="18" charset="0"/>
                      </a:rPr>
                      <m:t>𝐺</m:t>
                    </m:r>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d>
                          <m:dPr>
                            <m:begChr m:val="["/>
                            <m:endChr m:val="]"/>
                            <m:ctrlPr>
                              <a:rPr lang="en-US" sz="1800" i="1">
                                <a:latin typeface="Cambria Math" panose="02040503050406030204" pitchFamily="18" charset="0"/>
                              </a:rPr>
                            </m:ctrlPr>
                          </m:dPr>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𝐺</m:t>
                                </m:r>
                              </m:e>
                              <m: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𝑙</m:t>
                                    </m:r>
                                  </m:e>
                                </m:d>
                              </m:sup>
                            </m:sSup>
                          </m:e>
                        </m:d>
                      </m:e>
                      <m:sub>
                        <m:r>
                          <a:rPr lang="en-US" sz="1800" i="1">
                            <a:latin typeface="Cambria Math" panose="02040503050406030204" pitchFamily="18" charset="0"/>
                          </a:rPr>
                          <m:t>𝑙</m:t>
                        </m:r>
                        <m:r>
                          <a:rPr lang="en-US" sz="1800" i="1">
                            <a:latin typeface="Cambria Math" panose="02040503050406030204" pitchFamily="18" charset="0"/>
                          </a:rPr>
                          <m:t>=1</m:t>
                        </m:r>
                      </m:sub>
                      <m:sup>
                        <m:r>
                          <a:rPr lang="en-US" sz="1800" i="1">
                            <a:latin typeface="Cambria Math" panose="02040503050406030204" pitchFamily="18" charset="0"/>
                          </a:rPr>
                          <m:t>𝐿</m:t>
                        </m:r>
                      </m:sup>
                    </m:sSubSup>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d>
                          <m:dPr>
                            <m:begChr m:val="["/>
                            <m:endChr m:val="]"/>
                            <m:ctrlPr>
                              <a:rPr lang="en-US" sz="1800" b="0" i="1" smtClean="0">
                                <a:latin typeface="Cambria Math" panose="02040503050406030204" pitchFamily="18" charset="0"/>
                              </a:rPr>
                            </m:ctrlPr>
                          </m:dPr>
                          <m:e>
                            <m:d>
                              <m:dPr>
                                <m:ctrlPr>
                                  <a:rPr lang="en-US" sz="1800" b="0" i="1" smtClean="0">
                                    <a:latin typeface="Cambria Math" panose="02040503050406030204" pitchFamily="18" charset="0"/>
                                  </a:rPr>
                                </m:ctrlPr>
                              </m:dPr>
                              <m:e>
                                <m:sSup>
                                  <m:sSupPr>
                                    <m:ctrlPr>
                                      <a:rPr lang="en-US" sz="1800" b="0" i="1" smtClean="0">
                                        <a:latin typeface="Cambria Math" panose="02040503050406030204" pitchFamily="18" charset="0"/>
                                      </a:rPr>
                                    </m:ctrlPr>
                                  </m:sSupPr>
                                  <m:e>
                                    <m:r>
                                      <a:rPr lang="en-US" sz="1800" b="1" i="1" smtClean="0">
                                        <a:latin typeface="Cambria Math" panose="02040503050406030204" pitchFamily="18" charset="0"/>
                                      </a:rPr>
                                      <m:t>𝑿</m:t>
                                    </m:r>
                                  </m:e>
                                  <m: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𝑙</m:t>
                                        </m:r>
                                      </m:e>
                                    </m:d>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𝐴</m:t>
                                    </m:r>
                                  </m:e>
                                  <m:sup>
                                    <m:d>
                                      <m:dPr>
                                        <m:ctrlPr>
                                          <a:rPr lang="en-US" sz="1800" b="0" i="1" smtClean="0">
                                            <a:latin typeface="Cambria Math" panose="02040503050406030204" pitchFamily="18" charset="0"/>
                                          </a:rPr>
                                        </m:ctrlPr>
                                      </m:dPr>
                                      <m:e>
                                        <m:r>
                                          <a:rPr lang="en-US" sz="1800" i="1">
                                            <a:latin typeface="Cambria Math" panose="02040503050406030204" pitchFamily="18" charset="0"/>
                                          </a:rPr>
                                          <m:t>𝑙</m:t>
                                        </m:r>
                                      </m:e>
                                    </m:d>
                                  </m:sup>
                                </m:sSup>
                              </m:e>
                            </m:d>
                          </m:e>
                        </m:d>
                      </m:e>
                      <m:sub>
                        <m:r>
                          <a:rPr lang="en-US" sz="1800" b="0" i="1" smtClean="0">
                            <a:latin typeface="Cambria Math" panose="02040503050406030204" pitchFamily="18" charset="0"/>
                          </a:rPr>
                          <m:t>𝑙</m:t>
                        </m:r>
                        <m:r>
                          <a:rPr lang="en-US" sz="1800" b="0" i="1" smtClean="0">
                            <a:latin typeface="Cambria Math" panose="02040503050406030204" pitchFamily="18" charset="0"/>
                          </a:rPr>
                          <m:t>=1</m:t>
                        </m:r>
                      </m:sub>
                      <m:sup>
                        <m:r>
                          <a:rPr lang="en-US" sz="1800" b="0" i="1" smtClean="0">
                            <a:latin typeface="Cambria Math" panose="02040503050406030204" pitchFamily="18" charset="0"/>
                          </a:rPr>
                          <m:t>𝐿</m:t>
                        </m:r>
                      </m:sup>
                    </m:sSubSup>
                  </m:oMath>
                </a14:m>
                <a:r>
                  <a:rPr lang="en-US" sz="1800" dirty="0"/>
                  <a:t> </a:t>
                </a:r>
                <a14:m>
                  <m:oMath xmlns:m="http://schemas.openxmlformats.org/officeDocument/2006/math">
                    <m:r>
                      <a:rPr lang="en-US" sz="1800" i="1" smtClean="0">
                        <a:latin typeface="Cambria Math" panose="02040503050406030204" pitchFamily="18" charset="0"/>
                      </a:rPr>
                      <m:t>∈</m:t>
                    </m:r>
                    <m:r>
                      <a:rPr lang="en-US" sz="1800" i="1" smtClean="0">
                        <a:latin typeface="Cambria Math" panose="02040503050406030204" pitchFamily="18" charset="0"/>
                      </a:rPr>
                      <m:t>𝒟</m:t>
                    </m:r>
                  </m:oMath>
                </a14:m>
                <a:endParaRPr lang="en-US" sz="1800" dirty="0">
                  <a:latin typeface="+mj-lt"/>
                </a:endParaRPr>
              </a:p>
              <a:p>
                <a:pPr lvl="1"/>
                <a:r>
                  <a:rPr lang="en-US" sz="1800" dirty="0">
                    <a:latin typeface="+mj-lt"/>
                  </a:rPr>
                  <a:t>Root graph, per-level communities and </a:t>
                </a:r>
                <a:r>
                  <a:rPr lang="en-US" sz="1800" dirty="0" err="1">
                    <a:latin typeface="+mj-lt"/>
                  </a:rPr>
                  <a:t>bipartites</a:t>
                </a:r>
                <a:r>
                  <a:rPr lang="en-US" sz="1800" dirty="0">
                    <a:latin typeface="+mj-lt"/>
                  </a:rPr>
                  <a:t> </a:t>
                </a:r>
                <a:endParaRPr lang="en-US" sz="1800" i="1" dirty="0">
                  <a:latin typeface="Cambria Math" panose="02040503050406030204" pitchFamily="18" charset="0"/>
                </a:endParaRPr>
              </a:p>
              <a:p>
                <a:pPr marL="342900" lvl="1" indent="0">
                  <a:buNone/>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𝐺</m:t>
                      </m:r>
                      <m:r>
                        <a:rPr lang="en-US" sz="1800" i="1" smtClean="0">
                          <a:latin typeface="Cambria Math" panose="02040503050406030204" pitchFamily="18" charset="0"/>
                        </a:rPr>
                        <m:t>=</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d>
                                <m:dPr>
                                  <m:begChr m:val="["/>
                                  <m:endChr m:val="]"/>
                                  <m:ctrlPr>
                                    <a:rPr lang="en-US" sz="1800" b="0" i="1" smtClean="0">
                                      <a:latin typeface="Cambria Math" panose="02040503050406030204" pitchFamily="18" charset="0"/>
                                    </a:rPr>
                                  </m:ctrlPr>
                                </m:dPr>
                                <m:e>
                                  <m:d>
                                    <m:dPr>
                                      <m:ctrlPr>
                                        <a:rPr lang="en-US" sz="1800" b="0" i="1" smtClean="0">
                                          <a:latin typeface="Cambria Math" panose="02040503050406030204" pitchFamily="18" charset="0"/>
                                        </a:rPr>
                                      </m:ctrlPr>
                                    </m:dPr>
                                    <m:e>
                                      <m:r>
                                        <m:rPr>
                                          <m:lit/>
                                        </m:rP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𝐶</m:t>
                                          </m:r>
                                        </m:e>
                                        <m:sub>
                                          <m:r>
                                            <a:rPr lang="en-US" sz="1800" b="0" i="1" smtClean="0">
                                              <a:latin typeface="Cambria Math" panose="02040503050406030204" pitchFamily="18" charset="0"/>
                                            </a:rPr>
                                            <m:t>𝑘</m:t>
                                          </m:r>
                                        </m:sub>
                                        <m:sup>
                                          <m:d>
                                            <m:dPr>
                                              <m:ctrlPr>
                                                <a:rPr lang="en-US" sz="1800" b="0" i="1" smtClean="0">
                                                  <a:latin typeface="Cambria Math" panose="02040503050406030204" pitchFamily="18" charset="0"/>
                                                </a:rPr>
                                              </m:ctrlPr>
                                            </m:dPr>
                                            <m:e>
                                              <m:r>
                                                <a:rPr lang="en-US" sz="1800" i="1">
                                                  <a:latin typeface="Cambria Math" panose="02040503050406030204" pitchFamily="18" charset="0"/>
                                                </a:rPr>
                                                <m:t>𝑙</m:t>
                                              </m:r>
                                            </m:e>
                                          </m:d>
                                        </m:sup>
                                      </m:sSubSup>
                                      <m:sSubSup>
                                        <m:sSubSupPr>
                                          <m:ctrlPr>
                                            <a:rPr lang="en-US" sz="1800" b="0" i="1" smtClean="0">
                                              <a:latin typeface="Cambria Math" panose="02040503050406030204" pitchFamily="18" charset="0"/>
                                            </a:rPr>
                                          </m:ctrlPr>
                                        </m:sSubSupPr>
                                        <m:e>
                                          <m:r>
                                            <m:rPr>
                                              <m:lit/>
                                            </m:rPr>
                                            <a:rPr lang="en-US" sz="1800" b="0" i="1" smtClean="0">
                                              <a:latin typeface="Cambria Math" panose="02040503050406030204" pitchFamily="18" charset="0"/>
                                            </a:rPr>
                                            <m:t>}</m:t>
                                          </m:r>
                                        </m:e>
                                        <m:sub>
                                          <m:r>
                                            <a:rPr lang="en-US" sz="1800" b="0" i="1" smtClean="0">
                                              <a:latin typeface="Cambria Math" panose="02040503050406030204" pitchFamily="18" charset="0"/>
                                            </a:rPr>
                                            <m:t>𝑘</m:t>
                                          </m:r>
                                          <m:r>
                                            <a:rPr lang="en-US" sz="1800" b="0" i="1" smtClean="0">
                                              <a:latin typeface="Cambria Math" panose="02040503050406030204" pitchFamily="18" charset="0"/>
                                            </a:rPr>
                                            <m:t>=1</m:t>
                                          </m:r>
                                        </m:sub>
                                        <m:sup>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𝑙</m:t>
                                                  </m:r>
                                                  <m:r>
                                                    <a:rPr lang="en-US" sz="1800" b="0" i="1" smtClean="0">
                                                      <a:latin typeface="Cambria Math" panose="02040503050406030204" pitchFamily="18" charset="0"/>
                                                    </a:rPr>
                                                    <m:t>+1</m:t>
                                                  </m:r>
                                                </m:e>
                                              </m:d>
                                            </m:sup>
                                          </m:sSup>
                                        </m:sup>
                                      </m:sSubSup>
                                      <m:r>
                                        <a:rPr lang="en-US" sz="1800" b="0" i="1" smtClean="0">
                                          <a:latin typeface="Cambria Math" panose="02040503050406030204" pitchFamily="18" charset="0"/>
                                        </a:rPr>
                                        <m:t>,</m:t>
                                      </m:r>
                                      <m:r>
                                        <m:rPr>
                                          <m:lit/>
                                        </m:rPr>
                                        <a:rPr lang="en-US" sz="1800" i="1">
                                          <a:latin typeface="Cambria Math" panose="02040503050406030204" pitchFamily="18" charset="0"/>
                                        </a:rPr>
                                        <m:t>{</m:t>
                                      </m:r>
                                      <m:sSubSup>
                                        <m:sSubSupPr>
                                          <m:ctrlPr>
                                            <a:rPr lang="en-US" sz="1800" i="1">
                                              <a:latin typeface="Cambria Math" panose="02040503050406030204" pitchFamily="18" charset="0"/>
                                            </a:rPr>
                                          </m:ctrlPr>
                                        </m:sSubSupPr>
                                        <m:e>
                                          <m:r>
                                            <a:rPr lang="en-US" sz="1800" b="0" i="1" smtClean="0">
                                              <a:latin typeface="Cambria Math" panose="02040503050406030204" pitchFamily="18" charset="0"/>
                                            </a:rPr>
                                            <m:t>𝐵</m:t>
                                          </m:r>
                                        </m:e>
                                        <m:sub>
                                          <m:r>
                                            <a:rPr lang="en-US" sz="1800" b="0" i="1" smtClean="0">
                                              <a:latin typeface="Cambria Math" panose="02040503050406030204" pitchFamily="18" charset="0"/>
                                            </a:rPr>
                                            <m:t>𝑗</m:t>
                                          </m:r>
                                          <m:r>
                                            <a:rPr lang="en-US" sz="1800" b="0" i="1" smtClean="0">
                                              <a:latin typeface="Cambria Math" panose="02040503050406030204" pitchFamily="18" charset="0"/>
                                            </a:rPr>
                                            <m:t>,</m:t>
                                          </m:r>
                                          <m:r>
                                            <a:rPr lang="en-US" sz="1800" b="0" i="1" smtClean="0">
                                              <a:latin typeface="Cambria Math" panose="02040503050406030204" pitchFamily="18" charset="0"/>
                                            </a:rPr>
                                            <m:t>𝑘</m:t>
                                          </m:r>
                                        </m:sub>
                                        <m: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𝑙</m:t>
                                              </m:r>
                                            </m:e>
                                          </m:d>
                                        </m:sup>
                                      </m:sSubSup>
                                      <m:sSub>
                                        <m:sSubPr>
                                          <m:ctrlPr>
                                            <a:rPr lang="en-US" sz="1800" b="0" i="1" smtClean="0">
                                              <a:latin typeface="Cambria Math" panose="02040503050406030204" pitchFamily="18" charset="0"/>
                                            </a:rPr>
                                          </m:ctrlPr>
                                        </m:sSubPr>
                                        <m:e>
                                          <m:r>
                                            <m:rPr>
                                              <m:lit/>
                                            </m:rPr>
                                            <a:rPr lang="en-US" sz="1800" i="1">
                                              <a:latin typeface="Cambria Math" panose="02040503050406030204" pitchFamily="18" charset="0"/>
                                            </a:rPr>
                                            <m:t>}</m:t>
                                          </m:r>
                                        </m:e>
                                        <m:sub>
                                          <m:r>
                                            <a:rPr lang="en-US" sz="1800" b="0" i="1" smtClean="0">
                                              <a:latin typeface="Cambria Math" panose="02040503050406030204" pitchFamily="18" charset="0"/>
                                            </a:rPr>
                                            <m:t>𝑗</m:t>
                                          </m:r>
                                          <m:r>
                                            <a:rPr lang="en-US" sz="1800" b="0" i="1" smtClean="0">
                                              <a:latin typeface="Cambria Math" panose="02040503050406030204" pitchFamily="18" charset="0"/>
                                            </a:rPr>
                                            <m:t>≠</m:t>
                                          </m:r>
                                          <m:r>
                                            <a:rPr lang="en-US" sz="1800" b="0" i="1" smtClean="0">
                                              <a:latin typeface="Cambria Math" panose="02040503050406030204" pitchFamily="18" charset="0"/>
                                            </a:rPr>
                                            <m:t>𝑘</m:t>
                                          </m:r>
                                        </m:sub>
                                      </m:sSub>
                                    </m:e>
                                  </m:d>
                                </m:e>
                              </m:d>
                            </m:e>
                            <m:sub>
                              <m:r>
                                <a:rPr lang="en-US" sz="1800" b="0" i="1" smtClean="0">
                                  <a:latin typeface="Cambria Math" panose="02040503050406030204" pitchFamily="18" charset="0"/>
                                </a:rPr>
                                <m:t>𝑙</m:t>
                              </m:r>
                              <m:r>
                                <a:rPr lang="en-US" sz="1800" b="0" i="1" smtClean="0">
                                  <a:latin typeface="Cambria Math" panose="02040503050406030204" pitchFamily="18" charset="0"/>
                                </a:rPr>
                                <m:t>=1</m:t>
                              </m:r>
                            </m:sub>
                            <m:sup>
                              <m:r>
                                <a:rPr lang="en-US" sz="1800" b="0" i="1" smtClean="0">
                                  <a:latin typeface="Cambria Math" panose="02040503050406030204" pitchFamily="18" charset="0"/>
                                </a:rPr>
                                <m:t>𝐿</m:t>
                              </m:r>
                              <m:r>
                                <a:rPr lang="en-US" sz="1800" b="0" i="1" smtClean="0">
                                  <a:latin typeface="Cambria Math" panose="02040503050406030204" pitchFamily="18" charset="0"/>
                                </a:rPr>
                                <m:t>−1</m:t>
                              </m:r>
                            </m:sup>
                          </m:sSubSup>
                        </m:e>
                      </m:d>
                    </m:oMath>
                  </m:oMathPara>
                </a14:m>
                <a:endParaRPr lang="en-US" sz="1800" dirty="0">
                  <a:latin typeface="+mj-lt"/>
                </a:endParaRPr>
              </a:p>
              <a:p>
                <a:pPr lvl="1"/>
                <a:r>
                  <a:rPr lang="en-US" sz="1800" dirty="0">
                    <a:latin typeface="+mj-lt"/>
                  </a:rPr>
                  <a:t>Graph coarsening between levels with </a:t>
                </a:r>
                <a14:m>
                  <m:oMath xmlns:m="http://schemas.openxmlformats.org/officeDocument/2006/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𝑀</m:t>
                        </m:r>
                      </m:e>
                      <m:sup>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𝑙</m:t>
                            </m:r>
                          </m:e>
                        </m:d>
                      </m:sup>
                    </m:sSup>
                    <m:r>
                      <a:rPr lang="en-US" sz="1800" b="0" i="1" smtClean="0">
                        <a:latin typeface="Cambria Math" panose="02040503050406030204" pitchFamily="18" charset="0"/>
                      </a:rPr>
                      <m:t>∈</m:t>
                    </m:r>
                    <m:r>
                      <m:rPr>
                        <m:lit/>
                      </m:rPr>
                      <a:rPr lang="en-US" sz="1800" b="0" i="1" smtClean="0">
                        <a:latin typeface="Cambria Math" panose="02040503050406030204" pitchFamily="18" charset="0"/>
                      </a:rPr>
                      <m:t>{</m:t>
                    </m:r>
                    <m:r>
                      <a:rPr lang="en-US" sz="1800" b="0" i="1" smtClean="0">
                        <a:latin typeface="Cambria Math" panose="02040503050406030204" pitchFamily="18" charset="0"/>
                      </a:rPr>
                      <m:t>0,1</m:t>
                    </m:r>
                    <m:sSup>
                      <m:sSupPr>
                        <m:ctrlPr>
                          <a:rPr lang="en-US" sz="1800" b="0" i="1" smtClean="0">
                            <a:latin typeface="Cambria Math" panose="02040503050406030204" pitchFamily="18" charset="0"/>
                          </a:rPr>
                        </m:ctrlPr>
                      </m:sSupPr>
                      <m:e>
                        <m:r>
                          <m:rPr>
                            <m:lit/>
                          </m:rPr>
                          <a:rPr lang="en-US" sz="1800" b="0" i="1" smtClean="0">
                            <a:latin typeface="Cambria Math" panose="02040503050406030204" pitchFamily="18" charset="0"/>
                          </a:rPr>
                          <m:t>}</m:t>
                        </m:r>
                      </m:e>
                      <m:sup>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d>
                              <m:dPr>
                                <m:ctrlPr>
                                  <a:rPr lang="en-US" sz="1800" b="0" i="1" smtClean="0">
                                    <a:latin typeface="Cambria Math" panose="02040503050406030204" pitchFamily="18" charset="0"/>
                                  </a:rPr>
                                </m:ctrlPr>
                              </m:dPr>
                              <m:e>
                                <m:r>
                                  <a:rPr lang="en-US" sz="1800" i="1">
                                    <a:latin typeface="Cambria Math" panose="02040503050406030204" pitchFamily="18" charset="0"/>
                                  </a:rPr>
                                  <m:t>𝑙</m:t>
                                </m:r>
                                <m:r>
                                  <a:rPr lang="en-US" sz="1800" b="0" i="1" smtClean="0">
                                    <a:latin typeface="Cambria Math" panose="02040503050406030204" pitchFamily="18" charset="0"/>
                                  </a:rPr>
                                  <m:t>+1</m:t>
                                </m:r>
                              </m:e>
                            </m:d>
                          </m:sup>
                        </m:sSup>
                        <m:r>
                          <a:rPr lang="en-US" sz="1800" b="0" i="1" smtClean="0">
                            <a:latin typeface="Cambria Math" panose="02040503050406030204" pitchFamily="18" charset="0"/>
                          </a:rPr>
                          <m:t>×</m:t>
                        </m:r>
                        <m:sSup>
                          <m:sSupPr>
                            <m:ctrlPr>
                              <a:rPr lang="en-US" sz="1800" b="0" i="1">
                                <a:latin typeface="Cambria Math" panose="02040503050406030204" pitchFamily="18" charset="0"/>
                              </a:rPr>
                            </m:ctrlPr>
                          </m:sSupPr>
                          <m:e>
                            <m:r>
                              <a:rPr lang="en-US" sz="1800" i="1">
                                <a:latin typeface="Cambria Math" panose="02040503050406030204" pitchFamily="18" charset="0"/>
                              </a:rPr>
                              <m:t>𝑛</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sup>
                    </m:sSup>
                  </m:oMath>
                </a14:m>
                <a:endParaRPr lang="en-US" sz="1800" dirty="0">
                  <a:latin typeface="+mj-lt"/>
                </a:endParaRPr>
              </a:p>
              <a:p>
                <a:pPr marL="342900" lvl="1" indent="0">
                  <a:buNone/>
                </a:pPr>
                <a14:m>
                  <m:oMathPara xmlns:m="http://schemas.openxmlformats.org/officeDocument/2006/math">
                    <m:oMathParaPr>
                      <m:jc m:val="centerGroup"/>
                    </m:oMathParaPr>
                    <m:oMath xmlns:m="http://schemas.openxmlformats.org/officeDocument/2006/math">
                      <m:sSup>
                        <m:sSupPr>
                          <m:ctrlPr>
                            <a:rPr lang="en-US" sz="1800" i="1">
                              <a:latin typeface="Cambria Math" panose="02040503050406030204" pitchFamily="18" charset="0"/>
                            </a:rPr>
                          </m:ctrlPr>
                        </m:sSupPr>
                        <m:e>
                          <m:r>
                            <a:rPr lang="en-US" sz="1800" b="1" i="1">
                              <a:latin typeface="Cambria Math" panose="02040503050406030204" pitchFamily="18" charset="0"/>
                            </a:rPr>
                            <m:t>𝑿</m:t>
                          </m:r>
                        </m:e>
                        <m:sup>
                          <m:d>
                            <m:dPr>
                              <m:ctrlPr>
                                <a:rPr lang="en-US" sz="1800" i="1">
                                  <a:latin typeface="Cambria Math" panose="02040503050406030204" pitchFamily="18" charset="0"/>
                                </a:rPr>
                              </m:ctrlPr>
                            </m:dPr>
                            <m:e>
                              <m:r>
                                <a:rPr lang="en-US" sz="1800" i="1">
                                  <a:latin typeface="Cambria Math" panose="02040503050406030204" pitchFamily="18" charset="0"/>
                                </a:rPr>
                                <m:t>𝑙</m:t>
                              </m:r>
                              <m:r>
                                <a:rPr lang="en-US" sz="1800" b="0" i="1" smtClean="0">
                                  <a:latin typeface="Cambria Math" panose="02040503050406030204" pitchFamily="18" charset="0"/>
                                </a:rPr>
                                <m:t>+1</m:t>
                              </m:r>
                            </m:e>
                          </m:d>
                        </m:sup>
                      </m:sSup>
                      <m:r>
                        <a:rPr lang="en-US" sz="1800" b="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𝑀</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r>
                        <a:rPr lang="en-US" sz="1800" b="0" i="1" smtClean="0">
                          <a:latin typeface="Cambria Math" panose="02040503050406030204" pitchFamily="18" charset="0"/>
                        </a:rPr>
                        <m:t>⋅</m:t>
                      </m:r>
                      <m:sSup>
                        <m:sSupPr>
                          <m:ctrlPr>
                            <a:rPr lang="en-US" sz="1800" i="1">
                              <a:latin typeface="Cambria Math" panose="02040503050406030204" pitchFamily="18" charset="0"/>
                            </a:rPr>
                          </m:ctrlPr>
                        </m:sSupPr>
                        <m:e>
                          <m:r>
                            <a:rPr lang="en-US" sz="1800" b="1" i="1">
                              <a:latin typeface="Cambria Math" panose="02040503050406030204" pitchFamily="18" charset="0"/>
                            </a:rPr>
                            <m:t>𝑿</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r>
                        <a:rPr lang="en-US" sz="1800" b="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𝑀</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r>
                        <a:rPr lang="en-US" sz="1800" i="1">
                          <a:latin typeface="Cambria Math" panose="02040503050406030204" pitchFamily="18" charset="0"/>
                        </a:rPr>
                        <m:t>⋅</m:t>
                      </m:r>
                      <m:sSub>
                        <m:sSubPr>
                          <m:ctrlPr>
                            <a:rPr lang="en-US" sz="1800" b="0" i="1" smtClean="0">
                              <a:latin typeface="Cambria Math" panose="02040503050406030204" pitchFamily="18" charset="0"/>
                            </a:rPr>
                          </m:ctrlPr>
                        </m:sSubPr>
                        <m:e>
                          <m:r>
                            <a:rPr lang="en-US" sz="1800" b="1" i="1">
                              <a:latin typeface="Cambria Math" panose="02040503050406030204" pitchFamily="18" charset="0"/>
                            </a:rPr>
                            <m:t>𝟏</m:t>
                          </m:r>
                        </m:e>
                        <m:sub>
                          <m:sSup>
                            <m:sSupPr>
                              <m:ctrlPr>
                                <a:rPr lang="en-US" sz="1800" i="1">
                                  <a:latin typeface="Cambria Math" panose="02040503050406030204" pitchFamily="18" charset="0"/>
                                </a:rPr>
                              </m:ctrlPr>
                            </m:sSupPr>
                            <m:e>
                              <m:r>
                                <a:rPr lang="en-US" sz="1800" i="1">
                                  <a:latin typeface="Cambria Math" panose="02040503050406030204" pitchFamily="18" charset="0"/>
                                </a:rPr>
                                <m:t>𝑛</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sub>
                      </m:sSub>
                      <m:r>
                        <a:rPr lang="en-US" sz="1800" b="0" i="1" smtClean="0">
                          <a:latin typeface="Cambria Math" panose="02040503050406030204" pitchFamily="18" charset="0"/>
                        </a:rPr>
                        <m:t>)</m:t>
                      </m:r>
                    </m:oMath>
                  </m:oMathPara>
                </a14:m>
                <a:endParaRPr lang="en-US" sz="1800" dirty="0">
                  <a:latin typeface="+mj-lt"/>
                </a:endParaRPr>
              </a:p>
              <a:p>
                <a:pPr marL="342900" lvl="1" indent="0">
                  <a:buNone/>
                </a:pPr>
                <a14:m>
                  <m:oMathPara xmlns:m="http://schemas.openxmlformats.org/officeDocument/2006/math">
                    <m:oMathParaPr>
                      <m:jc m:val="centerGroup"/>
                    </m:oMathParaPr>
                    <m:oMath xmlns:m="http://schemas.openxmlformats.org/officeDocument/2006/math">
                      <m:sSup>
                        <m:sSupPr>
                          <m:ctrlPr>
                            <a:rPr lang="en-US" sz="1800" i="1">
                              <a:latin typeface="Cambria Math" panose="02040503050406030204" pitchFamily="18" charset="0"/>
                            </a:rPr>
                          </m:ctrlPr>
                        </m:sSupPr>
                        <m:e>
                          <m:r>
                            <m:rPr>
                              <m:sty m:val="p"/>
                            </m:rPr>
                            <a:rPr lang="en-US" sz="1800" b="1" i="1" smtClean="0">
                              <a:latin typeface="Cambria Math" panose="02040503050406030204" pitchFamily="18" charset="0"/>
                            </a:rPr>
                            <m:t>A</m:t>
                          </m:r>
                        </m:e>
                        <m:sup>
                          <m:d>
                            <m:dPr>
                              <m:ctrlPr>
                                <a:rPr lang="en-US" sz="1800" i="1">
                                  <a:latin typeface="Cambria Math" panose="02040503050406030204" pitchFamily="18" charset="0"/>
                                </a:rPr>
                              </m:ctrlPr>
                            </m:dPr>
                            <m:e>
                              <m:r>
                                <a:rPr lang="en-US" sz="1800" i="1">
                                  <a:latin typeface="Cambria Math" panose="02040503050406030204" pitchFamily="18" charset="0"/>
                                </a:rPr>
                                <m:t>𝑙</m:t>
                              </m:r>
                              <m:r>
                                <a:rPr lang="en-US" sz="1800" i="1">
                                  <a:latin typeface="Cambria Math" panose="02040503050406030204" pitchFamily="18" charset="0"/>
                                </a:rPr>
                                <m:t>+1</m:t>
                              </m:r>
                            </m:e>
                          </m:d>
                        </m:sup>
                      </m:sSup>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𝑀</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r>
                        <a:rPr lang="en-US" sz="1800" i="1">
                          <a:latin typeface="Cambria Math" panose="02040503050406030204" pitchFamily="18" charset="0"/>
                        </a:rPr>
                        <m:t>⋅</m:t>
                      </m:r>
                      <m:sSup>
                        <m:sSupPr>
                          <m:ctrlPr>
                            <a:rPr lang="en-US" sz="1800" i="1">
                              <a:latin typeface="Cambria Math" panose="02040503050406030204" pitchFamily="18" charset="0"/>
                            </a:rPr>
                          </m:ctrlPr>
                        </m:sSupPr>
                        <m:e>
                          <m:r>
                            <m:rPr>
                              <m:sty m:val="p"/>
                            </m:rPr>
                            <a:rPr lang="en-US" sz="1800" b="1" i="1" smtClean="0">
                              <a:latin typeface="Cambria Math" panose="02040503050406030204" pitchFamily="18" charset="0"/>
                            </a:rPr>
                            <m:t>A</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r>
                        <a:rPr lang="en-US" sz="1800" b="0" i="1" smtClean="0">
                          <a:latin typeface="Cambria Math" panose="02040503050406030204" pitchFamily="18" charset="0"/>
                        </a:rPr>
                        <m:t>⋅</m:t>
                      </m:r>
                      <m:sSup>
                        <m:sSupPr>
                          <m:ctrlPr>
                            <a:rPr lang="en-US" sz="1800" i="1" smtClean="0">
                              <a:latin typeface="Cambria Math" panose="02040503050406030204" pitchFamily="18" charset="0"/>
                            </a:rPr>
                          </m:ctrlPr>
                        </m:sSupPr>
                        <m:e>
                          <m:sSup>
                            <m:sSupPr>
                              <m:ctrlPr>
                                <a:rPr lang="en-US" sz="1800" i="1">
                                  <a:latin typeface="Cambria Math" panose="02040503050406030204" pitchFamily="18" charset="0"/>
                                </a:rPr>
                              </m:ctrlPr>
                            </m:sSupPr>
                            <m:e>
                              <m:r>
                                <a:rPr lang="en-US" sz="1800" i="1">
                                  <a:latin typeface="Cambria Math" panose="02040503050406030204" pitchFamily="18" charset="0"/>
                                </a:rPr>
                                <m:t>𝑀</m:t>
                              </m:r>
                            </m:e>
                            <m:sup>
                              <m:d>
                                <m:dPr>
                                  <m:ctrlPr>
                                    <a:rPr lang="en-US" sz="1800" i="1">
                                      <a:latin typeface="Cambria Math" panose="02040503050406030204" pitchFamily="18" charset="0"/>
                                    </a:rPr>
                                  </m:ctrlPr>
                                </m:dPr>
                                <m:e>
                                  <m:r>
                                    <a:rPr lang="en-US" sz="1800" i="1">
                                      <a:latin typeface="Cambria Math" panose="02040503050406030204" pitchFamily="18" charset="0"/>
                                    </a:rPr>
                                    <m:t>𝑙</m:t>
                                  </m:r>
                                </m:e>
                              </m:d>
                            </m:sup>
                          </m:sSup>
                        </m:e>
                        <m:sup>
                          <m:r>
                            <a:rPr lang="en-US" sz="1800" b="0" i="1" smtClean="0">
                              <a:latin typeface="Cambria Math" panose="02040503050406030204" pitchFamily="18" charset="0"/>
                            </a:rPr>
                            <m:t>𝑇</m:t>
                          </m:r>
                        </m:sup>
                      </m:sSup>
                    </m:oMath>
                  </m:oMathPara>
                </a14:m>
                <a:endParaRPr lang="en-US" sz="1800" b="0" dirty="0">
                  <a:latin typeface="+mj-lt"/>
                </a:endParaRPr>
              </a:p>
            </p:txBody>
          </p:sp>
        </mc:Choice>
        <mc:Fallback xmlns="">
          <p:sp>
            <p:nvSpPr>
              <p:cNvPr id="9" name="Content Placeholder 8">
                <a:extLst>
                  <a:ext uri="{FF2B5EF4-FFF2-40B4-BE49-F238E27FC236}">
                    <a16:creationId xmlns:a16="http://schemas.microsoft.com/office/drawing/2014/main" id="{B1F3BFED-D217-145E-658B-9BF5994151A7}"/>
                  </a:ext>
                </a:extLst>
              </p:cNvPr>
              <p:cNvSpPr>
                <a:spLocks noGrp="1" noRot="1" noChangeAspect="1" noMove="1" noResize="1" noEditPoints="1" noAdjustHandles="1" noChangeArrowheads="1" noChangeShapeType="1" noTextEdit="1"/>
              </p:cNvSpPr>
              <p:nvPr>
                <p:ph idx="1"/>
              </p:nvPr>
            </p:nvSpPr>
            <p:spPr>
              <a:blipFill>
                <a:blip r:embed="rId3"/>
                <a:stretch>
                  <a:fillRect t="-198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52B3EC53-EE27-DA32-DD8D-8E79F220535A}"/>
              </a:ext>
            </a:extLst>
          </p:cNvPr>
          <p:cNvSpPr>
            <a:spLocks noGrp="1"/>
          </p:cNvSpPr>
          <p:nvPr>
            <p:ph type="title"/>
          </p:nvPr>
        </p:nvSpPr>
        <p:spPr>
          <a:xfrm>
            <a:off x="904875" y="131032"/>
            <a:ext cx="7207279" cy="1072753"/>
          </a:xfrm>
        </p:spPr>
        <p:txBody>
          <a:bodyPr>
            <a:normAutofit/>
          </a:bodyPr>
          <a:lstStyle/>
          <a:p>
            <a:r>
              <a:rPr lang="en-US" dirty="0"/>
              <a:t>4.2	Hierarchical Generative Graph Diffusion</a:t>
            </a:r>
            <a:br>
              <a:rPr lang="en-US" dirty="0"/>
            </a:br>
            <a:r>
              <a:rPr lang="en-US" sz="2400" b="0" i="1" dirty="0"/>
              <a:t>Background - Hierarchical Graph Diffusion of </a:t>
            </a:r>
            <a:r>
              <a:rPr lang="en-US" sz="2400" b="0" i="1" dirty="0" err="1"/>
              <a:t>MRGrad</a:t>
            </a:r>
            <a:r>
              <a:rPr lang="en-US" sz="2400" b="0" dirty="0"/>
              <a:t> </a:t>
            </a:r>
            <a:r>
              <a:rPr lang="en-US" sz="2400" b="0" i="1" dirty="0">
                <a:solidFill>
                  <a:schemeClr val="accent1"/>
                </a:solidFill>
              </a:rPr>
              <a:t>[23]</a:t>
            </a:r>
            <a:endParaRPr lang="en-GB" sz="2400" b="0" i="1" dirty="0">
              <a:solidFill>
                <a:schemeClr val="accent1"/>
              </a:solidFill>
            </a:endParaRPr>
          </a:p>
        </p:txBody>
      </p:sp>
      <p:sp>
        <p:nvSpPr>
          <p:cNvPr id="5" name="Date Placeholder 4">
            <a:extLst>
              <a:ext uri="{FF2B5EF4-FFF2-40B4-BE49-F238E27FC236}">
                <a16:creationId xmlns:a16="http://schemas.microsoft.com/office/drawing/2014/main" id="{FC197AD7-F512-2C75-D5ED-4009D226BFA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182B606-554B-FC63-12BE-A22DEC42E3DD}"/>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DA6810EC-A457-D138-5085-89BB8635E8BD}"/>
              </a:ext>
            </a:extLst>
          </p:cNvPr>
          <p:cNvSpPr>
            <a:spLocks noGrp="1"/>
          </p:cNvSpPr>
          <p:nvPr>
            <p:ph type="sldNum" sz="quarter" idx="12"/>
          </p:nvPr>
        </p:nvSpPr>
        <p:spPr/>
        <p:txBody>
          <a:bodyPr/>
          <a:lstStyle/>
          <a:p>
            <a:fld id="{E1E1CD7C-2161-7D43-862E-CE4C333CD873}" type="slidenum">
              <a:rPr lang="fr-FR" smtClean="0"/>
              <a:pPr/>
              <a:t>47</a:t>
            </a:fld>
            <a:endParaRPr lang="fr-FR" dirty="0"/>
          </a:p>
        </p:txBody>
      </p:sp>
    </p:spTree>
    <p:extLst>
      <p:ext uri="{BB962C8B-B14F-4D97-AF65-F5344CB8AC3E}">
        <p14:creationId xmlns:p14="http://schemas.microsoft.com/office/powerpoint/2010/main" val="83237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6"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57EC3-0A00-75FD-1B50-AC4F3BA2B98D}"/>
            </a:ext>
          </a:extLst>
        </p:cNvPr>
        <p:cNvGrpSpPr/>
        <p:nvPr/>
      </p:nvGrpSpPr>
      <p:grpSpPr>
        <a:xfrm>
          <a:off x="0" y="0"/>
          <a:ext cx="0" cy="0"/>
          <a:chOff x="0" y="0"/>
          <a:chExt cx="0" cy="0"/>
        </a:xfrm>
      </p:grpSpPr>
      <p:pic>
        <p:nvPicPr>
          <p:cNvPr id="4" name="Content Placeholder 3" descr="A diagram of a triangle with many colored circles and lines&#10;&#10;AI-generated content may be incorrect.">
            <a:extLst>
              <a:ext uri="{FF2B5EF4-FFF2-40B4-BE49-F238E27FC236}">
                <a16:creationId xmlns:a16="http://schemas.microsoft.com/office/drawing/2014/main" id="{5F52F6DA-BB20-90CC-F009-7AD075C8DCDB}"/>
              </a:ext>
            </a:extLst>
          </p:cNvPr>
          <p:cNvPicPr>
            <a:picLocks noGrp="1" noChangeAspect="1"/>
          </p:cNvPicPr>
          <p:nvPr>
            <p:ph sz="half" idx="1"/>
          </p:nvPr>
        </p:nvPicPr>
        <p:blipFill>
          <a:blip r:embed="rId3"/>
          <a:stretch>
            <a:fillRect/>
          </a:stretch>
        </p:blipFill>
        <p:spPr>
          <a:xfrm>
            <a:off x="1625814" y="1565789"/>
            <a:ext cx="2600688" cy="2409209"/>
          </a:xfrm>
        </p:spPr>
      </p:pic>
      <p:pic>
        <p:nvPicPr>
          <p:cNvPr id="11" name="Content Placeholder 10" descr="A grid with squares and numbers&#10;&#10;AI-generated content may be incorrect.">
            <a:extLst>
              <a:ext uri="{FF2B5EF4-FFF2-40B4-BE49-F238E27FC236}">
                <a16:creationId xmlns:a16="http://schemas.microsoft.com/office/drawing/2014/main" id="{EEA00160-55DA-64CA-F11A-2B02DB0893F4}"/>
              </a:ext>
            </a:extLst>
          </p:cNvPr>
          <p:cNvPicPr>
            <a:picLocks noGrp="1" noChangeAspect="1"/>
          </p:cNvPicPr>
          <p:nvPr>
            <p:ph sz="half" idx="2"/>
          </p:nvPr>
        </p:nvPicPr>
        <p:blipFill>
          <a:blip r:embed="rId4"/>
          <a:stretch>
            <a:fillRect/>
          </a:stretch>
        </p:blipFill>
        <p:spPr>
          <a:xfrm>
            <a:off x="4947441" y="1563693"/>
            <a:ext cx="2316803" cy="2411305"/>
          </a:xfrm>
        </p:spPr>
      </p:pic>
      <p:sp>
        <p:nvSpPr>
          <p:cNvPr id="8" name="Title 7">
            <a:extLst>
              <a:ext uri="{FF2B5EF4-FFF2-40B4-BE49-F238E27FC236}">
                <a16:creationId xmlns:a16="http://schemas.microsoft.com/office/drawing/2014/main" id="{30A7DBB4-3A44-B3A0-7EA8-0841429A1847}"/>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Background - Hierarchical Graph Diffusion of </a:t>
            </a:r>
            <a:r>
              <a:rPr lang="en-US" sz="2400" b="0" i="1" dirty="0" err="1"/>
              <a:t>MRGrad</a:t>
            </a:r>
            <a:r>
              <a:rPr lang="en-US" sz="2400" b="0" i="1" dirty="0"/>
              <a:t> </a:t>
            </a:r>
            <a:r>
              <a:rPr lang="en-US" sz="2400" b="0" i="1" dirty="0">
                <a:solidFill>
                  <a:schemeClr val="accent1"/>
                </a:solidFill>
              </a:rPr>
              <a:t>[23]</a:t>
            </a:r>
            <a:endParaRPr lang="en-GB" sz="2400" b="0" i="1" dirty="0">
              <a:solidFill>
                <a:schemeClr val="accent1"/>
              </a:solidFill>
            </a:endParaRPr>
          </a:p>
        </p:txBody>
      </p:sp>
      <p:sp>
        <p:nvSpPr>
          <p:cNvPr id="5" name="Date Placeholder 4">
            <a:extLst>
              <a:ext uri="{FF2B5EF4-FFF2-40B4-BE49-F238E27FC236}">
                <a16:creationId xmlns:a16="http://schemas.microsoft.com/office/drawing/2014/main" id="{28C5BF14-4E7F-06F5-6A5B-12B63EEFD6B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E2AF5C3-D0D8-0E16-909F-BB118198D348}"/>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9AFE27C-0B9C-1AD5-3AFE-FBAA82A7FA58}"/>
              </a:ext>
            </a:extLst>
          </p:cNvPr>
          <p:cNvSpPr>
            <a:spLocks noGrp="1"/>
          </p:cNvSpPr>
          <p:nvPr>
            <p:ph type="sldNum" sz="quarter" idx="12"/>
          </p:nvPr>
        </p:nvSpPr>
        <p:spPr/>
        <p:txBody>
          <a:bodyPr/>
          <a:lstStyle/>
          <a:p>
            <a:fld id="{E1E1CD7C-2161-7D43-862E-CE4C333CD873}" type="slidenum">
              <a:rPr lang="fr-FR" smtClean="0"/>
              <a:pPr/>
              <a:t>48</a:t>
            </a:fld>
            <a:endParaRPr lang="fr-FR"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ED520B3-C76A-3FA4-12AC-A017E43308F2}"/>
                  </a:ext>
                </a:extLst>
              </p:cNvPr>
              <p:cNvSpPr txBox="1"/>
              <p:nvPr/>
            </p:nvSpPr>
            <p:spPr>
              <a:xfrm>
                <a:off x="904874" y="3974998"/>
                <a:ext cx="7726363" cy="768095"/>
              </a:xfrm>
              <a:prstGeom prst="rect">
                <a:avLst/>
              </a:prstGeom>
              <a:noFill/>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ℙ</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𝐺</m:t>
                          </m:r>
                        </m:e>
                      </m:d>
                      <m:r>
                        <a:rPr lang="en-US" sz="1400" b="0" i="1" smtClean="0">
                          <a:latin typeface="Cambria Math" panose="02040503050406030204" pitchFamily="18" charset="0"/>
                        </a:rPr>
                        <m:t>=</m:t>
                      </m:r>
                      <m:r>
                        <a:rPr lang="en-US" sz="1400" b="0" i="1" smtClean="0">
                          <a:latin typeface="Cambria Math" panose="02040503050406030204" pitchFamily="18" charset="0"/>
                        </a:rPr>
                        <m:t>ℙ</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𝐺</m:t>
                              </m:r>
                            </m:e>
                            <m: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sup>
                          </m:sSup>
                        </m:e>
                      </m:d>
                      <m:nary>
                        <m:naryPr>
                          <m:chr m:val="∏"/>
                          <m:ctrlPr>
                            <a:rPr lang="en-US" sz="1400" b="0" i="1" smtClean="0">
                              <a:latin typeface="Cambria Math" panose="02040503050406030204" pitchFamily="18" charset="0"/>
                            </a:rPr>
                          </m:ctrlPr>
                        </m:naryPr>
                        <m:sub>
                          <m:r>
                            <a:rPr lang="en-US" sz="1400" b="0" i="1" smtClean="0">
                              <a:latin typeface="Cambria Math" panose="02040503050406030204" pitchFamily="18" charset="0"/>
                            </a:rPr>
                            <m:t>𝑙</m:t>
                          </m:r>
                          <m:r>
                            <a:rPr lang="en-US" sz="1400" b="0" i="1" smtClean="0">
                              <a:latin typeface="Cambria Math" panose="02040503050406030204" pitchFamily="18" charset="0"/>
                            </a:rPr>
                            <m:t>=1</m:t>
                          </m:r>
                        </m:sub>
                        <m:sup>
                          <m:r>
                            <a:rPr lang="en-US" sz="1400" b="0" i="1" smtClean="0">
                              <a:latin typeface="Cambria Math" panose="02040503050406030204" pitchFamily="18" charset="0"/>
                            </a:rPr>
                            <m:t>𝐿</m:t>
                          </m:r>
                          <m:r>
                            <a:rPr lang="en-US" sz="1400" b="0" i="1" smtClean="0">
                              <a:latin typeface="Cambria Math" panose="02040503050406030204" pitchFamily="18" charset="0"/>
                            </a:rPr>
                            <m:t>−1</m:t>
                          </m:r>
                        </m:sup>
                        <m:e>
                          <m:r>
                            <a:rPr lang="en-US" sz="1400" b="0" i="1" smtClean="0">
                              <a:latin typeface="Cambria Math" panose="02040503050406030204" pitchFamily="18" charset="0"/>
                            </a:rPr>
                            <m:t>ℙ</m:t>
                          </m:r>
                          <m:d>
                            <m:dPr>
                              <m:sepChr m:val="∣"/>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𝐺</m:t>
                                  </m:r>
                                </m:e>
                                <m: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𝑙</m:t>
                                      </m:r>
                                    </m:e>
                                  </m:d>
                                </m:sup>
                              </m:sSup>
                            </m:e>
                            <m:e>
                              <m:sSup>
                                <m:sSupPr>
                                  <m:ctrlPr>
                                    <a:rPr lang="en-US" sz="1400" b="0" i="1">
                                      <a:latin typeface="Cambria Math" panose="02040503050406030204" pitchFamily="18" charset="0"/>
                                    </a:rPr>
                                  </m:ctrlPr>
                                </m:sSupPr>
                                <m:e>
                                  <m:r>
                                    <a:rPr lang="en-US" sz="1400" i="1">
                                      <a:latin typeface="Cambria Math" panose="02040503050406030204" pitchFamily="18" charset="0"/>
                                    </a:rPr>
                                    <m:t>𝐺</m:t>
                                  </m:r>
                                </m:e>
                                <m:sup>
                                  <m:d>
                                    <m:dPr>
                                      <m:ctrlPr>
                                        <a:rPr lang="en-US" sz="1400" i="1">
                                          <a:latin typeface="Cambria Math" panose="02040503050406030204" pitchFamily="18" charset="0"/>
                                        </a:rPr>
                                      </m:ctrlPr>
                                    </m:dPr>
                                    <m:e>
                                      <m:r>
                                        <a:rPr lang="en-US" sz="1400" i="1">
                                          <a:latin typeface="Cambria Math" panose="02040503050406030204" pitchFamily="18" charset="0"/>
                                        </a:rPr>
                                        <m:t>𝑙</m:t>
                                      </m:r>
                                      <m:r>
                                        <a:rPr lang="en-US" sz="1400" b="0" i="1" smtClean="0">
                                          <a:latin typeface="Cambria Math" panose="02040503050406030204" pitchFamily="18" charset="0"/>
                                        </a:rPr>
                                        <m:t>+1</m:t>
                                      </m:r>
                                    </m:e>
                                  </m:d>
                                </m:sup>
                              </m:sSup>
                            </m:e>
                          </m:d>
                        </m:e>
                      </m:nary>
                      <m:r>
                        <a:rPr lang="en-US" sz="1400" b="0" i="1" smtClean="0">
                          <a:latin typeface="Cambria Math" panose="02040503050406030204" pitchFamily="18" charset="0"/>
                        </a:rPr>
                        <m:t>=</m:t>
                      </m:r>
                      <m:r>
                        <a:rPr lang="en-US" sz="1400" i="1">
                          <a:latin typeface="Cambria Math" panose="02040503050406030204" pitchFamily="18" charset="0"/>
                        </a:rPr>
                        <m:t>ℙ</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𝑅</m:t>
                              </m:r>
                            </m:sub>
                          </m:sSub>
                        </m:e>
                      </m:d>
                      <m:nary>
                        <m:naryPr>
                          <m:chr m:val="∏"/>
                          <m:ctrlPr>
                            <a:rPr lang="en-US" sz="1400" i="1">
                              <a:latin typeface="Cambria Math" panose="02040503050406030204" pitchFamily="18" charset="0"/>
                            </a:rPr>
                          </m:ctrlPr>
                        </m:naryPr>
                        <m:sub>
                          <m:r>
                            <a:rPr lang="en-US" sz="1400" i="1">
                              <a:latin typeface="Cambria Math" panose="02040503050406030204" pitchFamily="18" charset="0"/>
                            </a:rPr>
                            <m:t>𝑙</m:t>
                          </m:r>
                          <m:r>
                            <a:rPr lang="en-US" sz="1400" i="1">
                              <a:latin typeface="Cambria Math" panose="02040503050406030204" pitchFamily="18" charset="0"/>
                            </a:rPr>
                            <m:t>=1</m:t>
                          </m:r>
                        </m:sub>
                        <m:sup>
                          <m:r>
                            <a:rPr lang="en-US" sz="1400" i="1">
                              <a:latin typeface="Cambria Math" panose="02040503050406030204" pitchFamily="18" charset="0"/>
                            </a:rPr>
                            <m:t>𝐿</m:t>
                          </m:r>
                          <m:r>
                            <a:rPr lang="en-US" sz="1400" i="1">
                              <a:latin typeface="Cambria Math" panose="02040503050406030204" pitchFamily="18" charset="0"/>
                            </a:rPr>
                            <m:t>−1</m:t>
                          </m:r>
                        </m:sup>
                        <m:e>
                          <m:nary>
                            <m:naryPr>
                              <m:chr m:val="∏"/>
                              <m:ctrlPr>
                                <a:rPr lang="en-US" sz="1400" i="1">
                                  <a:latin typeface="Cambria Math" panose="02040503050406030204" pitchFamily="18" charset="0"/>
                                </a:rPr>
                              </m:ctrlPr>
                            </m:naryPr>
                            <m:sub>
                              <m:r>
                                <a:rPr lang="en-US" sz="1400" b="0" i="1" smtClean="0">
                                  <a:latin typeface="Cambria Math" panose="02040503050406030204" pitchFamily="18" charset="0"/>
                                </a:rPr>
                                <m:t>𝑘</m:t>
                              </m:r>
                              <m:r>
                                <a:rPr lang="en-US" sz="1400" i="1">
                                  <a:latin typeface="Cambria Math" panose="02040503050406030204" pitchFamily="18" charset="0"/>
                                </a:rPr>
                                <m:t>=1</m:t>
                              </m:r>
                            </m:sub>
                            <m:sup>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𝑛</m:t>
                                  </m:r>
                                </m:e>
                                <m: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𝑙</m:t>
                                      </m:r>
                                      <m:r>
                                        <a:rPr lang="en-US" sz="1400" b="0" i="1" smtClean="0">
                                          <a:latin typeface="Cambria Math" panose="02040503050406030204" pitchFamily="18" charset="0"/>
                                        </a:rPr>
                                        <m:t>+1</m:t>
                                      </m:r>
                                    </m:e>
                                  </m:d>
                                </m:sup>
                              </m:sSup>
                            </m:sup>
                            <m:e>
                              <m:r>
                                <a:rPr lang="en-US" sz="1400" i="1">
                                  <a:latin typeface="Cambria Math" panose="02040503050406030204" pitchFamily="18" charset="0"/>
                                </a:rPr>
                                <m:t>ℙ</m:t>
                              </m:r>
                              <m:d>
                                <m:dPr>
                                  <m:sepChr m:val="∣"/>
                                  <m:ctrlPr>
                                    <a:rPr lang="en-US" sz="1400" i="1">
                                      <a:latin typeface="Cambria Math" panose="02040503050406030204" pitchFamily="18" charset="0"/>
                                    </a:rPr>
                                  </m:ctrlPr>
                                </m:dPr>
                                <m:e>
                                  <m:sSup>
                                    <m:sSupPr>
                                      <m:ctrlPr>
                                        <a:rPr lang="en-US" sz="1400" i="1">
                                          <a:latin typeface="Cambria Math" panose="02040503050406030204" pitchFamily="18" charset="0"/>
                                        </a:rPr>
                                      </m:ctrlPr>
                                    </m:sSup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𝐶</m:t>
                                          </m:r>
                                        </m:e>
                                        <m:sub>
                                          <m:r>
                                            <a:rPr lang="en-US" sz="1400" b="0" i="1" smtClean="0">
                                              <a:latin typeface="Cambria Math" panose="02040503050406030204" pitchFamily="18" charset="0"/>
                                            </a:rPr>
                                            <m:t>𝑘</m:t>
                                          </m:r>
                                        </m:sub>
                                      </m:sSub>
                                    </m:e>
                                    <m:sup>
                                      <m:d>
                                        <m:dPr>
                                          <m:ctrlPr>
                                            <a:rPr lang="en-US" sz="1400" i="1">
                                              <a:latin typeface="Cambria Math" panose="02040503050406030204" pitchFamily="18" charset="0"/>
                                            </a:rPr>
                                          </m:ctrlPr>
                                        </m:dPr>
                                        <m:e>
                                          <m:r>
                                            <a:rPr lang="en-US" sz="1400" i="1">
                                              <a:latin typeface="Cambria Math" panose="02040503050406030204" pitchFamily="18" charset="0"/>
                                            </a:rPr>
                                            <m:t>𝑙</m:t>
                                          </m:r>
                                        </m:e>
                                      </m:d>
                                    </m:sup>
                                  </m:sSup>
                                </m:e>
                                <m:e>
                                  <m:sSup>
                                    <m:sSupPr>
                                      <m:ctrlPr>
                                        <a:rPr lang="en-US" sz="1400" i="1">
                                          <a:latin typeface="Cambria Math" panose="02040503050406030204" pitchFamily="18" charset="0"/>
                                        </a:rPr>
                                      </m:ctrlPr>
                                    </m:sSupPr>
                                    <m:e>
                                      <m:r>
                                        <a:rPr lang="en-US" sz="1400" i="1">
                                          <a:latin typeface="Cambria Math" panose="02040503050406030204" pitchFamily="18" charset="0"/>
                                        </a:rPr>
                                        <m:t>𝐺</m:t>
                                      </m:r>
                                    </m:e>
                                    <m:sup>
                                      <m:d>
                                        <m:dPr>
                                          <m:ctrlPr>
                                            <a:rPr lang="en-US" sz="1400" i="1">
                                              <a:latin typeface="Cambria Math" panose="02040503050406030204" pitchFamily="18" charset="0"/>
                                            </a:rPr>
                                          </m:ctrlPr>
                                        </m:dPr>
                                        <m:e>
                                          <m:r>
                                            <a:rPr lang="en-US" sz="1400" i="1">
                                              <a:latin typeface="Cambria Math" panose="02040503050406030204" pitchFamily="18" charset="0"/>
                                            </a:rPr>
                                            <m:t>𝑙</m:t>
                                          </m:r>
                                          <m:r>
                                            <a:rPr lang="en-US" sz="1400" i="1">
                                              <a:latin typeface="Cambria Math" panose="02040503050406030204" pitchFamily="18" charset="0"/>
                                            </a:rPr>
                                            <m:t>+1</m:t>
                                          </m:r>
                                        </m:e>
                                      </m:d>
                                    </m:sup>
                                  </m:sSup>
                                </m:e>
                              </m:d>
                            </m:e>
                          </m:nary>
                        </m:e>
                      </m:nary>
                      <m:nary>
                        <m:naryPr>
                          <m:chr m:val="∏"/>
                          <m:supHide m:val="on"/>
                          <m:ctrlPr>
                            <a:rPr lang="en-US" sz="1400" i="1">
                              <a:latin typeface="Cambria Math" panose="02040503050406030204" pitchFamily="18" charset="0"/>
                            </a:rPr>
                          </m:ctrlPr>
                        </m:naryPr>
                        <m:sub>
                          <m:r>
                            <a:rPr lang="en-US" sz="1400" b="0" i="1" smtClean="0">
                              <a:latin typeface="Cambria Math" panose="02040503050406030204" pitchFamily="18" charset="0"/>
                            </a:rPr>
                            <m:t>𝑗</m:t>
                          </m:r>
                          <m:r>
                            <a:rPr lang="en-US" sz="1400" b="0" i="1" smtClean="0">
                              <a:latin typeface="Cambria Math" panose="02040503050406030204" pitchFamily="18" charset="0"/>
                            </a:rPr>
                            <m:t>≠</m:t>
                          </m:r>
                          <m:r>
                            <a:rPr lang="en-US" sz="1400" b="0" i="1" smtClean="0">
                              <a:latin typeface="Cambria Math" panose="02040503050406030204" pitchFamily="18" charset="0"/>
                            </a:rPr>
                            <m:t>𝑘</m:t>
                          </m:r>
                        </m:sub>
                        <m:sup/>
                        <m:e>
                          <m:r>
                            <a:rPr lang="en-US" sz="1400" i="1">
                              <a:latin typeface="Cambria Math" panose="02040503050406030204" pitchFamily="18" charset="0"/>
                            </a:rPr>
                            <m:t>ℙ</m:t>
                          </m:r>
                          <m:d>
                            <m:dPr>
                              <m:sepChr m:val="∣"/>
                              <m:ctrlPr>
                                <a:rPr lang="en-US" sz="1400" i="1">
                                  <a:latin typeface="Cambria Math" panose="02040503050406030204" pitchFamily="18" charset="0"/>
                                </a:rPr>
                              </m:ctrlPr>
                            </m:dPr>
                            <m:e>
                              <m:sSup>
                                <m:sSupPr>
                                  <m:ctrlPr>
                                    <a:rPr lang="en-US" sz="1400" i="1">
                                      <a:latin typeface="Cambria Math" panose="02040503050406030204" pitchFamily="18" charset="0"/>
                                    </a:rPr>
                                  </m:ctrlPr>
                                </m:sSup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𝐵</m:t>
                                      </m:r>
                                    </m:e>
                                    <m:sub>
                                      <m:r>
                                        <a:rPr lang="en-US" sz="1400" b="0" i="1" smtClean="0">
                                          <a:latin typeface="Cambria Math" panose="02040503050406030204" pitchFamily="18" charset="0"/>
                                        </a:rPr>
                                        <m:t>𝑗</m:t>
                                      </m:r>
                                      <m:r>
                                        <a:rPr lang="en-US" sz="1400" b="0" i="1" smtClean="0">
                                          <a:latin typeface="Cambria Math" panose="02040503050406030204" pitchFamily="18" charset="0"/>
                                        </a:rPr>
                                        <m:t>,</m:t>
                                      </m:r>
                                      <m:r>
                                        <a:rPr lang="en-US" sz="1400" b="0" i="1" smtClean="0">
                                          <a:latin typeface="Cambria Math" panose="02040503050406030204" pitchFamily="18" charset="0"/>
                                        </a:rPr>
                                        <m:t>𝑘</m:t>
                                      </m:r>
                                    </m:sub>
                                  </m:sSub>
                                </m:e>
                                <m:sup>
                                  <m:d>
                                    <m:dPr>
                                      <m:ctrlPr>
                                        <a:rPr lang="en-US" sz="1400" i="1">
                                          <a:latin typeface="Cambria Math" panose="02040503050406030204" pitchFamily="18" charset="0"/>
                                        </a:rPr>
                                      </m:ctrlPr>
                                    </m:dPr>
                                    <m:e>
                                      <m:r>
                                        <a:rPr lang="en-US" sz="1400" i="1">
                                          <a:latin typeface="Cambria Math" panose="02040503050406030204" pitchFamily="18" charset="0"/>
                                        </a:rPr>
                                        <m:t>𝑙</m:t>
                                      </m:r>
                                    </m:e>
                                  </m:d>
                                </m:sup>
                              </m:sSup>
                            </m:e>
                            <m:e>
                              <m:sSup>
                                <m:sSupPr>
                                  <m:ctrlPr>
                                    <a:rPr lang="en-US" sz="1400" i="1">
                                      <a:latin typeface="Cambria Math" panose="02040503050406030204" pitchFamily="18" charset="0"/>
                                    </a:rPr>
                                  </m:ctrlPr>
                                </m:sSupPr>
                                <m:e>
                                  <m:r>
                                    <a:rPr lang="en-US" sz="1400" i="1">
                                      <a:latin typeface="Cambria Math" panose="02040503050406030204" pitchFamily="18" charset="0"/>
                                    </a:rPr>
                                    <m:t>𝐺</m:t>
                                  </m:r>
                                </m:e>
                                <m:sup>
                                  <m:d>
                                    <m:dPr>
                                      <m:ctrlPr>
                                        <a:rPr lang="en-US" sz="1400" i="1">
                                          <a:latin typeface="Cambria Math" panose="02040503050406030204" pitchFamily="18" charset="0"/>
                                        </a:rPr>
                                      </m:ctrlPr>
                                    </m:dPr>
                                    <m:e>
                                      <m:r>
                                        <a:rPr lang="en-US" sz="1400" i="1">
                                          <a:latin typeface="Cambria Math" panose="02040503050406030204" pitchFamily="18" charset="0"/>
                                        </a:rPr>
                                        <m:t>𝑙</m:t>
                                      </m:r>
                                      <m:r>
                                        <a:rPr lang="en-US" sz="1400" i="1">
                                          <a:latin typeface="Cambria Math" panose="02040503050406030204" pitchFamily="18" charset="0"/>
                                        </a:rPr>
                                        <m:t>+1</m:t>
                                      </m:r>
                                    </m:e>
                                  </m:d>
                                </m:sup>
                              </m:sSup>
                            </m:e>
                          </m:d>
                        </m:e>
                      </m:nary>
                    </m:oMath>
                  </m:oMathPara>
                </a14:m>
                <a:endParaRPr lang="en-US" dirty="0">
                  <a:latin typeface="+mj-lt"/>
                </a:endParaRPr>
              </a:p>
            </p:txBody>
          </p:sp>
        </mc:Choice>
        <mc:Fallback xmlns="">
          <p:sp>
            <p:nvSpPr>
              <p:cNvPr id="3" name="TextBox 2">
                <a:extLst>
                  <a:ext uri="{FF2B5EF4-FFF2-40B4-BE49-F238E27FC236}">
                    <a16:creationId xmlns:a16="http://schemas.microsoft.com/office/drawing/2014/main" id="{AED520B3-C76A-3FA4-12AC-A017E43308F2}"/>
                  </a:ext>
                </a:extLst>
              </p:cNvPr>
              <p:cNvSpPr txBox="1">
                <a:spLocks noRot="1" noChangeAspect="1" noMove="1" noResize="1" noEditPoints="1" noAdjustHandles="1" noChangeArrowheads="1" noChangeShapeType="1" noTextEdit="1"/>
              </p:cNvSpPr>
              <p:nvPr/>
            </p:nvSpPr>
            <p:spPr>
              <a:xfrm>
                <a:off x="904874" y="3974998"/>
                <a:ext cx="7726363" cy="768095"/>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29066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DA5E-6CC6-0E8F-38DB-F207490B2D2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7D2D6824-7DCD-5817-DFB5-19F1BD1C6592}"/>
                  </a:ext>
                </a:extLst>
              </p:cNvPr>
              <p:cNvSpPr>
                <a:spLocks noGrp="1"/>
              </p:cNvSpPr>
              <p:nvPr>
                <p:ph idx="1"/>
              </p:nvPr>
            </p:nvSpPr>
            <p:spPr/>
            <p:txBody>
              <a:bodyPr anchor="ctr">
                <a:normAutofit/>
              </a:bodyPr>
              <a:lstStyle/>
              <a:p>
                <a:r>
                  <a:rPr lang="en-US" i="1" dirty="0">
                    <a:latin typeface="+mj-lt"/>
                  </a:rPr>
                  <a:t>What is the computational cost of adding an extra graph coarsening layer on top, and when is this feasibly faster than the standard baseline?</a:t>
                </a:r>
              </a:p>
              <a:p>
                <a:r>
                  <a:rPr lang="en-US" dirty="0">
                    <a:latin typeface="+mj-lt"/>
                  </a:rPr>
                  <a:t>Assumption: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e>
                      <m:sup>
                        <m:d>
                          <m:dPr>
                            <m:ctrlPr>
                              <a:rPr lang="en-US" b="0" i="1" smtClean="0">
                                <a:latin typeface="Cambria Math" panose="02040503050406030204" pitchFamily="18" charset="0"/>
                              </a:rPr>
                            </m:ctrlPr>
                          </m:dPr>
                          <m:e>
                            <m:r>
                              <a:rPr lang="en-US" i="1">
                                <a:latin typeface="Cambria Math" panose="02040503050406030204" pitchFamily="18" charset="0"/>
                              </a:rPr>
                              <m:t>𝐿</m:t>
                            </m:r>
                            <m:r>
                              <a:rPr lang="en-US" b="0" i="1" smtClean="0">
                                <a:latin typeface="Cambria Math" panose="02040503050406030204" pitchFamily="18" charset="0"/>
                              </a:rPr>
                              <m:t>+1</m:t>
                            </m:r>
                          </m:e>
                        </m:d>
                      </m:sup>
                    </m:sSup>
                    <m:r>
                      <a:rPr lang="en-US" b="0" i="1" smtClean="0">
                        <a:latin typeface="Cambria Math" panose="02040503050406030204" pitchFamily="18" charset="0"/>
                      </a:rPr>
                      <m:t>∼</m:t>
                    </m:r>
                    <m:r>
                      <m:rPr>
                        <m:sty m:val="p"/>
                      </m:rPr>
                      <a:rPr lang="en-US" b="0" i="0" smtClean="0">
                        <a:latin typeface="Cambria Math" panose="02040503050406030204" pitchFamily="18" charset="0"/>
                      </a:rPr>
                      <m:t>ER</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d>
                              <m:dPr>
                                <m:ctrlPr>
                                  <a:rPr lang="en-US" b="0" i="1" smtClean="0">
                                    <a:latin typeface="Cambria Math" panose="02040503050406030204" pitchFamily="18" charset="0"/>
                                  </a:rPr>
                                </m:ctrlPr>
                              </m:dPr>
                              <m:e>
                                <m:r>
                                  <a:rPr lang="en-US" i="1">
                                    <a:latin typeface="Cambria Math" panose="02040503050406030204" pitchFamily="18" charset="0"/>
                                  </a:rPr>
                                  <m:t>𝐿</m:t>
                                </m:r>
                                <m:r>
                                  <a:rPr lang="en-US" b="0" i="1" smtClean="0">
                                    <a:latin typeface="Cambria Math" panose="02040503050406030204" pitchFamily="18" charset="0"/>
                                  </a:rPr>
                                  <m:t>+1</m:t>
                                </m:r>
                              </m:e>
                            </m:d>
                          </m:sup>
                        </m:sSup>
                        <m:r>
                          <a:rPr lang="en-US" b="0" i="1" smtClean="0">
                            <a:latin typeface="Cambria Math" panose="02040503050406030204" pitchFamily="18" charset="0"/>
                          </a:rPr>
                          <m:t>,</m:t>
                        </m:r>
                        <m:r>
                          <a:rPr lang="en-US" b="0" i="1" smtClean="0">
                            <a:latin typeface="Cambria Math" panose="02040503050406030204" pitchFamily="18" charset="0"/>
                          </a:rPr>
                          <m:t>𝑝</m:t>
                        </m:r>
                      </m:e>
                    </m:d>
                  </m:oMath>
                </a14:m>
                <a:endParaRPr lang="en-US" dirty="0">
                  <a:latin typeface="+mj-lt"/>
                </a:endParaRPr>
              </a:p>
              <a:p>
                <a:pPr marL="342900" indent="-342900">
                  <a:buFont typeface="+mj-lt"/>
                  <a:buAutoNum type="arabicPeriod"/>
                </a:pPr>
                <a:r>
                  <a:rPr lang="en-US" dirty="0">
                    <a:latin typeface="+mj-lt"/>
                  </a:rPr>
                  <a:t>Complexity and bounds</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2</m:t>
                          </m:r>
                        </m:den>
                      </m:f>
                      <m:r>
                        <a:rPr lang="en-US" i="1">
                          <a:latin typeface="Cambria Math" panose="02040503050406030204" pitchFamily="18" charset="0"/>
                        </a:rPr>
                        <m:t>𝔼</m:t>
                      </m:r>
                      <m:d>
                        <m:dPr>
                          <m:begChr m:val="["/>
                          <m:endChr m:val="]"/>
                          <m:ctrlPr>
                            <a:rPr lang="en-US" i="1">
                              <a:latin typeface="Cambria Math" panose="02040503050406030204" pitchFamily="18" charset="0"/>
                            </a:rPr>
                          </m:ctrlPr>
                        </m:dPr>
                        <m:e>
                          <m:rad>
                            <m:radPr>
                              <m:ctrlPr>
                                <a:rPr lang="en-US" i="1" smtClean="0">
                                  <a:latin typeface="Cambria Math" panose="02040503050406030204" pitchFamily="18" charset="0"/>
                                </a:rPr>
                              </m:ctrlPr>
                            </m:radPr>
                            <m:deg>
                              <m:r>
                                <a:rPr lang="en-US" i="1">
                                  <a:latin typeface="Cambria Math" panose="02040503050406030204" pitchFamily="18" charset="0"/>
                                </a:rPr>
                                <m:t>3</m:t>
                              </m:r>
                            </m:deg>
                            <m:e>
                              <m:r>
                                <a:rPr lang="en-US" b="0" i="1" smtClean="0">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e>
                                  </m:d>
                                </m:e>
                                <m:sup>
                                  <m:r>
                                    <a:rPr lang="en-US" b="0" i="1" smtClean="0">
                                      <a:latin typeface="Cambria Math" panose="02040503050406030204" pitchFamily="18" charset="0"/>
                                    </a:rPr>
                                    <m:t>4</m:t>
                                  </m:r>
                                </m:sup>
                              </m:sSup>
                            </m:e>
                          </m:rad>
                        </m:e>
                      </m:d>
                      <m:r>
                        <a:rPr lang="en-US" b="0" i="1" smtClean="0">
                          <a:latin typeface="Cambria Math" panose="02040503050406030204" pitchFamily="18" charset="0"/>
                        </a:rPr>
                        <m:t>≤</m:t>
                      </m:r>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𝐿</m:t>
                                          </m:r>
                                          <m:r>
                                            <a:rPr lang="en-US" b="0" i="1" smtClean="0">
                                              <a:latin typeface="Cambria Math" panose="02040503050406030204" pitchFamily="18" charset="0"/>
                                            </a:rPr>
                                            <m:t>+1</m:t>
                                          </m:r>
                                        </m:e>
                                      </m:d>
                                    </m:sup>
                                  </m:sSup>
                                </m:e>
                              </m:d>
                            </m:e>
                            <m:sup>
                              <m:r>
                                <a:rPr lang="en-US" b="0" i="1" smtClean="0">
                                  <a:latin typeface="Cambria Math" panose="02040503050406030204" pitchFamily="18" charset="0"/>
                                </a:rPr>
                                <m:t>2</m:t>
                              </m:r>
                            </m:sup>
                          </m:sSup>
                        </m:e>
                      </m:d>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b="0" i="1" smtClean="0">
                                              <a:latin typeface="Cambria Math" panose="02040503050406030204" pitchFamily="18" charset="0"/>
                                            </a:rPr>
                                            <m:t>𝐿</m:t>
                                          </m:r>
                                        </m:e>
                                      </m:d>
                                    </m:sup>
                                  </m:sSup>
                                </m:e>
                              </m:d>
                            </m:e>
                            <m:sup>
                              <m:r>
                                <a:rPr lang="en-US" i="1">
                                  <a:latin typeface="Cambria Math" panose="02040503050406030204" pitchFamily="18" charset="0"/>
                                </a:rPr>
                                <m:t>2</m:t>
                              </m:r>
                            </m:sup>
                          </m:sSup>
                        </m:e>
                      </m:d>
                      <m:r>
                        <a:rPr lang="en-US" b="0" i="1" smtClean="0">
                          <a:latin typeface="Cambria Math" panose="02040503050406030204" pitchFamily="18" charset="0"/>
                        </a:rPr>
                        <m:t>≤2</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e>
                              </m:d>
                            </m:e>
                            <m:sup>
                              <m:r>
                                <a:rPr lang="en-US" i="1">
                                  <a:latin typeface="Cambria Math" panose="02040503050406030204" pitchFamily="18" charset="0"/>
                                </a:rPr>
                                <m:t>2</m:t>
                              </m:r>
                            </m:sup>
                          </m:sSup>
                        </m:e>
                      </m:d>
                    </m:oMath>
                  </m:oMathPara>
                </a14:m>
                <a:endParaRPr lang="en-US" dirty="0">
                  <a:latin typeface="+mj-lt"/>
                </a:endParaRPr>
              </a:p>
              <a:p>
                <a:pPr marL="342900" indent="-342900">
                  <a:buFont typeface="+mj-lt"/>
                  <a:buAutoNum type="arabicPeriod" startAt="2"/>
                </a:pPr>
                <a:r>
                  <a:rPr lang="en-US" dirty="0">
                    <a:latin typeface="+mj-lt"/>
                  </a:rPr>
                  <a:t>Feasibility</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r>
                        <a:rPr lang="en-US" b="0" i="1" smtClean="0">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r>
                                                <a:rPr lang="en-US" i="1">
                                                  <a:latin typeface="Cambria Math" panose="02040503050406030204" pitchFamily="18" charset="0"/>
                                                </a:rPr>
                                                <m:t>+1</m:t>
                                              </m:r>
                                            </m:e>
                                          </m:d>
                                        </m:sup>
                                      </m:sSup>
                                    </m:e>
                                  </m:d>
                                </m:e>
                                <m:sup>
                                  <m:r>
                                    <a:rPr lang="en-US" i="1">
                                      <a:latin typeface="Cambria Math" panose="02040503050406030204" pitchFamily="18" charset="0"/>
                                    </a:rPr>
                                    <m:t>2</m:t>
                                  </m:r>
                                </m:sup>
                              </m:sSup>
                            </m:e>
                          </m:d>
                        </m:num>
                        <m:den>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e>
                                  </m:d>
                                </m:e>
                                <m:sup>
                                  <m:r>
                                    <a:rPr lang="en-US" i="1">
                                      <a:latin typeface="Cambria Math" panose="02040503050406030204" pitchFamily="18" charset="0"/>
                                    </a:rPr>
                                    <m:t>2</m:t>
                                  </m:r>
                                </m:sup>
                              </m:sSup>
                            </m:e>
                          </m:d>
                        </m:den>
                      </m:f>
                    </m:oMath>
                  </m:oMathPara>
                </a14:m>
                <a:endParaRPr lang="en-US" i="1" dirty="0">
                  <a:latin typeface="+mj-lt"/>
                </a:endParaRPr>
              </a:p>
            </p:txBody>
          </p:sp>
        </mc:Choice>
        <mc:Fallback xmlns="">
          <p:sp>
            <p:nvSpPr>
              <p:cNvPr id="9" name="Content Placeholder 8">
                <a:extLst>
                  <a:ext uri="{FF2B5EF4-FFF2-40B4-BE49-F238E27FC236}">
                    <a16:creationId xmlns:a16="http://schemas.microsoft.com/office/drawing/2014/main" id="{7D2D6824-7DCD-5817-DFB5-19F1BD1C6592}"/>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A94DAE24-0E79-251A-CD6A-4D852C74DCEE}"/>
              </a:ext>
            </a:extLst>
          </p:cNvPr>
          <p:cNvSpPr>
            <a:spLocks noGrp="1"/>
          </p:cNvSpPr>
          <p:nvPr>
            <p:ph type="title"/>
          </p:nvPr>
        </p:nvSpPr>
        <p:spPr>
          <a:xfrm>
            <a:off x="904875" y="131032"/>
            <a:ext cx="7207279" cy="1072753"/>
          </a:xfrm>
        </p:spPr>
        <p:txBody>
          <a:bodyPr>
            <a:normAutofit/>
          </a:bodyPr>
          <a:lstStyle/>
          <a:p>
            <a:r>
              <a:rPr lang="en-US" dirty="0"/>
              <a:t>4.2	Hierarchical Generative Graph Diffusion</a:t>
            </a:r>
            <a:br>
              <a:rPr lang="en-US" dirty="0"/>
            </a:br>
            <a:r>
              <a:rPr lang="en-US" sz="2400" b="0" i="1" dirty="0"/>
              <a:t>Contributions - Theory</a:t>
            </a:r>
            <a:endParaRPr lang="en-GB" sz="2400" b="0" i="1" dirty="0"/>
          </a:p>
        </p:txBody>
      </p:sp>
      <p:sp>
        <p:nvSpPr>
          <p:cNvPr id="5" name="Date Placeholder 4">
            <a:extLst>
              <a:ext uri="{FF2B5EF4-FFF2-40B4-BE49-F238E27FC236}">
                <a16:creationId xmlns:a16="http://schemas.microsoft.com/office/drawing/2014/main" id="{2B689BDF-B421-9FEB-3C7A-9B3CEDAA34D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CC51C8FB-8EA0-9C0D-C5EA-348EA24A6A81}"/>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C270B47-F86F-1C40-C572-F73FAA24BDAC}"/>
              </a:ext>
            </a:extLst>
          </p:cNvPr>
          <p:cNvSpPr>
            <a:spLocks noGrp="1"/>
          </p:cNvSpPr>
          <p:nvPr>
            <p:ph type="sldNum" sz="quarter" idx="12"/>
          </p:nvPr>
        </p:nvSpPr>
        <p:spPr/>
        <p:txBody>
          <a:bodyPr/>
          <a:lstStyle/>
          <a:p>
            <a:fld id="{E1E1CD7C-2161-7D43-862E-CE4C333CD873}" type="slidenum">
              <a:rPr lang="fr-FR" smtClean="0"/>
              <a:pPr/>
              <a:t>49</a:t>
            </a:fld>
            <a:endParaRPr lang="fr-FR" dirty="0"/>
          </a:p>
        </p:txBody>
      </p:sp>
    </p:spTree>
    <p:extLst>
      <p:ext uri="{BB962C8B-B14F-4D97-AF65-F5344CB8AC3E}">
        <p14:creationId xmlns:p14="http://schemas.microsoft.com/office/powerpoint/2010/main" val="322915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7" dur="500"/>
                                        <p:tgtEl>
                                          <p:spTgt spid="9">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0" dur="500"/>
                                        <p:tgtEl>
                                          <p:spTgt spid="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5" dur="500"/>
                                        <p:tgtEl>
                                          <p:spTgt spid="9">
                                            <p:txEl>
                                              <p:pRg st="4" end="4"/>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8"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9CA1A-19F3-D519-7767-11BE6596D6C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A711A69C-F690-CF27-BE56-0491FDE3B348}"/>
                  </a:ext>
                </a:extLst>
              </p:cNvPr>
              <p:cNvSpPr>
                <a:spLocks noGrp="1"/>
              </p:cNvSpPr>
              <p:nvPr>
                <p:ph idx="1"/>
              </p:nvPr>
            </p:nvSpPr>
            <p:spPr/>
            <p:txBody>
              <a:bodyPr anchor="ctr">
                <a:normAutofit/>
              </a:bodyPr>
              <a:lstStyle/>
              <a:p>
                <a:r>
                  <a:rPr lang="en-US" dirty="0">
                    <a:latin typeface="+mj-lt"/>
                  </a:rPr>
                  <a:t>Ablation of root graph’s edge weight representation</a:t>
                </a:r>
              </a:p>
              <a:p>
                <a:pPr lvl="1"/>
                <a:r>
                  <a:rPr lang="en-US" dirty="0">
                    <a:latin typeface="+mj-lt"/>
                  </a:rPr>
                  <a:t>Simple: </a:t>
                </a:r>
                <a14:m>
                  <m:oMath xmlns:m="http://schemas.openxmlformats.org/officeDocument/2006/math">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0"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𝐿</m:t>
                            </m:r>
                          </m:e>
                        </m:d>
                      </m:sup>
                    </m:sSup>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0,1</m:t>
                    </m:r>
                    <m:sSup>
                      <m:sSupPr>
                        <m:ctrlPr>
                          <a:rPr lang="en-US" b="0" i="1" smtClean="0">
                            <a:latin typeface="Cambria Math" panose="02040503050406030204" pitchFamily="18" charset="0"/>
                          </a:rPr>
                        </m:ctrlPr>
                      </m:sSupPr>
                      <m:e>
                        <m:r>
                          <m:rPr>
                            <m:lit/>
                          </m:rPr>
                          <a:rPr lang="en-US" b="0" i="1" smtClean="0">
                            <a:latin typeface="Cambria Math" panose="02040503050406030204" pitchFamily="18" charset="0"/>
                          </a:rPr>
                          <m:t>}</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𝐿</m:t>
                                </m:r>
                              </m:e>
                            </m:d>
                          </m:sup>
                        </m:sSup>
                        <m:r>
                          <a:rPr lang="en-US" b="0" i="1" smtClean="0">
                            <a:latin typeface="Cambria Math" panose="02040503050406030204" pitchFamily="18" charset="0"/>
                          </a:rPr>
                          <m:t>×</m:t>
                        </m:r>
                        <m:sSup>
                          <m:sSupPr>
                            <m:ctrlPr>
                              <a:rPr lang="en-US" b="0"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sup>
                    </m:sSup>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2×2</m:t>
                        </m:r>
                      </m:sup>
                    </m:sSup>
                  </m:oMath>
                </a14:m>
                <a:endParaRPr lang="en-US" dirty="0">
                  <a:latin typeface="+mj-lt"/>
                </a:endParaRPr>
              </a:p>
              <a:p>
                <a:pPr lvl="1"/>
                <a:r>
                  <a:rPr lang="en-US" dirty="0">
                    <a:latin typeface="+mj-lt"/>
                  </a:rPr>
                  <a:t>Integer: </a:t>
                </a:r>
                <a14:m>
                  <m:oMath xmlns:m="http://schemas.openxmlformats.org/officeDocument/2006/math">
                    <m:sSup>
                      <m:sSupPr>
                        <m:ctrlPr>
                          <a:rPr lang="en-US" i="1" smtClean="0">
                            <a:latin typeface="Cambria Math" panose="02040503050406030204" pitchFamily="18" charset="0"/>
                          </a:rPr>
                        </m:ctrlPr>
                      </m:sSupPr>
                      <m:e>
                        <m:r>
                          <a:rPr lang="en-US">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𝐿</m:t>
                            </m:r>
                          </m:e>
                        </m:d>
                      </m:sup>
                    </m:sSup>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0,1</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sSup>
                      <m:sSupPr>
                        <m:ctrlPr>
                          <a:rPr lang="en-US" i="1">
                            <a:latin typeface="Cambria Math" panose="02040503050406030204" pitchFamily="18" charset="0"/>
                          </a:rPr>
                        </m:ctrlPr>
                      </m:sSupPr>
                      <m:e>
                        <m:r>
                          <m:rPr>
                            <m:lit/>
                          </m:rPr>
                          <a:rPr lang="en-US" i="1">
                            <a:latin typeface="Cambria Math" panose="02040503050406030204" pitchFamily="18" charset="0"/>
                          </a:rPr>
                          <m:t>}</m:t>
                        </m:r>
                      </m:e>
                      <m:sup>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sup>
                    </m:sSup>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𝑄</m:t>
                        </m:r>
                      </m:e>
                    </m:acc>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0,1</m:t>
                            </m:r>
                          </m:e>
                        </m:d>
                      </m:e>
                      <m:sup>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+1</m:t>
                            </m:r>
                          </m:e>
                        </m:d>
                        <m:r>
                          <a:rPr lang="en-US" i="1">
                            <a:latin typeface="Cambria Math" panose="02040503050406030204" pitchFamily="18" charset="0"/>
                          </a:rPr>
                          <m:t>×</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+1</m:t>
                            </m:r>
                          </m:e>
                        </m:d>
                      </m:sup>
                    </m:sSup>
                  </m:oMath>
                </a14:m>
                <a:endParaRPr lang="en-US" dirty="0">
                  <a:latin typeface="+mj-lt"/>
                </a:endParaRPr>
              </a:p>
              <a:p>
                <a:pPr lvl="1"/>
                <a:r>
                  <a:rPr lang="en-US" dirty="0">
                    <a:latin typeface="+mj-lt"/>
                  </a:rPr>
                  <a:t>Ordinal: </a:t>
                </a:r>
                <a14:m>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&gt;</m:t>
                    </m:r>
                    <m:r>
                      <a:rPr lang="en-US" i="1">
                        <a:latin typeface="Cambria Math" panose="02040503050406030204" pitchFamily="18" charset="0"/>
                      </a:rPr>
                      <m:t>1</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𝑄</m:t>
                            </m:r>
                          </m:e>
                        </m:acc>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=0</m:t>
                    </m:r>
                  </m:oMath>
                </a14:m>
                <a:endParaRPr lang="en-US" dirty="0">
                  <a:latin typeface="+mj-lt"/>
                </a:endParaRPr>
              </a:p>
              <a:p>
                <a:pPr lvl="1"/>
                <a:r>
                  <a:rPr lang="en-US" dirty="0" err="1">
                    <a:latin typeface="+mj-lt"/>
                  </a:rPr>
                  <a:t>Bucketization</a:t>
                </a:r>
                <a:r>
                  <a:rPr lang="en-US" dirty="0">
                    <a:latin typeface="+mj-lt"/>
                  </a:rPr>
                  <a:t>: </a:t>
                </a:r>
                <a14:m>
                  <m:oMath xmlns:m="http://schemas.openxmlformats.org/officeDocument/2006/math">
                    <m:sSup>
                      <m:sSupPr>
                        <m:ctrlPr>
                          <a:rPr lang="en-US" i="1" smtClean="0">
                            <a:latin typeface="Cambria Math" panose="02040503050406030204" pitchFamily="18" charset="0"/>
                          </a:rPr>
                        </m:ctrlPr>
                      </m:sSupPr>
                      <m:e>
                        <m:r>
                          <a:rPr lang="en-US">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𝐿</m:t>
                            </m:r>
                          </m:e>
                        </m:d>
                      </m:sup>
                    </m:sSup>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0,1,…,</m:t>
                    </m:r>
                    <m:r>
                      <a:rPr lang="en-US" b="0" i="1" smtClean="0">
                        <a:latin typeface="Cambria Math" panose="02040503050406030204" pitchFamily="18" charset="0"/>
                      </a:rPr>
                      <m:t>𝑊</m:t>
                    </m:r>
                    <m:sSup>
                      <m:sSupPr>
                        <m:ctrlPr>
                          <a:rPr lang="en-US" i="1">
                            <a:latin typeface="Cambria Math" panose="02040503050406030204" pitchFamily="18" charset="0"/>
                          </a:rPr>
                        </m:ctrlPr>
                      </m:sSupPr>
                      <m:e>
                        <m:r>
                          <m:rPr>
                            <m:lit/>
                          </m:rPr>
                          <a:rPr lang="en-US" i="1">
                            <a:latin typeface="Cambria Math" panose="02040503050406030204" pitchFamily="18" charset="0"/>
                          </a:rPr>
                          <m:t>}</m:t>
                        </m:r>
                      </m:e>
                      <m:sup>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d>
                              <m:dPr>
                                <m:ctrlPr>
                                  <a:rPr lang="en-US" i="1">
                                    <a:latin typeface="Cambria Math" panose="02040503050406030204" pitchFamily="18" charset="0"/>
                                  </a:rPr>
                                </m:ctrlPr>
                              </m:dPr>
                              <m:e>
                                <m:r>
                                  <a:rPr lang="en-US" i="1">
                                    <a:latin typeface="Cambria Math" panose="02040503050406030204" pitchFamily="18" charset="0"/>
                                  </a:rPr>
                                  <m:t>𝐿</m:t>
                                </m:r>
                              </m:e>
                            </m:d>
                          </m:sup>
                        </m:sSup>
                      </m:sup>
                    </m:sSup>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𝑄</m:t>
                        </m:r>
                      </m:e>
                    </m:acc>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0,1</m:t>
                            </m:r>
                          </m:e>
                        </m:d>
                      </m:e>
                      <m:sup>
                        <m:d>
                          <m:dPr>
                            <m:ctrlPr>
                              <a:rPr lang="en-US" i="1">
                                <a:latin typeface="Cambria Math" panose="02040503050406030204" pitchFamily="18" charset="0"/>
                              </a:rPr>
                            </m:ctrlPr>
                          </m:dPr>
                          <m:e>
                            <m:r>
                              <m:rPr>
                                <m:sty m:val="p"/>
                              </m:rPr>
                              <a:rPr lang="en-US" b="0" i="1" smtClean="0">
                                <a:latin typeface="Cambria Math" panose="02040503050406030204" pitchFamily="18" charset="0"/>
                              </a:rPr>
                              <m:t>W</m:t>
                            </m:r>
                            <m:r>
                              <a:rPr lang="en-US" i="1">
                                <a:latin typeface="Cambria Math" panose="02040503050406030204" pitchFamily="18" charset="0"/>
                              </a:rPr>
                              <m:t>+1</m:t>
                            </m:r>
                          </m:e>
                        </m:d>
                        <m:r>
                          <a:rPr lang="en-US" i="1">
                            <a:latin typeface="Cambria Math" panose="02040503050406030204" pitchFamily="18" charset="0"/>
                          </a:rPr>
                          <m:t>×</m:t>
                        </m:r>
                        <m:d>
                          <m:dPr>
                            <m:ctrlPr>
                              <a:rPr lang="en-US" i="1">
                                <a:latin typeface="Cambria Math" panose="02040503050406030204" pitchFamily="18" charset="0"/>
                              </a:rPr>
                            </m:ctrlPr>
                          </m:dPr>
                          <m:e>
                            <m:r>
                              <m:rPr>
                                <m:sty m:val="p"/>
                              </m:rPr>
                              <a:rPr lang="en-US" b="0" i="1" smtClean="0">
                                <a:latin typeface="Cambria Math" panose="02040503050406030204" pitchFamily="18" charset="0"/>
                              </a:rPr>
                              <m:t>W</m:t>
                            </m:r>
                            <m:r>
                              <a:rPr lang="en-US" i="1">
                                <a:latin typeface="Cambria Math" panose="02040503050406030204" pitchFamily="18" charset="0"/>
                              </a:rPr>
                              <m:t>+1</m:t>
                            </m:r>
                          </m:e>
                        </m:d>
                      </m:sup>
                    </m:sSup>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&lt;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endParaRPr lang="en-US" dirty="0">
                  <a:latin typeface="+mj-lt"/>
                </a:endParaRPr>
              </a:p>
              <a:p>
                <a:r>
                  <a:rPr lang="en-US" dirty="0">
                    <a:latin typeface="+mj-lt"/>
                  </a:rPr>
                  <a:t>Naïve </a:t>
                </a:r>
                <a:r>
                  <a:rPr lang="en-US" dirty="0" err="1">
                    <a:latin typeface="+mj-lt"/>
                  </a:rPr>
                  <a:t>HiGenDiff</a:t>
                </a:r>
                <a:endParaRPr lang="en-US" dirty="0">
                  <a:latin typeface="+mj-lt"/>
                </a:endParaRPr>
              </a:p>
              <a:p>
                <a:pPr lvl="1"/>
                <a:r>
                  <a:rPr lang="en-US" dirty="0">
                    <a:latin typeface="+mj-lt"/>
                  </a:rPr>
                  <a:t>Question need for conditioning on full parent graph</a:t>
                </a:r>
              </a:p>
              <a:p>
                <a:pPr lvl="1"/>
                <a:r>
                  <a:rPr lang="en-US" dirty="0">
                    <a:latin typeface="+mj-lt"/>
                  </a:rPr>
                  <a:t>Independent </a:t>
                </a:r>
                <a:r>
                  <a:rPr lang="en-US" dirty="0" err="1">
                    <a:latin typeface="+mj-lt"/>
                  </a:rPr>
                  <a:t>DiGress</a:t>
                </a:r>
                <a:r>
                  <a:rPr lang="en-US" dirty="0">
                    <a:latin typeface="+mj-lt"/>
                  </a:rPr>
                  <a:t> instances</a:t>
                </a:r>
              </a:p>
            </p:txBody>
          </p:sp>
        </mc:Choice>
        <mc:Fallback xmlns="">
          <p:sp>
            <p:nvSpPr>
              <p:cNvPr id="9" name="Content Placeholder 8">
                <a:extLst>
                  <a:ext uri="{FF2B5EF4-FFF2-40B4-BE49-F238E27FC236}">
                    <a16:creationId xmlns:a16="http://schemas.microsoft.com/office/drawing/2014/main" id="{A711A69C-F690-CF27-BE56-0491FDE3B348}"/>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69E6A701-562E-0988-AA8E-F004E88E1198}"/>
              </a:ext>
            </a:extLst>
          </p:cNvPr>
          <p:cNvSpPr>
            <a:spLocks noGrp="1"/>
          </p:cNvSpPr>
          <p:nvPr>
            <p:ph type="title"/>
          </p:nvPr>
        </p:nvSpPr>
        <p:spPr>
          <a:xfrm>
            <a:off x="904875" y="131032"/>
            <a:ext cx="7207279" cy="1072753"/>
          </a:xfrm>
        </p:spPr>
        <p:txBody>
          <a:bodyPr>
            <a:normAutofit/>
          </a:bodyPr>
          <a:lstStyle/>
          <a:p>
            <a:r>
              <a:rPr lang="en-US" dirty="0"/>
              <a:t>4.2	Hierarchical Generative Graph Diffusion</a:t>
            </a:r>
            <a:br>
              <a:rPr lang="en-US" dirty="0"/>
            </a:br>
            <a:r>
              <a:rPr lang="en-US" sz="2400" b="0" i="1" dirty="0"/>
              <a:t>Contributions - Model designs</a:t>
            </a:r>
            <a:endParaRPr lang="en-GB" sz="2400" b="0" i="1" dirty="0"/>
          </a:p>
        </p:txBody>
      </p:sp>
      <p:sp>
        <p:nvSpPr>
          <p:cNvPr id="5" name="Date Placeholder 4">
            <a:extLst>
              <a:ext uri="{FF2B5EF4-FFF2-40B4-BE49-F238E27FC236}">
                <a16:creationId xmlns:a16="http://schemas.microsoft.com/office/drawing/2014/main" id="{C1F3F2D5-9B35-9198-3207-60C653BE11D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45D3A67A-B5C0-05D1-BCCB-99B0FE0A822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8B56E84-DCE5-CFAF-E97F-34D0326EAA5B}"/>
              </a:ext>
            </a:extLst>
          </p:cNvPr>
          <p:cNvSpPr>
            <a:spLocks noGrp="1"/>
          </p:cNvSpPr>
          <p:nvPr>
            <p:ph type="sldNum" sz="quarter" idx="12"/>
          </p:nvPr>
        </p:nvSpPr>
        <p:spPr/>
        <p:txBody>
          <a:bodyPr/>
          <a:lstStyle/>
          <a:p>
            <a:fld id="{E1E1CD7C-2161-7D43-862E-CE4C333CD873}" type="slidenum">
              <a:rPr lang="fr-FR" smtClean="0"/>
              <a:pPr/>
              <a:t>50</a:t>
            </a:fld>
            <a:endParaRPr lang="fr-FR" dirty="0"/>
          </a:p>
        </p:txBody>
      </p:sp>
    </p:spTree>
    <p:extLst>
      <p:ext uri="{BB962C8B-B14F-4D97-AF65-F5344CB8AC3E}">
        <p14:creationId xmlns:p14="http://schemas.microsoft.com/office/powerpoint/2010/main" val="30569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E6BA-560C-D5A3-1A80-376A8E88FA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A151319-8F9A-E54D-BE06-3162937D4B3B}"/>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Results - Community detection</a:t>
            </a:r>
            <a:endParaRPr lang="en-GB" sz="2400" b="0" i="1" dirty="0"/>
          </a:p>
        </p:txBody>
      </p:sp>
      <p:sp>
        <p:nvSpPr>
          <p:cNvPr id="5" name="Date Placeholder 4">
            <a:extLst>
              <a:ext uri="{FF2B5EF4-FFF2-40B4-BE49-F238E27FC236}">
                <a16:creationId xmlns:a16="http://schemas.microsoft.com/office/drawing/2014/main" id="{B9F72425-3A5F-68FC-5D90-00A6F4F64C1D}"/>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A3883A30-ECB3-CFD4-A131-2DCABED252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7FDCE24-DC0D-030C-EEFA-19A826817EE1}"/>
              </a:ext>
            </a:extLst>
          </p:cNvPr>
          <p:cNvSpPr>
            <a:spLocks noGrp="1"/>
          </p:cNvSpPr>
          <p:nvPr>
            <p:ph type="sldNum" sz="quarter" idx="12"/>
          </p:nvPr>
        </p:nvSpPr>
        <p:spPr/>
        <p:txBody>
          <a:bodyPr/>
          <a:lstStyle/>
          <a:p>
            <a:fld id="{E1E1CD7C-2161-7D43-862E-CE4C333CD873}" type="slidenum">
              <a:rPr lang="fr-FR" smtClean="0"/>
              <a:pPr/>
              <a:t>51</a:t>
            </a:fld>
            <a:endParaRPr lang="fr-FR" dirty="0"/>
          </a:p>
        </p:txBody>
      </p:sp>
      <p:pic>
        <p:nvPicPr>
          <p:cNvPr id="9" name="Content Placeholder 8" descr="A table with numbers and symbols&#10;&#10;AI-generated content may be incorrect.">
            <a:extLst>
              <a:ext uri="{FF2B5EF4-FFF2-40B4-BE49-F238E27FC236}">
                <a16:creationId xmlns:a16="http://schemas.microsoft.com/office/drawing/2014/main" id="{49521BCE-E23E-E10C-ED74-ADE87CBB0668}"/>
              </a:ext>
            </a:extLst>
          </p:cNvPr>
          <p:cNvPicPr>
            <a:picLocks noGrp="1" noChangeAspect="1"/>
          </p:cNvPicPr>
          <p:nvPr>
            <p:ph idx="1"/>
          </p:nvPr>
        </p:nvPicPr>
        <p:blipFill>
          <a:blip r:embed="rId3"/>
          <a:stretch>
            <a:fillRect/>
          </a:stretch>
        </p:blipFill>
        <p:spPr>
          <a:xfrm>
            <a:off x="904875" y="2005789"/>
            <a:ext cx="7726363" cy="2501935"/>
          </a:xfrm>
        </p:spPr>
      </p:pic>
    </p:spTree>
    <p:extLst>
      <p:ext uri="{BB962C8B-B14F-4D97-AF65-F5344CB8AC3E}">
        <p14:creationId xmlns:p14="http://schemas.microsoft.com/office/powerpoint/2010/main" val="8553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273E46-ABD0-D63B-25AE-64FC68F037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A20CD31-31BD-31E0-6DE1-E4B0B0C2EE46}"/>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Results - Expressivity</a:t>
            </a:r>
            <a:endParaRPr lang="en-GB" sz="2400" b="0" i="1" dirty="0"/>
          </a:p>
        </p:txBody>
      </p:sp>
      <p:sp>
        <p:nvSpPr>
          <p:cNvPr id="5" name="Date Placeholder 4">
            <a:extLst>
              <a:ext uri="{FF2B5EF4-FFF2-40B4-BE49-F238E27FC236}">
                <a16:creationId xmlns:a16="http://schemas.microsoft.com/office/drawing/2014/main" id="{0C167BFA-06A6-0231-67AB-B044D99A30D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43EF8BE-0781-4404-2E25-28D0C434218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F477629-FF5C-E2D2-F0D5-5875CBBC2F65}"/>
              </a:ext>
            </a:extLst>
          </p:cNvPr>
          <p:cNvSpPr>
            <a:spLocks noGrp="1"/>
          </p:cNvSpPr>
          <p:nvPr>
            <p:ph type="sldNum" sz="quarter" idx="12"/>
          </p:nvPr>
        </p:nvSpPr>
        <p:spPr/>
        <p:txBody>
          <a:bodyPr/>
          <a:lstStyle/>
          <a:p>
            <a:fld id="{E1E1CD7C-2161-7D43-862E-CE4C333CD873}" type="slidenum">
              <a:rPr lang="fr-FR" smtClean="0"/>
              <a:pPr/>
              <a:t>52</a:t>
            </a:fld>
            <a:endParaRPr lang="fr-FR" dirty="0"/>
          </a:p>
        </p:txBody>
      </p:sp>
      <p:pic>
        <p:nvPicPr>
          <p:cNvPr id="10" name="Content Placeholder 9" descr="A table with numbers and text&#10;&#10;AI-generated content may be incorrect.">
            <a:extLst>
              <a:ext uri="{FF2B5EF4-FFF2-40B4-BE49-F238E27FC236}">
                <a16:creationId xmlns:a16="http://schemas.microsoft.com/office/drawing/2014/main" id="{1E8C9F95-3655-938B-A793-35AE829636F9}"/>
              </a:ext>
            </a:extLst>
          </p:cNvPr>
          <p:cNvPicPr>
            <a:picLocks noGrp="1" noChangeAspect="1"/>
          </p:cNvPicPr>
          <p:nvPr>
            <p:ph idx="1"/>
          </p:nvPr>
        </p:nvPicPr>
        <p:blipFill>
          <a:blip r:embed="rId3"/>
          <a:stretch>
            <a:fillRect/>
          </a:stretch>
        </p:blipFill>
        <p:spPr>
          <a:xfrm>
            <a:off x="904875" y="1859436"/>
            <a:ext cx="7726363" cy="2794641"/>
          </a:xfrm>
        </p:spPr>
      </p:pic>
    </p:spTree>
    <p:extLst>
      <p:ext uri="{BB962C8B-B14F-4D97-AF65-F5344CB8AC3E}">
        <p14:creationId xmlns:p14="http://schemas.microsoft.com/office/powerpoint/2010/main" val="299094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53EFA-BE9C-CDA8-2556-6BC36185C4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593E9A2-E291-EFE0-F482-1F5B1B4CF910}"/>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Results - Real vs. fake graphs</a:t>
            </a:r>
            <a:endParaRPr lang="en-GB" sz="2400" b="0" i="1" dirty="0"/>
          </a:p>
        </p:txBody>
      </p:sp>
      <p:sp>
        <p:nvSpPr>
          <p:cNvPr id="5" name="Date Placeholder 4">
            <a:extLst>
              <a:ext uri="{FF2B5EF4-FFF2-40B4-BE49-F238E27FC236}">
                <a16:creationId xmlns:a16="http://schemas.microsoft.com/office/drawing/2014/main" id="{D4F549FE-6790-BE92-3A6F-200ED47D76C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C0BCAD6F-9BAB-9EE2-F2C9-E930D9E94E19}"/>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00F6E3E-313A-BB99-B84A-87EC296AEEC5}"/>
              </a:ext>
            </a:extLst>
          </p:cNvPr>
          <p:cNvSpPr>
            <a:spLocks noGrp="1"/>
          </p:cNvSpPr>
          <p:nvPr>
            <p:ph type="sldNum" sz="quarter" idx="12"/>
          </p:nvPr>
        </p:nvSpPr>
        <p:spPr/>
        <p:txBody>
          <a:bodyPr/>
          <a:lstStyle/>
          <a:p>
            <a:fld id="{E1E1CD7C-2161-7D43-862E-CE4C333CD873}" type="slidenum">
              <a:rPr lang="fr-FR" smtClean="0"/>
              <a:pPr/>
              <a:t>53</a:t>
            </a:fld>
            <a:endParaRPr lang="fr-FR" dirty="0"/>
          </a:p>
        </p:txBody>
      </p:sp>
      <p:pic>
        <p:nvPicPr>
          <p:cNvPr id="9" name="Content Placeholder 8" descr="A group of different shapes and colors&#10;&#10;AI-generated content may be incorrect.">
            <a:extLst>
              <a:ext uri="{FF2B5EF4-FFF2-40B4-BE49-F238E27FC236}">
                <a16:creationId xmlns:a16="http://schemas.microsoft.com/office/drawing/2014/main" id="{B6AC4CE1-93E4-E96B-C166-BE21257660F9}"/>
              </a:ext>
            </a:extLst>
          </p:cNvPr>
          <p:cNvPicPr>
            <a:picLocks noGrp="1" noChangeAspect="1"/>
          </p:cNvPicPr>
          <p:nvPr>
            <p:ph idx="1"/>
          </p:nvPr>
        </p:nvPicPr>
        <p:blipFill>
          <a:blip r:embed="rId3"/>
          <a:stretch>
            <a:fillRect/>
          </a:stretch>
        </p:blipFill>
        <p:spPr>
          <a:xfrm>
            <a:off x="1995225" y="1563688"/>
            <a:ext cx="5545663" cy="3386137"/>
          </a:xfrm>
        </p:spPr>
      </p:pic>
    </p:spTree>
    <p:extLst>
      <p:ext uri="{BB962C8B-B14F-4D97-AF65-F5344CB8AC3E}">
        <p14:creationId xmlns:p14="http://schemas.microsoft.com/office/powerpoint/2010/main" val="60686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74233D-78D8-2659-4032-33B9608ACEFF}"/>
            </a:ext>
          </a:extLst>
        </p:cNvPr>
        <p:cNvGrpSpPr/>
        <p:nvPr/>
      </p:nvGrpSpPr>
      <p:grpSpPr>
        <a:xfrm>
          <a:off x="0" y="0"/>
          <a:ext cx="0" cy="0"/>
          <a:chOff x="0" y="0"/>
          <a:chExt cx="0" cy="0"/>
        </a:xfrm>
      </p:grpSpPr>
      <p:pic>
        <p:nvPicPr>
          <p:cNvPr id="13" name="Content Placeholder 12" descr="A graph of different colored bars&#10;&#10;AI-generated content may be incorrect.">
            <a:extLst>
              <a:ext uri="{FF2B5EF4-FFF2-40B4-BE49-F238E27FC236}">
                <a16:creationId xmlns:a16="http://schemas.microsoft.com/office/drawing/2014/main" id="{82D73969-35F8-BB9A-E758-FA15397FBE63}"/>
              </a:ext>
            </a:extLst>
          </p:cNvPr>
          <p:cNvPicPr>
            <a:picLocks noGrp="1" noChangeAspect="1"/>
          </p:cNvPicPr>
          <p:nvPr>
            <p:ph sz="half" idx="2"/>
          </p:nvPr>
        </p:nvPicPr>
        <p:blipFill>
          <a:blip r:embed="rId3"/>
          <a:stretch>
            <a:fillRect/>
          </a:stretch>
        </p:blipFill>
        <p:spPr>
          <a:xfrm>
            <a:off x="4959350" y="1940292"/>
            <a:ext cx="3671888" cy="2510692"/>
          </a:xfrm>
        </p:spPr>
      </p:pic>
      <p:sp>
        <p:nvSpPr>
          <p:cNvPr id="8" name="Title 7">
            <a:extLst>
              <a:ext uri="{FF2B5EF4-FFF2-40B4-BE49-F238E27FC236}">
                <a16:creationId xmlns:a16="http://schemas.microsoft.com/office/drawing/2014/main" id="{619A3E27-C8EB-1682-36C1-50A1F003BDBC}"/>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Results - Ablation</a:t>
            </a:r>
            <a:endParaRPr lang="en-GB" sz="2400" b="0" i="1" dirty="0"/>
          </a:p>
        </p:txBody>
      </p:sp>
      <p:sp>
        <p:nvSpPr>
          <p:cNvPr id="5" name="Date Placeholder 4">
            <a:extLst>
              <a:ext uri="{FF2B5EF4-FFF2-40B4-BE49-F238E27FC236}">
                <a16:creationId xmlns:a16="http://schemas.microsoft.com/office/drawing/2014/main" id="{03B24B9C-FCAE-1CAC-6EC3-2F5229C64C9E}"/>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B3F7852-93BE-959C-FA9C-01AA5C9331F5}"/>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848EEB33-69F8-7025-83DD-869C0309E9CB}"/>
              </a:ext>
            </a:extLst>
          </p:cNvPr>
          <p:cNvSpPr>
            <a:spLocks noGrp="1"/>
          </p:cNvSpPr>
          <p:nvPr>
            <p:ph type="sldNum" sz="quarter" idx="12"/>
          </p:nvPr>
        </p:nvSpPr>
        <p:spPr/>
        <p:txBody>
          <a:bodyPr/>
          <a:lstStyle/>
          <a:p>
            <a:fld id="{E1E1CD7C-2161-7D43-862E-CE4C333CD873}" type="slidenum">
              <a:rPr lang="fr-FR" smtClean="0"/>
              <a:pPr/>
              <a:t>54</a:t>
            </a:fld>
            <a:endParaRPr lang="fr-FR" dirty="0"/>
          </a:p>
        </p:txBody>
      </p:sp>
      <p:pic>
        <p:nvPicPr>
          <p:cNvPr id="11" name="Content Placeholder 10" descr="A graph of different colored bars&#10;&#10;AI-generated content may be incorrect.">
            <a:extLst>
              <a:ext uri="{FF2B5EF4-FFF2-40B4-BE49-F238E27FC236}">
                <a16:creationId xmlns:a16="http://schemas.microsoft.com/office/drawing/2014/main" id="{F60C06C2-DBBE-0DC4-0788-F9A23646111D}"/>
              </a:ext>
            </a:extLst>
          </p:cNvPr>
          <p:cNvPicPr>
            <a:picLocks noGrp="1" noChangeAspect="1"/>
          </p:cNvPicPr>
          <p:nvPr>
            <p:ph sz="half" idx="1"/>
          </p:nvPr>
        </p:nvPicPr>
        <p:blipFill>
          <a:blip r:embed="rId4"/>
          <a:stretch>
            <a:fillRect/>
          </a:stretch>
        </p:blipFill>
        <p:spPr>
          <a:xfrm>
            <a:off x="904875" y="1918460"/>
            <a:ext cx="3671888" cy="2554356"/>
          </a:xfrm>
        </p:spPr>
      </p:pic>
    </p:spTree>
    <p:extLst>
      <p:ext uri="{BB962C8B-B14F-4D97-AF65-F5344CB8AC3E}">
        <p14:creationId xmlns:p14="http://schemas.microsoft.com/office/powerpoint/2010/main" val="361435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8BFBD-ED45-9E79-ACF3-DFE44F50FFC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0E7D85-E9D5-8A64-AEA7-9D330B3569BD}"/>
              </a:ext>
            </a:extLst>
          </p:cNvPr>
          <p:cNvSpPr>
            <a:spLocks noGrp="1"/>
          </p:cNvSpPr>
          <p:nvPr>
            <p:ph type="title"/>
          </p:nvPr>
        </p:nvSpPr>
        <p:spPr>
          <a:xfrm>
            <a:off x="904875" y="131032"/>
            <a:ext cx="7726363" cy="1072753"/>
          </a:xfrm>
        </p:spPr>
        <p:txBody>
          <a:bodyPr>
            <a:normAutofit/>
          </a:bodyPr>
          <a:lstStyle/>
          <a:p>
            <a:r>
              <a:rPr lang="en-US" dirty="0"/>
              <a:t>4.2	Hierarchical Generative Graph Diffusion</a:t>
            </a:r>
            <a:br>
              <a:rPr lang="en-US" dirty="0"/>
            </a:br>
            <a:r>
              <a:rPr lang="en-US" sz="2400" b="0" i="1" dirty="0"/>
              <a:t>Results - Performance vs. baselines</a:t>
            </a:r>
            <a:endParaRPr lang="en-GB" sz="2400" b="0" i="1" dirty="0"/>
          </a:p>
        </p:txBody>
      </p:sp>
      <p:sp>
        <p:nvSpPr>
          <p:cNvPr id="5" name="Date Placeholder 4">
            <a:extLst>
              <a:ext uri="{FF2B5EF4-FFF2-40B4-BE49-F238E27FC236}">
                <a16:creationId xmlns:a16="http://schemas.microsoft.com/office/drawing/2014/main" id="{90A60856-E224-14D3-9364-FFE2FDF22AA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E779D57-E2F6-1884-03BD-805D5ED6E26D}"/>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7B9AD69-914F-9EA3-BBCA-70D717E2D48F}"/>
              </a:ext>
            </a:extLst>
          </p:cNvPr>
          <p:cNvSpPr>
            <a:spLocks noGrp="1"/>
          </p:cNvSpPr>
          <p:nvPr>
            <p:ph type="sldNum" sz="quarter" idx="12"/>
          </p:nvPr>
        </p:nvSpPr>
        <p:spPr/>
        <p:txBody>
          <a:bodyPr/>
          <a:lstStyle/>
          <a:p>
            <a:fld id="{E1E1CD7C-2161-7D43-862E-CE4C333CD873}" type="slidenum">
              <a:rPr lang="fr-FR" smtClean="0"/>
              <a:pPr/>
              <a:t>55</a:t>
            </a:fld>
            <a:endParaRPr lang="fr-FR" dirty="0"/>
          </a:p>
        </p:txBody>
      </p:sp>
      <p:pic>
        <p:nvPicPr>
          <p:cNvPr id="9" name="Content Placeholder 8" descr="A table of numbers and symbols&#10;&#10;AI-generated content may be incorrect.">
            <a:extLst>
              <a:ext uri="{FF2B5EF4-FFF2-40B4-BE49-F238E27FC236}">
                <a16:creationId xmlns:a16="http://schemas.microsoft.com/office/drawing/2014/main" id="{7308ABCB-2E51-81E3-9A6D-3640A1080BED}"/>
              </a:ext>
            </a:extLst>
          </p:cNvPr>
          <p:cNvPicPr>
            <a:picLocks noGrp="1" noChangeAspect="1"/>
          </p:cNvPicPr>
          <p:nvPr>
            <p:ph idx="1"/>
          </p:nvPr>
        </p:nvPicPr>
        <p:blipFill>
          <a:blip r:embed="rId3"/>
          <a:stretch>
            <a:fillRect/>
          </a:stretch>
        </p:blipFill>
        <p:spPr>
          <a:xfrm>
            <a:off x="2962912" y="1563688"/>
            <a:ext cx="3610289" cy="3386137"/>
          </a:xfrm>
        </p:spPr>
      </p:pic>
    </p:spTree>
    <p:extLst>
      <p:ext uri="{BB962C8B-B14F-4D97-AF65-F5344CB8AC3E}">
        <p14:creationId xmlns:p14="http://schemas.microsoft.com/office/powerpoint/2010/main" val="106536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3CF50-17C6-7052-A1B6-B30D61FC515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CDB704-23E2-3AB0-B79B-FCEBE5CC0997}"/>
              </a:ext>
            </a:extLst>
          </p:cNvPr>
          <p:cNvSpPr>
            <a:spLocks noGrp="1"/>
          </p:cNvSpPr>
          <p:nvPr>
            <p:ph type="title"/>
          </p:nvPr>
        </p:nvSpPr>
        <p:spPr>
          <a:xfrm>
            <a:off x="904875" y="130271"/>
            <a:ext cx="7726363" cy="1072753"/>
          </a:xfrm>
        </p:spPr>
        <p:txBody>
          <a:bodyPr>
            <a:normAutofit/>
          </a:bodyPr>
          <a:lstStyle/>
          <a:p>
            <a:r>
              <a:rPr lang="en-US" dirty="0"/>
              <a:t>4.2	Hierarchical Generative Graph Diffusion</a:t>
            </a:r>
            <a:br>
              <a:rPr lang="en-US" dirty="0"/>
            </a:br>
            <a:r>
              <a:rPr lang="en-US" sz="2400" b="0" i="1" dirty="0"/>
              <a:t>Summary</a:t>
            </a:r>
            <a:endParaRPr lang="en-GB" sz="2400" b="0" i="1" dirty="0"/>
          </a:p>
        </p:txBody>
      </p:sp>
      <p:sp>
        <p:nvSpPr>
          <p:cNvPr id="5" name="Date Placeholder 4">
            <a:extLst>
              <a:ext uri="{FF2B5EF4-FFF2-40B4-BE49-F238E27FC236}">
                <a16:creationId xmlns:a16="http://schemas.microsoft.com/office/drawing/2014/main" id="{788283D4-DD4F-881C-4A62-EFD17C65F15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0ECAB548-436F-AA04-D4AF-AB29EC54381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6FE05411-908A-ED04-1F80-A8F9FA03BC2E}"/>
              </a:ext>
            </a:extLst>
          </p:cNvPr>
          <p:cNvSpPr>
            <a:spLocks noGrp="1"/>
          </p:cNvSpPr>
          <p:nvPr>
            <p:ph type="sldNum" sz="quarter" idx="12"/>
          </p:nvPr>
        </p:nvSpPr>
        <p:spPr/>
        <p:txBody>
          <a:bodyPr/>
          <a:lstStyle/>
          <a:p>
            <a:fld id="{E1E1CD7C-2161-7D43-862E-CE4C333CD873}" type="slidenum">
              <a:rPr lang="fr-FR" smtClean="0"/>
              <a:pPr/>
              <a:t>56</a:t>
            </a:fld>
            <a:endParaRPr lang="fr-FR" dirty="0"/>
          </a:p>
        </p:txBody>
      </p:sp>
      <p:sp>
        <p:nvSpPr>
          <p:cNvPr id="3" name="Content Placeholder 2">
            <a:extLst>
              <a:ext uri="{FF2B5EF4-FFF2-40B4-BE49-F238E27FC236}">
                <a16:creationId xmlns:a16="http://schemas.microsoft.com/office/drawing/2014/main" id="{5510D3B2-39FD-3BC0-011E-3560F919B43D}"/>
              </a:ext>
            </a:extLst>
          </p:cNvPr>
          <p:cNvSpPr>
            <a:spLocks noGrp="1"/>
          </p:cNvSpPr>
          <p:nvPr>
            <p:ph idx="1"/>
          </p:nvPr>
        </p:nvSpPr>
        <p:spPr/>
        <p:txBody>
          <a:bodyPr anchor="ctr"/>
          <a:lstStyle/>
          <a:p>
            <a:r>
              <a:rPr lang="en-CH" dirty="0">
                <a:latin typeface="+mj-lt"/>
              </a:rPr>
              <a:t>Leveraged inherent modularity in real-world graph data to model and sample from complex distributions of graphs</a:t>
            </a:r>
          </a:p>
          <a:p>
            <a:r>
              <a:rPr lang="en-CH" dirty="0">
                <a:latin typeface="+mj-lt"/>
              </a:rPr>
              <a:t>Mirror image of COINs onto the graph generation domain </a:t>
            </a:r>
            <a:r>
              <a:rPr lang="en-GB" dirty="0">
                <a:latin typeface="+mj-lt"/>
              </a:rPr>
              <a:t>with further generalization</a:t>
            </a:r>
            <a:endParaRPr lang="en-CH" dirty="0">
              <a:latin typeface="+mj-lt"/>
            </a:endParaRPr>
          </a:p>
          <a:p>
            <a:r>
              <a:rPr lang="en-CH" dirty="0">
                <a:latin typeface="+mj-lt"/>
              </a:rPr>
              <a:t>Showed </a:t>
            </a:r>
            <a:r>
              <a:rPr lang="en-GB" dirty="0">
                <a:latin typeface="+mj-lt"/>
              </a:rPr>
              <a:t>promise</a:t>
            </a:r>
            <a:r>
              <a:rPr lang="en-CH" dirty="0">
                <a:latin typeface="+mj-lt"/>
              </a:rPr>
              <a:t> but some effort remains</a:t>
            </a:r>
          </a:p>
          <a:p>
            <a:pPr lvl="1"/>
            <a:r>
              <a:rPr lang="en-CH" dirty="0">
                <a:latin typeface="+mj-lt"/>
              </a:rPr>
              <a:t>Overtaking remaining strong baselines</a:t>
            </a:r>
          </a:p>
          <a:p>
            <a:pPr lvl="1"/>
            <a:r>
              <a:rPr lang="en-CH" dirty="0">
                <a:latin typeface="+mj-lt"/>
              </a:rPr>
              <a:t>Further architecture tuning</a:t>
            </a:r>
          </a:p>
          <a:p>
            <a:pPr lvl="1"/>
            <a:r>
              <a:rPr lang="en-CH" dirty="0">
                <a:latin typeface="+mj-lt"/>
              </a:rPr>
              <a:t>Broader dataset and baseline selection</a:t>
            </a:r>
          </a:p>
        </p:txBody>
      </p:sp>
    </p:spTree>
    <p:extLst>
      <p:ext uri="{BB962C8B-B14F-4D97-AF65-F5344CB8AC3E}">
        <p14:creationId xmlns:p14="http://schemas.microsoft.com/office/powerpoint/2010/main" val="392064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31A9-B8A8-E3BD-C586-8EEEF1F6BE6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7CF88D-ED8A-99FD-E844-90DF361227AC}"/>
              </a:ext>
            </a:extLst>
          </p:cNvPr>
          <p:cNvSpPr>
            <a:spLocks noGrp="1"/>
          </p:cNvSpPr>
          <p:nvPr>
            <p:ph type="title"/>
          </p:nvPr>
        </p:nvSpPr>
        <p:spPr>
          <a:xfrm>
            <a:off x="904875" y="131032"/>
            <a:ext cx="7726363" cy="1072753"/>
          </a:xfrm>
        </p:spPr>
        <p:txBody>
          <a:bodyPr>
            <a:noAutofit/>
          </a:bodyPr>
          <a:lstStyle/>
          <a:p>
            <a:r>
              <a:rPr lang="en-US" dirty="0"/>
              <a:t>4.3	Multi-measurement Diffusion Methods</a:t>
            </a:r>
            <a:br>
              <a:rPr lang="en-US" dirty="0"/>
            </a:br>
            <a:r>
              <a:rPr lang="en-US" sz="2400" b="0" i="1" dirty="0"/>
              <a:t>Motivation</a:t>
            </a:r>
            <a:endParaRPr lang="en-GB" sz="2400" b="0" i="1" dirty="0"/>
          </a:p>
        </p:txBody>
      </p:sp>
      <p:sp>
        <p:nvSpPr>
          <p:cNvPr id="5" name="Date Placeholder 4">
            <a:extLst>
              <a:ext uri="{FF2B5EF4-FFF2-40B4-BE49-F238E27FC236}">
                <a16:creationId xmlns:a16="http://schemas.microsoft.com/office/drawing/2014/main" id="{602E51B5-001E-F2AA-66C0-5CCB5B7E10D7}"/>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E916153-5408-EB5B-4D5D-73EFBA2A4C7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CE689A15-E9E5-F818-D9EF-73281B66F5EA}"/>
              </a:ext>
            </a:extLst>
          </p:cNvPr>
          <p:cNvSpPr>
            <a:spLocks noGrp="1"/>
          </p:cNvSpPr>
          <p:nvPr>
            <p:ph type="sldNum" sz="quarter" idx="12"/>
          </p:nvPr>
        </p:nvSpPr>
        <p:spPr/>
        <p:txBody>
          <a:bodyPr/>
          <a:lstStyle/>
          <a:p>
            <a:fld id="{E1E1CD7C-2161-7D43-862E-CE4C333CD873}" type="slidenum">
              <a:rPr lang="fr-FR" smtClean="0"/>
              <a:pPr/>
              <a:t>57</a:t>
            </a:fld>
            <a:endParaRPr lang="fr-F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6B4D97-FE0E-D561-0065-60F2904757A5}"/>
                  </a:ext>
                </a:extLst>
              </p:cNvPr>
              <p:cNvSpPr>
                <a:spLocks noGrp="1"/>
              </p:cNvSpPr>
              <p:nvPr>
                <p:ph idx="1"/>
              </p:nvPr>
            </p:nvSpPr>
            <p:spPr/>
            <p:txBody>
              <a:bodyPr anchor="ctr"/>
              <a:lstStyle/>
              <a:p>
                <a:r>
                  <a:rPr lang="en-US" dirty="0">
                    <a:latin typeface="+mj-lt"/>
                  </a:rPr>
                  <a:t>The graph diffusion trade-off</a:t>
                </a:r>
              </a:p>
              <a:p>
                <a:pPr lvl="1"/>
                <a:r>
                  <a:rPr lang="en-US" dirty="0">
                    <a:latin typeface="+mj-lt"/>
                  </a:rPr>
                  <a:t>Improved generalization</a:t>
                </a:r>
              </a:p>
              <a:p>
                <a:pPr lvl="1"/>
                <a:r>
                  <a:rPr lang="en-US" dirty="0">
                    <a:latin typeface="+mj-lt"/>
                  </a:rPr>
                  <a:t>Can use </a:t>
                </a:r>
                <a:r>
                  <a:rPr lang="en-US" dirty="0" err="1">
                    <a:latin typeface="+mj-lt"/>
                  </a:rPr>
                  <a:t>HiGenDiff</a:t>
                </a:r>
                <a:r>
                  <a:rPr lang="en-US" dirty="0">
                    <a:latin typeface="+mj-lt"/>
                  </a:rPr>
                  <a:t> to reduce the number of edge probabilities to compute</a:t>
                </a:r>
              </a:p>
              <a:p>
                <a:pPr lvl="1"/>
                <a:r>
                  <a:rPr lang="en-US" dirty="0">
                    <a:latin typeface="+mj-lt"/>
                  </a:rPr>
                  <a:t>But the total complexity increased by a factor of </a:t>
                </a:r>
                <a14:m>
                  <m:oMath xmlns:m="http://schemas.openxmlformats.org/officeDocument/2006/math">
                    <m:r>
                      <a:rPr lang="en-US" b="0" i="1" smtClean="0">
                        <a:latin typeface="Cambria Math" panose="02040503050406030204" pitchFamily="18" charset="0"/>
                      </a:rPr>
                      <m:t>𝑇</m:t>
                    </m:r>
                  </m:oMath>
                </a14:m>
                <a:r>
                  <a:rPr lang="en-US" dirty="0">
                    <a:latin typeface="+mj-lt"/>
                  </a:rPr>
                  <a:t>…</a:t>
                </a:r>
              </a:p>
              <a:p>
                <a:r>
                  <a:rPr lang="en-US" dirty="0">
                    <a:latin typeface="+mj-lt"/>
                  </a:rPr>
                  <a:t>Do we </a:t>
                </a:r>
                <a:r>
                  <a:rPr lang="en-US" i="1" dirty="0">
                    <a:latin typeface="+mj-lt"/>
                  </a:rPr>
                  <a:t>really</a:t>
                </a:r>
                <a:r>
                  <a:rPr lang="en-US" dirty="0">
                    <a:latin typeface="+mj-lt"/>
                  </a:rPr>
                  <a:t> need </a:t>
                </a:r>
                <a14:m>
                  <m:oMath xmlns:m="http://schemas.openxmlformats.org/officeDocument/2006/math">
                    <m:r>
                      <a:rPr lang="en-US" i="1">
                        <a:latin typeface="Cambria Math" panose="02040503050406030204" pitchFamily="18" charset="0"/>
                      </a:rPr>
                      <m:t>𝑇</m:t>
                    </m:r>
                  </m:oMath>
                </a14:m>
                <a:r>
                  <a:rPr lang="en-US" dirty="0">
                    <a:latin typeface="+mj-lt"/>
                  </a:rPr>
                  <a:t> denoising steps?</a:t>
                </a:r>
              </a:p>
              <a:p>
                <a:pPr lvl="1"/>
                <a:r>
                  <a:rPr lang="en-US" dirty="0">
                    <a:latin typeface="+mj-lt"/>
                  </a:rPr>
                  <a:t>Why is </a:t>
                </a:r>
                <a:r>
                  <a:rPr lang="en-US" i="1" dirty="0">
                    <a:latin typeface="+mj-lt"/>
                  </a:rPr>
                  <a:t>annealing</a:t>
                </a:r>
                <a:r>
                  <a:rPr lang="en-US" dirty="0">
                    <a:latin typeface="+mj-lt"/>
                  </a:rPr>
                  <a:t> (gradual removal of noise) necessary?</a:t>
                </a:r>
              </a:p>
              <a:p>
                <a:pPr lvl="1"/>
                <a:r>
                  <a:rPr lang="en-US" dirty="0">
                    <a:latin typeface="+mj-lt"/>
                  </a:rPr>
                  <a:t>Why not transform latent noise into a distribution sample in one step?</a:t>
                </a:r>
              </a:p>
              <a:p>
                <a:pPr lvl="1"/>
                <a:r>
                  <a:rPr lang="en-US" i="1" dirty="0">
                    <a:latin typeface="+mj-lt"/>
                  </a:rPr>
                  <a:t>Single-noise-level log-concave sampling framework for any multi-modal real-world data?</a:t>
                </a:r>
              </a:p>
            </p:txBody>
          </p:sp>
        </mc:Choice>
        <mc:Fallback xmlns="">
          <p:sp>
            <p:nvSpPr>
              <p:cNvPr id="3" name="Content Placeholder 2">
                <a:extLst>
                  <a:ext uri="{FF2B5EF4-FFF2-40B4-BE49-F238E27FC236}">
                    <a16:creationId xmlns:a16="http://schemas.microsoft.com/office/drawing/2014/main" id="{B16B4D97-FE0E-D561-0065-60F2904757A5}"/>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1103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4" dur="500"/>
                                        <p:tgtEl>
                                          <p:spTgt spid="3">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1C2F8-BB7F-F2F7-FF3C-9B894E6938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C1FA0C-CAE7-9D6B-BFD6-511C6CC7CA5B}"/>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Background - The reason for time annealing</a:t>
            </a:r>
            <a:endParaRPr lang="en-GB" sz="2400" b="0" i="1" dirty="0"/>
          </a:p>
        </p:txBody>
      </p:sp>
      <p:sp>
        <p:nvSpPr>
          <p:cNvPr id="5" name="Date Placeholder 4">
            <a:extLst>
              <a:ext uri="{FF2B5EF4-FFF2-40B4-BE49-F238E27FC236}">
                <a16:creationId xmlns:a16="http://schemas.microsoft.com/office/drawing/2014/main" id="{7C756B67-A904-C97C-223C-EEEF3272DDA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CC811AEC-00FE-D7CC-596D-A30CAEB5CF6D}"/>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57D2C4E-72A1-3376-D7FE-398CF9458CFC}"/>
              </a:ext>
            </a:extLst>
          </p:cNvPr>
          <p:cNvSpPr>
            <a:spLocks noGrp="1"/>
          </p:cNvSpPr>
          <p:nvPr>
            <p:ph type="sldNum" sz="quarter" idx="12"/>
          </p:nvPr>
        </p:nvSpPr>
        <p:spPr/>
        <p:txBody>
          <a:bodyPr/>
          <a:lstStyle/>
          <a:p>
            <a:fld id="{E1E1CD7C-2161-7D43-862E-CE4C333CD873}" type="slidenum">
              <a:rPr lang="fr-FR" smtClean="0"/>
              <a:pPr/>
              <a:t>58</a:t>
            </a:fld>
            <a:endParaRPr lang="fr-F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FE711B-A0CC-419E-943A-AB60D77DBC11}"/>
                  </a:ext>
                </a:extLst>
              </p:cNvPr>
              <p:cNvSpPr>
                <a:spLocks noGrp="1"/>
              </p:cNvSpPr>
              <p:nvPr>
                <p:ph idx="1"/>
              </p:nvPr>
            </p:nvSpPr>
            <p:spPr>
              <a:xfrm>
                <a:off x="904874" y="1057112"/>
                <a:ext cx="7726363" cy="2319134"/>
              </a:xfrm>
            </p:spPr>
            <p:txBody>
              <a:bodyPr anchor="ctr">
                <a:normAutofit fontScale="85000" lnSpcReduction="20000"/>
              </a:bodyPr>
              <a:lstStyle/>
              <a:p>
                <a:r>
                  <a:rPr lang="en-US" dirty="0">
                    <a:latin typeface="+mj-lt"/>
                  </a:rPr>
                  <a:t>Effect of the diffusion assumption</a:t>
                </a:r>
              </a:p>
              <a:p>
                <a:pPr lvl="1"/>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oMath>
                </a14:m>
                <a:endParaRPr lang="en-US" dirty="0">
                  <a:latin typeface="+mj-lt"/>
                </a:endParaRPr>
              </a:p>
              <a:p>
                <a:pPr lvl="1"/>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b="0" i="1" smtClean="0">
                                <a:latin typeface="Cambria Math" panose="02040503050406030204" pitchFamily="18" charset="0"/>
                              </a:rPr>
                              <m:t>𝑇</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den>
                    </m:f>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e>
                    </m:d>
                  </m:oMath>
                </a14:m>
                <a:endParaRPr lang="en-US" dirty="0">
                  <a:latin typeface="+mj-lt"/>
                </a:endParaRPr>
              </a:p>
              <a:p>
                <a:pPr lvl="1"/>
                <a14:m>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𝑔</m:t>
                        </m:r>
                      </m:e>
                      <m:sup>
                        <m:r>
                          <a:rPr lang="en-US" b="0" i="1" smtClean="0">
                            <a:latin typeface="Cambria Math" panose="02040503050406030204" pitchFamily="18" charset="0"/>
                          </a:rPr>
                          <m:t>∗</m:t>
                        </m:r>
                      </m:sup>
                    </m:sSup>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𝑇</m:t>
                            </m:r>
                          </m:sub>
                        </m:sSub>
                      </m:e>
                    </m:d>
                    <m:r>
                      <a:rPr lang="en-US" b="0" i="1" smtClean="0">
                        <a:latin typeface="Cambria Math" panose="02040503050406030204" pitchFamily="18" charset="0"/>
                      </a:rPr>
                      <m:t>∼</m:t>
                    </m:r>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0</m:t>
                            </m:r>
                          </m:sub>
                        </m:sSub>
                      </m:e>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𝑇</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𝑇</m:t>
                        </m:r>
                      </m:sub>
                    </m:sSub>
                    <m:r>
                      <a:rPr lang="en-US" b="0" i="1" smtClean="0">
                        <a:latin typeface="Cambria Math" panose="02040503050406030204" pitchFamily="18" charset="0"/>
                      </a:rPr>
                      <m:t>𝑍</m:t>
                    </m:r>
                  </m:oMath>
                </a14:m>
                <a:r>
                  <a:rPr lang="en-US" b="0" dirty="0">
                    <a:latin typeface="+mj-lt"/>
                  </a:rPr>
                  <a:t>, for Gaussian latent noise</a:t>
                </a:r>
              </a:p>
              <a:p>
                <a:pPr lvl="1"/>
                <a:r>
                  <a:rPr lang="en-US" dirty="0">
                    <a:latin typeface="+mj-lt"/>
                  </a:rPr>
                  <a:t>For the often multi-modal</a:t>
                </a:r>
                <a:r>
                  <a:rPr lang="en-US" dirty="0"/>
                  <a: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b="0" i="1" smtClean="0">
                            <a:latin typeface="Cambria Math" panose="02040503050406030204" pitchFamily="18" charset="0"/>
                          </a:rPr>
                          <m:t>𝑇</m:t>
                        </m:r>
                      </m:sub>
                    </m:sSub>
                  </m:oMath>
                </a14:m>
                <a:r>
                  <a:rPr lang="en-US" dirty="0">
                    <a:latin typeface="+mj-lt"/>
                  </a:rPr>
                  <a:t>,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0</m:t>
                            </m:r>
                          </m:sub>
                        </m:sSub>
                      </m:e>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𝑇</m:t>
                            </m:r>
                          </m:sub>
                        </m:sSub>
                      </m:e>
                    </m:d>
                  </m:oMath>
                </a14:m>
                <a:r>
                  <a:rPr lang="en-US" b="0" dirty="0">
                    <a:latin typeface="+mj-lt"/>
                  </a:rPr>
                  <a:t> can be the least likely sample…</a:t>
                </a:r>
              </a:p>
              <a:p>
                <a:r>
                  <a:rPr lang="en-US" dirty="0">
                    <a:latin typeface="+mj-lt"/>
                  </a:rPr>
                  <a:t>Benefit of annealing</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den>
                    </m:f>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sub>
                        </m:sSub>
                      </m:e>
                    </m:d>
                  </m:oMath>
                </a14:m>
                <a:endParaRPr lang="en-US" dirty="0">
                  <a:latin typeface="+mj-lt"/>
                </a:endParaRPr>
              </a:p>
              <a:p>
                <a:pPr lvl="1"/>
                <a14:m>
                  <m:oMath xmlns:m="http://schemas.openxmlformats.org/officeDocument/2006/math">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𝑡</m:t>
                            </m:r>
                          </m:sub>
                        </m:sSub>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smtClean="0">
                                <a:latin typeface="Cambria Math" panose="02040503050406030204" pitchFamily="18" charset="0"/>
                              </a:rPr>
                              <m:t>𝑡</m:t>
                            </m:r>
                            <m:r>
                              <a:rPr lang="en-US" b="0" i="1" smtClean="0">
                                <a:latin typeface="Cambria Math" panose="02040503050406030204" pitchFamily="18" charset="0"/>
                              </a:rPr>
                              <m:t>−1</m:t>
                            </m:r>
                          </m:sub>
                        </m:sSub>
                      </m:e>
                      <m:e>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𝑡</m:t>
                        </m:r>
                      </m:sub>
                    </m:sSub>
                    <m:r>
                      <a:rPr lang="en-US" b="0" i="1" smtClean="0">
                        <a:latin typeface="Cambria Math" panose="02040503050406030204" pitchFamily="18" charset="0"/>
                      </a:rPr>
                      <m:t>𝑍</m:t>
                    </m:r>
                  </m:oMath>
                </a14:m>
                <a:endParaRPr lang="en-US" b="0" dirty="0">
                  <a:latin typeface="+mj-lt"/>
                </a:endParaRPr>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𝑿</m:t>
                        </m:r>
                      </m:e>
                      <m:sub>
                        <m:r>
                          <a:rPr lang="en-US" b="0" i="1" smtClean="0">
                            <a:latin typeface="Cambria Math" panose="02040503050406030204" pitchFamily="18" charset="0"/>
                          </a:rPr>
                          <m:t>𝑡</m:t>
                        </m:r>
                      </m:sub>
                    </m:sSub>
                  </m:oMath>
                </a14:m>
                <a:r>
                  <a:rPr lang="en-US" b="0" dirty="0">
                    <a:latin typeface="+mj-lt"/>
                  </a:rPr>
                  <a:t> more likely to be a single mode Gaussian as we increase </a:t>
                </a:r>
                <a14:m>
                  <m:oMath xmlns:m="http://schemas.openxmlformats.org/officeDocument/2006/math">
                    <m:r>
                      <a:rPr lang="en-US" i="1" smtClean="0">
                        <a:latin typeface="Cambria Math" panose="02040503050406030204" pitchFamily="18" charset="0"/>
                      </a:rPr>
                      <m:t>𝑇</m:t>
                    </m:r>
                  </m:oMath>
                </a14:m>
                <a:r>
                  <a:rPr lang="en-US" b="0" dirty="0">
                    <a:latin typeface="+mj-lt"/>
                  </a:rPr>
                  <a:t>!</a:t>
                </a:r>
                <a:endParaRPr lang="en-US" dirty="0">
                  <a:latin typeface="+mj-lt"/>
                </a:endParaRPr>
              </a:p>
            </p:txBody>
          </p:sp>
        </mc:Choice>
        <mc:Fallback xmlns="">
          <p:sp>
            <p:nvSpPr>
              <p:cNvPr id="3" name="Content Placeholder 2">
                <a:extLst>
                  <a:ext uri="{FF2B5EF4-FFF2-40B4-BE49-F238E27FC236}">
                    <a16:creationId xmlns:a16="http://schemas.microsoft.com/office/drawing/2014/main" id="{FCFE711B-A0CC-419E-943A-AB60D77DBC11}"/>
                  </a:ext>
                </a:extLst>
              </p:cNvPr>
              <p:cNvSpPr>
                <a:spLocks noGrp="1" noRot="1" noChangeAspect="1" noMove="1" noResize="1" noEditPoints="1" noAdjustHandles="1" noChangeArrowheads="1" noChangeShapeType="1" noTextEdit="1"/>
              </p:cNvSpPr>
              <p:nvPr>
                <p:ph idx="1"/>
              </p:nvPr>
            </p:nvSpPr>
            <p:spPr>
              <a:xfrm>
                <a:off x="904874" y="1057112"/>
                <a:ext cx="7726363" cy="2319134"/>
              </a:xfrm>
              <a:blipFill>
                <a:blip r:embed="rId3"/>
                <a:stretch>
                  <a:fillRect t="-2625" b="-2100"/>
                </a:stretch>
              </a:blipFill>
            </p:spPr>
            <p:txBody>
              <a:bodyPr/>
              <a:lstStyle/>
              <a:p>
                <a:r>
                  <a:rPr lang="en-GB">
                    <a:noFill/>
                  </a:rPr>
                  <a:t> </a:t>
                </a:r>
              </a:p>
            </p:txBody>
          </p:sp>
        </mc:Fallback>
      </mc:AlternateContent>
      <p:pic>
        <p:nvPicPr>
          <p:cNvPr id="4" name="Picture 3" descr="A graph on a white sheet&#10;&#10;AI-generated content may be incorrect.">
            <a:extLst>
              <a:ext uri="{FF2B5EF4-FFF2-40B4-BE49-F238E27FC236}">
                <a16:creationId xmlns:a16="http://schemas.microsoft.com/office/drawing/2014/main" id="{75202612-5D6E-61BF-B57C-51D931C2B844}"/>
              </a:ext>
            </a:extLst>
          </p:cNvPr>
          <p:cNvPicPr>
            <a:picLocks noChangeAspect="1"/>
          </p:cNvPicPr>
          <p:nvPr/>
        </p:nvPicPr>
        <p:blipFill>
          <a:blip r:embed="rId4"/>
          <a:stretch>
            <a:fillRect/>
          </a:stretch>
        </p:blipFill>
        <p:spPr>
          <a:xfrm>
            <a:off x="1025642" y="3466447"/>
            <a:ext cx="7484825" cy="1438293"/>
          </a:xfrm>
          <a:prstGeom prst="rect">
            <a:avLst/>
          </a:prstGeom>
        </p:spPr>
      </p:pic>
    </p:spTree>
    <p:extLst>
      <p:ext uri="{BB962C8B-B14F-4D97-AF65-F5344CB8AC3E}">
        <p14:creationId xmlns:p14="http://schemas.microsoft.com/office/powerpoint/2010/main" val="135912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0" dur="500"/>
                                        <p:tgtEl>
                                          <p:spTgt spid="3">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3" dur="500"/>
                                        <p:tgtEl>
                                          <p:spTgt spid="3">
                                            <p:txEl>
                                              <p:pRg st="7" end="7"/>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DCAF5-32E4-6800-B484-8EEAC122318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E081805-6D4F-EC49-30E3-A964736CC411}"/>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Background - The disadvantages of time annealing</a:t>
            </a:r>
            <a:endParaRPr lang="en-GB" sz="2400" b="0" i="1" dirty="0"/>
          </a:p>
        </p:txBody>
      </p:sp>
      <p:sp>
        <p:nvSpPr>
          <p:cNvPr id="5" name="Date Placeholder 4">
            <a:extLst>
              <a:ext uri="{FF2B5EF4-FFF2-40B4-BE49-F238E27FC236}">
                <a16:creationId xmlns:a16="http://schemas.microsoft.com/office/drawing/2014/main" id="{AA9FDDC5-3583-4EA2-ABA4-2489B15146C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EE7839A-D9AE-1783-B153-4DD496836964}"/>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F7FAA3E-ED30-2B72-EF82-4DA779D5D528}"/>
              </a:ext>
            </a:extLst>
          </p:cNvPr>
          <p:cNvSpPr>
            <a:spLocks noGrp="1"/>
          </p:cNvSpPr>
          <p:nvPr>
            <p:ph type="sldNum" sz="quarter" idx="12"/>
          </p:nvPr>
        </p:nvSpPr>
        <p:spPr/>
        <p:txBody>
          <a:bodyPr/>
          <a:lstStyle/>
          <a:p>
            <a:fld id="{E1E1CD7C-2161-7D43-862E-CE4C333CD873}" type="slidenum">
              <a:rPr lang="fr-FR" smtClean="0"/>
              <a:pPr/>
              <a:t>59</a:t>
            </a:fld>
            <a:endParaRPr lang="fr-FR" dirty="0"/>
          </a:p>
        </p:txBody>
      </p:sp>
      <p:sp>
        <p:nvSpPr>
          <p:cNvPr id="3" name="Content Placeholder 2">
            <a:extLst>
              <a:ext uri="{FF2B5EF4-FFF2-40B4-BE49-F238E27FC236}">
                <a16:creationId xmlns:a16="http://schemas.microsoft.com/office/drawing/2014/main" id="{754CC029-2A24-F64A-A490-8F75931FCFD0}"/>
              </a:ext>
            </a:extLst>
          </p:cNvPr>
          <p:cNvSpPr>
            <a:spLocks noGrp="1"/>
          </p:cNvSpPr>
          <p:nvPr>
            <p:ph idx="1"/>
          </p:nvPr>
        </p:nvSpPr>
        <p:spPr/>
        <p:txBody>
          <a:bodyPr anchor="ctr"/>
          <a:lstStyle/>
          <a:p>
            <a:r>
              <a:rPr lang="en-US" b="0" dirty="0">
                <a:latin typeface="+mj-lt"/>
              </a:rPr>
              <a:t>A collection of generators </a:t>
            </a:r>
            <a:r>
              <a:rPr lang="en-US" dirty="0">
                <a:latin typeface="+mj-lt"/>
              </a:rPr>
              <a:t>only conceptually</a:t>
            </a:r>
          </a:p>
          <a:p>
            <a:pPr lvl="1"/>
            <a:r>
              <a:rPr lang="en-US" b="0" dirty="0">
                <a:latin typeface="+mj-lt"/>
              </a:rPr>
              <a:t>In practice, only one neural networ</a:t>
            </a:r>
            <a:r>
              <a:rPr lang="en-US" dirty="0">
                <a:latin typeface="+mj-lt"/>
              </a:rPr>
              <a:t>k taking the time step as additional input</a:t>
            </a:r>
          </a:p>
          <a:p>
            <a:pPr lvl="1"/>
            <a:r>
              <a:rPr lang="en-US" b="0" dirty="0">
                <a:latin typeface="+mj-lt"/>
              </a:rPr>
              <a:t>Positional time embeddings, noise schedules…</a:t>
            </a:r>
          </a:p>
          <a:p>
            <a:r>
              <a:rPr lang="en-US" dirty="0">
                <a:latin typeface="+mj-lt"/>
              </a:rPr>
              <a:t>Very difficult training and hyperparameter tuning process</a:t>
            </a:r>
          </a:p>
          <a:p>
            <a:pPr lvl="1"/>
            <a:r>
              <a:rPr lang="en-US" dirty="0">
                <a:latin typeface="+mj-lt"/>
              </a:rPr>
              <a:t>Multi-task learning for the denoiser network</a:t>
            </a:r>
          </a:p>
          <a:p>
            <a:pPr lvl="1"/>
            <a:r>
              <a:rPr lang="en-US" dirty="0">
                <a:latin typeface="+mj-lt"/>
              </a:rPr>
              <a:t>At high noise levels, the denoiser must introduce novel signal components</a:t>
            </a:r>
          </a:p>
          <a:p>
            <a:pPr lvl="1"/>
            <a:r>
              <a:rPr lang="en-US" dirty="0">
                <a:latin typeface="+mj-lt"/>
              </a:rPr>
              <a:t>At low noise levels, the denoiser must solely use high-frequency noise</a:t>
            </a:r>
          </a:p>
          <a:p>
            <a:pPr lvl="1"/>
            <a:r>
              <a:rPr lang="en-US" dirty="0">
                <a:latin typeface="+mj-lt"/>
              </a:rPr>
              <a:t>Many steps adding minimal structural detail</a:t>
            </a:r>
          </a:p>
        </p:txBody>
      </p:sp>
    </p:spTree>
    <p:extLst>
      <p:ext uri="{BB962C8B-B14F-4D97-AF65-F5344CB8AC3E}">
        <p14:creationId xmlns:p14="http://schemas.microsoft.com/office/powerpoint/2010/main" val="6403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4" dur="500"/>
                                        <p:tgtEl>
                                          <p:spTgt spid="3">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A151-DA37-1FE9-3109-2B8F8A78CD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13255-1BC5-D972-832B-DE5B0C0F3BBB}"/>
              </a:ext>
            </a:extLst>
          </p:cNvPr>
          <p:cNvSpPr>
            <a:spLocks noGrp="1"/>
          </p:cNvSpPr>
          <p:nvPr>
            <p:ph idx="1"/>
          </p:nvPr>
        </p:nvSpPr>
        <p:spPr/>
        <p:txBody>
          <a:bodyPr anchor="ctr">
            <a:normAutofit/>
          </a:bodyPr>
          <a:lstStyle/>
          <a:p>
            <a:r>
              <a:rPr lang="en-US" b="0" dirty="0">
                <a:latin typeface="+mj-lt"/>
              </a:rPr>
              <a:t>Related work - multi-measurements + proximal sampling</a:t>
            </a:r>
          </a:p>
          <a:p>
            <a:r>
              <a:rPr lang="en-US" dirty="0">
                <a:latin typeface="+mj-lt"/>
              </a:rPr>
              <a:t>Multi-measurements of Saremi et al. </a:t>
            </a:r>
            <a:r>
              <a:rPr lang="en-US" dirty="0">
                <a:solidFill>
                  <a:schemeClr val="accent1"/>
                </a:solidFill>
                <a:latin typeface="+mj-lt"/>
              </a:rPr>
              <a:t>[25]</a:t>
            </a:r>
          </a:p>
          <a:p>
            <a:pPr lvl="1"/>
            <a:r>
              <a:rPr lang="en-US" dirty="0">
                <a:latin typeface="+mj-lt"/>
              </a:rPr>
              <a:t>Building sample chains from an e</a:t>
            </a:r>
            <a:r>
              <a:rPr lang="en-US" b="0" dirty="0">
                <a:latin typeface="+mj-lt"/>
              </a:rPr>
              <a:t>nsemble of correlated measurements</a:t>
            </a:r>
          </a:p>
          <a:p>
            <a:pPr lvl="1"/>
            <a:r>
              <a:rPr lang="en-US" dirty="0">
                <a:latin typeface="+mj-lt"/>
              </a:rPr>
              <a:t>Only </a:t>
            </a:r>
            <a:r>
              <a:rPr lang="en-US" i="1" dirty="0">
                <a:latin typeface="+mj-lt"/>
              </a:rPr>
              <a:t>increasingly</a:t>
            </a:r>
            <a:r>
              <a:rPr lang="en-US" dirty="0">
                <a:latin typeface="+mj-lt"/>
              </a:rPr>
              <a:t> log-concave </a:t>
            </a:r>
            <a:r>
              <a:rPr lang="en-US" b="0" dirty="0">
                <a:latin typeface="+mj-lt"/>
              </a:rPr>
              <a:t>over time</a:t>
            </a:r>
          </a:p>
          <a:p>
            <a:r>
              <a:rPr lang="en-US" dirty="0">
                <a:latin typeface="+mj-lt"/>
              </a:rPr>
              <a:t>Proximal sampler of Shen et al. </a:t>
            </a:r>
            <a:r>
              <a:rPr lang="en-US" dirty="0">
                <a:solidFill>
                  <a:schemeClr val="accent1"/>
                </a:solidFill>
                <a:latin typeface="+mj-lt"/>
              </a:rPr>
              <a:t>[11]</a:t>
            </a:r>
          </a:p>
          <a:p>
            <a:pPr lvl="1"/>
            <a:r>
              <a:rPr lang="en-US" dirty="0">
                <a:latin typeface="+mj-lt"/>
              </a:rPr>
              <a:t>Reducing the difficulty of sampling at high noise levels</a:t>
            </a:r>
          </a:p>
          <a:p>
            <a:pPr lvl="1"/>
            <a:r>
              <a:rPr lang="en-US" b="0" i="1" dirty="0">
                <a:latin typeface="+mj-lt"/>
              </a:rPr>
              <a:t>Heuristics</a:t>
            </a:r>
          </a:p>
        </p:txBody>
      </p:sp>
      <p:sp>
        <p:nvSpPr>
          <p:cNvPr id="8" name="Title 7">
            <a:extLst>
              <a:ext uri="{FF2B5EF4-FFF2-40B4-BE49-F238E27FC236}">
                <a16:creationId xmlns:a16="http://schemas.microsoft.com/office/drawing/2014/main" id="{7B5B8BBC-58B4-B863-C654-711DF1062598}"/>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The </a:t>
            </a:r>
            <a:r>
              <a:rPr lang="en-US" sz="2400" b="0" i="1" dirty="0" err="1"/>
              <a:t>MultiProx</a:t>
            </a:r>
            <a:r>
              <a:rPr lang="en-US" sz="2400" b="0" i="1" dirty="0"/>
              <a:t> sampler - Theory</a:t>
            </a:r>
            <a:endParaRPr lang="en-GB" sz="2400" b="0" i="1" dirty="0"/>
          </a:p>
        </p:txBody>
      </p:sp>
      <p:sp>
        <p:nvSpPr>
          <p:cNvPr id="5" name="Date Placeholder 4">
            <a:extLst>
              <a:ext uri="{FF2B5EF4-FFF2-40B4-BE49-F238E27FC236}">
                <a16:creationId xmlns:a16="http://schemas.microsoft.com/office/drawing/2014/main" id="{C91AB68E-411B-95F7-2CE2-01298E9A0185}"/>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0EE2539C-7CC9-4A8F-4E05-87C9CE1B05AE}"/>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023CB6E2-0108-ECA2-93EA-C5DCA1C96B35}"/>
              </a:ext>
            </a:extLst>
          </p:cNvPr>
          <p:cNvSpPr>
            <a:spLocks noGrp="1"/>
          </p:cNvSpPr>
          <p:nvPr>
            <p:ph type="sldNum" sz="quarter" idx="12"/>
          </p:nvPr>
        </p:nvSpPr>
        <p:spPr/>
        <p:txBody>
          <a:bodyPr/>
          <a:lstStyle/>
          <a:p>
            <a:fld id="{E1E1CD7C-2161-7D43-862E-CE4C333CD873}" type="slidenum">
              <a:rPr lang="fr-FR" smtClean="0"/>
              <a:pPr/>
              <a:t>60</a:t>
            </a:fld>
            <a:endParaRPr lang="fr-FR" dirty="0"/>
          </a:p>
        </p:txBody>
      </p:sp>
    </p:spTree>
    <p:extLst>
      <p:ext uri="{BB962C8B-B14F-4D97-AF65-F5344CB8AC3E}">
        <p14:creationId xmlns:p14="http://schemas.microsoft.com/office/powerpoint/2010/main" val="300521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6" dur="500"/>
                                        <p:tgtEl>
                                          <p:spTgt spid="3">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38AF1-EC31-28FC-0A7E-879159E9844B}"/>
            </a:ext>
          </a:extLst>
        </p:cNvPr>
        <p:cNvGrpSpPr/>
        <p:nvPr/>
      </p:nvGrpSpPr>
      <p:grpSpPr>
        <a:xfrm>
          <a:off x="0" y="0"/>
          <a:ext cx="0" cy="0"/>
          <a:chOff x="0" y="0"/>
          <a:chExt cx="0" cy="0"/>
        </a:xfrm>
      </p:grpSpPr>
      <p:pic>
        <p:nvPicPr>
          <p:cNvPr id="11" name="Content Placeholder 10" descr="A screenshot of a computer&#10;&#10;AI-generated content may be incorrect.">
            <a:extLst>
              <a:ext uri="{FF2B5EF4-FFF2-40B4-BE49-F238E27FC236}">
                <a16:creationId xmlns:a16="http://schemas.microsoft.com/office/drawing/2014/main" id="{E65E644D-FE8E-F167-CA85-7F3EF66244A2}"/>
              </a:ext>
            </a:extLst>
          </p:cNvPr>
          <p:cNvPicPr>
            <a:picLocks noGrp="1" noChangeAspect="1"/>
          </p:cNvPicPr>
          <p:nvPr>
            <p:ph idx="1"/>
          </p:nvPr>
        </p:nvPicPr>
        <p:blipFill>
          <a:blip r:embed="rId3"/>
          <a:stretch>
            <a:fillRect/>
          </a:stretch>
        </p:blipFill>
        <p:spPr>
          <a:xfrm>
            <a:off x="1163713" y="1563688"/>
            <a:ext cx="7208686" cy="3386137"/>
          </a:xfrm>
        </p:spPr>
      </p:pic>
      <p:sp>
        <p:nvSpPr>
          <p:cNvPr id="8" name="Title 7">
            <a:extLst>
              <a:ext uri="{FF2B5EF4-FFF2-40B4-BE49-F238E27FC236}">
                <a16:creationId xmlns:a16="http://schemas.microsoft.com/office/drawing/2014/main" id="{2B09D6B3-367E-2E07-F704-F1BD3669E91E}"/>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The </a:t>
            </a:r>
            <a:r>
              <a:rPr lang="en-US" sz="2400" b="0" i="1" dirty="0" err="1"/>
              <a:t>MultiProx</a:t>
            </a:r>
            <a:r>
              <a:rPr lang="en-US" sz="2400" b="0" i="1" dirty="0"/>
              <a:t> sampler - Visually</a:t>
            </a:r>
            <a:endParaRPr lang="en-GB" sz="2400" b="0" i="1" dirty="0"/>
          </a:p>
        </p:txBody>
      </p:sp>
      <p:sp>
        <p:nvSpPr>
          <p:cNvPr id="5" name="Date Placeholder 4">
            <a:extLst>
              <a:ext uri="{FF2B5EF4-FFF2-40B4-BE49-F238E27FC236}">
                <a16:creationId xmlns:a16="http://schemas.microsoft.com/office/drawing/2014/main" id="{75E4D8B4-EEB7-D373-E488-8547930D1A4F}"/>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39B5DD0-2BDB-A2C5-6EC5-B3D542A8A518}"/>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6DE9ED87-EA19-C4F5-3E73-9E7F26E4E04A}"/>
              </a:ext>
            </a:extLst>
          </p:cNvPr>
          <p:cNvSpPr>
            <a:spLocks noGrp="1"/>
          </p:cNvSpPr>
          <p:nvPr>
            <p:ph type="sldNum" sz="quarter" idx="12"/>
          </p:nvPr>
        </p:nvSpPr>
        <p:spPr/>
        <p:txBody>
          <a:bodyPr/>
          <a:lstStyle/>
          <a:p>
            <a:fld id="{E1E1CD7C-2161-7D43-862E-CE4C333CD873}" type="slidenum">
              <a:rPr lang="fr-FR" smtClean="0"/>
              <a:pPr/>
              <a:t>61</a:t>
            </a:fld>
            <a:endParaRPr lang="fr-FR" dirty="0"/>
          </a:p>
        </p:txBody>
      </p:sp>
    </p:spTree>
    <p:extLst>
      <p:ext uri="{BB962C8B-B14F-4D97-AF65-F5344CB8AC3E}">
        <p14:creationId xmlns:p14="http://schemas.microsoft.com/office/powerpoint/2010/main" val="407477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C6A0-4170-401E-9445-224817B8430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81F8992-A08E-89F7-E2CA-D3CA1B716776}"/>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Results - Images</a:t>
            </a:r>
            <a:endParaRPr lang="en-GB" sz="2400" b="0" i="1" dirty="0"/>
          </a:p>
        </p:txBody>
      </p:sp>
      <p:sp>
        <p:nvSpPr>
          <p:cNvPr id="5" name="Date Placeholder 4">
            <a:extLst>
              <a:ext uri="{FF2B5EF4-FFF2-40B4-BE49-F238E27FC236}">
                <a16:creationId xmlns:a16="http://schemas.microsoft.com/office/drawing/2014/main" id="{93ED1352-8782-A155-ADE1-B4B6BEB26E77}"/>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A9BB4942-4404-81B0-C25A-DFD519325C4E}"/>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4D03E0A-DBF2-83A5-6529-BDA4F639E726}"/>
              </a:ext>
            </a:extLst>
          </p:cNvPr>
          <p:cNvSpPr>
            <a:spLocks noGrp="1"/>
          </p:cNvSpPr>
          <p:nvPr>
            <p:ph type="sldNum" sz="quarter" idx="12"/>
          </p:nvPr>
        </p:nvSpPr>
        <p:spPr/>
        <p:txBody>
          <a:bodyPr/>
          <a:lstStyle/>
          <a:p>
            <a:fld id="{E1E1CD7C-2161-7D43-862E-CE4C333CD873}" type="slidenum">
              <a:rPr lang="fr-FR" smtClean="0"/>
              <a:pPr/>
              <a:t>62</a:t>
            </a:fld>
            <a:endParaRPr lang="fr-FR" dirty="0"/>
          </a:p>
        </p:txBody>
      </p:sp>
      <p:pic>
        <p:nvPicPr>
          <p:cNvPr id="9" name="Content Placeholder 8" descr="A collage of images of birds&#10;&#10;AI-generated content may be incorrect.">
            <a:extLst>
              <a:ext uri="{FF2B5EF4-FFF2-40B4-BE49-F238E27FC236}">
                <a16:creationId xmlns:a16="http://schemas.microsoft.com/office/drawing/2014/main" id="{A4C5D4EA-3244-AA5A-F9F8-DBFB9E624429}"/>
              </a:ext>
            </a:extLst>
          </p:cNvPr>
          <p:cNvPicPr>
            <a:picLocks noGrp="1" noChangeAspect="1"/>
          </p:cNvPicPr>
          <p:nvPr>
            <p:ph idx="1"/>
          </p:nvPr>
        </p:nvPicPr>
        <p:blipFill>
          <a:blip r:embed="rId3"/>
          <a:stretch>
            <a:fillRect/>
          </a:stretch>
        </p:blipFill>
        <p:spPr>
          <a:xfrm>
            <a:off x="2287740" y="945587"/>
            <a:ext cx="4960630" cy="793701"/>
          </a:xfrm>
        </p:spPr>
      </p:pic>
      <p:pic>
        <p:nvPicPr>
          <p:cNvPr id="12" name="Picture 11" descr="A collage of different cats&#10;&#10;AI-generated content may be incorrect.">
            <a:extLst>
              <a:ext uri="{FF2B5EF4-FFF2-40B4-BE49-F238E27FC236}">
                <a16:creationId xmlns:a16="http://schemas.microsoft.com/office/drawing/2014/main" id="{48077CDF-5D40-38D5-2D6D-73790C6089B1}"/>
              </a:ext>
            </a:extLst>
          </p:cNvPr>
          <p:cNvPicPr>
            <a:picLocks noChangeAspect="1"/>
          </p:cNvPicPr>
          <p:nvPr/>
        </p:nvPicPr>
        <p:blipFill>
          <a:blip r:embed="rId4"/>
          <a:stretch>
            <a:fillRect/>
          </a:stretch>
        </p:blipFill>
        <p:spPr>
          <a:xfrm>
            <a:off x="2554060" y="1844960"/>
            <a:ext cx="4427991" cy="1106426"/>
          </a:xfrm>
          <a:prstGeom prst="rect">
            <a:avLst/>
          </a:prstGeom>
        </p:spPr>
      </p:pic>
      <p:pic>
        <p:nvPicPr>
          <p:cNvPr id="14" name="Picture 13" descr="A collage of a group of people&#10;&#10;AI-generated content may be incorrect.">
            <a:extLst>
              <a:ext uri="{FF2B5EF4-FFF2-40B4-BE49-F238E27FC236}">
                <a16:creationId xmlns:a16="http://schemas.microsoft.com/office/drawing/2014/main" id="{8677BB90-D35F-8BEF-7065-990DD626681F}"/>
              </a:ext>
            </a:extLst>
          </p:cNvPr>
          <p:cNvPicPr>
            <a:picLocks noChangeAspect="1"/>
          </p:cNvPicPr>
          <p:nvPr/>
        </p:nvPicPr>
        <p:blipFill>
          <a:blip r:embed="rId5"/>
          <a:stretch>
            <a:fillRect/>
          </a:stretch>
        </p:blipFill>
        <p:spPr>
          <a:xfrm>
            <a:off x="2941292" y="3016477"/>
            <a:ext cx="3543307" cy="1771196"/>
          </a:xfrm>
          <a:prstGeom prst="rect">
            <a:avLst/>
          </a:prstGeom>
        </p:spPr>
      </p:pic>
    </p:spTree>
    <p:extLst>
      <p:ext uri="{BB962C8B-B14F-4D97-AF65-F5344CB8AC3E}">
        <p14:creationId xmlns:p14="http://schemas.microsoft.com/office/powerpoint/2010/main" val="225359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randombar(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563BE-C9A3-F024-2F7E-A1CB3A86904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E082EBE-43B8-98A3-6E2B-7D55F0E23F63}"/>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Results - QM9 graphs with Gaussian </a:t>
            </a:r>
            <a:r>
              <a:rPr lang="en-US" sz="2400" b="0" i="1" dirty="0" err="1"/>
              <a:t>DiGress</a:t>
            </a:r>
            <a:r>
              <a:rPr lang="en-US" sz="2400" b="0" i="1" dirty="0"/>
              <a:t> </a:t>
            </a:r>
            <a:r>
              <a:rPr lang="en-US" sz="2400" b="0" i="1" dirty="0">
                <a:solidFill>
                  <a:schemeClr val="accent1"/>
                </a:solidFill>
              </a:rPr>
              <a:t>[18]</a:t>
            </a:r>
            <a:r>
              <a:rPr lang="en-US" sz="2400" b="0" i="1" dirty="0"/>
              <a:t> and </a:t>
            </a:r>
            <a:r>
              <a:rPr lang="en-US" sz="2400" b="0" i="1" dirty="0" err="1"/>
              <a:t>MultiProx</a:t>
            </a:r>
            <a:endParaRPr lang="en-GB" sz="2400" b="0" i="1" dirty="0"/>
          </a:p>
        </p:txBody>
      </p:sp>
      <p:sp>
        <p:nvSpPr>
          <p:cNvPr id="5" name="Date Placeholder 4">
            <a:extLst>
              <a:ext uri="{FF2B5EF4-FFF2-40B4-BE49-F238E27FC236}">
                <a16:creationId xmlns:a16="http://schemas.microsoft.com/office/drawing/2014/main" id="{9AED6044-95DF-1888-D2EB-6A845A2BAE6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C1E26E09-846A-76C7-24EC-EB05183BAE09}"/>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546033A-3D6A-51A2-3BE3-53AEFB7C2F8D}"/>
              </a:ext>
            </a:extLst>
          </p:cNvPr>
          <p:cNvSpPr>
            <a:spLocks noGrp="1"/>
          </p:cNvSpPr>
          <p:nvPr>
            <p:ph type="sldNum" sz="quarter" idx="12"/>
          </p:nvPr>
        </p:nvSpPr>
        <p:spPr/>
        <p:txBody>
          <a:bodyPr/>
          <a:lstStyle/>
          <a:p>
            <a:fld id="{E1E1CD7C-2161-7D43-862E-CE4C333CD873}" type="slidenum">
              <a:rPr lang="fr-FR" smtClean="0"/>
              <a:pPr/>
              <a:t>63</a:t>
            </a:fld>
            <a:endParaRPr lang="fr-FR" dirty="0"/>
          </a:p>
        </p:txBody>
      </p:sp>
      <p:pic>
        <p:nvPicPr>
          <p:cNvPr id="2" name="Content Placeholder 1" descr="A group of small black and red symbols&#10;&#10;AI-generated content may be incorrect.">
            <a:extLst>
              <a:ext uri="{FF2B5EF4-FFF2-40B4-BE49-F238E27FC236}">
                <a16:creationId xmlns:a16="http://schemas.microsoft.com/office/drawing/2014/main" id="{36FC7E3C-715E-4733-D618-C74D022A1C61}"/>
              </a:ext>
            </a:extLst>
          </p:cNvPr>
          <p:cNvPicPr>
            <a:picLocks noGrp="1" noChangeAspect="1"/>
          </p:cNvPicPr>
          <p:nvPr>
            <p:ph idx="1"/>
          </p:nvPr>
        </p:nvPicPr>
        <p:blipFill>
          <a:blip r:embed="rId3"/>
          <a:stretch>
            <a:fillRect/>
          </a:stretch>
        </p:blipFill>
        <p:spPr>
          <a:xfrm>
            <a:off x="904875" y="1977152"/>
            <a:ext cx="7726363" cy="2317908"/>
          </a:xfrm>
          <a:prstGeom prst="rect">
            <a:avLst/>
          </a:prstGeom>
        </p:spPr>
      </p:pic>
    </p:spTree>
    <p:extLst>
      <p:ext uri="{BB962C8B-B14F-4D97-AF65-F5344CB8AC3E}">
        <p14:creationId xmlns:p14="http://schemas.microsoft.com/office/powerpoint/2010/main" val="309642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407381-7935-1A6B-E0F0-07CE5B4A9A3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FA8CA73-D5C7-F855-A3D7-3990540A7B8F}"/>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Results - QM9 graphs with Gaussian </a:t>
            </a:r>
            <a:r>
              <a:rPr lang="en-US" sz="2400" b="0" i="1" dirty="0" err="1"/>
              <a:t>DiGress</a:t>
            </a:r>
            <a:r>
              <a:rPr lang="en-US" sz="2400" b="0" i="1" dirty="0"/>
              <a:t> </a:t>
            </a:r>
            <a:r>
              <a:rPr lang="en-US" sz="2400" b="0" i="1" dirty="0">
                <a:solidFill>
                  <a:schemeClr val="accent1"/>
                </a:solidFill>
              </a:rPr>
              <a:t>[18]</a:t>
            </a:r>
            <a:r>
              <a:rPr lang="en-US" sz="2400" b="0" i="1" dirty="0"/>
              <a:t> and </a:t>
            </a:r>
            <a:r>
              <a:rPr lang="en-US" sz="2400" b="0" i="1" dirty="0" err="1"/>
              <a:t>MultiProx</a:t>
            </a:r>
            <a:endParaRPr lang="en-GB" sz="2400" b="0" i="1" dirty="0"/>
          </a:p>
        </p:txBody>
      </p:sp>
      <p:sp>
        <p:nvSpPr>
          <p:cNvPr id="5" name="Date Placeholder 4">
            <a:extLst>
              <a:ext uri="{FF2B5EF4-FFF2-40B4-BE49-F238E27FC236}">
                <a16:creationId xmlns:a16="http://schemas.microsoft.com/office/drawing/2014/main" id="{58B2401A-4F74-3EA1-3BE6-7E9AC3624E5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7445EBE5-D667-F066-DDCC-61033C4D6EE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D7CC459F-AD88-4419-6823-D3A43E2A4C8C}"/>
              </a:ext>
            </a:extLst>
          </p:cNvPr>
          <p:cNvSpPr>
            <a:spLocks noGrp="1"/>
          </p:cNvSpPr>
          <p:nvPr>
            <p:ph type="sldNum" sz="quarter" idx="12"/>
          </p:nvPr>
        </p:nvSpPr>
        <p:spPr/>
        <p:txBody>
          <a:bodyPr/>
          <a:lstStyle/>
          <a:p>
            <a:fld id="{E1E1CD7C-2161-7D43-862E-CE4C333CD873}" type="slidenum">
              <a:rPr lang="fr-FR" smtClean="0"/>
              <a:pPr/>
              <a:t>64</a:t>
            </a:fld>
            <a:endParaRPr lang="fr-FR" dirty="0"/>
          </a:p>
        </p:txBody>
      </p:sp>
      <p:sp>
        <p:nvSpPr>
          <p:cNvPr id="3" name="Content Placeholder 2">
            <a:extLst>
              <a:ext uri="{FF2B5EF4-FFF2-40B4-BE49-F238E27FC236}">
                <a16:creationId xmlns:a16="http://schemas.microsoft.com/office/drawing/2014/main" id="{0D11E286-F5FE-FD6F-3139-705832538142}"/>
              </a:ext>
            </a:extLst>
          </p:cNvPr>
          <p:cNvSpPr>
            <a:spLocks noGrp="1"/>
          </p:cNvSpPr>
          <p:nvPr>
            <p:ph idx="1"/>
          </p:nvPr>
        </p:nvSpPr>
        <p:spPr>
          <a:xfrm>
            <a:off x="904875" y="1407201"/>
            <a:ext cx="7726363" cy="3497540"/>
          </a:xfrm>
        </p:spPr>
        <p:txBody>
          <a:bodyPr anchor="ctr"/>
          <a:lstStyle/>
          <a:p>
            <a:r>
              <a:rPr lang="en-US" dirty="0">
                <a:latin typeface="Franklin Gothic Demi Cond" panose="020B0706030402020204" pitchFamily="34" charset="0"/>
              </a:rPr>
              <a:t>Longer warm-up period</a:t>
            </a:r>
          </a:p>
          <a:p>
            <a:r>
              <a:rPr lang="en-US" dirty="0">
                <a:latin typeface="Franklin Gothic Demi Cond" panose="020B0706030402020204" pitchFamily="34" charset="0"/>
              </a:rPr>
              <a:t>Expressive, but sample uniqueness falls across chains (mode collapse)</a:t>
            </a:r>
          </a:p>
          <a:p>
            <a:r>
              <a:rPr lang="en-US" dirty="0">
                <a:latin typeface="Franklin Gothic Demi Cond" panose="020B0706030402020204" pitchFamily="34" charset="0"/>
              </a:rPr>
              <a:t>Discreteness of distribution violates assumptions</a:t>
            </a:r>
          </a:p>
          <a:p>
            <a:pPr lvl="1"/>
            <a:r>
              <a:rPr lang="en-US" dirty="0">
                <a:latin typeface="Franklin Gothic Demi Cond" panose="020B0706030402020204" pitchFamily="34" charset="0"/>
              </a:rPr>
              <a:t>Conjecture: noise reduction via graph averaging is less reliable</a:t>
            </a:r>
            <a:endParaRPr lang="en-GB" dirty="0">
              <a:latin typeface="Franklin Gothic Demi Cond" panose="020B0706030402020204" pitchFamily="34" charset="0"/>
            </a:endParaRPr>
          </a:p>
        </p:txBody>
      </p:sp>
    </p:spTree>
    <p:extLst>
      <p:ext uri="{BB962C8B-B14F-4D97-AF65-F5344CB8AC3E}">
        <p14:creationId xmlns:p14="http://schemas.microsoft.com/office/powerpoint/2010/main" val="387220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AE76E-F7BA-E437-A674-5681DC3AE0F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C3BF72-0D0B-9D65-7ECC-EE7815C0812D}"/>
              </a:ext>
            </a:extLst>
          </p:cNvPr>
          <p:cNvSpPr>
            <a:spLocks noGrp="1"/>
          </p:cNvSpPr>
          <p:nvPr>
            <p:ph type="title"/>
          </p:nvPr>
        </p:nvSpPr>
        <p:spPr>
          <a:xfrm>
            <a:off x="904875" y="131032"/>
            <a:ext cx="7726363" cy="1072753"/>
          </a:xfrm>
        </p:spPr>
        <p:txBody>
          <a:bodyPr>
            <a:normAutofit fontScale="90000"/>
          </a:bodyPr>
          <a:lstStyle/>
          <a:p>
            <a:r>
              <a:rPr lang="en-US" sz="3600" dirty="0"/>
              <a:t>4.3	Multi-measurement Diffusion Methods</a:t>
            </a:r>
            <a:br>
              <a:rPr lang="en-US" sz="3600" dirty="0"/>
            </a:br>
            <a:r>
              <a:rPr lang="en-US" sz="2700" b="0" i="1" dirty="0"/>
              <a:t>*The </a:t>
            </a:r>
            <a:r>
              <a:rPr lang="en-US" sz="2700" b="0" i="1" dirty="0" err="1"/>
              <a:t>MultiProxAn</a:t>
            </a:r>
            <a:r>
              <a:rPr lang="en-US" sz="2700" b="0" i="1" dirty="0"/>
              <a:t> sampler</a:t>
            </a:r>
            <a:br>
              <a:rPr lang="en-US" dirty="0"/>
            </a:br>
            <a:endParaRPr lang="en-GB" sz="2400" b="0" i="1" dirty="0"/>
          </a:p>
        </p:txBody>
      </p:sp>
      <p:sp>
        <p:nvSpPr>
          <p:cNvPr id="5" name="Date Placeholder 4">
            <a:extLst>
              <a:ext uri="{FF2B5EF4-FFF2-40B4-BE49-F238E27FC236}">
                <a16:creationId xmlns:a16="http://schemas.microsoft.com/office/drawing/2014/main" id="{EC16BEFD-0EFD-453F-56CD-EBAEBB88453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B75ECCDC-1B2C-7C46-1732-1A0000F610A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4FC1F00-5404-B24E-E581-5ADC7AFDFD4B}"/>
              </a:ext>
            </a:extLst>
          </p:cNvPr>
          <p:cNvSpPr>
            <a:spLocks noGrp="1"/>
          </p:cNvSpPr>
          <p:nvPr>
            <p:ph type="sldNum" sz="quarter" idx="12"/>
          </p:nvPr>
        </p:nvSpPr>
        <p:spPr/>
        <p:txBody>
          <a:bodyPr/>
          <a:lstStyle/>
          <a:p>
            <a:fld id="{E1E1CD7C-2161-7D43-862E-CE4C333CD873}" type="slidenum">
              <a:rPr lang="fr-FR" smtClean="0"/>
              <a:pPr/>
              <a:t>65</a:t>
            </a:fld>
            <a:endParaRPr lang="fr-FR" dirty="0"/>
          </a:p>
        </p:txBody>
      </p:sp>
      <p:pic>
        <p:nvPicPr>
          <p:cNvPr id="9" name="Content Placeholder 8" descr="A screenshot of a computer&#10;&#10;AI-generated content may be incorrect.">
            <a:extLst>
              <a:ext uri="{FF2B5EF4-FFF2-40B4-BE49-F238E27FC236}">
                <a16:creationId xmlns:a16="http://schemas.microsoft.com/office/drawing/2014/main" id="{5F1B94FA-5D63-7110-F6AB-8680EE5ACDC7}"/>
              </a:ext>
            </a:extLst>
          </p:cNvPr>
          <p:cNvPicPr>
            <a:picLocks noGrp="1" noChangeAspect="1"/>
          </p:cNvPicPr>
          <p:nvPr>
            <p:ph idx="1"/>
          </p:nvPr>
        </p:nvPicPr>
        <p:blipFill>
          <a:blip r:embed="rId3"/>
          <a:stretch>
            <a:fillRect/>
          </a:stretch>
        </p:blipFill>
        <p:spPr>
          <a:xfrm>
            <a:off x="1218074" y="1563688"/>
            <a:ext cx="7099964" cy="3386137"/>
          </a:xfrm>
        </p:spPr>
      </p:pic>
    </p:spTree>
    <p:extLst>
      <p:ext uri="{BB962C8B-B14F-4D97-AF65-F5344CB8AC3E}">
        <p14:creationId xmlns:p14="http://schemas.microsoft.com/office/powerpoint/2010/main" val="256881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3642A-2864-4A19-B86B-F59002DC055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700FCC7-CC09-F3FD-30C9-405E88829D55}"/>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Results - QM9 graphs with Gaussian </a:t>
            </a:r>
            <a:r>
              <a:rPr lang="en-US" sz="2400" b="0" i="1" dirty="0" err="1"/>
              <a:t>DiGress</a:t>
            </a:r>
            <a:r>
              <a:rPr lang="en-US" sz="2400" b="0" i="1" dirty="0"/>
              <a:t> </a:t>
            </a:r>
            <a:r>
              <a:rPr lang="en-US" sz="2400" b="0" i="1" dirty="0">
                <a:solidFill>
                  <a:schemeClr val="accent1"/>
                </a:solidFill>
              </a:rPr>
              <a:t>[18]</a:t>
            </a:r>
            <a:r>
              <a:rPr lang="en-US" sz="2400" b="0" i="1" dirty="0"/>
              <a:t> and </a:t>
            </a:r>
            <a:r>
              <a:rPr lang="en-US" sz="2400" b="0" i="1" dirty="0" err="1"/>
              <a:t>MultiProxAn</a:t>
            </a:r>
            <a:endParaRPr lang="en-GB" sz="2400" b="0" i="1" dirty="0"/>
          </a:p>
        </p:txBody>
      </p:sp>
      <p:sp>
        <p:nvSpPr>
          <p:cNvPr id="5" name="Date Placeholder 4">
            <a:extLst>
              <a:ext uri="{FF2B5EF4-FFF2-40B4-BE49-F238E27FC236}">
                <a16:creationId xmlns:a16="http://schemas.microsoft.com/office/drawing/2014/main" id="{D943D5D1-8AA2-A8E0-A17A-8FFBE4FAFE3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8E85A50D-1517-E079-0C7C-E9CC549CD3B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4E88A44-9F95-2294-F296-B594DDFAC6D3}"/>
              </a:ext>
            </a:extLst>
          </p:cNvPr>
          <p:cNvSpPr>
            <a:spLocks noGrp="1"/>
          </p:cNvSpPr>
          <p:nvPr>
            <p:ph type="sldNum" sz="quarter" idx="12"/>
          </p:nvPr>
        </p:nvSpPr>
        <p:spPr/>
        <p:txBody>
          <a:bodyPr/>
          <a:lstStyle/>
          <a:p>
            <a:fld id="{E1E1CD7C-2161-7D43-862E-CE4C333CD873}" type="slidenum">
              <a:rPr lang="fr-FR" smtClean="0"/>
              <a:pPr/>
              <a:t>66</a:t>
            </a:fld>
            <a:endParaRPr lang="fr-FR" dirty="0"/>
          </a:p>
        </p:txBody>
      </p:sp>
      <p:pic>
        <p:nvPicPr>
          <p:cNvPr id="4" name="Content Placeholder 3" descr="A group of symbols on a white background&#10;&#10;AI-generated content may be incorrect.">
            <a:extLst>
              <a:ext uri="{FF2B5EF4-FFF2-40B4-BE49-F238E27FC236}">
                <a16:creationId xmlns:a16="http://schemas.microsoft.com/office/drawing/2014/main" id="{F122E852-B0B8-D10B-A6E0-E1EABF437765}"/>
              </a:ext>
            </a:extLst>
          </p:cNvPr>
          <p:cNvPicPr>
            <a:picLocks noGrp="1" noChangeAspect="1"/>
          </p:cNvPicPr>
          <p:nvPr>
            <p:ph idx="1"/>
          </p:nvPr>
        </p:nvPicPr>
        <p:blipFill>
          <a:blip r:embed="rId3"/>
          <a:stretch>
            <a:fillRect/>
          </a:stretch>
        </p:blipFill>
        <p:spPr>
          <a:xfrm>
            <a:off x="904875" y="2097802"/>
            <a:ext cx="7726363" cy="2317908"/>
          </a:xfrm>
        </p:spPr>
      </p:pic>
    </p:spTree>
    <p:extLst>
      <p:ext uri="{BB962C8B-B14F-4D97-AF65-F5344CB8AC3E}">
        <p14:creationId xmlns:p14="http://schemas.microsoft.com/office/powerpoint/2010/main" val="206402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ADCB2-FCA7-7902-9CF8-E55AF5BCB75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9F688284-CF1E-E466-AE2A-DD2BE6CA6383}"/>
                  </a:ext>
                </a:extLst>
              </p:cNvPr>
              <p:cNvSpPr>
                <a:spLocks noGrp="1"/>
              </p:cNvSpPr>
              <p:nvPr>
                <p:ph sz="half" idx="1"/>
              </p:nvPr>
            </p:nvSpPr>
            <p:spPr>
              <a:xfrm>
                <a:off x="904875" y="1563688"/>
                <a:ext cx="3886934" cy="3263504"/>
              </a:xfrm>
            </p:spPr>
            <p:txBody>
              <a:bodyPr anchor="ctr"/>
              <a:lstStyle/>
              <a:p>
                <a:r>
                  <a:rPr lang="en-US" dirty="0">
                    <a:latin typeface="+mj-lt"/>
                  </a:rPr>
                  <a:t>Comparison to baseline in generating 100k molecules</a:t>
                </a:r>
              </a:p>
              <a:p>
                <a:r>
                  <a:rPr lang="en-US" dirty="0">
                    <a:latin typeface="+mj-lt"/>
                  </a:rPr>
                  <a:t>More annealing steps always allow to match baseline performance closer, but for a computational cost</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𝑇</m:t>
                        </m:r>
                      </m:num>
                      <m:den>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den>
                    </m:f>
                  </m:oMath>
                </a14:m>
                <a:r>
                  <a:rPr lang="en-GB" dirty="0">
                    <a:latin typeface="+mj-lt"/>
                  </a:rPr>
                  <a:t> acceleration factor for a memory complexity increase by a factor of </a:t>
                </a:r>
                <a14:m>
                  <m:oMath xmlns:m="http://schemas.openxmlformats.org/officeDocument/2006/math">
                    <m:r>
                      <a:rPr lang="en-US" b="0" i="1" smtClean="0">
                        <a:latin typeface="Cambria Math" panose="02040503050406030204" pitchFamily="18" charset="0"/>
                      </a:rPr>
                      <m:t>𝑚</m:t>
                    </m:r>
                  </m:oMath>
                </a14:m>
                <a:endParaRPr lang="en-GB" dirty="0">
                  <a:latin typeface="+mj-lt"/>
                </a:endParaRPr>
              </a:p>
            </p:txBody>
          </p:sp>
        </mc:Choice>
        <mc:Fallback xmlns="">
          <p:sp>
            <p:nvSpPr>
              <p:cNvPr id="9" name="Content Placeholder 8">
                <a:extLst>
                  <a:ext uri="{FF2B5EF4-FFF2-40B4-BE49-F238E27FC236}">
                    <a16:creationId xmlns:a16="http://schemas.microsoft.com/office/drawing/2014/main" id="{9F688284-CF1E-E466-AE2A-DD2BE6CA6383}"/>
                  </a:ext>
                </a:extLst>
              </p:cNvPr>
              <p:cNvSpPr>
                <a:spLocks noGrp="1" noRot="1" noChangeAspect="1" noMove="1" noResize="1" noEditPoints="1" noAdjustHandles="1" noChangeArrowheads="1" noChangeShapeType="1" noTextEdit="1"/>
              </p:cNvSpPr>
              <p:nvPr>
                <p:ph sz="half" idx="1"/>
              </p:nvPr>
            </p:nvSpPr>
            <p:spPr>
              <a:xfrm>
                <a:off x="904875" y="1563688"/>
                <a:ext cx="3886934" cy="3263504"/>
              </a:xfrm>
              <a:blipFill>
                <a:blip r:embed="rId3"/>
                <a:stretch>
                  <a:fillRect r="-1254"/>
                </a:stretch>
              </a:blipFill>
            </p:spPr>
            <p:txBody>
              <a:bodyPr/>
              <a:lstStyle/>
              <a:p>
                <a:r>
                  <a:rPr lang="en-GB">
                    <a:noFill/>
                  </a:rPr>
                  <a:t> </a:t>
                </a:r>
              </a:p>
            </p:txBody>
          </p:sp>
        </mc:Fallback>
      </mc:AlternateContent>
      <p:pic>
        <p:nvPicPr>
          <p:cNvPr id="12" name="Content Placeholder 11" descr="A table with numbers and text&#10;&#10;AI-generated content may be incorrect.">
            <a:extLst>
              <a:ext uri="{FF2B5EF4-FFF2-40B4-BE49-F238E27FC236}">
                <a16:creationId xmlns:a16="http://schemas.microsoft.com/office/drawing/2014/main" id="{B02DDB34-93E5-7B29-AD0C-EC517F2B4654}"/>
              </a:ext>
            </a:extLst>
          </p:cNvPr>
          <p:cNvPicPr>
            <a:picLocks noGrp="1" noChangeAspect="1"/>
          </p:cNvPicPr>
          <p:nvPr>
            <p:ph sz="half" idx="2"/>
          </p:nvPr>
        </p:nvPicPr>
        <p:blipFill>
          <a:blip r:embed="rId4"/>
          <a:stretch>
            <a:fillRect/>
          </a:stretch>
        </p:blipFill>
        <p:spPr>
          <a:xfrm>
            <a:off x="4959350" y="2205487"/>
            <a:ext cx="3671888" cy="1980302"/>
          </a:xfrm>
        </p:spPr>
      </p:pic>
      <p:sp>
        <p:nvSpPr>
          <p:cNvPr id="8" name="Title 7">
            <a:extLst>
              <a:ext uri="{FF2B5EF4-FFF2-40B4-BE49-F238E27FC236}">
                <a16:creationId xmlns:a16="http://schemas.microsoft.com/office/drawing/2014/main" id="{28DBAFDF-1817-5602-3BD4-83C4E41A28BD}"/>
              </a:ext>
            </a:extLst>
          </p:cNvPr>
          <p:cNvSpPr>
            <a:spLocks noGrp="1"/>
          </p:cNvSpPr>
          <p:nvPr>
            <p:ph type="title"/>
          </p:nvPr>
        </p:nvSpPr>
        <p:spPr>
          <a:xfrm>
            <a:off x="904875" y="131032"/>
            <a:ext cx="7726363" cy="1072753"/>
          </a:xfrm>
        </p:spPr>
        <p:txBody>
          <a:bodyPr>
            <a:normAutofit/>
          </a:bodyPr>
          <a:lstStyle/>
          <a:p>
            <a:r>
              <a:rPr lang="en-US" dirty="0"/>
              <a:t>4.3	Multi-measurement Diffusion Methods</a:t>
            </a:r>
            <a:br>
              <a:rPr lang="en-US" dirty="0"/>
            </a:br>
            <a:r>
              <a:rPr lang="en-US" sz="2400" b="0" i="1" dirty="0"/>
              <a:t>Results - QM9 graphs with Gaussian </a:t>
            </a:r>
            <a:r>
              <a:rPr lang="en-US" sz="2400" b="0" i="1" dirty="0" err="1"/>
              <a:t>DiGress</a:t>
            </a:r>
            <a:r>
              <a:rPr lang="en-US" sz="2400" b="0" i="1" dirty="0"/>
              <a:t> </a:t>
            </a:r>
            <a:r>
              <a:rPr lang="en-US" sz="2400" b="0" i="1" dirty="0">
                <a:solidFill>
                  <a:schemeClr val="accent1"/>
                </a:solidFill>
              </a:rPr>
              <a:t>[18]</a:t>
            </a:r>
            <a:r>
              <a:rPr lang="en-US" sz="2400" b="0" i="1" dirty="0"/>
              <a:t> and </a:t>
            </a:r>
            <a:r>
              <a:rPr lang="en-US" sz="2400" b="0" i="1" dirty="0" err="1"/>
              <a:t>MultiProxAn</a:t>
            </a:r>
            <a:endParaRPr lang="en-GB" sz="2400" b="0" i="1" dirty="0"/>
          </a:p>
        </p:txBody>
      </p:sp>
      <p:sp>
        <p:nvSpPr>
          <p:cNvPr id="5" name="Date Placeholder 4">
            <a:extLst>
              <a:ext uri="{FF2B5EF4-FFF2-40B4-BE49-F238E27FC236}">
                <a16:creationId xmlns:a16="http://schemas.microsoft.com/office/drawing/2014/main" id="{73F2B06D-EDCD-A5E0-ED71-C1320C037D5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88C41FE6-3A61-CBCC-9C07-F49B4807010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14102AD-CF5C-A386-000B-14909BFDF3C6}"/>
              </a:ext>
            </a:extLst>
          </p:cNvPr>
          <p:cNvSpPr>
            <a:spLocks noGrp="1"/>
          </p:cNvSpPr>
          <p:nvPr>
            <p:ph type="sldNum" sz="quarter" idx="12"/>
          </p:nvPr>
        </p:nvSpPr>
        <p:spPr/>
        <p:txBody>
          <a:bodyPr/>
          <a:lstStyle/>
          <a:p>
            <a:fld id="{E1E1CD7C-2161-7D43-862E-CE4C333CD873}" type="slidenum">
              <a:rPr lang="fr-FR" smtClean="0"/>
              <a:pPr/>
              <a:t>67</a:t>
            </a:fld>
            <a:endParaRPr lang="fr-FR" dirty="0"/>
          </a:p>
        </p:txBody>
      </p:sp>
    </p:spTree>
    <p:extLst>
      <p:ext uri="{BB962C8B-B14F-4D97-AF65-F5344CB8AC3E}">
        <p14:creationId xmlns:p14="http://schemas.microsoft.com/office/powerpoint/2010/main" val="305953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randombar(horizontal)">
                                      <p:cBhvr>
                                        <p:cTn id="12" dur="500"/>
                                        <p:tgtEl>
                                          <p:spTgt spid="9">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5" dur="500"/>
                                        <p:tgtEl>
                                          <p:spTgt spid="9">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8"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16C58-B13A-6D70-7E1B-16E347AFB28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2B1F8ED-A635-26A4-FBD9-A0DDFCDCCCDD}"/>
                  </a:ext>
                </a:extLst>
              </p:cNvPr>
              <p:cNvSpPr>
                <a:spLocks noGrp="1"/>
              </p:cNvSpPr>
              <p:nvPr>
                <p:ph idx="1"/>
              </p:nvPr>
            </p:nvSpPr>
            <p:spPr/>
            <p:txBody>
              <a:bodyPr anchor="ctr"/>
              <a:lstStyle/>
              <a:p>
                <a:r>
                  <a:rPr lang="en-US" dirty="0">
                    <a:latin typeface="+mj-lt"/>
                  </a:rPr>
                  <a:t>Why no generation experiments for knowledge graphs?</a:t>
                </a:r>
              </a:p>
              <a:p>
                <a:pPr lvl="1"/>
                <a:r>
                  <a:rPr lang="en-US" dirty="0">
                    <a:latin typeface="+mj-lt"/>
                  </a:rPr>
                  <a:t>Knowledge base data is curated and follows schemas</a:t>
                </a:r>
              </a:p>
              <a:p>
                <a:pPr lvl="1"/>
                <a:r>
                  <a:rPr lang="en-US" dirty="0">
                    <a:latin typeface="+mj-lt"/>
                  </a:rPr>
                  <a:t>No inherent stochasticity, thus no distribution of graph structures to learn</a:t>
                </a:r>
              </a:p>
              <a:p>
                <a:pPr lvl="1"/>
                <a:r>
                  <a:rPr lang="en-US" dirty="0">
                    <a:latin typeface="+mj-lt"/>
                  </a:rPr>
                  <a:t>Focus on reasoning for new real knowledge instead of generating fake facts</a:t>
                </a:r>
              </a:p>
              <a:p>
                <a:r>
                  <a:rPr lang="en-GB" dirty="0">
                    <a:latin typeface="+mj-lt"/>
                  </a:rPr>
                  <a:t>“No stochasticity”, well…</a:t>
                </a:r>
              </a:p>
              <a:p>
                <a:pPr lvl="1"/>
                <a:r>
                  <a:rPr lang="en-GB" dirty="0">
                    <a:latin typeface="+mj-lt"/>
                  </a:rPr>
                  <a:t>In practice many anomalies are present in knowledge bases</a:t>
                </a:r>
              </a:p>
              <a:p>
                <a:pPr lvl="1"/>
                <a:r>
                  <a:rPr lang="en-GB" dirty="0">
                    <a:latin typeface="+mj-lt"/>
                  </a:rPr>
                  <a:t>False positive and false negative relation triplets</a:t>
                </a:r>
              </a:p>
              <a:p>
                <a:pPr lvl="1"/>
                <a:r>
                  <a:rPr lang="en-GB" dirty="0">
                    <a:latin typeface="+mj-lt"/>
                  </a:rPr>
                  <a:t>Causes: merging heterogeneous knowledge sources and AI-guided data injection</a:t>
                </a:r>
              </a:p>
              <a:p>
                <a:r>
                  <a:rPr lang="en-GB" dirty="0">
                    <a:latin typeface="+mj-lt"/>
                  </a:rPr>
                  <a:t>Setting - set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latin typeface="+mj-lt"/>
                  </a:rPr>
                  <a:t> blocks of the KG adjacency matrix as noisy subgraph input</a:t>
                </a:r>
              </a:p>
            </p:txBody>
          </p:sp>
        </mc:Choice>
        <mc:Fallback xmlns="">
          <p:sp>
            <p:nvSpPr>
              <p:cNvPr id="4" name="Content Placeholder 3">
                <a:extLst>
                  <a:ext uri="{FF2B5EF4-FFF2-40B4-BE49-F238E27FC236}">
                    <a16:creationId xmlns:a16="http://schemas.microsoft.com/office/drawing/2014/main" id="{C2B1F8ED-A635-26A4-FBD9-A0DDFCDCCCDD}"/>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E313BCF4-9868-6122-66AF-3B9B006FCE04}"/>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Motivation - Anomalous knowledge</a:t>
            </a:r>
            <a:endParaRPr lang="en-GB" sz="2400" b="0" i="1" dirty="0"/>
          </a:p>
        </p:txBody>
      </p:sp>
      <p:sp>
        <p:nvSpPr>
          <p:cNvPr id="5" name="Date Placeholder 4">
            <a:extLst>
              <a:ext uri="{FF2B5EF4-FFF2-40B4-BE49-F238E27FC236}">
                <a16:creationId xmlns:a16="http://schemas.microsoft.com/office/drawing/2014/main" id="{6C0602F6-B1B9-968E-0DFD-B0EA05ED4C13}"/>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5FB08F74-4264-62A8-51C2-020080A4871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CEF5403-D916-624A-23C9-10F78A62C8F8}"/>
              </a:ext>
            </a:extLst>
          </p:cNvPr>
          <p:cNvSpPr>
            <a:spLocks noGrp="1"/>
          </p:cNvSpPr>
          <p:nvPr>
            <p:ph type="sldNum" sz="quarter" idx="12"/>
          </p:nvPr>
        </p:nvSpPr>
        <p:spPr/>
        <p:txBody>
          <a:bodyPr/>
          <a:lstStyle/>
          <a:p>
            <a:fld id="{E1E1CD7C-2161-7D43-862E-CE4C333CD873}" type="slidenum">
              <a:rPr lang="fr-FR" smtClean="0"/>
              <a:pPr/>
              <a:t>68</a:t>
            </a:fld>
            <a:endParaRPr lang="fr-FR" dirty="0"/>
          </a:p>
        </p:txBody>
      </p:sp>
    </p:spTree>
    <p:extLst>
      <p:ext uri="{BB962C8B-B14F-4D97-AF65-F5344CB8AC3E}">
        <p14:creationId xmlns:p14="http://schemas.microsoft.com/office/powerpoint/2010/main" val="396866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0" dur="500"/>
                                        <p:tgtEl>
                                          <p:spTgt spid="4">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3" dur="500"/>
                                        <p:tgtEl>
                                          <p:spTgt spid="4">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1" dur="500"/>
                                        <p:tgtEl>
                                          <p:spTgt spid="4">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4" dur="500"/>
                                        <p:tgtEl>
                                          <p:spTgt spid="4">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7" dur="500"/>
                                        <p:tgtEl>
                                          <p:spTgt spid="4">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randombar(horizontal)">
                                      <p:cBhvr>
                                        <p:cTn id="30" dur="500"/>
                                        <p:tgtEl>
                                          <p:spTgt spid="4">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randombar(horizontal)">
                                      <p:cBhvr>
                                        <p:cTn id="3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2EA4F-76E6-3BC1-E2D3-8C35485C368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DA12107-02DD-4BCA-423C-7AE5A408D401}"/>
                  </a:ext>
                </a:extLst>
              </p:cNvPr>
              <p:cNvSpPr>
                <a:spLocks noGrp="1"/>
              </p:cNvSpPr>
              <p:nvPr>
                <p:ph idx="1"/>
              </p:nvPr>
            </p:nvSpPr>
            <p:spPr/>
            <p:txBody>
              <a:bodyPr anchor="ctr">
                <a:normAutofit/>
              </a:bodyPr>
              <a:lstStyle/>
              <a:p>
                <a:r>
                  <a:rPr lang="en-US" dirty="0">
                    <a:latin typeface="+mj-lt"/>
                  </a:rPr>
                  <a:t>Assume we have trained perfect link prediction and query answering models</a:t>
                </a:r>
              </a:p>
              <a:p>
                <a:r>
                  <a:rPr lang="en-US" dirty="0">
                    <a:latin typeface="+mj-lt"/>
                  </a:rPr>
                  <a:t>Let’s try to correct KG anomalies with reasoning</a:t>
                </a:r>
              </a:p>
              <a:p>
                <a:pPr marL="685800" lvl="1" indent="-342900">
                  <a:buFont typeface="+mj-lt"/>
                  <a:buAutoNum type="arabicPeriod"/>
                </a:pPr>
                <a:r>
                  <a:rPr lang="en-US" dirty="0">
                    <a:latin typeface="+mj-lt"/>
                  </a:rPr>
                  <a:t>Perform link prediction on the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𝑛</m:t>
                    </m:r>
                  </m:oMath>
                </a14:m>
                <a:r>
                  <a:rPr lang="en-US" dirty="0">
                    <a:latin typeface="+mj-lt"/>
                  </a:rPr>
                  <a:t> block, if no false entries stop; otherwise:</a:t>
                </a:r>
              </a:p>
              <a:p>
                <a:pPr marL="685800" lvl="1" indent="-342900">
                  <a:buFont typeface="+mj-lt"/>
                  <a:buAutoNum type="arabicPeriod"/>
                </a:pPr>
                <a:r>
                  <a:rPr lang="en-US" dirty="0">
                    <a:latin typeface="+mj-lt"/>
                  </a:rPr>
                  <a:t>Perform query answering to replace the incorrect entries with correct values, but now:</a:t>
                </a:r>
              </a:p>
              <a:p>
                <a:pPr marL="685800" lvl="1" indent="-342900">
                  <a:buFont typeface="+mj-lt"/>
                  <a:buAutoNum type="arabicPeriod"/>
                </a:pPr>
                <a:r>
                  <a:rPr lang="en-US" dirty="0">
                    <a:latin typeface="+mj-lt"/>
                  </a:rPr>
                  <a:t>Need to re-train the models on the block, requiring restarting everything from step 1</a:t>
                </a:r>
              </a:p>
            </p:txBody>
          </p:sp>
        </mc:Choice>
        <mc:Fallback xmlns="">
          <p:sp>
            <p:nvSpPr>
              <p:cNvPr id="4" name="Content Placeholder 3">
                <a:extLst>
                  <a:ext uri="{FF2B5EF4-FFF2-40B4-BE49-F238E27FC236}">
                    <a16:creationId xmlns:a16="http://schemas.microsoft.com/office/drawing/2014/main" id="{8DA12107-02DD-4BCA-423C-7AE5A408D4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F34E8B9B-7545-2889-2CC1-BE976B398E39}"/>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Motivation - Naïve ideas will not work</a:t>
            </a:r>
            <a:endParaRPr lang="en-GB" sz="2400" b="0" i="1" dirty="0"/>
          </a:p>
        </p:txBody>
      </p:sp>
      <p:sp>
        <p:nvSpPr>
          <p:cNvPr id="5" name="Date Placeholder 4">
            <a:extLst>
              <a:ext uri="{FF2B5EF4-FFF2-40B4-BE49-F238E27FC236}">
                <a16:creationId xmlns:a16="http://schemas.microsoft.com/office/drawing/2014/main" id="{767855A7-1476-594A-794C-E5822F4A8258}"/>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A3705BB9-06E4-E011-E963-5F2BC931009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8C4F0C9-E8AE-265E-B943-204F6E44D447}"/>
              </a:ext>
            </a:extLst>
          </p:cNvPr>
          <p:cNvSpPr>
            <a:spLocks noGrp="1"/>
          </p:cNvSpPr>
          <p:nvPr>
            <p:ph type="sldNum" sz="quarter" idx="12"/>
          </p:nvPr>
        </p:nvSpPr>
        <p:spPr/>
        <p:txBody>
          <a:bodyPr/>
          <a:lstStyle/>
          <a:p>
            <a:fld id="{E1E1CD7C-2161-7D43-862E-CE4C333CD873}" type="slidenum">
              <a:rPr lang="fr-FR" smtClean="0"/>
              <a:pPr/>
              <a:t>69</a:t>
            </a:fld>
            <a:endParaRPr lang="fr-FR" dirty="0"/>
          </a:p>
        </p:txBody>
      </p:sp>
    </p:spTree>
    <p:extLst>
      <p:ext uri="{BB962C8B-B14F-4D97-AF65-F5344CB8AC3E}">
        <p14:creationId xmlns:p14="http://schemas.microsoft.com/office/powerpoint/2010/main" val="341029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5" dur="500"/>
                                        <p:tgtEl>
                                          <p:spTgt spid="4">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8" dur="500"/>
                                        <p:tgtEl>
                                          <p:spTgt spid="4">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1F2C-AE4E-7E19-3E3E-34E2018FB2E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31591F4-ACBE-3232-0A94-90F112F708B3}"/>
                  </a:ext>
                </a:extLst>
              </p:cNvPr>
              <p:cNvSpPr>
                <a:spLocks noGrp="1"/>
              </p:cNvSpPr>
              <p:nvPr>
                <p:ph idx="1"/>
              </p:nvPr>
            </p:nvSpPr>
            <p:spPr/>
            <p:txBody>
              <a:bodyPr anchor="ctr">
                <a:normAutofit/>
              </a:bodyPr>
              <a:lstStyle/>
              <a:p>
                <a:r>
                  <a:rPr lang="en-US" dirty="0">
                    <a:latin typeface="+mj-lt"/>
                  </a:rPr>
                  <a:t>Naïve idea with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4</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1+</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𝑒</m:t>
                                </m:r>
                              </m:sub>
                            </m:sSub>
                          </m:e>
                        </m:d>
                      </m:e>
                    </m:d>
                  </m:oMath>
                </a14:m>
                <a:r>
                  <a:rPr lang="en-US" dirty="0">
                    <a:latin typeface="+mj-lt"/>
                  </a:rPr>
                  <a:t> cost…</a:t>
                </a:r>
              </a:p>
              <a:p>
                <a:pPr lvl="1"/>
                <a:r>
                  <a:rPr lang="en-US" dirty="0">
                    <a:latin typeface="+mj-lt"/>
                  </a:rPr>
                  <a:t>Only classification and ranking power over edges</a:t>
                </a:r>
              </a:p>
              <a:p>
                <a:pPr lvl="1"/>
                <a:r>
                  <a:rPr lang="en-US" dirty="0">
                    <a:latin typeface="+mj-lt"/>
                  </a:rPr>
                  <a:t>No estimation of noise level of the data</a:t>
                </a:r>
              </a:p>
              <a:p>
                <a:r>
                  <a:rPr lang="en-US" dirty="0">
                    <a:latin typeface="+mj-lt"/>
                  </a:rPr>
                  <a:t>Generative diffusion models</a:t>
                </a:r>
              </a:p>
              <a:p>
                <a:pPr lvl="1"/>
                <a:r>
                  <a:rPr lang="en-US" dirty="0">
                    <a:latin typeface="+mj-lt"/>
                  </a:rPr>
                  <a:t>Trained with data from diverse noise levels</a:t>
                </a:r>
              </a:p>
              <a:p>
                <a:pPr lvl="1"/>
                <a:r>
                  <a:rPr lang="en-US" dirty="0">
                    <a:latin typeface="+mj-lt"/>
                  </a:rPr>
                  <a:t>Structure matching only in expectation, but more scalable with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b="0" i="1" smtClean="0">
                                <a:latin typeface="Cambria Math" panose="02040503050406030204" pitchFamily="18" charset="0"/>
                              </a:rPr>
                              <m:t>𝑇</m:t>
                            </m:r>
                            <m:r>
                              <a:rPr lang="en-US" i="1">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latin typeface="+mj-lt"/>
                  </a:rPr>
                  <a:t> cost</a:t>
                </a:r>
              </a:p>
            </p:txBody>
          </p:sp>
        </mc:Choice>
        <mc:Fallback xmlns="">
          <p:sp>
            <p:nvSpPr>
              <p:cNvPr id="4" name="Content Placeholder 3">
                <a:extLst>
                  <a:ext uri="{FF2B5EF4-FFF2-40B4-BE49-F238E27FC236}">
                    <a16:creationId xmlns:a16="http://schemas.microsoft.com/office/drawing/2014/main" id="{F31591F4-ACBE-3232-0A94-90F112F708B3}"/>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C8306C10-F718-AB19-D739-D8415771FA05}"/>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Motivation - Naïve ideas will not work</a:t>
            </a:r>
            <a:endParaRPr lang="en-GB" sz="2400" b="0" i="1" dirty="0"/>
          </a:p>
        </p:txBody>
      </p:sp>
      <p:sp>
        <p:nvSpPr>
          <p:cNvPr id="5" name="Date Placeholder 4">
            <a:extLst>
              <a:ext uri="{FF2B5EF4-FFF2-40B4-BE49-F238E27FC236}">
                <a16:creationId xmlns:a16="http://schemas.microsoft.com/office/drawing/2014/main" id="{F1A27AE1-4B28-042A-4E61-92C71C736CE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4C7211C-6A37-0BC6-A648-6825F1FC535E}"/>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3E6F9EC-6CC1-F690-53F2-1A2827CD8FBE}"/>
              </a:ext>
            </a:extLst>
          </p:cNvPr>
          <p:cNvSpPr>
            <a:spLocks noGrp="1"/>
          </p:cNvSpPr>
          <p:nvPr>
            <p:ph type="sldNum" sz="quarter" idx="12"/>
          </p:nvPr>
        </p:nvSpPr>
        <p:spPr/>
        <p:txBody>
          <a:bodyPr/>
          <a:lstStyle/>
          <a:p>
            <a:fld id="{E1E1CD7C-2161-7D43-862E-CE4C333CD873}" type="slidenum">
              <a:rPr lang="fr-FR" smtClean="0"/>
              <a:pPr/>
              <a:t>70</a:t>
            </a:fld>
            <a:endParaRPr lang="fr-FR" dirty="0"/>
          </a:p>
        </p:txBody>
      </p:sp>
    </p:spTree>
    <p:extLst>
      <p:ext uri="{BB962C8B-B14F-4D97-AF65-F5344CB8AC3E}">
        <p14:creationId xmlns:p14="http://schemas.microsoft.com/office/powerpoint/2010/main" val="161995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0" dur="500"/>
                                        <p:tgtEl>
                                          <p:spTgt spid="4">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8" dur="500"/>
                                        <p:tgtEl>
                                          <p:spTgt spid="4">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1" dur="500"/>
                                        <p:tgtEl>
                                          <p:spTgt spid="4">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8D7520-3AFD-DBF0-1BBF-351FC363F45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20F9E6-C031-41D3-AADE-200493A73122}"/>
              </a:ext>
            </a:extLst>
          </p:cNvPr>
          <p:cNvSpPr>
            <a:spLocks noGrp="1"/>
          </p:cNvSpPr>
          <p:nvPr>
            <p:ph idx="1"/>
          </p:nvPr>
        </p:nvSpPr>
        <p:spPr/>
        <p:txBody>
          <a:bodyPr anchor="ctr">
            <a:normAutofit/>
          </a:bodyPr>
          <a:lstStyle/>
          <a:p>
            <a:r>
              <a:rPr lang="en-US" dirty="0" err="1">
                <a:latin typeface="+mj-lt"/>
              </a:rPr>
              <a:t>IntelliGraphs</a:t>
            </a:r>
            <a:r>
              <a:rPr lang="en-US" dirty="0">
                <a:latin typeface="+mj-lt"/>
              </a:rPr>
              <a:t> - </a:t>
            </a:r>
            <a:r>
              <a:rPr lang="en-US" dirty="0" err="1">
                <a:latin typeface="+mj-lt"/>
              </a:rPr>
              <a:t>Thanapalasingam</a:t>
            </a:r>
            <a:r>
              <a:rPr lang="en-US" dirty="0">
                <a:latin typeface="+mj-lt"/>
              </a:rPr>
              <a:t> et al. </a:t>
            </a:r>
            <a:r>
              <a:rPr lang="en-US" dirty="0">
                <a:solidFill>
                  <a:schemeClr val="accent1"/>
                </a:solidFill>
                <a:latin typeface="+mj-lt"/>
              </a:rPr>
              <a:t>[21]</a:t>
            </a:r>
          </a:p>
          <a:p>
            <a:pPr lvl="1"/>
            <a:r>
              <a:rPr lang="en-US" dirty="0">
                <a:latin typeface="+mj-lt"/>
              </a:rPr>
              <a:t>First approach in extending knowledge graph structure likelihood estimation from edges to whole subgraphs</a:t>
            </a:r>
          </a:p>
          <a:p>
            <a:pPr lvl="1"/>
            <a:r>
              <a:rPr lang="en-US" dirty="0">
                <a:latin typeface="+mj-lt"/>
              </a:rPr>
              <a:t>Negative result, provides some benchmarking datasets</a:t>
            </a:r>
          </a:p>
          <a:p>
            <a:r>
              <a:rPr lang="en-US" dirty="0">
                <a:latin typeface="+mj-lt"/>
              </a:rPr>
              <a:t>VGAEs - </a:t>
            </a:r>
            <a:r>
              <a:rPr lang="en-US" dirty="0" err="1">
                <a:latin typeface="+mj-lt"/>
              </a:rPr>
              <a:t>Mahmoudzadeh</a:t>
            </a:r>
            <a:r>
              <a:rPr lang="en-US" dirty="0">
                <a:latin typeface="+mj-lt"/>
              </a:rPr>
              <a:t> et al. </a:t>
            </a:r>
            <a:r>
              <a:rPr lang="en-US" dirty="0">
                <a:solidFill>
                  <a:schemeClr val="accent1"/>
                </a:solidFill>
                <a:latin typeface="+mj-lt"/>
              </a:rPr>
              <a:t>[26]</a:t>
            </a:r>
          </a:p>
          <a:p>
            <a:pPr lvl="1"/>
            <a:r>
              <a:rPr lang="en-US" dirty="0">
                <a:latin typeface="+mj-lt"/>
              </a:rPr>
              <a:t>VAEs for subgraph generation</a:t>
            </a:r>
          </a:p>
          <a:p>
            <a:pPr lvl="1"/>
            <a:r>
              <a:rPr lang="en-US" dirty="0">
                <a:latin typeface="+mj-lt"/>
              </a:rPr>
              <a:t>Still only evaluated for query answering without denoising experiments</a:t>
            </a:r>
          </a:p>
          <a:p>
            <a:r>
              <a:rPr lang="en-US" dirty="0" err="1">
                <a:latin typeface="+mj-lt"/>
              </a:rPr>
              <a:t>LLMsim</a:t>
            </a:r>
            <a:r>
              <a:rPr lang="en-US" dirty="0">
                <a:latin typeface="+mj-lt"/>
              </a:rPr>
              <a:t> - Dong et al. </a:t>
            </a:r>
            <a:r>
              <a:rPr lang="en-US" dirty="0">
                <a:solidFill>
                  <a:schemeClr val="accent1"/>
                </a:solidFill>
                <a:latin typeface="+mj-lt"/>
              </a:rPr>
              <a:t>[29]</a:t>
            </a:r>
          </a:p>
          <a:p>
            <a:pPr lvl="1"/>
            <a:r>
              <a:rPr lang="en-US" dirty="0">
                <a:latin typeface="+mj-lt"/>
              </a:rPr>
              <a:t>LLM-as-a-judge for knowledge triplet consistency across graph paths</a:t>
            </a:r>
          </a:p>
          <a:p>
            <a:pPr lvl="1"/>
            <a:r>
              <a:rPr lang="en-US" dirty="0">
                <a:latin typeface="+mj-lt"/>
              </a:rPr>
              <a:t>Requires textual entity and relation names, ignores graph structure checks</a:t>
            </a:r>
          </a:p>
        </p:txBody>
      </p:sp>
      <p:sp>
        <p:nvSpPr>
          <p:cNvPr id="8" name="Title 7">
            <a:extLst>
              <a:ext uri="{FF2B5EF4-FFF2-40B4-BE49-F238E27FC236}">
                <a16:creationId xmlns:a16="http://schemas.microsoft.com/office/drawing/2014/main" id="{79FA36B1-439B-9F0F-09F9-29BA9E5C5CF3}"/>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Related work</a:t>
            </a:r>
            <a:endParaRPr lang="en-GB" sz="2400" b="0" i="1" dirty="0"/>
          </a:p>
        </p:txBody>
      </p:sp>
      <p:sp>
        <p:nvSpPr>
          <p:cNvPr id="5" name="Date Placeholder 4">
            <a:extLst>
              <a:ext uri="{FF2B5EF4-FFF2-40B4-BE49-F238E27FC236}">
                <a16:creationId xmlns:a16="http://schemas.microsoft.com/office/drawing/2014/main" id="{773E2C7E-96F6-FC0D-B93B-57923276862C}"/>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99B5910-1A7C-034C-C2A6-9E049E79F39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ABABD2F-6D95-01F4-DF44-29920734D227}"/>
              </a:ext>
            </a:extLst>
          </p:cNvPr>
          <p:cNvSpPr>
            <a:spLocks noGrp="1"/>
          </p:cNvSpPr>
          <p:nvPr>
            <p:ph type="sldNum" sz="quarter" idx="12"/>
          </p:nvPr>
        </p:nvSpPr>
        <p:spPr/>
        <p:txBody>
          <a:bodyPr/>
          <a:lstStyle/>
          <a:p>
            <a:fld id="{E1E1CD7C-2161-7D43-862E-CE4C333CD873}" type="slidenum">
              <a:rPr lang="fr-FR" smtClean="0"/>
              <a:pPr/>
              <a:t>71</a:t>
            </a:fld>
            <a:endParaRPr lang="fr-FR" dirty="0"/>
          </a:p>
        </p:txBody>
      </p:sp>
    </p:spTree>
    <p:extLst>
      <p:ext uri="{BB962C8B-B14F-4D97-AF65-F5344CB8AC3E}">
        <p14:creationId xmlns:p14="http://schemas.microsoft.com/office/powerpoint/2010/main" val="341659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0" dur="500"/>
                                        <p:tgtEl>
                                          <p:spTgt spid="4">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8" dur="500"/>
                                        <p:tgtEl>
                                          <p:spTgt spid="4">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1" dur="500"/>
                                        <p:tgtEl>
                                          <p:spTgt spid="4">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9" dur="500"/>
                                        <p:tgtEl>
                                          <p:spTgt spid="4">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randombar(horizontal)">
                                      <p:cBhvr>
                                        <p:cTn id="32" dur="500"/>
                                        <p:tgtEl>
                                          <p:spTgt spid="4">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randombar(horizontal)">
                                      <p:cBhvr>
                                        <p:cTn id="3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23CA-72E8-9A67-8E11-0D67E728D22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1A7199E-7E77-4F8E-9F48-813E349EAF28}"/>
                  </a:ext>
                </a:extLst>
              </p:cNvPr>
              <p:cNvSpPr>
                <a:spLocks noGrp="1"/>
              </p:cNvSpPr>
              <p:nvPr>
                <p:ph sz="half" idx="1"/>
              </p:nvPr>
            </p:nvSpPr>
            <p:spPr/>
            <p:txBody>
              <a:bodyPr anchor="ctr">
                <a:normAutofit/>
              </a:bodyPr>
              <a:lstStyle/>
              <a:p>
                <a:r>
                  <a:rPr lang="en-US" dirty="0">
                    <a:latin typeface="+mj-lt"/>
                  </a:rPr>
                  <a:t>KG subgraph sources</a:t>
                </a:r>
              </a:p>
              <a:p>
                <a:pPr lvl="1"/>
                <a:r>
                  <a:rPr lang="en-US" dirty="0">
                    <a:latin typeface="+mj-lt"/>
                  </a:rPr>
                  <a:t>Freebase, WordNet, NELL (again)</a:t>
                </a:r>
              </a:p>
              <a:p>
                <a:pPr lvl="1"/>
                <a14:m>
                  <m:oMath xmlns:m="http://schemas.openxmlformats.org/officeDocument/2006/math">
                    <m:r>
                      <a:rPr lang="en-US" b="0" i="1" smtClean="0">
                        <a:latin typeface="Cambria Math" panose="02040503050406030204" pitchFamily="18" charset="0"/>
                      </a:rPr>
                      <m:t>𝒟</m:t>
                    </m:r>
                    <m:r>
                      <a:rPr lang="en-US" b="0" i="1" smtClean="0">
                        <a:latin typeface="Cambria Math" panose="02040503050406030204" pitchFamily="18" charset="0"/>
                      </a:rPr>
                      <m:t>=</m:t>
                    </m:r>
                    <m:r>
                      <m:rPr>
                        <m:lit/>
                      </m:rP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𝒗</m:t>
                            </m:r>
                          </m:e>
                          <m:sub>
                            <m:r>
                              <a:rPr lang="en-US" b="0" i="1" smtClean="0">
                                <a:latin typeface="Cambria Math" panose="02040503050406030204" pitchFamily="18" charset="0"/>
                              </a:rPr>
                              <m:t>𝑖</m:t>
                            </m:r>
                          </m:sub>
                        </m:sSub>
                      </m:e>
                    </m:d>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Entity-labeled subgraphs of a large adjacency matrix</a:t>
                </a:r>
              </a:p>
              <a:p>
                <a:r>
                  <a:rPr lang="en-US" dirty="0">
                    <a:latin typeface="+mj-lt"/>
                  </a:rPr>
                  <a:t>Subgraph sampling</a:t>
                </a:r>
              </a:p>
              <a:p>
                <a:pPr lvl="1"/>
                <a:r>
                  <a:rPr lang="en-US" dirty="0">
                    <a:latin typeface="+mj-lt"/>
                  </a:rPr>
                  <a:t>DFS topological sorting</a:t>
                </a:r>
              </a:p>
              <a:p>
                <a:pPr lvl="1"/>
                <a:r>
                  <a:rPr lang="en-US" dirty="0">
                    <a:latin typeface="+mj-lt"/>
                  </a:rPr>
                  <a:t>Spanning tree splitting</a:t>
                </a:r>
              </a:p>
            </p:txBody>
          </p:sp>
        </mc:Choice>
        <mc:Fallback xmlns="">
          <p:sp>
            <p:nvSpPr>
              <p:cNvPr id="2" name="Content Placeholder 1">
                <a:extLst>
                  <a:ext uri="{FF2B5EF4-FFF2-40B4-BE49-F238E27FC236}">
                    <a16:creationId xmlns:a16="http://schemas.microsoft.com/office/drawing/2014/main" id="{01A7199E-7E77-4F8E-9F48-813E349EAF28}"/>
                  </a:ext>
                </a:extLst>
              </p:cNvPr>
              <p:cNvSpPr>
                <a:spLocks noGrp="1" noRot="1" noChangeAspect="1" noMove="1" noResize="1" noEditPoints="1" noAdjustHandles="1" noChangeArrowheads="1" noChangeShapeType="1" noTextEdit="1"/>
              </p:cNvSpPr>
              <p:nvPr>
                <p:ph sz="half" idx="1"/>
              </p:nvPr>
            </p:nvSpPr>
            <p:spPr>
              <a:blipFill>
                <a:blip r:embed="rId3"/>
                <a:stretch>
                  <a:fillRect/>
                </a:stretch>
              </a:blipFill>
            </p:spPr>
            <p:txBody>
              <a:bodyPr/>
              <a:lstStyle/>
              <a:p>
                <a:r>
                  <a:rPr lang="en-GB">
                    <a:noFill/>
                  </a:rPr>
                  <a:t> </a:t>
                </a:r>
              </a:p>
            </p:txBody>
          </p:sp>
        </mc:Fallback>
      </mc:AlternateContent>
      <p:pic>
        <p:nvPicPr>
          <p:cNvPr id="10" name="Content Placeholder 9" descr="A grid of colored lines and dots&#10;&#10;AI-generated content may be incorrect.">
            <a:extLst>
              <a:ext uri="{FF2B5EF4-FFF2-40B4-BE49-F238E27FC236}">
                <a16:creationId xmlns:a16="http://schemas.microsoft.com/office/drawing/2014/main" id="{1276975A-4FF2-494A-FBD1-8FB69BACF44E}"/>
              </a:ext>
            </a:extLst>
          </p:cNvPr>
          <p:cNvPicPr>
            <a:picLocks noGrp="1" noChangeAspect="1"/>
          </p:cNvPicPr>
          <p:nvPr>
            <p:ph sz="half" idx="2"/>
          </p:nvPr>
        </p:nvPicPr>
        <p:blipFill>
          <a:blip r:embed="rId4"/>
          <a:stretch>
            <a:fillRect/>
          </a:stretch>
        </p:blipFill>
        <p:spPr>
          <a:xfrm>
            <a:off x="5163344" y="1563688"/>
            <a:ext cx="3263900" cy="3263900"/>
          </a:xfrm>
        </p:spPr>
      </p:pic>
      <p:sp>
        <p:nvSpPr>
          <p:cNvPr id="8" name="Title 7">
            <a:extLst>
              <a:ext uri="{FF2B5EF4-FFF2-40B4-BE49-F238E27FC236}">
                <a16:creationId xmlns:a16="http://schemas.microsoft.com/office/drawing/2014/main" id="{4EB192D1-2F12-8D5D-A8D9-16C0DAEF3833}"/>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Experiment setup - Data</a:t>
            </a:r>
            <a:endParaRPr lang="en-GB" sz="2400" b="0" i="1" dirty="0"/>
          </a:p>
        </p:txBody>
      </p:sp>
      <p:sp>
        <p:nvSpPr>
          <p:cNvPr id="5" name="Date Placeholder 4">
            <a:extLst>
              <a:ext uri="{FF2B5EF4-FFF2-40B4-BE49-F238E27FC236}">
                <a16:creationId xmlns:a16="http://schemas.microsoft.com/office/drawing/2014/main" id="{1D0E5E8F-145F-764B-77A6-9023BB1C56EB}"/>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339DA48-3B00-BEF0-83A8-AA695C24C3D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8241943F-F1CD-3DC2-45F5-70F98F6A2FDB}"/>
              </a:ext>
            </a:extLst>
          </p:cNvPr>
          <p:cNvSpPr>
            <a:spLocks noGrp="1"/>
          </p:cNvSpPr>
          <p:nvPr>
            <p:ph type="sldNum" sz="quarter" idx="12"/>
          </p:nvPr>
        </p:nvSpPr>
        <p:spPr/>
        <p:txBody>
          <a:bodyPr/>
          <a:lstStyle/>
          <a:p>
            <a:fld id="{E1E1CD7C-2161-7D43-862E-CE4C333CD873}" type="slidenum">
              <a:rPr lang="fr-FR" smtClean="0"/>
              <a:pPr/>
              <a:t>72</a:t>
            </a:fld>
            <a:endParaRPr lang="fr-FR" dirty="0"/>
          </a:p>
        </p:txBody>
      </p:sp>
    </p:spTree>
    <p:extLst>
      <p:ext uri="{BB962C8B-B14F-4D97-AF65-F5344CB8AC3E}">
        <p14:creationId xmlns:p14="http://schemas.microsoft.com/office/powerpoint/2010/main" val="349079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4" dur="500"/>
                                        <p:tgtEl>
                                          <p:spTgt spid="2">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7" dur="500"/>
                                        <p:tgtEl>
                                          <p:spTgt spid="2">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randombar(horizontal)">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C8EA7-BFD2-5E43-BFE6-AF46B413272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B975C25-1285-19DF-5C51-EF889169D3E3}"/>
                  </a:ext>
                </a:extLst>
              </p:cNvPr>
              <p:cNvSpPr>
                <a:spLocks noGrp="1"/>
              </p:cNvSpPr>
              <p:nvPr>
                <p:ph sz="half" idx="1"/>
              </p:nvPr>
            </p:nvSpPr>
            <p:spPr>
              <a:xfrm>
                <a:off x="904874" y="1563688"/>
                <a:ext cx="5082688" cy="3263504"/>
              </a:xfrm>
            </p:spPr>
            <p:txBody>
              <a:bodyPr anchor="ctr">
                <a:normAutofit/>
              </a:bodyPr>
              <a:lstStyle/>
              <a:p>
                <a:r>
                  <a:rPr lang="en-US" dirty="0">
                    <a:latin typeface="+mj-lt"/>
                  </a:rPr>
                  <a:t>Conditional edge diffusion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r>
                      <a:rPr lang="en-US" b="0" i="1" smtClean="0">
                        <a:latin typeface="Cambria Math" panose="02040503050406030204" pitchFamily="18" charset="0"/>
                      </a:rPr>
                      <m:t> </m:t>
                    </m:r>
                  </m:oMath>
                </a14:m>
                <a:r>
                  <a:rPr lang="en-US" dirty="0">
                    <a:latin typeface="+mj-lt"/>
                  </a:rPr>
                  <a:t>as models of </a:t>
                </a:r>
                <a14:m>
                  <m:oMath xmlns:m="http://schemas.openxmlformats.org/officeDocument/2006/math">
                    <m:r>
                      <a:rPr lang="en-US" b="0" i="1" smtClean="0">
                        <a:latin typeface="Cambria Math" panose="02040503050406030204" pitchFamily="18" charset="0"/>
                      </a:rPr>
                      <m:t>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𝒗</m:t>
                        </m:r>
                      </m:e>
                    </m:d>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𝑔</m:t>
                                    </m:r>
                                  </m:lim>
                                </m:limLow>
                              </m:fName>
                              <m:e>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𝐴</m:t>
                                        </m:r>
                                      </m:sub>
                                    </m:sSub>
                                  </m:sub>
                                </m:sSub>
                              </m:e>
                            </m:func>
                          </m:fName>
                          <m:e>
                            <m:d>
                              <m:dPr>
                                <m:begChr m:val="["/>
                                <m:endChr m:val="]"/>
                                <m:ctrlPr>
                                  <a:rPr lang="en-US" i="1">
                                    <a:latin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𝑔</m:t>
                                            </m:r>
                                            <m:r>
                                              <a:rPr lang="en-US" i="1">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1" i="1">
                                            <a:latin typeface="Cambria Math" panose="02040503050406030204" pitchFamily="18" charset="0"/>
                                          </a:rPr>
                                          <m:t>𝒙</m:t>
                                        </m:r>
                                        <m:r>
                                          <a:rPr lang="en-US" b="1" i="1" smtClean="0">
                                            <a:latin typeface="Cambria Math" panose="02040503050406030204" pitchFamily="18" charset="0"/>
                                          </a:rPr>
                                          <m:t>,</m:t>
                                        </m:r>
                                        <m:r>
                                          <a:rPr lang="en-US" b="1" i="1">
                                            <a:latin typeface="Cambria Math" panose="02040503050406030204" pitchFamily="18" charset="0"/>
                                          </a:rPr>
                                          <m:t>𝒗</m:t>
                                        </m:r>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𝒗</m:t>
                                        </m:r>
                                      </m:e>
                                    </m:d>
                                  </m:e>
                                </m:func>
                              </m:e>
                            </m:d>
                          </m:e>
                        </m:func>
                      </m:e>
                    </m:func>
                  </m:oMath>
                </a14:m>
                <a:endParaRPr lang="en-GB" dirty="0">
                  <a:latin typeface="+mj-lt"/>
                </a:endParaRPr>
              </a:p>
              <a:p>
                <a:r>
                  <a:rPr lang="en-GB" dirty="0">
                    <a:latin typeface="+mj-lt"/>
                  </a:rPr>
                  <a:t>Optional masking for context conditioning</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1" i="1" smtClean="0">
                        <a:latin typeface="Cambria Math" panose="02040503050406030204" pitchFamily="18" charset="0"/>
                      </a:rPr>
                      <m:t>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𝐴</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1" i="1" smtClean="0">
                            <a:latin typeface="Cambria Math" panose="02040503050406030204" pitchFamily="18" charset="0"/>
                          </a:rPr>
                          <m:t>𝑴</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0</m:t>
                        </m:r>
                      </m:sub>
                    </m:sSub>
                  </m:oMath>
                </a14:m>
                <a:endParaRPr lang="en-US" b="0" i="1" dirty="0">
                  <a:latin typeface="Cambria Math" panose="02040503050406030204" pitchFamily="18" charset="0"/>
                </a:endParaRPr>
              </a:p>
              <a:p>
                <a:pPr lvl="1"/>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𝐴</m:t>
                            </m:r>
                          </m:e>
                        </m:acc>
                      </m:e>
                      <m:sub>
                        <m:r>
                          <a:rPr lang="en-US"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r>
                      <a:rPr lang="en-US" b="1" i="1">
                        <a:latin typeface="Cambria Math" panose="02040503050406030204" pitchFamily="18" charset="0"/>
                      </a:rPr>
                      <m:t>𝑴</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𝐴</m:t>
                            </m:r>
                          </m:e>
                        </m:acc>
                      </m:e>
                      <m:sub>
                        <m:r>
                          <a:rPr lang="en-US" i="1">
                            <a:latin typeface="Cambria Math" panose="02040503050406030204" pitchFamily="18" charset="0"/>
                          </a:rPr>
                          <m:t>𝑡</m:t>
                        </m:r>
                      </m:sub>
                    </m:sSub>
                    <m:r>
                      <a:rPr lang="en-US" b="0" i="1" smtClean="0">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𝒗</m:t>
                    </m:r>
                    <m:r>
                      <a:rPr lang="en-US" b="0" i="1" smtClean="0">
                        <a:latin typeface="Cambria Math" panose="02040503050406030204" pitchFamily="18" charset="0"/>
                      </a:rPr>
                      <m:t>)</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b="1" i="1">
                            <a:latin typeface="Cambria Math" panose="02040503050406030204" pitchFamily="18" charset="0"/>
                          </a:rPr>
                          <m:t>𝑴</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0</m:t>
                        </m:r>
                      </m:sub>
                    </m:sSub>
                  </m:oMath>
                </a14:m>
                <a:endParaRPr lang="en-GB" dirty="0"/>
              </a:p>
              <a:p>
                <a:r>
                  <a:rPr lang="en-GB" dirty="0">
                    <a:latin typeface="+mj-lt"/>
                  </a:rPr>
                  <a:t>Modified </a:t>
                </a:r>
                <a:r>
                  <a:rPr lang="en-GB" dirty="0" err="1">
                    <a:latin typeface="+mj-lt"/>
                  </a:rPr>
                  <a:t>DiGress</a:t>
                </a:r>
                <a:r>
                  <a:rPr lang="en-GB" dirty="0">
                    <a:latin typeface="+mj-lt"/>
                  </a:rPr>
                  <a:t> </a:t>
                </a:r>
                <a:r>
                  <a:rPr lang="en-GB" dirty="0">
                    <a:solidFill>
                      <a:schemeClr val="accent1"/>
                    </a:solidFill>
                    <a:latin typeface="+mj-lt"/>
                  </a:rPr>
                  <a:t>[18]</a:t>
                </a:r>
                <a:r>
                  <a:rPr lang="en-GB" dirty="0">
                    <a:latin typeface="+mj-lt"/>
                  </a:rPr>
                  <a:t> ♥</a:t>
                </a:r>
              </a:p>
            </p:txBody>
          </p:sp>
        </mc:Choice>
        <mc:Fallback xmlns="">
          <p:sp>
            <p:nvSpPr>
              <p:cNvPr id="2" name="Content Placeholder 1">
                <a:extLst>
                  <a:ext uri="{FF2B5EF4-FFF2-40B4-BE49-F238E27FC236}">
                    <a16:creationId xmlns:a16="http://schemas.microsoft.com/office/drawing/2014/main" id="{AB975C25-1285-19DF-5C51-EF889169D3E3}"/>
                  </a:ext>
                </a:extLst>
              </p:cNvPr>
              <p:cNvSpPr>
                <a:spLocks noGrp="1" noRot="1" noChangeAspect="1" noMove="1" noResize="1" noEditPoints="1" noAdjustHandles="1" noChangeArrowheads="1" noChangeShapeType="1" noTextEdit="1"/>
              </p:cNvSpPr>
              <p:nvPr>
                <p:ph sz="half" idx="1"/>
              </p:nvPr>
            </p:nvSpPr>
            <p:spPr>
              <a:xfrm>
                <a:off x="904874" y="1563688"/>
                <a:ext cx="5082688" cy="3263504"/>
              </a:xfrm>
              <a:blipFill>
                <a:blip r:embed="rId3"/>
                <a:stretch>
                  <a:fillRect/>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BC55FC76-8FD1-48AC-AB8B-65DD872267DD}"/>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Experiment setup - Model</a:t>
            </a:r>
            <a:endParaRPr lang="en-GB" sz="2400" b="0" i="1" dirty="0"/>
          </a:p>
        </p:txBody>
      </p:sp>
      <p:sp>
        <p:nvSpPr>
          <p:cNvPr id="5" name="Date Placeholder 4">
            <a:extLst>
              <a:ext uri="{FF2B5EF4-FFF2-40B4-BE49-F238E27FC236}">
                <a16:creationId xmlns:a16="http://schemas.microsoft.com/office/drawing/2014/main" id="{E735382D-70DF-0569-D76F-56D9707FD9E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4E1B12C-D86F-B05B-B54E-93F55D82CBB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167B8DA-B395-8979-4E26-C817AAC2DF85}"/>
              </a:ext>
            </a:extLst>
          </p:cNvPr>
          <p:cNvSpPr>
            <a:spLocks noGrp="1"/>
          </p:cNvSpPr>
          <p:nvPr>
            <p:ph type="sldNum" sz="quarter" idx="12"/>
          </p:nvPr>
        </p:nvSpPr>
        <p:spPr/>
        <p:txBody>
          <a:bodyPr/>
          <a:lstStyle/>
          <a:p>
            <a:fld id="{E1E1CD7C-2161-7D43-862E-CE4C333CD873}" type="slidenum">
              <a:rPr lang="fr-FR" smtClean="0"/>
              <a:pPr/>
              <a:t>73</a:t>
            </a:fld>
            <a:endParaRPr lang="fr-FR" dirty="0"/>
          </a:p>
        </p:txBody>
      </p:sp>
      <p:sp>
        <p:nvSpPr>
          <p:cNvPr id="4" name="Content Placeholder 3">
            <a:extLst>
              <a:ext uri="{FF2B5EF4-FFF2-40B4-BE49-F238E27FC236}">
                <a16:creationId xmlns:a16="http://schemas.microsoft.com/office/drawing/2014/main" id="{356780A1-815E-1EC4-1173-6B285614FA50}"/>
              </a:ext>
            </a:extLst>
          </p:cNvPr>
          <p:cNvSpPr>
            <a:spLocks noGrp="1"/>
          </p:cNvSpPr>
          <p:nvPr>
            <p:ph sz="half" idx="2"/>
          </p:nvPr>
        </p:nvSpPr>
        <p:spPr>
          <a:xfrm>
            <a:off x="5653454" y="1563688"/>
            <a:ext cx="2977784" cy="3263504"/>
          </a:xfrm>
        </p:spPr>
        <p:txBody>
          <a:bodyPr/>
          <a:lstStyle/>
          <a:p>
            <a:endParaRPr lang="en-GB" dirty="0"/>
          </a:p>
        </p:txBody>
      </p:sp>
      <p:sp>
        <p:nvSpPr>
          <p:cNvPr id="9" name="Rectangle 8">
            <a:extLst>
              <a:ext uri="{FF2B5EF4-FFF2-40B4-BE49-F238E27FC236}">
                <a16:creationId xmlns:a16="http://schemas.microsoft.com/office/drawing/2014/main" id="{16D14244-C4B5-CE25-7356-761D9FB33517}"/>
              </a:ext>
            </a:extLst>
          </p:cNvPr>
          <p:cNvSpPr/>
          <p:nvPr/>
        </p:nvSpPr>
        <p:spPr>
          <a:xfrm>
            <a:off x="6062346" y="1794214"/>
            <a:ext cx="2160000" cy="2880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6611A88C-F676-1D31-B63B-07C5708616B9}"/>
              </a:ext>
            </a:extLst>
          </p:cNvPr>
          <p:cNvSpPr>
            <a:spLocks noChangeAspect="1"/>
          </p:cNvSpPr>
          <p:nvPr/>
        </p:nvSpPr>
        <p:spPr>
          <a:xfrm>
            <a:off x="7163945" y="3263014"/>
            <a:ext cx="1058401" cy="1411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324A7F1-6B72-DE46-0D41-6BDF23DEA5C8}"/>
              </a:ext>
            </a:extLst>
          </p:cNvPr>
          <p:cNvSpPr txBox="1"/>
          <p:nvPr/>
        </p:nvSpPr>
        <p:spPr>
          <a:xfrm>
            <a:off x="6651473" y="2387084"/>
            <a:ext cx="981746" cy="369332"/>
          </a:xfrm>
          <a:prstGeom prst="rect">
            <a:avLst/>
          </a:prstGeom>
          <a:noFill/>
        </p:spPr>
        <p:txBody>
          <a:bodyPr wrap="square" rtlCol="0" anchor="ctr">
            <a:spAutoFit/>
          </a:bodyPr>
          <a:lstStyle/>
          <a:p>
            <a:pPr algn="ctr"/>
            <a:r>
              <a:rPr lang="en-US" sz="1800" dirty="0">
                <a:solidFill>
                  <a:schemeClr val="bg1"/>
                </a:solidFill>
                <a:latin typeface="+mj-lt"/>
              </a:rPr>
              <a:t>Context</a:t>
            </a:r>
            <a:endParaRPr lang="en-GB" sz="1800" dirty="0">
              <a:solidFill>
                <a:schemeClr val="bg1"/>
              </a:solidFill>
              <a:latin typeface="+mj-lt"/>
            </a:endParaRPr>
          </a:p>
        </p:txBody>
      </p:sp>
      <p:sp>
        <p:nvSpPr>
          <p:cNvPr id="10" name="TextBox 9">
            <a:extLst>
              <a:ext uri="{FF2B5EF4-FFF2-40B4-BE49-F238E27FC236}">
                <a16:creationId xmlns:a16="http://schemas.microsoft.com/office/drawing/2014/main" id="{3CE01132-616D-088A-6936-C06E6141AB89}"/>
              </a:ext>
            </a:extLst>
          </p:cNvPr>
          <p:cNvSpPr txBox="1"/>
          <p:nvPr/>
        </p:nvSpPr>
        <p:spPr>
          <a:xfrm>
            <a:off x="7202272" y="3783948"/>
            <a:ext cx="981746" cy="369332"/>
          </a:xfrm>
          <a:prstGeom prst="rect">
            <a:avLst/>
          </a:prstGeom>
          <a:noFill/>
        </p:spPr>
        <p:txBody>
          <a:bodyPr wrap="square" rtlCol="0" anchor="ctr">
            <a:spAutoFit/>
          </a:bodyPr>
          <a:lstStyle/>
          <a:p>
            <a:pPr algn="ctr"/>
            <a:r>
              <a:rPr lang="en-US" sz="1800" dirty="0">
                <a:solidFill>
                  <a:srgbClr val="000000"/>
                </a:solidFill>
                <a:latin typeface="+mj-lt"/>
              </a:rPr>
              <a:t>Target</a:t>
            </a:r>
            <a:endParaRPr lang="en-GB" sz="1800" dirty="0">
              <a:solidFill>
                <a:srgbClr val="000000"/>
              </a:solidFill>
              <a:latin typeface="+mj-lt"/>
            </a:endParaRPr>
          </a:p>
        </p:txBody>
      </p:sp>
    </p:spTree>
    <p:extLst>
      <p:ext uri="{BB962C8B-B14F-4D97-AF65-F5344CB8AC3E}">
        <p14:creationId xmlns:p14="http://schemas.microsoft.com/office/powerpoint/2010/main" val="386735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8" dur="500"/>
                                        <p:tgtEl>
                                          <p:spTgt spid="2">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4" dur="500"/>
                                        <p:tgtEl>
                                          <p:spTgt spid="2">
                                            <p:txEl>
                                              <p:pRg st="5" end="5"/>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randombar(horizontal)">
                                      <p:cBhvr>
                                        <p:cTn id="30" dur="500"/>
                                        <p:tgtEl>
                                          <p:spTgt spid="11"/>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randombar(horizontal)">
                                      <p:cBhvr>
                                        <p:cTn id="33" dur="500"/>
                                        <p:tgtEl>
                                          <p:spTgt spid="3"/>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randombar(horizontal)">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randombar(horizontal)">
                                      <p:cBhvr>
                                        <p:cTn id="41"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3"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E43724-49EA-47A3-4D29-B701CDF63241}"/>
            </a:ext>
          </a:extLst>
        </p:cNvPr>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0164CE5E-46E9-1E3E-08A2-58D9487CC7B8}"/>
              </a:ext>
            </a:extLst>
          </p:cNvPr>
          <p:cNvPicPr>
            <a:picLocks noGrp="1" noChangeAspect="1"/>
          </p:cNvPicPr>
          <p:nvPr>
            <p:ph idx="1"/>
          </p:nvPr>
        </p:nvPicPr>
        <p:blipFill>
          <a:blip r:embed="rId3"/>
          <a:stretch>
            <a:fillRect/>
          </a:stretch>
        </p:blipFill>
        <p:spPr>
          <a:xfrm>
            <a:off x="1295453" y="1563688"/>
            <a:ext cx="6945206" cy="3386137"/>
          </a:xfrm>
          <a:prstGeom prst="rect">
            <a:avLst/>
          </a:prstGeom>
        </p:spPr>
      </p:pic>
      <p:sp>
        <p:nvSpPr>
          <p:cNvPr id="8" name="Title 7">
            <a:extLst>
              <a:ext uri="{FF2B5EF4-FFF2-40B4-BE49-F238E27FC236}">
                <a16:creationId xmlns:a16="http://schemas.microsoft.com/office/drawing/2014/main" id="{72F817A3-022D-51C0-6FB2-722E2547B61E}"/>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Results - Metrics</a:t>
            </a:r>
            <a:endParaRPr lang="en-GB" sz="2400" b="0" i="1" dirty="0"/>
          </a:p>
        </p:txBody>
      </p:sp>
      <p:sp>
        <p:nvSpPr>
          <p:cNvPr id="5" name="Date Placeholder 4">
            <a:extLst>
              <a:ext uri="{FF2B5EF4-FFF2-40B4-BE49-F238E27FC236}">
                <a16:creationId xmlns:a16="http://schemas.microsoft.com/office/drawing/2014/main" id="{28D71620-3765-9F17-2A51-C64A521DF88E}"/>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6870C3DF-2351-D8AC-80C7-BFC52A76496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C2EE4479-F0E0-A209-C787-74C5FE4F3894}"/>
              </a:ext>
            </a:extLst>
          </p:cNvPr>
          <p:cNvSpPr>
            <a:spLocks noGrp="1"/>
          </p:cNvSpPr>
          <p:nvPr>
            <p:ph type="sldNum" sz="quarter" idx="12"/>
          </p:nvPr>
        </p:nvSpPr>
        <p:spPr/>
        <p:txBody>
          <a:bodyPr/>
          <a:lstStyle/>
          <a:p>
            <a:fld id="{E1E1CD7C-2161-7D43-862E-CE4C333CD873}" type="slidenum">
              <a:rPr lang="fr-FR" smtClean="0"/>
              <a:pPr/>
              <a:t>74</a:t>
            </a:fld>
            <a:endParaRPr lang="fr-FR" dirty="0"/>
          </a:p>
        </p:txBody>
      </p:sp>
    </p:spTree>
    <p:extLst>
      <p:ext uri="{BB962C8B-B14F-4D97-AF65-F5344CB8AC3E}">
        <p14:creationId xmlns:p14="http://schemas.microsoft.com/office/powerpoint/2010/main" val="296967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32C3-E04B-52D4-C2F2-ACA9BEA5A2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C4E6391-2343-89DD-C955-2191712848DA}"/>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Results - Contrastive Loss across denoising steps</a:t>
            </a:r>
            <a:endParaRPr lang="en-GB" sz="2400" b="0" i="1" dirty="0"/>
          </a:p>
        </p:txBody>
      </p:sp>
      <p:sp>
        <p:nvSpPr>
          <p:cNvPr id="5" name="Date Placeholder 4">
            <a:extLst>
              <a:ext uri="{FF2B5EF4-FFF2-40B4-BE49-F238E27FC236}">
                <a16:creationId xmlns:a16="http://schemas.microsoft.com/office/drawing/2014/main" id="{9B0972A0-C21F-132D-E013-AC5C4284A481}"/>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13FBC04E-DFF5-00D7-EF76-0D7378DAFD9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67E1DAC-B078-0576-06A7-989F14FAB20D}"/>
              </a:ext>
            </a:extLst>
          </p:cNvPr>
          <p:cNvSpPr>
            <a:spLocks noGrp="1"/>
          </p:cNvSpPr>
          <p:nvPr>
            <p:ph type="sldNum" sz="quarter" idx="12"/>
          </p:nvPr>
        </p:nvSpPr>
        <p:spPr/>
        <p:txBody>
          <a:bodyPr/>
          <a:lstStyle/>
          <a:p>
            <a:fld id="{E1E1CD7C-2161-7D43-862E-CE4C333CD873}" type="slidenum">
              <a:rPr lang="fr-FR" smtClean="0"/>
              <a:pPr/>
              <a:t>75</a:t>
            </a:fld>
            <a:endParaRPr lang="fr-FR" dirty="0"/>
          </a:p>
        </p:txBody>
      </p:sp>
      <p:pic>
        <p:nvPicPr>
          <p:cNvPr id="14" name="Content Placeholder 13" descr="A graph of a graph showing a curve&#10;&#10;AI-generated content may be incorrect.">
            <a:extLst>
              <a:ext uri="{FF2B5EF4-FFF2-40B4-BE49-F238E27FC236}">
                <a16:creationId xmlns:a16="http://schemas.microsoft.com/office/drawing/2014/main" id="{FEB462D9-A795-8DDF-541B-0396B582A764}"/>
              </a:ext>
            </a:extLst>
          </p:cNvPr>
          <p:cNvPicPr>
            <a:picLocks noGrp="1" noChangeAspect="1"/>
          </p:cNvPicPr>
          <p:nvPr>
            <p:ph idx="1"/>
          </p:nvPr>
        </p:nvPicPr>
        <p:blipFill>
          <a:blip r:embed="rId3"/>
          <a:stretch>
            <a:fillRect/>
          </a:stretch>
        </p:blipFill>
        <p:spPr>
          <a:xfrm>
            <a:off x="1561078" y="1181793"/>
            <a:ext cx="6021844" cy="1897304"/>
          </a:xfrm>
        </p:spPr>
      </p:pic>
      <p:pic>
        <p:nvPicPr>
          <p:cNvPr id="16" name="Picture 15" descr="A graph of a graph and a graph of a graph&#10;&#10;AI-generated content may be incorrect.">
            <a:extLst>
              <a:ext uri="{FF2B5EF4-FFF2-40B4-BE49-F238E27FC236}">
                <a16:creationId xmlns:a16="http://schemas.microsoft.com/office/drawing/2014/main" id="{BFCDA08D-19EF-DAB4-EC1E-51314DB057B6}"/>
              </a:ext>
            </a:extLst>
          </p:cNvPr>
          <p:cNvPicPr>
            <a:picLocks noChangeAspect="1"/>
          </p:cNvPicPr>
          <p:nvPr/>
        </p:nvPicPr>
        <p:blipFill>
          <a:blip r:embed="rId4"/>
          <a:stretch>
            <a:fillRect/>
          </a:stretch>
        </p:blipFill>
        <p:spPr>
          <a:xfrm>
            <a:off x="1561078" y="3234214"/>
            <a:ext cx="6021844" cy="1897304"/>
          </a:xfrm>
          <a:prstGeom prst="rect">
            <a:avLst/>
          </a:prstGeom>
        </p:spPr>
      </p:pic>
    </p:spTree>
    <p:extLst>
      <p:ext uri="{BB962C8B-B14F-4D97-AF65-F5344CB8AC3E}">
        <p14:creationId xmlns:p14="http://schemas.microsoft.com/office/powerpoint/2010/main" val="178367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randombar(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FD59-BD2F-C562-6D41-C0880BD8F52E}"/>
            </a:ext>
          </a:extLst>
        </p:cNvPr>
        <p:cNvGrpSpPr/>
        <p:nvPr/>
      </p:nvGrpSpPr>
      <p:grpSpPr>
        <a:xfrm>
          <a:off x="0" y="0"/>
          <a:ext cx="0" cy="0"/>
          <a:chOff x="0" y="0"/>
          <a:chExt cx="0" cy="0"/>
        </a:xfrm>
      </p:grpSpPr>
      <p:pic>
        <p:nvPicPr>
          <p:cNvPr id="12" name="Content Placeholder 11" descr="A diagram of a diagram&#10;&#10;AI-generated content may be incorrect.">
            <a:extLst>
              <a:ext uri="{FF2B5EF4-FFF2-40B4-BE49-F238E27FC236}">
                <a16:creationId xmlns:a16="http://schemas.microsoft.com/office/drawing/2014/main" id="{AB9F265D-EEB7-F8E5-2347-0402591FCCC3}"/>
              </a:ext>
            </a:extLst>
          </p:cNvPr>
          <p:cNvPicPr>
            <a:picLocks noGrp="1" noChangeAspect="1"/>
          </p:cNvPicPr>
          <p:nvPr>
            <p:ph sz="half" idx="1"/>
          </p:nvPr>
        </p:nvPicPr>
        <p:blipFill>
          <a:blip r:embed="rId3"/>
          <a:stretch>
            <a:fillRect/>
          </a:stretch>
        </p:blipFill>
        <p:spPr>
          <a:xfrm>
            <a:off x="904875" y="1818680"/>
            <a:ext cx="3671888" cy="2753916"/>
          </a:xfrm>
        </p:spPr>
      </p:pic>
      <p:pic>
        <p:nvPicPr>
          <p:cNvPr id="14" name="Content Placeholder 13" descr="A diagram of a diagram&#10;&#10;AI-generated content may be incorrect.">
            <a:extLst>
              <a:ext uri="{FF2B5EF4-FFF2-40B4-BE49-F238E27FC236}">
                <a16:creationId xmlns:a16="http://schemas.microsoft.com/office/drawing/2014/main" id="{78D52841-6D20-3B8C-3BEC-F1292C83322C}"/>
              </a:ext>
            </a:extLst>
          </p:cNvPr>
          <p:cNvPicPr>
            <a:picLocks noGrp="1" noChangeAspect="1"/>
          </p:cNvPicPr>
          <p:nvPr>
            <p:ph sz="half" idx="2"/>
          </p:nvPr>
        </p:nvPicPr>
        <p:blipFill>
          <a:blip r:embed="rId4"/>
          <a:stretch>
            <a:fillRect/>
          </a:stretch>
        </p:blipFill>
        <p:spPr>
          <a:xfrm>
            <a:off x="4959350" y="1818680"/>
            <a:ext cx="3671888" cy="2753916"/>
          </a:xfrm>
        </p:spPr>
      </p:pic>
      <p:sp>
        <p:nvSpPr>
          <p:cNvPr id="8" name="Title 7">
            <a:extLst>
              <a:ext uri="{FF2B5EF4-FFF2-40B4-BE49-F238E27FC236}">
                <a16:creationId xmlns:a16="http://schemas.microsoft.com/office/drawing/2014/main" id="{D5D739A1-DA29-CF5B-B95F-16B082268982}"/>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Results - Dense subgraph correction visually</a:t>
            </a:r>
            <a:endParaRPr lang="en-GB" sz="2400" b="0" i="1" dirty="0"/>
          </a:p>
        </p:txBody>
      </p:sp>
      <p:sp>
        <p:nvSpPr>
          <p:cNvPr id="5" name="Date Placeholder 4">
            <a:extLst>
              <a:ext uri="{FF2B5EF4-FFF2-40B4-BE49-F238E27FC236}">
                <a16:creationId xmlns:a16="http://schemas.microsoft.com/office/drawing/2014/main" id="{91EF6C5B-5DE6-F620-6CE6-9B7EC788B686}"/>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A551CCCB-2CEA-AC39-931F-EF860B9C1141}"/>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05D7FC0-1E82-59FE-60B6-6200D3DA6DCE}"/>
              </a:ext>
            </a:extLst>
          </p:cNvPr>
          <p:cNvSpPr>
            <a:spLocks noGrp="1"/>
          </p:cNvSpPr>
          <p:nvPr>
            <p:ph type="sldNum" sz="quarter" idx="12"/>
          </p:nvPr>
        </p:nvSpPr>
        <p:spPr/>
        <p:txBody>
          <a:bodyPr/>
          <a:lstStyle/>
          <a:p>
            <a:fld id="{E1E1CD7C-2161-7D43-862E-CE4C333CD873}" type="slidenum">
              <a:rPr lang="fr-FR" smtClean="0"/>
              <a:pPr/>
              <a:t>76</a:t>
            </a:fld>
            <a:endParaRPr lang="fr-FR" dirty="0"/>
          </a:p>
        </p:txBody>
      </p:sp>
    </p:spTree>
    <p:extLst>
      <p:ext uri="{BB962C8B-B14F-4D97-AF65-F5344CB8AC3E}">
        <p14:creationId xmlns:p14="http://schemas.microsoft.com/office/powerpoint/2010/main" val="101230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8EE6-6A22-3C4C-20A9-8B3801ED33A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B2C80D-2533-80CB-F6FD-ABC561465F6E}"/>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Results - Bipartite subgraph correction visually</a:t>
            </a:r>
            <a:endParaRPr lang="en-GB" sz="2400" b="0" i="1" dirty="0"/>
          </a:p>
        </p:txBody>
      </p:sp>
      <p:sp>
        <p:nvSpPr>
          <p:cNvPr id="5" name="Date Placeholder 4">
            <a:extLst>
              <a:ext uri="{FF2B5EF4-FFF2-40B4-BE49-F238E27FC236}">
                <a16:creationId xmlns:a16="http://schemas.microsoft.com/office/drawing/2014/main" id="{31304D93-5A13-6EF9-5F80-A0538C1EA77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4763DCF-3116-18AA-5852-4B7EBB2D601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4AF60288-57FB-34A4-75B1-DD307C58BCD1}"/>
              </a:ext>
            </a:extLst>
          </p:cNvPr>
          <p:cNvSpPr>
            <a:spLocks noGrp="1"/>
          </p:cNvSpPr>
          <p:nvPr>
            <p:ph type="sldNum" sz="quarter" idx="12"/>
          </p:nvPr>
        </p:nvSpPr>
        <p:spPr/>
        <p:txBody>
          <a:bodyPr/>
          <a:lstStyle/>
          <a:p>
            <a:fld id="{E1E1CD7C-2161-7D43-862E-CE4C333CD873}" type="slidenum">
              <a:rPr lang="fr-FR" smtClean="0"/>
              <a:pPr/>
              <a:t>77</a:t>
            </a:fld>
            <a:endParaRPr lang="fr-FR" dirty="0"/>
          </a:p>
        </p:txBody>
      </p:sp>
      <p:pic>
        <p:nvPicPr>
          <p:cNvPr id="11" name="Content Placeholder 10" descr="A diagram of a network&#10;&#10;AI-generated content may be incorrect.">
            <a:extLst>
              <a:ext uri="{FF2B5EF4-FFF2-40B4-BE49-F238E27FC236}">
                <a16:creationId xmlns:a16="http://schemas.microsoft.com/office/drawing/2014/main" id="{E365FF56-9B17-DC36-BC27-F6A6A9455C88}"/>
              </a:ext>
            </a:extLst>
          </p:cNvPr>
          <p:cNvPicPr>
            <a:picLocks noGrp="1" noChangeAspect="1"/>
          </p:cNvPicPr>
          <p:nvPr>
            <p:ph sz="half" idx="1"/>
          </p:nvPr>
        </p:nvPicPr>
        <p:blipFill>
          <a:blip r:embed="rId3"/>
          <a:stretch>
            <a:fillRect/>
          </a:stretch>
        </p:blipFill>
        <p:spPr>
          <a:xfrm>
            <a:off x="904875" y="1818680"/>
            <a:ext cx="3671888" cy="2753916"/>
          </a:xfrm>
        </p:spPr>
      </p:pic>
      <p:pic>
        <p:nvPicPr>
          <p:cNvPr id="15" name="Content Placeholder 14" descr="A diagram of a number of lines&#10;&#10;AI-generated content may be incorrect.">
            <a:extLst>
              <a:ext uri="{FF2B5EF4-FFF2-40B4-BE49-F238E27FC236}">
                <a16:creationId xmlns:a16="http://schemas.microsoft.com/office/drawing/2014/main" id="{E3A479B1-F356-61B6-5DBD-3BE3D4C8342D}"/>
              </a:ext>
            </a:extLst>
          </p:cNvPr>
          <p:cNvPicPr>
            <a:picLocks noGrp="1" noChangeAspect="1"/>
          </p:cNvPicPr>
          <p:nvPr>
            <p:ph sz="half" idx="2"/>
          </p:nvPr>
        </p:nvPicPr>
        <p:blipFill>
          <a:blip r:embed="rId4"/>
          <a:stretch>
            <a:fillRect/>
          </a:stretch>
        </p:blipFill>
        <p:spPr>
          <a:xfrm>
            <a:off x="4959350" y="1818680"/>
            <a:ext cx="3671888" cy="2753916"/>
          </a:xfrm>
        </p:spPr>
      </p:pic>
    </p:spTree>
    <p:extLst>
      <p:ext uri="{BB962C8B-B14F-4D97-AF65-F5344CB8AC3E}">
        <p14:creationId xmlns:p14="http://schemas.microsoft.com/office/powerpoint/2010/main" val="230636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378D2-8E40-127B-7AE9-82D452C652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A8C7DE6-5847-E8BF-5489-C5872031A078}"/>
              </a:ext>
            </a:extLst>
          </p:cNvPr>
          <p:cNvSpPr>
            <a:spLocks noGrp="1"/>
          </p:cNvSpPr>
          <p:nvPr>
            <p:ph type="title"/>
          </p:nvPr>
        </p:nvSpPr>
        <p:spPr>
          <a:xfrm>
            <a:off x="904875" y="131032"/>
            <a:ext cx="7726363" cy="1072753"/>
          </a:xfrm>
        </p:spPr>
        <p:txBody>
          <a:bodyPr>
            <a:normAutofit/>
          </a:bodyPr>
          <a:lstStyle/>
          <a:p>
            <a:r>
              <a:rPr lang="en-US" dirty="0"/>
              <a:t>4.4	Generative KG Anomaly Correction</a:t>
            </a:r>
            <a:br>
              <a:rPr lang="en-US" sz="2400" b="0" i="1" dirty="0"/>
            </a:br>
            <a:r>
              <a:rPr lang="en-US" sz="2400" b="0" i="1" dirty="0"/>
              <a:t>Summary</a:t>
            </a:r>
            <a:endParaRPr lang="en-GB" sz="2400" b="0" i="1" dirty="0"/>
          </a:p>
        </p:txBody>
      </p:sp>
      <p:sp>
        <p:nvSpPr>
          <p:cNvPr id="5" name="Date Placeholder 4">
            <a:extLst>
              <a:ext uri="{FF2B5EF4-FFF2-40B4-BE49-F238E27FC236}">
                <a16:creationId xmlns:a16="http://schemas.microsoft.com/office/drawing/2014/main" id="{9C291193-F757-B705-7698-D5C713582EF4}"/>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35F439DA-80D6-0C5F-FECE-791D6F2D5A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CCB1B96B-647D-2A3A-0844-45A963361FB6}"/>
              </a:ext>
            </a:extLst>
          </p:cNvPr>
          <p:cNvSpPr>
            <a:spLocks noGrp="1"/>
          </p:cNvSpPr>
          <p:nvPr>
            <p:ph type="sldNum" sz="quarter" idx="12"/>
          </p:nvPr>
        </p:nvSpPr>
        <p:spPr/>
        <p:txBody>
          <a:bodyPr/>
          <a:lstStyle/>
          <a:p>
            <a:fld id="{E1E1CD7C-2161-7D43-862E-CE4C333CD873}" type="slidenum">
              <a:rPr lang="fr-FR" smtClean="0"/>
              <a:pPr/>
              <a:t>78</a:t>
            </a:fld>
            <a:endParaRPr lang="fr-FR" dirty="0"/>
          </a:p>
        </p:txBody>
      </p:sp>
      <p:graphicFrame>
        <p:nvGraphicFramePr>
          <p:cNvPr id="9" name="Content Placeholder 8">
            <a:extLst>
              <a:ext uri="{FF2B5EF4-FFF2-40B4-BE49-F238E27FC236}">
                <a16:creationId xmlns:a16="http://schemas.microsoft.com/office/drawing/2014/main" id="{8F55DD72-14FF-F2EC-FCBD-CE214A7045DB}"/>
              </a:ext>
            </a:extLst>
          </p:cNvPr>
          <p:cNvGraphicFramePr>
            <a:graphicFrameLocks noGrp="1"/>
          </p:cNvGraphicFramePr>
          <p:nvPr>
            <p:ph idx="1"/>
            <p:extLst>
              <p:ext uri="{D42A27DB-BD31-4B8C-83A1-F6EECF244321}">
                <p14:modId xmlns:p14="http://schemas.microsoft.com/office/powerpoint/2010/main" val="1436270304"/>
              </p:ext>
            </p:extLst>
          </p:nvPr>
        </p:nvGraphicFramePr>
        <p:xfrm>
          <a:off x="904875" y="1563688"/>
          <a:ext cx="7726363" cy="33861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56848C00-7EFC-FB31-7232-9B73F3791AD6}"/>
              </a:ext>
            </a:extLst>
          </p:cNvPr>
          <p:cNvSpPr txBox="1"/>
          <p:nvPr/>
        </p:nvSpPr>
        <p:spPr>
          <a:xfrm>
            <a:off x="4199640" y="2933590"/>
            <a:ext cx="1136832" cy="646331"/>
          </a:xfrm>
          <a:prstGeom prst="rect">
            <a:avLst/>
          </a:prstGeom>
          <a:noFill/>
        </p:spPr>
        <p:txBody>
          <a:bodyPr wrap="square" rtlCol="0">
            <a:spAutoFit/>
          </a:bodyPr>
          <a:lstStyle/>
          <a:p>
            <a:pPr algn="ctr"/>
            <a:r>
              <a:rPr lang="en-US" sz="1800" dirty="0">
                <a:latin typeface="+mj-lt"/>
              </a:rPr>
              <a:t>Edge</a:t>
            </a:r>
          </a:p>
          <a:p>
            <a:pPr algn="ctr"/>
            <a:r>
              <a:rPr lang="en-US" sz="1800" dirty="0">
                <a:latin typeface="+mj-lt"/>
              </a:rPr>
              <a:t>likelihood</a:t>
            </a:r>
            <a:endParaRPr lang="en-GB" sz="1800" dirty="0">
              <a:latin typeface="+mj-lt"/>
            </a:endParaRPr>
          </a:p>
        </p:txBody>
      </p:sp>
    </p:spTree>
    <p:extLst>
      <p:ext uri="{BB962C8B-B14F-4D97-AF65-F5344CB8AC3E}">
        <p14:creationId xmlns:p14="http://schemas.microsoft.com/office/powerpoint/2010/main" val="256700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5FDB-1F03-44B4-8F5D-CE55B51AAC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F8776BE-2B73-5F9D-7173-A7B579B6F113}"/>
              </a:ext>
            </a:extLst>
          </p:cNvPr>
          <p:cNvSpPr>
            <a:spLocks noGrp="1"/>
          </p:cNvSpPr>
          <p:nvPr>
            <p:ph type="title"/>
          </p:nvPr>
        </p:nvSpPr>
        <p:spPr/>
        <p:txBody>
          <a:bodyPr/>
          <a:lstStyle/>
          <a:p>
            <a:r>
              <a:rPr lang="en-US" dirty="0"/>
              <a:t>Conclusion</a:t>
            </a:r>
            <a:endParaRPr lang="en-GB" dirty="0"/>
          </a:p>
        </p:txBody>
      </p:sp>
      <p:sp>
        <p:nvSpPr>
          <p:cNvPr id="8" name="Text Placeholder 7">
            <a:extLst>
              <a:ext uri="{FF2B5EF4-FFF2-40B4-BE49-F238E27FC236}">
                <a16:creationId xmlns:a16="http://schemas.microsoft.com/office/drawing/2014/main" id="{38661638-78F6-68AF-A1C8-241628263577}"/>
              </a:ext>
            </a:extLst>
          </p:cNvPr>
          <p:cNvSpPr>
            <a:spLocks noGrp="1"/>
          </p:cNvSpPr>
          <p:nvPr>
            <p:ph type="body" idx="1"/>
          </p:nvPr>
        </p:nvSpPr>
        <p:spPr/>
        <p:txBody>
          <a:bodyPr>
            <a:normAutofit/>
          </a:bodyPr>
          <a:lstStyle/>
          <a:p>
            <a:r>
              <a:rPr lang="en-US" sz="2400" dirty="0">
                <a:latin typeface="+mj-lt"/>
              </a:rPr>
              <a:t>Chapter 5</a:t>
            </a:r>
            <a:endParaRPr lang="en-GB" sz="2400" dirty="0">
              <a:latin typeface="+mj-lt"/>
            </a:endParaRPr>
          </a:p>
        </p:txBody>
      </p:sp>
      <p:sp>
        <p:nvSpPr>
          <p:cNvPr id="4" name="Date Placeholder 3">
            <a:extLst>
              <a:ext uri="{FF2B5EF4-FFF2-40B4-BE49-F238E27FC236}">
                <a16:creationId xmlns:a16="http://schemas.microsoft.com/office/drawing/2014/main" id="{7993C00B-7548-9DD9-A133-DE4C246D13CA}"/>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5" name="Footer Placeholder 4">
            <a:extLst>
              <a:ext uri="{FF2B5EF4-FFF2-40B4-BE49-F238E27FC236}">
                <a16:creationId xmlns:a16="http://schemas.microsoft.com/office/drawing/2014/main" id="{27A488C4-61C2-04C9-C181-93C212A4620A}"/>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A9202647-7004-E62F-0D8D-D06A73B5A11B}"/>
              </a:ext>
            </a:extLst>
          </p:cNvPr>
          <p:cNvSpPr>
            <a:spLocks noGrp="1"/>
          </p:cNvSpPr>
          <p:nvPr>
            <p:ph type="sldNum" sz="quarter" idx="16"/>
          </p:nvPr>
        </p:nvSpPr>
        <p:spPr/>
        <p:txBody>
          <a:bodyPr/>
          <a:lstStyle/>
          <a:p>
            <a:fld id="{E1E1CD7C-2161-7D43-862E-CE4C333CD873}" type="slidenum">
              <a:rPr lang="fr-FR" smtClean="0"/>
              <a:pPr/>
              <a:t>79</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C272525B-5472-033A-5F67-09B84032E075}"/>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0768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9310-151B-44AA-666E-D38F85BDCCC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9F3F367-8524-CADF-D69A-0477FB4FCC49}"/>
              </a:ext>
            </a:extLst>
          </p:cNvPr>
          <p:cNvSpPr>
            <a:spLocks noGrp="1"/>
          </p:cNvSpPr>
          <p:nvPr>
            <p:ph idx="1"/>
          </p:nvPr>
        </p:nvSpPr>
        <p:spPr/>
        <p:txBody>
          <a:bodyPr anchor="ctr">
            <a:normAutofit/>
          </a:bodyPr>
          <a:lstStyle/>
          <a:p>
            <a:r>
              <a:rPr lang="en-US" dirty="0">
                <a:latin typeface="+mj-lt"/>
              </a:rPr>
              <a:t>Scalability = holism + reductionism</a:t>
            </a:r>
          </a:p>
          <a:p>
            <a:r>
              <a:rPr lang="en-US" dirty="0">
                <a:latin typeface="+mj-lt"/>
              </a:rPr>
              <a:t>Balance of abstraction and fine-grained detail</a:t>
            </a:r>
          </a:p>
          <a:p>
            <a:r>
              <a:rPr lang="en-US" dirty="0">
                <a:latin typeface="+mj-lt"/>
              </a:rPr>
              <a:t>Promising future: unifying reasoning and generation</a:t>
            </a:r>
          </a:p>
          <a:p>
            <a:pPr lvl="1"/>
            <a:r>
              <a:rPr lang="en-US" dirty="0">
                <a:latin typeface="+mj-lt"/>
              </a:rPr>
              <a:t>Predicting and generating correct facts</a:t>
            </a:r>
          </a:p>
          <a:p>
            <a:pPr lvl="1"/>
            <a:r>
              <a:rPr lang="en-US" dirty="0">
                <a:latin typeface="+mj-lt"/>
              </a:rPr>
              <a:t>Controllable abstraction level</a:t>
            </a:r>
          </a:p>
          <a:p>
            <a:pPr lvl="1"/>
            <a:r>
              <a:rPr lang="en-US" dirty="0">
                <a:latin typeface="+mj-lt"/>
              </a:rPr>
              <a:t>Treating graphs as an evolving knowledge system</a:t>
            </a:r>
          </a:p>
          <a:p>
            <a:r>
              <a:rPr lang="en-US" dirty="0">
                <a:latin typeface="+mj-lt"/>
              </a:rPr>
              <a:t>Go solve that 5x5 Rubik’s cube, it’s worth it, you know how to do it now…</a:t>
            </a:r>
          </a:p>
        </p:txBody>
      </p:sp>
      <p:sp>
        <p:nvSpPr>
          <p:cNvPr id="8" name="Title 7">
            <a:extLst>
              <a:ext uri="{FF2B5EF4-FFF2-40B4-BE49-F238E27FC236}">
                <a16:creationId xmlns:a16="http://schemas.microsoft.com/office/drawing/2014/main" id="{655496E2-D7DB-45C4-0FA3-59549B67DC43}"/>
              </a:ext>
            </a:extLst>
          </p:cNvPr>
          <p:cNvSpPr>
            <a:spLocks noGrp="1"/>
          </p:cNvSpPr>
          <p:nvPr>
            <p:ph type="title"/>
          </p:nvPr>
        </p:nvSpPr>
        <p:spPr>
          <a:xfrm>
            <a:off x="904875" y="131032"/>
            <a:ext cx="7726363" cy="1072753"/>
          </a:xfrm>
        </p:spPr>
        <p:txBody>
          <a:bodyPr>
            <a:normAutofit/>
          </a:bodyPr>
          <a:lstStyle/>
          <a:p>
            <a:r>
              <a:rPr lang="en-US" dirty="0"/>
              <a:t>5.	Conclusions &amp; Future Directions</a:t>
            </a:r>
            <a:endParaRPr lang="en-GB" sz="2400" b="0" i="1" dirty="0"/>
          </a:p>
        </p:txBody>
      </p:sp>
      <p:sp>
        <p:nvSpPr>
          <p:cNvPr id="5" name="Date Placeholder 4">
            <a:extLst>
              <a:ext uri="{FF2B5EF4-FFF2-40B4-BE49-F238E27FC236}">
                <a16:creationId xmlns:a16="http://schemas.microsoft.com/office/drawing/2014/main" id="{0BA782D4-5C49-F93F-5D38-79DA9C5D7652}"/>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CDD1A488-8374-E126-A750-FD553E40E9EB}"/>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24C5A4D-F755-E6CF-82B5-91F2A00FD635}"/>
              </a:ext>
            </a:extLst>
          </p:cNvPr>
          <p:cNvSpPr>
            <a:spLocks noGrp="1"/>
          </p:cNvSpPr>
          <p:nvPr>
            <p:ph type="sldNum" sz="quarter" idx="12"/>
          </p:nvPr>
        </p:nvSpPr>
        <p:spPr/>
        <p:txBody>
          <a:bodyPr/>
          <a:lstStyle/>
          <a:p>
            <a:fld id="{E1E1CD7C-2161-7D43-862E-CE4C333CD873}" type="slidenum">
              <a:rPr lang="fr-FR" smtClean="0"/>
              <a:pPr/>
              <a:t>80</a:t>
            </a:fld>
            <a:endParaRPr lang="fr-FR" dirty="0"/>
          </a:p>
        </p:txBody>
      </p:sp>
    </p:spTree>
    <p:extLst>
      <p:ext uri="{BB962C8B-B14F-4D97-AF65-F5344CB8AC3E}">
        <p14:creationId xmlns:p14="http://schemas.microsoft.com/office/powerpoint/2010/main" val="113605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0" dur="500"/>
                                        <p:tgtEl>
                                          <p:spTgt spid="4">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3" dur="500"/>
                                        <p:tgtEl>
                                          <p:spTgt spid="4">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randombar(horizontal)">
                                      <p:cBhvr>
                                        <p:cTn id="31"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6693C0-AF06-D2CE-9C54-B57B5D571F4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0A597E4-55F2-9A9B-9168-87016B651EA7}"/>
              </a:ext>
            </a:extLst>
          </p:cNvPr>
          <p:cNvSpPr>
            <a:spLocks noGrp="1"/>
          </p:cNvSpPr>
          <p:nvPr>
            <p:ph idx="1"/>
          </p:nvPr>
        </p:nvSpPr>
        <p:spPr/>
        <p:txBody>
          <a:bodyPr anchor="ctr">
            <a:normAutofit fontScale="62500" lnSpcReduction="20000"/>
          </a:bodyPr>
          <a:lstStyle/>
          <a:p>
            <a:pPr marL="342900" indent="-342900">
              <a:buFont typeface="+mj-lt"/>
              <a:buAutoNum type="arabicPeriod"/>
            </a:pPr>
            <a:r>
              <a:rPr lang="en-GB" dirty="0">
                <a:latin typeface="+mj-lt"/>
              </a:rPr>
              <a:t>S. L. Hakimi, “On Realizability of a Set of Integers as Degrees of the Vertices of a Linear Graph II. Uniqueness,” </a:t>
            </a:r>
            <a:r>
              <a:rPr lang="en-GB" i="1" dirty="0">
                <a:latin typeface="+mj-lt"/>
              </a:rPr>
              <a:t>Journal of the Society for Industrial and Applied Mathematics</a:t>
            </a:r>
            <a:r>
              <a:rPr lang="en-GB" dirty="0">
                <a:latin typeface="+mj-lt"/>
              </a:rPr>
              <a:t>, vol. 11, no. 1, pp. 135–147, Mar. 1963, </a:t>
            </a:r>
            <a:r>
              <a:rPr lang="en-GB" dirty="0" err="1">
                <a:latin typeface="+mj-lt"/>
              </a:rPr>
              <a:t>doi</a:t>
            </a:r>
            <a:r>
              <a:rPr lang="en-GB" dirty="0">
                <a:latin typeface="+mj-lt"/>
              </a:rPr>
              <a:t>: </a:t>
            </a:r>
            <a:r>
              <a:rPr lang="en-GB" dirty="0">
                <a:latin typeface="+mj-lt"/>
                <a:hlinkClick r:id="rId3"/>
              </a:rPr>
              <a:t>10.1137/0111010</a:t>
            </a:r>
            <a:r>
              <a:rPr lang="en-GB" dirty="0">
                <a:latin typeface="+mj-lt"/>
              </a:rPr>
              <a:t>.</a:t>
            </a:r>
          </a:p>
          <a:p>
            <a:pPr marL="342900" indent="-342900">
              <a:buFont typeface="+mj-lt"/>
              <a:buAutoNum type="arabicPeriod"/>
            </a:pPr>
            <a:r>
              <a:rPr lang="en-GB" dirty="0">
                <a:latin typeface="+mj-lt"/>
              </a:rPr>
              <a:t>D. J. Aldous, “Exchangeability and related topics,” in </a:t>
            </a:r>
            <a:r>
              <a:rPr lang="en-GB" i="1" dirty="0">
                <a:latin typeface="+mj-lt"/>
              </a:rPr>
              <a:t>École </a:t>
            </a:r>
            <a:r>
              <a:rPr lang="en-GB" i="1" dirty="0" err="1">
                <a:latin typeface="+mj-lt"/>
              </a:rPr>
              <a:t>d’Été</a:t>
            </a:r>
            <a:r>
              <a:rPr lang="en-GB" i="1" dirty="0">
                <a:latin typeface="+mj-lt"/>
              </a:rPr>
              <a:t> de </a:t>
            </a:r>
            <a:r>
              <a:rPr lang="en-GB" i="1" dirty="0" err="1">
                <a:latin typeface="+mj-lt"/>
              </a:rPr>
              <a:t>Probabilités</a:t>
            </a:r>
            <a:r>
              <a:rPr lang="en-GB" i="1" dirty="0">
                <a:latin typeface="+mj-lt"/>
              </a:rPr>
              <a:t> de Saint-Flour XIII — 1983</a:t>
            </a:r>
            <a:r>
              <a:rPr lang="en-GB" dirty="0">
                <a:latin typeface="+mj-lt"/>
              </a:rPr>
              <a:t>, D. J. Aldous, I. A. Ibragimov, J. </a:t>
            </a:r>
            <a:r>
              <a:rPr lang="en-GB" dirty="0" err="1">
                <a:latin typeface="+mj-lt"/>
              </a:rPr>
              <a:t>Jacod</a:t>
            </a:r>
            <a:r>
              <a:rPr lang="en-GB" dirty="0">
                <a:latin typeface="+mj-lt"/>
              </a:rPr>
              <a:t>, and P. L. </a:t>
            </a:r>
            <a:r>
              <a:rPr lang="en-GB" dirty="0" err="1">
                <a:latin typeface="+mj-lt"/>
              </a:rPr>
              <a:t>Hennequin</a:t>
            </a:r>
            <a:r>
              <a:rPr lang="en-GB" dirty="0">
                <a:latin typeface="+mj-lt"/>
              </a:rPr>
              <a:t>, Eds., in Lecture Notes in Mathematics. Berlin, Heidelberg: Springer, 1985, pp. 1–198. </a:t>
            </a:r>
            <a:r>
              <a:rPr lang="en-GB" dirty="0" err="1">
                <a:latin typeface="+mj-lt"/>
              </a:rPr>
              <a:t>doi</a:t>
            </a:r>
            <a:r>
              <a:rPr lang="en-GB" dirty="0">
                <a:latin typeface="+mj-lt"/>
              </a:rPr>
              <a:t>: </a:t>
            </a:r>
            <a:r>
              <a:rPr lang="en-GB" dirty="0">
                <a:latin typeface="+mj-lt"/>
                <a:hlinkClick r:id="rId4"/>
              </a:rPr>
              <a:t>10.1007/BFb0099421</a:t>
            </a:r>
            <a:r>
              <a:rPr lang="en-GB" dirty="0">
                <a:latin typeface="+mj-lt"/>
              </a:rPr>
              <a:t>.</a:t>
            </a:r>
          </a:p>
          <a:p>
            <a:pPr marL="342900" indent="-342900">
              <a:buFont typeface="+mj-lt"/>
              <a:buAutoNum type="arabicPeriod"/>
            </a:pPr>
            <a:r>
              <a:rPr lang="en-GB" dirty="0">
                <a:latin typeface="+mj-lt"/>
              </a:rPr>
              <a:t>B. </a:t>
            </a:r>
            <a:r>
              <a:rPr lang="en-GB" dirty="0" err="1">
                <a:latin typeface="+mj-lt"/>
              </a:rPr>
              <a:t>Fristedt</a:t>
            </a:r>
            <a:r>
              <a:rPr lang="en-GB" dirty="0">
                <a:latin typeface="+mj-lt"/>
              </a:rPr>
              <a:t>, “The structure of random partitions of large integers,” </a:t>
            </a:r>
            <a:r>
              <a:rPr lang="en-GB" i="1" dirty="0">
                <a:latin typeface="+mj-lt"/>
              </a:rPr>
              <a:t>Transactions of the American Mathematical Society</a:t>
            </a:r>
            <a:r>
              <a:rPr lang="en-GB" dirty="0">
                <a:latin typeface="+mj-lt"/>
              </a:rPr>
              <a:t>, vol. 337, no. 2, pp. 703–735, 1993, </a:t>
            </a:r>
            <a:r>
              <a:rPr lang="en-GB" dirty="0" err="1">
                <a:latin typeface="+mj-lt"/>
              </a:rPr>
              <a:t>doi</a:t>
            </a:r>
            <a:r>
              <a:rPr lang="en-GB" dirty="0">
                <a:latin typeface="+mj-lt"/>
              </a:rPr>
              <a:t>: </a:t>
            </a:r>
            <a:r>
              <a:rPr lang="en-GB" dirty="0">
                <a:latin typeface="+mj-lt"/>
                <a:hlinkClick r:id="rId5"/>
              </a:rPr>
              <a:t>10.1090/S0002-9947-1993-1094553-1</a:t>
            </a:r>
            <a:r>
              <a:rPr lang="en-GB" dirty="0">
                <a:latin typeface="+mj-lt"/>
              </a:rPr>
              <a:t>.</a:t>
            </a:r>
          </a:p>
          <a:p>
            <a:pPr marL="342900" indent="-342900">
              <a:buFont typeface="+mj-lt"/>
              <a:buAutoNum type="arabicPeriod"/>
            </a:pPr>
            <a:r>
              <a:rPr lang="en-GB" dirty="0">
                <a:latin typeface="+mj-lt"/>
              </a:rPr>
              <a:t>I. B. Boneva, A. Rensink, M. E. Kurban, and J. Bauer, “Graph Abstraction and Abstract Graph Transformation,” July 2007, Accessed: Aug. 20, 2025. [Online]. Available: </a:t>
            </a:r>
            <a:r>
              <a:rPr lang="en-GB" dirty="0">
                <a:latin typeface="+mj-lt"/>
                <a:hlinkClick r:id="rId6"/>
              </a:rPr>
              <a:t>https://research.utwente.nl/en/publications/graph-abstraction-and-abstract-graph-transformation</a:t>
            </a:r>
            <a:endParaRPr lang="en-GB" dirty="0">
              <a:latin typeface="+mj-lt"/>
            </a:endParaRPr>
          </a:p>
          <a:p>
            <a:pPr marL="342900" indent="-342900">
              <a:buFont typeface="+mj-lt"/>
              <a:buAutoNum type="arabicPeriod"/>
            </a:pPr>
            <a:r>
              <a:rPr lang="en-GB" dirty="0">
                <a:latin typeface="+mj-lt"/>
              </a:rPr>
              <a:t>J. Sohl-Dickstein, E. Weiss, N. </a:t>
            </a:r>
            <a:r>
              <a:rPr lang="en-GB" dirty="0" err="1">
                <a:latin typeface="+mj-lt"/>
              </a:rPr>
              <a:t>Maheswaranathan</a:t>
            </a:r>
            <a:r>
              <a:rPr lang="en-GB" dirty="0">
                <a:latin typeface="+mj-lt"/>
              </a:rPr>
              <a:t>, and S. Ganguli, “Deep Unsupervised Learning using Nonequilibrium Thermodynamics,” in </a:t>
            </a:r>
            <a:r>
              <a:rPr lang="en-GB" i="1" dirty="0">
                <a:latin typeface="+mj-lt"/>
              </a:rPr>
              <a:t>Proceedings of the 32nd International Conference on Machine Learning</a:t>
            </a:r>
            <a:r>
              <a:rPr lang="en-GB" dirty="0">
                <a:latin typeface="+mj-lt"/>
              </a:rPr>
              <a:t>, PMLR, June 2015, pp. 2256–2265. Accessed: Aug. 28, 2025. [Online]. Available: </a:t>
            </a:r>
            <a:r>
              <a:rPr lang="en-GB" dirty="0">
                <a:latin typeface="+mj-lt"/>
                <a:hlinkClick r:id="rId7"/>
              </a:rPr>
              <a:t>https://proceedings.mlr.press/v37/sohl-dickstein15.html</a:t>
            </a:r>
            <a:endParaRPr lang="en-GB" dirty="0">
              <a:latin typeface="+mj-lt"/>
            </a:endParaRPr>
          </a:p>
          <a:p>
            <a:pPr marL="342900" indent="-342900">
              <a:buFont typeface="+mj-lt"/>
              <a:buAutoNum type="arabicPeriod"/>
            </a:pPr>
            <a:r>
              <a:rPr lang="en-GB" dirty="0">
                <a:latin typeface="+mj-lt"/>
              </a:rPr>
              <a:t>M. </a:t>
            </a:r>
            <a:r>
              <a:rPr lang="en-GB" dirty="0" err="1">
                <a:latin typeface="+mj-lt"/>
              </a:rPr>
              <a:t>Arjovsky</a:t>
            </a:r>
            <a:r>
              <a:rPr lang="en-GB" dirty="0">
                <a:latin typeface="+mj-lt"/>
              </a:rPr>
              <a:t>, S. Chintala, and L. </a:t>
            </a:r>
            <a:r>
              <a:rPr lang="en-GB" dirty="0" err="1">
                <a:latin typeface="+mj-lt"/>
              </a:rPr>
              <a:t>Bottou</a:t>
            </a:r>
            <a:r>
              <a:rPr lang="en-GB" dirty="0">
                <a:latin typeface="+mj-lt"/>
              </a:rPr>
              <a:t>, “Wasserstein Generative Adversarial Networks,” in </a:t>
            </a:r>
            <a:r>
              <a:rPr lang="en-GB" i="1" dirty="0">
                <a:latin typeface="+mj-lt"/>
              </a:rPr>
              <a:t>Proceedings of the 34th International Conference on Machine Learning</a:t>
            </a:r>
            <a:r>
              <a:rPr lang="en-GB" dirty="0">
                <a:latin typeface="+mj-lt"/>
              </a:rPr>
              <a:t>, PMLR, July 2017, pp. 214–223. Accessed: Aug. 27, 2025. [Online]. Available: </a:t>
            </a:r>
            <a:r>
              <a:rPr lang="en-GB" dirty="0">
                <a:latin typeface="+mj-lt"/>
                <a:hlinkClick r:id="rId8"/>
              </a:rPr>
              <a:t>https://proceedings.mlr.press/v70/arjovsky17a.html</a:t>
            </a:r>
            <a:endParaRPr lang="en-GB" dirty="0">
              <a:latin typeface="+mj-lt"/>
            </a:endParaRPr>
          </a:p>
          <a:p>
            <a:pPr marL="342900" indent="-342900">
              <a:buFont typeface="+mj-lt"/>
              <a:buAutoNum type="arabicPeriod"/>
            </a:pPr>
            <a:r>
              <a:rPr lang="en-GB" dirty="0">
                <a:latin typeface="+mj-lt"/>
              </a:rPr>
              <a:t>P. W. Battaglia </a:t>
            </a:r>
            <a:r>
              <a:rPr lang="en-GB" i="1" dirty="0">
                <a:latin typeface="+mj-lt"/>
              </a:rPr>
              <a:t>et al.</a:t>
            </a:r>
            <a:r>
              <a:rPr lang="en-GB" dirty="0">
                <a:latin typeface="+mj-lt"/>
              </a:rPr>
              <a:t>, “Relational inductive biases, deep learning, and graph networks,” </a:t>
            </a:r>
            <a:r>
              <a:rPr lang="en-GB" i="1" dirty="0">
                <a:latin typeface="+mj-lt"/>
              </a:rPr>
              <a:t>arXiv:1806.01261 [cs, stat]</a:t>
            </a:r>
            <a:r>
              <a:rPr lang="en-GB" dirty="0">
                <a:latin typeface="+mj-lt"/>
              </a:rPr>
              <a:t>, Oct. 2018, Accessed: Oct. 08, 2021. [Online]. Available: </a:t>
            </a:r>
            <a:r>
              <a:rPr lang="en-GB" dirty="0">
                <a:latin typeface="+mj-lt"/>
                <a:hlinkClick r:id="rId9"/>
              </a:rPr>
              <a:t>http://arxiv.org/abs/1806.01261</a:t>
            </a:r>
            <a:endParaRPr lang="en-GB" dirty="0">
              <a:latin typeface="+mj-lt"/>
            </a:endParaRPr>
          </a:p>
        </p:txBody>
      </p:sp>
      <p:sp>
        <p:nvSpPr>
          <p:cNvPr id="8" name="Title 7">
            <a:extLst>
              <a:ext uri="{FF2B5EF4-FFF2-40B4-BE49-F238E27FC236}">
                <a16:creationId xmlns:a16="http://schemas.microsoft.com/office/drawing/2014/main" id="{0946A676-F14A-7753-E20E-70A147E873B5}"/>
              </a:ext>
            </a:extLst>
          </p:cNvPr>
          <p:cNvSpPr>
            <a:spLocks noGrp="1"/>
          </p:cNvSpPr>
          <p:nvPr>
            <p:ph type="title"/>
          </p:nvPr>
        </p:nvSpPr>
        <p:spPr>
          <a:xfrm>
            <a:off x="904875" y="131032"/>
            <a:ext cx="7726363" cy="1072753"/>
          </a:xfrm>
        </p:spPr>
        <p:txBody>
          <a:bodyPr>
            <a:normAutofit/>
          </a:bodyPr>
          <a:lstStyle/>
          <a:p>
            <a:r>
              <a:rPr lang="en-US" dirty="0"/>
              <a:t>References</a:t>
            </a:r>
            <a:endParaRPr lang="en-GB" sz="2400" b="0" i="1" dirty="0"/>
          </a:p>
        </p:txBody>
      </p:sp>
      <p:sp>
        <p:nvSpPr>
          <p:cNvPr id="5" name="Date Placeholder 4">
            <a:extLst>
              <a:ext uri="{FF2B5EF4-FFF2-40B4-BE49-F238E27FC236}">
                <a16:creationId xmlns:a16="http://schemas.microsoft.com/office/drawing/2014/main" id="{703B1A90-61FC-E780-AB63-844619D3048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DBB4688-EC04-2DFE-CB21-9F6A9757C04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2A8F5F0-ADEF-9104-0A95-076F1003CD5B}"/>
              </a:ext>
            </a:extLst>
          </p:cNvPr>
          <p:cNvSpPr>
            <a:spLocks noGrp="1"/>
          </p:cNvSpPr>
          <p:nvPr>
            <p:ph type="sldNum" sz="quarter" idx="12"/>
          </p:nvPr>
        </p:nvSpPr>
        <p:spPr/>
        <p:txBody>
          <a:bodyPr/>
          <a:lstStyle/>
          <a:p>
            <a:fld id="{E1E1CD7C-2161-7D43-862E-CE4C333CD873}" type="slidenum">
              <a:rPr lang="fr-FR" smtClean="0"/>
              <a:pPr/>
              <a:t>81</a:t>
            </a:fld>
            <a:endParaRPr lang="fr-FR" dirty="0"/>
          </a:p>
        </p:txBody>
      </p:sp>
    </p:spTree>
    <p:extLst>
      <p:ext uri="{BB962C8B-B14F-4D97-AF65-F5344CB8AC3E}">
        <p14:creationId xmlns:p14="http://schemas.microsoft.com/office/powerpoint/2010/main" val="34657945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6693C0-AF06-D2CE-9C54-B57B5D571F4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0A597E4-55F2-9A9B-9168-87016B651EA7}"/>
              </a:ext>
            </a:extLst>
          </p:cNvPr>
          <p:cNvSpPr>
            <a:spLocks noGrp="1"/>
          </p:cNvSpPr>
          <p:nvPr>
            <p:ph idx="1"/>
          </p:nvPr>
        </p:nvSpPr>
        <p:spPr/>
        <p:txBody>
          <a:bodyPr anchor="ctr">
            <a:normAutofit fontScale="62500" lnSpcReduction="20000"/>
          </a:bodyPr>
          <a:lstStyle/>
          <a:p>
            <a:pPr marL="342900" indent="-342900">
              <a:buFont typeface="+mj-lt"/>
              <a:buAutoNum type="arabicPeriod" startAt="8"/>
            </a:pPr>
            <a:r>
              <a:rPr lang="en-GB" dirty="0">
                <a:latin typeface="+mj-lt"/>
              </a:rPr>
              <a:t>A. Lerer </a:t>
            </a:r>
            <a:r>
              <a:rPr lang="en-GB" i="1" dirty="0">
                <a:latin typeface="+mj-lt"/>
              </a:rPr>
              <a:t>et al.</a:t>
            </a:r>
            <a:r>
              <a:rPr lang="en-GB" dirty="0">
                <a:latin typeface="+mj-lt"/>
              </a:rPr>
              <a:t>, “</a:t>
            </a:r>
            <a:r>
              <a:rPr lang="en-GB" dirty="0" err="1">
                <a:latin typeface="+mj-lt"/>
              </a:rPr>
              <a:t>Pytorch-BigGraph</a:t>
            </a:r>
            <a:r>
              <a:rPr lang="en-GB" dirty="0">
                <a:latin typeface="+mj-lt"/>
              </a:rPr>
              <a:t>: A Large Scale Graph Embedding System,” </a:t>
            </a:r>
            <a:r>
              <a:rPr lang="en-GB" i="1" dirty="0">
                <a:latin typeface="+mj-lt"/>
              </a:rPr>
              <a:t>Proceedings of Machine Learning and Systems</a:t>
            </a:r>
            <a:r>
              <a:rPr lang="en-GB" dirty="0">
                <a:latin typeface="+mj-lt"/>
              </a:rPr>
              <a:t>, vol. 1, pp. 120–131, Apr. 2019, Accessed: Sept. 20, 2022. [Online]. Available: </a:t>
            </a:r>
            <a:r>
              <a:rPr lang="en-GB" dirty="0">
                <a:latin typeface="+mj-lt"/>
                <a:hlinkClick r:id="rId3"/>
              </a:rPr>
              <a:t>https://proceedings.mlsys.org/paper/2019/hash/e2c420d928d4bf8ce0ff2ec19b371514-Abstract.html</a:t>
            </a:r>
            <a:endParaRPr lang="en-GB" dirty="0">
              <a:latin typeface="+mj-lt"/>
            </a:endParaRPr>
          </a:p>
          <a:p>
            <a:pPr marL="342900" indent="-342900">
              <a:buFont typeface="+mj-lt"/>
              <a:buAutoNum type="arabicPeriod" startAt="8"/>
            </a:pPr>
            <a:r>
              <a:rPr lang="en-GB" dirty="0">
                <a:latin typeface="+mj-lt"/>
              </a:rPr>
              <a:t>D. Nathani, J. Chauhan, C. Sharma, and M. Kaul, “Learning Attention-based Embeddings for Relation Prediction in Knowledge Graphs,” in </a:t>
            </a:r>
            <a:r>
              <a:rPr lang="en-GB" i="1" dirty="0">
                <a:latin typeface="+mj-lt"/>
              </a:rPr>
              <a:t>Proceedings of the 57th Annual Meeting of the Association for Computational Linguistics</a:t>
            </a:r>
            <a:r>
              <a:rPr lang="en-GB" dirty="0">
                <a:latin typeface="+mj-lt"/>
              </a:rPr>
              <a:t>, Florence, Italy: Association for Computational Linguistics, July 2019, pp. 4710–4723. </a:t>
            </a:r>
            <a:r>
              <a:rPr lang="en-GB" dirty="0" err="1">
                <a:latin typeface="+mj-lt"/>
              </a:rPr>
              <a:t>doi</a:t>
            </a:r>
            <a:r>
              <a:rPr lang="en-GB" dirty="0">
                <a:latin typeface="+mj-lt"/>
              </a:rPr>
              <a:t>: </a:t>
            </a:r>
            <a:r>
              <a:rPr lang="en-GB" dirty="0">
                <a:latin typeface="+mj-lt"/>
                <a:hlinkClick r:id="rId4"/>
              </a:rPr>
              <a:t>10.18653/v1/P19-1466</a:t>
            </a:r>
            <a:r>
              <a:rPr lang="en-GB" dirty="0">
                <a:latin typeface="+mj-lt"/>
              </a:rPr>
              <a:t>.</a:t>
            </a:r>
          </a:p>
          <a:p>
            <a:pPr marL="342900" indent="-342900">
              <a:buFont typeface="+mj-lt"/>
              <a:buAutoNum type="arabicPeriod" startAt="8"/>
            </a:pPr>
            <a:r>
              <a:rPr lang="en-GB" dirty="0">
                <a:latin typeface="+mj-lt"/>
              </a:rPr>
              <a:t>H. Ren, W. Hu, and J. Leskovec, “Query2box: Reasoning over Knowledge Graphs in Vector Space Using Box Embeddings,” in </a:t>
            </a:r>
            <a:r>
              <a:rPr lang="en-GB" i="1" dirty="0">
                <a:latin typeface="+mj-lt"/>
              </a:rPr>
              <a:t>8th International Conference on Learning Representations, ICLR 2020, Addis Ababa, Ethiopia, April 26-30, 2020</a:t>
            </a:r>
            <a:r>
              <a:rPr lang="en-GB" dirty="0">
                <a:latin typeface="+mj-lt"/>
              </a:rPr>
              <a:t>, OpenReview.net, 2020. [Online]. Available: </a:t>
            </a:r>
            <a:r>
              <a:rPr lang="en-GB" dirty="0">
                <a:latin typeface="+mj-lt"/>
                <a:hlinkClick r:id="rId5"/>
              </a:rPr>
              <a:t>https://openreview.net/forum?id=BJgr4kSFDS</a:t>
            </a:r>
            <a:endParaRPr lang="en-GB" dirty="0">
              <a:latin typeface="+mj-lt"/>
            </a:endParaRPr>
          </a:p>
          <a:p>
            <a:pPr marL="342900" indent="-342900">
              <a:buFont typeface="+mj-lt"/>
              <a:buAutoNum type="arabicPeriod" startAt="8"/>
            </a:pPr>
            <a:r>
              <a:rPr lang="en-GB" dirty="0">
                <a:latin typeface="+mj-lt"/>
              </a:rPr>
              <a:t>R. Shen, K. Tian, and Y. Tat Lee, “Composite </a:t>
            </a:r>
            <a:r>
              <a:rPr lang="en-GB" dirty="0" err="1">
                <a:latin typeface="+mj-lt"/>
              </a:rPr>
              <a:t>Logconcave</a:t>
            </a:r>
            <a:r>
              <a:rPr lang="en-GB" dirty="0">
                <a:latin typeface="+mj-lt"/>
              </a:rPr>
              <a:t> Sampling with a Restricted Gaussian Oracle,” June 01, 2020, </a:t>
            </a:r>
            <a:r>
              <a:rPr lang="en-GB" i="1" dirty="0" err="1">
                <a:latin typeface="+mj-lt"/>
              </a:rPr>
              <a:t>arXiv</a:t>
            </a:r>
            <a:r>
              <a:rPr lang="en-GB" dirty="0">
                <a:latin typeface="+mj-lt"/>
              </a:rPr>
              <a:t>. </a:t>
            </a:r>
            <a:r>
              <a:rPr lang="en-GB" dirty="0" err="1">
                <a:latin typeface="+mj-lt"/>
              </a:rPr>
              <a:t>doi</a:t>
            </a:r>
            <a:r>
              <a:rPr lang="en-GB" dirty="0">
                <a:latin typeface="+mj-lt"/>
              </a:rPr>
              <a:t>: </a:t>
            </a:r>
            <a:r>
              <a:rPr lang="en-GB" dirty="0">
                <a:latin typeface="+mj-lt"/>
                <a:hlinkClick r:id="rId6"/>
              </a:rPr>
              <a:t>10.48550/arXiv.2006.05976</a:t>
            </a:r>
            <a:r>
              <a:rPr lang="en-GB" dirty="0">
                <a:latin typeface="+mj-lt"/>
              </a:rPr>
              <a:t>.</a:t>
            </a:r>
          </a:p>
          <a:p>
            <a:pPr marL="342900" indent="-342900">
              <a:buFont typeface="+mj-lt"/>
              <a:buAutoNum type="arabicPeriod" startAt="8"/>
            </a:pPr>
            <a:r>
              <a:rPr lang="en-GB" dirty="0">
                <a:latin typeface="+mj-lt"/>
              </a:rPr>
              <a:t>D. Zheng </a:t>
            </a:r>
            <a:r>
              <a:rPr lang="en-GB" i="1" dirty="0">
                <a:latin typeface="+mj-lt"/>
              </a:rPr>
              <a:t>et al.</a:t>
            </a:r>
            <a:r>
              <a:rPr lang="en-GB" dirty="0">
                <a:latin typeface="+mj-lt"/>
              </a:rPr>
              <a:t>, “DGL-KE: Training Knowledge Graph Embeddings at Scale,” in </a:t>
            </a:r>
            <a:r>
              <a:rPr lang="en-GB" i="1" dirty="0">
                <a:latin typeface="+mj-lt"/>
              </a:rPr>
              <a:t>Proceedings of the 43rd International ACM SIGIR Conference on Research and Development in Information Retrieval</a:t>
            </a:r>
            <a:r>
              <a:rPr lang="en-GB" dirty="0">
                <a:latin typeface="+mj-lt"/>
              </a:rPr>
              <a:t>, in SIGIR ’20. New York, NY, USA: Association for Computing Machinery, July 2020, pp. 739–748. </a:t>
            </a:r>
            <a:r>
              <a:rPr lang="en-GB" dirty="0" err="1">
                <a:latin typeface="+mj-lt"/>
              </a:rPr>
              <a:t>doi</a:t>
            </a:r>
            <a:r>
              <a:rPr lang="en-GB" dirty="0">
                <a:latin typeface="+mj-lt"/>
              </a:rPr>
              <a:t>: </a:t>
            </a:r>
            <a:r>
              <a:rPr lang="en-GB" dirty="0">
                <a:latin typeface="+mj-lt"/>
                <a:hlinkClick r:id="rId7"/>
              </a:rPr>
              <a:t>10.1145/3397271.3401172</a:t>
            </a:r>
            <a:r>
              <a:rPr lang="en-GB" dirty="0">
                <a:latin typeface="+mj-lt"/>
              </a:rPr>
              <a:t>.</a:t>
            </a:r>
          </a:p>
          <a:p>
            <a:pPr marL="342900" indent="-342900">
              <a:buFont typeface="+mj-lt"/>
              <a:buAutoNum type="arabicPeriod" startAt="8"/>
            </a:pPr>
            <a:r>
              <a:rPr lang="en-GB" dirty="0">
                <a:latin typeface="+mj-lt"/>
              </a:rPr>
              <a:t>I. Krawczuk, P. Abranches, A. Loukas, and V. Cevher, “GG-GAN: A Geometric Graph Generative Adversarial Network,” Sept. 2020, Accessed: Sept. 12, 2021. [Online]. Available: </a:t>
            </a:r>
            <a:r>
              <a:rPr lang="en-GB" dirty="0">
                <a:latin typeface="+mj-lt"/>
                <a:hlinkClick r:id="rId8"/>
              </a:rPr>
              <a:t>https://openreview.net/forum?id=qiAxL3Xqx1o</a:t>
            </a:r>
            <a:endParaRPr lang="en-GB" dirty="0">
              <a:latin typeface="+mj-lt"/>
            </a:endParaRPr>
          </a:p>
          <a:p>
            <a:pPr marL="342900" indent="-342900">
              <a:buFont typeface="+mj-lt"/>
              <a:buAutoNum type="arabicPeriod" startAt="8"/>
            </a:pPr>
            <a:r>
              <a:rPr lang="en-GB" dirty="0">
                <a:latin typeface="+mj-lt"/>
              </a:rPr>
              <a:t>A. Hogan </a:t>
            </a:r>
            <a:r>
              <a:rPr lang="en-GB" i="1" dirty="0">
                <a:latin typeface="+mj-lt"/>
              </a:rPr>
              <a:t>et al.</a:t>
            </a:r>
            <a:r>
              <a:rPr lang="en-GB" dirty="0">
                <a:latin typeface="+mj-lt"/>
              </a:rPr>
              <a:t>, “Knowledge Graphs,” </a:t>
            </a:r>
            <a:r>
              <a:rPr lang="en-GB" i="1" dirty="0">
                <a:latin typeface="+mj-lt"/>
              </a:rPr>
              <a:t>ACM Comput. </a:t>
            </a:r>
            <a:r>
              <a:rPr lang="en-GB" i="1" dirty="0" err="1">
                <a:latin typeface="+mj-lt"/>
              </a:rPr>
              <a:t>Surv</a:t>
            </a:r>
            <a:r>
              <a:rPr lang="en-GB" i="1" dirty="0">
                <a:latin typeface="+mj-lt"/>
              </a:rPr>
              <a:t>.</a:t>
            </a:r>
            <a:r>
              <a:rPr lang="en-GB" dirty="0">
                <a:latin typeface="+mj-lt"/>
              </a:rPr>
              <a:t>, vol. 54, no. 4, p. 71:1-71:37, July 2021, </a:t>
            </a:r>
            <a:r>
              <a:rPr lang="en-GB" dirty="0" err="1">
                <a:latin typeface="+mj-lt"/>
              </a:rPr>
              <a:t>doi</a:t>
            </a:r>
            <a:r>
              <a:rPr lang="en-GB" dirty="0">
                <a:latin typeface="+mj-lt"/>
              </a:rPr>
              <a:t>: </a:t>
            </a:r>
            <a:r>
              <a:rPr lang="en-GB" dirty="0">
                <a:latin typeface="+mj-lt"/>
                <a:hlinkClick r:id="rId9"/>
              </a:rPr>
              <a:t>10.1145/3447772</a:t>
            </a:r>
            <a:r>
              <a:rPr lang="en-GB" dirty="0">
                <a:latin typeface="+mj-lt"/>
              </a:rPr>
              <a:t>.</a:t>
            </a:r>
          </a:p>
        </p:txBody>
      </p:sp>
      <p:sp>
        <p:nvSpPr>
          <p:cNvPr id="8" name="Title 7">
            <a:extLst>
              <a:ext uri="{FF2B5EF4-FFF2-40B4-BE49-F238E27FC236}">
                <a16:creationId xmlns:a16="http://schemas.microsoft.com/office/drawing/2014/main" id="{0946A676-F14A-7753-E20E-70A147E873B5}"/>
              </a:ext>
            </a:extLst>
          </p:cNvPr>
          <p:cNvSpPr>
            <a:spLocks noGrp="1"/>
          </p:cNvSpPr>
          <p:nvPr>
            <p:ph type="title"/>
          </p:nvPr>
        </p:nvSpPr>
        <p:spPr>
          <a:xfrm>
            <a:off x="904875" y="131032"/>
            <a:ext cx="7726363" cy="1072753"/>
          </a:xfrm>
        </p:spPr>
        <p:txBody>
          <a:bodyPr>
            <a:normAutofit/>
          </a:bodyPr>
          <a:lstStyle/>
          <a:p>
            <a:r>
              <a:rPr lang="en-US" dirty="0"/>
              <a:t>References</a:t>
            </a:r>
            <a:endParaRPr lang="en-GB" sz="2400" b="0" i="1" dirty="0"/>
          </a:p>
        </p:txBody>
      </p:sp>
      <p:sp>
        <p:nvSpPr>
          <p:cNvPr id="5" name="Date Placeholder 4">
            <a:extLst>
              <a:ext uri="{FF2B5EF4-FFF2-40B4-BE49-F238E27FC236}">
                <a16:creationId xmlns:a16="http://schemas.microsoft.com/office/drawing/2014/main" id="{703B1A90-61FC-E780-AB63-844619D3048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DBB4688-EC04-2DFE-CB21-9F6A9757C04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2A8F5F0-ADEF-9104-0A95-076F1003CD5B}"/>
              </a:ext>
            </a:extLst>
          </p:cNvPr>
          <p:cNvSpPr>
            <a:spLocks noGrp="1"/>
          </p:cNvSpPr>
          <p:nvPr>
            <p:ph type="sldNum" sz="quarter" idx="12"/>
          </p:nvPr>
        </p:nvSpPr>
        <p:spPr/>
        <p:txBody>
          <a:bodyPr/>
          <a:lstStyle/>
          <a:p>
            <a:fld id="{E1E1CD7C-2161-7D43-862E-CE4C333CD873}" type="slidenum">
              <a:rPr lang="fr-FR" smtClean="0"/>
              <a:pPr/>
              <a:t>82</a:t>
            </a:fld>
            <a:endParaRPr lang="fr-FR" dirty="0"/>
          </a:p>
        </p:txBody>
      </p:sp>
    </p:spTree>
    <p:extLst>
      <p:ext uri="{BB962C8B-B14F-4D97-AF65-F5344CB8AC3E}">
        <p14:creationId xmlns:p14="http://schemas.microsoft.com/office/powerpoint/2010/main" val="2989178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6693C0-AF06-D2CE-9C54-B57B5D571F4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0A597E4-55F2-9A9B-9168-87016B651EA7}"/>
              </a:ext>
            </a:extLst>
          </p:cNvPr>
          <p:cNvSpPr>
            <a:spLocks noGrp="1"/>
          </p:cNvSpPr>
          <p:nvPr>
            <p:ph idx="1"/>
          </p:nvPr>
        </p:nvSpPr>
        <p:spPr/>
        <p:txBody>
          <a:bodyPr anchor="ctr">
            <a:normAutofit fontScale="62500" lnSpcReduction="20000"/>
          </a:bodyPr>
          <a:lstStyle/>
          <a:p>
            <a:pPr marL="342900" indent="-342900">
              <a:buFont typeface="+mj-lt"/>
              <a:buAutoNum type="arabicPeriod" startAt="15"/>
            </a:pPr>
            <a:r>
              <a:rPr lang="en-GB" dirty="0">
                <a:latin typeface="+mj-lt"/>
              </a:rPr>
              <a:t>A. Janchevski, “Graph Embedding Methods for Graph Completion,” Master’s Thesis, EPFL, Lausanne, 2021. [Online]. Available: </a:t>
            </a:r>
            <a:r>
              <a:rPr lang="en-GB" dirty="0">
                <a:latin typeface="+mj-lt"/>
                <a:hlinkClick r:id="rId3"/>
              </a:rPr>
              <a:t>https://infoscience.epfl.ch/handle/20.500.14299/253964</a:t>
            </a:r>
            <a:endParaRPr lang="en-GB" dirty="0">
              <a:latin typeface="+mj-lt"/>
            </a:endParaRPr>
          </a:p>
          <a:p>
            <a:pPr marL="342900" indent="-342900">
              <a:buFont typeface="+mj-lt"/>
              <a:buAutoNum type="arabicPeriod" startAt="15"/>
            </a:pPr>
            <a:r>
              <a:rPr lang="en-GB" dirty="0">
                <a:latin typeface="+mj-lt"/>
              </a:rPr>
              <a:t>H. Ren </a:t>
            </a:r>
            <a:r>
              <a:rPr lang="en-GB" i="1" dirty="0">
                <a:latin typeface="+mj-lt"/>
              </a:rPr>
              <a:t>et al.</a:t>
            </a:r>
            <a:r>
              <a:rPr lang="en-GB" dirty="0">
                <a:latin typeface="+mj-lt"/>
              </a:rPr>
              <a:t>, “SMORE: Knowledge Graph Completion and Multi-hop Reasoning in Massive Knowledge Graphs,” Nov. 01, 2021, </a:t>
            </a:r>
            <a:r>
              <a:rPr lang="en-GB" i="1" dirty="0" err="1">
                <a:latin typeface="+mj-lt"/>
              </a:rPr>
              <a:t>arXiv</a:t>
            </a:r>
            <a:r>
              <a:rPr lang="en-GB" dirty="0">
                <a:latin typeface="+mj-lt"/>
              </a:rPr>
              <a:t>: arXiv:2110.14890. </a:t>
            </a:r>
            <a:r>
              <a:rPr lang="en-GB" dirty="0" err="1">
                <a:latin typeface="+mj-lt"/>
              </a:rPr>
              <a:t>doi</a:t>
            </a:r>
            <a:r>
              <a:rPr lang="en-GB" dirty="0">
                <a:latin typeface="+mj-lt"/>
              </a:rPr>
              <a:t>: </a:t>
            </a:r>
            <a:r>
              <a:rPr lang="en-GB" dirty="0">
                <a:latin typeface="+mj-lt"/>
                <a:hlinkClick r:id="rId4"/>
              </a:rPr>
              <a:t>10.48550/arXiv.2110.14890</a:t>
            </a:r>
            <a:r>
              <a:rPr lang="en-GB" dirty="0">
                <a:latin typeface="+mj-lt"/>
              </a:rPr>
              <a:t>.</a:t>
            </a:r>
          </a:p>
          <a:p>
            <a:pPr marL="342900" indent="-342900">
              <a:buFont typeface="+mj-lt"/>
              <a:buAutoNum type="arabicPeriod" startAt="15"/>
            </a:pPr>
            <a:r>
              <a:rPr lang="en-GB" dirty="0">
                <a:latin typeface="+mj-lt"/>
              </a:rPr>
              <a:t>M. Galkin, E. G. Denis, J. Wu, and W. L. Hamilton, “</a:t>
            </a:r>
            <a:r>
              <a:rPr lang="en-GB" dirty="0" err="1">
                <a:latin typeface="+mj-lt"/>
              </a:rPr>
              <a:t>NodePiece</a:t>
            </a:r>
            <a:r>
              <a:rPr lang="en-GB" dirty="0">
                <a:latin typeface="+mj-lt"/>
              </a:rPr>
              <a:t>: Compositional and Parameter-Efficient Representations of Large Knowledge Graphs,” in </a:t>
            </a:r>
            <a:r>
              <a:rPr lang="en-GB" i="1" dirty="0">
                <a:latin typeface="+mj-lt"/>
              </a:rPr>
              <a:t>The Tenth International Conference on Learning Representations, ICLR 2022, Virtual Event, April 25-29, 2022</a:t>
            </a:r>
            <a:r>
              <a:rPr lang="en-GB" dirty="0">
                <a:latin typeface="+mj-lt"/>
              </a:rPr>
              <a:t>, OpenReview.net, 2022. [Online]. Available: </a:t>
            </a:r>
            <a:r>
              <a:rPr lang="en-GB" dirty="0">
                <a:latin typeface="+mj-lt"/>
                <a:hlinkClick r:id="rId5"/>
              </a:rPr>
              <a:t>https://openreview.net/forum?id=xMJWUKJnFSw</a:t>
            </a:r>
            <a:endParaRPr lang="en-GB" dirty="0">
              <a:latin typeface="+mj-lt"/>
            </a:endParaRPr>
          </a:p>
          <a:p>
            <a:pPr marL="342900" indent="-342900">
              <a:buFont typeface="+mj-lt"/>
              <a:buAutoNum type="arabicPeriod" startAt="15"/>
            </a:pPr>
            <a:r>
              <a:rPr lang="en-GB" dirty="0">
                <a:latin typeface="+mj-lt"/>
              </a:rPr>
              <a:t>C. </a:t>
            </a:r>
            <a:r>
              <a:rPr lang="en-GB" dirty="0" err="1">
                <a:latin typeface="+mj-lt"/>
              </a:rPr>
              <a:t>Vignac</a:t>
            </a:r>
            <a:r>
              <a:rPr lang="en-GB" dirty="0">
                <a:latin typeface="+mj-lt"/>
              </a:rPr>
              <a:t>, I. Krawczuk, A. </a:t>
            </a:r>
            <a:r>
              <a:rPr lang="en-GB" dirty="0" err="1">
                <a:latin typeface="+mj-lt"/>
              </a:rPr>
              <a:t>Siraudin</a:t>
            </a:r>
            <a:r>
              <a:rPr lang="en-GB" dirty="0">
                <a:latin typeface="+mj-lt"/>
              </a:rPr>
              <a:t>, B. Wang, V. Cevher, and P. Frossard, “</a:t>
            </a:r>
            <a:r>
              <a:rPr lang="en-GB" dirty="0" err="1">
                <a:latin typeface="+mj-lt"/>
              </a:rPr>
              <a:t>DiGress</a:t>
            </a:r>
            <a:r>
              <a:rPr lang="en-GB" dirty="0">
                <a:latin typeface="+mj-lt"/>
              </a:rPr>
              <a:t>: Discrete Denoising diffusion for graph generation,” presented at the </a:t>
            </a:r>
            <a:r>
              <a:rPr lang="en-GB" dirty="0" err="1">
                <a:latin typeface="+mj-lt"/>
              </a:rPr>
              <a:t>The</a:t>
            </a:r>
            <a:r>
              <a:rPr lang="en-GB" dirty="0">
                <a:latin typeface="+mj-lt"/>
              </a:rPr>
              <a:t> Eleventh International Conference on Learning Representations, Sept. 2022. Accessed: Jan. 30, 2025. [Online]. Available: </a:t>
            </a:r>
            <a:r>
              <a:rPr lang="en-GB" dirty="0">
                <a:latin typeface="+mj-lt"/>
                <a:hlinkClick r:id="rId6"/>
              </a:rPr>
              <a:t>https://openreview.net/forum?id=UaAD-Nu86WX</a:t>
            </a:r>
            <a:endParaRPr lang="en-GB" dirty="0">
              <a:latin typeface="+mj-lt"/>
            </a:endParaRPr>
          </a:p>
          <a:p>
            <a:pPr marL="342900" indent="-342900">
              <a:buFont typeface="+mj-lt"/>
              <a:buAutoNum type="arabicPeriod" startAt="15"/>
            </a:pPr>
            <a:r>
              <a:rPr lang="en-GB" dirty="0">
                <a:latin typeface="+mj-lt"/>
              </a:rPr>
              <a:t>M. Chen </a:t>
            </a:r>
            <a:r>
              <a:rPr lang="en-GB" i="1" dirty="0">
                <a:latin typeface="+mj-lt"/>
              </a:rPr>
              <a:t>et al.</a:t>
            </a:r>
            <a:r>
              <a:rPr lang="en-GB" dirty="0">
                <a:latin typeface="+mj-lt"/>
              </a:rPr>
              <a:t>, “Entity-Agnostic Representation Learning for Parameter-Efficient Knowledge Graph Embedding,” </a:t>
            </a:r>
            <a:r>
              <a:rPr lang="en-GB" i="1" dirty="0">
                <a:latin typeface="+mj-lt"/>
              </a:rPr>
              <a:t>Proceedings of the AAAI Conference on Artificial Intelligence</a:t>
            </a:r>
            <a:r>
              <a:rPr lang="en-GB" dirty="0">
                <a:latin typeface="+mj-lt"/>
              </a:rPr>
              <a:t>, vol. 37, no. 4, Art. no. 4, June 2023, </a:t>
            </a:r>
            <a:r>
              <a:rPr lang="en-GB" dirty="0" err="1">
                <a:latin typeface="+mj-lt"/>
              </a:rPr>
              <a:t>doi</a:t>
            </a:r>
            <a:r>
              <a:rPr lang="en-GB" dirty="0">
                <a:latin typeface="+mj-lt"/>
              </a:rPr>
              <a:t>: </a:t>
            </a:r>
            <a:r>
              <a:rPr lang="en-GB" dirty="0">
                <a:latin typeface="+mj-lt"/>
                <a:hlinkClick r:id="rId7"/>
              </a:rPr>
              <a:t>10.1609/aaai.v37i4.25535</a:t>
            </a:r>
            <a:r>
              <a:rPr lang="en-GB" dirty="0">
                <a:latin typeface="+mj-lt"/>
              </a:rPr>
              <a:t>.</a:t>
            </a:r>
          </a:p>
          <a:p>
            <a:pPr marL="342900" indent="-342900">
              <a:buFont typeface="+mj-lt"/>
              <a:buAutoNum type="arabicPeriod" startAt="15"/>
            </a:pPr>
            <a:r>
              <a:rPr lang="en-GB" dirty="0">
                <a:latin typeface="+mj-lt"/>
              </a:rPr>
              <a:t>W. Shiao, U. S. Saini, Y. Liu, T. Zhao, N. Shah, and E. E. </a:t>
            </a:r>
            <a:r>
              <a:rPr lang="en-GB" dirty="0" err="1">
                <a:latin typeface="+mj-lt"/>
              </a:rPr>
              <a:t>Papalexakis</a:t>
            </a:r>
            <a:r>
              <a:rPr lang="en-GB" dirty="0">
                <a:latin typeface="+mj-lt"/>
              </a:rPr>
              <a:t>, “CARL-G: Clustering-Accelerated Representation Learning on Graphs,” in </a:t>
            </a:r>
            <a:r>
              <a:rPr lang="en-GB" i="1" dirty="0">
                <a:latin typeface="+mj-lt"/>
              </a:rPr>
              <a:t>Proceedings of the 29th ACM SIGKDD Conference on Knowledge Discovery and Data Mining</a:t>
            </a:r>
            <a:r>
              <a:rPr lang="en-GB" dirty="0">
                <a:latin typeface="+mj-lt"/>
              </a:rPr>
              <a:t>, Aug. 2023, pp. 2036–2048. </a:t>
            </a:r>
            <a:r>
              <a:rPr lang="en-GB" dirty="0" err="1">
                <a:latin typeface="+mj-lt"/>
              </a:rPr>
              <a:t>doi</a:t>
            </a:r>
            <a:r>
              <a:rPr lang="en-GB" dirty="0">
                <a:latin typeface="+mj-lt"/>
              </a:rPr>
              <a:t>: </a:t>
            </a:r>
            <a:r>
              <a:rPr lang="en-GB" dirty="0">
                <a:latin typeface="+mj-lt"/>
                <a:hlinkClick r:id="rId8"/>
              </a:rPr>
              <a:t>10.1145/3580305.3599268</a:t>
            </a:r>
            <a:r>
              <a:rPr lang="en-GB" dirty="0">
                <a:latin typeface="+mj-lt"/>
              </a:rPr>
              <a:t>.</a:t>
            </a:r>
          </a:p>
          <a:p>
            <a:pPr marL="342900" indent="-342900">
              <a:buFont typeface="+mj-lt"/>
              <a:buAutoNum type="arabicPeriod" startAt="15"/>
            </a:pPr>
            <a:r>
              <a:rPr lang="en-GB" dirty="0">
                <a:latin typeface="+mj-lt"/>
              </a:rPr>
              <a:t>T. </a:t>
            </a:r>
            <a:r>
              <a:rPr lang="en-GB" dirty="0" err="1">
                <a:latin typeface="+mj-lt"/>
              </a:rPr>
              <a:t>Thanapalasingam</a:t>
            </a:r>
            <a:r>
              <a:rPr lang="en-GB" dirty="0">
                <a:latin typeface="+mj-lt"/>
              </a:rPr>
              <a:t>, E. van Krieken, P. Bloem, and P. </a:t>
            </a:r>
            <a:r>
              <a:rPr lang="en-GB" dirty="0" err="1">
                <a:latin typeface="+mj-lt"/>
              </a:rPr>
              <a:t>Groth</a:t>
            </a:r>
            <a:r>
              <a:rPr lang="en-GB" dirty="0">
                <a:latin typeface="+mj-lt"/>
              </a:rPr>
              <a:t>, “</a:t>
            </a:r>
            <a:r>
              <a:rPr lang="en-GB" dirty="0" err="1">
                <a:latin typeface="+mj-lt"/>
              </a:rPr>
              <a:t>IntelliGraphs</a:t>
            </a:r>
            <a:r>
              <a:rPr lang="en-GB" dirty="0">
                <a:latin typeface="+mj-lt"/>
              </a:rPr>
              <a:t>: Datasets for Benchmarking Knowledge Graph Generation,” Aug. 25, 2023, </a:t>
            </a:r>
            <a:r>
              <a:rPr lang="en-GB" i="1" dirty="0" err="1">
                <a:latin typeface="+mj-lt"/>
              </a:rPr>
              <a:t>arXiv</a:t>
            </a:r>
            <a:r>
              <a:rPr lang="en-GB" dirty="0">
                <a:latin typeface="+mj-lt"/>
              </a:rPr>
              <a:t>: arXiv:2307.06698. </a:t>
            </a:r>
            <a:r>
              <a:rPr lang="en-GB" dirty="0" err="1">
                <a:latin typeface="+mj-lt"/>
              </a:rPr>
              <a:t>doi</a:t>
            </a:r>
            <a:r>
              <a:rPr lang="en-GB" dirty="0">
                <a:latin typeface="+mj-lt"/>
              </a:rPr>
              <a:t>: </a:t>
            </a:r>
            <a:r>
              <a:rPr lang="en-GB" dirty="0">
                <a:latin typeface="+mj-lt"/>
                <a:hlinkClick r:id="rId9"/>
              </a:rPr>
              <a:t>10.48550/arXiv.2307.06698</a:t>
            </a:r>
            <a:r>
              <a:rPr lang="en-GB" dirty="0">
                <a:latin typeface="+mj-lt"/>
              </a:rPr>
              <a:t>.</a:t>
            </a:r>
          </a:p>
          <a:p>
            <a:pPr marL="342900" indent="-342900">
              <a:buFont typeface="+mj-lt"/>
              <a:buAutoNum type="arabicPeriod" startAt="15"/>
            </a:pPr>
            <a:r>
              <a:rPr lang="en-GB" dirty="0">
                <a:latin typeface="+mj-lt"/>
              </a:rPr>
              <a:t>M. Karami, “</a:t>
            </a:r>
            <a:r>
              <a:rPr lang="en-GB" dirty="0" err="1">
                <a:latin typeface="+mj-lt"/>
              </a:rPr>
              <a:t>HiGen</a:t>
            </a:r>
            <a:r>
              <a:rPr lang="en-GB" dirty="0">
                <a:latin typeface="+mj-lt"/>
              </a:rPr>
              <a:t>: Hierarchical Graph Generative Networks,” in </a:t>
            </a:r>
            <a:r>
              <a:rPr lang="en-GB" i="1" dirty="0">
                <a:latin typeface="+mj-lt"/>
              </a:rPr>
              <a:t>The Twelfth International Conference on Learning Representations</a:t>
            </a:r>
            <a:r>
              <a:rPr lang="en-GB" dirty="0">
                <a:latin typeface="+mj-lt"/>
              </a:rPr>
              <a:t>, 2024. [Online]. Available: </a:t>
            </a:r>
            <a:r>
              <a:rPr lang="en-GB" dirty="0">
                <a:latin typeface="+mj-lt"/>
                <a:hlinkClick r:id="rId10"/>
              </a:rPr>
              <a:t>https://openreview.net/forum?id=KNvubydSB5</a:t>
            </a:r>
            <a:endParaRPr lang="en-GB" dirty="0">
              <a:latin typeface="+mj-lt"/>
            </a:endParaRPr>
          </a:p>
        </p:txBody>
      </p:sp>
      <p:sp>
        <p:nvSpPr>
          <p:cNvPr id="8" name="Title 7">
            <a:extLst>
              <a:ext uri="{FF2B5EF4-FFF2-40B4-BE49-F238E27FC236}">
                <a16:creationId xmlns:a16="http://schemas.microsoft.com/office/drawing/2014/main" id="{0946A676-F14A-7753-E20E-70A147E873B5}"/>
              </a:ext>
            </a:extLst>
          </p:cNvPr>
          <p:cNvSpPr>
            <a:spLocks noGrp="1"/>
          </p:cNvSpPr>
          <p:nvPr>
            <p:ph type="title"/>
          </p:nvPr>
        </p:nvSpPr>
        <p:spPr>
          <a:xfrm>
            <a:off x="904875" y="131032"/>
            <a:ext cx="7726363" cy="1072753"/>
          </a:xfrm>
        </p:spPr>
        <p:txBody>
          <a:bodyPr>
            <a:normAutofit/>
          </a:bodyPr>
          <a:lstStyle/>
          <a:p>
            <a:r>
              <a:rPr lang="en-US" dirty="0"/>
              <a:t>References</a:t>
            </a:r>
            <a:endParaRPr lang="en-GB" sz="2400" b="0" i="1" dirty="0"/>
          </a:p>
        </p:txBody>
      </p:sp>
      <p:sp>
        <p:nvSpPr>
          <p:cNvPr id="5" name="Date Placeholder 4">
            <a:extLst>
              <a:ext uri="{FF2B5EF4-FFF2-40B4-BE49-F238E27FC236}">
                <a16:creationId xmlns:a16="http://schemas.microsoft.com/office/drawing/2014/main" id="{703B1A90-61FC-E780-AB63-844619D3048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DBB4688-EC04-2DFE-CB21-9F6A9757C04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2A8F5F0-ADEF-9104-0A95-076F1003CD5B}"/>
              </a:ext>
            </a:extLst>
          </p:cNvPr>
          <p:cNvSpPr>
            <a:spLocks noGrp="1"/>
          </p:cNvSpPr>
          <p:nvPr>
            <p:ph type="sldNum" sz="quarter" idx="12"/>
          </p:nvPr>
        </p:nvSpPr>
        <p:spPr/>
        <p:txBody>
          <a:bodyPr/>
          <a:lstStyle/>
          <a:p>
            <a:fld id="{E1E1CD7C-2161-7D43-862E-CE4C333CD873}" type="slidenum">
              <a:rPr lang="fr-FR" smtClean="0"/>
              <a:pPr/>
              <a:t>83</a:t>
            </a:fld>
            <a:endParaRPr lang="fr-FR" dirty="0"/>
          </a:p>
        </p:txBody>
      </p:sp>
    </p:spTree>
    <p:extLst>
      <p:ext uri="{BB962C8B-B14F-4D97-AF65-F5344CB8AC3E}">
        <p14:creationId xmlns:p14="http://schemas.microsoft.com/office/powerpoint/2010/main" val="14247917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6693C0-AF06-D2CE-9C54-B57B5D571F4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0A597E4-55F2-9A9B-9168-87016B651EA7}"/>
              </a:ext>
            </a:extLst>
          </p:cNvPr>
          <p:cNvSpPr>
            <a:spLocks noGrp="1"/>
          </p:cNvSpPr>
          <p:nvPr>
            <p:ph idx="1"/>
          </p:nvPr>
        </p:nvSpPr>
        <p:spPr/>
        <p:txBody>
          <a:bodyPr anchor="ctr">
            <a:normAutofit fontScale="62500" lnSpcReduction="20000"/>
          </a:bodyPr>
          <a:lstStyle/>
          <a:p>
            <a:pPr marL="342900" indent="-342900">
              <a:buFont typeface="+mj-lt"/>
              <a:buAutoNum type="arabicPeriod" startAt="22"/>
            </a:pPr>
            <a:r>
              <a:rPr lang="en-GB" dirty="0">
                <a:latin typeface="+mj-lt"/>
              </a:rPr>
              <a:t>M. Karami, I. Krawczuk, and V. Cevher, “Multi-Resolution Graph Diffusion,” in </a:t>
            </a:r>
            <a:r>
              <a:rPr lang="en-GB" i="1" dirty="0">
                <a:latin typeface="+mj-lt"/>
              </a:rPr>
              <a:t>ICLR 2024 Workshop on Machine Learning for Genomics Explorations</a:t>
            </a:r>
            <a:r>
              <a:rPr lang="en-GB" dirty="0">
                <a:latin typeface="+mj-lt"/>
              </a:rPr>
              <a:t>, 2024. [Online]. Available: </a:t>
            </a:r>
            <a:r>
              <a:rPr lang="en-GB" dirty="0">
                <a:latin typeface="+mj-lt"/>
                <a:hlinkClick r:id="rId3"/>
              </a:rPr>
              <a:t>https://openreview.net/forum?id=0rZiMEOzh0</a:t>
            </a:r>
            <a:endParaRPr lang="en-GB" dirty="0">
              <a:latin typeface="+mj-lt"/>
            </a:endParaRPr>
          </a:p>
          <a:p>
            <a:pPr marL="342900" indent="-342900">
              <a:buFont typeface="+mj-lt"/>
              <a:buAutoNum type="arabicPeriod" startAt="22"/>
            </a:pPr>
            <a:r>
              <a:rPr lang="en-GB" dirty="0">
                <a:latin typeface="+mj-lt"/>
              </a:rPr>
              <a:t>I. Krawczuk, “Graph generative deep learning models with an application to circuit topologies,” PhD Thesis, EPFL, Lausanne, 2024. </a:t>
            </a:r>
            <a:r>
              <a:rPr lang="en-GB" dirty="0" err="1">
                <a:latin typeface="+mj-lt"/>
              </a:rPr>
              <a:t>doi</a:t>
            </a:r>
            <a:r>
              <a:rPr lang="en-GB" dirty="0">
                <a:latin typeface="+mj-lt"/>
              </a:rPr>
              <a:t>: </a:t>
            </a:r>
            <a:r>
              <a:rPr lang="en-GB" dirty="0">
                <a:latin typeface="+mj-lt"/>
                <a:hlinkClick r:id="rId4"/>
              </a:rPr>
              <a:t>10.5075/epfl-thesis-9020</a:t>
            </a:r>
            <a:r>
              <a:rPr lang="en-GB" dirty="0">
                <a:latin typeface="+mj-lt"/>
              </a:rPr>
              <a:t>.</a:t>
            </a:r>
          </a:p>
          <a:p>
            <a:pPr marL="342900" indent="-342900">
              <a:buFont typeface="+mj-lt"/>
              <a:buAutoNum type="arabicPeriod" startAt="22"/>
            </a:pPr>
            <a:r>
              <a:rPr lang="en-GB" dirty="0">
                <a:latin typeface="+mj-lt"/>
              </a:rPr>
              <a:t>S. Saremi, J. W. Park, and F. Bach, “Chain of Log-Concave Markov Chains,” in </a:t>
            </a:r>
            <a:r>
              <a:rPr lang="en-GB" i="1" dirty="0">
                <a:latin typeface="+mj-lt"/>
              </a:rPr>
              <a:t>The Twelfth International Conference on Learning Representations</a:t>
            </a:r>
            <a:r>
              <a:rPr lang="en-GB" dirty="0">
                <a:latin typeface="+mj-lt"/>
              </a:rPr>
              <a:t>, 2024. [Online]. Available: </a:t>
            </a:r>
            <a:r>
              <a:rPr lang="en-GB" dirty="0">
                <a:latin typeface="+mj-lt"/>
                <a:hlinkClick r:id="rId5"/>
              </a:rPr>
              <a:t>https://openreview.net/forum?id=yiMB2DOjsR</a:t>
            </a:r>
            <a:endParaRPr lang="en-GB" dirty="0">
              <a:latin typeface="+mj-lt"/>
            </a:endParaRPr>
          </a:p>
          <a:p>
            <a:pPr marL="342900" indent="-342900">
              <a:buFont typeface="+mj-lt"/>
              <a:buAutoNum type="arabicPeriod" startAt="22"/>
            </a:pPr>
            <a:r>
              <a:rPr lang="en-GB" dirty="0">
                <a:latin typeface="+mj-lt"/>
              </a:rPr>
              <a:t>E. </a:t>
            </a:r>
            <a:r>
              <a:rPr lang="en-GB" dirty="0" err="1">
                <a:latin typeface="+mj-lt"/>
              </a:rPr>
              <a:t>Mahmoudzadeh</a:t>
            </a:r>
            <a:r>
              <a:rPr lang="en-GB" dirty="0">
                <a:latin typeface="+mj-lt"/>
              </a:rPr>
              <a:t>, P. Naddaf, K. </a:t>
            </a:r>
            <a:r>
              <a:rPr lang="en-GB" dirty="0" err="1">
                <a:latin typeface="+mj-lt"/>
              </a:rPr>
              <a:t>Zahirnia</a:t>
            </a:r>
            <a:r>
              <a:rPr lang="en-GB" dirty="0">
                <a:latin typeface="+mj-lt"/>
              </a:rPr>
              <a:t>, and O. Schulte, “Deep Generative Models for Subgraph Prediction,” Aug. 07, 2024, </a:t>
            </a:r>
            <a:r>
              <a:rPr lang="en-GB" i="1" dirty="0" err="1">
                <a:latin typeface="+mj-lt"/>
              </a:rPr>
              <a:t>arXiv</a:t>
            </a:r>
            <a:r>
              <a:rPr lang="en-GB" dirty="0">
                <a:latin typeface="+mj-lt"/>
              </a:rPr>
              <a:t>: arXiv:2408.04053. </a:t>
            </a:r>
            <a:r>
              <a:rPr lang="en-GB" dirty="0" err="1">
                <a:latin typeface="+mj-lt"/>
              </a:rPr>
              <a:t>doi</a:t>
            </a:r>
            <a:r>
              <a:rPr lang="en-GB" dirty="0">
                <a:latin typeface="+mj-lt"/>
              </a:rPr>
              <a:t>: </a:t>
            </a:r>
            <a:r>
              <a:rPr lang="en-GB" dirty="0">
                <a:latin typeface="+mj-lt"/>
                <a:hlinkClick r:id="rId6"/>
              </a:rPr>
              <a:t>10.48550/arXiv.2408.04053</a:t>
            </a:r>
            <a:r>
              <a:rPr lang="en-GB" dirty="0">
                <a:latin typeface="+mj-lt"/>
              </a:rPr>
              <a:t>.</a:t>
            </a:r>
          </a:p>
          <a:p>
            <a:pPr marL="342900" indent="-342900">
              <a:buFont typeface="+mj-lt"/>
              <a:buAutoNum type="arabicPeriod" startAt="22"/>
            </a:pPr>
            <a:r>
              <a:rPr lang="en-GB" dirty="0">
                <a:latin typeface="+mj-lt"/>
              </a:rPr>
              <a:t>L. T. Dadi, A. Janchevski, and V. Cevher, “Improving Single Noise Level Denoising Samplers with Restricted Gaussian Oracles,” in </a:t>
            </a:r>
            <a:r>
              <a:rPr lang="en-GB" i="1" dirty="0">
                <a:latin typeface="+mj-lt"/>
              </a:rPr>
              <a:t>ICLR 2025 Workshop on Deep Generative Model in Machine Learning: Theory, Principle and Efficacy</a:t>
            </a:r>
            <a:r>
              <a:rPr lang="en-GB" dirty="0">
                <a:latin typeface="+mj-lt"/>
              </a:rPr>
              <a:t>, 2025. [Online]. Available: </a:t>
            </a:r>
            <a:r>
              <a:rPr lang="en-GB" dirty="0">
                <a:latin typeface="+mj-lt"/>
                <a:hlinkClick r:id="rId7"/>
              </a:rPr>
              <a:t>https://openreview.net/forum?id=xkiI5tou6J</a:t>
            </a:r>
            <a:endParaRPr lang="en-GB" dirty="0">
              <a:latin typeface="+mj-lt"/>
            </a:endParaRPr>
          </a:p>
          <a:p>
            <a:pPr marL="342900" indent="-342900">
              <a:buFont typeface="+mj-lt"/>
              <a:buAutoNum type="arabicPeriod" startAt="22"/>
            </a:pPr>
            <a:r>
              <a:rPr lang="en-GB" dirty="0">
                <a:latin typeface="+mj-lt"/>
              </a:rPr>
              <a:t>A. Janchevski, V. </a:t>
            </a:r>
            <a:r>
              <a:rPr lang="en-GB" dirty="0" err="1">
                <a:latin typeface="+mj-lt"/>
              </a:rPr>
              <a:t>Coriou</a:t>
            </a:r>
            <a:r>
              <a:rPr lang="en-GB" dirty="0">
                <a:latin typeface="+mj-lt"/>
              </a:rPr>
              <a:t>, and V. Cevher, “COINs: Knowledge Graph Inference with Model-based Acceleration,” in </a:t>
            </a:r>
            <a:r>
              <a:rPr lang="en-GB" i="1" dirty="0">
                <a:latin typeface="+mj-lt"/>
              </a:rPr>
              <a:t>ICT Innovations 2025. AI and the Digital Frontier: Reshaping Modern Society Through Technology and Computer Science</a:t>
            </a:r>
            <a:r>
              <a:rPr lang="en-GB" dirty="0">
                <a:latin typeface="+mj-lt"/>
              </a:rPr>
              <a:t>, I. </a:t>
            </a:r>
            <a:r>
              <a:rPr lang="en-GB" dirty="0" err="1">
                <a:latin typeface="+mj-lt"/>
              </a:rPr>
              <a:t>Chorbev</a:t>
            </a:r>
            <a:r>
              <a:rPr lang="en-GB" dirty="0">
                <a:latin typeface="+mj-lt"/>
              </a:rPr>
              <a:t>, D. Spasov, and B. R. </a:t>
            </a:r>
            <a:r>
              <a:rPr lang="en-GB" dirty="0" err="1">
                <a:latin typeface="+mj-lt"/>
              </a:rPr>
              <a:t>Stojkovska</a:t>
            </a:r>
            <a:r>
              <a:rPr lang="en-GB" dirty="0">
                <a:latin typeface="+mj-lt"/>
              </a:rPr>
              <a:t>, Eds., in Communications in Computer and Information Science. Cham: Springer International Publishing, 2025.</a:t>
            </a:r>
          </a:p>
          <a:p>
            <a:pPr marL="342900" indent="-342900">
              <a:buFont typeface="+mj-lt"/>
              <a:buAutoNum type="arabicPeriod" startAt="22"/>
            </a:pPr>
            <a:r>
              <a:rPr lang="en-GB" dirty="0">
                <a:latin typeface="+mj-lt"/>
              </a:rPr>
              <a:t>N. Dong, N. </a:t>
            </a:r>
            <a:r>
              <a:rPr lang="en-GB" dirty="0" err="1">
                <a:latin typeface="+mj-lt"/>
              </a:rPr>
              <a:t>Kertkeidkachorn</a:t>
            </a:r>
            <a:r>
              <a:rPr lang="en-GB" dirty="0">
                <a:latin typeface="+mj-lt"/>
              </a:rPr>
              <a:t>, X. Liu, and K. Shirai, “Refining Noisy Knowledge Graph with Large Language Models,” in </a:t>
            </a:r>
            <a:r>
              <a:rPr lang="en-GB" i="1" dirty="0">
                <a:latin typeface="+mj-lt"/>
              </a:rPr>
              <a:t>Proceedings of the Workshop on Generative AI and Knowledge Graphs (</a:t>
            </a:r>
            <a:r>
              <a:rPr lang="en-GB" i="1" dirty="0" err="1">
                <a:latin typeface="+mj-lt"/>
              </a:rPr>
              <a:t>GenAIK</a:t>
            </a:r>
            <a:r>
              <a:rPr lang="en-GB" i="1" dirty="0">
                <a:latin typeface="+mj-lt"/>
              </a:rPr>
              <a:t>)</a:t>
            </a:r>
            <a:r>
              <a:rPr lang="en-GB" dirty="0">
                <a:latin typeface="+mj-lt"/>
              </a:rPr>
              <a:t>, G. A. </a:t>
            </a:r>
            <a:r>
              <a:rPr lang="en-GB" dirty="0" err="1">
                <a:latin typeface="+mj-lt"/>
              </a:rPr>
              <a:t>Gesese</a:t>
            </a:r>
            <a:r>
              <a:rPr lang="en-GB" dirty="0">
                <a:latin typeface="+mj-lt"/>
              </a:rPr>
              <a:t>, H. Sack, H. Paulheim, A. </a:t>
            </a:r>
            <a:r>
              <a:rPr lang="en-GB" dirty="0" err="1">
                <a:latin typeface="+mj-lt"/>
              </a:rPr>
              <a:t>Merono</a:t>
            </a:r>
            <a:r>
              <a:rPr lang="en-GB" dirty="0">
                <a:latin typeface="+mj-lt"/>
              </a:rPr>
              <a:t>-Penuela, and L. Chen, Eds., Abu Dhabi, UAE: International Committee on Computational Linguistics, Jan. 2025, pp. 78–86. [Online]. Available: </a:t>
            </a:r>
            <a:r>
              <a:rPr lang="en-GB" dirty="0">
                <a:latin typeface="+mj-lt"/>
                <a:hlinkClick r:id="rId8"/>
              </a:rPr>
              <a:t>https://aclanthology.org/2025.genaik-1.9/</a:t>
            </a:r>
            <a:endParaRPr lang="en-GB" dirty="0">
              <a:latin typeface="+mj-lt"/>
            </a:endParaRPr>
          </a:p>
          <a:p>
            <a:pPr marL="342900" indent="-342900">
              <a:buFont typeface="+mj-lt"/>
              <a:buAutoNum type="arabicPeriod" startAt="22"/>
            </a:pPr>
            <a:endParaRPr lang="en-US" dirty="0">
              <a:latin typeface="+mj-lt"/>
            </a:endParaRPr>
          </a:p>
        </p:txBody>
      </p:sp>
      <p:sp>
        <p:nvSpPr>
          <p:cNvPr id="8" name="Title 7">
            <a:extLst>
              <a:ext uri="{FF2B5EF4-FFF2-40B4-BE49-F238E27FC236}">
                <a16:creationId xmlns:a16="http://schemas.microsoft.com/office/drawing/2014/main" id="{0946A676-F14A-7753-E20E-70A147E873B5}"/>
              </a:ext>
            </a:extLst>
          </p:cNvPr>
          <p:cNvSpPr>
            <a:spLocks noGrp="1"/>
          </p:cNvSpPr>
          <p:nvPr>
            <p:ph type="title"/>
          </p:nvPr>
        </p:nvSpPr>
        <p:spPr>
          <a:xfrm>
            <a:off x="904875" y="131032"/>
            <a:ext cx="7726363" cy="1072753"/>
          </a:xfrm>
        </p:spPr>
        <p:txBody>
          <a:bodyPr>
            <a:normAutofit/>
          </a:bodyPr>
          <a:lstStyle/>
          <a:p>
            <a:r>
              <a:rPr lang="en-US" dirty="0"/>
              <a:t>References</a:t>
            </a:r>
            <a:endParaRPr lang="en-GB" sz="2400" b="0" i="1" dirty="0"/>
          </a:p>
        </p:txBody>
      </p:sp>
      <p:sp>
        <p:nvSpPr>
          <p:cNvPr id="5" name="Date Placeholder 4">
            <a:extLst>
              <a:ext uri="{FF2B5EF4-FFF2-40B4-BE49-F238E27FC236}">
                <a16:creationId xmlns:a16="http://schemas.microsoft.com/office/drawing/2014/main" id="{703B1A90-61FC-E780-AB63-844619D3048A}"/>
              </a:ext>
            </a:extLst>
          </p:cNvPr>
          <p:cNvSpPr>
            <a:spLocks noGrp="1"/>
          </p:cNvSpPr>
          <p:nvPr>
            <p:ph type="dt" sz="half" idx="10"/>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9DBB4688-EC04-2DFE-CB21-9F6A9757C04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22A8F5F0-ADEF-9104-0A95-076F1003CD5B}"/>
              </a:ext>
            </a:extLst>
          </p:cNvPr>
          <p:cNvSpPr>
            <a:spLocks noGrp="1"/>
          </p:cNvSpPr>
          <p:nvPr>
            <p:ph type="sldNum" sz="quarter" idx="12"/>
          </p:nvPr>
        </p:nvSpPr>
        <p:spPr/>
        <p:txBody>
          <a:bodyPr/>
          <a:lstStyle/>
          <a:p>
            <a:fld id="{E1E1CD7C-2161-7D43-862E-CE4C333CD873}" type="slidenum">
              <a:rPr lang="fr-FR" smtClean="0"/>
              <a:pPr/>
              <a:t>84</a:t>
            </a:fld>
            <a:endParaRPr lang="fr-FR" dirty="0"/>
          </a:p>
        </p:txBody>
      </p:sp>
    </p:spTree>
    <p:extLst>
      <p:ext uri="{BB962C8B-B14F-4D97-AF65-F5344CB8AC3E}">
        <p14:creationId xmlns:p14="http://schemas.microsoft.com/office/powerpoint/2010/main" val="9665113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2E795-8669-0E65-4C23-D751FA436CB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CF68771-4E07-F643-A8D1-2955191DCC39}"/>
              </a:ext>
            </a:extLst>
          </p:cNvPr>
          <p:cNvSpPr>
            <a:spLocks noGrp="1"/>
          </p:cNvSpPr>
          <p:nvPr>
            <p:ph type="title"/>
          </p:nvPr>
        </p:nvSpPr>
        <p:spPr/>
        <p:txBody>
          <a:bodyPr>
            <a:normAutofit/>
          </a:bodyPr>
          <a:lstStyle/>
          <a:p>
            <a:r>
              <a:rPr lang="en-US" dirty="0"/>
              <a:t>Thank you </a:t>
            </a:r>
            <a:br>
              <a:rPr lang="en-US" dirty="0"/>
            </a:br>
            <a:r>
              <a:rPr lang="en-US" dirty="0"/>
              <a:t>for your attention ♥</a:t>
            </a:r>
            <a:endParaRPr lang="en-GB" sz="2400" b="0" i="1" dirty="0"/>
          </a:p>
        </p:txBody>
      </p:sp>
      <p:sp>
        <p:nvSpPr>
          <p:cNvPr id="2" name="Text Placeholder 1">
            <a:extLst>
              <a:ext uri="{FF2B5EF4-FFF2-40B4-BE49-F238E27FC236}">
                <a16:creationId xmlns:a16="http://schemas.microsoft.com/office/drawing/2014/main" id="{2ABC41C9-0A07-65AB-AE1B-D21E8DC506DB}"/>
              </a:ext>
            </a:extLst>
          </p:cNvPr>
          <p:cNvSpPr>
            <a:spLocks noGrp="1"/>
          </p:cNvSpPr>
          <p:nvPr>
            <p:ph type="body" idx="1"/>
          </p:nvPr>
        </p:nvSpPr>
        <p:spPr/>
        <p:txBody>
          <a:bodyPr>
            <a:normAutofit/>
          </a:bodyPr>
          <a:lstStyle/>
          <a:p>
            <a:r>
              <a:rPr lang="en-US" sz="2400" dirty="0">
                <a:latin typeface="+mj-lt"/>
              </a:rPr>
              <a:t>Any questions?</a:t>
            </a:r>
            <a:endParaRPr lang="en-GB" sz="2400" dirty="0">
              <a:latin typeface="+mj-lt"/>
            </a:endParaRPr>
          </a:p>
        </p:txBody>
      </p:sp>
      <p:sp>
        <p:nvSpPr>
          <p:cNvPr id="5" name="Date Placeholder 4">
            <a:extLst>
              <a:ext uri="{FF2B5EF4-FFF2-40B4-BE49-F238E27FC236}">
                <a16:creationId xmlns:a16="http://schemas.microsoft.com/office/drawing/2014/main" id="{A6FF7C4E-AD72-2C35-9B0A-2CE954FBE207}"/>
              </a:ext>
            </a:extLst>
          </p:cNvPr>
          <p:cNvSpPr>
            <a:spLocks noGrp="1"/>
          </p:cNvSpPr>
          <p:nvPr>
            <p:ph type="dt" sz="half" idx="14"/>
          </p:nvPr>
        </p:nvSpPr>
        <p:spPr/>
        <p:txBody>
          <a:bodyPr/>
          <a:lstStyle/>
          <a:p>
            <a:r>
              <a:rPr lang="en-US" sz="600" dirty="0">
                <a:latin typeface="+mj-lt"/>
              </a:rPr>
              <a:t>EDIC PhD Public Defense / Scalable Methods for Knowledge Graph Reasoning and Generation</a:t>
            </a:r>
          </a:p>
        </p:txBody>
      </p:sp>
      <p:sp>
        <p:nvSpPr>
          <p:cNvPr id="6" name="Footer Placeholder 5">
            <a:extLst>
              <a:ext uri="{FF2B5EF4-FFF2-40B4-BE49-F238E27FC236}">
                <a16:creationId xmlns:a16="http://schemas.microsoft.com/office/drawing/2014/main" id="{B10B3BD9-641B-C99A-334F-5C47DB213424}"/>
              </a:ext>
            </a:extLst>
          </p:cNvPr>
          <p:cNvSpPr>
            <a:spLocks noGrp="1"/>
          </p:cNvSpPr>
          <p:nvPr>
            <p:ph type="ftr" sz="quarter" idx="15"/>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C208E3-B033-7319-D8AA-A74F2A4F1445}"/>
              </a:ext>
            </a:extLst>
          </p:cNvPr>
          <p:cNvSpPr>
            <a:spLocks noGrp="1"/>
          </p:cNvSpPr>
          <p:nvPr>
            <p:ph type="sldNum" sz="quarter" idx="16"/>
          </p:nvPr>
        </p:nvSpPr>
        <p:spPr/>
        <p:txBody>
          <a:bodyPr/>
          <a:lstStyle/>
          <a:p>
            <a:fld id="{E1E1CD7C-2161-7D43-862E-CE4C333CD873}" type="slidenum">
              <a:rPr lang="fr-FR" smtClean="0"/>
              <a:pPr/>
              <a:t>85</a:t>
            </a:fld>
            <a:endParaRPr lang="fr-FR" dirty="0"/>
          </a:p>
        </p:txBody>
      </p:sp>
      <p:pic>
        <p:nvPicPr>
          <p:cNvPr id="12" name="Picture Placeholder 11" descr="A city next to the water&#10;&#10;AI-generated content may be incorrect.">
            <a:extLst>
              <a:ext uri="{FF2B5EF4-FFF2-40B4-BE49-F238E27FC236}">
                <a16:creationId xmlns:a16="http://schemas.microsoft.com/office/drawing/2014/main" id="{587521C1-EF81-0EF1-1FC7-14405F3AECDD}"/>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843079"/>
      </p:ext>
    </p:extLst>
  </p:cSld>
  <p:clrMapOvr>
    <a:masterClrMapping/>
  </p:clrMapOvr>
</p:sld>
</file>

<file path=ppt/theme/theme1.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EPFL_Beta2" id="{6A525B41-3E68-491F-A6C9-0B15EA1321FE}" vid="{993E2952-EB5D-4425-8012-1B04381EBC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FC127AB4946248A5685C1F92D54FFE" ma:contentTypeVersion="0" ma:contentTypeDescription="Crée un document." ma:contentTypeScope="" ma:versionID="ef3ff242486930b75c69099c0dd02c57">
  <xsd:schema xmlns:xsd="http://www.w3.org/2001/XMLSchema" xmlns:xs="http://www.w3.org/2001/XMLSchema" xmlns:p="http://schemas.microsoft.com/office/2006/metadata/properties" targetNamespace="http://schemas.microsoft.com/office/2006/metadata/properties" ma:root="true" ma:fieldsID="ab09c1ba23edfaa45a5e9d385267c9b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8CE09B-89B1-4B5D-BED2-87C84F0777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48A6C70-7FF5-480A-B09B-7D0A19B2F431}">
  <ds:schemaRefs>
    <ds:schemaRef ds:uri="http://purl.org/dc/terms/"/>
    <ds:schemaRef ds:uri="http://schemas.microsoft.com/office/2006/metadata/properties"/>
    <ds:schemaRef ds:uri="http://www.w3.org/XML/1998/namespace"/>
    <ds:schemaRef ds:uri="http://purl.org/dc/elements/1.1/"/>
    <ds:schemaRef ds:uri="http://purl.org/dc/dcmitype/"/>
    <ds:schemaRef ds:uri="http://schemas.openxmlformats.org/package/2006/metadata/core-properties"/>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266205E9-12FC-4D6C-B0C7-1E9025EEB1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Thème Office</Template>
  <TotalTime>14742</TotalTime>
  <Words>14602</Words>
  <Application>Microsoft Office PowerPoint</Application>
  <PresentationFormat>On-screen Show (16:9)</PresentationFormat>
  <Paragraphs>1170</Paragraphs>
  <Slides>85</Slides>
  <Notes>85</Notes>
  <HiddenSlides>21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85</vt:i4>
      </vt:variant>
    </vt:vector>
  </HeadingPairs>
  <TitlesOfParts>
    <vt:vector size="90" baseType="lpstr">
      <vt:lpstr>Arial</vt:lpstr>
      <vt:lpstr>Cambria Math</vt:lpstr>
      <vt:lpstr>Franklin Gothic Demi Cond</vt:lpstr>
      <vt:lpstr>Wingdings</vt:lpstr>
      <vt:lpstr>Thème Office</vt:lpstr>
      <vt:lpstr>Scalable Methods for Knowledge Graph Reasoning and Generation</vt:lpstr>
      <vt:lpstr>Agenda</vt:lpstr>
      <vt:lpstr>Introduction</vt:lpstr>
      <vt:lpstr>1. Introduction</vt:lpstr>
      <vt:lpstr>Background</vt:lpstr>
      <vt:lpstr>2.1 Graph Theory &amp; Network Science</vt:lpstr>
      <vt:lpstr>2.2 Graph Machine Learning</vt:lpstr>
      <vt:lpstr>Scalable  Knowledge Graph Reasoning</vt:lpstr>
      <vt:lpstr>3.1 Community-Informed Graph Embeddings Problem &amp; Challenges - Setting</vt:lpstr>
      <vt:lpstr>3.1 Community-Informed Graph Embeddings Problem &amp; Challenges - Related work</vt:lpstr>
      <vt:lpstr>3.1 Community-Informed Graph Embeddings Background - Graph theory of Knowledge Graph Reasoning</vt:lpstr>
      <vt:lpstr>3.1 Community-Informed Graph Embeddings Background - Optimization problems of Knowledge Graph Reasoning</vt:lpstr>
      <vt:lpstr>3.1 Community-Informed Graph Embeddings Background - Representation theory of Knowledge Graph Reasoning</vt:lpstr>
      <vt:lpstr>3.1 Community-Informed Graph Embeddings Contributions - Idea</vt:lpstr>
      <vt:lpstr>3.1 Community-Informed Graph Embeddings Contributions - Theory</vt:lpstr>
      <vt:lpstr>3.1 Community-Informed Graph Embeddings Methodology - The COINs architecture</vt:lpstr>
      <vt:lpstr>3.1 Community-Informed Graph Embeddings Methodology - The COINs KG representation process</vt:lpstr>
      <vt:lpstr>3.1 Community-Informed Graph Embeddings Methodology - Algorithm and  properties</vt:lpstr>
      <vt:lpstr>3.1 Community-Informed Graph Embeddings Methodology - Experiments</vt:lpstr>
      <vt:lpstr>3.1 Community-Informed Graph Embeddings Results - Community quality</vt:lpstr>
      <vt:lpstr>3.1 Community-Informed Graph Embeddings Results - Query answering MRR</vt:lpstr>
      <vt:lpstr>3.1 Community-Informed Graph Embeddings Results - Comparison to related work on KG scalability</vt:lpstr>
      <vt:lpstr>3.1 Community-Informed Graph Embeddings Results - Feasibility</vt:lpstr>
      <vt:lpstr>3.1 Community-Informed Graph Embeddings Summary </vt:lpstr>
      <vt:lpstr>3.1 Community-Informed Graph Embeddings *Distributed extension - Idea</vt:lpstr>
      <vt:lpstr>3.1 Community-Informed Graph Embeddings *Distributed extension - Outcomes</vt:lpstr>
      <vt:lpstr>3.2 Real-world Application: The Monty Knowledge Base Motivation - Knowledge Graph Reasoning in Industry</vt:lpstr>
      <vt:lpstr>3.2 Real-world Application: The Monty Knowledge Base Motivation - COINs origins</vt:lpstr>
      <vt:lpstr>3.2 Real-world Application: The Monty Knowledge Base Methodology - Feature extraction</vt:lpstr>
      <vt:lpstr>3.2 Real-world Application: The Monty Knowledge Base Methodology - Statistical comparison</vt:lpstr>
      <vt:lpstr>3.2 Real-world Application: The Monty Knowledge Base Results - Swisscom vs. the world</vt:lpstr>
      <vt:lpstr>3.2 Real-world Application: The Monty Knowledge Base Results - Re-evaluation on Monty after ablation</vt:lpstr>
      <vt:lpstr>Scalable  Graph Generation</vt:lpstr>
      <vt:lpstr>4.1 Geometric Graph Generation with CRPs Motivation </vt:lpstr>
      <vt:lpstr>4.1 Geometric Graph Generation with CRPs Background - Gen AI for graphs</vt:lpstr>
      <vt:lpstr>4.1 Geometric Graph Generation with CRPs Background - GG-GAN [13]</vt:lpstr>
      <vt:lpstr>4.1 Geometric Graph Generation with CRPs Background - The Chinese Restaurant Process (CRP) [2] </vt:lpstr>
      <vt:lpstr>4.1 Geometric Graph Generation with CRPs Methodology - Idea</vt:lpstr>
      <vt:lpstr>4.1 Geometric Graph Generation with CRPs Methodology - Community assignment sampling</vt:lpstr>
      <vt:lpstr>4.1 Geometric Graph Generation with CRPs Methodology - GGG-CRP  autoregressive process</vt:lpstr>
      <vt:lpstr>4.1 Geometric Graph Generation with CRPs Results - Expressivity</vt:lpstr>
      <vt:lpstr>4.1 Geometric Graph Generation with CRPs Results - Expressivity</vt:lpstr>
      <vt:lpstr>4.1 Geometric Graph Generation with CRPs Results - Novelty</vt:lpstr>
      <vt:lpstr>4.1 Geometric Graph Generation with CRPs Summary </vt:lpstr>
      <vt:lpstr>4.2 Hierarchical Generative Graph Diffusion Motivation</vt:lpstr>
      <vt:lpstr>4.2 Hierarchical Generative Graph Diffusion Background - Diffusion models [5]</vt:lpstr>
      <vt:lpstr>4.2 Hierarchical Generative Graph Diffusion Background - Hierarchical Graph Diffusion of MRGrad [23]</vt:lpstr>
      <vt:lpstr>4.2 Hierarchical Generative Graph Diffusion Background - Hierarchical Graph Diffusion of MRGrad [23]</vt:lpstr>
      <vt:lpstr>4.2 Hierarchical Generative Graph Diffusion Contributions - Theory</vt:lpstr>
      <vt:lpstr>4.2 Hierarchical Generative Graph Diffusion Contributions - Model designs</vt:lpstr>
      <vt:lpstr>4.2 Hierarchical Generative Graph Diffusion Results - Community detection</vt:lpstr>
      <vt:lpstr>4.2 Hierarchical Generative Graph Diffusion Results - Expressivity</vt:lpstr>
      <vt:lpstr>4.2 Hierarchical Generative Graph Diffusion Results - Real vs. fake graphs</vt:lpstr>
      <vt:lpstr>4.2 Hierarchical Generative Graph Diffusion Results - Ablation</vt:lpstr>
      <vt:lpstr>4.2 Hierarchical Generative Graph Diffusion Results - Performance vs. baselines</vt:lpstr>
      <vt:lpstr>4.2 Hierarchical Generative Graph Diffusion Summary</vt:lpstr>
      <vt:lpstr>4.3 Multi-measurement Diffusion Methods Motivation</vt:lpstr>
      <vt:lpstr>4.3 Multi-measurement Diffusion Methods Background - The reason for time annealing</vt:lpstr>
      <vt:lpstr>4.3 Multi-measurement Diffusion Methods Background - The disadvantages of time annealing</vt:lpstr>
      <vt:lpstr>4.3 Multi-measurement Diffusion Methods The MultiProx sampler - Theory</vt:lpstr>
      <vt:lpstr>4.3 Multi-measurement Diffusion Methods The MultiProx sampler - Visually</vt:lpstr>
      <vt:lpstr>4.3 Multi-measurement Diffusion Methods Results - Images</vt:lpstr>
      <vt:lpstr>4.3 Multi-measurement Diffusion Methods Results - QM9 graphs with Gaussian DiGress [18] and MultiProx</vt:lpstr>
      <vt:lpstr>4.3 Multi-measurement Diffusion Methods Results - QM9 graphs with Gaussian DiGress [18] and MultiProx</vt:lpstr>
      <vt:lpstr>4.3 Multi-measurement Diffusion Methods *The MultiProxAn sampler </vt:lpstr>
      <vt:lpstr>4.3 Multi-measurement Diffusion Methods Results - QM9 graphs with Gaussian DiGress [18] and MultiProxAn</vt:lpstr>
      <vt:lpstr>4.3 Multi-measurement Diffusion Methods Results - QM9 graphs with Gaussian DiGress [18] and MultiProxAn</vt:lpstr>
      <vt:lpstr>4.4 Generative KG Anomaly Correction Motivation - Anomalous knowledge</vt:lpstr>
      <vt:lpstr>4.4 Generative KG Anomaly Correction Motivation - Naïve ideas will not work</vt:lpstr>
      <vt:lpstr>4.4 Generative KG Anomaly Correction Motivation - Naïve ideas will not work</vt:lpstr>
      <vt:lpstr>4.4 Generative KG Anomaly Correction Related work</vt:lpstr>
      <vt:lpstr>4.4 Generative KG Anomaly Correction Experiment setup - Data</vt:lpstr>
      <vt:lpstr>4.4 Generative KG Anomaly Correction Experiment setup - Model</vt:lpstr>
      <vt:lpstr>4.4 Generative KG Anomaly Correction Results - Metrics</vt:lpstr>
      <vt:lpstr>4.4 Generative KG Anomaly Correction Results - Contrastive Loss across denoising steps</vt:lpstr>
      <vt:lpstr>4.4 Generative KG Anomaly Correction Results - Dense subgraph correction visually</vt:lpstr>
      <vt:lpstr>4.4 Generative KG Anomaly Correction Results - Bipartite subgraph correction visually</vt:lpstr>
      <vt:lpstr>4.4 Generative KG Anomaly Correction Summary</vt:lpstr>
      <vt:lpstr>Conclusion</vt:lpstr>
      <vt:lpstr>5. Conclusions &amp; Future Directions</vt:lpstr>
      <vt:lpstr>References</vt:lpstr>
      <vt:lpstr>References</vt:lpstr>
      <vt:lpstr>References</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EPFL</dc:title>
  <dc:creator>Utilisateur Microsoft Office</dc:creator>
  <cp:lastModifiedBy>Andrej Janchevski</cp:lastModifiedBy>
  <cp:revision>417</cp:revision>
  <dcterms:created xsi:type="dcterms:W3CDTF">2019-04-02T06:24:35Z</dcterms:created>
  <dcterms:modified xsi:type="dcterms:W3CDTF">2025-10-31T16:13:41Z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0x0101001BFC127AB4946248A5685C1F92D54FFE</vt:lpwstr>
  </property>
</Properties>
</file>